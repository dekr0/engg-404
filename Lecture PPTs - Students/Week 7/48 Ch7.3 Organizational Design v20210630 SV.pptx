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notesMasterIdLst>
    <p:notesMasterId r:id="rId19"/>
  </p:notesMasterIdLst>
  <p:handoutMasterIdLst>
    <p:handoutMasterId r:id="rId20"/>
  </p:handoutMasterIdLst>
  <p:sldIdLst>
    <p:sldId id="895" r:id="rId2"/>
    <p:sldId id="880" r:id="rId3"/>
    <p:sldId id="948" r:id="rId4"/>
    <p:sldId id="928" r:id="rId5"/>
    <p:sldId id="929" r:id="rId6"/>
    <p:sldId id="937" r:id="rId7"/>
    <p:sldId id="930" r:id="rId8"/>
    <p:sldId id="931" r:id="rId9"/>
    <p:sldId id="946" r:id="rId10"/>
    <p:sldId id="932" r:id="rId11"/>
    <p:sldId id="933" r:id="rId12"/>
    <p:sldId id="934" r:id="rId13"/>
    <p:sldId id="950" r:id="rId14"/>
    <p:sldId id="935" r:id="rId15"/>
    <p:sldId id="951" r:id="rId16"/>
    <p:sldId id="949" r:id="rId17"/>
    <p:sldId id="923" r:id="rId18"/>
  </p:sldIdLst>
  <p:sldSz cx="9144000" cy="6858000" type="screen4x3"/>
  <p:notesSz cx="6954838"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99"/>
    <a:srgbClr val="CCFFFF"/>
    <a:srgbClr val="00FF00"/>
    <a:srgbClr val="3333FF"/>
    <a:srgbClr val="0033C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1" autoAdjust="0"/>
    <p:restoredTop sz="92422" autoAdjust="0"/>
  </p:normalViewPr>
  <p:slideViewPr>
    <p:cSldViewPr snapToGrid="0">
      <p:cViewPr varScale="1">
        <p:scale>
          <a:sx n="75" d="100"/>
          <a:sy n="75" d="100"/>
        </p:scale>
        <p:origin x="1040" y="52"/>
      </p:cViewPr>
      <p:guideLst/>
    </p:cSldViewPr>
  </p:slideViewPr>
  <p:notesTextViewPr>
    <p:cViewPr>
      <p:scale>
        <a:sx n="1" d="1"/>
        <a:sy n="1" d="1"/>
      </p:scale>
      <p:origin x="0" y="0"/>
    </p:cViewPr>
  </p:notesTextViewPr>
  <p:sorterViewPr>
    <p:cViewPr>
      <p:scale>
        <a:sx n="100" d="100"/>
        <a:sy n="100" d="100"/>
      </p:scale>
      <p:origin x="0" y="-8020"/>
    </p:cViewPr>
  </p:sorterViewPr>
  <p:notesViewPr>
    <p:cSldViewPr snapToGrid="0">
      <p:cViewPr varScale="1">
        <p:scale>
          <a:sx n="51" d="100"/>
          <a:sy n="51" d="100"/>
        </p:scale>
        <p:origin x="2680" y="5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r>
              <a:rPr lang="en-US" dirty="0"/>
              <a:t>2017-2018</a:t>
            </a:r>
          </a:p>
        </p:txBody>
      </p:sp>
      <p:sp>
        <p:nvSpPr>
          <p:cNvPr id="3" name="Date Placeholder 2"/>
          <p:cNvSpPr>
            <a:spLocks noGrp="1"/>
          </p:cNvSpPr>
          <p:nvPr>
            <p:ph type="dt" sz="quarter" idx="1"/>
          </p:nvPr>
        </p:nvSpPr>
        <p:spPr>
          <a:xfrm>
            <a:off x="3939466" y="0"/>
            <a:ext cx="3013763" cy="467072"/>
          </a:xfrm>
          <a:prstGeom prst="rect">
            <a:avLst/>
          </a:prstGeom>
        </p:spPr>
        <p:txBody>
          <a:bodyPr vert="horz" lIns="92930" tIns="46465" rIns="92930" bIns="46465" rtlCol="0"/>
          <a:lstStyle>
            <a:lvl1pPr algn="r">
              <a:defRPr sz="1200"/>
            </a:lvl1pPr>
          </a:lstStyle>
          <a:p>
            <a:fld id="{55EAD04F-FD92-4E2B-A6C4-86A88C834C21}" type="datetimeFigureOut">
              <a:rPr lang="en-US" smtClean="0"/>
              <a:t>10/18/2021</a:t>
            </a:fld>
            <a:endParaRPr lang="en-US"/>
          </a:p>
        </p:txBody>
      </p:sp>
      <p:sp>
        <p:nvSpPr>
          <p:cNvPr id="4" name="Footer Placeholder 3"/>
          <p:cNvSpPr>
            <a:spLocks noGrp="1"/>
          </p:cNvSpPr>
          <p:nvPr>
            <p:ph type="ftr" sz="quarter" idx="2"/>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5" name="Slide Number Placeholder 4"/>
          <p:cNvSpPr>
            <a:spLocks noGrp="1"/>
          </p:cNvSpPr>
          <p:nvPr>
            <p:ph type="sldNum" sz="quarter" idx="3"/>
          </p:nvPr>
        </p:nvSpPr>
        <p:spPr>
          <a:xfrm>
            <a:off x="3939466" y="8842030"/>
            <a:ext cx="3013763" cy="467071"/>
          </a:xfrm>
          <a:prstGeom prst="rect">
            <a:avLst/>
          </a:prstGeom>
        </p:spPr>
        <p:txBody>
          <a:bodyPr vert="horz" lIns="92930" tIns="46465" rIns="92930" bIns="46465" rtlCol="0" anchor="b"/>
          <a:lstStyle>
            <a:lvl1pPr algn="r">
              <a:defRPr sz="1200"/>
            </a:lvl1pPr>
          </a:lstStyle>
          <a:p>
            <a:fld id="{3101AC80-9859-42E8-970F-6731D5ED4DFD}" type="slidenum">
              <a:rPr lang="en-US" smtClean="0"/>
              <a:t>‹#›</a:t>
            </a:fld>
            <a:endParaRPr lang="en-US"/>
          </a:p>
        </p:txBody>
      </p:sp>
    </p:spTree>
    <p:extLst>
      <p:ext uri="{BB962C8B-B14F-4D97-AF65-F5344CB8AC3E}">
        <p14:creationId xmlns:p14="http://schemas.microsoft.com/office/powerpoint/2010/main" val="1038161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91283A88-A3A2-4A9D-B781-0B5CCFB9C6EB}" type="datetimeFigureOut">
              <a:rPr lang="en-US" smtClean="0"/>
              <a:t>10/18/2021</a:t>
            </a:fld>
            <a:endParaRPr lang="en-US"/>
          </a:p>
        </p:txBody>
      </p:sp>
      <p:sp>
        <p:nvSpPr>
          <p:cNvPr id="4" name="Slide Image Placeholder 3"/>
          <p:cNvSpPr>
            <a:spLocks noGrp="1" noRot="1" noChangeAspect="1"/>
          </p:cNvSpPr>
          <p:nvPr>
            <p:ph type="sldImg" idx="2"/>
          </p:nvPr>
        </p:nvSpPr>
        <p:spPr>
          <a:xfrm>
            <a:off x="1384300" y="1165225"/>
            <a:ext cx="4186238" cy="3140075"/>
          </a:xfrm>
          <a:prstGeom prst="rect">
            <a:avLst/>
          </a:prstGeom>
          <a:noFill/>
          <a:ln w="12700">
            <a:solidFill>
              <a:prstClr val="black"/>
            </a:solidFill>
          </a:ln>
        </p:spPr>
        <p:txBody>
          <a:bodyPr vert="horz" lIns="92930" tIns="46465" rIns="92930" bIns="46465" rtlCol="0" anchor="ctr"/>
          <a:lstStyle/>
          <a:p>
            <a:endParaRPr lang="en-US"/>
          </a:p>
        </p:txBody>
      </p:sp>
      <p:sp>
        <p:nvSpPr>
          <p:cNvPr id="5" name="Notes Placeholder 4"/>
          <p:cNvSpPr>
            <a:spLocks noGrp="1"/>
          </p:cNvSpPr>
          <p:nvPr>
            <p:ph type="body" sz="quarter" idx="3"/>
          </p:nvPr>
        </p:nvSpPr>
        <p:spPr>
          <a:xfrm>
            <a:off x="695484" y="4480003"/>
            <a:ext cx="5563870" cy="3665459"/>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08AD1E8B-481E-4480-A349-A9B8B8C6169B}" type="slidenum">
              <a:rPr lang="en-US" smtClean="0"/>
              <a:t>‹#›</a:t>
            </a:fld>
            <a:endParaRPr lang="en-US"/>
          </a:p>
        </p:txBody>
      </p:sp>
    </p:spTree>
    <p:extLst>
      <p:ext uri="{BB962C8B-B14F-4D97-AF65-F5344CB8AC3E}">
        <p14:creationId xmlns:p14="http://schemas.microsoft.com/office/powerpoint/2010/main" val="1882833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393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712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Structure: A student project team delivering a project, Assembly line workers in a manufacturing facility</a:t>
            </a:r>
          </a:p>
          <a:p>
            <a:r>
              <a:rPr lang="en-CA" dirty="0"/>
              <a:t>Resource and Knowledge:</a:t>
            </a:r>
            <a:r>
              <a:rPr lang="en-CA" baseline="0" dirty="0"/>
              <a:t> Reading the assignment, asking questions, sharing input; Parts for each station, training programs, payroll</a:t>
            </a:r>
          </a:p>
          <a:p>
            <a:r>
              <a:rPr lang="en-CA" baseline="0" dirty="0"/>
              <a:t>Relationships and Power: Reinforce teacher-student relationship; Supervisor jobs, people assigned to “good jobs” through seniority</a:t>
            </a:r>
          </a:p>
          <a:p>
            <a:r>
              <a:rPr lang="en-CA" baseline="0" dirty="0"/>
              <a:t>Security and Safety: Group membership, safe work conditions, fair pay</a:t>
            </a:r>
          </a:p>
        </p:txBody>
      </p:sp>
    </p:spTree>
    <p:extLst>
      <p:ext uri="{BB962C8B-B14F-4D97-AF65-F5344CB8AC3E}">
        <p14:creationId xmlns:p14="http://schemas.microsoft.com/office/powerpoint/2010/main" val="3638151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81514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CA" dirty="0"/>
              <a:t>There is a chain of command in every organization</a:t>
            </a:r>
          </a:p>
          <a:p>
            <a:r>
              <a:rPr lang="en-CA" dirty="0"/>
              <a:t>Line management is responsible and accountable for managing risk of their activities and their operations not the persons in the functional expertise roles</a:t>
            </a:r>
          </a:p>
          <a:p>
            <a:r>
              <a:rPr lang="en-CA" dirty="0"/>
              <a:t>The functional experts are responsible for providing input to all levels of line mgmt. and are often shared amongst different levels of operations</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1681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223956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3224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5070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87081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8096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6079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5662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3514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15011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9141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4019546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13034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0542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10/18/2021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1007505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60610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hbr.org/2014/09/your-companys-purpose-is-not-its-vision-mission-or-values"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a:p>
            <a:pPr marL="0" marR="0" lvl="0" indent="0" algn="ctr" defTabSz="914400" rtl="0" eaLnBrk="1" fontAlgn="base" latinLnBrk="0" hangingPunct="1">
              <a:lnSpc>
                <a:spcPct val="100000"/>
              </a:lnSpc>
              <a:spcBef>
                <a:spcPct val="0"/>
              </a:spcBef>
              <a:spcAft>
                <a:spcPct val="0"/>
              </a:spcAft>
              <a:buClr>
                <a:srgbClr val="AA9C8F"/>
              </a:buClr>
              <a:buSzTx/>
              <a:buFontTx/>
              <a:buNone/>
              <a:tabLst/>
              <a:defRPr/>
            </a:pPr>
            <a:r>
              <a:rPr kumimoji="0" lang="en-US" altLang="en-US" sz="3200" b="1"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ENGG404 - Lecture</a:t>
            </a:r>
            <a:endParaRPr kumimoji="0" lang="en-US"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endParaRPr>
          </a:p>
        </p:txBody>
      </p:sp>
      <p:sp>
        <p:nvSpPr>
          <p:cNvPr id="8" name="Rectangle 3"/>
          <p:cNvSpPr>
            <a:spLocks noGrp="1" noChangeArrowheads="1"/>
          </p:cNvSpPr>
          <p:nvPr>
            <p:ph type="subTitle" idx="4294967295"/>
          </p:nvPr>
        </p:nvSpPr>
        <p:spPr>
          <a:xfrm>
            <a:off x="228600" y="2500342"/>
            <a:ext cx="8610600"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CA"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7.3: </a:t>
            </a: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Organizational Design and the Relationships Between Leadership, Culture, and Performance</a:t>
            </a:r>
            <a:endPar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05529"/>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05342"/>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Differentiate and explain the terms vision, values, guiding principles, mission statement, and policies.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how any organization can be modelled.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the relationship between the culture of the organization and the (safety) performance of organizations.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73412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50000"/>
              </a:lnSpc>
              <a:spcBef>
                <a:spcPts val="0"/>
              </a:spcBef>
              <a:spcAft>
                <a:spcPct val="0"/>
              </a:spcAft>
              <a:buClrTx/>
              <a:buSzPct val="100000"/>
              <a:buNone/>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This topic explores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four components of an organization and their importance.</a:t>
            </a:r>
          </a:p>
          <a:p>
            <a:pPr marL="360000" marR="0" lvl="0" indent="-360000" algn="l" defTabSz="914400" rtl="0" eaLnBrk="0" fontAlgn="base" latinLnBrk="0" hangingPunct="0">
              <a:lnSpc>
                <a:spcPct val="15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Line Management Model</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Model of Corporate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Mechanisms and Supporting Documents</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Definitions </a:t>
            </a: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Vision, Mission, etc. </a:t>
            </a:r>
            <a:endPar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Alignment of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Mission, Values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Actual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Exploration of Organizational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a:t>
            </a: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Model of Corporate Mechanisms, Administrative Controls, Culture, and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fontAlgn="base" hangingPunct="0">
              <a:lnSpc>
                <a:spcPct val="150000"/>
              </a:lnSpc>
              <a:spcBef>
                <a:spcPts val="0"/>
              </a:spcBef>
              <a:spcAft>
                <a:spcPct val="0"/>
              </a:spcAft>
              <a:buClrTx/>
              <a:buSzPct val="100000"/>
              <a:buFont typeface="Wingdings" panose="05000000000000000000" pitchFamily="2" charset="2"/>
              <a:buChar char="Ø"/>
              <a:defRPr/>
            </a:pPr>
            <a:endPar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Introduction: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5341902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Four Components of an Organization: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32F133AD-8344-415D-8CD6-F0C07F95ABDA}"/>
              </a:ext>
            </a:extLst>
          </p:cNvPr>
          <p:cNvPicPr>
            <a:picLocks noChangeAspect="1"/>
          </p:cNvPicPr>
          <p:nvPr/>
        </p:nvPicPr>
        <p:blipFill>
          <a:blip r:embed="rId3"/>
          <a:stretch>
            <a:fillRect/>
          </a:stretch>
        </p:blipFill>
        <p:spPr>
          <a:xfrm>
            <a:off x="425407" y="1390650"/>
            <a:ext cx="8426458" cy="3487482"/>
          </a:xfrm>
          <a:prstGeom prst="rect">
            <a:avLst/>
          </a:prstGeom>
        </p:spPr>
      </p:pic>
      <p:sp>
        <p:nvSpPr>
          <p:cNvPr id="7"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2851700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You’ll be working soon…by understanding and being able to explain how an organization is structured, you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can more readily adapt to it, and as you progress, you can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influence it.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values of an organization influence all four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components:</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values translate into the day to day activities of people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i.e. the decisions that they make</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that leads to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how we do work around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here!</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best organizations consider safety and risk management in all four quadrants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Importance of </a:t>
            </a:r>
            <a:r>
              <a:rPr lang="en-US" altLang="en-US" sz="2400" dirty="0" smtClean="0">
                <a:solidFill>
                  <a:srgbClr val="333399"/>
                </a:solidFill>
                <a:latin typeface="Arial" panose="020B0604020202020204" pitchFamily="34" charset="0"/>
                <a:cs typeface="Arial" panose="020B0604020202020204" pitchFamily="34" charset="0"/>
              </a:rPr>
              <a:t>The </a:t>
            </a:r>
            <a:r>
              <a:rPr lang="en-US" altLang="en-US" sz="2400" dirty="0">
                <a:solidFill>
                  <a:srgbClr val="333399"/>
                </a:solidFill>
                <a:latin typeface="Arial" panose="020B0604020202020204" pitchFamily="34" charset="0"/>
                <a:cs typeface="Arial" panose="020B0604020202020204" pitchFamily="34" charset="0"/>
              </a:rPr>
              <a:t>Four Components </a:t>
            </a:r>
            <a:r>
              <a:rPr lang="en-US" altLang="en-US" sz="2400" dirty="0" smtClean="0">
                <a:solidFill>
                  <a:srgbClr val="333399"/>
                </a:solidFill>
                <a:latin typeface="Arial" panose="020B0604020202020204" pitchFamily="34" charset="0"/>
                <a:cs typeface="Arial" panose="020B0604020202020204" pitchFamily="34" charset="0"/>
              </a:rPr>
              <a:t>to You:</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59054792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Every organization is structured like this!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The Line Management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Model:</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7">
            <a:extLst>
              <a:ext uri="{FF2B5EF4-FFF2-40B4-BE49-F238E27FC236}">
                <a16:creationId xmlns:a16="http://schemas.microsoft.com/office/drawing/2014/main" id="{E28DF334-959E-4932-8EDD-CCC477F7C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4380" y="1234286"/>
            <a:ext cx="7313612" cy="4951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a:extLst>
              <a:ext uri="{FF2B5EF4-FFF2-40B4-BE49-F238E27FC236}">
                <a16:creationId xmlns:a16="http://schemas.microsoft.com/office/drawing/2014/main" id="{28BC86FE-52BC-42C7-95CC-EF41AFB3B774}"/>
              </a:ext>
            </a:extLst>
          </p:cNvPr>
          <p:cNvSpPr/>
          <p:nvPr/>
        </p:nvSpPr>
        <p:spPr>
          <a:xfrm>
            <a:off x="2132899" y="3531061"/>
            <a:ext cx="1151467" cy="383823"/>
          </a:xfrm>
          <a:prstGeom prst="ellipse">
            <a:avLst/>
          </a:prstGeom>
          <a:noFill/>
          <a:ln w="28575"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1" name="TextBox 10">
            <a:extLst>
              <a:ext uri="{FF2B5EF4-FFF2-40B4-BE49-F238E27FC236}">
                <a16:creationId xmlns:a16="http://schemas.microsoft.com/office/drawing/2014/main" id="{3F6527AB-4450-4B27-B1AC-7046925F8246}"/>
              </a:ext>
            </a:extLst>
          </p:cNvPr>
          <p:cNvSpPr txBox="1"/>
          <p:nvPr/>
        </p:nvSpPr>
        <p:spPr>
          <a:xfrm>
            <a:off x="3877733" y="1554525"/>
            <a:ext cx="4199467" cy="2585323"/>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prstClr val="black"/>
                </a:solidFill>
                <a:effectLst/>
                <a:uLnTx/>
                <a:uFillTx/>
                <a:latin typeface="Tw Cen MT" panose="020B0602020104020603"/>
              </a:rPr>
              <a:t>Leaders Exist at All Levels of an Organization</a:t>
            </a: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dirty="0">
              <a:ln>
                <a:noFill/>
              </a:ln>
              <a:solidFill>
                <a:prstClr val="black"/>
              </a:solidFill>
              <a:effectLst/>
              <a:uLnTx/>
              <a:uFillTx/>
              <a:latin typeface="Tw Cen MT" panose="020B0602020104020603"/>
            </a:endParaRPr>
          </a:p>
        </p:txBody>
      </p:sp>
      <p:sp>
        <p:nvSpPr>
          <p:cNvPr id="14" name="TextBox 13">
            <a:extLst>
              <a:ext uri="{FF2B5EF4-FFF2-40B4-BE49-F238E27FC236}">
                <a16:creationId xmlns:a16="http://schemas.microsoft.com/office/drawing/2014/main" id="{4304BC1A-F3A2-4DB6-BA93-488DF46F3B4F}"/>
              </a:ext>
            </a:extLst>
          </p:cNvPr>
          <p:cNvSpPr txBox="1"/>
          <p:nvPr/>
        </p:nvSpPr>
        <p:spPr>
          <a:xfrm>
            <a:off x="4383622" y="3464793"/>
            <a:ext cx="3470568" cy="369332"/>
          </a:xfrm>
          <a:prstGeom prst="rect">
            <a:avLst/>
          </a:prstGeom>
          <a:noFill/>
        </p:spPr>
        <p:txBody>
          <a:bodyPr wrap="square" rtlCol="0">
            <a:spAutoFit/>
          </a:bodyPr>
          <a:lstStyle/>
          <a:p>
            <a:pPr>
              <a:defRPr/>
            </a:pPr>
            <a:r>
              <a:rPr lang="en-CA" dirty="0">
                <a:solidFill>
                  <a:prstClr val="black"/>
                </a:solidFill>
                <a:latin typeface="Tw Cen MT" panose="020B0602020104020603"/>
              </a:rPr>
              <a:t>This may be you in the future!</a:t>
            </a:r>
          </a:p>
        </p:txBody>
      </p:sp>
      <p:sp>
        <p:nvSpPr>
          <p:cNvPr id="15" name="Left Arrow 10">
            <a:extLst>
              <a:ext uri="{FF2B5EF4-FFF2-40B4-BE49-F238E27FC236}">
                <a16:creationId xmlns:a16="http://schemas.microsoft.com/office/drawing/2014/main" id="{45B4F2A6-D7AB-4E49-8CC8-987E0ABD21BD}"/>
              </a:ext>
            </a:extLst>
          </p:cNvPr>
          <p:cNvSpPr/>
          <p:nvPr/>
        </p:nvSpPr>
        <p:spPr>
          <a:xfrm>
            <a:off x="3491800" y="3529325"/>
            <a:ext cx="891822" cy="304800"/>
          </a:xfrm>
          <a:prstGeom prst="leftArrow">
            <a:avLst/>
          </a:prstGeom>
          <a:solidFill>
            <a:srgbClr val="FF0000"/>
          </a:solidFill>
          <a:ln w="15875" cap="flat" cmpd="sng" algn="ctr">
            <a:solidFill>
              <a:srgbClr val="2FA3EE">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6" name="TextBox 15">
            <a:extLst>
              <a:ext uri="{FF2B5EF4-FFF2-40B4-BE49-F238E27FC236}">
                <a16:creationId xmlns:a16="http://schemas.microsoft.com/office/drawing/2014/main" id="{1A81C1A9-42A7-408B-932D-DF4940F99F4D}"/>
              </a:ext>
            </a:extLst>
          </p:cNvPr>
          <p:cNvSpPr txBox="1"/>
          <p:nvPr/>
        </p:nvSpPr>
        <p:spPr>
          <a:xfrm>
            <a:off x="3615831" y="3881214"/>
            <a:ext cx="4562168" cy="923330"/>
          </a:xfrm>
          <a:prstGeom prst="rect">
            <a:avLst/>
          </a:prstGeom>
          <a:noFill/>
        </p:spPr>
        <p:txBody>
          <a:bodyPr wrap="square" rtlCol="0">
            <a:spAutoFit/>
          </a:bodyPr>
          <a:lstStyle/>
          <a:p>
            <a:pPr>
              <a:defRPr/>
            </a:pPr>
            <a:r>
              <a:rPr lang="en-CA" dirty="0">
                <a:solidFill>
                  <a:prstClr val="black"/>
                </a:solidFill>
                <a:latin typeface="Tw Cen MT" panose="020B0602020104020603"/>
              </a:rPr>
              <a:t>Managers have a large leadership role: they are responsible for those under them, and they influence how their people do work.</a:t>
            </a:r>
          </a:p>
        </p:txBody>
      </p:sp>
      <p:sp>
        <p:nvSpPr>
          <p:cNvPr id="17"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473891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B8A3267A-9C44-4D2D-8C12-0514010E5014}"/>
              </a:ext>
            </a:extLst>
          </p:cNvPr>
          <p:cNvSpPr txBox="1"/>
          <p:nvPr/>
        </p:nvSpPr>
        <p:spPr>
          <a:xfrm>
            <a:off x="5040000" y="4045296"/>
            <a:ext cx="3240000" cy="688256"/>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Tw Cen MT" panose="020B0602020104020603"/>
              </a:rPr>
              <a:t>Associate Chairs</a:t>
            </a:r>
            <a:r>
              <a:rPr kumimoji="0" lang="en-US" sz="2000" b="0" i="0" u="none" strike="noStrike" kern="0" cap="none" spc="0" normalizeH="0" noProof="0" dirty="0" smtClean="0">
                <a:ln>
                  <a:noFill/>
                </a:ln>
                <a:solidFill>
                  <a:prstClr val="black"/>
                </a:solidFill>
                <a:effectLst/>
                <a:uLnTx/>
                <a:uFillTx/>
                <a:latin typeface="Tw Cen MT" panose="020B0602020104020603"/>
              </a:rPr>
              <a:t> &amp; Associate School Directors</a:t>
            </a:r>
            <a:endParaRPr kumimoji="0" lang="en-US" sz="2000" b="0" i="0" u="none" strike="noStrike" kern="0" cap="none" spc="0" normalizeH="0" baseline="0" noProof="0" dirty="0">
              <a:ln>
                <a:noFill/>
              </a:ln>
              <a:solidFill>
                <a:prstClr val="black"/>
              </a:solidFill>
              <a:effectLst/>
              <a:uLnTx/>
              <a:uFillTx/>
              <a:latin typeface="Tw Cen MT" panose="020B0602020104020603"/>
            </a:endParaRPr>
          </a:p>
        </p:txBody>
      </p:sp>
      <p:sp>
        <p:nvSpPr>
          <p:cNvPr id="6" name="TextBox 5">
            <a:extLst>
              <a:ext uri="{FF2B5EF4-FFF2-40B4-BE49-F238E27FC236}">
                <a16:creationId xmlns:a16="http://schemas.microsoft.com/office/drawing/2014/main" id="{9E7B1B88-D337-4BC2-B995-4BDAE7F711D6}"/>
              </a:ext>
            </a:extLst>
          </p:cNvPr>
          <p:cNvSpPr txBox="1"/>
          <p:nvPr/>
        </p:nvSpPr>
        <p:spPr>
          <a:xfrm>
            <a:off x="5040000" y="85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Board of Governors</a:t>
            </a:r>
          </a:p>
        </p:txBody>
      </p:sp>
      <p:sp>
        <p:nvSpPr>
          <p:cNvPr id="7" name="TextBox 6">
            <a:extLst>
              <a:ext uri="{FF2B5EF4-FFF2-40B4-BE49-F238E27FC236}">
                <a16:creationId xmlns:a16="http://schemas.microsoft.com/office/drawing/2014/main" id="{5D965AC4-A003-4EB5-ACDE-C9952346F7A6}"/>
              </a:ext>
            </a:extLst>
          </p:cNvPr>
          <p:cNvSpPr txBox="1"/>
          <p:nvPr/>
        </p:nvSpPr>
        <p:spPr>
          <a:xfrm>
            <a:off x="5040000" y="157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President</a:t>
            </a:r>
          </a:p>
        </p:txBody>
      </p:sp>
      <p:sp>
        <p:nvSpPr>
          <p:cNvPr id="10" name="TextBox 9">
            <a:extLst>
              <a:ext uri="{FF2B5EF4-FFF2-40B4-BE49-F238E27FC236}">
                <a16:creationId xmlns:a16="http://schemas.microsoft.com/office/drawing/2014/main" id="{4BA53526-88F0-436D-B645-D60A7E2D462E}"/>
              </a:ext>
            </a:extLst>
          </p:cNvPr>
          <p:cNvSpPr txBox="1"/>
          <p:nvPr/>
        </p:nvSpPr>
        <p:spPr>
          <a:xfrm>
            <a:off x="5040000" y="2297520"/>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Deans</a:t>
            </a:r>
          </a:p>
        </p:txBody>
      </p:sp>
      <p:sp>
        <p:nvSpPr>
          <p:cNvPr id="11" name="TextBox 10">
            <a:extLst>
              <a:ext uri="{FF2B5EF4-FFF2-40B4-BE49-F238E27FC236}">
                <a16:creationId xmlns:a16="http://schemas.microsoft.com/office/drawing/2014/main" id="{0BA16321-497E-4562-B618-2DAED8852992}"/>
              </a:ext>
            </a:extLst>
          </p:cNvPr>
          <p:cNvSpPr txBox="1"/>
          <p:nvPr/>
        </p:nvSpPr>
        <p:spPr>
          <a:xfrm>
            <a:off x="5040000" y="3017520"/>
            <a:ext cx="3240000" cy="688256"/>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smtClean="0">
                <a:ln>
                  <a:noFill/>
                </a:ln>
                <a:solidFill>
                  <a:prstClr val="black"/>
                </a:solidFill>
                <a:effectLst/>
                <a:uLnTx/>
                <a:uFillTx/>
                <a:latin typeface="Tw Cen MT" panose="020B0602020104020603"/>
              </a:rPr>
              <a:t>Associate  Deans, Department </a:t>
            </a:r>
            <a:r>
              <a:rPr kumimoji="0" lang="en-US" sz="2000" b="0" i="0" u="none" strike="noStrike" kern="0" cap="none" spc="0" normalizeH="0" baseline="0" noProof="0" dirty="0">
                <a:ln>
                  <a:noFill/>
                </a:ln>
                <a:solidFill>
                  <a:prstClr val="black"/>
                </a:solidFill>
                <a:effectLst/>
                <a:uLnTx/>
                <a:uFillTx/>
                <a:latin typeface="Tw Cen MT" panose="020B0602020104020603"/>
              </a:rPr>
              <a:t>Chairs &amp; School Directors</a:t>
            </a:r>
          </a:p>
        </p:txBody>
      </p:sp>
      <p:sp>
        <p:nvSpPr>
          <p:cNvPr id="14" name="TextBox 13">
            <a:extLst>
              <a:ext uri="{FF2B5EF4-FFF2-40B4-BE49-F238E27FC236}">
                <a16:creationId xmlns:a16="http://schemas.microsoft.com/office/drawing/2014/main" id="{B8A3267A-9C44-4D2D-8C12-0514010E5014}"/>
              </a:ext>
            </a:extLst>
          </p:cNvPr>
          <p:cNvSpPr txBox="1"/>
          <p:nvPr/>
        </p:nvSpPr>
        <p:spPr>
          <a:xfrm>
            <a:off x="5040000" y="5073072"/>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Professors</a:t>
            </a:r>
          </a:p>
        </p:txBody>
      </p:sp>
      <p:cxnSp>
        <p:nvCxnSpPr>
          <p:cNvPr id="18" name="Straight Arrow Connector 17">
            <a:extLst>
              <a:ext uri="{FF2B5EF4-FFF2-40B4-BE49-F238E27FC236}">
                <a16:creationId xmlns:a16="http://schemas.microsoft.com/office/drawing/2014/main" id="{4DC8C954-9F0D-4CED-A2C2-C8CFABAF130D}"/>
              </a:ext>
            </a:extLst>
          </p:cNvPr>
          <p:cNvCxnSpPr>
            <a:stCxn id="22" idx="2"/>
            <a:endCxn id="14" idx="0"/>
          </p:cNvCxnSpPr>
          <p:nvPr/>
        </p:nvCxnSpPr>
        <p:spPr>
          <a:xfrm>
            <a:off x="6660000" y="4733552"/>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sp>
        <p:nvSpPr>
          <p:cNvPr id="19" name="TextBox 18">
            <a:extLst>
              <a:ext uri="{FF2B5EF4-FFF2-40B4-BE49-F238E27FC236}">
                <a16:creationId xmlns:a16="http://schemas.microsoft.com/office/drawing/2014/main" id="{745C7ED5-BB80-4F8C-A2DE-6F0C435FBCFD}"/>
              </a:ext>
            </a:extLst>
          </p:cNvPr>
          <p:cNvSpPr txBox="1"/>
          <p:nvPr/>
        </p:nvSpPr>
        <p:spPr>
          <a:xfrm>
            <a:off x="5040000" y="5793072"/>
            <a:ext cx="3240000" cy="380480"/>
          </a:xfrm>
          <a:prstGeom prst="rect">
            <a:avLst/>
          </a:prstGeom>
          <a:solidFill>
            <a:srgbClr val="2FA3EE">
              <a:lumMod val="20000"/>
              <a:lumOff val="80000"/>
            </a:srgbClr>
          </a:solidFill>
          <a:ln>
            <a:solidFill>
              <a:sysClr val="windowText" lastClr="000000"/>
            </a:solidFill>
          </a:ln>
        </p:spPr>
        <p:txBody>
          <a:bodyPr wrap="square" lIns="36000" tIns="36000" rIns="36000" bIns="36000" rtlCol="0" anchor="ctr" anchorCtr="1">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Tw Cen MT" panose="020B0602020104020603"/>
              </a:rPr>
              <a:t>Students</a:t>
            </a: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Line Management – The U of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on </a:t>
            </a:r>
            <a:b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academic organization.</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lang="en-US" altLang="en-US" sz="2400" dirty="0">
                <a:solidFill>
                  <a:srgbClr val="333399"/>
                </a:solidFill>
                <a:latin typeface="Arial" panose="020B0604020202020204" pitchFamily="34" charset="0"/>
                <a:cs typeface="Arial" panose="020B0604020202020204" pitchFamily="34" charset="0"/>
              </a:rPr>
              <a:t>The Line Management </a:t>
            </a:r>
            <a:r>
              <a:rPr lang="en-US" altLang="en-US" sz="2400" dirty="0" smtClean="0">
                <a:solidFill>
                  <a:srgbClr val="333399"/>
                </a:solidFill>
                <a:latin typeface="Arial" panose="020B0604020202020204" pitchFamily="34" charset="0"/>
                <a:cs typeface="Arial" panose="020B0604020202020204" pitchFamily="34" charset="0"/>
              </a:rPr>
              <a:t>Model:</a:t>
            </a:r>
            <a:endParaRPr lang="en-US" altLang="en-US" sz="2400" dirty="0">
              <a:solidFill>
                <a:srgbClr val="333399"/>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1"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797367" y="1958000"/>
            <a:ext cx="3432633" cy="2325609"/>
          </a:xfrm>
          <a:prstGeom prst="rect">
            <a:avLst/>
          </a:prstGeom>
        </p:spPr>
      </p:pic>
      <p:cxnSp>
        <p:nvCxnSpPr>
          <p:cNvPr id="23" name="Straight Arrow Connector 22">
            <a:extLst>
              <a:ext uri="{FF2B5EF4-FFF2-40B4-BE49-F238E27FC236}">
                <a16:creationId xmlns:a16="http://schemas.microsoft.com/office/drawing/2014/main" id="{4DC8C954-9F0D-4CED-A2C2-C8CFABAF130D}"/>
              </a:ext>
            </a:extLst>
          </p:cNvPr>
          <p:cNvCxnSpPr>
            <a:stCxn id="11" idx="2"/>
            <a:endCxn id="22" idx="0"/>
          </p:cNvCxnSpPr>
          <p:nvPr/>
        </p:nvCxnSpPr>
        <p:spPr>
          <a:xfrm>
            <a:off x="6660000" y="3705776"/>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4" name="Straight Arrow Connector 23">
            <a:extLst>
              <a:ext uri="{FF2B5EF4-FFF2-40B4-BE49-F238E27FC236}">
                <a16:creationId xmlns:a16="http://schemas.microsoft.com/office/drawing/2014/main" id="{4DC8C954-9F0D-4CED-A2C2-C8CFABAF130D}"/>
              </a:ext>
            </a:extLst>
          </p:cNvPr>
          <p:cNvCxnSpPr>
            <a:stCxn id="10" idx="2"/>
            <a:endCxn id="11" idx="0"/>
          </p:cNvCxnSpPr>
          <p:nvPr/>
        </p:nvCxnSpPr>
        <p:spPr>
          <a:xfrm>
            <a:off x="6660000" y="267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5" name="Straight Arrow Connector 24">
            <a:extLst>
              <a:ext uri="{FF2B5EF4-FFF2-40B4-BE49-F238E27FC236}">
                <a16:creationId xmlns:a16="http://schemas.microsoft.com/office/drawing/2014/main" id="{4DC8C954-9F0D-4CED-A2C2-C8CFABAF130D}"/>
              </a:ext>
            </a:extLst>
          </p:cNvPr>
          <p:cNvCxnSpPr>
            <a:stCxn id="7" idx="2"/>
            <a:endCxn id="10" idx="0"/>
          </p:cNvCxnSpPr>
          <p:nvPr/>
        </p:nvCxnSpPr>
        <p:spPr>
          <a:xfrm>
            <a:off x="6660000" y="195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26" name="Straight Arrow Connector 25">
            <a:extLst>
              <a:ext uri="{FF2B5EF4-FFF2-40B4-BE49-F238E27FC236}">
                <a16:creationId xmlns:a16="http://schemas.microsoft.com/office/drawing/2014/main" id="{4DC8C954-9F0D-4CED-A2C2-C8CFABAF130D}"/>
              </a:ext>
            </a:extLst>
          </p:cNvPr>
          <p:cNvCxnSpPr>
            <a:stCxn id="6" idx="2"/>
            <a:endCxn id="7" idx="0"/>
          </p:cNvCxnSpPr>
          <p:nvPr/>
        </p:nvCxnSpPr>
        <p:spPr>
          <a:xfrm>
            <a:off x="6660000" y="1238000"/>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cxnSp>
        <p:nvCxnSpPr>
          <p:cNvPr id="34" name="Straight Arrow Connector 33">
            <a:extLst>
              <a:ext uri="{FF2B5EF4-FFF2-40B4-BE49-F238E27FC236}">
                <a16:creationId xmlns:a16="http://schemas.microsoft.com/office/drawing/2014/main" id="{4DC8C954-9F0D-4CED-A2C2-C8CFABAF130D}"/>
              </a:ext>
            </a:extLst>
          </p:cNvPr>
          <p:cNvCxnSpPr>
            <a:stCxn id="14" idx="2"/>
            <a:endCxn id="19" idx="0"/>
          </p:cNvCxnSpPr>
          <p:nvPr/>
        </p:nvCxnSpPr>
        <p:spPr>
          <a:xfrm>
            <a:off x="6660000" y="5453552"/>
            <a:ext cx="0" cy="339520"/>
          </a:xfrm>
          <a:prstGeom prst="straightConnector1">
            <a:avLst/>
          </a:prstGeom>
          <a:noFill/>
          <a:ln w="38100" cap="flat" cmpd="sng" algn="ctr">
            <a:solidFill>
              <a:sysClr val="windowText" lastClr="000000"/>
            </a:solidFill>
            <a:prstDash val="solid"/>
            <a:headEnd type="triangle" w="med" len="med"/>
            <a:tailEnd type="none" w="med" len="med"/>
          </a:ln>
          <a:effectLst/>
        </p:spPr>
      </p:cxnSp>
      <p:sp>
        <p:nvSpPr>
          <p:cNvPr id="3" name="TextBox 2"/>
          <p:cNvSpPr txBox="1"/>
          <p:nvPr/>
        </p:nvSpPr>
        <p:spPr>
          <a:xfrm>
            <a:off x="294968" y="4410057"/>
            <a:ext cx="4601497" cy="1631216"/>
          </a:xfrm>
          <a:prstGeom prst="rect">
            <a:avLst/>
          </a:prstGeom>
          <a:solidFill>
            <a:schemeClr val="tx1"/>
          </a:solidFill>
          <a:ln>
            <a:solidFill>
              <a:schemeClr val="tx1"/>
            </a:solidFill>
          </a:ln>
        </p:spPr>
        <p:txBody>
          <a:bodyPr wrap="square" rtlCol="0">
            <a:spAutoFit/>
          </a:bodyPr>
          <a:lstStyle/>
          <a:p>
            <a:r>
              <a:rPr lang="en-US" sz="2000" i="1" dirty="0" smtClean="0">
                <a:solidFill>
                  <a:schemeClr val="bg1"/>
                </a:solidFill>
                <a:latin typeface="Arial" panose="020B0604020202020204" pitchFamily="34" charset="0"/>
                <a:cs typeface="Arial" panose="020B0604020202020204" pitchFamily="34" charset="0"/>
              </a:rPr>
              <a:t>Questions for thought: </a:t>
            </a:r>
          </a:p>
          <a:p>
            <a:pPr marL="342900" indent="-342900">
              <a:buFont typeface="+mj-lt"/>
              <a:buAutoNum type="arabicParenR"/>
            </a:pPr>
            <a:r>
              <a:rPr lang="en-US" sz="2000" i="1" dirty="0" smtClean="0">
                <a:solidFill>
                  <a:schemeClr val="bg1"/>
                </a:solidFill>
                <a:latin typeface="Arial" panose="020B0604020202020204" pitchFamily="34" charset="0"/>
                <a:cs typeface="Arial" panose="020B0604020202020204" pitchFamily="34" charset="0"/>
              </a:rPr>
              <a:t>Where are you when you start in your career after graduation?</a:t>
            </a:r>
          </a:p>
          <a:p>
            <a:pPr marL="342900" indent="-342900">
              <a:buFont typeface="+mj-lt"/>
              <a:buAutoNum type="arabicParenR"/>
            </a:pPr>
            <a:r>
              <a:rPr lang="en-US" sz="2000" i="1" dirty="0" smtClean="0">
                <a:solidFill>
                  <a:schemeClr val="bg1"/>
                </a:solidFill>
                <a:latin typeface="Arial" panose="020B0604020202020204" pitchFamily="34" charset="0"/>
                <a:cs typeface="Arial" panose="020B0604020202020204" pitchFamily="34" charset="0"/>
              </a:rPr>
              <a:t>Where do you want to be in 10 years? 20 years? </a:t>
            </a:r>
            <a:endParaRPr lang="en-US" sz="2000" i="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824957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Model of Corporate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Mechanisms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&amp; </a:t>
            </a: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Supporting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Documents: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TextBox 5">
            <a:extLst>
              <a:ext uri="{FF2B5EF4-FFF2-40B4-BE49-F238E27FC236}">
                <a16:creationId xmlns:a16="http://schemas.microsoft.com/office/drawing/2014/main" id="{952F2364-457A-44D9-9AA8-130AB0A188F3}"/>
              </a:ext>
            </a:extLst>
          </p:cNvPr>
          <p:cNvSpPr txBox="1"/>
          <p:nvPr/>
        </p:nvSpPr>
        <p:spPr>
          <a:xfrm>
            <a:off x="180000" y="810835"/>
            <a:ext cx="8100000" cy="1031704"/>
          </a:xfrm>
          <a:prstGeom prst="rect">
            <a:avLst/>
          </a:prstGeom>
          <a:solidFill>
            <a:sysClr val="windowText" lastClr="000000"/>
          </a:solidFill>
          <a:ln>
            <a:solidFill>
              <a:sysClr val="windowText" lastClr="000000"/>
            </a:solidFill>
          </a:ln>
        </p:spPr>
        <p:txBody>
          <a:bodyPr wrap="square" rtlCol="0">
            <a:noAutofit/>
          </a:bodyPr>
          <a:lstStyle>
            <a:defPPr>
              <a:defRPr lang="en-US"/>
            </a:defPPr>
            <a:lvl1pPr>
              <a:defRPr sz="2000" i="1">
                <a:solidFill>
                  <a:schemeClr val="bg1"/>
                </a:solidFill>
                <a:latin typeface="Arial" panose="020B0604020202020204" pitchFamily="34" charset="0"/>
                <a:cs typeface="Arial" panose="020B0604020202020204"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1"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Leading organizations document their aspirations in their “Vision &amp; Values” statements (Vision Statement, Mission Statement, Code of Ethics, Corporate slogans, etc.)</a:t>
            </a:r>
          </a:p>
        </p:txBody>
      </p:sp>
      <p:grpSp>
        <p:nvGrpSpPr>
          <p:cNvPr id="7" name="Group 6">
            <a:extLst>
              <a:ext uri="{FF2B5EF4-FFF2-40B4-BE49-F238E27FC236}">
                <a16:creationId xmlns:a16="http://schemas.microsoft.com/office/drawing/2014/main" id="{AB04017E-A42B-458F-83B5-160325EB3613}"/>
              </a:ext>
            </a:extLst>
          </p:cNvPr>
          <p:cNvGrpSpPr/>
          <p:nvPr/>
        </p:nvGrpSpPr>
        <p:grpSpPr>
          <a:xfrm>
            <a:off x="1564210" y="1928031"/>
            <a:ext cx="5871579" cy="4210804"/>
            <a:chOff x="1486514" y="1358261"/>
            <a:chExt cx="6170500" cy="4958131"/>
          </a:xfrm>
        </p:grpSpPr>
        <p:pic>
          <p:nvPicPr>
            <p:cNvPr id="10" name="Picture 9">
              <a:extLst>
                <a:ext uri="{FF2B5EF4-FFF2-40B4-BE49-F238E27FC236}">
                  <a16:creationId xmlns:a16="http://schemas.microsoft.com/office/drawing/2014/main" id="{9AF7493E-1BBF-4044-8167-22B3B1F4AFED}"/>
                </a:ext>
              </a:extLst>
            </p:cNvPr>
            <p:cNvPicPr>
              <a:picLocks noChangeAspect="1"/>
            </p:cNvPicPr>
            <p:nvPr/>
          </p:nvPicPr>
          <p:blipFill>
            <a:blip r:embed="rId3"/>
            <a:stretch>
              <a:fillRect/>
            </a:stretch>
          </p:blipFill>
          <p:spPr>
            <a:xfrm>
              <a:off x="1486514" y="1358261"/>
              <a:ext cx="6170500" cy="4958131"/>
            </a:xfrm>
            <a:prstGeom prst="rect">
              <a:avLst/>
            </a:prstGeom>
          </p:spPr>
        </p:pic>
        <p:sp>
          <p:nvSpPr>
            <p:cNvPr id="11" name="TextBox 10">
              <a:extLst>
                <a:ext uri="{FF2B5EF4-FFF2-40B4-BE49-F238E27FC236}">
                  <a16:creationId xmlns:a16="http://schemas.microsoft.com/office/drawing/2014/main" id="{D05D1BB0-B0E0-47CD-892C-4D1516D86B58}"/>
                </a:ext>
              </a:extLst>
            </p:cNvPr>
            <p:cNvSpPr txBox="1"/>
            <p:nvPr/>
          </p:nvSpPr>
          <p:spPr>
            <a:xfrm>
              <a:off x="5623035" y="1565716"/>
              <a:ext cx="1923393" cy="370680"/>
            </a:xfrm>
            <a:prstGeom prst="rect">
              <a:avLst/>
            </a:prstGeom>
            <a:solidFill>
              <a:sysClr val="window" lastClr="FFFFFF"/>
            </a:solidFill>
            <a:ln>
              <a:solidFill>
                <a:sysClr val="windowText" lastClr="000000"/>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w Cen MT" panose="020B0602020104020603"/>
                </a:rPr>
                <a:t>Mission Statement</a:t>
              </a:r>
            </a:p>
          </p:txBody>
        </p:sp>
        <p:sp>
          <p:nvSpPr>
            <p:cNvPr id="14" name="Left-Right Arrow 9">
              <a:extLst>
                <a:ext uri="{FF2B5EF4-FFF2-40B4-BE49-F238E27FC236}">
                  <a16:creationId xmlns:a16="http://schemas.microsoft.com/office/drawing/2014/main" id="{BF9C30F9-3E53-4948-AD34-A0ABF459E56F}"/>
                </a:ext>
              </a:extLst>
            </p:cNvPr>
            <p:cNvSpPr/>
            <p:nvPr/>
          </p:nvSpPr>
          <p:spPr>
            <a:xfrm>
              <a:off x="4593249" y="1554878"/>
              <a:ext cx="1029785" cy="381841"/>
            </a:xfrm>
            <a:prstGeom prst="leftRightArrow">
              <a:avLst/>
            </a:prstGeom>
            <a:solidFill>
              <a:sysClr val="window" lastClr="FFFFFF">
                <a:lumMod val="50000"/>
              </a:sysClr>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grpSp>
      <p:sp>
        <p:nvSpPr>
          <p:cNvPr id="15"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86502569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Definitions of Vision,</a:t>
            </a:r>
            <a:r>
              <a:rPr kumimoji="0" lang="en-CA"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a:t>
            </a:r>
            <a:r>
              <a:rPr lang="en-CA" altLang="en-US" sz="2400" dirty="0" smtClean="0">
                <a:solidFill>
                  <a:srgbClr val="333399"/>
                </a:solidFill>
                <a:latin typeface="Arial" panose="020B0604020202020204" pitchFamily="34" charset="0"/>
                <a:cs typeface="Arial" panose="020B0604020202020204" pitchFamily="34" charset="0"/>
              </a:rPr>
              <a:t>Mission, etc. </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4"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vision statement captures the desired future state of the organization.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statement says what the organization wishes to be like in some years’ time</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“forward thinking”, usually by senior management, on strategic planning and focus on how to achieve that desired future state.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Mission:</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 “mission statement</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describes what business the organization is in (and what it isn’t) both now and projecting into the future. Its aim is to provide focus for management and staff” not only on the short-term but also on the longer term. It is congruent with and supports the vision.</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 Values: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set of “values</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describes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desired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of the organization i.e. the compass or benchmark on which decisions are based. These are fairly high level.</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Organizational</a:t>
            </a:r>
            <a:r>
              <a:rPr lang="en-US"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Principles: </a:t>
            </a: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set of principles “gives employees a set of directions”. These are more descriptive, but not to the point of the details in policies, procedures, and so on.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defTabSz="914400" eaLnBrk="0" fontAlgn="base" hangingPunct="0">
              <a:lnSpc>
                <a:spcPct val="100000"/>
              </a:lnSpc>
              <a:spcBef>
                <a:spcPts val="0"/>
              </a:spcBef>
              <a:spcAft>
                <a:spcPct val="0"/>
              </a:spcAft>
              <a:buClrTx/>
              <a:buSzPct val="100000"/>
              <a:buNone/>
              <a:defRPr/>
            </a:pP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STRATEGIC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PLANNING: Your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Company’s Purpose Is Not Its Vision, Mission, or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Values; by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Graham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Kenny; September </a:t>
            </a:r>
            <a:r>
              <a:rPr lang="en-US"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03, </a:t>
            </a:r>
            <a:r>
              <a:rPr lang="en-US"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2014; HBR; accessed 20-Oct-2020; </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https</a:t>
            </a:r>
            <a:r>
              <a:rPr lang="en-CA" altLang="en-US" sz="1200" dirty="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hlinkClick r:id="rId2"/>
              </a:rPr>
              <a:t>hbr.org/2014/09/your-companys-purpose-is-not-its-vision-mission-or-values</a:t>
            </a:r>
            <a:r>
              <a:rPr lang="en-CA" altLang="en-US" sz="12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262675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4619879"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University of Alberta</a:t>
            </a: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0" indent="0" defTabSz="914400" eaLnBrk="0" fontAlgn="base" hangingPunct="0">
              <a:lnSpc>
                <a:spcPct val="100000"/>
              </a:lnSpc>
              <a:spcBef>
                <a:spcPts val="0"/>
              </a:spcBef>
              <a:spcAft>
                <a:spcPct val="0"/>
              </a:spcAft>
              <a:buClr>
                <a:srgbClr val="000000"/>
              </a:buClr>
              <a:buSzPct val="100000"/>
              <a:buNone/>
              <a:defRPr/>
            </a:pPr>
            <a:r>
              <a:rPr lang="en-US" altLang="en-US"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https</a:t>
            </a:r>
            <a:r>
              <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altLang="en-US" sz="11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www.ualberta.ca/strategic-plan/overview/our-vision-mission-and-values.html</a:t>
            </a: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11" name="Rectangle 3"/>
          <p:cNvSpPr>
            <a:spLocks noChangeArrowheads="1"/>
          </p:cNvSpPr>
          <p:nvPr/>
        </p:nvSpPr>
        <p:spPr bwMode="auto">
          <a:xfrm>
            <a:off x="4754823" y="980400"/>
            <a:ext cx="4217577"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Jacobs Industrial Services:</a:t>
            </a: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1"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lang="en-US" altLang="en-US" sz="11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r>
              <a:rPr kumimoji="0" lang="en-US" altLang="en-US" sz="11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http</a:t>
            </a:r>
            <a:r>
              <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://www.jacobs.com/about#vision-mission-and-values</a:t>
            </a:r>
          </a:p>
          <a:p>
            <a:pPr marL="0" marR="0" lvl="0" indent="0" algn="ctr"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11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3063F0DA-FABE-4BC1-8FF3-796F843488B1}"/>
              </a:ext>
            </a:extLst>
          </p:cNvPr>
          <p:cNvPicPr>
            <a:picLocks noChangeAspect="1"/>
          </p:cNvPicPr>
          <p:nvPr/>
        </p:nvPicPr>
        <p:blipFill>
          <a:blip r:embed="rId3"/>
          <a:stretch>
            <a:fillRect/>
          </a:stretch>
        </p:blipFill>
        <p:spPr>
          <a:xfrm>
            <a:off x="4799879" y="2218744"/>
            <a:ext cx="4013521" cy="3115256"/>
          </a:xfrm>
          <a:prstGeom prst="rect">
            <a:avLst/>
          </a:prstGeom>
        </p:spPr>
      </p:pic>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CA" altLang="en-US" sz="2400" dirty="0" smtClean="0">
                <a:solidFill>
                  <a:srgbClr val="333399"/>
                </a:solidFill>
                <a:latin typeface="Arial" panose="020B0604020202020204" pitchFamily="34" charset="0"/>
                <a:cs typeface="Arial" panose="020B0604020202020204" pitchFamily="34" charset="0"/>
              </a:rPr>
              <a:t>Vision, Mission, Values – Examples: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5FDC5D56-19FE-43C0-AB6B-C0B4ACB607BD}"/>
              </a:ext>
            </a:extLst>
          </p:cNvPr>
          <p:cNvPicPr>
            <a:picLocks noChangeAspect="1"/>
          </p:cNvPicPr>
          <p:nvPr/>
        </p:nvPicPr>
        <p:blipFill>
          <a:blip r:embed="rId4"/>
          <a:stretch>
            <a:fillRect/>
          </a:stretch>
        </p:blipFill>
        <p:spPr>
          <a:xfrm>
            <a:off x="324000" y="1186414"/>
            <a:ext cx="4430823" cy="3942528"/>
          </a:xfrm>
          <a:prstGeom prst="rect">
            <a:avLst/>
          </a:prstGeom>
        </p:spPr>
      </p:pic>
      <p:sp>
        <p:nvSpPr>
          <p:cNvPr id="10"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72196944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7999"/>
            <a:ext cx="8640000" cy="5328000"/>
          </a:xfrm>
          <a:prstGeom prst="rect">
            <a:avLst/>
          </a:prstGeom>
          <a:solidFill>
            <a:schemeClr val="tx1"/>
          </a:solidFill>
          <a:ln>
            <a:solidFill>
              <a:schemeClr val="tx1"/>
            </a:solidFill>
          </a:ln>
        </p:spPr>
        <p:txBody>
          <a:bodyPr wrap="square" rtlCol="0">
            <a:noAutofit/>
          </a:bodyPr>
          <a:lstStyle/>
          <a:p>
            <a:r>
              <a:rPr lang="en-US" altLang="en-US" sz="2000" b="1" i="1" dirty="0">
                <a:solidFill>
                  <a:schemeClr val="bg1"/>
                </a:solidFill>
                <a:latin typeface="Arial" panose="020B0604020202020204" pitchFamily="34" charset="0"/>
                <a:cs typeface="Arial" panose="020B0604020202020204" pitchFamily="34" charset="0"/>
              </a:rPr>
              <a:t>Is an Organization “Living” Its Values?</a:t>
            </a:r>
          </a:p>
          <a:p>
            <a:r>
              <a:rPr lang="en-CA" altLang="en-US" sz="2000" i="1" dirty="0">
                <a:solidFill>
                  <a:schemeClr val="bg1"/>
                </a:solidFill>
                <a:latin typeface="Arial" panose="020B0604020202020204" pitchFamily="34" charset="0"/>
                <a:cs typeface="Arial" panose="020B0604020202020204" pitchFamily="34" charset="0"/>
              </a:rPr>
              <a:t>Think back on your work experience. Did those organizations “live” their corporate statements on vision, mission, values, ethics, corporate responsibility, etc.? </a:t>
            </a:r>
          </a:p>
          <a:p>
            <a:pPr marL="342900" indent="-342900">
              <a:buFont typeface="Wingdings" panose="05000000000000000000" pitchFamily="2" charset="2"/>
              <a:buChar char="Ø"/>
            </a:pPr>
            <a:r>
              <a:rPr lang="en-CA" altLang="en-US" sz="2000" i="1" dirty="0">
                <a:solidFill>
                  <a:schemeClr val="bg1"/>
                </a:solidFill>
                <a:latin typeface="Arial" panose="020B0604020202020204" pitchFamily="34" charset="0"/>
                <a:cs typeface="Arial" panose="020B0604020202020204" pitchFamily="34" charset="0"/>
              </a:rPr>
              <a:t>Do they live their values or is it just ‘words on the wall’?</a:t>
            </a:r>
          </a:p>
          <a:p>
            <a:pPr marL="342900" indent="-342900">
              <a:buFont typeface="Wingdings" panose="05000000000000000000" pitchFamily="2" charset="2"/>
              <a:buChar char="Ø"/>
            </a:pPr>
            <a:r>
              <a:rPr lang="en-CA" altLang="en-US" sz="2000" i="1" dirty="0">
                <a:solidFill>
                  <a:schemeClr val="bg1"/>
                </a:solidFill>
                <a:latin typeface="Arial" panose="020B0604020202020204" pitchFamily="34" charset="0"/>
                <a:cs typeface="Arial" panose="020B0604020202020204" pitchFamily="34" charset="0"/>
              </a:rPr>
              <a:t>Was the culture </a:t>
            </a:r>
            <a:r>
              <a:rPr lang="en-CA" altLang="en-US" sz="2000" i="1" dirty="0" smtClean="0">
                <a:solidFill>
                  <a:schemeClr val="bg1"/>
                </a:solidFill>
                <a:latin typeface="Arial" panose="020B0604020202020204" pitchFamily="34" charset="0"/>
                <a:cs typeface="Arial" panose="020B0604020202020204" pitchFamily="34" charset="0"/>
              </a:rPr>
              <a:t>aligned with </a:t>
            </a:r>
            <a:r>
              <a:rPr lang="en-CA" altLang="en-US" sz="2000" i="1" dirty="0">
                <a:solidFill>
                  <a:schemeClr val="bg1"/>
                </a:solidFill>
                <a:latin typeface="Arial" panose="020B0604020202020204" pitchFamily="34" charset="0"/>
                <a:cs typeface="Arial" panose="020B0604020202020204" pitchFamily="34" charset="0"/>
              </a:rPr>
              <a:t>their values?</a:t>
            </a:r>
          </a:p>
          <a:p>
            <a:endParaRPr lang="en-CA" altLang="en-US" sz="2000" i="1" dirty="0">
              <a:solidFill>
                <a:schemeClr val="bg1"/>
              </a:solidFill>
              <a:latin typeface="Arial" panose="020B0604020202020204" pitchFamily="34" charset="0"/>
              <a:cs typeface="Arial" panose="020B0604020202020204" pitchFamily="34" charset="0"/>
            </a:endParaRPr>
          </a:p>
          <a:p>
            <a:endParaRPr lang="en-CA" altLang="en-US" sz="2000" i="1" dirty="0">
              <a:solidFill>
                <a:schemeClr val="bg1"/>
              </a:solidFill>
              <a:latin typeface="Arial" panose="020B0604020202020204" pitchFamily="34" charset="0"/>
              <a:cs typeface="Arial" panose="020B0604020202020204" pitchFamily="34" charset="0"/>
            </a:endParaRPr>
          </a:p>
          <a:p>
            <a:r>
              <a:rPr lang="en-CA" altLang="en-US" sz="2000" i="1" dirty="0">
                <a:solidFill>
                  <a:schemeClr val="bg1"/>
                </a:solidFill>
                <a:latin typeface="Arial" panose="020B0604020202020204" pitchFamily="34" charset="0"/>
                <a:cs typeface="Arial" panose="020B0604020202020204" pitchFamily="34" charset="0"/>
              </a:rPr>
              <a:t>For employees </a:t>
            </a:r>
            <a:r>
              <a:rPr lang="en-CA" altLang="en-US" sz="2000" i="1" dirty="0" smtClean="0">
                <a:solidFill>
                  <a:schemeClr val="bg1"/>
                </a:solidFill>
                <a:latin typeface="Arial" panose="020B0604020202020204" pitchFamily="34" charset="0"/>
                <a:cs typeface="Arial" panose="020B0604020202020204" pitchFamily="34" charset="0"/>
              </a:rPr>
              <a:t>working within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and </a:t>
            </a:r>
            <a:r>
              <a:rPr lang="en-CA" altLang="en-US" sz="2000" i="1" dirty="0">
                <a:solidFill>
                  <a:schemeClr val="bg1"/>
                </a:solidFill>
                <a:latin typeface="Arial" panose="020B0604020202020204" pitchFamily="34" charset="0"/>
                <a:cs typeface="Arial" panose="020B0604020202020204" pitchFamily="34" charset="0"/>
              </a:rPr>
              <a:t>for leading </a:t>
            </a:r>
            <a:r>
              <a:rPr lang="en-CA" altLang="en-US" sz="2000" i="1" dirty="0" smtClean="0">
                <a:solidFill>
                  <a:schemeClr val="bg1"/>
                </a:solidFill>
                <a:latin typeface="Arial" panose="020B0604020202020204" pitchFamily="34" charset="0"/>
                <a:cs typeface="Arial" panose="020B0604020202020204" pitchFamily="34" charset="0"/>
              </a:rPr>
              <a:t>organizations</a:t>
            </a:r>
            <a:r>
              <a:rPr lang="en-CA" altLang="en-US" sz="2000" i="1" dirty="0">
                <a:solidFill>
                  <a:schemeClr val="bg1"/>
                </a:solidFill>
                <a:latin typeface="Arial" panose="020B0604020202020204" pitchFamily="34" charset="0"/>
                <a:cs typeface="Arial" panose="020B0604020202020204" pitchFamily="34" charset="0"/>
              </a:rPr>
              <a:t>,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the culture is </a:t>
            </a:r>
            <a:r>
              <a:rPr lang="en-CA" altLang="en-US" sz="2000" i="1" dirty="0">
                <a:solidFill>
                  <a:schemeClr val="bg1"/>
                </a:solidFill>
                <a:latin typeface="Arial" panose="020B0604020202020204" pitchFamily="34" charset="0"/>
                <a:cs typeface="Arial" panose="020B0604020202020204" pitchFamily="34" charset="0"/>
              </a:rPr>
              <a:t>most definitely,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most of the </a:t>
            </a:r>
            <a:r>
              <a:rPr lang="en-CA" altLang="en-US" sz="2000" i="1" dirty="0">
                <a:solidFill>
                  <a:schemeClr val="bg1"/>
                </a:solidFill>
                <a:latin typeface="Arial" panose="020B0604020202020204" pitchFamily="34" charset="0"/>
                <a:cs typeface="Arial" panose="020B0604020202020204" pitchFamily="34" charset="0"/>
              </a:rPr>
              <a:t>time, aligned with </a:t>
            </a:r>
            <a:r>
              <a:rPr lang="en-CA" altLang="en-US" sz="2000" i="1" dirty="0" smtClean="0">
                <a:solidFill>
                  <a:schemeClr val="bg1"/>
                </a:solidFill>
                <a:latin typeface="Arial" panose="020B0604020202020204" pitchFamily="34" charset="0"/>
                <a:cs typeface="Arial" panose="020B0604020202020204" pitchFamily="34" charset="0"/>
              </a:rPr>
              <a:t/>
            </a:r>
            <a:br>
              <a:rPr lang="en-CA" altLang="en-US" sz="2000" i="1" dirty="0" smtClean="0">
                <a:solidFill>
                  <a:schemeClr val="bg1"/>
                </a:solidFill>
                <a:latin typeface="Arial" panose="020B0604020202020204" pitchFamily="34" charset="0"/>
                <a:cs typeface="Arial" panose="020B0604020202020204" pitchFamily="34" charset="0"/>
              </a:rPr>
            </a:br>
            <a:r>
              <a:rPr lang="en-CA" altLang="en-US" sz="2000" i="1" dirty="0" smtClean="0">
                <a:solidFill>
                  <a:schemeClr val="bg1"/>
                </a:solidFill>
                <a:latin typeface="Arial" panose="020B0604020202020204" pitchFamily="34" charset="0"/>
                <a:cs typeface="Arial" panose="020B0604020202020204" pitchFamily="34" charset="0"/>
              </a:rPr>
              <a:t>the corporate </a:t>
            </a:r>
            <a:r>
              <a:rPr lang="en-CA" altLang="en-US" sz="2000" i="1" dirty="0">
                <a:solidFill>
                  <a:schemeClr val="bg1"/>
                </a:solidFill>
                <a:latin typeface="Arial" panose="020B0604020202020204" pitchFamily="34" charset="0"/>
                <a:cs typeface="Arial" panose="020B0604020202020204" pitchFamily="34" charset="0"/>
              </a:rPr>
              <a:t>vision, values,</a:t>
            </a:r>
            <a:br>
              <a:rPr lang="en-CA" altLang="en-US" sz="2000" i="1" dirty="0">
                <a:solidFill>
                  <a:schemeClr val="bg1"/>
                </a:solidFill>
                <a:latin typeface="Arial" panose="020B0604020202020204" pitchFamily="34" charset="0"/>
                <a:cs typeface="Arial" panose="020B0604020202020204" pitchFamily="34" charset="0"/>
              </a:rPr>
            </a:br>
            <a:r>
              <a:rPr lang="en-CA" altLang="en-US" sz="2000" i="1" dirty="0">
                <a:solidFill>
                  <a:schemeClr val="bg1"/>
                </a:solidFill>
                <a:latin typeface="Arial" panose="020B0604020202020204" pitchFamily="34" charset="0"/>
                <a:cs typeface="Arial" panose="020B0604020202020204" pitchFamily="34" charset="0"/>
              </a:rPr>
              <a:t>and so on.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Are Vision, Mission,</a:t>
            </a:r>
            <a:r>
              <a:rPr kumimoji="0" lang="en-US" altLang="en-US" sz="2400" b="0" i="0" u="none" strike="noStrike" kern="1200" cap="none" spc="0" normalizeH="0" noProof="0" dirty="0" smtClean="0">
                <a:ln>
                  <a:noFill/>
                </a:ln>
                <a:solidFill>
                  <a:srgbClr val="333399"/>
                </a:solidFill>
                <a:effectLst/>
                <a:uLnTx/>
                <a:uFillTx/>
                <a:latin typeface="Arial" panose="020B0604020202020204" pitchFamily="34" charset="0"/>
                <a:ea typeface="+mn-ea"/>
                <a:cs typeface="Arial" panose="020B0604020202020204" pitchFamily="34" charset="0"/>
              </a:rPr>
              <a:t> Values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 Aligned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with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Actual Culture</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6" name="Picture 5">
            <a:extLst>
              <a:ext uri="{FF2B5EF4-FFF2-40B4-BE49-F238E27FC236}">
                <a16:creationId xmlns:a16="http://schemas.microsoft.com/office/drawing/2014/main" id="{A6628CAD-B3E8-4C62-ADBF-EA3809CBEF6F}"/>
              </a:ext>
            </a:extLst>
          </p:cNvPr>
          <p:cNvPicPr preferRelativeResize="0">
            <a:picLocks/>
          </p:cNvPicPr>
          <p:nvPr/>
        </p:nvPicPr>
        <p:blipFill>
          <a:blip r:embed="rId3"/>
          <a:stretch>
            <a:fillRect/>
          </a:stretch>
        </p:blipFill>
        <p:spPr>
          <a:xfrm>
            <a:off x="4261064" y="2836652"/>
            <a:ext cx="4552336" cy="3319347"/>
          </a:xfrm>
          <a:prstGeom prst="rect">
            <a:avLst/>
          </a:prstGeom>
        </p:spPr>
      </p:pic>
      <p:sp>
        <p:nvSpPr>
          <p:cNvPr id="7" name="Up-Down Arrow 6">
            <a:extLst>
              <a:ext uri="{FF2B5EF4-FFF2-40B4-BE49-F238E27FC236}">
                <a16:creationId xmlns:a16="http://schemas.microsoft.com/office/drawing/2014/main" id="{CD8D00BE-3771-429C-B26E-CA75CB9A7359}"/>
              </a:ext>
            </a:extLst>
          </p:cNvPr>
          <p:cNvSpPr/>
          <p:nvPr/>
        </p:nvSpPr>
        <p:spPr>
          <a:xfrm>
            <a:off x="5869140" y="3313471"/>
            <a:ext cx="760576" cy="2179105"/>
          </a:xfrm>
          <a:prstGeom prst="upDownArrow">
            <a:avLst/>
          </a:prstGeom>
          <a:solidFill>
            <a:srgbClr val="FFFF00"/>
          </a:solidFill>
          <a:ln w="15875" cap="flat" cmpd="sng" algn="ctr">
            <a:solidFill>
              <a:sysClr val="windowText" lastClr="00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CA" sz="3600" b="1" i="0" u="none" strike="noStrike" kern="0" cap="none" spc="0" normalizeH="0" baseline="0" noProof="0" dirty="0">
                <a:ln>
                  <a:noFill/>
                </a:ln>
                <a:solidFill>
                  <a:prstClr val="black"/>
                </a:solidFill>
                <a:effectLst/>
                <a:uLnTx/>
                <a:uFillTx/>
                <a:latin typeface="Tw Cen MT" panose="020B0602020104020603"/>
                <a:ea typeface="+mn-ea"/>
                <a:cs typeface="Arial" panose="020B0604020202020204" pitchFamily="34" charset="0"/>
              </a:rPr>
              <a:t>?</a:t>
            </a:r>
          </a:p>
        </p:txBody>
      </p:sp>
      <p:sp>
        <p:nvSpPr>
          <p:cNvPr id="10"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5475879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defTabSz="914400" eaLnBrk="0" fontAlgn="base" hangingPunct="0">
              <a:lnSpc>
                <a:spcPct val="90000"/>
              </a:lnSpc>
              <a:spcBef>
                <a:spcPts val="0"/>
              </a:spcBef>
              <a:spcAft>
                <a:spcPct val="0"/>
              </a:spcAft>
              <a:buClrTx/>
              <a:buSzPct val="100000"/>
              <a:buNone/>
              <a:defRPr/>
            </a:pP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an </a:t>
            </a:r>
            <a:r>
              <a:rPr lang="en-CA" altLang="en-US" sz="1800"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expressive </a:t>
            </a:r>
            <a:r>
              <a:rPr lang="en-CA" altLang="en-US" sz="1800"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definition: </a:t>
            </a:r>
            <a:r>
              <a:rPr lang="en-CA" altLang="en-US" sz="1800" b="1"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way we do work around here.”</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Different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objectives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etc. leading to the desired results) require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different cultures.</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effectiveness of the</a:t>
            </a:r>
            <a:r>
              <a:rPr kumimoji="0" lang="en-CA" altLang="en-US" sz="18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a:t>
            </a:r>
            <a:r>
              <a:rPr kumimoji="0" lang="en-CA"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the organization </a:t>
            </a:r>
            <a:r>
              <a:rPr kumimoji="0" lang="en-CA" altLang="en-US" sz="1800" b="0" i="0" u="sng"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determines performance</a:t>
            </a:r>
            <a:r>
              <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of the organization. </a:t>
            </a: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endPar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Examples:</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Bottom-line </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results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CA"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profitability) </a:t>
            </a: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for-profit business. </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Create a safe and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accepting learning</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environment … an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institution of higher</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learning.</a:t>
            </a:r>
          </a:p>
          <a:p>
            <a:pPr marL="720000" indent="-360000" defTabSz="914400" eaLnBrk="0" fontAlgn="base" hangingPunct="0">
              <a:lnSpc>
                <a:spcPct val="90000"/>
              </a:lnSpc>
              <a:spcBef>
                <a:spcPts val="0"/>
              </a:spcBef>
              <a:spcAft>
                <a:spcPct val="0"/>
              </a:spcAft>
              <a:buClrTx/>
              <a:buSzPct val="100000"/>
              <a:buFont typeface="Wingdings" panose="05000000000000000000" pitchFamily="2" charset="2"/>
              <a:buChar char="Ø"/>
              <a:defRPr/>
            </a:pP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Stewardship (care for)</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the environment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organization </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committed to protecting</a:t>
            </a:r>
            <a:b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environment.</a:t>
            </a:r>
          </a:p>
          <a:p>
            <a:pPr marL="360000" marR="0" lvl="0" indent="-360000" algn="l" defTabSz="914400" rtl="0" eaLnBrk="0" fontAlgn="base" latinLnBrk="0" hangingPunct="0">
              <a:lnSpc>
                <a:spcPct val="90000"/>
              </a:lnSpc>
              <a:spcBef>
                <a:spcPts val="0"/>
              </a:spcBef>
              <a:spcAft>
                <a:spcPct val="0"/>
              </a:spcAft>
              <a:buClrTx/>
              <a:buSzPct val="100000"/>
              <a:buFont typeface="Wingdings" panose="05000000000000000000" pitchFamily="2" charset="2"/>
              <a:buChar char="Ø"/>
              <a:tabLst/>
              <a:defRPr/>
            </a:pPr>
            <a:endParaRPr kumimoji="0" lang="en-CA" altLang="en-US" sz="18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 Further Exploration of Organizational Culture: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0" name="AutoShape 8">
            <a:extLst>
              <a:ext uri="{FF2B5EF4-FFF2-40B4-BE49-F238E27FC236}">
                <a16:creationId xmlns:a16="http://schemas.microsoft.com/office/drawing/2014/main" id="{01B075F1-37F9-4891-B261-01487ECF0A4C}"/>
              </a:ext>
            </a:extLst>
          </p:cNvPr>
          <p:cNvSpPr>
            <a:spLocks noChangeArrowheads="1"/>
          </p:cNvSpPr>
          <p:nvPr/>
        </p:nvSpPr>
        <p:spPr bwMode="auto">
          <a:xfrm flipH="1">
            <a:off x="4489070" y="4448198"/>
            <a:ext cx="1318767" cy="872454"/>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13" name="AutoShape 8">
            <a:extLst>
              <a:ext uri="{FF2B5EF4-FFF2-40B4-BE49-F238E27FC236}">
                <a16:creationId xmlns:a16="http://schemas.microsoft.com/office/drawing/2014/main" id="{01B075F1-37F9-4891-B261-01487ECF0A4C}"/>
              </a:ext>
            </a:extLst>
          </p:cNvPr>
          <p:cNvSpPr>
            <a:spLocks noChangeArrowheads="1"/>
          </p:cNvSpPr>
          <p:nvPr/>
        </p:nvSpPr>
        <p:spPr bwMode="auto">
          <a:xfrm rot="16200000" flipH="1">
            <a:off x="7038066" y="4429669"/>
            <a:ext cx="878569" cy="1307857"/>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Tree>
    <p:extLst>
      <p:ext uri="{BB962C8B-B14F-4D97-AF65-F5344CB8AC3E}">
        <p14:creationId xmlns:p14="http://schemas.microsoft.com/office/powerpoint/2010/main" val="3296709067"/>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lang="en-US" altLang="en-US" sz="2400" dirty="0">
                <a:solidFill>
                  <a:srgbClr val="333399"/>
                </a:solidFill>
                <a:latin typeface="Arial" panose="020B0604020202020204" pitchFamily="34" charset="0"/>
                <a:cs typeface="Arial" panose="020B0604020202020204" pitchFamily="34" charset="0"/>
              </a:rPr>
              <a:t>We Can </a:t>
            </a:r>
            <a:r>
              <a:rPr lang="en-US" altLang="en-US" sz="2400" dirty="0" smtClean="0">
                <a:solidFill>
                  <a:srgbClr val="333399"/>
                </a:solidFill>
                <a:latin typeface="Arial" panose="020B0604020202020204" pitchFamily="34" charset="0"/>
                <a:cs typeface="Arial" panose="020B0604020202020204" pitchFamily="34" charset="0"/>
              </a:rPr>
              <a:t>Explain This Model in Terms We Already know:</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AB93719E-5056-4A33-9A46-12B554B5F7FC}"/>
              </a:ext>
            </a:extLst>
          </p:cNvPr>
          <p:cNvPicPr>
            <a:picLocks/>
          </p:cNvPicPr>
          <p:nvPr/>
        </p:nvPicPr>
        <p:blipFill>
          <a:blip r:embed="rId3"/>
          <a:stretch>
            <a:fillRect/>
          </a:stretch>
        </p:blipFill>
        <p:spPr>
          <a:xfrm>
            <a:off x="540000" y="864000"/>
            <a:ext cx="7920000" cy="4500000"/>
          </a:xfrm>
          <a:prstGeom prst="rect">
            <a:avLst/>
          </a:prstGeom>
        </p:spPr>
      </p:pic>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
        <p:nvSpPr>
          <p:cNvPr id="2" name="Right Arrow 1"/>
          <p:cNvSpPr/>
          <p:nvPr/>
        </p:nvSpPr>
        <p:spPr>
          <a:xfrm>
            <a:off x="4036142" y="3038168"/>
            <a:ext cx="1981200" cy="1189704"/>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Administrative Controls</a:t>
            </a:r>
            <a:endParaRPr lang="en-US" dirty="0">
              <a:solidFill>
                <a:schemeClr val="tx1"/>
              </a:solidFill>
            </a:endParaRPr>
          </a:p>
        </p:txBody>
      </p:sp>
      <p:sp>
        <p:nvSpPr>
          <p:cNvPr id="13" name="Up Arrow 12"/>
          <p:cNvSpPr/>
          <p:nvPr/>
        </p:nvSpPr>
        <p:spPr>
          <a:xfrm>
            <a:off x="1935522" y="5057728"/>
            <a:ext cx="4709652" cy="1134272"/>
          </a:xfrm>
          <a:prstGeom prst="up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Work Practices</a:t>
            </a:r>
            <a:br>
              <a:rPr lang="en-US" dirty="0" smtClean="0">
                <a:solidFill>
                  <a:schemeClr val="tx1"/>
                </a:solidFill>
              </a:rPr>
            </a:br>
            <a:r>
              <a:rPr lang="en-US" i="1" dirty="0" smtClean="0">
                <a:solidFill>
                  <a:schemeClr val="tx1"/>
                </a:solidFill>
              </a:rPr>
              <a:t>“The way we do work around here”</a:t>
            </a:r>
            <a:endParaRPr lang="en-US" i="1" dirty="0">
              <a:solidFill>
                <a:schemeClr val="tx1"/>
              </a:solidFill>
            </a:endParaRPr>
          </a:p>
        </p:txBody>
      </p:sp>
    </p:spTree>
    <p:extLst>
      <p:ext uri="{BB962C8B-B14F-4D97-AF65-F5344CB8AC3E}">
        <p14:creationId xmlns:p14="http://schemas.microsoft.com/office/powerpoint/2010/main" val="69979904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defTabSz="914400" eaLnBrk="0" fontAlgn="base" hangingPunct="0">
              <a:lnSpc>
                <a:spcPct val="100000"/>
              </a:lnSpc>
              <a:spcBef>
                <a:spcPts val="0"/>
              </a:spcBef>
              <a:spcAft>
                <a:spcPct val="0"/>
              </a:spcAft>
              <a:buClrTx/>
              <a:buSzPct val="100000"/>
              <a:buNone/>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Administrative</a:t>
            </a:r>
            <a:r>
              <a:rPr kumimoji="0" lang="en-CA" altLang="en-US" sz="20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lang="en-CA" altLang="en-US" b="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t>
            </a:r>
            <a:r>
              <a:rPr kumimoji="0" lang="en-CA" altLang="en-US" sz="2000" b="1" i="0" u="none" strike="noStrike" kern="1200" cap="none" spc="0" normalizeH="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ontrols</a:t>
            </a:r>
            <a:r>
              <a:rPr kumimoji="0" lang="en-CA" altLang="en-US" sz="2000" b="1"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Aka “standards” i.e. documents</a:t>
            </a: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such as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policies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processes, procedures</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specifications, etc. that establish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(set the standard for) and reflect the organization’s culture, and capture their aspirational goals.</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Supporting </a:t>
            </a:r>
            <a:r>
              <a:rPr lang="en-US" altLang="en-US" sz="2400" dirty="0" smtClean="0">
                <a:solidFill>
                  <a:srgbClr val="333399"/>
                </a:solidFill>
                <a:latin typeface="Arial" panose="020B0604020202020204" pitchFamily="34" charset="0"/>
                <a:cs typeface="Arial" panose="020B0604020202020204" pitchFamily="34" charset="0"/>
              </a:rPr>
              <a:t>Administrative Controls: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3" name="Picture 12">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7" name="Right Arrow 16"/>
          <p:cNvSpPr/>
          <p:nvPr/>
        </p:nvSpPr>
        <p:spPr>
          <a:xfrm>
            <a:off x="5614218" y="3512170"/>
            <a:ext cx="1622323" cy="1066518"/>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Administrative Controls</a:t>
            </a:r>
            <a:endParaRPr lang="en-US" sz="1400" dirty="0">
              <a:solidFill>
                <a:schemeClr val="tx1"/>
              </a:solidFill>
            </a:endParaRPr>
          </a:p>
        </p:txBody>
      </p:sp>
    </p:spTree>
    <p:extLst>
      <p:ext uri="{BB962C8B-B14F-4D97-AF65-F5344CB8AC3E}">
        <p14:creationId xmlns:p14="http://schemas.microsoft.com/office/powerpoint/2010/main" val="307592778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lvl="0" indent="0" defTabSz="914400" eaLnBrk="0" fontAlgn="base" hangingPunct="0">
              <a:lnSpc>
                <a:spcPct val="100000"/>
              </a:lnSpc>
              <a:spcBef>
                <a:spcPts val="0"/>
              </a:spcBef>
              <a:spcAft>
                <a:spcPct val="0"/>
              </a:spcAft>
              <a:buClrTx/>
              <a:buSzPct val="100000"/>
              <a:buNone/>
              <a:defRPr/>
            </a:pPr>
            <a:r>
              <a:rPr kumimoji="0" lang="en-CA"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Work Practices: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sng"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actual execution of those administrative controls</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in other words, “how we do work around here”, and </a:t>
            </a:r>
          </a:p>
          <a:p>
            <a:pPr marL="360000" lvl="0" indent="-360000" defTabSz="914400" eaLnBrk="0" fontAlgn="base" hangingPunct="0">
              <a:lnSpc>
                <a:spcPct val="100000"/>
              </a:lnSpc>
              <a:spcBef>
                <a:spcPts val="0"/>
              </a:spcBef>
              <a:spcAft>
                <a:spcPct val="0"/>
              </a:spcAft>
              <a:buClrTx/>
              <a:buSzPct val="100000"/>
              <a:buFont typeface="Wingdings" panose="05000000000000000000" pitchFamily="2" charset="2"/>
              <a:buChar char="Ø"/>
              <a:defRPr/>
            </a:pPr>
            <a:r>
              <a:rPr lang="en-CA"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ore truly reflect the culture of the organization</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defTabSz="914400" fontAlgn="base">
              <a:lnSpc>
                <a:spcPct val="100000"/>
              </a:lnSpc>
              <a:spcBef>
                <a:spcPct val="0"/>
              </a:spcBef>
              <a:spcAft>
                <a:spcPct val="0"/>
              </a:spcAft>
              <a:buClrTx/>
              <a:buNone/>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The Work Practices</a:t>
            </a:r>
            <a:r>
              <a:rPr lang="en-US" altLang="en-US" sz="2400" dirty="0" smtClean="0">
                <a:solidFill>
                  <a:srgbClr val="333399"/>
                </a:solidFill>
                <a:latin typeface="Arial" panose="020B0604020202020204" pitchFamily="34" charset="0"/>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4"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pic>
        <p:nvPicPr>
          <p:cNvPr id="13" name="Picture 12">
            <a:extLst>
              <a:ext uri="{FF2B5EF4-FFF2-40B4-BE49-F238E27FC236}">
                <a16:creationId xmlns:a16="http://schemas.microsoft.com/office/drawing/2014/main" id="{75CA948F-83CF-44E9-BC63-9A20D4C0691B}"/>
              </a:ext>
            </a:extLst>
          </p:cNvPr>
          <p:cNvPicPr>
            <a:picLocks noChangeAspect="1"/>
          </p:cNvPicPr>
          <p:nvPr/>
        </p:nvPicPr>
        <p:blipFill>
          <a:blip r:embed="rId3"/>
          <a:stretch>
            <a:fillRect/>
          </a:stretch>
        </p:blipFill>
        <p:spPr>
          <a:xfrm>
            <a:off x="3807906" y="2117206"/>
            <a:ext cx="5040000" cy="3528000"/>
          </a:xfrm>
          <a:prstGeom prst="rect">
            <a:avLst/>
          </a:prstGeom>
        </p:spPr>
      </p:pic>
      <p:sp>
        <p:nvSpPr>
          <p:cNvPr id="15" name="AutoShape 8">
            <a:extLst>
              <a:ext uri="{FF2B5EF4-FFF2-40B4-BE49-F238E27FC236}">
                <a16:creationId xmlns:a16="http://schemas.microsoft.com/office/drawing/2014/main" id="{01B075F1-37F9-4891-B261-01487ECF0A4C}"/>
              </a:ext>
            </a:extLst>
          </p:cNvPr>
          <p:cNvSpPr>
            <a:spLocks noChangeArrowheads="1"/>
          </p:cNvSpPr>
          <p:nvPr/>
        </p:nvSpPr>
        <p:spPr bwMode="auto">
          <a:xfrm rot="16200000" flipH="1">
            <a:off x="7038066" y="4429669"/>
            <a:ext cx="878569" cy="1307857"/>
          </a:xfrm>
          <a:custGeom>
            <a:avLst/>
            <a:gdLst>
              <a:gd name="T0" fmla="*/ 80524953 w 21600"/>
              <a:gd name="T1" fmla="*/ 0 h 21600"/>
              <a:gd name="T2" fmla="*/ 42496200 w 21600"/>
              <a:gd name="T3" fmla="*/ 18887200 h 21600"/>
              <a:gd name="T4" fmla="*/ 0 w 21600"/>
              <a:gd name="T5" fmla="*/ 44284794 h 21600"/>
              <a:gd name="T6" fmla="*/ 47902209 w 21600"/>
              <a:gd name="T7" fmla="*/ 52688067 h 21600"/>
              <a:gd name="T8" fmla="*/ 95804493 w 21600"/>
              <a:gd name="T9" fmla="*/ 38030531 h 21600"/>
              <a:gd name="T10" fmla="*/ 118548150 w 21600"/>
              <a:gd name="T11" fmla="*/ 18887200 h 21600"/>
              <a:gd name="T12" fmla="*/ 17694720 60000 65536"/>
              <a:gd name="T13" fmla="*/ 11796480 60000 65536"/>
              <a:gd name="T14" fmla="*/ 11796480 60000 65536"/>
              <a:gd name="T15" fmla="*/ 5898240 60000 65536"/>
              <a:gd name="T16" fmla="*/ 0 60000 65536"/>
              <a:gd name="T17" fmla="*/ 0 60000 65536"/>
              <a:gd name="T18" fmla="*/ 0 w 21600"/>
              <a:gd name="T19" fmla="*/ 14709 h 21600"/>
              <a:gd name="T20" fmla="*/ 1745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4672" y="0"/>
                </a:moveTo>
                <a:lnTo>
                  <a:pt x="7743" y="7743"/>
                </a:lnTo>
                <a:lnTo>
                  <a:pt x="11887" y="7743"/>
                </a:lnTo>
                <a:lnTo>
                  <a:pt x="11887" y="14709"/>
                </a:lnTo>
                <a:lnTo>
                  <a:pt x="0" y="14709"/>
                </a:lnTo>
                <a:lnTo>
                  <a:pt x="0" y="21600"/>
                </a:lnTo>
                <a:lnTo>
                  <a:pt x="17456" y="21600"/>
                </a:lnTo>
                <a:lnTo>
                  <a:pt x="17456" y="7743"/>
                </a:lnTo>
                <a:lnTo>
                  <a:pt x="21600" y="7743"/>
                </a:lnTo>
                <a:lnTo>
                  <a:pt x="14672" y="0"/>
                </a:lnTo>
                <a:close/>
              </a:path>
            </a:pathLst>
          </a:custGeom>
          <a:solidFill>
            <a:srgbClr val="FF0000"/>
          </a:solidFill>
          <a:ln w="38100">
            <a:solidFill>
              <a:sysClr val="windowText" lastClr="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panose="020B0602020104020603"/>
            </a:endParaRPr>
          </a:p>
        </p:txBody>
      </p:sp>
      <p:sp>
        <p:nvSpPr>
          <p:cNvPr id="17" name="Right Arrow 16"/>
          <p:cNvSpPr/>
          <p:nvPr/>
        </p:nvSpPr>
        <p:spPr>
          <a:xfrm>
            <a:off x="5614218" y="3512170"/>
            <a:ext cx="1622323" cy="1066518"/>
          </a:xfrm>
          <a:prstGeom prst="right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Administrative Controls</a:t>
            </a:r>
            <a:endParaRPr lang="en-US" sz="1400" dirty="0">
              <a:solidFill>
                <a:schemeClr val="tx1"/>
              </a:solidFill>
            </a:endParaRPr>
          </a:p>
        </p:txBody>
      </p:sp>
      <p:sp>
        <p:nvSpPr>
          <p:cNvPr id="10" name="Up Arrow 9"/>
          <p:cNvSpPr/>
          <p:nvPr/>
        </p:nvSpPr>
        <p:spPr>
          <a:xfrm>
            <a:off x="4295264" y="5345045"/>
            <a:ext cx="3678696" cy="833419"/>
          </a:xfrm>
          <a:prstGeom prst="upArrow">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rPr>
              <a:t>Work Practices</a:t>
            </a:r>
            <a:br>
              <a:rPr lang="en-US" sz="1400" dirty="0" smtClean="0">
                <a:solidFill>
                  <a:schemeClr val="tx1"/>
                </a:solidFill>
              </a:rPr>
            </a:br>
            <a:r>
              <a:rPr lang="en-US" sz="1400" i="1" dirty="0" smtClean="0">
                <a:solidFill>
                  <a:schemeClr val="tx1"/>
                </a:solidFill>
              </a:rPr>
              <a:t>“The way we do work around here”</a:t>
            </a:r>
            <a:endParaRPr lang="en-US" sz="1400" i="1" dirty="0">
              <a:solidFill>
                <a:schemeClr val="tx1"/>
              </a:solidFill>
            </a:endParaRPr>
          </a:p>
        </p:txBody>
      </p:sp>
    </p:spTree>
    <p:extLst>
      <p:ext uri="{BB962C8B-B14F-4D97-AF65-F5344CB8AC3E}">
        <p14:creationId xmlns:p14="http://schemas.microsoft.com/office/powerpoint/2010/main" val="261240846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lvl="0" defTabSz="914400" fontAlgn="base">
              <a:defRPr/>
            </a:pPr>
            <a:r>
              <a:rPr kumimoji="0" lang="en-CA" altLang="en-US" sz="16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Model of Corporate Mechanisms, </a:t>
            </a:r>
            <a:r>
              <a:rPr lang="en-CA" altLang="en-US" sz="16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Administrative Controls, Culture, and Results:</a:t>
            </a:r>
            <a:endParaRPr kumimoji="0" lang="en-US" altLang="en-US" sz="16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lvl="0" defTabSz="914400" eaLnBrk="0" fontAlgn="base" hangingPunct="0">
              <a:spcAft>
                <a:spcPct val="0"/>
              </a:spcAft>
              <a:buSzPct val="100000"/>
              <a:defRPr/>
            </a:pPr>
            <a:r>
              <a:rPr kumimoji="0" lang="en-CA" altLang="en-US" sz="2000" b="1"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Q: </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How are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results achieved?</a:t>
            </a:r>
          </a:p>
          <a:p>
            <a:pPr lvl="0" defTabSz="914400" eaLnBrk="0" fontAlgn="base" hangingPunct="0">
              <a:spcAft>
                <a:spcPct val="0"/>
              </a:spcAft>
              <a:buSzPct val="100000"/>
              <a:defRPr/>
            </a:pPr>
            <a:r>
              <a:rPr lang="en-CA" altLang="en-US" sz="2000" b="1"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 </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The organization follows (abides by or complies with) or does not follow the administrative controls in the execution of work i.e.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the administrative</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controls are “brought </a:t>
            </a:r>
            <a:r>
              <a:rPr kumimoji="0" lang="en-CA"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to </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life” (or not) by</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the c</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ulture of the organization.</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Recall that “culture” is “the </a:t>
            </a:r>
            <a:b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b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way we </a:t>
            </a:r>
            <a:r>
              <a:rPr lang="en-CA" altLang="en-US" sz="2000"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do work around here</a:t>
            </a:r>
            <a:r>
              <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A</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“good” or “i</a:t>
            </a:r>
            <a:r>
              <a:rPr kumimoji="0" lang="en-CA"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deal” culture</a:t>
            </a: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b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CA"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=&gt; desired results!</a:t>
            </a:r>
          </a:p>
          <a:p>
            <a:pPr marL="360000" indent="-360000" defTabSz="914400" eaLnBrk="0" fontAlgn="base" hangingPunct="0">
              <a:spcAft>
                <a:spcPct val="0"/>
              </a:spcAft>
              <a:buSzPct val="100000"/>
              <a:buFont typeface="Wingdings" panose="05000000000000000000" pitchFamily="2" charset="2"/>
              <a:buChar char="Ø"/>
              <a:defRPr/>
            </a:pPr>
            <a:endParaRPr lang="en-CA" altLang="en-US" sz="2000" baseline="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Non-ideal culture</a:t>
            </a:r>
            <a:b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=&gt;</a:t>
            </a: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 less-than-desired results. </a:t>
            </a:r>
          </a:p>
          <a:p>
            <a:pPr marL="360000" indent="-360000" defTabSz="914400" eaLnBrk="0" fontAlgn="base" hangingPunct="0">
              <a:spcAft>
                <a:spcPct val="0"/>
              </a:spcAft>
              <a:buSzPct val="100000"/>
              <a:buFont typeface="Wingdings" panose="05000000000000000000" pitchFamily="2" charset="2"/>
              <a:buChar char="Ø"/>
              <a:defRPr/>
            </a:pPr>
            <a:endParaRPr lang="en-US" altLang="en-US" sz="2000" baseline="0"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defTabSz="914400" eaLnBrk="0" fontAlgn="base" hangingPunct="0">
              <a:spcAft>
                <a:spcPct val="0"/>
              </a:spcAft>
              <a:buSzPct val="100000"/>
              <a:buFont typeface="Wingdings" panose="05000000000000000000" pitchFamily="2" charset="2"/>
              <a:buChar char="Ø"/>
              <a:defRPr/>
            </a:pP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This is especially true in </a:t>
            </a:r>
            <a:b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noProof="0" dirty="0" smtClean="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rPr>
              <a:t>risk management!</a:t>
            </a:r>
            <a:endParaRPr kumimoji="0" lang="en-US" altLang="en-US" sz="2000" b="0" i="0" u="none" strike="noStrike" kern="1200" cap="none" spc="0" normalizeH="0" baseline="0" noProof="0" dirty="0">
              <a:ln>
                <a:noFill/>
              </a:ln>
              <a:solidFill>
                <a:schemeClr val="bg1"/>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pic>
        <p:nvPicPr>
          <p:cNvPr id="7" name="Picture 6">
            <a:extLst>
              <a:ext uri="{FF2B5EF4-FFF2-40B4-BE49-F238E27FC236}">
                <a16:creationId xmlns:a16="http://schemas.microsoft.com/office/drawing/2014/main" id="{1D3DC410-8756-4CF9-89E7-C9717683E84F}"/>
              </a:ext>
            </a:extLst>
          </p:cNvPr>
          <p:cNvPicPr>
            <a:picLocks noChangeAspect="1"/>
          </p:cNvPicPr>
          <p:nvPr/>
        </p:nvPicPr>
        <p:blipFill>
          <a:blip r:embed="rId3"/>
          <a:stretch>
            <a:fillRect/>
          </a:stretch>
        </p:blipFill>
        <p:spPr>
          <a:xfrm>
            <a:off x="4111288" y="2439005"/>
            <a:ext cx="4491937" cy="3612193"/>
          </a:xfrm>
          <a:prstGeom prst="rect">
            <a:avLst/>
          </a:prstGeom>
        </p:spPr>
      </p:pic>
      <p:sp>
        <p:nvSpPr>
          <p:cNvPr id="10" name="Rounded Rectangle 6">
            <a:extLst>
              <a:ext uri="{FF2B5EF4-FFF2-40B4-BE49-F238E27FC236}">
                <a16:creationId xmlns:a16="http://schemas.microsoft.com/office/drawing/2014/main" id="{E7C42B41-CC6E-48E8-81B0-0CD0A12D4778}"/>
              </a:ext>
            </a:extLst>
          </p:cNvPr>
          <p:cNvSpPr/>
          <p:nvPr/>
        </p:nvSpPr>
        <p:spPr>
          <a:xfrm>
            <a:off x="4111288" y="4011561"/>
            <a:ext cx="4491937" cy="1983682"/>
          </a:xfrm>
          <a:prstGeom prst="roundRect">
            <a:avLst/>
          </a:prstGeom>
          <a:noFill/>
          <a:ln w="57150" cap="flat" cmpd="sng" algn="ctr">
            <a:solidFill>
              <a:srgbClr val="FF0000"/>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11"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1614989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None/>
              <a:tabLst/>
              <a:defRPr/>
            </a:pPr>
            <a:r>
              <a:rPr kumimoji="0" lang="en-US" altLang="en-US" sz="2000" b="1"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Summary:</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Basic constructs of</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organizations.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Line Management</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Vision, Mission, Values, Principles</a:t>
            </a:r>
            <a:endPar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administrative controls are “brought to life” by the culture of the organization.</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aseline="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defTabSz="914400" eaLnBrk="0" fontAlgn="base" hangingPunct="0">
              <a:lnSpc>
                <a:spcPct val="100000"/>
              </a:lnSpc>
              <a:spcBef>
                <a:spcPts val="0"/>
              </a:spcBef>
              <a:spcAft>
                <a:spcPct val="0"/>
              </a:spcAft>
              <a:buClr>
                <a:srgbClr val="000000"/>
              </a:buClr>
              <a:buSzPct val="100000"/>
              <a:buNone/>
              <a:defRPr/>
            </a:pPr>
            <a:r>
              <a:rPr lang="en-CA" altLang="en-US" b="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Key Lessons:</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There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is a relationship between “results” and “culture”: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vision, mission, values,</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etc. describe the desired organization and culture in order to achieve the desired results.</a:t>
            </a: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72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results (the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organization depends on its culture.</a:t>
            </a:r>
          </a:p>
          <a:p>
            <a:pPr marL="432000" marR="0" lvl="0" indent="-432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and Key Lessons: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458387" y="6300000"/>
            <a:ext cx="5821613"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smtClean="0">
                <a:ln>
                  <a:noFill/>
                </a:ln>
                <a:solidFill>
                  <a:srgbClr val="000000"/>
                </a:solidFill>
                <a:effectLst/>
                <a:uLnTx/>
                <a:uFillTx/>
                <a:latin typeface="Arial" charset="0"/>
                <a:ea typeface="Times New Roman"/>
                <a:cs typeface="Arial" panose="020B0604020202020204" pitchFamily="34" charset="0"/>
                <a:sym typeface="Times New Roman"/>
              </a:rPr>
              <a:t>Chapter 7.3: Organizational Design and Leadership : Culture : Performance</a:t>
            </a:r>
            <a:endPar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87505649"/>
      </p:ext>
    </p:extLst>
  </p:cSld>
  <p:clrMapOvr>
    <a:masterClrMapping/>
  </p:clrMapOvr>
  <p:transition>
    <p:fade/>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1455</TotalTime>
  <Words>1414</Words>
  <Application>Microsoft Office PowerPoint</Application>
  <PresentationFormat>On-screen Show (4:3)</PresentationFormat>
  <Paragraphs>222</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ＭＳ Ｐゴシック</vt:lpstr>
      <vt:lpstr>Arial</vt:lpstr>
      <vt:lpstr>Calibri</vt:lpstr>
      <vt:lpstr>Times New Roman</vt:lpstr>
      <vt:lpstr>Tw Cen MT</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ENGG404 – Lecture 33 Module xxx</dc:title>
  <dc:creator>User</dc:creator>
  <cp:lastModifiedBy>JR Cocchio</cp:lastModifiedBy>
  <cp:revision>158</cp:revision>
  <cp:lastPrinted>2017-09-11T20:57:58Z</cp:lastPrinted>
  <dcterms:created xsi:type="dcterms:W3CDTF">2016-09-07T02:58:00Z</dcterms:created>
  <dcterms:modified xsi:type="dcterms:W3CDTF">2021-10-18T14:38:05Z</dcterms:modified>
</cp:coreProperties>
</file>