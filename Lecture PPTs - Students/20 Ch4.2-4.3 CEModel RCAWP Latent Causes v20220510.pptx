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77" r:id="rId2"/>
    <p:sldMasterId id="2147483682" r:id="rId3"/>
  </p:sldMasterIdLst>
  <p:notesMasterIdLst>
    <p:notesMasterId r:id="rId45"/>
  </p:notesMasterIdLst>
  <p:sldIdLst>
    <p:sldId id="991" r:id="rId4"/>
    <p:sldId id="986" r:id="rId5"/>
    <p:sldId id="952" r:id="rId6"/>
    <p:sldId id="953" r:id="rId7"/>
    <p:sldId id="955" r:id="rId8"/>
    <p:sldId id="1004" r:id="rId9"/>
    <p:sldId id="999" r:id="rId10"/>
    <p:sldId id="1000" r:id="rId11"/>
    <p:sldId id="957" r:id="rId12"/>
    <p:sldId id="993" r:id="rId13"/>
    <p:sldId id="1007" r:id="rId14"/>
    <p:sldId id="1006" r:id="rId15"/>
    <p:sldId id="960" r:id="rId16"/>
    <p:sldId id="961" r:id="rId17"/>
    <p:sldId id="963" r:id="rId18"/>
    <p:sldId id="964" r:id="rId19"/>
    <p:sldId id="965" r:id="rId20"/>
    <p:sldId id="967" r:id="rId21"/>
    <p:sldId id="1005" r:id="rId22"/>
    <p:sldId id="966" r:id="rId23"/>
    <p:sldId id="992" r:id="rId24"/>
    <p:sldId id="968" r:id="rId25"/>
    <p:sldId id="969" r:id="rId26"/>
    <p:sldId id="970" r:id="rId27"/>
    <p:sldId id="971" r:id="rId28"/>
    <p:sldId id="972" r:id="rId29"/>
    <p:sldId id="973" r:id="rId30"/>
    <p:sldId id="985" r:id="rId31"/>
    <p:sldId id="1008" r:id="rId32"/>
    <p:sldId id="974" r:id="rId33"/>
    <p:sldId id="1009" r:id="rId34"/>
    <p:sldId id="995" r:id="rId35"/>
    <p:sldId id="998" r:id="rId36"/>
    <p:sldId id="1001" r:id="rId37"/>
    <p:sldId id="1002" r:id="rId38"/>
    <p:sldId id="1003" r:id="rId39"/>
    <p:sldId id="976" r:id="rId40"/>
    <p:sldId id="923" r:id="rId41"/>
    <p:sldId id="979" r:id="rId42"/>
    <p:sldId id="978" r:id="rId43"/>
    <p:sldId id="900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00FF00"/>
    <a:srgbClr val="0000FF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8" autoAdjust="0"/>
    <p:restoredTop sz="63239" autoAdjust="0"/>
  </p:normalViewPr>
  <p:slideViewPr>
    <p:cSldViewPr snapToGrid="0">
      <p:cViewPr varScale="1">
        <p:scale>
          <a:sx n="44" d="100"/>
          <a:sy n="44" d="100"/>
        </p:scale>
        <p:origin x="18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42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BC5D4-F8CE-41A3-9AF1-BA3B209D5275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32D229-C060-489A-B63B-97F78F7E5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1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463355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381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293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altLang="en-US" dirty="0">
                <a:ea typeface="ＭＳ Ｐゴシック" panose="020B0600070205080204" pitchFamily="34" charset="-128"/>
              </a:rPr>
              <a:t>This is meant to drive class discussion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976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118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536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160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0069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8349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0295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637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4135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4854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9332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6154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1258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6505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4494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1494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1482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9865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5079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7397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9898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8513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4737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4166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788524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4481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6733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4860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697153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13039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941097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009691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096482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13208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14116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0349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11377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235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067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4888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027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177954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5333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38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038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118CC2-884A-4430-8B4F-9976F3C29C24}" type="datetimeFigureOut"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5/10/2022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823322-A425-42F9-B4E6-DE1BA6748FF3}" type="slidenum"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395539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4978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1569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0834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118CC2-884A-4430-8B4F-9976F3C29C24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5/10/2022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823322-A425-42F9-B4E6-DE1BA6748FF3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449933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jpe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6202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8819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9331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On Becoming a </a:t>
            </a:r>
            <a:br>
              <a:rPr kumimoji="0" lang="en-CA" alt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</a:br>
            <a:r>
              <a:rPr kumimoji="0" lang="en-CA" alt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Leader in Risk Management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A9C8F"/>
              </a:buClr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</a:t>
            </a:r>
            <a:r>
              <a:rPr kumimoji="0" lang="en-US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Lecture</a:t>
            </a:r>
            <a:endParaRPr kumimoji="0" lang="en-US" altLang="en-US" sz="3600" b="1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228600" y="2500342"/>
            <a:ext cx="8610600" cy="222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4.2: Cause and Effect </a:t>
            </a:r>
            <a:r>
              <a:rPr lang="en-US" altLang="en-US" sz="24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Model for </a:t>
            </a: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 Analysis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endParaRPr lang="en-US" altLang="en-US" sz="2400" b="1" dirty="0" smtClean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24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</a:t>
            </a: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4.3: Root Cause Analysis </a:t>
            </a:r>
            <a:r>
              <a:rPr lang="en-US" altLang="en-US" sz="24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</a:t>
            </a: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 Incident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endParaRPr lang="en-US" altLang="en-US" sz="2400" b="1" dirty="0" smtClean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- Latent Causes -</a:t>
            </a:r>
            <a:endParaRPr lang="en-US" altLang="en-US" sz="3200" b="1" dirty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996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This topic:</a:t>
            </a: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Builds on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Topic #</a:t>
            </a: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19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4.2: Cause and Effect Model for Incident Analysis and Chapter 4.3: Root Cause Analysis of an Incident - Fundamentals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Examines the </a:t>
            </a:r>
            <a:r>
              <a:rPr kumimoji="0" lang="en-US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</a:t>
            </a:r>
            <a:r>
              <a:rPr kumimoji="0" lang="en-US" altLang="en-US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as discovered in a </a:t>
            </a:r>
            <a:r>
              <a:rPr kumimoji="0" lang="en-US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Root Cause Analysis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Learning</a:t>
            </a:r>
            <a:r>
              <a:rPr kumimoji="0" lang="en-US" altLang="en-US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Outcomes:</a:t>
            </a:r>
            <a:endParaRPr kumimoji="0" lang="en-US" altLang="en-US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Develop a thorough,</a:t>
            </a:r>
            <a:r>
              <a:rPr kumimoji="0" lang="en-US" altLang="en-US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comprehensive, and logical RCA Chart.</a:t>
            </a: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en-US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Explain the parts</a:t>
            </a:r>
            <a:r>
              <a:rPr kumimoji="0" lang="en-US" altLang="en-US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of and w</a:t>
            </a: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rite an acceptable statement of a latent cause in</a:t>
            </a:r>
            <a:r>
              <a:rPr kumimoji="0" lang="en-US" altLang="en-US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an RCA</a:t>
            </a: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Link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a latent cause to a management system </a:t>
            </a: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element.</a:t>
            </a: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Set the stage with a well-written</a:t>
            </a:r>
            <a:r>
              <a:rPr lang="en-US" altLang="en-US" dirty="0" smtClean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 acceptable </a:t>
            </a:r>
            <a:r>
              <a:rPr kumimoji="0" lang="en-US" altLang="en-US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latent cause statement in order to c</a:t>
            </a: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reate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a </a:t>
            </a: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recommendation to address that latent cause. 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481299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causes are </a:t>
            </a:r>
            <a:r>
              <a:rPr kumimoji="0" lang="en-CA" altLang="en-US" sz="18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weaknesses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the elements of the Risk Management 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sz="1800" noProof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They are NOT:</a:t>
            </a:r>
          </a:p>
          <a:p>
            <a:pPr marL="72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Management System Elements</a:t>
            </a:r>
          </a:p>
          <a:p>
            <a:pPr marL="72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failures i.e. “management failed to 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…”</a:t>
            </a:r>
          </a:p>
          <a:p>
            <a:pPr marL="72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See “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Factors often missed or completed incorrectly for the RCA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chart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” in the </a:t>
            </a:r>
            <a:r>
              <a:rPr lang="en-CA" altLang="en-US" sz="1800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Team Project Instruction Manual</a:t>
            </a:r>
            <a:endParaRPr lang="en-CA" altLang="en-US" sz="1800" b="1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When identified, the latent causes: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Relate to the elements of the management system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Reflect inadequacies in the management system and program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Are stated in unique terms specific to the root in the RCA for that loss incident.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Thus, meaningful management action and management control can be undertaken to address a latent cause.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Leaders must </a:t>
            </a:r>
            <a:r>
              <a:rPr kumimoji="0" lang="en-CA" alt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drive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</a:t>
            </a:r>
            <a:r>
              <a:rPr kumimoji="0" lang="en-CA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root cause analysis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process to effectively find the </a:t>
            </a:r>
            <a:r>
              <a:rPr kumimoji="0" lang="en-CA" alt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Latent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Causes – The What and Why: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785963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Practice – Latent Causes: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DBECC22-1013-44DA-8BDE-34C3DB39F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00" y="828000"/>
            <a:ext cx="5030787" cy="5328000"/>
          </a:xfrm>
          <a:prstGeom prst="rect">
            <a:avLst/>
          </a:prstGeom>
          <a:solidFill>
            <a:sysClr val="windowText" lastClr="0000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990600" indent="-5334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3716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7526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209800" indent="-3810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Let’s redraw the RCA and focus on three basic causes to discover the root causes on the RCA!</a:t>
            </a:r>
          </a:p>
          <a:p>
            <a:pPr marL="609600" marR="0" lvl="0" indent="-60960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Mining LI: “You are called to a scene where a mining haul truck and a shovel have been crushed with debris from an adjacent slope. You find one individual with a severe injury. You know the slopes are being monitored, you know there are procedures for safe work near the slopes, you know it had been raining for the last week.”</a:t>
            </a:r>
          </a:p>
          <a:p>
            <a:pPr marL="609600" marR="0" lvl="0" indent="-60960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609600" marR="0" lvl="0" indent="-60960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609600" marR="0" lvl="0" indent="-60960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41831444-25D7-4445-AB66-026DC28DDD11}"/>
              </a:ext>
            </a:extLst>
          </p:cNvPr>
          <p:cNvPicPr>
            <a:picLocks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9814" r="9391" b="53455"/>
          <a:stretch/>
        </p:blipFill>
        <p:spPr bwMode="auto">
          <a:xfrm>
            <a:off x="5346299" y="828000"/>
            <a:ext cx="3242529" cy="532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5837F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381089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D625A-E6AC-4380-982D-4988625CA7FE}"/>
              </a:ext>
            </a:extLst>
          </p:cNvPr>
          <p:cNvSpPr txBox="1"/>
          <p:nvPr/>
        </p:nvSpPr>
        <p:spPr>
          <a:xfrm>
            <a:off x="3456000" y="864000"/>
            <a:ext cx="2952000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 on equipment,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1C90EE-BF62-47C3-98D2-000393755EFE}"/>
              </a:ext>
            </a:extLst>
          </p:cNvPr>
          <p:cNvSpPr txBox="1"/>
          <p:nvPr/>
        </p:nvSpPr>
        <p:spPr>
          <a:xfrm>
            <a:off x="3456000" y="1582598"/>
            <a:ext cx="2952000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460E03-FB73-41D6-998A-3B99FACF2C6D}"/>
              </a:ext>
            </a:extLst>
          </p:cNvPr>
          <p:cNvSpPr txBox="1"/>
          <p:nvPr/>
        </p:nvSpPr>
        <p:spPr>
          <a:xfrm>
            <a:off x="3456000" y="2314199"/>
            <a:ext cx="2952000" cy="504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2D6A3-2933-4B04-8708-0543D204A0DB}"/>
              </a:ext>
            </a:extLst>
          </p:cNvPr>
          <p:cNvSpPr txBox="1"/>
          <p:nvPr/>
        </p:nvSpPr>
        <p:spPr>
          <a:xfrm>
            <a:off x="1512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was not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aware of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exclusion zone procedures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4353D3-A06F-4467-9B3E-5BBCAC38F73E}"/>
              </a:ext>
            </a:extLst>
          </p:cNvPr>
          <p:cNvSpPr txBox="1"/>
          <p:nvPr/>
        </p:nvSpPr>
        <p:spPr>
          <a:xfrm>
            <a:off x="3852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5" name="Elbow Connector 71">
            <a:extLst>
              <a:ext uri="{FF2B5EF4-FFF2-40B4-BE49-F238E27FC236}">
                <a16:creationId xmlns:a16="http://schemas.microsoft.com/office/drawing/2014/main" id="{CF7B46C1-C0AE-4455-8B06-AF19021CDA0D}"/>
              </a:ext>
            </a:extLst>
          </p:cNvPr>
          <p:cNvCxnSpPr>
            <a:stCxn id="10" idx="2"/>
            <a:endCxn id="17" idx="0"/>
          </p:cNvCxnSpPr>
          <p:nvPr/>
        </p:nvCxnSpPr>
        <p:spPr>
          <a:xfrm rot="16200000" flipH="1">
            <a:off x="5722260" y="2027939"/>
            <a:ext cx="687481" cy="2268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" name="Elbow Connector 72">
            <a:extLst>
              <a:ext uri="{FF2B5EF4-FFF2-40B4-BE49-F238E27FC236}">
                <a16:creationId xmlns:a16="http://schemas.microsoft.com/office/drawing/2014/main" id="{386DAC5C-38A7-44ED-A006-707EEC4777FE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5400000">
            <a:off x="3418260" y="1991939"/>
            <a:ext cx="687481" cy="2340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E184027-A80C-4B77-84BE-B3E5753C2FA4}"/>
              </a:ext>
            </a:extLst>
          </p:cNvPr>
          <p:cNvSpPr txBox="1"/>
          <p:nvPr/>
        </p:nvSpPr>
        <p:spPr>
          <a:xfrm>
            <a:off x="6120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to go into the exclusion zone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CECEC8-FEEA-4AE9-A4EF-E49CF3A73CEB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4932000" y="2105818"/>
            <a:ext cx="0" cy="20838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83E818F-393F-4338-8903-B13C38471817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4932000" y="1387220"/>
            <a:ext cx="0" cy="195378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5C0B811-6724-482B-AD62-E37375FB26C0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4932000" y="2818199"/>
            <a:ext cx="0" cy="68748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Flowchart: Punched Tape 22">
            <a:extLst>
              <a:ext uri="{FF2B5EF4-FFF2-40B4-BE49-F238E27FC236}">
                <a16:creationId xmlns:a16="http://schemas.microsoft.com/office/drawing/2014/main" id="{9D886577-F06C-4BA2-8027-956FB861266F}"/>
              </a:ext>
            </a:extLst>
          </p:cNvPr>
          <p:cNvSpPr/>
          <p:nvPr/>
        </p:nvSpPr>
        <p:spPr bwMode="auto">
          <a:xfrm flipH="1">
            <a:off x="4772880" y="2916365"/>
            <a:ext cx="392534" cy="305875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6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Drilling Down to Latent Causes in the RCA: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CB871EA-6A9A-480B-9EA5-B79F8816B537}"/>
              </a:ext>
            </a:extLst>
          </p:cNvPr>
          <p:cNvCxnSpPr/>
          <p:nvPr/>
        </p:nvCxnSpPr>
        <p:spPr>
          <a:xfrm flipH="1">
            <a:off x="2475166" y="4280992"/>
            <a:ext cx="2148" cy="106133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CE1CE27-A345-460C-A06F-6AC99D2C1FC9}"/>
              </a:ext>
            </a:extLst>
          </p:cNvPr>
          <p:cNvCxnSpPr/>
          <p:nvPr/>
        </p:nvCxnSpPr>
        <p:spPr>
          <a:xfrm>
            <a:off x="4817314" y="4280992"/>
            <a:ext cx="0" cy="106133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706ABC0-047F-4F51-B693-ED73203E9DCA}"/>
              </a:ext>
            </a:extLst>
          </p:cNvPr>
          <p:cNvCxnSpPr/>
          <p:nvPr/>
        </p:nvCxnSpPr>
        <p:spPr>
          <a:xfrm>
            <a:off x="7085314" y="4280992"/>
            <a:ext cx="0" cy="106133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miter lim="800000"/>
            <a:tailEnd type="triangle"/>
          </a:ln>
          <a:effectLst/>
        </p:spPr>
      </p:cxnSp>
      <p:sp>
        <p:nvSpPr>
          <p:cNvPr id="24" name="Rectangle 3">
            <a:extLst>
              <a:ext uri="{FF2B5EF4-FFF2-40B4-BE49-F238E27FC236}">
                <a16:creationId xmlns:a16="http://schemas.microsoft.com/office/drawing/2014/main" id="{ADBECC22-1013-44DA-8BDE-34C3DB39F227}"/>
              </a:ext>
            </a:extLst>
          </p:cNvPr>
          <p:cNvSpPr>
            <a:spLocks noChangeArrowheads="1"/>
          </p:cNvSpPr>
          <p:nvPr/>
        </p:nvSpPr>
        <p:spPr bwMode="auto">
          <a:xfrm rot="19952274">
            <a:off x="271091" y="1458020"/>
            <a:ext cx="3276000" cy="1342199"/>
          </a:xfrm>
          <a:prstGeom prst="rect">
            <a:avLst/>
          </a:prstGeom>
          <a:solidFill>
            <a:sysClr val="windowText" lastClr="0000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990600" indent="-5334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3716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7526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209800" indent="-3810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Let’s redraw the RCA and focus on three basic causes to discover the root causes on the RCA</a:t>
            </a: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!</a:t>
            </a: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609600" marR="0" lvl="0" indent="-60960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609600" marR="0" lvl="0" indent="-60960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6472915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D625A-E6AC-4380-982D-4988625CA7FE}"/>
              </a:ext>
            </a:extLst>
          </p:cNvPr>
          <p:cNvSpPr txBox="1"/>
          <p:nvPr/>
        </p:nvSpPr>
        <p:spPr>
          <a:xfrm>
            <a:off x="3456000" y="864000"/>
            <a:ext cx="2952000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 on equipment,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1C90EE-BF62-47C3-98D2-000393755EFE}"/>
              </a:ext>
            </a:extLst>
          </p:cNvPr>
          <p:cNvSpPr txBox="1"/>
          <p:nvPr/>
        </p:nvSpPr>
        <p:spPr>
          <a:xfrm>
            <a:off x="3456000" y="1582598"/>
            <a:ext cx="2952000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460E03-FB73-41D6-998A-3B99FACF2C6D}"/>
              </a:ext>
            </a:extLst>
          </p:cNvPr>
          <p:cNvSpPr txBox="1"/>
          <p:nvPr/>
        </p:nvSpPr>
        <p:spPr>
          <a:xfrm>
            <a:off x="3456000" y="2314199"/>
            <a:ext cx="2952000" cy="504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2D6A3-2933-4B04-8708-0543D204A0DB}"/>
              </a:ext>
            </a:extLst>
          </p:cNvPr>
          <p:cNvSpPr txBox="1"/>
          <p:nvPr/>
        </p:nvSpPr>
        <p:spPr>
          <a:xfrm>
            <a:off x="1512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was not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aware of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exclusion zone procedures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4353D3-A06F-4467-9B3E-5BBCAC38F73E}"/>
              </a:ext>
            </a:extLst>
          </p:cNvPr>
          <p:cNvSpPr txBox="1"/>
          <p:nvPr/>
        </p:nvSpPr>
        <p:spPr>
          <a:xfrm>
            <a:off x="3852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5" name="Elbow Connector 71">
            <a:extLst>
              <a:ext uri="{FF2B5EF4-FFF2-40B4-BE49-F238E27FC236}">
                <a16:creationId xmlns:a16="http://schemas.microsoft.com/office/drawing/2014/main" id="{CF7B46C1-C0AE-4455-8B06-AF19021CDA0D}"/>
              </a:ext>
            </a:extLst>
          </p:cNvPr>
          <p:cNvCxnSpPr>
            <a:stCxn id="10" idx="2"/>
            <a:endCxn id="17" idx="0"/>
          </p:cNvCxnSpPr>
          <p:nvPr/>
        </p:nvCxnSpPr>
        <p:spPr>
          <a:xfrm rot="16200000" flipH="1">
            <a:off x="5722260" y="2027939"/>
            <a:ext cx="687481" cy="2268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" name="Elbow Connector 72">
            <a:extLst>
              <a:ext uri="{FF2B5EF4-FFF2-40B4-BE49-F238E27FC236}">
                <a16:creationId xmlns:a16="http://schemas.microsoft.com/office/drawing/2014/main" id="{386DAC5C-38A7-44ED-A006-707EEC4777FE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5400000">
            <a:off x="3418260" y="1991939"/>
            <a:ext cx="687481" cy="2340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E184027-A80C-4B77-84BE-B3E5753C2FA4}"/>
              </a:ext>
            </a:extLst>
          </p:cNvPr>
          <p:cNvSpPr txBox="1"/>
          <p:nvPr/>
        </p:nvSpPr>
        <p:spPr>
          <a:xfrm>
            <a:off x="6120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to go into the exclusion zone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CECEC8-FEEA-4AE9-A4EF-E49CF3A73CEB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4932000" y="2105818"/>
            <a:ext cx="0" cy="20838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83E818F-393F-4338-8903-B13C38471817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4932000" y="1387220"/>
            <a:ext cx="0" cy="195378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5C0B811-6724-482B-AD62-E37375FB26C0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4932000" y="2818199"/>
            <a:ext cx="0" cy="68748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Flowchart: Punched Tape 22">
            <a:extLst>
              <a:ext uri="{FF2B5EF4-FFF2-40B4-BE49-F238E27FC236}">
                <a16:creationId xmlns:a16="http://schemas.microsoft.com/office/drawing/2014/main" id="{9D886577-F06C-4BA2-8027-956FB861266F}"/>
              </a:ext>
            </a:extLst>
          </p:cNvPr>
          <p:cNvSpPr/>
          <p:nvPr/>
        </p:nvSpPr>
        <p:spPr bwMode="auto">
          <a:xfrm flipH="1">
            <a:off x="4772880" y="2916365"/>
            <a:ext cx="392534" cy="305875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6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ALE #1: State</a:t>
            </a:r>
            <a:r>
              <a:rPr kumimoji="0" lang="en-US" alt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Latent Causes in the RCA: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CB871EA-6A9A-480B-9EA5-B79F8816B537}"/>
              </a:ext>
            </a:extLst>
          </p:cNvPr>
          <p:cNvCxnSpPr/>
          <p:nvPr/>
        </p:nvCxnSpPr>
        <p:spPr>
          <a:xfrm flipH="1">
            <a:off x="2475166" y="4280992"/>
            <a:ext cx="2148" cy="106133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CE1CE27-A345-460C-A06F-6AC99D2C1FC9}"/>
              </a:ext>
            </a:extLst>
          </p:cNvPr>
          <p:cNvCxnSpPr/>
          <p:nvPr/>
        </p:nvCxnSpPr>
        <p:spPr>
          <a:xfrm>
            <a:off x="4817314" y="4280992"/>
            <a:ext cx="0" cy="106133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706ABC0-047F-4F51-B693-ED73203E9DCA}"/>
              </a:ext>
            </a:extLst>
          </p:cNvPr>
          <p:cNvCxnSpPr/>
          <p:nvPr/>
        </p:nvCxnSpPr>
        <p:spPr>
          <a:xfrm>
            <a:off x="7085314" y="4280992"/>
            <a:ext cx="0" cy="106133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miter lim="800000"/>
            <a:tailEnd type="triangle"/>
          </a:ln>
          <a:effectLst/>
        </p:spPr>
      </p:cxnSp>
      <p:sp>
        <p:nvSpPr>
          <p:cNvPr id="24" name="Rectangle 3">
            <a:extLst>
              <a:ext uri="{FF2B5EF4-FFF2-40B4-BE49-F238E27FC236}">
                <a16:creationId xmlns:a16="http://schemas.microsoft.com/office/drawing/2014/main" id="{ADBECC22-1013-44DA-8BDE-34C3DB39F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708" y="1721557"/>
            <a:ext cx="3276000" cy="1342199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2000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</a:t>
            </a:r>
            <a:r>
              <a:rPr lang="en-US" altLang="en-US" sz="20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confer and select an appropriate latent cause statement </a:t>
            </a:r>
            <a:r>
              <a:rPr lang="en-US" altLang="en-US" sz="2000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the indicated basic cause (MM-Poll):</a:t>
            </a:r>
            <a:endParaRPr lang="en-US" altLang="en-US" sz="20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ounded Rectangle 46">
            <a:extLst>
              <a:ext uri="{FF2B5EF4-FFF2-40B4-BE49-F238E27FC236}">
                <a16:creationId xmlns:a16="http://schemas.microsoft.com/office/drawing/2014/main" id="{FCFDDD26-23D6-4796-BF1D-58D98AEEE499}"/>
              </a:ext>
            </a:extLst>
          </p:cNvPr>
          <p:cNvSpPr/>
          <p:nvPr/>
        </p:nvSpPr>
        <p:spPr>
          <a:xfrm>
            <a:off x="99753" y="3419946"/>
            <a:ext cx="3644247" cy="2764053"/>
          </a:xfrm>
          <a:prstGeom prst="roundRect">
            <a:avLst>
              <a:gd name="adj" fmla="val 7793"/>
            </a:avLst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ctr">
            <a:scene3d>
              <a:camera prst="orthographicFront">
                <a:rot lat="0" lon="0" rev="600000"/>
              </a:camera>
              <a:lightRig rig="threePt" dir="t"/>
            </a:scene3d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5816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D625A-E6AC-4380-982D-4988625CA7FE}"/>
              </a:ext>
            </a:extLst>
          </p:cNvPr>
          <p:cNvSpPr txBox="1"/>
          <p:nvPr/>
        </p:nvSpPr>
        <p:spPr>
          <a:xfrm>
            <a:off x="3456000" y="864000"/>
            <a:ext cx="2952000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 on equipment,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1C90EE-BF62-47C3-98D2-000393755EFE}"/>
              </a:ext>
            </a:extLst>
          </p:cNvPr>
          <p:cNvSpPr txBox="1"/>
          <p:nvPr/>
        </p:nvSpPr>
        <p:spPr>
          <a:xfrm>
            <a:off x="3456000" y="1582597"/>
            <a:ext cx="2952000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460E03-FB73-41D6-998A-3B99FACF2C6D}"/>
              </a:ext>
            </a:extLst>
          </p:cNvPr>
          <p:cNvSpPr txBox="1"/>
          <p:nvPr/>
        </p:nvSpPr>
        <p:spPr>
          <a:xfrm>
            <a:off x="3456000" y="2314199"/>
            <a:ext cx="2952000" cy="504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2D6A3-2933-4B04-8708-0543D204A0DB}"/>
              </a:ext>
            </a:extLst>
          </p:cNvPr>
          <p:cNvSpPr txBox="1"/>
          <p:nvPr/>
        </p:nvSpPr>
        <p:spPr>
          <a:xfrm>
            <a:off x="1512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was not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aware of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exclusion zone procedures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4353D3-A06F-4467-9B3E-5BBCAC38F73E}"/>
              </a:ext>
            </a:extLst>
          </p:cNvPr>
          <p:cNvSpPr txBox="1"/>
          <p:nvPr/>
        </p:nvSpPr>
        <p:spPr>
          <a:xfrm>
            <a:off x="3852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5" name="Elbow Connector 71">
            <a:extLst>
              <a:ext uri="{FF2B5EF4-FFF2-40B4-BE49-F238E27FC236}">
                <a16:creationId xmlns:a16="http://schemas.microsoft.com/office/drawing/2014/main" id="{CF7B46C1-C0AE-4455-8B06-AF19021CDA0D}"/>
              </a:ext>
            </a:extLst>
          </p:cNvPr>
          <p:cNvCxnSpPr>
            <a:stCxn id="10" idx="2"/>
            <a:endCxn id="17" idx="0"/>
          </p:cNvCxnSpPr>
          <p:nvPr/>
        </p:nvCxnSpPr>
        <p:spPr>
          <a:xfrm rot="16200000" flipH="1">
            <a:off x="5722260" y="2027939"/>
            <a:ext cx="687481" cy="2268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" name="Elbow Connector 72">
            <a:extLst>
              <a:ext uri="{FF2B5EF4-FFF2-40B4-BE49-F238E27FC236}">
                <a16:creationId xmlns:a16="http://schemas.microsoft.com/office/drawing/2014/main" id="{386DAC5C-38A7-44ED-A006-707EEC4777FE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5400000">
            <a:off x="3418260" y="1991939"/>
            <a:ext cx="687481" cy="2340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E184027-A80C-4B77-84BE-B3E5753C2FA4}"/>
              </a:ext>
            </a:extLst>
          </p:cNvPr>
          <p:cNvSpPr txBox="1"/>
          <p:nvPr/>
        </p:nvSpPr>
        <p:spPr>
          <a:xfrm>
            <a:off x="6120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DE8046-8706-426F-97A4-527B5FB5FDB0}"/>
              </a:ext>
            </a:extLst>
          </p:cNvPr>
          <p:cNvSpPr txBox="1"/>
          <p:nvPr/>
        </p:nvSpPr>
        <p:spPr>
          <a:xfrm>
            <a:off x="1512000" y="5167107"/>
            <a:ext cx="2160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LC1: There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was no training program </a:t>
            </a:r>
            <a:r>
              <a:rPr lang="en-CA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for mining operations.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838A1E8-3D07-46DD-8AAF-D7634A0AEF5C}"/>
              </a:ext>
            </a:extLst>
          </p:cNvPr>
          <p:cNvCxnSpPr>
            <a:stCxn id="11" idx="2"/>
            <a:endCxn id="18" idx="0"/>
          </p:cNvCxnSpPr>
          <p:nvPr/>
        </p:nvCxnSpPr>
        <p:spPr>
          <a:xfrm>
            <a:off x="2592000" y="4244344"/>
            <a:ext cx="0" cy="92276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CECEC8-FEEA-4AE9-A4EF-E49CF3A73CEB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4932000" y="2105817"/>
            <a:ext cx="0" cy="20838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83E818F-393F-4338-8903-B13C38471817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4932000" y="1387220"/>
            <a:ext cx="0" cy="19537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5C0B811-6724-482B-AD62-E37375FB26C0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4932000" y="2818199"/>
            <a:ext cx="0" cy="68748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Flowchart: Punched Tape 22">
            <a:extLst>
              <a:ext uri="{FF2B5EF4-FFF2-40B4-BE49-F238E27FC236}">
                <a16:creationId xmlns:a16="http://schemas.microsoft.com/office/drawing/2014/main" id="{9D886577-F06C-4BA2-8027-956FB861266F}"/>
              </a:ext>
            </a:extLst>
          </p:cNvPr>
          <p:cNvSpPr/>
          <p:nvPr/>
        </p:nvSpPr>
        <p:spPr bwMode="auto">
          <a:xfrm flipH="1">
            <a:off x="4772880" y="2916365"/>
            <a:ext cx="392534" cy="305875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1B72C6-F218-4114-8BCB-6F79D69D3077}"/>
              </a:ext>
            </a:extLst>
          </p:cNvPr>
          <p:cNvSpPr txBox="1"/>
          <p:nvPr/>
        </p:nvSpPr>
        <p:spPr>
          <a:xfrm>
            <a:off x="347135" y="3402651"/>
            <a:ext cx="1152777" cy="103935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>
                <a:solidFill>
                  <a:srgbClr val="FF0000"/>
                </a:solidFill>
                <a:cs typeface="Arial" panose="020B0604020202020204" pitchFamily="34" charset="0"/>
              </a:rPr>
              <a:t>Basic </a:t>
            </a:r>
            <a:r>
              <a:rPr lang="en-CA" sz="1400" dirty="0" smtClean="0">
                <a:solidFill>
                  <a:srgbClr val="FF0000"/>
                </a:solidFill>
                <a:cs typeface="Arial" panose="020B0604020202020204" pitchFamily="34" charset="0"/>
              </a:rPr>
              <a:t>Cause?</a:t>
            </a:r>
            <a:endParaRPr lang="en-CA" sz="1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26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Drilling Down to Latent Causes in the RCA: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Rounded Rectangle 46">
            <a:extLst>
              <a:ext uri="{FF2B5EF4-FFF2-40B4-BE49-F238E27FC236}">
                <a16:creationId xmlns:a16="http://schemas.microsoft.com/office/drawing/2014/main" id="{FCFDDD26-23D6-4796-BF1D-58D98AEEE499}"/>
              </a:ext>
            </a:extLst>
          </p:cNvPr>
          <p:cNvSpPr/>
          <p:nvPr/>
        </p:nvSpPr>
        <p:spPr>
          <a:xfrm>
            <a:off x="99753" y="3419946"/>
            <a:ext cx="3644247" cy="2764053"/>
          </a:xfrm>
          <a:prstGeom prst="roundRect">
            <a:avLst>
              <a:gd name="adj" fmla="val 7793"/>
            </a:avLst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ctr">
            <a:scene3d>
              <a:camera prst="orthographicFront">
                <a:rot lat="0" lon="0" rev="600000"/>
              </a:camera>
              <a:lightRig rig="threePt" dir="t"/>
            </a:scene3d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Does this </a:t>
            </a:r>
            <a:b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make sense? </a:t>
            </a:r>
            <a:b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there a </a:t>
            </a:r>
            <a:b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logic leap?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604754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FD59BD-EB3B-4D7F-A7A9-0AE2BDFDE4BF}"/>
              </a:ext>
            </a:extLst>
          </p:cNvPr>
          <p:cNvSpPr txBox="1"/>
          <p:nvPr/>
        </p:nvSpPr>
        <p:spPr>
          <a:xfrm>
            <a:off x="3456000" y="861252"/>
            <a:ext cx="2952000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Debris fell on equipment,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5C928-CC38-454E-8795-A8C1DBEC105D}"/>
              </a:ext>
            </a:extLst>
          </p:cNvPr>
          <p:cNvSpPr txBox="1"/>
          <p:nvPr/>
        </p:nvSpPr>
        <p:spPr>
          <a:xfrm>
            <a:off x="3456000" y="1578182"/>
            <a:ext cx="2952000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28A437-C1E3-474E-A526-F56414306009}"/>
              </a:ext>
            </a:extLst>
          </p:cNvPr>
          <p:cNvSpPr txBox="1"/>
          <p:nvPr/>
        </p:nvSpPr>
        <p:spPr>
          <a:xfrm>
            <a:off x="3456000" y="2311451"/>
            <a:ext cx="2952000" cy="504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351731-B625-4045-96E2-230805AEB74B}"/>
              </a:ext>
            </a:extLst>
          </p:cNvPr>
          <p:cNvSpPr txBox="1"/>
          <p:nvPr/>
        </p:nvSpPr>
        <p:spPr>
          <a:xfrm>
            <a:off x="1512000" y="3502932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0B17F1-103B-40E5-8566-ECE2FD65DA2D}"/>
              </a:ext>
            </a:extLst>
          </p:cNvPr>
          <p:cNvSpPr txBox="1"/>
          <p:nvPr/>
        </p:nvSpPr>
        <p:spPr>
          <a:xfrm>
            <a:off x="3852000" y="3502932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5" name="Elbow Connector 71">
            <a:extLst>
              <a:ext uri="{FF2B5EF4-FFF2-40B4-BE49-F238E27FC236}">
                <a16:creationId xmlns:a16="http://schemas.microsoft.com/office/drawing/2014/main" id="{9449D279-CB43-4D04-82EC-C017EA7812F6}"/>
              </a:ext>
            </a:extLst>
          </p:cNvPr>
          <p:cNvCxnSpPr>
            <a:stCxn id="10" idx="2"/>
            <a:endCxn id="17" idx="0"/>
          </p:cNvCxnSpPr>
          <p:nvPr/>
        </p:nvCxnSpPr>
        <p:spPr>
          <a:xfrm rot="16200000" flipH="1">
            <a:off x="5722260" y="2025191"/>
            <a:ext cx="687481" cy="2268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" name="Elbow Connector 72">
            <a:extLst>
              <a:ext uri="{FF2B5EF4-FFF2-40B4-BE49-F238E27FC236}">
                <a16:creationId xmlns:a16="http://schemas.microsoft.com/office/drawing/2014/main" id="{899A9B8F-54A4-406C-9C10-17812CEB3DFB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5400000">
            <a:off x="3418260" y="1989191"/>
            <a:ext cx="687481" cy="2340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28D03DE-9A55-4494-B2D3-7C1D2BDE7C2C}"/>
              </a:ext>
            </a:extLst>
          </p:cNvPr>
          <p:cNvSpPr txBox="1"/>
          <p:nvPr/>
        </p:nvSpPr>
        <p:spPr>
          <a:xfrm>
            <a:off x="6120000" y="3502932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B24479-13B4-4014-993C-EEC8B9CBD96A}"/>
              </a:ext>
            </a:extLst>
          </p:cNvPr>
          <p:cNvSpPr txBox="1"/>
          <p:nvPr/>
        </p:nvSpPr>
        <p:spPr>
          <a:xfrm>
            <a:off x="1512000" y="5164359"/>
            <a:ext cx="2160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Arial" panose="020B0604020202020204" pitchFamily="34" charset="0"/>
              </a:rPr>
              <a:t>LC1: There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Arial" panose="020B0604020202020204" pitchFamily="34" charset="0"/>
              </a:rPr>
              <a:t>was no training program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for mining operations.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59A13DE-954E-49A4-8A09-48118BA5021D}"/>
              </a:ext>
            </a:extLst>
          </p:cNvPr>
          <p:cNvCxnSpPr>
            <a:stCxn id="11" idx="2"/>
            <a:endCxn id="20" idx="0"/>
          </p:cNvCxnSpPr>
          <p:nvPr/>
        </p:nvCxnSpPr>
        <p:spPr>
          <a:xfrm flipH="1">
            <a:off x="2589852" y="4241596"/>
            <a:ext cx="2148" cy="172329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34176DB-910F-467F-936E-BF2DBB8B14B5}"/>
              </a:ext>
            </a:extLst>
          </p:cNvPr>
          <p:cNvSpPr txBox="1"/>
          <p:nvPr/>
        </p:nvSpPr>
        <p:spPr>
          <a:xfrm>
            <a:off x="1509852" y="4413925"/>
            <a:ext cx="2160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Arial" panose="020B0604020202020204" pitchFamily="34" charset="0"/>
              </a:rPr>
              <a:t>Worker was not trained on those procedures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5B268F9-12A6-4173-BD62-66107BA9DEB1}"/>
              </a:ext>
            </a:extLst>
          </p:cNvPr>
          <p:cNvCxnSpPr>
            <a:stCxn id="20" idx="2"/>
            <a:endCxn id="18" idx="0"/>
          </p:cNvCxnSpPr>
          <p:nvPr/>
        </p:nvCxnSpPr>
        <p:spPr>
          <a:xfrm>
            <a:off x="2589852" y="4953925"/>
            <a:ext cx="2148" cy="210434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A8F5DE7-5433-4F2F-8556-2D38D5384E77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4932000" y="2101402"/>
            <a:ext cx="0" cy="210049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74AFDF7-A884-4481-8221-E281E515BDED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4932000" y="1384472"/>
            <a:ext cx="0" cy="19371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6134410-61D1-465C-9FFA-E5E157D21919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4932000" y="2815451"/>
            <a:ext cx="0" cy="68748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5" name="Flowchart: Punched Tape 24">
            <a:extLst>
              <a:ext uri="{FF2B5EF4-FFF2-40B4-BE49-F238E27FC236}">
                <a16:creationId xmlns:a16="http://schemas.microsoft.com/office/drawing/2014/main" id="{45ECA896-7B6A-4983-80A5-351188DDEDD8}"/>
              </a:ext>
            </a:extLst>
          </p:cNvPr>
          <p:cNvSpPr/>
          <p:nvPr/>
        </p:nvSpPr>
        <p:spPr bwMode="auto">
          <a:xfrm flipH="1">
            <a:off x="4772880" y="2913617"/>
            <a:ext cx="392534" cy="305875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904696-2EF8-4E59-B13F-F612AB0BEC38}"/>
              </a:ext>
            </a:extLst>
          </p:cNvPr>
          <p:cNvSpPr txBox="1"/>
          <p:nvPr/>
        </p:nvSpPr>
        <p:spPr>
          <a:xfrm>
            <a:off x="188005" y="4154609"/>
            <a:ext cx="1311908" cy="103935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Basic Cause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4B0EB2-A6F7-42D7-93B8-C69078EBF60D}"/>
              </a:ext>
            </a:extLst>
          </p:cNvPr>
          <p:cNvSpPr txBox="1"/>
          <p:nvPr/>
        </p:nvSpPr>
        <p:spPr>
          <a:xfrm>
            <a:off x="188004" y="5160563"/>
            <a:ext cx="1316110" cy="80532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Arial" panose="020B0604020202020204" pitchFamily="34" charset="0"/>
              </a:rPr>
              <a:t>Latent Cause</a:t>
            </a:r>
          </a:p>
        </p:txBody>
      </p:sp>
      <p:sp>
        <p:nvSpPr>
          <p:cNvPr id="29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Drilling Down to Latent Causes in the RCA: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Rounded Rectangle 46">
            <a:extLst>
              <a:ext uri="{FF2B5EF4-FFF2-40B4-BE49-F238E27FC236}">
                <a16:creationId xmlns:a16="http://schemas.microsoft.com/office/drawing/2014/main" id="{FCFDDD26-23D6-4796-BF1D-58D98AEEE499}"/>
              </a:ext>
            </a:extLst>
          </p:cNvPr>
          <p:cNvSpPr/>
          <p:nvPr/>
        </p:nvSpPr>
        <p:spPr>
          <a:xfrm>
            <a:off x="99753" y="3419946"/>
            <a:ext cx="3644247" cy="2764053"/>
          </a:xfrm>
          <a:prstGeom prst="roundRect">
            <a:avLst>
              <a:gd name="adj" fmla="val 7793"/>
            </a:avLst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ctr">
            <a:scene3d>
              <a:camera prst="orthographicFront">
                <a:rot lat="0" lon="0" rev="600000"/>
              </a:camera>
              <a:lightRig rig="threePt" dir="t"/>
            </a:scene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717" y="4656667"/>
            <a:ext cx="2301413" cy="145624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6904696-2EF8-4E59-B13F-F612AB0BEC38}"/>
              </a:ext>
            </a:extLst>
          </p:cNvPr>
          <p:cNvSpPr txBox="1"/>
          <p:nvPr/>
        </p:nvSpPr>
        <p:spPr>
          <a:xfrm>
            <a:off x="4057831" y="5520858"/>
            <a:ext cx="2405823" cy="550247"/>
          </a:xfrm>
          <a:prstGeom prst="rightArrow">
            <a:avLst/>
          </a:prstGeom>
          <a:solidFill>
            <a:srgbClr val="FFFFFF"/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BC sub-sub-category</a:t>
            </a:r>
            <a:endParaRPr kumimoji="0" lang="en-CA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31" name="Rounded Rectangle 46">
            <a:extLst>
              <a:ext uri="{FF2B5EF4-FFF2-40B4-BE49-F238E27FC236}">
                <a16:creationId xmlns:a16="http://schemas.microsoft.com/office/drawing/2014/main" id="{FCFDDD26-23D6-4796-BF1D-58D98AEEE499}"/>
              </a:ext>
            </a:extLst>
          </p:cNvPr>
          <p:cNvSpPr/>
          <p:nvPr/>
        </p:nvSpPr>
        <p:spPr>
          <a:xfrm>
            <a:off x="3852000" y="4298900"/>
            <a:ext cx="4961400" cy="1921975"/>
          </a:xfrm>
          <a:prstGeom prst="roundRect">
            <a:avLst>
              <a:gd name="adj" fmla="val 7793"/>
            </a:avLst>
          </a:prstGeom>
          <a:noFill/>
          <a:ln w="38100" cap="flat" cmpd="sng" algn="ctr">
            <a:solidFill>
              <a:srgbClr val="7030A0"/>
            </a:solidFill>
            <a:prstDash val="sysDash"/>
            <a:miter lim="800000"/>
          </a:ln>
          <a:effectLst/>
        </p:spPr>
        <p:txBody>
          <a:bodyPr rtlCol="0" anchor="t" anchorCtr="0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the C&amp;E Model to determine cause-category: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904696-2EF8-4E59-B13F-F612AB0BEC38}"/>
              </a:ext>
            </a:extLst>
          </p:cNvPr>
          <p:cNvSpPr txBox="1"/>
          <p:nvPr/>
        </p:nvSpPr>
        <p:spPr>
          <a:xfrm>
            <a:off x="182457" y="3384293"/>
            <a:ext cx="1471775" cy="103935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Intermediate </a:t>
            </a:r>
            <a:r>
              <a:rPr kumimoji="0" lang="en-CA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Cause</a:t>
            </a:r>
          </a:p>
        </p:txBody>
      </p:sp>
    </p:spTree>
    <p:extLst>
      <p:ext uri="{BB962C8B-B14F-4D97-AF65-F5344CB8AC3E}">
        <p14:creationId xmlns:p14="http://schemas.microsoft.com/office/powerpoint/2010/main" val="413247303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13EB78-514A-44A2-A9DC-0854CBA95196}"/>
              </a:ext>
            </a:extLst>
          </p:cNvPr>
          <p:cNvSpPr txBox="1"/>
          <p:nvPr/>
        </p:nvSpPr>
        <p:spPr>
          <a:xfrm>
            <a:off x="1512000" y="2382564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F7CFF-14C1-4D79-AB84-4A149C73C048}"/>
              </a:ext>
            </a:extLst>
          </p:cNvPr>
          <p:cNvSpPr txBox="1"/>
          <p:nvPr/>
        </p:nvSpPr>
        <p:spPr>
          <a:xfrm>
            <a:off x="3852000" y="2382564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0" name="Elbow Connector 71">
            <a:extLst>
              <a:ext uri="{FF2B5EF4-FFF2-40B4-BE49-F238E27FC236}">
                <a16:creationId xmlns:a16="http://schemas.microsoft.com/office/drawing/2014/main" id="{DF266D5B-09A2-46EF-8A8C-AE494E4A7496}"/>
              </a:ext>
            </a:extLst>
          </p:cNvPr>
          <p:cNvCxnSpPr>
            <a:endCxn id="14" idx="0"/>
          </p:cNvCxnSpPr>
          <p:nvPr/>
        </p:nvCxnSpPr>
        <p:spPr>
          <a:xfrm rot="16200000" flipH="1">
            <a:off x="5722260" y="904823"/>
            <a:ext cx="687481" cy="2268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4A97D833-5517-46E4-8192-118FFA57F123}"/>
              </a:ext>
            </a:extLst>
          </p:cNvPr>
          <p:cNvCxnSpPr>
            <a:endCxn id="6" idx="0"/>
          </p:cNvCxnSpPr>
          <p:nvPr/>
        </p:nvCxnSpPr>
        <p:spPr>
          <a:xfrm rot="5400000">
            <a:off x="3418260" y="868823"/>
            <a:ext cx="687481" cy="2340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28C8BA3-DC56-420D-9BEA-0891632D158D}"/>
              </a:ext>
            </a:extLst>
          </p:cNvPr>
          <p:cNvSpPr txBox="1"/>
          <p:nvPr/>
        </p:nvSpPr>
        <p:spPr>
          <a:xfrm>
            <a:off x="6120000" y="2382564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28128F-BB52-4FF9-B769-6EA015AE0218}"/>
              </a:ext>
            </a:extLst>
          </p:cNvPr>
          <p:cNvSpPr txBox="1"/>
          <p:nvPr/>
        </p:nvSpPr>
        <p:spPr>
          <a:xfrm>
            <a:off x="3852000" y="3426564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B-JF: Procedures </a:t>
            </a:r>
            <a:r>
              <a:rPr lang="en-CA" sz="1400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were not enforced through audits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3AA9BC-6C71-43E6-8400-00C6749434D2}"/>
              </a:ext>
            </a:extLst>
          </p:cNvPr>
          <p:cNvSpPr txBox="1"/>
          <p:nvPr/>
        </p:nvSpPr>
        <p:spPr>
          <a:xfrm>
            <a:off x="3852000" y="4218564"/>
            <a:ext cx="2160000" cy="1169551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LC2: The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evaluation program did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not include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exclusion zone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procedures on the auditing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schedule.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F7EA369-71CE-45F4-A11A-A2E7FA6C3316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4932000" y="4165228"/>
            <a:ext cx="0" cy="5333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FB298CB-6818-4FC5-B6CE-EAF3E0AAB734}"/>
              </a:ext>
            </a:extLst>
          </p:cNvPr>
          <p:cNvCxnSpPr>
            <a:stCxn id="7" idx="2"/>
            <a:endCxn id="15" idx="0"/>
          </p:cNvCxnSpPr>
          <p:nvPr/>
        </p:nvCxnSpPr>
        <p:spPr>
          <a:xfrm>
            <a:off x="4932000" y="3121228"/>
            <a:ext cx="0" cy="30533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52C9864-0221-4C07-B4FF-B110DE5A9C3C}"/>
              </a:ext>
            </a:extLst>
          </p:cNvPr>
          <p:cNvCxnSpPr>
            <a:endCxn id="7" idx="0"/>
          </p:cNvCxnSpPr>
          <p:nvPr/>
        </p:nvCxnSpPr>
        <p:spPr>
          <a:xfrm>
            <a:off x="4932000" y="1695083"/>
            <a:ext cx="0" cy="68748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Flowchart: Punched Tape 19">
            <a:extLst>
              <a:ext uri="{FF2B5EF4-FFF2-40B4-BE49-F238E27FC236}">
                <a16:creationId xmlns:a16="http://schemas.microsoft.com/office/drawing/2014/main" id="{8622A3C3-6519-430C-9830-F917D5622330}"/>
              </a:ext>
            </a:extLst>
          </p:cNvPr>
          <p:cNvSpPr/>
          <p:nvPr/>
        </p:nvSpPr>
        <p:spPr bwMode="auto">
          <a:xfrm flipH="1">
            <a:off x="4772880" y="1793249"/>
            <a:ext cx="392534" cy="305875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0670D5-05D6-42EB-A840-399008392A38}"/>
              </a:ext>
            </a:extLst>
          </p:cNvPr>
          <p:cNvSpPr txBox="1"/>
          <p:nvPr/>
        </p:nvSpPr>
        <p:spPr>
          <a:xfrm>
            <a:off x="2261180" y="2454564"/>
            <a:ext cx="1584000" cy="103935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 smtClean="0">
                <a:solidFill>
                  <a:srgbClr val="FF0000"/>
                </a:solidFill>
                <a:cs typeface="Arial" panose="020B0604020202020204" pitchFamily="34" charset="0"/>
              </a:rPr>
              <a:t>Immediate </a:t>
            </a:r>
            <a:r>
              <a:rPr lang="en-CA" sz="1400" dirty="0">
                <a:solidFill>
                  <a:srgbClr val="FF0000"/>
                </a:solidFill>
                <a:cs typeface="Arial" panose="020B0604020202020204" pitchFamily="34" charset="0"/>
              </a:rPr>
              <a:t>Cause</a:t>
            </a:r>
          </a:p>
        </p:txBody>
      </p:sp>
      <p:sp>
        <p:nvSpPr>
          <p:cNvPr id="22" name="Rounded Rectangle 30">
            <a:extLst>
              <a:ext uri="{FF2B5EF4-FFF2-40B4-BE49-F238E27FC236}">
                <a16:creationId xmlns:a16="http://schemas.microsoft.com/office/drawing/2014/main" id="{D77E7127-9680-46B1-A950-839F2C1BE586}"/>
              </a:ext>
            </a:extLst>
          </p:cNvPr>
          <p:cNvSpPr/>
          <p:nvPr/>
        </p:nvSpPr>
        <p:spPr>
          <a:xfrm>
            <a:off x="1884758" y="2197290"/>
            <a:ext cx="4379495" cy="3334830"/>
          </a:xfrm>
          <a:prstGeom prst="roundRect">
            <a:avLst>
              <a:gd name="adj" fmla="val 9908"/>
            </a:avLst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DEAB55-C805-43BC-A03E-465E8EDDD400}"/>
              </a:ext>
            </a:extLst>
          </p:cNvPr>
          <p:cNvSpPr txBox="1"/>
          <p:nvPr/>
        </p:nvSpPr>
        <p:spPr>
          <a:xfrm>
            <a:off x="2268000" y="4407617"/>
            <a:ext cx="1584000" cy="576000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dirty="0">
                <a:solidFill>
                  <a:srgbClr val="FF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Latent Cause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4973D4-D744-4FDF-9B6E-47332C068CC7}"/>
              </a:ext>
            </a:extLst>
          </p:cNvPr>
          <p:cNvSpPr txBox="1"/>
          <p:nvPr/>
        </p:nvSpPr>
        <p:spPr>
          <a:xfrm>
            <a:off x="2268000" y="3413943"/>
            <a:ext cx="1584000" cy="61138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 smtClean="0">
                <a:solidFill>
                  <a:srgbClr val="FF0000"/>
                </a:solidFill>
                <a:cs typeface="Arial" panose="020B0604020202020204" pitchFamily="34" charset="0"/>
              </a:rPr>
              <a:t>Basic Cause</a:t>
            </a:r>
            <a:endParaRPr lang="en-CA" sz="1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A519B8-391E-4DDE-8397-67239517313C}"/>
              </a:ext>
            </a:extLst>
          </p:cNvPr>
          <p:cNvSpPr txBox="1"/>
          <p:nvPr/>
        </p:nvSpPr>
        <p:spPr>
          <a:xfrm>
            <a:off x="3493147" y="1164550"/>
            <a:ext cx="2952000" cy="504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26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Drilling Down to Latent Causes in the RCA: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12561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0DBEE2-145C-4D10-9214-7F7CB67A9D71}"/>
              </a:ext>
            </a:extLst>
          </p:cNvPr>
          <p:cNvSpPr txBox="1"/>
          <p:nvPr/>
        </p:nvSpPr>
        <p:spPr>
          <a:xfrm>
            <a:off x="1022226" y="1849985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734FF9-F262-4EEC-89BE-77706F7B0E55}"/>
              </a:ext>
            </a:extLst>
          </p:cNvPr>
          <p:cNvSpPr txBox="1"/>
          <p:nvPr/>
        </p:nvSpPr>
        <p:spPr>
          <a:xfrm>
            <a:off x="3362226" y="1849985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0" name="Elbow Connector 71">
            <a:extLst>
              <a:ext uri="{FF2B5EF4-FFF2-40B4-BE49-F238E27FC236}">
                <a16:creationId xmlns:a16="http://schemas.microsoft.com/office/drawing/2014/main" id="{E297E914-6915-4770-83CD-2C93694D54AC}"/>
              </a:ext>
            </a:extLst>
          </p:cNvPr>
          <p:cNvCxnSpPr>
            <a:stCxn id="20" idx="2"/>
            <a:endCxn id="14" idx="0"/>
          </p:cNvCxnSpPr>
          <p:nvPr/>
        </p:nvCxnSpPr>
        <p:spPr>
          <a:xfrm rot="16200000" flipH="1">
            <a:off x="5552638" y="537510"/>
            <a:ext cx="205958" cy="2418992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0B038C1A-0586-4251-8617-AB61324489EC}"/>
              </a:ext>
            </a:extLst>
          </p:cNvPr>
          <p:cNvCxnSpPr>
            <a:stCxn id="20" idx="2"/>
            <a:endCxn id="6" idx="0"/>
          </p:cNvCxnSpPr>
          <p:nvPr/>
        </p:nvCxnSpPr>
        <p:spPr>
          <a:xfrm rot="5400000">
            <a:off x="3171195" y="575059"/>
            <a:ext cx="205958" cy="234389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1222AB6-4794-4926-9F8A-DFBE22F15681}"/>
              </a:ext>
            </a:extLst>
          </p:cNvPr>
          <p:cNvSpPr txBox="1"/>
          <p:nvPr/>
        </p:nvSpPr>
        <p:spPr>
          <a:xfrm>
            <a:off x="5630226" y="1849985"/>
            <a:ext cx="2469774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E4DBE-D70D-4ABC-A0D7-BC9CFD80AC2E}"/>
              </a:ext>
            </a:extLst>
          </p:cNvPr>
          <p:cNvSpPr txBox="1"/>
          <p:nvPr/>
        </p:nvSpPr>
        <p:spPr>
          <a:xfrm>
            <a:off x="5630226" y="3391233"/>
            <a:ext cx="2469774" cy="682682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lIns="36000" tIns="36000" rIns="36000" bIns="0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Supervisor believed that production was paramount over safety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D37DA6-0923-498E-A172-534372CBE976}"/>
              </a:ext>
            </a:extLst>
          </p:cNvPr>
          <p:cNvCxnSpPr>
            <a:stCxn id="14" idx="2"/>
            <a:endCxn id="17" idx="0"/>
          </p:cNvCxnSpPr>
          <p:nvPr/>
        </p:nvCxnSpPr>
        <p:spPr>
          <a:xfrm>
            <a:off x="6865113" y="2373205"/>
            <a:ext cx="0" cy="26215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E0B56D1-EADB-4041-B05B-A68316CF6EA7}"/>
              </a:ext>
            </a:extLst>
          </p:cNvPr>
          <p:cNvSpPr txBox="1"/>
          <p:nvPr/>
        </p:nvSpPr>
        <p:spPr>
          <a:xfrm>
            <a:off x="5630226" y="2635358"/>
            <a:ext cx="2469774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B-JF: Supervisor </a:t>
            </a:r>
            <a:r>
              <a:rPr lang="en-CA" sz="1400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prioritized production over safety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93B6FED-0852-4893-A04B-C42680DFC633}"/>
              </a:ext>
            </a:extLst>
          </p:cNvPr>
          <p:cNvCxnSpPr>
            <a:stCxn id="17" idx="2"/>
            <a:endCxn id="15" idx="0"/>
          </p:cNvCxnSpPr>
          <p:nvPr/>
        </p:nvCxnSpPr>
        <p:spPr>
          <a:xfrm>
            <a:off x="6865113" y="3158578"/>
            <a:ext cx="0" cy="23265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ECEA7C4-5B36-4BEA-A14D-C54C7032D817}"/>
              </a:ext>
            </a:extLst>
          </p:cNvPr>
          <p:cNvCxnSpPr>
            <a:endCxn id="7" idx="0"/>
          </p:cNvCxnSpPr>
          <p:nvPr/>
        </p:nvCxnSpPr>
        <p:spPr>
          <a:xfrm>
            <a:off x="4442226" y="1353703"/>
            <a:ext cx="0" cy="49628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Flowchart: Punched Tape 19">
            <a:extLst>
              <a:ext uri="{FF2B5EF4-FFF2-40B4-BE49-F238E27FC236}">
                <a16:creationId xmlns:a16="http://schemas.microsoft.com/office/drawing/2014/main" id="{7DF51C37-E5C6-4F60-8614-D787F90B28BC}"/>
              </a:ext>
            </a:extLst>
          </p:cNvPr>
          <p:cNvSpPr/>
          <p:nvPr/>
        </p:nvSpPr>
        <p:spPr bwMode="auto">
          <a:xfrm flipH="1">
            <a:off x="4249854" y="1368739"/>
            <a:ext cx="392534" cy="305875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BBE2B0-DA55-4FA6-A7CB-659534911A24}"/>
              </a:ext>
            </a:extLst>
          </p:cNvPr>
          <p:cNvSpPr txBox="1"/>
          <p:nvPr/>
        </p:nvSpPr>
        <p:spPr>
          <a:xfrm>
            <a:off x="4046226" y="2637607"/>
            <a:ext cx="1584000" cy="576000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>
                <a:solidFill>
                  <a:srgbClr val="FF0000"/>
                </a:solidFill>
                <a:cs typeface="Arial" panose="020B0604020202020204" pitchFamily="34" charset="0"/>
              </a:rPr>
              <a:t>Basic Cause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9F08D3-2D0B-475F-8C4D-5E684D8C60A3}"/>
              </a:ext>
            </a:extLst>
          </p:cNvPr>
          <p:cNvSpPr txBox="1"/>
          <p:nvPr/>
        </p:nvSpPr>
        <p:spPr>
          <a:xfrm>
            <a:off x="4046226" y="3470908"/>
            <a:ext cx="1584000" cy="61138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 smtClean="0">
                <a:solidFill>
                  <a:srgbClr val="FF0000"/>
                </a:solidFill>
                <a:cs typeface="Arial" panose="020B0604020202020204" pitchFamily="34" charset="0"/>
              </a:rPr>
              <a:t>Latent Cause?</a:t>
            </a:r>
            <a:endParaRPr lang="en-CA" sz="1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88433F-EAAA-44D1-A313-E011DDD003EE}"/>
              </a:ext>
            </a:extLst>
          </p:cNvPr>
          <p:cNvSpPr txBox="1"/>
          <p:nvPr/>
        </p:nvSpPr>
        <p:spPr>
          <a:xfrm>
            <a:off x="3003373" y="823172"/>
            <a:ext cx="2952000" cy="504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28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Drilling Down to Latent Causes in the RCA: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2B8E651-9E4B-4CED-B8B6-84025A9D5347}"/>
              </a:ext>
            </a:extLst>
          </p:cNvPr>
          <p:cNvSpPr/>
          <p:nvPr/>
        </p:nvSpPr>
        <p:spPr>
          <a:xfrm>
            <a:off x="3808011" y="1849985"/>
            <a:ext cx="4779036" cy="4067950"/>
          </a:xfrm>
          <a:prstGeom prst="roundRect">
            <a:avLst>
              <a:gd name="adj" fmla="val 7793"/>
            </a:avLst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t">
            <a:scene3d>
              <a:camera prst="orthographicFront">
                <a:rot lat="0" lon="0" rev="600000"/>
              </a:camera>
              <a:lightRig rig="threePt" dir="t"/>
            </a:scene3d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 smtClean="0">
              <a:solidFill>
                <a:srgbClr val="FF0000"/>
              </a:solidFill>
              <a:latin typeface="Calibri" panose="020F0502020204030204"/>
            </a:endParaRPr>
          </a:p>
          <a:p>
            <a:pPr lvl="0">
              <a:defRPr/>
            </a:pPr>
            <a:endParaRPr lang="en-US" sz="2400" b="1" kern="0" dirty="0" smtClean="0">
              <a:solidFill>
                <a:srgbClr val="FF0000"/>
              </a:solidFill>
              <a:latin typeface="Calibri" panose="020F0502020204030204"/>
            </a:endParaRPr>
          </a:p>
          <a:p>
            <a:pPr lvl="0">
              <a:defRPr/>
            </a:pPr>
            <a:r>
              <a:rPr lang="en-US" sz="2400" b="1" kern="0" dirty="0" smtClean="0">
                <a:solidFill>
                  <a:srgbClr val="FF0000"/>
                </a:solidFill>
                <a:latin typeface="Calibri" panose="020F0502020204030204"/>
              </a:rPr>
              <a:t>Is </a:t>
            </a:r>
            <a:r>
              <a:rPr lang="en-US" sz="2400" b="1" kern="0" dirty="0">
                <a:solidFill>
                  <a:srgbClr val="FF0000"/>
                </a:solidFill>
                <a:latin typeface="Calibri" panose="020F0502020204030204"/>
              </a:rPr>
              <a:t>this </a:t>
            </a:r>
            <a:r>
              <a:rPr lang="en-US" sz="2400" b="1" kern="0" dirty="0" smtClean="0">
                <a:solidFill>
                  <a:srgbClr val="FF0000"/>
                </a:solidFill>
                <a:latin typeface="Calibri" panose="020F0502020204030204"/>
              </a:rPr>
              <a:t>an acceptable statement </a:t>
            </a:r>
            <a:br>
              <a:rPr lang="en-US" sz="2400" b="1" kern="0" dirty="0" smtClean="0">
                <a:solidFill>
                  <a:srgbClr val="FF0000"/>
                </a:solidFill>
                <a:latin typeface="Calibri" panose="020F0502020204030204"/>
              </a:rPr>
            </a:br>
            <a:r>
              <a:rPr lang="en-US" sz="2400" b="1" kern="0" dirty="0" smtClean="0">
                <a:solidFill>
                  <a:srgbClr val="FF0000"/>
                </a:solidFill>
                <a:latin typeface="Calibri" panose="020F0502020204030204"/>
              </a:rPr>
              <a:t>for a </a:t>
            </a:r>
            <a:r>
              <a:rPr lang="en-US" sz="2400" b="1" kern="0" dirty="0">
                <a:solidFill>
                  <a:srgbClr val="FF0000"/>
                </a:solidFill>
                <a:latin typeface="Calibri" panose="020F0502020204030204"/>
              </a:rPr>
              <a:t>latent cause?</a:t>
            </a:r>
          </a:p>
        </p:txBody>
      </p:sp>
    </p:spTree>
    <p:extLst>
      <p:ext uri="{BB962C8B-B14F-4D97-AF65-F5344CB8AC3E}">
        <p14:creationId xmlns:p14="http://schemas.microsoft.com/office/powerpoint/2010/main" val="407742448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0DBEE2-145C-4D10-9214-7F7CB67A9D71}"/>
              </a:ext>
            </a:extLst>
          </p:cNvPr>
          <p:cNvSpPr txBox="1"/>
          <p:nvPr/>
        </p:nvSpPr>
        <p:spPr>
          <a:xfrm>
            <a:off x="1022226" y="1849985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734FF9-F262-4EEC-89BE-77706F7B0E55}"/>
              </a:ext>
            </a:extLst>
          </p:cNvPr>
          <p:cNvSpPr txBox="1"/>
          <p:nvPr/>
        </p:nvSpPr>
        <p:spPr>
          <a:xfrm>
            <a:off x="3362226" y="1849985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0" name="Elbow Connector 71">
            <a:extLst>
              <a:ext uri="{FF2B5EF4-FFF2-40B4-BE49-F238E27FC236}">
                <a16:creationId xmlns:a16="http://schemas.microsoft.com/office/drawing/2014/main" id="{E297E914-6915-4770-83CD-2C93694D54AC}"/>
              </a:ext>
            </a:extLst>
          </p:cNvPr>
          <p:cNvCxnSpPr>
            <a:stCxn id="20" idx="2"/>
            <a:endCxn id="14" idx="0"/>
          </p:cNvCxnSpPr>
          <p:nvPr/>
        </p:nvCxnSpPr>
        <p:spPr>
          <a:xfrm rot="16200000" flipH="1">
            <a:off x="5552638" y="537510"/>
            <a:ext cx="205958" cy="2418992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0B038C1A-0586-4251-8617-AB61324489EC}"/>
              </a:ext>
            </a:extLst>
          </p:cNvPr>
          <p:cNvCxnSpPr>
            <a:stCxn id="20" idx="2"/>
            <a:endCxn id="6" idx="0"/>
          </p:cNvCxnSpPr>
          <p:nvPr/>
        </p:nvCxnSpPr>
        <p:spPr>
          <a:xfrm rot="5400000">
            <a:off x="3171195" y="575059"/>
            <a:ext cx="205958" cy="234389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1222AB6-4794-4926-9F8A-DFBE22F15681}"/>
              </a:ext>
            </a:extLst>
          </p:cNvPr>
          <p:cNvSpPr txBox="1"/>
          <p:nvPr/>
        </p:nvSpPr>
        <p:spPr>
          <a:xfrm>
            <a:off x="5630226" y="1849985"/>
            <a:ext cx="2469774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E4DBE-D70D-4ABC-A0D7-BC9CFD80AC2E}"/>
              </a:ext>
            </a:extLst>
          </p:cNvPr>
          <p:cNvSpPr txBox="1"/>
          <p:nvPr/>
        </p:nvSpPr>
        <p:spPr>
          <a:xfrm>
            <a:off x="5630226" y="3391233"/>
            <a:ext cx="2469774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/>
              <a:t>Supervisor believed that production was paramount over </a:t>
            </a:r>
            <a:r>
              <a:rPr lang="en-US" dirty="0" smtClean="0"/>
              <a:t>safety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D37DA6-0923-498E-A172-534372CBE976}"/>
              </a:ext>
            </a:extLst>
          </p:cNvPr>
          <p:cNvCxnSpPr>
            <a:stCxn id="14" idx="2"/>
            <a:endCxn id="17" idx="0"/>
          </p:cNvCxnSpPr>
          <p:nvPr/>
        </p:nvCxnSpPr>
        <p:spPr>
          <a:xfrm>
            <a:off x="6865113" y="2373205"/>
            <a:ext cx="0" cy="26215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E0B56D1-EADB-4041-B05B-A68316CF6EA7}"/>
              </a:ext>
            </a:extLst>
          </p:cNvPr>
          <p:cNvSpPr txBox="1"/>
          <p:nvPr/>
        </p:nvSpPr>
        <p:spPr>
          <a:xfrm>
            <a:off x="5630226" y="2635358"/>
            <a:ext cx="2469774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B-JF: Supervisor </a:t>
            </a:r>
            <a:r>
              <a:rPr lang="en-CA" sz="1400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prioritized production over safety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93B6FED-0852-4893-A04B-C42680DFC633}"/>
              </a:ext>
            </a:extLst>
          </p:cNvPr>
          <p:cNvCxnSpPr>
            <a:stCxn id="17" idx="2"/>
            <a:endCxn id="15" idx="0"/>
          </p:cNvCxnSpPr>
          <p:nvPr/>
        </p:nvCxnSpPr>
        <p:spPr>
          <a:xfrm>
            <a:off x="6865113" y="3158578"/>
            <a:ext cx="0" cy="23265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ECEA7C4-5B36-4BEA-A14D-C54C7032D817}"/>
              </a:ext>
            </a:extLst>
          </p:cNvPr>
          <p:cNvCxnSpPr>
            <a:endCxn id="7" idx="0"/>
          </p:cNvCxnSpPr>
          <p:nvPr/>
        </p:nvCxnSpPr>
        <p:spPr>
          <a:xfrm>
            <a:off x="4442226" y="1353703"/>
            <a:ext cx="0" cy="49628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Flowchart: Punched Tape 19">
            <a:extLst>
              <a:ext uri="{FF2B5EF4-FFF2-40B4-BE49-F238E27FC236}">
                <a16:creationId xmlns:a16="http://schemas.microsoft.com/office/drawing/2014/main" id="{7DF51C37-E5C6-4F60-8614-D787F90B28BC}"/>
              </a:ext>
            </a:extLst>
          </p:cNvPr>
          <p:cNvSpPr/>
          <p:nvPr/>
        </p:nvSpPr>
        <p:spPr bwMode="auto">
          <a:xfrm flipH="1">
            <a:off x="4249854" y="1368739"/>
            <a:ext cx="392534" cy="305875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BBE2B0-DA55-4FA6-A7CB-659534911A24}"/>
              </a:ext>
            </a:extLst>
          </p:cNvPr>
          <p:cNvSpPr txBox="1"/>
          <p:nvPr/>
        </p:nvSpPr>
        <p:spPr>
          <a:xfrm>
            <a:off x="4046226" y="2637607"/>
            <a:ext cx="1584000" cy="576000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>
                <a:solidFill>
                  <a:srgbClr val="FF0000"/>
                </a:solidFill>
                <a:cs typeface="Arial" panose="020B0604020202020204" pitchFamily="34" charset="0"/>
              </a:rPr>
              <a:t>Basic Cause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5F9B77-67A7-4F56-8F64-0E807F0F4E50}"/>
              </a:ext>
            </a:extLst>
          </p:cNvPr>
          <p:cNvSpPr txBox="1"/>
          <p:nvPr/>
        </p:nvSpPr>
        <p:spPr>
          <a:xfrm>
            <a:off x="4046226" y="5296973"/>
            <a:ext cx="1584000" cy="576000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dirty="0">
                <a:solidFill>
                  <a:srgbClr val="FF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Latent Cause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47483B-0FA0-4009-BFB6-B2CB20DE41EE}"/>
              </a:ext>
            </a:extLst>
          </p:cNvPr>
          <p:cNvSpPr txBox="1"/>
          <p:nvPr/>
        </p:nvSpPr>
        <p:spPr>
          <a:xfrm>
            <a:off x="5630226" y="5235253"/>
            <a:ext cx="2469774" cy="682682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lIns="36000" tIns="36000" rIns="36000" bIns="0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LC3: Core Safety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Values Communications Program was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not implemented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**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4B3269B-933B-4EC9-B4D5-8EDAF45A5FCD}"/>
              </a:ext>
            </a:extLst>
          </p:cNvPr>
          <p:cNvCxnSpPr>
            <a:stCxn id="15" idx="2"/>
            <a:endCxn id="24" idx="0"/>
          </p:cNvCxnSpPr>
          <p:nvPr/>
        </p:nvCxnSpPr>
        <p:spPr>
          <a:xfrm>
            <a:off x="6865113" y="4129897"/>
            <a:ext cx="0" cy="110535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F9F08D3-2D0B-475F-8C4D-5E684D8C60A3}"/>
              </a:ext>
            </a:extLst>
          </p:cNvPr>
          <p:cNvSpPr txBox="1"/>
          <p:nvPr/>
        </p:nvSpPr>
        <p:spPr>
          <a:xfrm>
            <a:off x="4046226" y="3470908"/>
            <a:ext cx="1584000" cy="61138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>
                <a:solidFill>
                  <a:srgbClr val="FF0000"/>
                </a:solidFill>
                <a:cs typeface="Arial" panose="020B0604020202020204" pitchFamily="34" charset="0"/>
              </a:rPr>
              <a:t>Intermediate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88433F-EAAA-44D1-A313-E011DDD003EE}"/>
              </a:ext>
            </a:extLst>
          </p:cNvPr>
          <p:cNvSpPr txBox="1"/>
          <p:nvPr/>
        </p:nvSpPr>
        <p:spPr>
          <a:xfrm>
            <a:off x="3003373" y="823172"/>
            <a:ext cx="2952000" cy="504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28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Drilling Down to Latent Causes in the RCA: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2B8E651-9E4B-4CED-B8B6-84025A9D5347}"/>
              </a:ext>
            </a:extLst>
          </p:cNvPr>
          <p:cNvSpPr/>
          <p:nvPr/>
        </p:nvSpPr>
        <p:spPr>
          <a:xfrm>
            <a:off x="3808011" y="1849985"/>
            <a:ext cx="4779036" cy="4067950"/>
          </a:xfrm>
          <a:prstGeom prst="roundRect">
            <a:avLst>
              <a:gd name="adj" fmla="val 7793"/>
            </a:avLst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t">
            <a:scene3d>
              <a:camera prst="orthographicFront">
                <a:rot lat="0" lon="0" rev="600000"/>
              </a:camera>
              <a:lightRig rig="threePt" dir="t"/>
            </a:scene3d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 smtClean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Does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</a:t>
            </a:r>
            <a:b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make sense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56378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0DBEE2-145C-4D10-9214-7F7CB67A9D71}"/>
              </a:ext>
            </a:extLst>
          </p:cNvPr>
          <p:cNvSpPr txBox="1"/>
          <p:nvPr/>
        </p:nvSpPr>
        <p:spPr>
          <a:xfrm>
            <a:off x="1022226" y="1849985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734FF9-F262-4EEC-89BE-77706F7B0E55}"/>
              </a:ext>
            </a:extLst>
          </p:cNvPr>
          <p:cNvSpPr txBox="1"/>
          <p:nvPr/>
        </p:nvSpPr>
        <p:spPr>
          <a:xfrm>
            <a:off x="3362226" y="1849985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0" name="Elbow Connector 71">
            <a:extLst>
              <a:ext uri="{FF2B5EF4-FFF2-40B4-BE49-F238E27FC236}">
                <a16:creationId xmlns:a16="http://schemas.microsoft.com/office/drawing/2014/main" id="{E297E914-6915-4770-83CD-2C93694D54AC}"/>
              </a:ext>
            </a:extLst>
          </p:cNvPr>
          <p:cNvCxnSpPr>
            <a:stCxn id="20" idx="2"/>
            <a:endCxn id="14" idx="0"/>
          </p:cNvCxnSpPr>
          <p:nvPr/>
        </p:nvCxnSpPr>
        <p:spPr>
          <a:xfrm rot="16200000" flipH="1">
            <a:off x="5552638" y="537510"/>
            <a:ext cx="205958" cy="2418992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0B038C1A-0586-4251-8617-AB61324489EC}"/>
              </a:ext>
            </a:extLst>
          </p:cNvPr>
          <p:cNvCxnSpPr>
            <a:stCxn id="20" idx="2"/>
            <a:endCxn id="6" idx="0"/>
          </p:cNvCxnSpPr>
          <p:nvPr/>
        </p:nvCxnSpPr>
        <p:spPr>
          <a:xfrm rot="5400000">
            <a:off x="3171195" y="575059"/>
            <a:ext cx="205958" cy="234389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1222AB6-4794-4926-9F8A-DFBE22F15681}"/>
              </a:ext>
            </a:extLst>
          </p:cNvPr>
          <p:cNvSpPr txBox="1"/>
          <p:nvPr/>
        </p:nvSpPr>
        <p:spPr>
          <a:xfrm>
            <a:off x="5630226" y="1849985"/>
            <a:ext cx="2469774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E4DBE-D70D-4ABC-A0D7-BC9CFD80AC2E}"/>
              </a:ext>
            </a:extLst>
          </p:cNvPr>
          <p:cNvSpPr txBox="1"/>
          <p:nvPr/>
        </p:nvSpPr>
        <p:spPr>
          <a:xfrm>
            <a:off x="5630226" y="3391233"/>
            <a:ext cx="2469774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/>
              <a:t>Supervisor believed that production was paramount over </a:t>
            </a:r>
            <a:r>
              <a:rPr lang="en-US" dirty="0" smtClean="0"/>
              <a:t>safety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D37DA6-0923-498E-A172-534372CBE976}"/>
              </a:ext>
            </a:extLst>
          </p:cNvPr>
          <p:cNvCxnSpPr>
            <a:stCxn id="14" idx="2"/>
            <a:endCxn id="17" idx="0"/>
          </p:cNvCxnSpPr>
          <p:nvPr/>
        </p:nvCxnSpPr>
        <p:spPr>
          <a:xfrm>
            <a:off x="6865113" y="2373205"/>
            <a:ext cx="0" cy="26215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E0B56D1-EADB-4041-B05B-A68316CF6EA7}"/>
              </a:ext>
            </a:extLst>
          </p:cNvPr>
          <p:cNvSpPr txBox="1"/>
          <p:nvPr/>
        </p:nvSpPr>
        <p:spPr>
          <a:xfrm>
            <a:off x="5630226" y="2635358"/>
            <a:ext cx="2469774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B-JF: Supervisor </a:t>
            </a:r>
            <a:r>
              <a:rPr lang="en-CA" sz="1400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prioritized production over safety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93B6FED-0852-4893-A04B-C42680DFC633}"/>
              </a:ext>
            </a:extLst>
          </p:cNvPr>
          <p:cNvCxnSpPr>
            <a:stCxn id="17" idx="2"/>
            <a:endCxn id="15" idx="0"/>
          </p:cNvCxnSpPr>
          <p:nvPr/>
        </p:nvCxnSpPr>
        <p:spPr>
          <a:xfrm>
            <a:off x="6865113" y="3158578"/>
            <a:ext cx="0" cy="23265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ECEA7C4-5B36-4BEA-A14D-C54C7032D817}"/>
              </a:ext>
            </a:extLst>
          </p:cNvPr>
          <p:cNvCxnSpPr>
            <a:endCxn id="7" idx="0"/>
          </p:cNvCxnSpPr>
          <p:nvPr/>
        </p:nvCxnSpPr>
        <p:spPr>
          <a:xfrm>
            <a:off x="4442226" y="1353703"/>
            <a:ext cx="0" cy="49628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Flowchart: Punched Tape 19">
            <a:extLst>
              <a:ext uri="{FF2B5EF4-FFF2-40B4-BE49-F238E27FC236}">
                <a16:creationId xmlns:a16="http://schemas.microsoft.com/office/drawing/2014/main" id="{7DF51C37-E5C6-4F60-8614-D787F90B28BC}"/>
              </a:ext>
            </a:extLst>
          </p:cNvPr>
          <p:cNvSpPr/>
          <p:nvPr/>
        </p:nvSpPr>
        <p:spPr bwMode="auto">
          <a:xfrm flipH="1">
            <a:off x="4249854" y="1368739"/>
            <a:ext cx="392534" cy="305875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BBE2B0-DA55-4FA6-A7CB-659534911A24}"/>
              </a:ext>
            </a:extLst>
          </p:cNvPr>
          <p:cNvSpPr txBox="1"/>
          <p:nvPr/>
        </p:nvSpPr>
        <p:spPr>
          <a:xfrm>
            <a:off x="4046226" y="2637607"/>
            <a:ext cx="1584000" cy="576000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>
                <a:solidFill>
                  <a:srgbClr val="FF0000"/>
                </a:solidFill>
                <a:cs typeface="Arial" panose="020B0604020202020204" pitchFamily="34" charset="0"/>
              </a:rPr>
              <a:t>Basic Cause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5F9B77-67A7-4F56-8F64-0E807F0F4E50}"/>
              </a:ext>
            </a:extLst>
          </p:cNvPr>
          <p:cNvSpPr txBox="1"/>
          <p:nvPr/>
        </p:nvSpPr>
        <p:spPr>
          <a:xfrm>
            <a:off x="4046226" y="5296973"/>
            <a:ext cx="1584000" cy="576000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dirty="0">
                <a:solidFill>
                  <a:srgbClr val="FF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Latent Cause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47483B-0FA0-4009-BFB6-B2CB20DE41EE}"/>
              </a:ext>
            </a:extLst>
          </p:cNvPr>
          <p:cNvSpPr txBox="1"/>
          <p:nvPr/>
        </p:nvSpPr>
        <p:spPr>
          <a:xfrm>
            <a:off x="5630226" y="5235253"/>
            <a:ext cx="2469774" cy="682682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lIns="36000" tIns="36000" rIns="36000" bIns="0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LC3: Core Safety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Values Communications Program was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not implemented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**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9F08D3-2D0B-475F-8C4D-5E684D8C60A3}"/>
              </a:ext>
            </a:extLst>
          </p:cNvPr>
          <p:cNvSpPr txBox="1"/>
          <p:nvPr/>
        </p:nvSpPr>
        <p:spPr>
          <a:xfrm>
            <a:off x="4046226" y="3470908"/>
            <a:ext cx="1584000" cy="61138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>
                <a:solidFill>
                  <a:srgbClr val="FF0000"/>
                </a:solidFill>
                <a:cs typeface="Arial" panose="020B0604020202020204" pitchFamily="34" charset="0"/>
              </a:rPr>
              <a:t>Intermediate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88433F-EAAA-44D1-A313-E011DDD003EE}"/>
              </a:ext>
            </a:extLst>
          </p:cNvPr>
          <p:cNvSpPr txBox="1"/>
          <p:nvPr/>
        </p:nvSpPr>
        <p:spPr>
          <a:xfrm>
            <a:off x="3003373" y="823172"/>
            <a:ext cx="2952000" cy="504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28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Drilling Down to Latent Causes in the RCA: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32F4B3-F741-481F-9006-1905E5E5DFEE}"/>
              </a:ext>
            </a:extLst>
          </p:cNvPr>
          <p:cNvSpPr txBox="1"/>
          <p:nvPr/>
        </p:nvSpPr>
        <p:spPr>
          <a:xfrm>
            <a:off x="5630227" y="4300600"/>
            <a:ext cx="2469774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Sr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Mngmt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expectations were not in alignment with core safety values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93B6FED-0852-4893-A04B-C42680DFC633}"/>
              </a:ext>
            </a:extLst>
          </p:cNvPr>
          <p:cNvCxnSpPr>
            <a:stCxn id="15" idx="2"/>
            <a:endCxn id="30" idx="0"/>
          </p:cNvCxnSpPr>
          <p:nvPr/>
        </p:nvCxnSpPr>
        <p:spPr>
          <a:xfrm>
            <a:off x="6865113" y="4129897"/>
            <a:ext cx="1" cy="17070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93B6FED-0852-4893-A04B-C42680DFC633}"/>
              </a:ext>
            </a:extLst>
          </p:cNvPr>
          <p:cNvCxnSpPr>
            <a:stCxn id="30" idx="2"/>
            <a:endCxn id="24" idx="0"/>
          </p:cNvCxnSpPr>
          <p:nvPr/>
        </p:nvCxnSpPr>
        <p:spPr>
          <a:xfrm flipH="1">
            <a:off x="6865113" y="5039264"/>
            <a:ext cx="1" cy="195989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F9F08D3-2D0B-475F-8C4D-5E684D8C60A3}"/>
              </a:ext>
            </a:extLst>
          </p:cNvPr>
          <p:cNvSpPr txBox="1"/>
          <p:nvPr/>
        </p:nvSpPr>
        <p:spPr>
          <a:xfrm>
            <a:off x="4046226" y="4361410"/>
            <a:ext cx="1584000" cy="61138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>
                <a:solidFill>
                  <a:srgbClr val="FF0000"/>
                </a:solidFill>
                <a:cs typeface="Arial" panose="020B0604020202020204" pitchFamily="34" charset="0"/>
              </a:rPr>
              <a:t>Intermediate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2B8E651-9E4B-4CED-B8B6-84025A9D5347}"/>
              </a:ext>
            </a:extLst>
          </p:cNvPr>
          <p:cNvSpPr/>
          <p:nvPr/>
        </p:nvSpPr>
        <p:spPr>
          <a:xfrm>
            <a:off x="3808011" y="1849984"/>
            <a:ext cx="4779036" cy="4067952"/>
          </a:xfrm>
          <a:prstGeom prst="roundRect">
            <a:avLst>
              <a:gd name="adj" fmla="val 7793"/>
            </a:avLst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t">
            <a:scene3d>
              <a:camera prst="orthographicFront">
                <a:rot lat="0" lon="0" rev="600000"/>
              </a:camera>
              <a:lightRig rig="threePt" dir="t"/>
            </a:scene3d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878676" y="5882532"/>
            <a:ext cx="680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kern="0" dirty="0">
                <a:solidFill>
                  <a:srgbClr val="FF0000"/>
                </a:solidFill>
                <a:latin typeface="Calibri" panose="020F0502020204030204"/>
              </a:rPr>
              <a:t>** Is this an acceptable latent cause statement</a:t>
            </a:r>
            <a:r>
              <a:rPr lang="en-US" b="1" kern="0" dirty="0" smtClean="0">
                <a:solidFill>
                  <a:srgbClr val="FF0000"/>
                </a:solidFill>
                <a:latin typeface="Calibri" panose="020F0502020204030204"/>
              </a:rPr>
              <a:t>? We will revisit this!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01588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0920BB-4471-4E6F-8D87-D96EFA40618F}"/>
              </a:ext>
            </a:extLst>
          </p:cNvPr>
          <p:cNvSpPr txBox="1"/>
          <p:nvPr/>
        </p:nvSpPr>
        <p:spPr>
          <a:xfrm>
            <a:off x="324000" y="1817541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05B82A-2BA4-4CAB-993C-2B1AA7E470CE}"/>
              </a:ext>
            </a:extLst>
          </p:cNvPr>
          <p:cNvSpPr txBox="1"/>
          <p:nvPr/>
        </p:nvSpPr>
        <p:spPr>
          <a:xfrm>
            <a:off x="2628000" y="1817541"/>
            <a:ext cx="2772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BC-JF: Worker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0" name="Elbow Connector 71">
            <a:extLst>
              <a:ext uri="{FF2B5EF4-FFF2-40B4-BE49-F238E27FC236}">
                <a16:creationId xmlns:a16="http://schemas.microsoft.com/office/drawing/2014/main" id="{6157B0C3-C366-4071-9C93-CD9F9D48D667}"/>
              </a:ext>
            </a:extLst>
          </p:cNvPr>
          <p:cNvCxnSpPr>
            <a:stCxn id="37" idx="2"/>
            <a:endCxn id="14" idx="0"/>
          </p:cNvCxnSpPr>
          <p:nvPr/>
        </p:nvCxnSpPr>
        <p:spPr>
          <a:xfrm rot="16200000" flipH="1">
            <a:off x="5375524" y="11064"/>
            <a:ext cx="426953" cy="3186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8C862CAE-2CD5-422E-B4BA-45F283A8707F}"/>
              </a:ext>
            </a:extLst>
          </p:cNvPr>
          <p:cNvCxnSpPr>
            <a:stCxn id="37" idx="2"/>
            <a:endCxn id="6" idx="0"/>
          </p:cNvCxnSpPr>
          <p:nvPr/>
        </p:nvCxnSpPr>
        <p:spPr>
          <a:xfrm rot="5400000">
            <a:off x="2486524" y="308064"/>
            <a:ext cx="426953" cy="2592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66CCFC9-F10C-4A53-8B3D-D1F8BFE7E715}"/>
              </a:ext>
            </a:extLst>
          </p:cNvPr>
          <p:cNvSpPr txBox="1"/>
          <p:nvPr/>
        </p:nvSpPr>
        <p:spPr>
          <a:xfrm>
            <a:off x="5580000" y="1817541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6E2D7-0F00-401E-93F2-662D6A067F26}"/>
              </a:ext>
            </a:extLst>
          </p:cNvPr>
          <p:cNvSpPr txBox="1"/>
          <p:nvPr/>
        </p:nvSpPr>
        <p:spPr>
          <a:xfrm>
            <a:off x="2628000" y="4194000"/>
            <a:ext cx="2772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Procedures </a:t>
            </a:r>
            <a:r>
              <a:rPr lang="en-CA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were not enforced through audits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5D8AF8-F9DD-4508-9E56-748064DE6CD6}"/>
              </a:ext>
            </a:extLst>
          </p:cNvPr>
          <p:cNvSpPr txBox="1"/>
          <p:nvPr/>
        </p:nvSpPr>
        <p:spPr>
          <a:xfrm>
            <a:off x="2628000" y="4824074"/>
            <a:ext cx="2772000" cy="95410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LC2: The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evaluation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program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did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not include the exclusion zone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procedures on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the audit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schedule.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90F469F-CB33-46C8-BCFD-F1032C01AB5A}"/>
              </a:ext>
            </a:extLst>
          </p:cNvPr>
          <p:cNvCxnSpPr>
            <a:stCxn id="37" idx="2"/>
            <a:endCxn id="7" idx="0"/>
          </p:cNvCxnSpPr>
          <p:nvPr/>
        </p:nvCxnSpPr>
        <p:spPr>
          <a:xfrm>
            <a:off x="3996000" y="1390588"/>
            <a:ext cx="18000" cy="42695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Flowchart: Punched Tape 17">
            <a:extLst>
              <a:ext uri="{FF2B5EF4-FFF2-40B4-BE49-F238E27FC236}">
                <a16:creationId xmlns:a16="http://schemas.microsoft.com/office/drawing/2014/main" id="{FAB05A93-C70A-4D15-87C5-57AF0EAE3C1E}"/>
              </a:ext>
            </a:extLst>
          </p:cNvPr>
          <p:cNvSpPr/>
          <p:nvPr/>
        </p:nvSpPr>
        <p:spPr bwMode="auto">
          <a:xfrm>
            <a:off x="3771059" y="1426654"/>
            <a:ext cx="437760" cy="324152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C57B0A-17D5-4553-BAE2-0881803D2F52}"/>
              </a:ext>
            </a:extLst>
          </p:cNvPr>
          <p:cNvSpPr txBox="1"/>
          <p:nvPr/>
        </p:nvSpPr>
        <p:spPr>
          <a:xfrm>
            <a:off x="5580000" y="4194000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 err="1"/>
              <a:t>Sr</a:t>
            </a:r>
            <a:r>
              <a:rPr lang="en-US" dirty="0"/>
              <a:t> </a:t>
            </a:r>
            <a:r>
              <a:rPr lang="en-US" dirty="0" err="1"/>
              <a:t>Mngmt</a:t>
            </a:r>
            <a:r>
              <a:rPr lang="en-US" dirty="0"/>
              <a:t> expectations were not in alignment with core safety values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F202EC-1D0C-427A-AE0B-470C6433BFFE}"/>
              </a:ext>
            </a:extLst>
          </p:cNvPr>
          <p:cNvSpPr txBox="1"/>
          <p:nvPr/>
        </p:nvSpPr>
        <p:spPr>
          <a:xfrm>
            <a:off x="5580000" y="2480593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BC-</a:t>
            </a:r>
            <a:r>
              <a:rPr lang="en-CA" dirty="0" smtClean="0"/>
              <a:t>PF: </a:t>
            </a: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prioritized production over safety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812618-2149-4C65-9846-69B1C499731C}"/>
              </a:ext>
            </a:extLst>
          </p:cNvPr>
          <p:cNvSpPr txBox="1"/>
          <p:nvPr/>
        </p:nvSpPr>
        <p:spPr>
          <a:xfrm>
            <a:off x="5580000" y="5058000"/>
            <a:ext cx="3204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LC3: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Core Safety Values Communications Program was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not implemented.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**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76F47D-B0EF-4A9A-BC89-C7F5E155D4AB}"/>
              </a:ext>
            </a:extLst>
          </p:cNvPr>
          <p:cNvSpPr txBox="1"/>
          <p:nvPr/>
        </p:nvSpPr>
        <p:spPr>
          <a:xfrm>
            <a:off x="324000" y="5058000"/>
            <a:ext cx="2160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LC1: There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was no training program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mining operations.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4EE6F8-9DA2-4978-BDB0-49A1AA7773E8}"/>
              </a:ext>
            </a:extLst>
          </p:cNvPr>
          <p:cNvSpPr txBox="1"/>
          <p:nvPr/>
        </p:nvSpPr>
        <p:spPr>
          <a:xfrm>
            <a:off x="324000" y="419400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Worker was not trained on those procedures</a:t>
            </a:r>
            <a:endParaRPr lang="en-CA" sz="1400" b="1" kern="0" dirty="0">
              <a:solidFill>
                <a:srgbClr val="000000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157259-BD63-4390-9054-FE19666E5AF9}"/>
              </a:ext>
            </a:extLst>
          </p:cNvPr>
          <p:cNvSpPr txBox="1"/>
          <p:nvPr/>
        </p:nvSpPr>
        <p:spPr>
          <a:xfrm>
            <a:off x="324785" y="826708"/>
            <a:ext cx="926377" cy="523220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FB76E2-854C-475F-ACC2-9DF32D7FB532}"/>
              </a:ext>
            </a:extLst>
          </p:cNvPr>
          <p:cNvSpPr txBox="1"/>
          <p:nvPr/>
        </p:nvSpPr>
        <p:spPr>
          <a:xfrm>
            <a:off x="5580000" y="5778000"/>
            <a:ext cx="3204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#1 MLCA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D31642-1052-4C82-896B-93319CE6D4CB}"/>
              </a:ext>
            </a:extLst>
          </p:cNvPr>
          <p:cNvSpPr txBox="1"/>
          <p:nvPr/>
        </p:nvSpPr>
        <p:spPr>
          <a:xfrm>
            <a:off x="324000" y="5778000"/>
            <a:ext cx="2160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#9 ECT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01610B-9D9E-4D80-A95C-50AEB127B25D}"/>
              </a:ext>
            </a:extLst>
          </p:cNvPr>
          <p:cNvSpPr txBox="1"/>
          <p:nvPr/>
        </p:nvSpPr>
        <p:spPr>
          <a:xfrm>
            <a:off x="2628000" y="5778000"/>
            <a:ext cx="2772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#6 PECI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2F8BA70-E3EC-4436-8AE4-19038D39FBCB}"/>
              </a:ext>
            </a:extLst>
          </p:cNvPr>
          <p:cNvCxnSpPr>
            <a:stCxn id="14" idx="2"/>
            <a:endCxn id="20" idx="0"/>
          </p:cNvCxnSpPr>
          <p:nvPr/>
        </p:nvCxnSpPr>
        <p:spPr>
          <a:xfrm>
            <a:off x="7182000" y="2357541"/>
            <a:ext cx="0" cy="12305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877AC23-2FC7-4B4F-8F38-3C6782AC7DDA}"/>
              </a:ext>
            </a:extLst>
          </p:cNvPr>
          <p:cNvCxnSpPr>
            <a:stCxn id="20" idx="2"/>
            <a:endCxn id="19" idx="0"/>
          </p:cNvCxnSpPr>
          <p:nvPr/>
        </p:nvCxnSpPr>
        <p:spPr>
          <a:xfrm>
            <a:off x="7182000" y="3020593"/>
            <a:ext cx="0" cy="117340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1390A33-0F49-4BD1-B551-AD65511043D4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7182000" y="4734000"/>
            <a:ext cx="0" cy="32400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3954CC5-871E-404A-84D6-16BC7F31733A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4014000" y="4734000"/>
            <a:ext cx="0" cy="90074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BAA94E0-5F0C-4EF1-821C-19607DD2EDF6}"/>
              </a:ext>
            </a:extLst>
          </p:cNvPr>
          <p:cNvCxnSpPr>
            <a:stCxn id="7" idx="2"/>
            <a:endCxn id="15" idx="0"/>
          </p:cNvCxnSpPr>
          <p:nvPr/>
        </p:nvCxnSpPr>
        <p:spPr>
          <a:xfrm>
            <a:off x="4014000" y="2357541"/>
            <a:ext cx="0" cy="1836459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3A333AC-5050-47F1-9749-64B51190833D}"/>
              </a:ext>
            </a:extLst>
          </p:cNvPr>
          <p:cNvCxnSpPr>
            <a:stCxn id="6" idx="2"/>
            <a:endCxn id="23" idx="0"/>
          </p:cNvCxnSpPr>
          <p:nvPr/>
        </p:nvCxnSpPr>
        <p:spPr>
          <a:xfrm>
            <a:off x="1404000" y="2556205"/>
            <a:ext cx="0" cy="163779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409C0A-B43A-477E-87FE-DBAC3DE42C56}"/>
              </a:ext>
            </a:extLst>
          </p:cNvPr>
          <p:cNvCxnSpPr>
            <a:stCxn id="23" idx="2"/>
            <a:endCxn id="22" idx="0"/>
          </p:cNvCxnSpPr>
          <p:nvPr/>
        </p:nvCxnSpPr>
        <p:spPr>
          <a:xfrm>
            <a:off x="1404000" y="4932664"/>
            <a:ext cx="0" cy="12533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2394099-F95E-468B-8009-75E6CE2A46AC}"/>
              </a:ext>
            </a:extLst>
          </p:cNvPr>
          <p:cNvSpPr txBox="1"/>
          <p:nvPr/>
        </p:nvSpPr>
        <p:spPr>
          <a:xfrm>
            <a:off x="1656000" y="136086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C7BDC4-18CB-4EA4-BF83-BE9CC5B51C2A}"/>
              </a:ext>
            </a:extLst>
          </p:cNvPr>
          <p:cNvSpPr txBox="1"/>
          <p:nvPr/>
        </p:nvSpPr>
        <p:spPr>
          <a:xfrm>
            <a:off x="1656000" y="616886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B0BD5D-2A25-46BE-9779-9C83633B10F6}"/>
              </a:ext>
            </a:extLst>
          </p:cNvPr>
          <p:cNvSpPr txBox="1"/>
          <p:nvPr/>
        </p:nvSpPr>
        <p:spPr>
          <a:xfrm>
            <a:off x="1656000" y="1102588"/>
            <a:ext cx="4680000" cy="288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2AC97E-9402-4352-B127-A7232AC138B6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3996000" y="924663"/>
            <a:ext cx="0" cy="17792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FCB8600-C95A-440E-93AF-9DD0B74BD521}"/>
              </a:ext>
            </a:extLst>
          </p:cNvPr>
          <p:cNvCxnSpPr>
            <a:stCxn id="35" idx="2"/>
            <a:endCxn id="36" idx="0"/>
          </p:cNvCxnSpPr>
          <p:nvPr/>
        </p:nvCxnSpPr>
        <p:spPr>
          <a:xfrm>
            <a:off x="3996000" y="443863"/>
            <a:ext cx="0" cy="17302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DF2838B-1CB5-4334-9449-EA2A059AC37B}"/>
              </a:ext>
            </a:extLst>
          </p:cNvPr>
          <p:cNvSpPr txBox="1"/>
          <p:nvPr/>
        </p:nvSpPr>
        <p:spPr>
          <a:xfrm>
            <a:off x="324000" y="182828"/>
            <a:ext cx="926377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Basic Causes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5E4DBE-D70D-4ABC-A0D7-BC9CFD80AC2E}"/>
              </a:ext>
            </a:extLst>
          </p:cNvPr>
          <p:cNvSpPr txBox="1"/>
          <p:nvPr/>
        </p:nvSpPr>
        <p:spPr>
          <a:xfrm>
            <a:off x="5630226" y="3289898"/>
            <a:ext cx="3153774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/>
              <a:t>Supervisor believed that production was paramount over </a:t>
            </a:r>
            <a:r>
              <a:rPr lang="en-US" dirty="0" smtClean="0"/>
              <a:t>safety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6DBAC0-5C45-4B0E-ABBE-985390C41F11}"/>
              </a:ext>
            </a:extLst>
          </p:cNvPr>
          <p:cNvSpPr txBox="1"/>
          <p:nvPr/>
        </p:nvSpPr>
        <p:spPr>
          <a:xfrm rot="1728864">
            <a:off x="6649789" y="687653"/>
            <a:ext cx="2180423" cy="695265"/>
          </a:xfrm>
          <a:prstGeom prst="doubleWave">
            <a:avLst/>
          </a:prstGeom>
          <a:solidFill>
            <a:srgbClr val="00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  <a:t>The RCA Chart </a:t>
            </a:r>
            <a:b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</a:br>
            <a: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  <a:t>is developed!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6DBAC0-5C45-4B0E-ABBE-985390C41F11}"/>
              </a:ext>
            </a:extLst>
          </p:cNvPr>
          <p:cNvSpPr txBox="1"/>
          <p:nvPr/>
        </p:nvSpPr>
        <p:spPr>
          <a:xfrm>
            <a:off x="1618789" y="2840965"/>
            <a:ext cx="2180423" cy="981551"/>
          </a:xfrm>
          <a:prstGeom prst="doubleWave">
            <a:avLst/>
          </a:prstGeom>
          <a:solidFill>
            <a:srgbClr val="00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  <a:t>Improvements! Creating an RCA Chart is an iterative and collaborative activity!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3" name="Straight Arrow Connector 2"/>
          <p:cNvCxnSpPr>
            <a:stCxn id="43" idx="0"/>
          </p:cNvCxnSpPr>
          <p:nvPr/>
        </p:nvCxnSpPr>
        <p:spPr>
          <a:xfrm flipV="1">
            <a:off x="2709001" y="2359512"/>
            <a:ext cx="1039985" cy="542800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43" idx="3"/>
            <a:endCxn id="20" idx="1"/>
          </p:cNvCxnSpPr>
          <p:nvPr/>
        </p:nvCxnSpPr>
        <p:spPr>
          <a:xfrm flipV="1">
            <a:off x="3799212" y="2750593"/>
            <a:ext cx="1780788" cy="581148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3" idx="2"/>
          </p:cNvCxnSpPr>
          <p:nvPr/>
        </p:nvCxnSpPr>
        <p:spPr>
          <a:xfrm flipH="1">
            <a:off x="1566002" y="3761169"/>
            <a:ext cx="1142999" cy="432831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43" idx="3"/>
          </p:cNvCxnSpPr>
          <p:nvPr/>
        </p:nvCxnSpPr>
        <p:spPr>
          <a:xfrm>
            <a:off x="3799212" y="3331741"/>
            <a:ext cx="2094512" cy="862259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43" idx="2"/>
          </p:cNvCxnSpPr>
          <p:nvPr/>
        </p:nvCxnSpPr>
        <p:spPr>
          <a:xfrm>
            <a:off x="2709001" y="3761169"/>
            <a:ext cx="1414112" cy="432831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43" idx="3"/>
            <a:endCxn id="41" idx="1"/>
          </p:cNvCxnSpPr>
          <p:nvPr/>
        </p:nvCxnSpPr>
        <p:spPr>
          <a:xfrm>
            <a:off x="3799212" y="3331741"/>
            <a:ext cx="1831014" cy="219767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55122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Latent Causes and the Risk Management System Elements: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08A9CEE-3BC5-4DAC-8459-477090C6F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061760"/>
            <a:ext cx="8229600" cy="4968240"/>
          </a:xfrm>
          <a:prstGeom prst="rect">
            <a:avLst/>
          </a:prstGeom>
          <a:solidFill>
            <a:srgbClr val="5B9BD5">
              <a:alpha val="70195"/>
            </a:srgbClr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</a:endParaRPr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FCB479F9-FCF3-406D-99DC-A02745E6FB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9814" b="53455"/>
          <a:stretch/>
        </p:blipFill>
        <p:spPr bwMode="auto">
          <a:xfrm>
            <a:off x="597154" y="1109886"/>
            <a:ext cx="4100102" cy="48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5837F"/>
                  </a:outerShdw>
                </a:effectLst>
              </a14:hiddenEffects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2B3D9F-14E4-413A-8C6B-9A2896D621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69249" y="996110"/>
            <a:ext cx="2467961" cy="2451453"/>
          </a:xfrm>
          <a:prstGeom prst="rect">
            <a:avLst/>
          </a:prstGeom>
        </p:spPr>
      </p:pic>
      <p:sp>
        <p:nvSpPr>
          <p:cNvPr id="11" name="Bent Arrow 1">
            <a:extLst>
              <a:ext uri="{FF2B5EF4-FFF2-40B4-BE49-F238E27FC236}">
                <a16:creationId xmlns:a16="http://schemas.microsoft.com/office/drawing/2014/main" id="{76D571C5-5DF7-4AF1-B483-E4FABA959022}"/>
              </a:ext>
            </a:extLst>
          </p:cNvPr>
          <p:cNvSpPr/>
          <p:nvPr/>
        </p:nvSpPr>
        <p:spPr>
          <a:xfrm rot="5400000">
            <a:off x="5156327" y="1199842"/>
            <a:ext cx="1133859" cy="1772095"/>
          </a:xfrm>
          <a:prstGeom prst="bentArrow">
            <a:avLst/>
          </a:prstGeom>
          <a:solidFill>
            <a:srgbClr val="FF00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12A915-4E4B-4189-9209-2A38CC8D2DC8}"/>
              </a:ext>
            </a:extLst>
          </p:cNvPr>
          <p:cNvSpPr txBox="1"/>
          <p:nvPr/>
        </p:nvSpPr>
        <p:spPr>
          <a:xfrm>
            <a:off x="4697257" y="2652816"/>
            <a:ext cx="3989544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prstClr val="black"/>
                </a:solidFill>
                <a:cs typeface="Arial" panose="020B0604020202020204" pitchFamily="34" charset="0"/>
              </a:rPr>
              <a:t>Categories of Latent Causes:</a:t>
            </a:r>
          </a:p>
          <a:p>
            <a:endParaRPr lang="en-US" sz="2000" b="1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prstClr val="black"/>
                </a:solidFill>
                <a:cs typeface="Arial" panose="020B0604020202020204" pitchFamily="34" charset="0"/>
              </a:rPr>
              <a:t>P = Inadequate Program</a:t>
            </a:r>
          </a:p>
          <a:p>
            <a:endParaRPr lang="en-US" sz="2000" b="1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prstClr val="black"/>
                </a:solidFill>
                <a:cs typeface="Arial" panose="020B0604020202020204" pitchFamily="34" charset="0"/>
              </a:rPr>
              <a:t>S = Inadequate Standards</a:t>
            </a:r>
            <a:br>
              <a:rPr lang="en-US" sz="2000" b="1" dirty="0">
                <a:solidFill>
                  <a:prstClr val="black"/>
                </a:solidFill>
                <a:cs typeface="Arial" panose="020B0604020202020204" pitchFamily="34" charset="0"/>
              </a:rPr>
            </a:br>
            <a:r>
              <a:rPr lang="en-US" sz="1600" b="1" i="1" dirty="0">
                <a:solidFill>
                  <a:prstClr val="black"/>
                </a:solidFill>
                <a:cs typeface="Arial" panose="020B0604020202020204" pitchFamily="34" charset="0"/>
              </a:rPr>
              <a:t>(Standard = administrative </a:t>
            </a:r>
            <a:r>
              <a:rPr lang="en-US" sz="1600" b="1" i="1" dirty="0" smtClean="0">
                <a:solidFill>
                  <a:prstClr val="black"/>
                </a:solidFill>
                <a:cs typeface="Arial" panose="020B0604020202020204" pitchFamily="34" charset="0"/>
              </a:rPr>
              <a:t>control)</a:t>
            </a:r>
            <a:endParaRPr lang="en-US" sz="2000" b="1" i="1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endParaRPr lang="en-US" sz="2000" b="1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prstClr val="black"/>
                </a:solidFill>
                <a:cs typeface="Arial" panose="020B0604020202020204" pitchFamily="34" charset="0"/>
              </a:rPr>
              <a:t>C = Inadequate Compliance</a:t>
            </a:r>
          </a:p>
        </p:txBody>
      </p:sp>
    </p:spTree>
    <p:extLst>
      <p:ext uri="{BB962C8B-B14F-4D97-AF65-F5344CB8AC3E}">
        <p14:creationId xmlns:p14="http://schemas.microsoft.com/office/powerpoint/2010/main" val="175352288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[P] Inadequate Program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overall RM Program (policy or high-level direction) and RMS Element that relate to that particular latent 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</a:t>
            </a:r>
            <a:r>
              <a:rPr kumimoji="0" lang="en-CA" altLang="en-US" sz="18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are n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on-existent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or lacking in large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part.</a:t>
            </a: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[S] Inadequate Standards </a:t>
            </a:r>
            <a:r>
              <a:rPr kumimoji="0" lang="en-CA" alt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(of</a:t>
            </a:r>
            <a:r>
              <a:rPr kumimoji="0" lang="en-CA" altLang="en-US" sz="200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program)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</a:p>
          <a:p>
            <a:pPr marL="36000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Program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exists but supporting administrative controls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are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non-existent or inadequate for that particular root of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analysis</a:t>
            </a:r>
          </a:p>
          <a:p>
            <a:pPr marL="36000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administrative controls 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policies, procedures, checklists, schedules) 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document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detail the tasks /  instructions and roles / responsibilities for undertaking activities and managing the risks of those activities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[C] Inadequate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Compliance</a:t>
            </a:r>
            <a:r>
              <a:rPr kumimoji="0" lang="en-CA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CA" alt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(with </a:t>
            </a:r>
            <a:r>
              <a:rPr kumimoji="0" lang="en-CA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program standards</a:t>
            </a:r>
            <a:r>
              <a:rPr kumimoji="0" lang="en-CA" alt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</a:p>
          <a:p>
            <a:pPr marL="36000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Program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supporting documentation exist, but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he </a:t>
            </a: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 practices (the actual execution of the work) 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 </a:t>
            </a: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 comply with the 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requirements as specified in the standard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i.e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not being done or not being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done correctly.</a:t>
            </a: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HINT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: Because the categories of latent causes are </a:t>
            </a:r>
            <a:r>
              <a:rPr kumimoji="0" lang="en-CA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inadequate program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, </a:t>
            </a:r>
            <a:r>
              <a:rPr kumimoji="0" lang="en-CA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inadequate </a:t>
            </a:r>
            <a:r>
              <a:rPr kumimoji="0" lang="en-CA" altLang="en-US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program standards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, and </a:t>
            </a:r>
            <a:r>
              <a:rPr kumimoji="0" lang="en-CA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inadequate </a:t>
            </a:r>
            <a:r>
              <a:rPr kumimoji="0" lang="en-CA" altLang="en-US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compliance </a:t>
            </a:r>
            <a:r>
              <a:rPr lang="en-CA" altLang="en-US" b="1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with program standards</a:t>
            </a: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,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then the latent cause must be expressed in similar terms.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Explanation of LC Categories and Hints on Latent Causes: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405712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Which</a:t>
            </a:r>
            <a:r>
              <a:rPr kumimoji="0" lang="en-US" altLang="en-US" sz="20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Category – P, S, or C?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P, S, or C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category for a latent cause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be determined in an RCA?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Yes – if you have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sufficient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information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which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will likely be the case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the workplace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when </a:t>
            </a:r>
            <a:r>
              <a:rPr kumimoji="0" lang="en-CA" altLang="en-US" sz="20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investigate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lead an RCA, etc.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 – in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absence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information</a:t>
            </a: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i.e.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team project: 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2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will not have sufficient information to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discern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P, S, or C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</a:t>
            </a:r>
            <a:endParaRPr lang="en-CA" altLang="en-US" sz="20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2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your engineering know-how, your </a:t>
            </a:r>
            <a:b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expertise in risk management, and </a:t>
            </a:r>
            <a:b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knowledge of the incident to make reasonable suppositions. 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2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manner in which you state your latent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may reveal whether it is P, S, or C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720000" lvl="2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Per the section “</a:t>
            </a:r>
            <a:r>
              <a:rPr lang="en-US" alt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b) The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Project Perspective, </a:t>
            </a:r>
            <a:r>
              <a:rPr lang="en-US" alt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Context, etc.” in the Team Project Instruction Manual, it should likely be a “S” category</a:t>
            </a:r>
            <a:r>
              <a:rPr lang="en-CA" alt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Categories for Latent Causes – P, S, and C: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282" y="1542407"/>
            <a:ext cx="3202025" cy="298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68377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Example Model for the Set of Categories of Latent Causes: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525D440-980F-4AEE-9EB3-694E72F91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00" y="944880"/>
            <a:ext cx="8229600" cy="4968240"/>
          </a:xfrm>
          <a:prstGeom prst="rect">
            <a:avLst/>
          </a:prstGeom>
          <a:solidFill>
            <a:srgbClr val="5B9BD5">
              <a:alpha val="70195"/>
            </a:srgbClr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ＭＳ Ｐゴシック" panose="020B0600070205080204" pitchFamily="34" charset="-128"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ＭＳ Ｐゴシック" panose="020B0600070205080204" pitchFamily="34" charset="-128"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Large </a:t>
            </a:r>
            <a:r>
              <a:rPr lang="en-US" altLang="en-US" sz="2000" kern="0" dirty="0" smtClean="0">
                <a:solidFill>
                  <a:prstClr val="black"/>
                </a:solidFill>
                <a:ea typeface="ＭＳ Ｐゴシック" panose="020B0600070205080204" pitchFamily="34" charset="-128"/>
              </a:rPr>
              <a:t>grey arrow is </a:t>
            </a:r>
            <a:br>
              <a:rPr lang="en-US" altLang="en-US" sz="2000" kern="0" dirty="0" smtClean="0">
                <a:solidFill>
                  <a:prstClr val="black"/>
                </a:solidFill>
                <a:ea typeface="ＭＳ Ｐゴシック" panose="020B0600070205080204" pitchFamily="34" charset="-128"/>
              </a:rPr>
            </a:br>
            <a:r>
              <a:rPr lang="en-US" altLang="en-US" sz="2000" kern="0" dirty="0" smtClean="0">
                <a:solidFill>
                  <a:prstClr val="black"/>
                </a:solidFill>
                <a:ea typeface="ＭＳ Ｐゴシック" panose="020B0600070205080204" pitchFamily="34" charset="-128"/>
              </a:rPr>
              <a:t>the </a:t>
            </a:r>
            <a:r>
              <a:rPr lang="en-US" altLang="en-US" sz="2000" u="sng" kern="0" dirty="0" smtClean="0">
                <a:solidFill>
                  <a:prstClr val="black"/>
                </a:solidFill>
                <a:ea typeface="ＭＳ Ｐゴシック" panose="020B0600070205080204" pitchFamily="34" charset="-128"/>
              </a:rPr>
              <a:t>d</a:t>
            </a:r>
            <a:r>
              <a:rPr kumimoji="0" lang="en-US" altLang="en-US" sz="2000" b="0" i="0" u="sng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esired</a:t>
            </a:r>
            <a:r>
              <a:rPr kumimoji="0" lang="en-US" altLang="en-US" sz="2000" b="0" i="0" u="sng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 </a:t>
            </a:r>
            <a:r>
              <a:rPr kumimoji="0" lang="en-US" alt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path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 … </a:t>
            </a:r>
            <a:b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</a:b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but may deviate!</a:t>
            </a: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ＭＳ Ｐゴシック" panose="020B0600070205080204" pitchFamily="34" charset="-128"/>
            </a:endParaRPr>
          </a:p>
        </p:txBody>
      </p:sp>
      <p:sp>
        <p:nvSpPr>
          <p:cNvPr id="14" name="Right Arrow 24">
            <a:extLst>
              <a:ext uri="{FF2B5EF4-FFF2-40B4-BE49-F238E27FC236}">
                <a16:creationId xmlns:a16="http://schemas.microsoft.com/office/drawing/2014/main" id="{6044564C-C5C7-47E8-9A4C-3F5C52EAEC70}"/>
              </a:ext>
            </a:extLst>
          </p:cNvPr>
          <p:cNvSpPr/>
          <p:nvPr/>
        </p:nvSpPr>
        <p:spPr>
          <a:xfrm rot="7376752">
            <a:off x="2006322" y="2262206"/>
            <a:ext cx="4032555" cy="1800713"/>
          </a:xfrm>
          <a:prstGeom prst="rightArrow">
            <a:avLst>
              <a:gd name="adj1" fmla="val 34470"/>
              <a:gd name="adj2" fmla="val 63833"/>
            </a:avLst>
          </a:prstGeom>
          <a:solidFill>
            <a:srgbClr val="E7E6E6">
              <a:alpha val="80000"/>
            </a:srgbClr>
          </a:solidFill>
          <a:ln w="38100" cap="flat" cmpd="sng" algn="ctr">
            <a:solidFill>
              <a:srgbClr val="E7E6E6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2994750-31A5-49C7-8FA2-2B793120BDD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9938" y="1160284"/>
            <a:ext cx="4929925" cy="459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43503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Example Model for the Set of Categories of Latent Causes: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105F52F-0D7A-4F25-8EE4-5DA3B58B8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430" y="828000"/>
            <a:ext cx="3772970" cy="5328000"/>
          </a:xfrm>
          <a:prstGeom prst="rect">
            <a:avLst/>
          </a:prstGeom>
          <a:solidFill>
            <a:sysClr val="windowText" lastClr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Apply this concept to our mining case study. For the latent causes, choose the category: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P – inadequate program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S – inadequate standards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C – inadequate compliance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18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#1: MLCA – </a:t>
            </a:r>
            <a:r>
              <a:rPr kumimoji="0" lang="en-US" altLang="en-US" sz="1800" b="0" i="1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Core Safety Values Communications Program was </a:t>
            </a:r>
            <a:r>
              <a:rPr kumimoji="0" lang="en-US" altLang="en-US" sz="1800" b="0" i="1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not implemented.**  </a:t>
            </a:r>
            <a:r>
              <a:rPr kumimoji="0" lang="en-US" altLang="en-US" sz="2000" b="1" i="1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&gt;&gt; </a:t>
            </a:r>
            <a:r>
              <a:rPr kumimoji="0" lang="en-US" altLang="en-US" sz="2000" b="1" i="1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C</a:t>
            </a:r>
            <a:endParaRPr kumimoji="0" lang="en-US" altLang="en-US" sz="20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18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#6: PE&amp;CI – </a:t>
            </a:r>
            <a:r>
              <a:rPr lang="en-US" altLang="en-US" sz="1800" i="1" kern="0" dirty="0" smtClean="0">
                <a:solidFill>
                  <a:prstClr val="white"/>
                </a:solidFill>
                <a:latin typeface="Arial" panose="020B0604020202020204" pitchFamily="34" charset="0"/>
              </a:rPr>
              <a:t>The </a:t>
            </a:r>
            <a:r>
              <a:rPr lang="en-US" altLang="en-US" sz="1800" i="1" kern="0" dirty="0">
                <a:solidFill>
                  <a:prstClr val="white"/>
                </a:solidFill>
                <a:latin typeface="Arial" panose="020B0604020202020204" pitchFamily="34" charset="0"/>
              </a:rPr>
              <a:t>evaluation program did not include the exclusion zone procedures on the auditing schedule.</a:t>
            </a:r>
            <a:r>
              <a:rPr kumimoji="0" lang="en-US" altLang="en-US" sz="1800" b="0" i="1" u="none" strike="noStrike" kern="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kumimoji="0" lang="en-US" altLang="en-US" sz="1800" b="0" i="1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kumimoji="0" lang="en-US" altLang="en-US" sz="20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&gt;&gt; 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18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#9: EC&amp;T – There was no training program for </a:t>
            </a:r>
            <a:r>
              <a:rPr kumimoji="0" lang="en-US" altLang="en-US" sz="1800" b="0" i="1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mining</a:t>
            </a:r>
            <a:r>
              <a:rPr kumimoji="0" lang="en-US" altLang="en-US" sz="1800" b="0" i="1" u="none" strike="noStrike" kern="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operations. </a:t>
            </a:r>
            <a:br>
              <a:rPr kumimoji="0" lang="en-US" altLang="en-US" sz="1800" b="0" i="1" u="none" strike="noStrike" kern="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</a:br>
            <a:r>
              <a:rPr kumimoji="0" lang="en-US" altLang="en-US" sz="2000" b="1" i="1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&gt;&gt; P</a:t>
            </a:r>
            <a:endParaRPr kumimoji="0" lang="en-CA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36EA0BD-D92C-4EF0-9029-9D3DCA444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00" y="828000"/>
            <a:ext cx="4860430" cy="5328000"/>
          </a:xfrm>
          <a:prstGeom prst="rect">
            <a:avLst/>
          </a:prstGeom>
          <a:solidFill>
            <a:srgbClr val="5B9BD5">
              <a:alpha val="70195"/>
            </a:srgbClr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3CBBC0-81EC-4CCA-9EAD-906B236BF86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274" y="970014"/>
            <a:ext cx="4093881" cy="411409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236" y="5084111"/>
            <a:ext cx="4625956" cy="105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550929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0920BB-4471-4E6F-8D87-D96EFA40618F}"/>
              </a:ext>
            </a:extLst>
          </p:cNvPr>
          <p:cNvSpPr txBox="1"/>
          <p:nvPr/>
        </p:nvSpPr>
        <p:spPr>
          <a:xfrm>
            <a:off x="324000" y="1817541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05B82A-2BA4-4CAB-993C-2B1AA7E470CE}"/>
              </a:ext>
            </a:extLst>
          </p:cNvPr>
          <p:cNvSpPr txBox="1"/>
          <p:nvPr/>
        </p:nvSpPr>
        <p:spPr>
          <a:xfrm>
            <a:off x="2628000" y="1817541"/>
            <a:ext cx="2772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BC-JF: Worker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0" name="Elbow Connector 71">
            <a:extLst>
              <a:ext uri="{FF2B5EF4-FFF2-40B4-BE49-F238E27FC236}">
                <a16:creationId xmlns:a16="http://schemas.microsoft.com/office/drawing/2014/main" id="{6157B0C3-C366-4071-9C93-CD9F9D48D667}"/>
              </a:ext>
            </a:extLst>
          </p:cNvPr>
          <p:cNvCxnSpPr>
            <a:stCxn id="37" idx="2"/>
            <a:endCxn id="14" idx="0"/>
          </p:cNvCxnSpPr>
          <p:nvPr/>
        </p:nvCxnSpPr>
        <p:spPr>
          <a:xfrm rot="16200000" flipH="1">
            <a:off x="5375524" y="11064"/>
            <a:ext cx="426953" cy="3186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8C862CAE-2CD5-422E-B4BA-45F283A8707F}"/>
              </a:ext>
            </a:extLst>
          </p:cNvPr>
          <p:cNvCxnSpPr>
            <a:stCxn id="37" idx="2"/>
            <a:endCxn id="6" idx="0"/>
          </p:cNvCxnSpPr>
          <p:nvPr/>
        </p:nvCxnSpPr>
        <p:spPr>
          <a:xfrm rot="5400000">
            <a:off x="2486524" y="308064"/>
            <a:ext cx="426953" cy="2592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66CCFC9-F10C-4A53-8B3D-D1F8BFE7E715}"/>
              </a:ext>
            </a:extLst>
          </p:cNvPr>
          <p:cNvSpPr txBox="1"/>
          <p:nvPr/>
        </p:nvSpPr>
        <p:spPr>
          <a:xfrm>
            <a:off x="5580000" y="1817541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6E2D7-0F00-401E-93F2-662D6A067F26}"/>
              </a:ext>
            </a:extLst>
          </p:cNvPr>
          <p:cNvSpPr txBox="1"/>
          <p:nvPr/>
        </p:nvSpPr>
        <p:spPr>
          <a:xfrm>
            <a:off x="2628000" y="4194000"/>
            <a:ext cx="2772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Procedures </a:t>
            </a:r>
            <a:r>
              <a:rPr lang="en-CA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were not enforced through audits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5D8AF8-F9DD-4508-9E56-748064DE6CD6}"/>
              </a:ext>
            </a:extLst>
          </p:cNvPr>
          <p:cNvSpPr txBox="1"/>
          <p:nvPr/>
        </p:nvSpPr>
        <p:spPr>
          <a:xfrm>
            <a:off x="2628000" y="4834707"/>
            <a:ext cx="2772000" cy="95410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LC2: The evaluation program did not include the exclusion zone procedures on the auditing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schedule.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90F469F-CB33-46C8-BCFD-F1032C01AB5A}"/>
              </a:ext>
            </a:extLst>
          </p:cNvPr>
          <p:cNvCxnSpPr>
            <a:stCxn id="37" idx="2"/>
            <a:endCxn id="7" idx="0"/>
          </p:cNvCxnSpPr>
          <p:nvPr/>
        </p:nvCxnSpPr>
        <p:spPr>
          <a:xfrm>
            <a:off x="3996000" y="1390588"/>
            <a:ext cx="18000" cy="42695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Flowchart: Punched Tape 17">
            <a:extLst>
              <a:ext uri="{FF2B5EF4-FFF2-40B4-BE49-F238E27FC236}">
                <a16:creationId xmlns:a16="http://schemas.microsoft.com/office/drawing/2014/main" id="{FAB05A93-C70A-4D15-87C5-57AF0EAE3C1E}"/>
              </a:ext>
            </a:extLst>
          </p:cNvPr>
          <p:cNvSpPr/>
          <p:nvPr/>
        </p:nvSpPr>
        <p:spPr bwMode="auto">
          <a:xfrm>
            <a:off x="3771059" y="1426654"/>
            <a:ext cx="437760" cy="324152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C57B0A-17D5-4553-BAE2-0881803D2F52}"/>
              </a:ext>
            </a:extLst>
          </p:cNvPr>
          <p:cNvSpPr txBox="1"/>
          <p:nvPr/>
        </p:nvSpPr>
        <p:spPr>
          <a:xfrm>
            <a:off x="5580000" y="4194000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 err="1"/>
              <a:t>Sr</a:t>
            </a:r>
            <a:r>
              <a:rPr lang="en-US" dirty="0"/>
              <a:t> </a:t>
            </a:r>
            <a:r>
              <a:rPr lang="en-US" dirty="0" err="1"/>
              <a:t>Mngmt</a:t>
            </a:r>
            <a:r>
              <a:rPr lang="en-US" dirty="0"/>
              <a:t> expectations were not in alignment with core safety values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F202EC-1D0C-427A-AE0B-470C6433BFFE}"/>
              </a:ext>
            </a:extLst>
          </p:cNvPr>
          <p:cNvSpPr txBox="1"/>
          <p:nvPr/>
        </p:nvSpPr>
        <p:spPr>
          <a:xfrm>
            <a:off x="5580000" y="2480593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BC-</a:t>
            </a:r>
            <a:r>
              <a:rPr lang="en-CA" dirty="0" smtClean="0"/>
              <a:t>PF: </a:t>
            </a: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prioritized production over safety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812618-2149-4C65-9846-69B1C499731C}"/>
              </a:ext>
            </a:extLst>
          </p:cNvPr>
          <p:cNvSpPr txBox="1"/>
          <p:nvPr/>
        </p:nvSpPr>
        <p:spPr>
          <a:xfrm>
            <a:off x="5580000" y="5058000"/>
            <a:ext cx="3204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LC3-C: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Core Safety Values Communications Program was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not implemented.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**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76F47D-B0EF-4A9A-BC89-C7F5E155D4AB}"/>
              </a:ext>
            </a:extLst>
          </p:cNvPr>
          <p:cNvSpPr txBox="1"/>
          <p:nvPr/>
        </p:nvSpPr>
        <p:spPr>
          <a:xfrm>
            <a:off x="324000" y="5058000"/>
            <a:ext cx="2160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LC1-P: There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was no training program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mining operations.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4EE6F8-9DA2-4978-BDB0-49A1AA7773E8}"/>
              </a:ext>
            </a:extLst>
          </p:cNvPr>
          <p:cNvSpPr txBox="1"/>
          <p:nvPr/>
        </p:nvSpPr>
        <p:spPr>
          <a:xfrm>
            <a:off x="324000" y="419400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Worker was not trained on those procedures</a:t>
            </a:r>
            <a:endParaRPr lang="en-CA" sz="1400" b="1" kern="0" dirty="0">
              <a:solidFill>
                <a:srgbClr val="000000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FB76E2-854C-475F-ACC2-9DF32D7FB532}"/>
              </a:ext>
            </a:extLst>
          </p:cNvPr>
          <p:cNvSpPr txBox="1"/>
          <p:nvPr/>
        </p:nvSpPr>
        <p:spPr>
          <a:xfrm>
            <a:off x="5580000" y="5778000"/>
            <a:ext cx="3204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#1 MLCA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D31642-1052-4C82-896B-93319CE6D4CB}"/>
              </a:ext>
            </a:extLst>
          </p:cNvPr>
          <p:cNvSpPr txBox="1"/>
          <p:nvPr/>
        </p:nvSpPr>
        <p:spPr>
          <a:xfrm>
            <a:off x="324000" y="5778000"/>
            <a:ext cx="2160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#9 ECT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01610B-9D9E-4D80-A95C-50AEB127B25D}"/>
              </a:ext>
            </a:extLst>
          </p:cNvPr>
          <p:cNvSpPr txBox="1"/>
          <p:nvPr/>
        </p:nvSpPr>
        <p:spPr>
          <a:xfrm>
            <a:off x="2628000" y="5778000"/>
            <a:ext cx="2772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#6 PECI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2F8BA70-E3EC-4436-8AE4-19038D39FBCB}"/>
              </a:ext>
            </a:extLst>
          </p:cNvPr>
          <p:cNvCxnSpPr>
            <a:stCxn id="14" idx="2"/>
            <a:endCxn id="20" idx="0"/>
          </p:cNvCxnSpPr>
          <p:nvPr/>
        </p:nvCxnSpPr>
        <p:spPr>
          <a:xfrm>
            <a:off x="7182000" y="2357541"/>
            <a:ext cx="0" cy="12305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877AC23-2FC7-4B4F-8F38-3C6782AC7DDA}"/>
              </a:ext>
            </a:extLst>
          </p:cNvPr>
          <p:cNvCxnSpPr>
            <a:stCxn id="20" idx="2"/>
            <a:endCxn id="19" idx="0"/>
          </p:cNvCxnSpPr>
          <p:nvPr/>
        </p:nvCxnSpPr>
        <p:spPr>
          <a:xfrm>
            <a:off x="7182000" y="3020593"/>
            <a:ext cx="0" cy="117340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1390A33-0F49-4BD1-B551-AD65511043D4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7182000" y="4734000"/>
            <a:ext cx="0" cy="32400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3954CC5-871E-404A-84D6-16BC7F31733A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4014000" y="4734000"/>
            <a:ext cx="0" cy="10070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BAA94E0-5F0C-4EF1-821C-19607DD2EDF6}"/>
              </a:ext>
            </a:extLst>
          </p:cNvPr>
          <p:cNvCxnSpPr>
            <a:stCxn id="7" idx="2"/>
            <a:endCxn id="15" idx="0"/>
          </p:cNvCxnSpPr>
          <p:nvPr/>
        </p:nvCxnSpPr>
        <p:spPr>
          <a:xfrm>
            <a:off x="4014000" y="2357541"/>
            <a:ext cx="0" cy="1836459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3A333AC-5050-47F1-9749-64B51190833D}"/>
              </a:ext>
            </a:extLst>
          </p:cNvPr>
          <p:cNvCxnSpPr>
            <a:stCxn id="6" idx="2"/>
            <a:endCxn id="23" idx="0"/>
          </p:cNvCxnSpPr>
          <p:nvPr/>
        </p:nvCxnSpPr>
        <p:spPr>
          <a:xfrm>
            <a:off x="1404000" y="2556205"/>
            <a:ext cx="0" cy="163779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409C0A-B43A-477E-87FE-DBAC3DE42C56}"/>
              </a:ext>
            </a:extLst>
          </p:cNvPr>
          <p:cNvCxnSpPr>
            <a:stCxn id="23" idx="2"/>
            <a:endCxn id="22" idx="0"/>
          </p:cNvCxnSpPr>
          <p:nvPr/>
        </p:nvCxnSpPr>
        <p:spPr>
          <a:xfrm>
            <a:off x="1404000" y="4932664"/>
            <a:ext cx="0" cy="12533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2394099-F95E-468B-8009-75E6CE2A46AC}"/>
              </a:ext>
            </a:extLst>
          </p:cNvPr>
          <p:cNvSpPr txBox="1"/>
          <p:nvPr/>
        </p:nvSpPr>
        <p:spPr>
          <a:xfrm>
            <a:off x="1656000" y="136086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C7BDC4-18CB-4EA4-BF83-BE9CC5B51C2A}"/>
              </a:ext>
            </a:extLst>
          </p:cNvPr>
          <p:cNvSpPr txBox="1"/>
          <p:nvPr/>
        </p:nvSpPr>
        <p:spPr>
          <a:xfrm>
            <a:off x="1656000" y="616886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B0BD5D-2A25-46BE-9779-9C83633B10F6}"/>
              </a:ext>
            </a:extLst>
          </p:cNvPr>
          <p:cNvSpPr txBox="1"/>
          <p:nvPr/>
        </p:nvSpPr>
        <p:spPr>
          <a:xfrm>
            <a:off x="1656000" y="1102588"/>
            <a:ext cx="4680000" cy="288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2AC97E-9402-4352-B127-A7232AC138B6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3996000" y="924663"/>
            <a:ext cx="0" cy="17792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FCB8600-C95A-440E-93AF-9DD0B74BD521}"/>
              </a:ext>
            </a:extLst>
          </p:cNvPr>
          <p:cNvCxnSpPr>
            <a:stCxn id="35" idx="2"/>
            <a:endCxn id="36" idx="0"/>
          </p:cNvCxnSpPr>
          <p:nvPr/>
        </p:nvCxnSpPr>
        <p:spPr>
          <a:xfrm>
            <a:off x="3996000" y="443863"/>
            <a:ext cx="0" cy="17302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85E4DBE-D70D-4ABC-A0D7-BC9CFD80AC2E}"/>
              </a:ext>
            </a:extLst>
          </p:cNvPr>
          <p:cNvSpPr txBox="1"/>
          <p:nvPr/>
        </p:nvSpPr>
        <p:spPr>
          <a:xfrm>
            <a:off x="5630226" y="3289898"/>
            <a:ext cx="3153774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/>
              <a:t>Supervisor believed that production was paramount over </a:t>
            </a:r>
            <a:r>
              <a:rPr lang="en-US" dirty="0" smtClean="0"/>
              <a:t>safety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6DBAC0-5C45-4B0E-ABBE-985390C41F11}"/>
              </a:ext>
            </a:extLst>
          </p:cNvPr>
          <p:cNvSpPr txBox="1"/>
          <p:nvPr/>
        </p:nvSpPr>
        <p:spPr>
          <a:xfrm rot="1728864">
            <a:off x="6649789" y="687653"/>
            <a:ext cx="2180423" cy="695265"/>
          </a:xfrm>
          <a:prstGeom prst="doubleWave">
            <a:avLst/>
          </a:prstGeom>
          <a:solidFill>
            <a:srgbClr val="00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  <a:t>The RCA Chart </a:t>
            </a:r>
            <a:b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</a:br>
            <a: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  <a:t>is </a:t>
            </a:r>
            <a:r>
              <a:rPr lang="en-US" sz="1400" u="sng" kern="0" noProof="0" dirty="0" smtClean="0">
                <a:solidFill>
                  <a:prstClr val="black"/>
                </a:solidFill>
                <a:latin typeface="Calibri" panose="020F0502020204030204"/>
              </a:rPr>
              <a:t>further</a:t>
            </a:r>
            <a: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  <a:t> developed!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6DBAC0-5C45-4B0E-ABBE-985390C41F11}"/>
              </a:ext>
            </a:extLst>
          </p:cNvPr>
          <p:cNvSpPr txBox="1"/>
          <p:nvPr/>
        </p:nvSpPr>
        <p:spPr>
          <a:xfrm>
            <a:off x="1618789" y="2840965"/>
            <a:ext cx="2180423" cy="981551"/>
          </a:xfrm>
          <a:prstGeom prst="doubleWave">
            <a:avLst/>
          </a:prstGeom>
          <a:solidFill>
            <a:srgbClr val="00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  <a:t>Latent causes are numbered, categorized, and aligned with an RME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46" name="Straight Arrow Connector 45"/>
          <p:cNvCxnSpPr>
            <a:stCxn id="43" idx="2"/>
          </p:cNvCxnSpPr>
          <p:nvPr/>
        </p:nvCxnSpPr>
        <p:spPr>
          <a:xfrm flipH="1">
            <a:off x="1828800" y="3761169"/>
            <a:ext cx="880201" cy="1296831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43" idx="2"/>
            <a:endCxn id="21" idx="0"/>
          </p:cNvCxnSpPr>
          <p:nvPr/>
        </p:nvCxnSpPr>
        <p:spPr>
          <a:xfrm>
            <a:off x="2709001" y="3761169"/>
            <a:ext cx="4472999" cy="1296831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43" idx="2"/>
            <a:endCxn id="16" idx="0"/>
          </p:cNvCxnSpPr>
          <p:nvPr/>
        </p:nvCxnSpPr>
        <p:spPr>
          <a:xfrm>
            <a:off x="2709001" y="3761169"/>
            <a:ext cx="1304999" cy="1073538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3157259-BD63-4390-9054-FE19666E5AF9}"/>
              </a:ext>
            </a:extLst>
          </p:cNvPr>
          <p:cNvSpPr txBox="1"/>
          <p:nvPr/>
        </p:nvSpPr>
        <p:spPr>
          <a:xfrm>
            <a:off x="7423069" y="409144"/>
            <a:ext cx="1496487" cy="30777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F2838B-1CB5-4334-9449-EA2A059AC37B}"/>
              </a:ext>
            </a:extLst>
          </p:cNvPr>
          <p:cNvSpPr txBox="1"/>
          <p:nvPr/>
        </p:nvSpPr>
        <p:spPr>
          <a:xfrm>
            <a:off x="7423069" y="67952"/>
            <a:ext cx="1496487" cy="30777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Basic Causes</a:t>
            </a:r>
          </a:p>
        </p:txBody>
      </p:sp>
    </p:spTree>
    <p:extLst>
      <p:ext uri="{BB962C8B-B14F-4D97-AF65-F5344CB8AC3E}">
        <p14:creationId xmlns:p14="http://schemas.microsoft.com/office/powerpoint/2010/main" val="382269244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128BF6-C393-462B-B6BF-43934AF74B8B}"/>
              </a:ext>
            </a:extLst>
          </p:cNvPr>
          <p:cNvSpPr txBox="1"/>
          <p:nvPr/>
        </p:nvSpPr>
        <p:spPr>
          <a:xfrm>
            <a:off x="324000" y="257400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was not aware of exclusion zone procedures</a:t>
            </a:r>
          </a:p>
        </p:txBody>
      </p: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DC645BFC-A53A-433A-A331-E9738EE5BB15}"/>
              </a:ext>
            </a:extLst>
          </p:cNvPr>
          <p:cNvCxnSpPr>
            <a:stCxn id="18" idx="2"/>
            <a:endCxn id="6" idx="0"/>
          </p:cNvCxnSpPr>
          <p:nvPr/>
        </p:nvCxnSpPr>
        <p:spPr>
          <a:xfrm rot="5400000">
            <a:off x="2540389" y="1112293"/>
            <a:ext cx="325319" cy="259809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Flowchart: Punched Tape 17">
            <a:extLst>
              <a:ext uri="{FF2B5EF4-FFF2-40B4-BE49-F238E27FC236}">
                <a16:creationId xmlns:a16="http://schemas.microsoft.com/office/drawing/2014/main" id="{FEC9E394-BC26-4511-B1D1-26ADBF19649E}"/>
              </a:ext>
            </a:extLst>
          </p:cNvPr>
          <p:cNvSpPr/>
          <p:nvPr/>
        </p:nvSpPr>
        <p:spPr bwMode="auto">
          <a:xfrm>
            <a:off x="3783215" y="1956944"/>
            <a:ext cx="437760" cy="324152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9189C8-3570-4889-8450-F7F4C36961C8}"/>
              </a:ext>
            </a:extLst>
          </p:cNvPr>
          <p:cNvSpPr txBox="1"/>
          <p:nvPr/>
        </p:nvSpPr>
        <p:spPr>
          <a:xfrm>
            <a:off x="324000" y="5182695"/>
            <a:ext cx="2160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LC1-P: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There was no training program for mining operations.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5273BF-A824-4203-9910-398DBEB54A20}"/>
              </a:ext>
            </a:extLst>
          </p:cNvPr>
          <p:cNvSpPr txBox="1"/>
          <p:nvPr/>
        </p:nvSpPr>
        <p:spPr>
          <a:xfrm>
            <a:off x="324000" y="381161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Worker was not trained on those procedures</a:t>
            </a:r>
            <a:endParaRPr lang="en-CA" sz="1400" b="1" kern="0" dirty="0">
              <a:solidFill>
                <a:srgbClr val="000000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712BCC-993B-4DA5-BA93-DB3BE0B0FBAB}"/>
              </a:ext>
            </a:extLst>
          </p:cNvPr>
          <p:cNvSpPr txBox="1"/>
          <p:nvPr/>
        </p:nvSpPr>
        <p:spPr>
          <a:xfrm>
            <a:off x="324000" y="5902695"/>
            <a:ext cx="2160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#9 ECT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9FFAB3D-0C19-4C1C-A1DD-707BE54E15D1}"/>
              </a:ext>
            </a:extLst>
          </p:cNvPr>
          <p:cNvCxnSpPr/>
          <p:nvPr/>
        </p:nvCxnSpPr>
        <p:spPr>
          <a:xfrm>
            <a:off x="7182000" y="3114000"/>
            <a:ext cx="0" cy="24774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858B08E-EB4A-450F-992F-40DD734865BC}"/>
              </a:ext>
            </a:extLst>
          </p:cNvPr>
          <p:cNvCxnSpPr>
            <a:stCxn id="6" idx="2"/>
            <a:endCxn id="23" idx="0"/>
          </p:cNvCxnSpPr>
          <p:nvPr/>
        </p:nvCxnSpPr>
        <p:spPr>
          <a:xfrm>
            <a:off x="1404000" y="3312664"/>
            <a:ext cx="0" cy="49894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C457820-8925-4DC7-A814-CCC9569E4DED}"/>
              </a:ext>
            </a:extLst>
          </p:cNvPr>
          <p:cNvCxnSpPr>
            <a:stCxn id="23" idx="2"/>
            <a:endCxn id="22" idx="0"/>
          </p:cNvCxnSpPr>
          <p:nvPr/>
        </p:nvCxnSpPr>
        <p:spPr>
          <a:xfrm>
            <a:off x="1404000" y="4550274"/>
            <a:ext cx="0" cy="63242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C978834-B42F-4EA4-A5BD-C34E42CC02C7}"/>
              </a:ext>
            </a:extLst>
          </p:cNvPr>
          <p:cNvSpPr txBox="1"/>
          <p:nvPr/>
        </p:nvSpPr>
        <p:spPr>
          <a:xfrm>
            <a:off x="1656000" y="393780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9F7831-1718-4A4C-83DD-CBA8DE3DE8F0}"/>
              </a:ext>
            </a:extLst>
          </p:cNvPr>
          <p:cNvSpPr txBox="1"/>
          <p:nvPr/>
        </p:nvSpPr>
        <p:spPr>
          <a:xfrm>
            <a:off x="1656000" y="932771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373565-6748-4359-9A82-6531A1797149}"/>
              </a:ext>
            </a:extLst>
          </p:cNvPr>
          <p:cNvSpPr txBox="1"/>
          <p:nvPr/>
        </p:nvSpPr>
        <p:spPr>
          <a:xfrm>
            <a:off x="1656000" y="1418473"/>
            <a:ext cx="4680000" cy="288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8999633-6DA9-4246-B17C-E506CD4CFF21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3996000" y="1240548"/>
            <a:ext cx="0" cy="17792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B6DE855-15A6-4D25-AE5C-CE7592B70C84}"/>
              </a:ext>
            </a:extLst>
          </p:cNvPr>
          <p:cNvCxnSpPr>
            <a:stCxn id="37" idx="2"/>
            <a:endCxn id="18" idx="0"/>
          </p:cNvCxnSpPr>
          <p:nvPr/>
        </p:nvCxnSpPr>
        <p:spPr>
          <a:xfrm>
            <a:off x="3996000" y="1706473"/>
            <a:ext cx="6095" cy="28288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C6DBAC0-5C45-4B0E-ABBE-985390C41F11}"/>
              </a:ext>
            </a:extLst>
          </p:cNvPr>
          <p:cNvSpPr txBox="1"/>
          <p:nvPr/>
        </p:nvSpPr>
        <p:spPr>
          <a:xfrm rot="20255873">
            <a:off x="3170861" y="2640923"/>
            <a:ext cx="4979235" cy="2576572"/>
          </a:xfrm>
          <a:prstGeom prst="doubleWave">
            <a:avLst/>
          </a:prstGeom>
          <a:solidFill>
            <a:srgbClr val="00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Revisit </a:t>
            </a:r>
            <a:r>
              <a:rPr kumimoji="0" 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One Basic Cause in 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the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“Mine Loss RCA”</a:t>
            </a:r>
          </a:p>
        </p:txBody>
      </p:sp>
      <p:sp>
        <p:nvSpPr>
          <p:cNvPr id="43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Examples of Latent Causes in Different</a:t>
            </a:r>
            <a:r>
              <a:rPr kumimoji="0" lang="en-CA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Categories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157259-BD63-4390-9054-FE19666E5AF9}"/>
              </a:ext>
            </a:extLst>
          </p:cNvPr>
          <p:cNvSpPr txBox="1"/>
          <p:nvPr/>
        </p:nvSpPr>
        <p:spPr>
          <a:xfrm>
            <a:off x="7423069" y="1232105"/>
            <a:ext cx="1496487" cy="30777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F2838B-1CB5-4334-9449-EA2A059AC37B}"/>
              </a:ext>
            </a:extLst>
          </p:cNvPr>
          <p:cNvSpPr txBox="1"/>
          <p:nvPr/>
        </p:nvSpPr>
        <p:spPr>
          <a:xfrm>
            <a:off x="7423069" y="890913"/>
            <a:ext cx="1496487" cy="30777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Basic Causes</a:t>
            </a:r>
          </a:p>
        </p:txBody>
      </p:sp>
    </p:spTree>
    <p:extLst>
      <p:ext uri="{BB962C8B-B14F-4D97-AF65-F5344CB8AC3E}">
        <p14:creationId xmlns:p14="http://schemas.microsoft.com/office/powerpoint/2010/main" val="127696935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128BF6-C393-462B-B6BF-43934AF74B8B}"/>
              </a:ext>
            </a:extLst>
          </p:cNvPr>
          <p:cNvSpPr txBox="1"/>
          <p:nvPr/>
        </p:nvSpPr>
        <p:spPr>
          <a:xfrm>
            <a:off x="324000" y="2482557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was not aware of exclusion zone procedures</a:t>
            </a:r>
          </a:p>
        </p:txBody>
      </p: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DC645BFC-A53A-433A-A331-E9738EE5BB15}"/>
              </a:ext>
            </a:extLst>
          </p:cNvPr>
          <p:cNvCxnSpPr>
            <a:stCxn id="37" idx="2"/>
            <a:endCxn id="6" idx="0"/>
          </p:cNvCxnSpPr>
          <p:nvPr/>
        </p:nvCxnSpPr>
        <p:spPr>
          <a:xfrm rot="5400000">
            <a:off x="1084010" y="2162566"/>
            <a:ext cx="639981" cy="127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Flowchart: Punched Tape 17">
            <a:extLst>
              <a:ext uri="{FF2B5EF4-FFF2-40B4-BE49-F238E27FC236}">
                <a16:creationId xmlns:a16="http://schemas.microsoft.com/office/drawing/2014/main" id="{FEC9E394-BC26-4511-B1D1-26ADBF19649E}"/>
              </a:ext>
            </a:extLst>
          </p:cNvPr>
          <p:cNvSpPr/>
          <p:nvPr/>
        </p:nvSpPr>
        <p:spPr bwMode="auto">
          <a:xfrm>
            <a:off x="1185120" y="1950084"/>
            <a:ext cx="437760" cy="324152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9189C8-3570-4889-8450-F7F4C36961C8}"/>
              </a:ext>
            </a:extLst>
          </p:cNvPr>
          <p:cNvSpPr txBox="1"/>
          <p:nvPr/>
        </p:nvSpPr>
        <p:spPr>
          <a:xfrm>
            <a:off x="324000" y="5182695"/>
            <a:ext cx="2160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LC1-P: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There was no training program for mining operations.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5273BF-A824-4203-9910-398DBEB54A20}"/>
              </a:ext>
            </a:extLst>
          </p:cNvPr>
          <p:cNvSpPr txBox="1"/>
          <p:nvPr/>
        </p:nvSpPr>
        <p:spPr>
          <a:xfrm>
            <a:off x="324000" y="3429224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Worker was not trained on those procedures</a:t>
            </a:r>
            <a:endParaRPr lang="en-CA" sz="1400" b="1" kern="0" dirty="0">
              <a:solidFill>
                <a:srgbClr val="000000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712BCC-993B-4DA5-BA93-DB3BE0B0FBAB}"/>
              </a:ext>
            </a:extLst>
          </p:cNvPr>
          <p:cNvSpPr txBox="1"/>
          <p:nvPr/>
        </p:nvSpPr>
        <p:spPr>
          <a:xfrm>
            <a:off x="324000" y="5902695"/>
            <a:ext cx="2160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#9 ECT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858B08E-EB4A-450F-992F-40DD734865BC}"/>
              </a:ext>
            </a:extLst>
          </p:cNvPr>
          <p:cNvCxnSpPr>
            <a:stCxn id="6" idx="2"/>
            <a:endCxn id="23" idx="0"/>
          </p:cNvCxnSpPr>
          <p:nvPr/>
        </p:nvCxnSpPr>
        <p:spPr>
          <a:xfrm>
            <a:off x="1404000" y="3221221"/>
            <a:ext cx="0" cy="20800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C457820-8925-4DC7-A814-CCC9569E4DED}"/>
              </a:ext>
            </a:extLst>
          </p:cNvPr>
          <p:cNvCxnSpPr>
            <a:stCxn id="23" idx="2"/>
            <a:endCxn id="22" idx="0"/>
          </p:cNvCxnSpPr>
          <p:nvPr/>
        </p:nvCxnSpPr>
        <p:spPr>
          <a:xfrm>
            <a:off x="1404000" y="4167888"/>
            <a:ext cx="0" cy="101480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F373565-6748-4359-9A82-6531A1797149}"/>
              </a:ext>
            </a:extLst>
          </p:cNvPr>
          <p:cNvSpPr txBox="1"/>
          <p:nvPr/>
        </p:nvSpPr>
        <p:spPr>
          <a:xfrm>
            <a:off x="324000" y="1103912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8999633-6DA9-4246-B17C-E506CD4CFF21}"/>
              </a:ext>
            </a:extLst>
          </p:cNvPr>
          <p:cNvCxnSpPr>
            <a:endCxn id="37" idx="0"/>
          </p:cNvCxnSpPr>
          <p:nvPr/>
        </p:nvCxnSpPr>
        <p:spPr>
          <a:xfrm>
            <a:off x="1397650" y="769865"/>
            <a:ext cx="6350" cy="33404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dash"/>
            <a:miter lim="800000"/>
            <a:tailEnd type="triangle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3A4122D-0D6D-437C-8891-A00AD6D330D9}"/>
              </a:ext>
            </a:extLst>
          </p:cNvPr>
          <p:cNvSpPr txBox="1"/>
          <p:nvPr/>
        </p:nvSpPr>
        <p:spPr>
          <a:xfrm>
            <a:off x="2817753" y="5040000"/>
            <a:ext cx="2160000" cy="95410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LC4-S: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employee training program did not include exclusion zone procedures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429F09-1D40-4F01-A8DC-CD621288E298}"/>
              </a:ext>
            </a:extLst>
          </p:cNvPr>
          <p:cNvSpPr txBox="1"/>
          <p:nvPr/>
        </p:nvSpPr>
        <p:spPr>
          <a:xfrm>
            <a:off x="2817753" y="5919317"/>
            <a:ext cx="2160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#9 ECT</a:t>
            </a:r>
          </a:p>
        </p:txBody>
      </p:sp>
      <p:cxnSp>
        <p:nvCxnSpPr>
          <p:cNvPr id="43" name="Elbow Connector 71">
            <a:extLst>
              <a:ext uri="{FF2B5EF4-FFF2-40B4-BE49-F238E27FC236}">
                <a16:creationId xmlns:a16="http://schemas.microsoft.com/office/drawing/2014/main" id="{3BD3BC86-A75D-44DD-A48D-C6876A139EDC}"/>
              </a:ext>
            </a:extLst>
          </p:cNvPr>
          <p:cNvCxnSpPr>
            <a:stCxn id="42" idx="2"/>
            <a:endCxn id="29" idx="0"/>
          </p:cNvCxnSpPr>
          <p:nvPr/>
        </p:nvCxnSpPr>
        <p:spPr>
          <a:xfrm rot="16200000" flipH="1">
            <a:off x="2443678" y="3585924"/>
            <a:ext cx="414397" cy="2493753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2" name="Flowchart: Punched Tape 41">
            <a:extLst>
              <a:ext uri="{FF2B5EF4-FFF2-40B4-BE49-F238E27FC236}">
                <a16:creationId xmlns:a16="http://schemas.microsoft.com/office/drawing/2014/main" id="{FEC9E394-BC26-4511-B1D1-26ADBF19649E}"/>
              </a:ext>
            </a:extLst>
          </p:cNvPr>
          <p:cNvSpPr/>
          <p:nvPr/>
        </p:nvSpPr>
        <p:spPr bwMode="auto">
          <a:xfrm>
            <a:off x="1185120" y="4333866"/>
            <a:ext cx="437760" cy="324152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50876" y="925216"/>
            <a:ext cx="6261120" cy="35394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i="1" dirty="0" smtClean="0">
                <a:solidFill>
                  <a:schemeClr val="bg1"/>
                </a:solidFill>
              </a:rPr>
              <a:t>This example demonstrates how one basic cause “could” be caused by a weakness in the same element (</a:t>
            </a:r>
            <a:r>
              <a:rPr lang="en-US" sz="1400" b="1" i="1" dirty="0">
                <a:solidFill>
                  <a:schemeClr val="bg1"/>
                </a:solidFill>
              </a:rPr>
              <a:t>latent cause</a:t>
            </a:r>
            <a:r>
              <a:rPr lang="en-US" sz="1400" b="1" i="1" dirty="0" smtClean="0">
                <a:solidFill>
                  <a:schemeClr val="bg1"/>
                </a:solidFill>
              </a:rPr>
              <a:t>), but different categories of that latent cause.  Note the difference in LC1, LC4, &amp; LC5: </a:t>
            </a:r>
          </a:p>
          <a:p>
            <a:endParaRPr lang="en-US" sz="1400" i="1" dirty="0" smtClean="0">
              <a:solidFill>
                <a:schemeClr val="bg1"/>
              </a:solidFill>
            </a:endParaRPr>
          </a:p>
          <a:p>
            <a:r>
              <a:rPr lang="en-US" sz="1400" i="1" dirty="0" smtClean="0">
                <a:solidFill>
                  <a:schemeClr val="bg1"/>
                </a:solidFill>
              </a:rPr>
              <a:t>LC1: “no program”; therefore “P – inadequate program”</a:t>
            </a:r>
          </a:p>
          <a:p>
            <a:endParaRPr lang="en-US" sz="1400" i="1" dirty="0">
              <a:solidFill>
                <a:schemeClr val="bg1"/>
              </a:solidFill>
            </a:endParaRPr>
          </a:p>
          <a:p>
            <a:r>
              <a:rPr lang="en-US" sz="1400" i="1" dirty="0" smtClean="0">
                <a:solidFill>
                  <a:schemeClr val="bg1"/>
                </a:solidFill>
              </a:rPr>
              <a:t>LC4: the existence of a program is implied, but it lacks </a:t>
            </a:r>
            <a:br>
              <a:rPr lang="en-US" sz="1400" i="1" dirty="0" smtClean="0">
                <a:solidFill>
                  <a:schemeClr val="bg1"/>
                </a:solidFill>
              </a:rPr>
            </a:br>
            <a:r>
              <a:rPr lang="en-US" sz="1400" i="1" dirty="0" smtClean="0">
                <a:solidFill>
                  <a:schemeClr val="bg1"/>
                </a:solidFill>
              </a:rPr>
              <a:t>in details; therefore “S – lack of program standards”</a:t>
            </a:r>
          </a:p>
          <a:p>
            <a:endParaRPr lang="en-US" sz="1400" i="1" dirty="0">
              <a:solidFill>
                <a:schemeClr val="bg1"/>
              </a:solidFill>
            </a:endParaRPr>
          </a:p>
          <a:p>
            <a:r>
              <a:rPr lang="en-US" sz="1400" i="1" dirty="0" smtClean="0">
                <a:solidFill>
                  <a:schemeClr val="bg1"/>
                </a:solidFill>
              </a:rPr>
              <a:t>LC5: The program and standards are implemented, but </a:t>
            </a:r>
            <a:br>
              <a:rPr lang="en-US" sz="1400" i="1" dirty="0" smtClean="0">
                <a:solidFill>
                  <a:schemeClr val="bg1"/>
                </a:solidFill>
              </a:rPr>
            </a:br>
            <a:r>
              <a:rPr lang="en-US" sz="1400" i="1" dirty="0" smtClean="0">
                <a:solidFill>
                  <a:schemeClr val="bg1"/>
                </a:solidFill>
              </a:rPr>
              <a:t>were not executed as required; therefore </a:t>
            </a:r>
            <a:br>
              <a:rPr lang="en-US" sz="1400" i="1" dirty="0" smtClean="0">
                <a:solidFill>
                  <a:schemeClr val="bg1"/>
                </a:solidFill>
              </a:rPr>
            </a:br>
            <a:r>
              <a:rPr lang="en-US" sz="1400" i="1" dirty="0" smtClean="0">
                <a:solidFill>
                  <a:schemeClr val="bg1"/>
                </a:solidFill>
              </a:rPr>
              <a:t>“C – inadequate compliance with program standards”</a:t>
            </a:r>
          </a:p>
          <a:p>
            <a:endParaRPr lang="en-US" sz="1400" i="1" dirty="0">
              <a:solidFill>
                <a:schemeClr val="bg1"/>
              </a:solidFill>
            </a:endParaRPr>
          </a:p>
          <a:p>
            <a:r>
              <a:rPr lang="en-US" sz="1400" i="1" dirty="0" smtClean="0">
                <a:solidFill>
                  <a:schemeClr val="bg1"/>
                </a:solidFill>
              </a:rPr>
              <a:t>A real investigation will only reveal one of these. </a:t>
            </a:r>
          </a:p>
          <a:p>
            <a:endParaRPr lang="en-US" sz="1400" i="1" dirty="0">
              <a:solidFill>
                <a:schemeClr val="bg1"/>
              </a:solidFill>
            </a:endParaRPr>
          </a:p>
          <a:p>
            <a:r>
              <a:rPr lang="en-US" sz="1400" b="1" i="1" dirty="0" smtClean="0">
                <a:solidFill>
                  <a:schemeClr val="bg1"/>
                </a:solidFill>
              </a:rPr>
              <a:t>Your team project need only identify ONE, not all three. 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85" y="1958397"/>
            <a:ext cx="1434115" cy="1338271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03A4122D-0D6D-437C-8891-A00AD6D330D9}"/>
              </a:ext>
            </a:extLst>
          </p:cNvPr>
          <p:cNvSpPr txBox="1"/>
          <p:nvPr/>
        </p:nvSpPr>
        <p:spPr>
          <a:xfrm>
            <a:off x="5306028" y="5040000"/>
            <a:ext cx="3289332" cy="95410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LC5-C: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employee training program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on exclusion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zone procedures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was not completed as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specified.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C429F09-1D40-4F01-A8DC-CD621288E298}"/>
              </a:ext>
            </a:extLst>
          </p:cNvPr>
          <p:cNvSpPr txBox="1"/>
          <p:nvPr/>
        </p:nvSpPr>
        <p:spPr>
          <a:xfrm>
            <a:off x="5306027" y="5930396"/>
            <a:ext cx="3289333" cy="240921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#9 ECT</a:t>
            </a:r>
          </a:p>
        </p:txBody>
      </p:sp>
      <p:sp>
        <p:nvSpPr>
          <p:cNvPr id="63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Examples of Latent Causes in Different</a:t>
            </a:r>
            <a:r>
              <a:rPr kumimoji="0" lang="en-CA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Categories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66" name="Elbow Connector 71">
            <a:extLst>
              <a:ext uri="{FF2B5EF4-FFF2-40B4-BE49-F238E27FC236}">
                <a16:creationId xmlns:a16="http://schemas.microsoft.com/office/drawing/2014/main" id="{3BD3BC86-A75D-44DD-A48D-C6876A139EDC}"/>
              </a:ext>
            </a:extLst>
          </p:cNvPr>
          <p:cNvCxnSpPr>
            <a:stCxn id="42" idx="2"/>
            <a:endCxn id="45" idx="0"/>
          </p:cNvCxnSpPr>
          <p:nvPr/>
        </p:nvCxnSpPr>
        <p:spPr>
          <a:xfrm rot="16200000" flipH="1">
            <a:off x="3970149" y="2059454"/>
            <a:ext cx="414397" cy="5546694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80829840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Breadth and Depth of the Scope of a Root Cause Analysis: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Developing an RCA:  Breadth and Depth Illustrated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2" name="Down Arrow 1">
            <a:extLst>
              <a:ext uri="{FF2B5EF4-FFF2-40B4-BE49-F238E27FC236}">
                <a16:creationId xmlns:a16="http://schemas.microsoft.com/office/drawing/2014/main" id="{98FF2722-A574-4A0C-BF49-C6D27A22E373}"/>
              </a:ext>
            </a:extLst>
          </p:cNvPr>
          <p:cNvSpPr/>
          <p:nvPr/>
        </p:nvSpPr>
        <p:spPr>
          <a:xfrm>
            <a:off x="6150980" y="1371601"/>
            <a:ext cx="1243584" cy="2693324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 deep enough</a:t>
            </a:r>
          </a:p>
        </p:txBody>
      </p:sp>
      <p:sp>
        <p:nvSpPr>
          <p:cNvPr id="3" name="Down Arrow 9">
            <a:extLst>
              <a:ext uri="{FF2B5EF4-FFF2-40B4-BE49-F238E27FC236}">
                <a16:creationId xmlns:a16="http://schemas.microsoft.com/office/drawing/2014/main" id="{6179E625-526B-4546-81B2-0106D7B123EE}"/>
              </a:ext>
            </a:extLst>
          </p:cNvPr>
          <p:cNvSpPr/>
          <p:nvPr/>
        </p:nvSpPr>
        <p:spPr>
          <a:xfrm>
            <a:off x="7129743" y="1353132"/>
            <a:ext cx="1536192" cy="3545645"/>
          </a:xfrm>
          <a:prstGeom prst="downArrow">
            <a:avLst>
              <a:gd name="adj1" fmla="val 50000"/>
              <a:gd name="adj2" fmla="val 39286"/>
            </a:avLst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Depth is right when you discover the LC</a:t>
            </a:r>
          </a:p>
        </p:txBody>
      </p:sp>
      <p:sp>
        <p:nvSpPr>
          <p:cNvPr id="4" name="Left-Right Arrow 2">
            <a:extLst>
              <a:ext uri="{FF2B5EF4-FFF2-40B4-BE49-F238E27FC236}">
                <a16:creationId xmlns:a16="http://schemas.microsoft.com/office/drawing/2014/main" id="{87F05FFE-9F91-4D03-B3A9-AE634E548BA4}"/>
              </a:ext>
            </a:extLst>
          </p:cNvPr>
          <p:cNvSpPr/>
          <p:nvPr/>
        </p:nvSpPr>
        <p:spPr>
          <a:xfrm>
            <a:off x="630641" y="4898777"/>
            <a:ext cx="5324709" cy="576000"/>
          </a:xfrm>
          <a:prstGeom prst="left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Breadth too narrow (3 LC’s)</a:t>
            </a:r>
          </a:p>
        </p:txBody>
      </p:sp>
      <p:sp>
        <p:nvSpPr>
          <p:cNvPr id="5" name="Left-Right Arrow 10">
            <a:extLst>
              <a:ext uri="{FF2B5EF4-FFF2-40B4-BE49-F238E27FC236}">
                <a16:creationId xmlns:a16="http://schemas.microsoft.com/office/drawing/2014/main" id="{D07B549F-47A1-4C4C-A019-3D91F8E17246}"/>
              </a:ext>
            </a:extLst>
          </p:cNvPr>
          <p:cNvSpPr/>
          <p:nvPr/>
        </p:nvSpPr>
        <p:spPr>
          <a:xfrm>
            <a:off x="658626" y="5248476"/>
            <a:ext cx="6693149" cy="576000"/>
          </a:xfrm>
          <a:prstGeom prst="leftRightArrow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Breadth about right (18+ LC’s)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54" y="1267506"/>
            <a:ext cx="5263396" cy="3716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223235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80" y="642827"/>
            <a:ext cx="7111474" cy="5007330"/>
          </a:xfrm>
          <a:prstGeom prst="rect">
            <a:avLst/>
          </a:prstGeom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Rounded Rectangle 39">
            <a:extLst>
              <a:ext uri="{FF2B5EF4-FFF2-40B4-BE49-F238E27FC236}">
                <a16:creationId xmlns:a16="http://schemas.microsoft.com/office/drawing/2014/main" id="{44AD6FED-1C60-49D1-8DF0-531434B007F3}"/>
              </a:ext>
            </a:extLst>
          </p:cNvPr>
          <p:cNvSpPr/>
          <p:nvPr/>
        </p:nvSpPr>
        <p:spPr>
          <a:xfrm>
            <a:off x="553744" y="4005673"/>
            <a:ext cx="7343347" cy="664052"/>
          </a:xfrm>
          <a:prstGeom prst="roundRect">
            <a:avLst/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Down Arrow 27">
            <a:extLst>
              <a:ext uri="{FF2B5EF4-FFF2-40B4-BE49-F238E27FC236}">
                <a16:creationId xmlns:a16="http://schemas.microsoft.com/office/drawing/2014/main" id="{78A60749-3248-42E4-9F3C-C9E3149611DD}"/>
              </a:ext>
            </a:extLst>
          </p:cNvPr>
          <p:cNvSpPr/>
          <p:nvPr/>
        </p:nvSpPr>
        <p:spPr>
          <a:xfrm>
            <a:off x="7569816" y="1077835"/>
            <a:ext cx="1243584" cy="3384643"/>
          </a:xfrm>
          <a:prstGeom prst="downArrow">
            <a:avLst/>
          </a:prstGeom>
          <a:solidFill>
            <a:srgbClr val="FFFF0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vert="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Not  deep enough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E1C47A-D7DD-48C3-AF7B-038DA7E5787F}"/>
              </a:ext>
            </a:extLst>
          </p:cNvPr>
          <p:cNvSpPr txBox="1"/>
          <p:nvPr/>
        </p:nvSpPr>
        <p:spPr>
          <a:xfrm>
            <a:off x="324000" y="4712313"/>
            <a:ext cx="8534398" cy="147732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Importance of Depth in a Root Cause Analysis: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Did not drill deep enough. Ask yourself these questions: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CA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Can this cause be linked to an RME in a meaningful and obvious way?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CA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Can a recommendation relating to an RME be made?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CA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Can the cause be categorized as a </a:t>
            </a:r>
            <a:r>
              <a:rPr lang="en-CA" i="1" u="sng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basic cause</a:t>
            </a:r>
            <a:r>
              <a:rPr lang="en-CA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? If so, it is NOT a latent cause!</a:t>
            </a: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Developing an RCA: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Depth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Illustrated</a:t>
            </a:r>
          </a:p>
        </p:txBody>
      </p:sp>
    </p:spTree>
    <p:extLst>
      <p:ext uri="{BB962C8B-B14F-4D97-AF65-F5344CB8AC3E}">
        <p14:creationId xmlns:p14="http://schemas.microsoft.com/office/powerpoint/2010/main" val="2048209436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80" y="910087"/>
            <a:ext cx="6836906" cy="4828073"/>
          </a:xfrm>
          <a:prstGeom prst="rect">
            <a:avLst/>
          </a:prstGeom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7" name="Left-Right Arrow 11">
            <a:extLst>
              <a:ext uri="{FF2B5EF4-FFF2-40B4-BE49-F238E27FC236}">
                <a16:creationId xmlns:a16="http://schemas.microsoft.com/office/drawing/2014/main" id="{05FD4045-A0E4-4D45-AFEA-6FF43D62664F}"/>
              </a:ext>
            </a:extLst>
          </p:cNvPr>
          <p:cNvSpPr/>
          <p:nvPr/>
        </p:nvSpPr>
        <p:spPr>
          <a:xfrm>
            <a:off x="683853" y="5672515"/>
            <a:ext cx="6913545" cy="576000"/>
          </a:xfrm>
          <a:prstGeom prst="leftRightArrow">
            <a:avLst/>
          </a:prstGeom>
          <a:solidFill>
            <a:srgbClr val="FFFF0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Breadth too narrow (3 LC’s)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3E2380-0185-46ED-9820-3DDCBD880C3B}"/>
              </a:ext>
            </a:extLst>
          </p:cNvPr>
          <p:cNvSpPr txBox="1"/>
          <p:nvPr/>
        </p:nvSpPr>
        <p:spPr>
          <a:xfrm>
            <a:off x="180000" y="809599"/>
            <a:ext cx="8640000" cy="3819253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rtlCol="0"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Importance of Breadth in a Root Cause Analysis: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2000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This RCA spanned three (3) risk management system elements. 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CA" sz="2000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Are these 3 LCs specific and unique? (A: YES)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CA" sz="2000" i="1" kern="0" dirty="0">
                <a:solidFill>
                  <a:schemeClr val="bg1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Are these 3 LCs through 3 separate roots? (A: </a:t>
            </a:r>
            <a:r>
              <a:rPr lang="en-CA" sz="2000" i="1" kern="0" dirty="0" smtClean="0">
                <a:solidFill>
                  <a:schemeClr val="bg1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YES)</a:t>
            </a:r>
            <a:endParaRPr lang="en-CA" sz="2000" i="1" kern="0" dirty="0">
              <a:solidFill>
                <a:schemeClr val="bg1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CA" sz="2000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Can other LCs relating to other RMEs be found? (A: YES)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endParaRPr lang="en-CA" sz="2000" i="1" kern="0" dirty="0">
              <a:solidFill>
                <a:srgbClr val="FFFFFF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2000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Team Project: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  <a:defRPr/>
            </a:pPr>
            <a:r>
              <a:rPr lang="en-CA" sz="2000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Preliminary RCA Chart – 3 separate roots to 3 unique LCs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  <a:defRPr/>
            </a:pPr>
            <a:r>
              <a:rPr lang="en-CA" sz="2000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Progress Report – at least 18 unique, specific </a:t>
            </a:r>
            <a:r>
              <a:rPr lang="en-CA" sz="2000" i="1" kern="0" dirty="0" smtClean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LCs; </a:t>
            </a:r>
            <a:br>
              <a:rPr lang="en-CA" sz="2000" i="1" kern="0" dirty="0" smtClean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sz="2000" i="1" kern="0" dirty="0" smtClean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feedback provided for improvements</a:t>
            </a:r>
            <a:endParaRPr lang="en-CA" sz="2000" i="1" kern="0" dirty="0">
              <a:solidFill>
                <a:srgbClr val="FFFFFF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  <a:defRPr/>
            </a:pPr>
            <a:r>
              <a:rPr lang="en-CA" sz="2000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Final Technical Report – a completed RCA </a:t>
            </a:r>
            <a:r>
              <a:rPr lang="en-CA" sz="2000" i="1" kern="0" dirty="0" smtClean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Chart with improvements!</a:t>
            </a:r>
            <a:endParaRPr lang="en-CA" sz="2000" i="1" kern="0" dirty="0">
              <a:solidFill>
                <a:srgbClr val="FFFFFF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A98AC14-47DA-4924-B184-82E4F721E125}"/>
              </a:ext>
            </a:extLst>
          </p:cNvPr>
          <p:cNvSpPr/>
          <p:nvPr/>
        </p:nvSpPr>
        <p:spPr>
          <a:xfrm>
            <a:off x="481701" y="4737239"/>
            <a:ext cx="7223761" cy="979950"/>
          </a:xfrm>
          <a:prstGeom prst="roundRect">
            <a:avLst/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Developing an RCA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Breadth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Illustrated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563611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Drill down through causal analysis to determine latent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causes, </a:t>
            </a:r>
            <a:r>
              <a:rPr kumimoji="0" lang="en-CA" altLang="en-US" sz="20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Identify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address weaknesses in the management system elements (the latent causes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);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this sets the stage for recommendations!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Root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Cause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Analysis – Down to Latent Causes: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70" y="1871330"/>
            <a:ext cx="6067407" cy="4284670"/>
          </a:xfrm>
          <a:prstGeom prst="rect">
            <a:avLst/>
          </a:prstGeom>
        </p:spPr>
      </p:pic>
      <p:sp>
        <p:nvSpPr>
          <p:cNvPr id="7" name="Double Brace 1">
            <a:extLst>
              <a:ext uri="{FF2B5EF4-FFF2-40B4-BE49-F238E27FC236}">
                <a16:creationId xmlns:a16="http://schemas.microsoft.com/office/drawing/2014/main" id="{03D497BF-330F-436C-9FE2-3752A060AC96}"/>
              </a:ext>
            </a:extLst>
          </p:cNvPr>
          <p:cNvSpPr>
            <a:spLocks noChangeArrowheads="1"/>
          </p:cNvSpPr>
          <p:nvPr/>
        </p:nvSpPr>
        <p:spPr bwMode="auto">
          <a:xfrm rot="19427316">
            <a:off x="4319301" y="3096585"/>
            <a:ext cx="4343749" cy="1834158"/>
          </a:xfrm>
          <a:prstGeom prst="leftArrow">
            <a:avLst>
              <a:gd name="adj1" fmla="val 50000"/>
              <a:gd name="adj2" fmla="val 67720"/>
            </a:avLst>
          </a:prstGeom>
          <a:solidFill>
            <a:srgbClr val="FFFFFF"/>
          </a:solidFill>
          <a:ln w="38100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CA" altLang="en-US" sz="18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able to </a:t>
            </a:r>
            <a:r>
              <a:rPr lang="en-US" altLang="en-US" sz="18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a latent cause to a management system element and create a recommendation</a:t>
            </a:r>
            <a:endParaRPr lang="en-CA" altLang="en-US" sz="1800" b="1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6171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774F0C-3704-4347-922B-08823DC8BD72}"/>
              </a:ext>
            </a:extLst>
          </p:cNvPr>
          <p:cNvSpPr txBox="1"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i="1" kern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Please confer … </a:t>
            </a:r>
            <a:r>
              <a:rPr lang="en-CA" i="1" kern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 opportunity for you to </a:t>
            </a:r>
            <a:r>
              <a:rPr lang="en-CA" i="1" kern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practice the Narrative Technique.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altLang="en-US" i="1" kern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Demonstrates t</a:t>
            </a:r>
            <a:r>
              <a:rPr lang="en-CA" altLang="en-US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 importance </a:t>
            </a:r>
            <a:r>
              <a:rPr lang="en-CA" altLang="en-US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the </a:t>
            </a:r>
            <a:r>
              <a:rPr lang="en-CA" altLang="en-US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narrative technique </a:t>
            </a:r>
            <a:r>
              <a:rPr lang="en-CA" altLang="en-US" i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ie</a:t>
            </a:r>
            <a:r>
              <a:rPr lang="en-CA" altLang="en-US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how </a:t>
            </a:r>
            <a:r>
              <a:rPr lang="en-CA" altLang="en-US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CA" altLang="en-US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poor logic and logic leaps</a:t>
            </a:r>
            <a:r>
              <a:rPr lang="en-CA" i="1" kern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i="1" kern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(No MM)</a:t>
            </a:r>
            <a:endParaRPr lang="en-CA" i="1" kern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ALE #2: Apply The Narrative Technique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042" y="1485024"/>
            <a:ext cx="6453963" cy="4557647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945311912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Intermediate causes serve as links between the categories of causes in order to avoid leaps in logic!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 the </a:t>
            </a:r>
            <a:r>
              <a:rPr kumimoji="0" lang="en-CA" alt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narrative technique</a:t>
            </a:r>
            <a:r>
              <a:rPr kumimoji="0" lang="en-CA" altLang="en-US" sz="1800" b="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uncover logic 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leaps!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sz="1800" b="1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lang="en-CA" altLang="en-US" sz="1800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Worker disregarded the exclusion zone procedures, because </a:t>
            </a:r>
            <a:endParaRPr kumimoji="0" lang="en-CA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sz="1800" b="1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kumimoji="0" lang="en-CA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auditing program schedule did not </a:t>
            </a:r>
            <a:r>
              <a:rPr kumimoji="0" lang="en-CA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include </a:t>
            </a:r>
            <a:r>
              <a:rPr kumimoji="0" lang="en-CA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exclusion zone procedures.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Practice: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Apply The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Narrative &amp; How to Avoid Logic Leaps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96AC9BC3-83FD-42D2-BC74-0AE56BA07EF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132861" y="3400712"/>
            <a:ext cx="2997518" cy="9144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819353200 h 21600"/>
              <a:gd name="T4" fmla="*/ 2147483646 w 21600"/>
              <a:gd name="T5" fmla="*/ 1638706400 h 21600"/>
              <a:gd name="T6" fmla="*/ 2147483646 w 21600"/>
              <a:gd name="T7" fmla="*/ 8193532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prstShdw prst="shdw17" dist="17961" dir="2700000">
              <a:srgbClr val="000000"/>
            </a:prstShdw>
          </a:effectLst>
        </p:spPr>
        <p:txBody>
          <a:bodyPr wrap="none" anchor="ctr"/>
          <a:lstStyle/>
          <a:p>
            <a:endParaRPr lang="en-CA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C7A81C-A184-4FBB-860A-0FB8C057C6DB}"/>
              </a:ext>
            </a:extLst>
          </p:cNvPr>
          <p:cNvSpPr txBox="1"/>
          <p:nvPr/>
        </p:nvSpPr>
        <p:spPr>
          <a:xfrm>
            <a:off x="5048842" y="2401918"/>
            <a:ext cx="3771158" cy="3662642"/>
          </a:xfrm>
          <a:prstGeom prst="rect">
            <a:avLst/>
          </a:prstGeom>
          <a:solidFill>
            <a:sysClr val="windowText" lastClr="000000"/>
          </a:solidFill>
          <a:ln>
            <a:solidFill>
              <a:sysClr val="windowText" lastClr="000000"/>
            </a:solidFill>
          </a:ln>
        </p:spPr>
        <p:txBody>
          <a:bodyPr wrap="square" rtlCol="0">
            <a:no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For this narrative of a root: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/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</a:b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r>
              <a:rPr lang="en-US" sz="1600" i="1" kern="0" dirty="0">
                <a:solidFill>
                  <a:prstClr val="white"/>
                </a:solidFill>
                <a:cs typeface="Arial" panose="020B0604020202020204" pitchFamily="34" charset="0"/>
              </a:rPr>
              <a:t>The Worker disregarded the exclusion zone procedures</a:t>
            </a:r>
            <a:r>
              <a:rPr lang="en-US" sz="1600" i="1" kern="0" dirty="0" smtClean="0">
                <a:solidFill>
                  <a:prstClr val="white"/>
                </a:solidFill>
                <a:cs typeface="Arial" panose="020B0604020202020204" pitchFamily="34" charset="0"/>
              </a:rPr>
              <a:t>,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“ </a:t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</a:b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</a:b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because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(or was caused by)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</a:b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</a:b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The auditing program schedule did not include exclusion zone procedures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”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Does this statement make sense? 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What details are needed to avoid this logic leap?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05B82A-2BA4-4CAB-993C-2B1AA7E470CE}"/>
              </a:ext>
            </a:extLst>
          </p:cNvPr>
          <p:cNvSpPr txBox="1"/>
          <p:nvPr/>
        </p:nvSpPr>
        <p:spPr>
          <a:xfrm>
            <a:off x="2106792" y="2449309"/>
            <a:ext cx="2772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disregarded exclusion zone procedures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5D8AF8-F9DD-4508-9E56-748064DE6CD6}"/>
              </a:ext>
            </a:extLst>
          </p:cNvPr>
          <p:cNvSpPr txBox="1"/>
          <p:nvPr/>
        </p:nvSpPr>
        <p:spPr>
          <a:xfrm>
            <a:off x="2106792" y="4150753"/>
            <a:ext cx="2772000" cy="95410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LC2-S: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evaluation program did not include the exclusion zone procedures on the auditing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schedule.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01610B-9D9E-4D80-A95C-50AEB127B25D}"/>
              </a:ext>
            </a:extLst>
          </p:cNvPr>
          <p:cNvSpPr txBox="1"/>
          <p:nvPr/>
        </p:nvSpPr>
        <p:spPr>
          <a:xfrm>
            <a:off x="2106792" y="5104671"/>
            <a:ext cx="2772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#6 PECI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BAA94E0-5F0C-4EF1-821C-19607DD2EDF6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>
            <a:off x="3492792" y="2989309"/>
            <a:ext cx="0" cy="1161444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6950159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Q: Is 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this narrative for a root complete, </a:t>
            </a: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logical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does it make sense</a:t>
            </a: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?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disregarded the exclusion zone </a:t>
            </a:r>
            <a:br>
              <a:rPr lang="en-US" altLang="en-US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procedures</a:t>
            </a: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 (or was caused by) </a:t>
            </a:r>
            <a:endParaRPr lang="en-US" altLang="en-US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auditing program schedule did not </a:t>
            </a:r>
            <a:br>
              <a:rPr lang="en-US" altLang="en-US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include exclusion zone </a:t>
            </a: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procedures</a:t>
            </a:r>
            <a:endParaRPr lang="en-US" altLang="en-US" i="1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r>
              <a:rPr lang="en-CA" altLang="en-US" b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A: [NO]</a:t>
            </a:r>
            <a:endParaRPr lang="en-CA" altLang="en-US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b="0" i="0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b="0" i="0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r>
              <a:rPr lang="en-CA" altLang="en-US" b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Q: Is this an improvement?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disregarded exclusion </a:t>
            </a:r>
            <a:r>
              <a:rPr kumimoji="0" lang="en-CA" altLang="en-US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zone procedures, </a:t>
            </a:r>
            <a:r>
              <a:rPr kumimoji="0" lang="en-CA" altLang="en-US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</a:t>
            </a:r>
            <a:r>
              <a:rPr kumimoji="0" lang="en-CA" altLang="en-US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procedures were not enforced </a:t>
            </a:r>
            <a:r>
              <a:rPr kumimoji="0" lang="en-CA" altLang="en-US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through audits, </a:t>
            </a:r>
            <a:r>
              <a:rPr kumimoji="0" lang="en-CA" altLang="en-US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</a:t>
            </a:r>
            <a:r>
              <a:rPr kumimoji="0" lang="en-CA" altLang="en-US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</a:p>
          <a:p>
            <a:pPr marL="360000" lvl="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LC2: The auditing program </a:t>
            </a: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schedule did </a:t>
            </a:r>
            <a:r>
              <a:rPr lang="en-US" altLang="en-US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 include the </a:t>
            </a: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exclusion </a:t>
            </a:r>
            <a:r>
              <a:rPr lang="en-US" altLang="en-US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zone </a:t>
            </a: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procedures</a:t>
            </a:r>
          </a:p>
          <a:p>
            <a:pPr eaLnBrk="0" fontAlgn="base" hangingPunct="0">
              <a:spcAft>
                <a:spcPct val="0"/>
              </a:spcAft>
              <a:buSzPct val="100000"/>
              <a:defRPr/>
            </a:pPr>
            <a:r>
              <a:rPr lang="en-CA" altLang="en-US" b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A: [YES]</a:t>
            </a:r>
            <a:endParaRPr lang="en-US" altLang="en-US" b="1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Practice: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The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Narrative &amp; A Latent Cause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000" y="3534421"/>
            <a:ext cx="2916000" cy="2304943"/>
          </a:xfrm>
          <a:prstGeom prst="rect">
            <a:avLst/>
          </a:prstGeom>
          <a:solidFill>
            <a:srgbClr val="00FFFF"/>
          </a:solidFill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6000" y="1085478"/>
            <a:ext cx="2916000" cy="2304943"/>
          </a:xfrm>
          <a:prstGeom prst="rect">
            <a:avLst/>
          </a:prstGeom>
          <a:solidFill>
            <a:srgbClr val="00FFFF"/>
          </a:solidFill>
        </p:spPr>
      </p:pic>
    </p:spTree>
    <p:extLst>
      <p:ext uri="{BB962C8B-B14F-4D97-AF65-F5344CB8AC3E}">
        <p14:creationId xmlns:p14="http://schemas.microsoft.com/office/powerpoint/2010/main" val="38307010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0920BB-4471-4E6F-8D87-D96EFA40618F}"/>
              </a:ext>
            </a:extLst>
          </p:cNvPr>
          <p:cNvSpPr txBox="1"/>
          <p:nvPr/>
        </p:nvSpPr>
        <p:spPr>
          <a:xfrm>
            <a:off x="324000" y="1817541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05B82A-2BA4-4CAB-993C-2B1AA7E470CE}"/>
              </a:ext>
            </a:extLst>
          </p:cNvPr>
          <p:cNvSpPr txBox="1"/>
          <p:nvPr/>
        </p:nvSpPr>
        <p:spPr>
          <a:xfrm>
            <a:off x="2628000" y="1817541"/>
            <a:ext cx="2772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BC-JF: Worker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0" name="Elbow Connector 71">
            <a:extLst>
              <a:ext uri="{FF2B5EF4-FFF2-40B4-BE49-F238E27FC236}">
                <a16:creationId xmlns:a16="http://schemas.microsoft.com/office/drawing/2014/main" id="{6157B0C3-C366-4071-9C93-CD9F9D48D667}"/>
              </a:ext>
            </a:extLst>
          </p:cNvPr>
          <p:cNvCxnSpPr>
            <a:stCxn id="37" idx="2"/>
            <a:endCxn id="14" idx="0"/>
          </p:cNvCxnSpPr>
          <p:nvPr/>
        </p:nvCxnSpPr>
        <p:spPr>
          <a:xfrm rot="16200000" flipH="1">
            <a:off x="5375524" y="11064"/>
            <a:ext cx="426953" cy="3186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8C862CAE-2CD5-422E-B4BA-45F283A8707F}"/>
              </a:ext>
            </a:extLst>
          </p:cNvPr>
          <p:cNvCxnSpPr>
            <a:stCxn id="37" idx="2"/>
            <a:endCxn id="6" idx="0"/>
          </p:cNvCxnSpPr>
          <p:nvPr/>
        </p:nvCxnSpPr>
        <p:spPr>
          <a:xfrm rot="5400000">
            <a:off x="2486524" y="308064"/>
            <a:ext cx="426953" cy="2592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66CCFC9-F10C-4A53-8B3D-D1F8BFE7E715}"/>
              </a:ext>
            </a:extLst>
          </p:cNvPr>
          <p:cNvSpPr txBox="1"/>
          <p:nvPr/>
        </p:nvSpPr>
        <p:spPr>
          <a:xfrm>
            <a:off x="5580000" y="1817541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6E2D7-0F00-401E-93F2-662D6A067F26}"/>
              </a:ext>
            </a:extLst>
          </p:cNvPr>
          <p:cNvSpPr txBox="1"/>
          <p:nvPr/>
        </p:nvSpPr>
        <p:spPr>
          <a:xfrm>
            <a:off x="2628000" y="3799084"/>
            <a:ext cx="2772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Procedures </a:t>
            </a:r>
            <a:r>
              <a:rPr lang="en-CA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were not enforced through audits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5D8AF8-F9DD-4508-9E56-748064DE6CD6}"/>
              </a:ext>
            </a:extLst>
          </p:cNvPr>
          <p:cNvSpPr txBox="1"/>
          <p:nvPr/>
        </p:nvSpPr>
        <p:spPr>
          <a:xfrm>
            <a:off x="2628000" y="4824082"/>
            <a:ext cx="2772000" cy="95410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LC2-S: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The evaluation program did not include the exclusion zone procedures on the auditing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schedule.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90F469F-CB33-46C8-BCFD-F1032C01AB5A}"/>
              </a:ext>
            </a:extLst>
          </p:cNvPr>
          <p:cNvCxnSpPr>
            <a:stCxn id="37" idx="2"/>
            <a:endCxn id="7" idx="0"/>
          </p:cNvCxnSpPr>
          <p:nvPr/>
        </p:nvCxnSpPr>
        <p:spPr>
          <a:xfrm>
            <a:off x="3996000" y="1390588"/>
            <a:ext cx="18000" cy="42695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Flowchart: Punched Tape 17">
            <a:extLst>
              <a:ext uri="{FF2B5EF4-FFF2-40B4-BE49-F238E27FC236}">
                <a16:creationId xmlns:a16="http://schemas.microsoft.com/office/drawing/2014/main" id="{FAB05A93-C70A-4D15-87C5-57AF0EAE3C1E}"/>
              </a:ext>
            </a:extLst>
          </p:cNvPr>
          <p:cNvSpPr/>
          <p:nvPr/>
        </p:nvSpPr>
        <p:spPr bwMode="auto">
          <a:xfrm>
            <a:off x="3771059" y="1426654"/>
            <a:ext cx="437760" cy="324152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C57B0A-17D5-4553-BAE2-0881803D2F52}"/>
              </a:ext>
            </a:extLst>
          </p:cNvPr>
          <p:cNvSpPr txBox="1"/>
          <p:nvPr/>
        </p:nvSpPr>
        <p:spPr>
          <a:xfrm>
            <a:off x="5580000" y="4194000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 err="1"/>
              <a:t>Sr</a:t>
            </a:r>
            <a:r>
              <a:rPr lang="en-US" dirty="0"/>
              <a:t> </a:t>
            </a:r>
            <a:r>
              <a:rPr lang="en-US" dirty="0" err="1"/>
              <a:t>Mngmt</a:t>
            </a:r>
            <a:r>
              <a:rPr lang="en-US" dirty="0"/>
              <a:t> expectations were not in alignment with core safety values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F202EC-1D0C-427A-AE0B-470C6433BFFE}"/>
              </a:ext>
            </a:extLst>
          </p:cNvPr>
          <p:cNvSpPr txBox="1"/>
          <p:nvPr/>
        </p:nvSpPr>
        <p:spPr>
          <a:xfrm>
            <a:off x="5580000" y="2480593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BC-</a:t>
            </a:r>
            <a:r>
              <a:rPr lang="en-CA" dirty="0" smtClean="0"/>
              <a:t>PF: </a:t>
            </a: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prioritized production over safety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812618-2149-4C65-9846-69B1C499731C}"/>
              </a:ext>
            </a:extLst>
          </p:cNvPr>
          <p:cNvSpPr txBox="1"/>
          <p:nvPr/>
        </p:nvSpPr>
        <p:spPr>
          <a:xfrm>
            <a:off x="5580000" y="5058000"/>
            <a:ext cx="3204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LC3-C: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Core Safety Values Communications Program was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not implemented.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**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76F47D-B0EF-4A9A-BC89-C7F5E155D4AB}"/>
              </a:ext>
            </a:extLst>
          </p:cNvPr>
          <p:cNvSpPr txBox="1"/>
          <p:nvPr/>
        </p:nvSpPr>
        <p:spPr>
          <a:xfrm>
            <a:off x="324000" y="5058000"/>
            <a:ext cx="2160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LC1-P: There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was no training program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mining operations.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4EE6F8-9DA2-4978-BDB0-49A1AA7773E8}"/>
              </a:ext>
            </a:extLst>
          </p:cNvPr>
          <p:cNvSpPr txBox="1"/>
          <p:nvPr/>
        </p:nvSpPr>
        <p:spPr>
          <a:xfrm>
            <a:off x="324000" y="419400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Worker was not trained on those procedures</a:t>
            </a:r>
            <a:endParaRPr lang="en-CA" sz="1400" b="1" kern="0" dirty="0">
              <a:solidFill>
                <a:srgbClr val="000000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157259-BD63-4390-9054-FE19666E5AF9}"/>
              </a:ext>
            </a:extLst>
          </p:cNvPr>
          <p:cNvSpPr txBox="1"/>
          <p:nvPr/>
        </p:nvSpPr>
        <p:spPr>
          <a:xfrm>
            <a:off x="7423069" y="409144"/>
            <a:ext cx="1496487" cy="30777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FB76E2-854C-475F-ACC2-9DF32D7FB532}"/>
              </a:ext>
            </a:extLst>
          </p:cNvPr>
          <p:cNvSpPr txBox="1"/>
          <p:nvPr/>
        </p:nvSpPr>
        <p:spPr>
          <a:xfrm>
            <a:off x="5580000" y="5778000"/>
            <a:ext cx="3204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#1 MLCA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D31642-1052-4C82-896B-93319CE6D4CB}"/>
              </a:ext>
            </a:extLst>
          </p:cNvPr>
          <p:cNvSpPr txBox="1"/>
          <p:nvPr/>
        </p:nvSpPr>
        <p:spPr>
          <a:xfrm>
            <a:off x="324000" y="5778000"/>
            <a:ext cx="2160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#9 ECT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01610B-9D9E-4D80-A95C-50AEB127B25D}"/>
              </a:ext>
            </a:extLst>
          </p:cNvPr>
          <p:cNvSpPr txBox="1"/>
          <p:nvPr/>
        </p:nvSpPr>
        <p:spPr>
          <a:xfrm>
            <a:off x="2628000" y="5778000"/>
            <a:ext cx="2772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#6 PECI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2F8BA70-E3EC-4436-8AE4-19038D39FBCB}"/>
              </a:ext>
            </a:extLst>
          </p:cNvPr>
          <p:cNvCxnSpPr>
            <a:stCxn id="14" idx="2"/>
            <a:endCxn id="20" idx="0"/>
          </p:cNvCxnSpPr>
          <p:nvPr/>
        </p:nvCxnSpPr>
        <p:spPr>
          <a:xfrm>
            <a:off x="7182000" y="2357541"/>
            <a:ext cx="0" cy="12305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877AC23-2FC7-4B4F-8F38-3C6782AC7DDA}"/>
              </a:ext>
            </a:extLst>
          </p:cNvPr>
          <p:cNvCxnSpPr>
            <a:stCxn id="20" idx="2"/>
            <a:endCxn id="19" idx="0"/>
          </p:cNvCxnSpPr>
          <p:nvPr/>
        </p:nvCxnSpPr>
        <p:spPr>
          <a:xfrm>
            <a:off x="7182000" y="3020593"/>
            <a:ext cx="0" cy="117340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1390A33-0F49-4BD1-B551-AD65511043D4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7182000" y="4734000"/>
            <a:ext cx="0" cy="32400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3954CC5-871E-404A-84D6-16BC7F31733A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4014000" y="4339084"/>
            <a:ext cx="0" cy="484998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BAA94E0-5F0C-4EF1-821C-19607DD2EDF6}"/>
              </a:ext>
            </a:extLst>
          </p:cNvPr>
          <p:cNvCxnSpPr>
            <a:stCxn id="7" idx="2"/>
            <a:endCxn id="15" idx="0"/>
          </p:cNvCxnSpPr>
          <p:nvPr/>
        </p:nvCxnSpPr>
        <p:spPr>
          <a:xfrm>
            <a:off x="4014000" y="2357541"/>
            <a:ext cx="0" cy="144154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3A333AC-5050-47F1-9749-64B51190833D}"/>
              </a:ext>
            </a:extLst>
          </p:cNvPr>
          <p:cNvCxnSpPr>
            <a:stCxn id="6" idx="2"/>
            <a:endCxn id="23" idx="0"/>
          </p:cNvCxnSpPr>
          <p:nvPr/>
        </p:nvCxnSpPr>
        <p:spPr>
          <a:xfrm>
            <a:off x="1404000" y="2556205"/>
            <a:ext cx="0" cy="163779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409C0A-B43A-477E-87FE-DBAC3DE42C56}"/>
              </a:ext>
            </a:extLst>
          </p:cNvPr>
          <p:cNvCxnSpPr>
            <a:stCxn id="23" idx="2"/>
            <a:endCxn id="22" idx="0"/>
          </p:cNvCxnSpPr>
          <p:nvPr/>
        </p:nvCxnSpPr>
        <p:spPr>
          <a:xfrm>
            <a:off x="1404000" y="4932664"/>
            <a:ext cx="0" cy="12533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2394099-F95E-468B-8009-75E6CE2A46AC}"/>
              </a:ext>
            </a:extLst>
          </p:cNvPr>
          <p:cNvSpPr txBox="1"/>
          <p:nvPr/>
        </p:nvSpPr>
        <p:spPr>
          <a:xfrm>
            <a:off x="1656000" y="136086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C7BDC4-18CB-4EA4-BF83-BE9CC5B51C2A}"/>
              </a:ext>
            </a:extLst>
          </p:cNvPr>
          <p:cNvSpPr txBox="1"/>
          <p:nvPr/>
        </p:nvSpPr>
        <p:spPr>
          <a:xfrm>
            <a:off x="1656000" y="616886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B0BD5D-2A25-46BE-9779-9C83633B10F6}"/>
              </a:ext>
            </a:extLst>
          </p:cNvPr>
          <p:cNvSpPr txBox="1"/>
          <p:nvPr/>
        </p:nvSpPr>
        <p:spPr>
          <a:xfrm>
            <a:off x="1656000" y="1102588"/>
            <a:ext cx="4680000" cy="288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2AC97E-9402-4352-B127-A7232AC138B6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3996000" y="924663"/>
            <a:ext cx="0" cy="17792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FCB8600-C95A-440E-93AF-9DD0B74BD521}"/>
              </a:ext>
            </a:extLst>
          </p:cNvPr>
          <p:cNvCxnSpPr>
            <a:stCxn id="35" idx="2"/>
            <a:endCxn id="36" idx="0"/>
          </p:cNvCxnSpPr>
          <p:nvPr/>
        </p:nvCxnSpPr>
        <p:spPr>
          <a:xfrm>
            <a:off x="3996000" y="443863"/>
            <a:ext cx="0" cy="17302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DF2838B-1CB5-4334-9449-EA2A059AC37B}"/>
              </a:ext>
            </a:extLst>
          </p:cNvPr>
          <p:cNvSpPr txBox="1"/>
          <p:nvPr/>
        </p:nvSpPr>
        <p:spPr>
          <a:xfrm>
            <a:off x="7423069" y="67952"/>
            <a:ext cx="1496487" cy="30777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Basic Causes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5E4DBE-D70D-4ABC-A0D7-BC9CFD80AC2E}"/>
              </a:ext>
            </a:extLst>
          </p:cNvPr>
          <p:cNvSpPr txBox="1"/>
          <p:nvPr/>
        </p:nvSpPr>
        <p:spPr>
          <a:xfrm>
            <a:off x="5630226" y="3289898"/>
            <a:ext cx="3153774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/>
              <a:t>Supervisor believed that production was paramount over </a:t>
            </a:r>
            <a:r>
              <a:rPr lang="en-US" dirty="0" smtClean="0"/>
              <a:t>safety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6DBAC0-5C45-4B0E-ABBE-985390C41F11}"/>
              </a:ext>
            </a:extLst>
          </p:cNvPr>
          <p:cNvSpPr txBox="1"/>
          <p:nvPr/>
        </p:nvSpPr>
        <p:spPr>
          <a:xfrm rot="1728864">
            <a:off x="6649789" y="421816"/>
            <a:ext cx="2180423" cy="1226939"/>
          </a:xfrm>
          <a:prstGeom prst="doubleWave">
            <a:avLst/>
          </a:prstGeom>
          <a:solidFill>
            <a:srgbClr val="00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kern="0" dirty="0">
                <a:solidFill>
                  <a:prstClr val="black"/>
                </a:solidFill>
                <a:latin typeface="Calibri" panose="020F0502020204030204"/>
              </a:rPr>
              <a:t>The RCA for the “Mine LI” is complete … or is it?</a:t>
            </a:r>
          </a:p>
        </p:txBody>
      </p:sp>
    </p:spTree>
    <p:extLst>
      <p:ext uri="{BB962C8B-B14F-4D97-AF65-F5344CB8AC3E}">
        <p14:creationId xmlns:p14="http://schemas.microsoft.com/office/powerpoint/2010/main" val="3718369685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“value” in doing the Root “Narrative”: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(You will practice</a:t>
            </a:r>
            <a:r>
              <a:rPr kumimoji="0" lang="en-US" altLang="en-US" sz="1600" b="0" i="1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this in your Prelim. RCA Chart Review Meeting)</a:t>
            </a:r>
            <a:endParaRPr kumimoji="0" lang="en-US" altLang="en-US" sz="16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Debris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fell on equipment, injuring </a:t>
            </a:r>
            <a:b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one </a:t>
            </a: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&amp; </a:t>
            </a: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damaged equipment; </a:t>
            </a:r>
            <a:endParaRPr kumimoji="0" lang="en-CA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 the Equipment &amp;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Were In Exclusion Zone;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 the Worker did not follow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exclusion zone procedures;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 the Worker disregarded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exclusion zone procedures;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 Procedures were not enforced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through audits;</a:t>
            </a: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Audits were not done on </a:t>
            </a:r>
            <a:r>
              <a:rPr lang="en-US" altLang="en-US" b="1" dirty="0" smtClean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1" dirty="0" smtClean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1" dirty="0" smtClean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exclusion zone </a:t>
            </a:r>
            <a:r>
              <a:rPr lang="en-US" altLang="en-US" b="1" dirty="0" smtClean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procedures</a:t>
            </a: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;</a:t>
            </a:r>
            <a:endParaRPr kumimoji="0" lang="en-CA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evaluation program did not </a:t>
            </a: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include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exclusion zone procedures </a:t>
            </a: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auditing schedule</a:t>
            </a: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kumimoji="0" lang="en-CA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Example: </a:t>
            </a:r>
            <a:r>
              <a:rPr lang="en-CA" altLang="en-US" sz="240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 the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Narrative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&amp; How to Avoid Logic Leaps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D1F2C2-A014-451E-BC1A-F3205A180FC1}"/>
              </a:ext>
            </a:extLst>
          </p:cNvPr>
          <p:cNvSpPr txBox="1"/>
          <p:nvPr/>
        </p:nvSpPr>
        <p:spPr>
          <a:xfrm>
            <a:off x="6386700" y="1068373"/>
            <a:ext cx="2160000" cy="646331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 on equipment, injuring one </a:t>
            </a:r>
            <a:r>
              <a:rPr kumimoji="0" lang="en-CA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5494CF-2189-454B-8DBB-470B1DEAE4E8}"/>
              </a:ext>
            </a:extLst>
          </p:cNvPr>
          <p:cNvSpPr txBox="1"/>
          <p:nvPr/>
        </p:nvSpPr>
        <p:spPr>
          <a:xfrm>
            <a:off x="6386700" y="1968476"/>
            <a:ext cx="2160000" cy="461665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289FE8-EB7B-44C6-8280-6B42869EA864}"/>
              </a:ext>
            </a:extLst>
          </p:cNvPr>
          <p:cNvSpPr txBox="1"/>
          <p:nvPr/>
        </p:nvSpPr>
        <p:spPr>
          <a:xfrm>
            <a:off x="6386700" y="2657038"/>
            <a:ext cx="2160000" cy="432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2E6428-FA6F-4512-8197-CBD8146CBE77}"/>
              </a:ext>
            </a:extLst>
          </p:cNvPr>
          <p:cNvSpPr txBox="1"/>
          <p:nvPr/>
        </p:nvSpPr>
        <p:spPr>
          <a:xfrm>
            <a:off x="6386700" y="3342810"/>
            <a:ext cx="2160000" cy="432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disregarded exclusion zone procedures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AFE38F-9A38-4F54-8D7A-E17A757CD7B8}"/>
              </a:ext>
            </a:extLst>
          </p:cNvPr>
          <p:cNvSpPr txBox="1"/>
          <p:nvPr/>
        </p:nvSpPr>
        <p:spPr>
          <a:xfrm>
            <a:off x="6386700" y="4028582"/>
            <a:ext cx="2160000" cy="432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Procedures were not enforced through audits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8D989A-AD54-4687-9CE7-161D67A5D549}"/>
              </a:ext>
            </a:extLst>
          </p:cNvPr>
          <p:cNvSpPr txBox="1"/>
          <p:nvPr/>
        </p:nvSpPr>
        <p:spPr>
          <a:xfrm>
            <a:off x="6344168" y="5400126"/>
            <a:ext cx="2257570" cy="83099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LC2-S</a:t>
            </a: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  <a:r>
              <a:rPr lang="en-US" sz="12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12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The evaluation program did not include the exclusion zone procedures on the auditing </a:t>
            </a:r>
            <a:r>
              <a:rPr lang="en-US" sz="12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schedule.</a:t>
            </a:r>
            <a:endParaRPr kumimoji="0" lang="en-CA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751058-D5D3-4C72-B72E-3B0FE1C8E3DB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7466700" y="2430141"/>
            <a:ext cx="0" cy="22689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EDBB99B-68BE-4B49-8346-7F664617BE7F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7466700" y="1714704"/>
            <a:ext cx="0" cy="25377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BFBDE73-411C-4881-935B-BA922BA2FA8D}"/>
              </a:ext>
            </a:extLst>
          </p:cNvPr>
          <p:cNvSpPr txBox="1"/>
          <p:nvPr/>
        </p:nvSpPr>
        <p:spPr>
          <a:xfrm>
            <a:off x="6386700" y="4629290"/>
            <a:ext cx="2160000" cy="64633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kern="0" dirty="0">
                <a:solidFill>
                  <a:srgbClr val="FF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Audits were not done on the exclusion zone procedures.</a:t>
            </a:r>
            <a:endParaRPr lang="en-US" sz="1200" b="1" kern="0" dirty="0">
              <a:solidFill>
                <a:srgbClr val="FF0000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B8D4BEA-77F0-4755-A03B-26118D21E052}"/>
              </a:ext>
            </a:extLst>
          </p:cNvPr>
          <p:cNvCxnSpPr>
            <a:stCxn id="11" idx="2"/>
            <a:endCxn id="14" idx="0"/>
          </p:cNvCxnSpPr>
          <p:nvPr/>
        </p:nvCxnSpPr>
        <p:spPr>
          <a:xfrm>
            <a:off x="7466700" y="3089038"/>
            <a:ext cx="0" cy="25377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70551EC-E026-4D27-A4FC-DCD47B0E4E3F}"/>
              </a:ext>
            </a:extLst>
          </p:cNvPr>
          <p:cNvCxnSpPr>
            <a:stCxn id="19" idx="2"/>
            <a:endCxn id="16" idx="0"/>
          </p:cNvCxnSpPr>
          <p:nvPr/>
        </p:nvCxnSpPr>
        <p:spPr>
          <a:xfrm>
            <a:off x="7466700" y="5275621"/>
            <a:ext cx="6253" cy="12450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9756F7C-35B6-4600-9D4A-804B816B7EDB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7466700" y="3774810"/>
            <a:ext cx="0" cy="25377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CAA8CC-A944-4846-AC7E-797E749D3CED}"/>
              </a:ext>
            </a:extLst>
          </p:cNvPr>
          <p:cNvCxnSpPr>
            <a:stCxn id="15" idx="2"/>
            <a:endCxn id="19" idx="0"/>
          </p:cNvCxnSpPr>
          <p:nvPr/>
        </p:nvCxnSpPr>
        <p:spPr>
          <a:xfrm>
            <a:off x="7466700" y="4460582"/>
            <a:ext cx="0" cy="168708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AEF77C-6B32-416B-A0EF-934084153C18}"/>
              </a:ext>
            </a:extLst>
          </p:cNvPr>
          <p:cNvSpPr txBox="1"/>
          <p:nvPr/>
        </p:nvSpPr>
        <p:spPr>
          <a:xfrm>
            <a:off x="5055330" y="4690777"/>
            <a:ext cx="1208708" cy="485242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Improved!</a:t>
            </a:r>
          </a:p>
        </p:txBody>
      </p:sp>
    </p:spTree>
    <p:extLst>
      <p:ext uri="{BB962C8B-B14F-4D97-AF65-F5344CB8AC3E}">
        <p14:creationId xmlns:p14="http://schemas.microsoft.com/office/powerpoint/2010/main" val="4031907484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0920BB-4471-4E6F-8D87-D96EFA40618F}"/>
              </a:ext>
            </a:extLst>
          </p:cNvPr>
          <p:cNvSpPr txBox="1"/>
          <p:nvPr/>
        </p:nvSpPr>
        <p:spPr>
          <a:xfrm>
            <a:off x="324000" y="1817541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05B82A-2BA4-4CAB-993C-2B1AA7E470CE}"/>
              </a:ext>
            </a:extLst>
          </p:cNvPr>
          <p:cNvSpPr txBox="1"/>
          <p:nvPr/>
        </p:nvSpPr>
        <p:spPr>
          <a:xfrm>
            <a:off x="2628000" y="1817541"/>
            <a:ext cx="2772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BC-JF: Worker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0" name="Elbow Connector 71">
            <a:extLst>
              <a:ext uri="{FF2B5EF4-FFF2-40B4-BE49-F238E27FC236}">
                <a16:creationId xmlns:a16="http://schemas.microsoft.com/office/drawing/2014/main" id="{6157B0C3-C366-4071-9C93-CD9F9D48D667}"/>
              </a:ext>
            </a:extLst>
          </p:cNvPr>
          <p:cNvCxnSpPr>
            <a:stCxn id="37" idx="2"/>
            <a:endCxn id="14" idx="0"/>
          </p:cNvCxnSpPr>
          <p:nvPr/>
        </p:nvCxnSpPr>
        <p:spPr>
          <a:xfrm rot="16200000" flipH="1">
            <a:off x="5375524" y="11064"/>
            <a:ext cx="426953" cy="3186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8C862CAE-2CD5-422E-B4BA-45F283A8707F}"/>
              </a:ext>
            </a:extLst>
          </p:cNvPr>
          <p:cNvCxnSpPr>
            <a:stCxn id="37" idx="2"/>
            <a:endCxn id="6" idx="0"/>
          </p:cNvCxnSpPr>
          <p:nvPr/>
        </p:nvCxnSpPr>
        <p:spPr>
          <a:xfrm rot="5400000">
            <a:off x="2486524" y="308064"/>
            <a:ext cx="426953" cy="2592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66CCFC9-F10C-4A53-8B3D-D1F8BFE7E715}"/>
              </a:ext>
            </a:extLst>
          </p:cNvPr>
          <p:cNvSpPr txBox="1"/>
          <p:nvPr/>
        </p:nvSpPr>
        <p:spPr>
          <a:xfrm>
            <a:off x="5580000" y="1817541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5D8AF8-F9DD-4508-9E56-748064DE6CD6}"/>
              </a:ext>
            </a:extLst>
          </p:cNvPr>
          <p:cNvSpPr txBox="1"/>
          <p:nvPr/>
        </p:nvSpPr>
        <p:spPr>
          <a:xfrm>
            <a:off x="2628000" y="4824084"/>
            <a:ext cx="2772000" cy="95410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LC2-S: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LC2: The evaluation program did not include the exclusion zone procedures on the auditing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schedule.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90F469F-CB33-46C8-BCFD-F1032C01AB5A}"/>
              </a:ext>
            </a:extLst>
          </p:cNvPr>
          <p:cNvCxnSpPr>
            <a:stCxn id="37" idx="2"/>
            <a:endCxn id="7" idx="0"/>
          </p:cNvCxnSpPr>
          <p:nvPr/>
        </p:nvCxnSpPr>
        <p:spPr>
          <a:xfrm>
            <a:off x="3996000" y="1390588"/>
            <a:ext cx="18000" cy="42695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Flowchart: Punched Tape 17">
            <a:extLst>
              <a:ext uri="{FF2B5EF4-FFF2-40B4-BE49-F238E27FC236}">
                <a16:creationId xmlns:a16="http://schemas.microsoft.com/office/drawing/2014/main" id="{FAB05A93-C70A-4D15-87C5-57AF0EAE3C1E}"/>
              </a:ext>
            </a:extLst>
          </p:cNvPr>
          <p:cNvSpPr/>
          <p:nvPr/>
        </p:nvSpPr>
        <p:spPr bwMode="auto">
          <a:xfrm>
            <a:off x="3771059" y="1426654"/>
            <a:ext cx="437760" cy="324152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C57B0A-17D5-4553-BAE2-0881803D2F52}"/>
              </a:ext>
            </a:extLst>
          </p:cNvPr>
          <p:cNvSpPr txBox="1"/>
          <p:nvPr/>
        </p:nvSpPr>
        <p:spPr>
          <a:xfrm>
            <a:off x="5580000" y="4194000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 err="1"/>
              <a:t>Sr</a:t>
            </a:r>
            <a:r>
              <a:rPr lang="en-US" dirty="0"/>
              <a:t> </a:t>
            </a:r>
            <a:r>
              <a:rPr lang="en-US" dirty="0" err="1"/>
              <a:t>Mngmt</a:t>
            </a:r>
            <a:r>
              <a:rPr lang="en-US" dirty="0"/>
              <a:t> expectations were not in alignment with core safety values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F202EC-1D0C-427A-AE0B-470C6433BFFE}"/>
              </a:ext>
            </a:extLst>
          </p:cNvPr>
          <p:cNvSpPr txBox="1"/>
          <p:nvPr/>
        </p:nvSpPr>
        <p:spPr>
          <a:xfrm>
            <a:off x="5580000" y="2480593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BC-</a:t>
            </a:r>
            <a:r>
              <a:rPr lang="en-CA" dirty="0" smtClean="0"/>
              <a:t>PF: </a:t>
            </a: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prioritized production over safety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812618-2149-4C65-9846-69B1C499731C}"/>
              </a:ext>
            </a:extLst>
          </p:cNvPr>
          <p:cNvSpPr txBox="1"/>
          <p:nvPr/>
        </p:nvSpPr>
        <p:spPr>
          <a:xfrm>
            <a:off x="5580000" y="5058000"/>
            <a:ext cx="3204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LC3-C: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Core Safety Values Communications Program was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not implemented.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**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76F47D-B0EF-4A9A-BC89-C7F5E155D4AB}"/>
              </a:ext>
            </a:extLst>
          </p:cNvPr>
          <p:cNvSpPr txBox="1"/>
          <p:nvPr/>
        </p:nvSpPr>
        <p:spPr>
          <a:xfrm>
            <a:off x="324000" y="5058000"/>
            <a:ext cx="2160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LC1-P: There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was no training program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mining operations.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4EE6F8-9DA2-4978-BDB0-49A1AA7773E8}"/>
              </a:ext>
            </a:extLst>
          </p:cNvPr>
          <p:cNvSpPr txBox="1"/>
          <p:nvPr/>
        </p:nvSpPr>
        <p:spPr>
          <a:xfrm>
            <a:off x="324000" y="419400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Worker was not trained on those procedures</a:t>
            </a:r>
            <a:endParaRPr lang="en-CA" sz="1400" b="1" kern="0" dirty="0">
              <a:solidFill>
                <a:srgbClr val="000000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157259-BD63-4390-9054-FE19666E5AF9}"/>
              </a:ext>
            </a:extLst>
          </p:cNvPr>
          <p:cNvSpPr txBox="1"/>
          <p:nvPr/>
        </p:nvSpPr>
        <p:spPr>
          <a:xfrm>
            <a:off x="7423069" y="409144"/>
            <a:ext cx="1496487" cy="30777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FB76E2-854C-475F-ACC2-9DF32D7FB532}"/>
              </a:ext>
            </a:extLst>
          </p:cNvPr>
          <p:cNvSpPr txBox="1"/>
          <p:nvPr/>
        </p:nvSpPr>
        <p:spPr>
          <a:xfrm>
            <a:off x="5580000" y="5778000"/>
            <a:ext cx="3204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#1 MLCA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D31642-1052-4C82-896B-93319CE6D4CB}"/>
              </a:ext>
            </a:extLst>
          </p:cNvPr>
          <p:cNvSpPr txBox="1"/>
          <p:nvPr/>
        </p:nvSpPr>
        <p:spPr>
          <a:xfrm>
            <a:off x="324000" y="5778000"/>
            <a:ext cx="2160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#9 ECT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01610B-9D9E-4D80-A95C-50AEB127B25D}"/>
              </a:ext>
            </a:extLst>
          </p:cNvPr>
          <p:cNvSpPr txBox="1"/>
          <p:nvPr/>
        </p:nvSpPr>
        <p:spPr>
          <a:xfrm>
            <a:off x="2628000" y="5778000"/>
            <a:ext cx="2772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#6 PECI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2F8BA70-E3EC-4436-8AE4-19038D39FBCB}"/>
              </a:ext>
            </a:extLst>
          </p:cNvPr>
          <p:cNvCxnSpPr>
            <a:stCxn id="14" idx="2"/>
            <a:endCxn id="20" idx="0"/>
          </p:cNvCxnSpPr>
          <p:nvPr/>
        </p:nvCxnSpPr>
        <p:spPr>
          <a:xfrm>
            <a:off x="7182000" y="2357541"/>
            <a:ext cx="0" cy="12305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877AC23-2FC7-4B4F-8F38-3C6782AC7DDA}"/>
              </a:ext>
            </a:extLst>
          </p:cNvPr>
          <p:cNvCxnSpPr>
            <a:stCxn id="20" idx="2"/>
            <a:endCxn id="19" idx="0"/>
          </p:cNvCxnSpPr>
          <p:nvPr/>
        </p:nvCxnSpPr>
        <p:spPr>
          <a:xfrm>
            <a:off x="7182000" y="3020593"/>
            <a:ext cx="0" cy="117340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1390A33-0F49-4BD1-B551-AD65511043D4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7182000" y="4734000"/>
            <a:ext cx="0" cy="32400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3954CC5-871E-404A-84D6-16BC7F31733A}"/>
              </a:ext>
            </a:extLst>
          </p:cNvPr>
          <p:cNvCxnSpPr>
            <a:stCxn id="42" idx="2"/>
            <a:endCxn id="16" idx="0"/>
          </p:cNvCxnSpPr>
          <p:nvPr/>
        </p:nvCxnSpPr>
        <p:spPr>
          <a:xfrm flipH="1">
            <a:off x="4014000" y="4330346"/>
            <a:ext cx="1633" cy="493738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BAA94E0-5F0C-4EF1-821C-19607DD2EDF6}"/>
              </a:ext>
            </a:extLst>
          </p:cNvPr>
          <p:cNvCxnSpPr>
            <a:stCxn id="7" idx="2"/>
            <a:endCxn id="15" idx="0"/>
          </p:cNvCxnSpPr>
          <p:nvPr/>
        </p:nvCxnSpPr>
        <p:spPr>
          <a:xfrm>
            <a:off x="4014000" y="2357541"/>
            <a:ext cx="0" cy="506424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3A333AC-5050-47F1-9749-64B51190833D}"/>
              </a:ext>
            </a:extLst>
          </p:cNvPr>
          <p:cNvCxnSpPr>
            <a:stCxn id="6" idx="2"/>
            <a:endCxn id="23" idx="0"/>
          </p:cNvCxnSpPr>
          <p:nvPr/>
        </p:nvCxnSpPr>
        <p:spPr>
          <a:xfrm>
            <a:off x="1404000" y="2556205"/>
            <a:ext cx="0" cy="163779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409C0A-B43A-477E-87FE-DBAC3DE42C56}"/>
              </a:ext>
            </a:extLst>
          </p:cNvPr>
          <p:cNvCxnSpPr>
            <a:stCxn id="23" idx="2"/>
            <a:endCxn id="22" idx="0"/>
          </p:cNvCxnSpPr>
          <p:nvPr/>
        </p:nvCxnSpPr>
        <p:spPr>
          <a:xfrm>
            <a:off x="1404000" y="4932664"/>
            <a:ext cx="0" cy="12533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2394099-F95E-468B-8009-75E6CE2A46AC}"/>
              </a:ext>
            </a:extLst>
          </p:cNvPr>
          <p:cNvSpPr txBox="1"/>
          <p:nvPr/>
        </p:nvSpPr>
        <p:spPr>
          <a:xfrm>
            <a:off x="1656000" y="136086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C7BDC4-18CB-4EA4-BF83-BE9CC5B51C2A}"/>
              </a:ext>
            </a:extLst>
          </p:cNvPr>
          <p:cNvSpPr txBox="1"/>
          <p:nvPr/>
        </p:nvSpPr>
        <p:spPr>
          <a:xfrm>
            <a:off x="1656000" y="616886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B0BD5D-2A25-46BE-9779-9C83633B10F6}"/>
              </a:ext>
            </a:extLst>
          </p:cNvPr>
          <p:cNvSpPr txBox="1"/>
          <p:nvPr/>
        </p:nvSpPr>
        <p:spPr>
          <a:xfrm>
            <a:off x="1656000" y="1102588"/>
            <a:ext cx="4680000" cy="288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2AC97E-9402-4352-B127-A7232AC138B6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3996000" y="924663"/>
            <a:ext cx="0" cy="17792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FCB8600-C95A-440E-93AF-9DD0B74BD521}"/>
              </a:ext>
            </a:extLst>
          </p:cNvPr>
          <p:cNvCxnSpPr>
            <a:stCxn id="35" idx="2"/>
            <a:endCxn id="36" idx="0"/>
          </p:cNvCxnSpPr>
          <p:nvPr/>
        </p:nvCxnSpPr>
        <p:spPr>
          <a:xfrm>
            <a:off x="3996000" y="443863"/>
            <a:ext cx="0" cy="17302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DF2838B-1CB5-4334-9449-EA2A059AC37B}"/>
              </a:ext>
            </a:extLst>
          </p:cNvPr>
          <p:cNvSpPr txBox="1"/>
          <p:nvPr/>
        </p:nvSpPr>
        <p:spPr>
          <a:xfrm>
            <a:off x="7423069" y="67952"/>
            <a:ext cx="1496487" cy="30777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Basic Causes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5E4DBE-D70D-4ABC-A0D7-BC9CFD80AC2E}"/>
              </a:ext>
            </a:extLst>
          </p:cNvPr>
          <p:cNvSpPr txBox="1"/>
          <p:nvPr/>
        </p:nvSpPr>
        <p:spPr>
          <a:xfrm>
            <a:off x="5630226" y="3289898"/>
            <a:ext cx="3153774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/>
              <a:t>Supervisor believed that production was paramount over </a:t>
            </a:r>
            <a:r>
              <a:rPr lang="en-US" dirty="0" smtClean="0"/>
              <a:t>safety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736E2D7-0F00-401E-93F2-662D6A067F26}"/>
              </a:ext>
            </a:extLst>
          </p:cNvPr>
          <p:cNvSpPr txBox="1"/>
          <p:nvPr/>
        </p:nvSpPr>
        <p:spPr>
          <a:xfrm>
            <a:off x="2629633" y="3807126"/>
            <a:ext cx="2772000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Audits were not done on the exclusion zone procedures.</a:t>
            </a:r>
            <a:endParaRPr lang="en-US" sz="1400" kern="0" dirty="0">
              <a:solidFill>
                <a:srgbClr val="000000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6DBAC0-5C45-4B0E-ABBE-985390C41F11}"/>
              </a:ext>
            </a:extLst>
          </p:cNvPr>
          <p:cNvSpPr txBox="1"/>
          <p:nvPr/>
        </p:nvSpPr>
        <p:spPr>
          <a:xfrm rot="1728864">
            <a:off x="6649789" y="544510"/>
            <a:ext cx="2180423" cy="981551"/>
          </a:xfrm>
          <a:prstGeom prst="doubleWave">
            <a:avLst/>
          </a:prstGeom>
          <a:solidFill>
            <a:srgbClr val="00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 smtClean="0">
                <a:solidFill>
                  <a:prstClr val="black"/>
                </a:solidFill>
                <a:latin typeface="Calibri" panose="020F0502020204030204"/>
              </a:rPr>
              <a:t>Now there is very little room for improvement … 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“Mine LI”!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6E2D7-0F00-401E-93F2-662D6A067F26}"/>
              </a:ext>
            </a:extLst>
          </p:cNvPr>
          <p:cNvSpPr txBox="1"/>
          <p:nvPr/>
        </p:nvSpPr>
        <p:spPr>
          <a:xfrm>
            <a:off x="2628000" y="2863965"/>
            <a:ext cx="2772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Procedures </a:t>
            </a:r>
            <a:r>
              <a:rPr lang="en-CA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were not enforced through audits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BAA94E0-5F0C-4EF1-821C-19607DD2EDF6}"/>
              </a:ext>
            </a:extLst>
          </p:cNvPr>
          <p:cNvCxnSpPr>
            <a:stCxn id="15" idx="2"/>
            <a:endCxn id="42" idx="0"/>
          </p:cNvCxnSpPr>
          <p:nvPr/>
        </p:nvCxnSpPr>
        <p:spPr>
          <a:xfrm>
            <a:off x="4014000" y="3403965"/>
            <a:ext cx="1633" cy="40316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886918199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ALE #3: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 Statement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lvl="1" eaLnBrk="0" fontAlgn="base" hangingPunct="0">
              <a:spcAft>
                <a:spcPct val="0"/>
              </a:spcAft>
              <a:buSzPct val="100000"/>
            </a:pPr>
            <a:r>
              <a:rPr lang="en-US" altLang="en-US" sz="200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Please confer on these two questions:</a:t>
            </a:r>
            <a:endParaRPr lang="en-US" altLang="en-US" sz="2000" i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i="1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Which </a:t>
            </a:r>
            <a:r>
              <a:rPr kumimoji="0" lang="en-CA" altLang="en-US" sz="200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a more appropriate </a:t>
            </a:r>
            <a:r>
              <a:rPr kumimoji="0" lang="en-CA" altLang="en-US" sz="200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form of a statement </a:t>
            </a:r>
            <a:r>
              <a:rPr kumimoji="0" lang="en-CA" altLang="en-US" sz="200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a </a:t>
            </a:r>
            <a:r>
              <a:rPr kumimoji="0" lang="en-CA" altLang="en-US" sz="2000" i="1" u="sng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</a:t>
            </a:r>
            <a:r>
              <a:rPr kumimoji="0" lang="en-CA" altLang="en-US" sz="2000" i="1" u="sng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</a:t>
            </a:r>
            <a:r>
              <a:rPr kumimoji="0" lang="en-CA" altLang="en-US" sz="200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?</a:t>
            </a:r>
            <a:br>
              <a:rPr kumimoji="0" lang="en-CA" altLang="en-US" sz="200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200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(Show of hands)</a:t>
            </a:r>
            <a:endParaRPr lang="en-US" altLang="en-US" sz="2000" i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i="1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Why?  </a:t>
            </a:r>
            <a:r>
              <a:rPr kumimoji="0" lang="en-CA" altLang="en-US" sz="200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(Open discussion)</a:t>
            </a:r>
            <a:endParaRPr kumimoji="0" lang="en-CA" altLang="en-US" sz="200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lvl="1" indent="0">
              <a:spcBef>
                <a:spcPts val="0"/>
              </a:spcBef>
              <a:buNone/>
            </a:pPr>
            <a:endParaRPr lang="en-US" altLang="en-US" sz="2000" i="1" dirty="0" smtClean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1" indent="0" eaLnBrk="0" fontAlgn="base" hangingPunct="0">
              <a:spcBef>
                <a:spcPts val="0"/>
              </a:spcBef>
              <a:spcAft>
                <a:spcPct val="0"/>
              </a:spcAft>
              <a:buSzPct val="100000"/>
              <a:buNone/>
            </a:pPr>
            <a:r>
              <a:rPr lang="en-US" altLang="en-US" sz="2000" i="1" dirty="0">
                <a:solidFill>
                  <a:srgbClr val="FFFFFF"/>
                </a:solidFill>
                <a:latin typeface="Arial" panose="020B0604020202020204" pitchFamily="34" charset="0"/>
              </a:rPr>
              <a:t>A: Managers did not complete audits on exclusion zone </a:t>
            </a:r>
            <a:r>
              <a:rPr lang="en-US" altLang="en-US" sz="200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procedures.</a:t>
            </a:r>
            <a:endParaRPr lang="en-US" altLang="en-US" sz="2000" i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1" indent="0" eaLnBrk="0" fontAlgn="base" hangingPunct="0">
              <a:spcBef>
                <a:spcPts val="0"/>
              </a:spcBef>
              <a:spcAft>
                <a:spcPct val="0"/>
              </a:spcAft>
              <a:buSzPct val="100000"/>
              <a:buNone/>
            </a:pPr>
            <a:r>
              <a:rPr lang="en-US" altLang="en-US" sz="2000" i="1" dirty="0">
                <a:solidFill>
                  <a:srgbClr val="FFFFFF"/>
                </a:solidFill>
                <a:latin typeface="Arial" panose="020B0604020202020204" pitchFamily="34" charset="0"/>
              </a:rPr>
              <a:t>     </a:t>
            </a:r>
          </a:p>
          <a:p>
            <a:pPr marL="0" lvl="1" indent="0" eaLnBrk="0" fontAlgn="base" hangingPunct="0">
              <a:spcBef>
                <a:spcPts val="0"/>
              </a:spcBef>
              <a:spcAft>
                <a:spcPct val="0"/>
              </a:spcAft>
              <a:buSzPct val="100000"/>
              <a:buNone/>
            </a:pPr>
            <a:r>
              <a:rPr lang="en-US" altLang="en-US" sz="2000" i="1" dirty="0">
                <a:solidFill>
                  <a:srgbClr val="FFFFFF"/>
                </a:solidFill>
                <a:latin typeface="Arial" panose="020B0604020202020204" pitchFamily="34" charset="0"/>
              </a:rPr>
              <a:t>B: </a:t>
            </a:r>
            <a:r>
              <a:rPr lang="en-US" altLang="en-US" sz="200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The </a:t>
            </a:r>
            <a:r>
              <a:rPr lang="en-US" altLang="en-US" sz="2000" i="1" dirty="0">
                <a:solidFill>
                  <a:srgbClr val="FFFFFF"/>
                </a:solidFill>
                <a:latin typeface="Arial" panose="020B0604020202020204" pitchFamily="34" charset="0"/>
              </a:rPr>
              <a:t>evaluation program did not include the exclusion zone procedures on the auditing schedule.</a:t>
            </a:r>
            <a:endParaRPr lang="en-US" altLang="en-US" sz="2000" i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516264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altLang="en-US" sz="240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Best Practices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 Statement, page 1 of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lvl="0" eaLnBrk="0" fontAlgn="base" hangingPunct="0">
              <a:lnSpc>
                <a:spcPct val="90000"/>
              </a:lnSpc>
              <a:spcAft>
                <a:spcPct val="0"/>
              </a:spcAft>
              <a:buSzPct val="100000"/>
              <a:defRPr/>
            </a:pPr>
            <a:r>
              <a:rPr lang="en-US" altLang="en-US" b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Best practices for writing a latent cause statement:</a:t>
            </a:r>
          </a:p>
          <a:p>
            <a:pPr marL="360000" lvl="0" indent="-360000" eaLnBrk="0" fontAlgn="base" hangingPunct="0">
              <a:lnSpc>
                <a:spcPct val="90000"/>
              </a:lnSpc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Unique and specific to the root</a:t>
            </a:r>
          </a:p>
          <a:p>
            <a:pPr marL="360000" lvl="0" indent="-360000" eaLnBrk="0" fontAlgn="base" hangingPunct="0">
              <a:lnSpc>
                <a:spcPct val="90000"/>
              </a:lnSpc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Relates to one RM element </a:t>
            </a:r>
          </a:p>
          <a:p>
            <a:pPr marL="360000" lvl="0" indent="-360000" eaLnBrk="0" fontAlgn="base" hangingPunct="0">
              <a:lnSpc>
                <a:spcPct val="90000"/>
              </a:lnSpc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Expressed in terms relating to:</a:t>
            </a:r>
            <a:b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“P = Inadequate </a:t>
            </a: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rogram”, </a:t>
            </a:r>
            <a:b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“S = Inadequate Program Standards”, or </a:t>
            </a:r>
            <a:b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“C = Inadequate Compliance with Program Standards”</a:t>
            </a:r>
            <a:endParaRPr lang="en-US" altLang="en-US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90000"/>
              </a:lnSpc>
              <a:spcAft>
                <a:spcPct val="0"/>
              </a:spcAft>
              <a:buClrTx/>
              <a:buSzPct val="100000"/>
              <a:tabLst/>
              <a:defRPr/>
            </a:pPr>
            <a:endParaRPr kumimoji="0" lang="en-CA" altLang="en-US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90000"/>
              </a:lnSpc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Some fairly simple forms </a:t>
            </a:r>
            <a:r>
              <a:rPr lang="en-CA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a statement for a latent cause in this RCA</a:t>
            </a:r>
            <a:r>
              <a:rPr lang="en-CA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  <a:br>
              <a:rPr lang="en-CA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endParaRPr lang="en-CA" altLang="en-US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90000"/>
              </a:lnSpc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[</a:t>
            </a: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Statement A is unacceptable – this “blames management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” AND it is NOT a latent cause statement.]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en-US" altLang="en-US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Managers did not complete audits on exclusion zone </a:t>
            </a: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procedures.</a:t>
            </a:r>
            <a:b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endParaRPr lang="en-US" altLang="en-US" i="1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90000"/>
              </a:lnSpc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[Statement </a:t>
            </a: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 is 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acceptable.]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</a:t>
            </a:r>
            <a:r>
              <a:rPr lang="en-US" altLang="en-US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evaluation program did not include the exclusion zone procedures on the auditing schedule.</a:t>
            </a:r>
            <a:endParaRPr lang="en-US" altLang="en-US" i="1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90000"/>
              </a:lnSpc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55075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altLang="en-US" sz="240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Best Practices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 Statement, page</a:t>
            </a:r>
            <a:r>
              <a:rPr kumimoji="0" lang="en-CA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2 of </a:t>
            </a:r>
            <a:r>
              <a:rPr kumimoji="0" lang="en-CA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lvl="0" eaLnBrk="0" fontAlgn="base" hangingPunct="0">
              <a:spcAft>
                <a:spcPct val="0"/>
              </a:spcAft>
              <a:buSzPct val="100000"/>
              <a:defRPr/>
            </a:pPr>
            <a:r>
              <a:rPr lang="en-US" altLang="en-US" b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Some great examples of latent cause statement (from a different LI and RCA):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endParaRPr kumimoji="0" lang="en-CA" altLang="en-US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LC1-P: There was no training program for any engineers that were hired by the company. #9EC&amp;T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LC2-S: The incident reporting program 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did 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 include reporting criteria (standards) for minor </a:t>
            </a: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incidents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#5 IRIAA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LC3-S: The 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program did not include a process or procedure (a standard) to communicate between management and training instructors about changes in training courses and requirements. #4 MOC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LC4-S</a:t>
            </a: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The 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information and documentation </a:t>
            </a: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program did not include a standard to describe how to manage and access the most current hydraulic standards. 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11 OFID</a:t>
            </a:r>
            <a:endParaRPr lang="en-US" altLang="en-US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LC5-C</a:t>
            </a: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The community awareness program had standards that described the downstream risks of the dam operation but these standards were not communicated to the downstream residents. #3 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CA&amp;EP</a:t>
            </a:r>
            <a:endParaRPr lang="en-US" altLang="en-US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endParaRPr kumimoji="0" lang="en-US" altLang="en-US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3322773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altLang="en-US" sz="240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Best Practices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 Statement, page</a:t>
            </a:r>
            <a:r>
              <a:rPr kumimoji="0" lang="en-CA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3 of </a:t>
            </a:r>
            <a:r>
              <a:rPr kumimoji="0" lang="en-CA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lvl="0" eaLnBrk="0" fontAlgn="base" hangingPunct="0">
              <a:spcAft>
                <a:spcPct val="0"/>
              </a:spcAft>
              <a:buSzPct val="100000"/>
              <a:defRPr/>
            </a:pPr>
            <a:r>
              <a:rPr lang="en-US" altLang="en-US" b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do these great examples of latent cause statement have in common?</a:t>
            </a:r>
          </a:p>
          <a:p>
            <a:pPr lvl="0" eaLnBrk="0" fontAlgn="base" hangingPunct="0">
              <a:spcAft>
                <a:spcPct val="0"/>
              </a:spcAft>
              <a:buSzPct val="100000"/>
              <a:defRPr/>
            </a:pPr>
            <a:r>
              <a:rPr lang="en-US" altLang="en-US" b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They all have these items in common: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endParaRPr kumimoji="0" lang="en-CA" altLang="en-US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Labelled and numbered: LC1, LC2, etc.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Categorized as P, S, or C (The categorization with appropriately stated latent causes demonstrates the ability to differentiate among the three categories of latent causes.)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Each statement has four components, not specifically in this order: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+mj-lt"/>
              <a:buAutoNum type="arabicParenR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Relates to an element “training”, “design”, “incident reporting”, etc.; 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+mj-lt"/>
              <a:buAutoNum type="arabicParenR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Has the word “program”;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+mj-lt"/>
              <a:buAutoNum type="arabicParenR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Gives some level or degree of inadequacy that relates to the LC category e.g. inadequate program, inadequate program standards, or inadequate compliance with program standards;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+mj-lt"/>
              <a:buAutoNum type="arabicParenR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Specific and unique terms or phrases relevant to the root in question. 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stated latent cause then clearly links to a Risk Management System element. </a:t>
            </a:r>
            <a:endParaRPr kumimoji="0" lang="en-US" altLang="en-US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996881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altLang="en-US" sz="240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Resources for Best </a:t>
            </a:r>
            <a:r>
              <a:rPr lang="en-CA" altLang="en-US" sz="240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Practices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Aft>
                <a:spcPct val="0"/>
              </a:spcAft>
              <a:buSzPct val="100000"/>
              <a:defRPr/>
            </a:pPr>
            <a:endParaRPr lang="en-US" altLang="en-US" sz="2000" dirty="0" smtClean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“Factors </a:t>
            </a: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often missed or completed incorrectly for the RCA chart” in the </a:t>
            </a:r>
            <a:r>
              <a:rPr lang="en-US" altLang="en-US" sz="20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Team Project Instruction </a:t>
            </a:r>
            <a:r>
              <a:rPr lang="en-US" altLang="en-US" sz="2000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Manual 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2000" b="1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Topic #</a:t>
            </a:r>
            <a:r>
              <a:rPr lang="en-US" altLang="en-US" sz="2000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19 </a:t>
            </a:r>
            <a:r>
              <a:rPr lang="en-US" altLang="en-US" sz="20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4.2: Cause and Effect Model for Incident </a:t>
            </a:r>
            <a:r>
              <a:rPr lang="en-US" altLang="en-US" sz="2000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Analysis and Chapter </a:t>
            </a:r>
            <a:r>
              <a:rPr lang="en-US" altLang="en-US" sz="20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4.3: Root Cause Analysis of an </a:t>
            </a:r>
            <a:r>
              <a:rPr lang="en-US" altLang="en-US" sz="2000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 - Fundamentals</a:t>
            </a:r>
            <a:endParaRPr lang="en-US" altLang="en-US" sz="2000" b="1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2000" b="1" dirty="0" smtClean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Topic </a:t>
            </a:r>
            <a:r>
              <a:rPr lang="en-US" altLang="en-US" sz="2000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</a:t>
            </a:r>
            <a:r>
              <a:rPr lang="en-US" altLang="en-US" sz="2000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20</a:t>
            </a:r>
            <a:r>
              <a:rPr lang="en-US" altLang="en-US" sz="2000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000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</a:t>
            </a:r>
            <a:r>
              <a:rPr lang="en-US" altLang="en-US" sz="20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4.2: Cause and Effect Model for Incident </a:t>
            </a:r>
            <a:r>
              <a:rPr lang="en-US" altLang="en-US" sz="2000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Analysis and Chapter </a:t>
            </a:r>
            <a:r>
              <a:rPr lang="en-US" altLang="en-US" sz="20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4.3: Root Cause Analysis of an </a:t>
            </a:r>
            <a:r>
              <a:rPr lang="en-US" altLang="en-US" sz="2000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 - </a:t>
            </a:r>
            <a:r>
              <a:rPr lang="en-US" altLang="en-US" sz="20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</a:t>
            </a:r>
            <a:r>
              <a:rPr lang="en-US" altLang="en-US" sz="2000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Causes</a:t>
            </a:r>
            <a:endParaRPr lang="en-US" altLang="en-US" sz="2000" b="1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2000" b="1" dirty="0" smtClean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Topic </a:t>
            </a:r>
            <a:r>
              <a:rPr lang="en-US" altLang="en-US" sz="2000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#46 </a:t>
            </a:r>
            <a:r>
              <a:rPr lang="en-US" altLang="en-US" sz="2000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</a:t>
            </a:r>
            <a:r>
              <a:rPr lang="en-US" altLang="en-US" sz="20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4.5 Linking Latent Causes </a:t>
            </a:r>
            <a:r>
              <a:rPr lang="en-US" altLang="en-US" sz="2000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</a:t>
            </a:r>
            <a:r>
              <a:rPr lang="en-US" altLang="en-US" sz="20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Recommendations for Action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2000" b="1" dirty="0" smtClean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2000" b="1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endParaRPr kumimoji="0" lang="en-CA" altLang="en-US" sz="200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084655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Once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think you are completed: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Look for any logic leaps or any roots that could benefit with more causation details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Take time to verify by looking for hard evidence for each and every one of your causes. </a:t>
            </a:r>
            <a:endParaRPr kumimoji="0" lang="en-CA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Note: </a:t>
            </a: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your team project, </a:t>
            </a: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suppositions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are </a:t>
            </a: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acceptable i.e. what are the possible, reasonable, feasible, plausible causes?</a:t>
            </a:r>
            <a:endParaRPr kumimoji="0" lang="en-CA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lvl="0" indent="-432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Review the evidence and confirm your conclusions with your workplace colleagues. (Team project: check your suppositions with your team-mates; are they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possible, reasonable, feasible,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plausible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?)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This activity validates the actual causes (or plausible causes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the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case of your Team Project Loss Incident) and will be very supportive and valuable for determining recommendations and action items.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Developing and Validating the Causes: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3647489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Categories 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sub-categories of causes: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Immediate Causes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Basic Causes 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RCA Work Process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is used to create a logical sequence and understanding of incident causation in an 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RCA </a:t>
            </a: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Chart.</a:t>
            </a:r>
            <a:endParaRPr kumimoji="0" lang="en-CA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 and Effect Model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is used to categorize causes and to </a:t>
            </a:r>
            <a:r>
              <a:rPr kumimoji="0" lang="en-CA" altLang="en-US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test the depth and breadth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a 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Root Cause Analysis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</a:t>
            </a:r>
            <a:endParaRPr lang="en-US" altLang="en-US" i="1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endParaRPr lang="en-US" altLang="en-US" i="1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lang="en-US" altLang="en-US" i="1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Note on loss incident team project, you will use </a:t>
            </a:r>
            <a:r>
              <a:rPr lang="en-US" altLang="en-US" i="1" u="sng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the available facts</a:t>
            </a:r>
            <a:r>
              <a:rPr lang="en-US" altLang="en-US" i="1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 AND </a:t>
            </a:r>
            <a:r>
              <a:rPr lang="en-US" altLang="en-US" i="1" u="sng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your engineering know-how and deduction skills</a:t>
            </a:r>
            <a:r>
              <a:rPr lang="en-US" altLang="en-US" i="1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 to analyze the potential sequences that can lead to the incident in a similar context; apply your skills of rationale and supposition to determine </a:t>
            </a:r>
            <a:r>
              <a:rPr lang="en-US" altLang="en-US" i="1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possible, reasonable, feasible, </a:t>
            </a:r>
            <a:r>
              <a:rPr lang="en-US" altLang="en-US" i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and plausible </a:t>
            </a:r>
            <a:r>
              <a:rPr lang="en-US" altLang="en-US" i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causes</a:t>
            </a:r>
            <a:r>
              <a:rPr lang="en-US" altLang="en-US" i="1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. </a:t>
            </a:r>
            <a:endParaRPr lang="en-US" altLang="en-US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endParaRPr kumimoji="0" lang="en-CA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7505649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lang="en-US" altLang="en-US" sz="1800" b="1" i="1" dirty="0">
                <a:solidFill>
                  <a:srgbClr val="FF0000"/>
                </a:solidFill>
                <a:latin typeface="Arial" panose="020B0604020202020204" pitchFamily="34" charset="0"/>
              </a:rPr>
              <a:t>It is really, really easy to do a root cause analysis … badly.</a:t>
            </a:r>
            <a:br>
              <a:rPr lang="en-US" altLang="en-US" sz="1800" b="1" i="1" dirty="0">
                <a:solidFill>
                  <a:srgbClr val="FF0000"/>
                </a:solidFill>
                <a:latin typeface="Arial" panose="020B0604020202020204" pitchFamily="34" charset="0"/>
              </a:rPr>
            </a:br>
            <a:r>
              <a:rPr lang="en-US" altLang="en-US" sz="1800" b="1" i="1" dirty="0">
                <a:solidFill>
                  <a:srgbClr val="FF0000"/>
                </a:solidFill>
                <a:latin typeface="Arial" panose="020B0604020202020204" pitchFamily="34" charset="0"/>
              </a:rPr>
              <a:t>It takes practice to do a root cause analysis well!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Incidents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have causes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rooted in management system </a:t>
            </a:r>
            <a:r>
              <a:rPr kumimoji="0" lang="en-CA" altLang="en-US" sz="20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weaknesses</a:t>
            </a: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;</a:t>
            </a:r>
            <a:b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are called latent causes (also sometimes called root causes).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be discovered through a rigourous and disciplined root cause analysis; thus, management can take action on the management system to address the latent causes.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altLang="en-US" sz="240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Lessons: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97360FC2-F6E3-4AC1-8D53-88C5100C2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00" y="4056842"/>
            <a:ext cx="8633400" cy="1631216"/>
          </a:xfrm>
          <a:prstGeom prst="rect">
            <a:avLst/>
          </a:prstGeom>
          <a:solidFill>
            <a:sysClr val="windowText" lastClr="000000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  <a:effectLst>
            <a:prstShdw prst="shdw17" dist="17961" dir="2700000">
              <a:srgbClr val="00004D"/>
            </a:prstShdw>
          </a:effectLst>
        </p:spPr>
        <p:txBody>
          <a:bodyPr wrap="square" anchor="ctr" anchorCtr="1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A Latent Cause is synonymous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with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a weakness a management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system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element, and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can be aligned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to any one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specific management system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element; thus,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one can begin to make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a recommendation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to correct the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weakness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in the management system, and eliminate the latent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cause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that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can lead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to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an incident.</a:t>
            </a: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85891723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Must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relate the basic causes to the latent causes.</a:t>
            </a:r>
          </a:p>
          <a:p>
            <a:pPr marL="72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Requires a bit of reverse logic. A trick to use when you are at that level of the analysis: </a:t>
            </a:r>
          </a:p>
          <a:p>
            <a:pPr marL="108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express each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weakness in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RMS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element as a failure, </a:t>
            </a:r>
          </a:p>
          <a:p>
            <a:pPr marL="108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then compare each of these failures with the basic causes.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lvl="0" indent="-432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Each latent cause has a direct link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one,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unique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element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that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failed. </a:t>
            </a:r>
          </a:p>
          <a:p>
            <a:pPr marL="72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There is no universal set of latent causes; these must be expressed as weaknesses in the management system elements for the organization. </a:t>
            </a:r>
            <a:endParaRPr lang="en-US" altLang="en-US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well-written, acceptable latent cause statement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enables the creation of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recommendation to address that latent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cause.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reporting all causes types, not so important to align causes with the detailed lists; it is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important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to recognize cause type and in which major group a cause sits. 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Lessons: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6459197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07795351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2894</TotalTime>
  <Words>4348</Words>
  <Application>Microsoft Office PowerPoint</Application>
  <PresentationFormat>On-screen Show (4:3)</PresentationFormat>
  <Paragraphs>637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ＭＳ Ｐゴシック</vt:lpstr>
      <vt:lpstr>Arial</vt:lpstr>
      <vt:lpstr>Calibri</vt:lpstr>
      <vt:lpstr>Times New Roman</vt:lpstr>
      <vt:lpstr>Wingdings</vt:lpstr>
      <vt:lpstr>Default Design</vt:lpstr>
      <vt:lpstr>1_Default Design</vt:lpstr>
      <vt:lpstr>2_Default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Faculty of engineering, University of Alberta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JR Cocchio</dc:creator>
  <cp:lastModifiedBy>John Cocchio</cp:lastModifiedBy>
  <cp:revision>222</cp:revision>
  <dcterms:created xsi:type="dcterms:W3CDTF">2020-05-12T17:37:29Z</dcterms:created>
  <dcterms:modified xsi:type="dcterms:W3CDTF">2022-05-11T00:19:16Z</dcterms:modified>
</cp:coreProperties>
</file>