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4151" r:id="rId2"/>
  </p:sldMasterIdLst>
  <p:notesMasterIdLst>
    <p:notesMasterId r:id="rId20"/>
  </p:notesMasterIdLst>
  <p:handoutMasterIdLst>
    <p:handoutMasterId r:id="rId21"/>
  </p:handoutMasterIdLst>
  <p:sldIdLst>
    <p:sldId id="962" r:id="rId3"/>
    <p:sldId id="963" r:id="rId4"/>
    <p:sldId id="964" r:id="rId5"/>
    <p:sldId id="965" r:id="rId6"/>
    <p:sldId id="992" r:id="rId7"/>
    <p:sldId id="1002" r:id="rId8"/>
    <p:sldId id="997" r:id="rId9"/>
    <p:sldId id="999" r:id="rId10"/>
    <p:sldId id="968" r:id="rId11"/>
    <p:sldId id="969" r:id="rId12"/>
    <p:sldId id="970" r:id="rId13"/>
    <p:sldId id="971" r:id="rId14"/>
    <p:sldId id="995" r:id="rId15"/>
    <p:sldId id="996" r:id="rId16"/>
    <p:sldId id="972" r:id="rId17"/>
    <p:sldId id="1001" r:id="rId18"/>
    <p:sldId id="1000" r:id="rId19"/>
  </p:sldIdLst>
  <p:sldSz cx="9144000" cy="6858000" type="screen4x3"/>
  <p:notesSz cx="7010400" cy="9296400"/>
  <p:defaultTextStyle>
    <a:defPPr>
      <a:defRPr lang="en-US"/>
    </a:defPPr>
    <a:lvl1pPr algn="l" rtl="0" fontAlgn="base">
      <a:spcBef>
        <a:spcPct val="0"/>
      </a:spcBef>
      <a:spcAft>
        <a:spcPct val="0"/>
      </a:spcAft>
      <a:defRPr b="1" kern="1200">
        <a:solidFill>
          <a:schemeClr val="tx1"/>
        </a:solidFill>
        <a:latin typeface="Arial" charset="0"/>
        <a:ea typeface="+mn-ea"/>
        <a:cs typeface="+mn-cs"/>
      </a:defRPr>
    </a:lvl1pPr>
    <a:lvl2pPr marL="457200" algn="l" rtl="0" fontAlgn="base">
      <a:spcBef>
        <a:spcPct val="0"/>
      </a:spcBef>
      <a:spcAft>
        <a:spcPct val="0"/>
      </a:spcAft>
      <a:defRPr b="1" kern="1200">
        <a:solidFill>
          <a:schemeClr val="tx1"/>
        </a:solidFill>
        <a:latin typeface="Arial" charset="0"/>
        <a:ea typeface="+mn-ea"/>
        <a:cs typeface="+mn-cs"/>
      </a:defRPr>
    </a:lvl2pPr>
    <a:lvl3pPr marL="914400" algn="l" rtl="0" fontAlgn="base">
      <a:spcBef>
        <a:spcPct val="0"/>
      </a:spcBef>
      <a:spcAft>
        <a:spcPct val="0"/>
      </a:spcAft>
      <a:defRPr b="1" kern="1200">
        <a:solidFill>
          <a:schemeClr val="tx1"/>
        </a:solidFill>
        <a:latin typeface="Arial" charset="0"/>
        <a:ea typeface="+mn-ea"/>
        <a:cs typeface="+mn-cs"/>
      </a:defRPr>
    </a:lvl3pPr>
    <a:lvl4pPr marL="1371600" algn="l" rtl="0" fontAlgn="base">
      <a:spcBef>
        <a:spcPct val="0"/>
      </a:spcBef>
      <a:spcAft>
        <a:spcPct val="0"/>
      </a:spcAft>
      <a:defRPr b="1" kern="1200">
        <a:solidFill>
          <a:schemeClr val="tx1"/>
        </a:solidFill>
        <a:latin typeface="Arial" charset="0"/>
        <a:ea typeface="+mn-ea"/>
        <a:cs typeface="+mn-cs"/>
      </a:defRPr>
    </a:lvl4pPr>
    <a:lvl5pPr marL="1828800" algn="l" rtl="0" fontAlgn="base">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C9E92DFA-6333-4D24-89B4-B39EC0786CAA}">
          <p14:sldIdLst>
            <p14:sldId id="962"/>
            <p14:sldId id="963"/>
            <p14:sldId id="964"/>
            <p14:sldId id="965"/>
            <p14:sldId id="992"/>
            <p14:sldId id="1002"/>
            <p14:sldId id="997"/>
            <p14:sldId id="999"/>
            <p14:sldId id="968"/>
            <p14:sldId id="969"/>
            <p14:sldId id="970"/>
            <p14:sldId id="971"/>
            <p14:sldId id="995"/>
            <p14:sldId id="996"/>
            <p14:sldId id="972"/>
            <p14:sldId id="1001"/>
            <p14:sldId id="1000"/>
          </p14:sldIdLst>
        </p14:section>
      </p14:sectionLst>
    </p:ext>
    <p:ext uri="{EFAFB233-063F-42B5-8137-9DF3F51BA10A}">
      <p15:sldGuideLst xmlns:p15="http://schemas.microsoft.com/office/powerpoint/2012/main">
        <p15:guide id="1" orient="horz" pos="576">
          <p15:clr>
            <a:srgbClr val="A4A3A4"/>
          </p15:clr>
        </p15:guide>
        <p15:guide id="2" pos="3792">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9"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oel Gehman"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CC"/>
    <a:srgbClr val="FF0000"/>
    <a:srgbClr val="CC66FF"/>
    <a:srgbClr val="000000"/>
    <a:srgbClr val="F8F8F8"/>
    <a:srgbClr val="F5D7F1"/>
    <a:srgbClr val="5F5F5F"/>
    <a:srgbClr val="DDDDDD"/>
    <a:srgbClr val="FBA3E8"/>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185" autoAdjust="0"/>
    <p:restoredTop sz="92767" autoAdjust="0"/>
  </p:normalViewPr>
  <p:slideViewPr>
    <p:cSldViewPr>
      <p:cViewPr>
        <p:scale>
          <a:sx n="80" d="100"/>
          <a:sy n="80" d="100"/>
        </p:scale>
        <p:origin x="1012" y="172"/>
      </p:cViewPr>
      <p:guideLst>
        <p:guide orient="horz" pos="576"/>
        <p:guide pos="379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30" d="100"/>
        <a:sy n="130" d="100"/>
      </p:scale>
      <p:origin x="0" y="0"/>
    </p:cViewPr>
  </p:sorterViewPr>
  <p:notesViewPr>
    <p:cSldViewPr>
      <p:cViewPr>
        <p:scale>
          <a:sx n="66" d="100"/>
          <a:sy n="66" d="100"/>
        </p:scale>
        <p:origin x="-2634" y="222"/>
      </p:cViewPr>
      <p:guideLst>
        <p:guide orient="horz" pos="2928"/>
        <p:guide pos="220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0162" name="Rectangle 2"/>
          <p:cNvSpPr>
            <a:spLocks noGrp="1" noChangeArrowheads="1"/>
          </p:cNvSpPr>
          <p:nvPr>
            <p:ph type="hdr" sz="quarter"/>
          </p:nvPr>
        </p:nvSpPr>
        <p:spPr bwMode="auto">
          <a:xfrm>
            <a:off x="1"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3" name="Rectangle 3"/>
          <p:cNvSpPr>
            <a:spLocks noGrp="1" noChangeArrowheads="1"/>
          </p:cNvSpPr>
          <p:nvPr>
            <p:ph type="dt" sz="quarter" idx="1"/>
          </p:nvPr>
        </p:nvSpPr>
        <p:spPr bwMode="auto">
          <a:xfrm>
            <a:off x="3971654"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algn="r" eaLnBrk="0" hangingPunct="0">
              <a:defRPr sz="1200" b="0">
                <a:latin typeface="Arial" charset="0"/>
              </a:defRPr>
            </a:lvl1pPr>
          </a:lstStyle>
          <a:p>
            <a:pPr>
              <a:defRPr/>
            </a:pPr>
            <a:fld id="{25E55AEC-8BF8-47AA-8A9C-C1CC4D3D3CD7}" type="datetimeFigureOut">
              <a:rPr lang="en-US"/>
              <a:pPr>
                <a:defRPr/>
              </a:pPr>
              <a:t>12/30/2021</a:t>
            </a:fld>
            <a:endParaRPr lang="en-US"/>
          </a:p>
        </p:txBody>
      </p:sp>
      <p:sp>
        <p:nvSpPr>
          <p:cNvPr id="220164" name="Rectangle 4"/>
          <p:cNvSpPr>
            <a:spLocks noGrp="1" noChangeArrowheads="1"/>
          </p:cNvSpPr>
          <p:nvPr>
            <p:ph type="ftr" sz="quarter" idx="2"/>
          </p:nvPr>
        </p:nvSpPr>
        <p:spPr bwMode="auto">
          <a:xfrm>
            <a:off x="1"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5" name="Rectangle 5"/>
          <p:cNvSpPr>
            <a:spLocks noGrp="1" noChangeArrowheads="1"/>
          </p:cNvSpPr>
          <p:nvPr>
            <p:ph type="sldNum" sz="quarter" idx="3"/>
          </p:nvPr>
        </p:nvSpPr>
        <p:spPr bwMode="auto">
          <a:xfrm>
            <a:off x="3971654"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algn="r" eaLnBrk="0" hangingPunct="0">
              <a:defRPr sz="1200" b="0">
                <a:latin typeface="Arial" charset="0"/>
              </a:defRPr>
            </a:lvl1pPr>
          </a:lstStyle>
          <a:p>
            <a:pPr>
              <a:defRPr/>
            </a:pPr>
            <a:fld id="{E75F24CD-7E4C-4840-9EE0-3BA263838CCD}" type="slidenum">
              <a:rPr lang="en-US"/>
              <a:pPr>
                <a:defRPr/>
              </a:pPr>
              <a:t>‹#›</a:t>
            </a:fld>
            <a:endParaRPr lang="en-US"/>
          </a:p>
        </p:txBody>
      </p:sp>
    </p:spTree>
    <p:extLst>
      <p:ext uri="{BB962C8B-B14F-4D97-AF65-F5344CB8AC3E}">
        <p14:creationId xmlns:p14="http://schemas.microsoft.com/office/powerpoint/2010/main" val="28221716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37146" cy="464504"/>
          </a:xfrm>
          <a:prstGeom prst="rect">
            <a:avLst/>
          </a:prstGeom>
        </p:spPr>
        <p:txBody>
          <a:bodyPr vert="horz" wrap="square" lIns="93136" tIns="46568" rIns="93136" bIns="46568" numCol="1" anchor="t" anchorCtr="0" compatLnSpc="1">
            <a:prstTxWarp prst="textNoShape">
              <a:avLst/>
            </a:prstTxWarp>
          </a:bodyPr>
          <a:lstStyle>
            <a:lvl1pPr>
              <a:defRPr sz="1200" b="0">
                <a:latin typeface="Arial" charset="0"/>
              </a:defRPr>
            </a:lvl1pPr>
          </a:lstStyle>
          <a:p>
            <a:pPr>
              <a:defRPr/>
            </a:pPr>
            <a:endParaRPr lang="en-US"/>
          </a:p>
        </p:txBody>
      </p:sp>
      <p:sp>
        <p:nvSpPr>
          <p:cNvPr id="3" name="Date Placeholder 2"/>
          <p:cNvSpPr>
            <a:spLocks noGrp="1"/>
          </p:cNvSpPr>
          <p:nvPr>
            <p:ph type="dt" idx="1"/>
          </p:nvPr>
        </p:nvSpPr>
        <p:spPr>
          <a:xfrm>
            <a:off x="3971654" y="1"/>
            <a:ext cx="3037146" cy="464504"/>
          </a:xfrm>
          <a:prstGeom prst="rect">
            <a:avLst/>
          </a:prstGeom>
        </p:spPr>
        <p:txBody>
          <a:bodyPr vert="horz" wrap="square" lIns="93136" tIns="46568" rIns="93136" bIns="46568" numCol="1" anchor="t" anchorCtr="0" compatLnSpc="1">
            <a:prstTxWarp prst="textNoShape">
              <a:avLst/>
            </a:prstTxWarp>
          </a:bodyPr>
          <a:lstStyle>
            <a:lvl1pPr algn="r">
              <a:defRPr sz="1200" b="0">
                <a:latin typeface="Arial" charset="0"/>
              </a:defRPr>
            </a:lvl1pPr>
          </a:lstStyle>
          <a:p>
            <a:pPr>
              <a:defRPr/>
            </a:pPr>
            <a:fld id="{B38EBD9A-77E5-4352-9685-9DCF1AB5D0AE}" type="datetimeFigureOut">
              <a:rPr lang="en-US"/>
              <a:pPr>
                <a:defRPr/>
              </a:pPr>
              <a:t>12/30/2021</a:t>
            </a:fld>
            <a:endParaRPr lang="en-US"/>
          </a:p>
        </p:txBody>
      </p:sp>
      <p:sp>
        <p:nvSpPr>
          <p:cNvPr id="4" name="Slide Image Placeholder 3"/>
          <p:cNvSpPr>
            <a:spLocks noGrp="1" noRot="1" noChangeAspect="1"/>
          </p:cNvSpPr>
          <p:nvPr>
            <p:ph type="sldImg" idx="2"/>
          </p:nvPr>
        </p:nvSpPr>
        <p:spPr>
          <a:xfrm>
            <a:off x="1181100" y="698500"/>
            <a:ext cx="4648200" cy="3486150"/>
          </a:xfrm>
          <a:prstGeom prst="rect">
            <a:avLst/>
          </a:prstGeom>
          <a:noFill/>
          <a:ln w="12700">
            <a:solidFill>
              <a:prstClr val="black"/>
            </a:solidFill>
          </a:ln>
        </p:spPr>
        <p:txBody>
          <a:bodyPr vert="horz" lIns="93136" tIns="46568" rIns="93136" bIns="46568" rtlCol="0" anchor="ctr"/>
          <a:lstStyle/>
          <a:p>
            <a:pPr lvl="0"/>
            <a:endParaRPr lang="en-US" noProof="0"/>
          </a:p>
        </p:txBody>
      </p:sp>
      <p:sp>
        <p:nvSpPr>
          <p:cNvPr id="5" name="Notes Placeholder 4"/>
          <p:cNvSpPr>
            <a:spLocks noGrp="1"/>
          </p:cNvSpPr>
          <p:nvPr>
            <p:ph type="body" sz="quarter" idx="3"/>
          </p:nvPr>
        </p:nvSpPr>
        <p:spPr>
          <a:xfrm>
            <a:off x="700881" y="4415157"/>
            <a:ext cx="5608640" cy="4183696"/>
          </a:xfrm>
          <a:prstGeom prst="rect">
            <a:avLst/>
          </a:prstGeom>
        </p:spPr>
        <p:txBody>
          <a:bodyPr vert="horz" wrap="square" lIns="93136" tIns="46568" rIns="93136" bIns="46568" numCol="1" anchor="t" anchorCtr="0" compatLnSpc="1">
            <a:prstTxWarp prst="textNoShape">
              <a:avLst/>
            </a:prstTxWarp>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1" y="8830312"/>
            <a:ext cx="3037146" cy="464504"/>
          </a:xfrm>
          <a:prstGeom prst="rect">
            <a:avLst/>
          </a:prstGeom>
        </p:spPr>
        <p:txBody>
          <a:bodyPr vert="horz" wrap="square" lIns="93136" tIns="46568" rIns="93136" bIns="46568" numCol="1" anchor="b" anchorCtr="0" compatLnSpc="1">
            <a:prstTxWarp prst="textNoShape">
              <a:avLst/>
            </a:prstTxWarp>
          </a:bodyPr>
          <a:lstStyle>
            <a:lvl1pPr>
              <a:defRPr sz="1200" b="0">
                <a:latin typeface="Arial" charset="0"/>
              </a:defRPr>
            </a:lvl1pPr>
          </a:lstStyle>
          <a:p>
            <a:pPr>
              <a:defRPr/>
            </a:pPr>
            <a:endParaRPr lang="en-US"/>
          </a:p>
        </p:txBody>
      </p:sp>
      <p:sp>
        <p:nvSpPr>
          <p:cNvPr id="7" name="Slide Number Placeholder 6"/>
          <p:cNvSpPr>
            <a:spLocks noGrp="1"/>
          </p:cNvSpPr>
          <p:nvPr>
            <p:ph type="sldNum" sz="quarter" idx="5"/>
          </p:nvPr>
        </p:nvSpPr>
        <p:spPr>
          <a:xfrm>
            <a:off x="3971654" y="8830312"/>
            <a:ext cx="3037146" cy="464504"/>
          </a:xfrm>
          <a:prstGeom prst="rect">
            <a:avLst/>
          </a:prstGeom>
        </p:spPr>
        <p:txBody>
          <a:bodyPr vert="horz" wrap="square" lIns="93136" tIns="46568" rIns="93136" bIns="46568" numCol="1" anchor="b" anchorCtr="0" compatLnSpc="1">
            <a:prstTxWarp prst="textNoShape">
              <a:avLst/>
            </a:prstTxWarp>
          </a:bodyPr>
          <a:lstStyle>
            <a:lvl1pPr algn="r">
              <a:defRPr sz="1200" b="0">
                <a:latin typeface="Arial" charset="0"/>
              </a:defRPr>
            </a:lvl1pPr>
          </a:lstStyle>
          <a:p>
            <a:pPr>
              <a:defRPr/>
            </a:pPr>
            <a:fld id="{4A7289C4-4137-4B30-96C9-7C06C8229121}" type="slidenum">
              <a:rPr lang="en-US"/>
              <a:pPr>
                <a:defRPr/>
              </a:pPr>
              <a:t>‹#›</a:t>
            </a:fld>
            <a:endParaRPr lang="en-US"/>
          </a:p>
        </p:txBody>
      </p:sp>
    </p:spTree>
    <p:extLst>
      <p:ext uri="{BB962C8B-B14F-4D97-AF65-F5344CB8AC3E}">
        <p14:creationId xmlns:p14="http://schemas.microsoft.com/office/powerpoint/2010/main" val="33353213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00" kern="1200">
        <a:solidFill>
          <a:schemeClr val="tx1"/>
        </a:solidFill>
        <a:latin typeface="+mn-lt"/>
        <a:ea typeface="+mn-ea"/>
        <a:cs typeface="Arial" charset="0"/>
      </a:defRPr>
    </a:lvl1pPr>
    <a:lvl2pPr marL="457200" algn="l" rtl="0" eaLnBrk="0" fontAlgn="base" hangingPunct="0">
      <a:spcBef>
        <a:spcPct val="30000"/>
      </a:spcBef>
      <a:spcAft>
        <a:spcPct val="0"/>
      </a:spcAft>
      <a:defRPr sz="1000" kern="1200">
        <a:solidFill>
          <a:schemeClr val="tx1"/>
        </a:solidFill>
        <a:latin typeface="+mn-lt"/>
        <a:ea typeface="+mn-ea"/>
        <a:cs typeface="Arial" charset="0"/>
      </a:defRPr>
    </a:lvl2pPr>
    <a:lvl3pPr marL="914400" algn="l" rtl="0" eaLnBrk="0" fontAlgn="base" hangingPunct="0">
      <a:spcBef>
        <a:spcPct val="30000"/>
      </a:spcBef>
      <a:spcAft>
        <a:spcPct val="0"/>
      </a:spcAft>
      <a:defRPr sz="1000" kern="1200">
        <a:solidFill>
          <a:schemeClr val="tx1"/>
        </a:solidFill>
        <a:latin typeface="+mn-lt"/>
        <a:ea typeface="+mn-ea"/>
        <a:cs typeface="Arial" charset="0"/>
      </a:defRPr>
    </a:lvl3pPr>
    <a:lvl4pPr marL="1371600" algn="l" rtl="0" eaLnBrk="0" fontAlgn="base" hangingPunct="0">
      <a:spcBef>
        <a:spcPct val="30000"/>
      </a:spcBef>
      <a:spcAft>
        <a:spcPct val="0"/>
      </a:spcAft>
      <a:defRPr sz="1000" kern="1200">
        <a:solidFill>
          <a:schemeClr val="tx1"/>
        </a:solidFill>
        <a:latin typeface="+mn-lt"/>
        <a:ea typeface="+mn-ea"/>
        <a:cs typeface="Arial" charset="0"/>
      </a:defRPr>
    </a:lvl4pPr>
    <a:lvl5pPr marL="1828800" algn="l" rtl="0" eaLnBrk="0" fontAlgn="base" hangingPunct="0">
      <a:spcBef>
        <a:spcPct val="30000"/>
      </a:spcBef>
      <a:spcAft>
        <a:spcPct val="0"/>
      </a:spcAft>
      <a:defRPr sz="10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4539093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462252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263421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The word “OR” in the cause statements (yellow box and white box) is replaced with an OR gate, and two roots result,</a:t>
            </a:r>
            <a:r>
              <a:rPr lang="en-US" baseline="0" dirty="0"/>
              <a:t> per next slide.</a:t>
            </a:r>
            <a:endParaRPr lang="en-US" dirty="0"/>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59070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US" dirty="0"/>
              <a:t>Note the sub-category for the left root latent cause: because the training program exists (the cause states “not implemented”), so one could reasonably infer that this latent cause can be categorized as a “C – Inadequate Compliance with Program Standards”. </a:t>
            </a:r>
          </a:p>
          <a:p>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Note the sub-category for the right root latent cause: because the communications plan lacked specific steps to check (and validate) training on Corporate Values, one could reasonably infer that the program exists, but the details (standard) were inadequate; thus, this latent cause can be categorized as an “S – Inadequate Program Standards”. </a:t>
            </a: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601756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US" dirty="0"/>
              <a:t>Note the sub-category for the left root latent cause: because the training program exists (the cause states “not implemented”), so one could reasonably infer that this latent cause can be categorized as a “C – Inadequate Compliance with Program Standards”. </a:t>
            </a:r>
          </a:p>
          <a:p>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Note the sub-category for the right root latent cause: because the communications plan lacked specific steps to check (and validate) training on Corporate Values, one could reasonably infer that the program exists, but the details (standard) were inadequate; thus, this latent cause can be categorized as an “S – Inadequate Program Standards”. </a:t>
            </a: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547071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7</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9850634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US" dirty="0"/>
              <a:t>Note the sub-category for the right root latent cause: because the communications plan lacked specific steps to check (and validate) training on Corporate Values, one could reasonably infer that the program exists, but the details (standard) were inadequate; thus, this latent cause can be categorized as an “S – Inadequate Program Standards”. </a:t>
            </a:r>
          </a:p>
          <a:p>
            <a:endParaRPr lang="en-US" dirty="0"/>
          </a:p>
          <a:p>
            <a:r>
              <a:rPr lang="en-US" dirty="0"/>
              <a:t>Note the Latent Cause is stated in unique and specific terms relevant to the loss incident RCA. </a:t>
            </a: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068356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t>Note the Recommendation reflects </a:t>
            </a:r>
            <a:r>
              <a:rPr lang="en-US" baseline="0" dirty="0"/>
              <a:t>the </a:t>
            </a:r>
            <a:r>
              <a:rPr lang="en-US" dirty="0"/>
              <a:t>Latent Cause in its wording!</a:t>
            </a:r>
          </a:p>
        </p:txBody>
      </p:sp>
    </p:spTree>
    <p:extLst>
      <p:ext uri="{BB962C8B-B14F-4D97-AF65-F5344CB8AC3E}">
        <p14:creationId xmlns:p14="http://schemas.microsoft.com/office/powerpoint/2010/main" val="12306608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317910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11</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CA" altLang="en-US" dirty="0">
                <a:ea typeface="ＭＳ Ｐゴシック" panose="020B0600070205080204" pitchFamily="34" charset="-128"/>
              </a:rPr>
              <a:t>This in-class active</a:t>
            </a:r>
            <a:r>
              <a:rPr lang="en-CA" altLang="en-US" baseline="0" dirty="0">
                <a:ea typeface="ＭＳ Ｐゴシック" panose="020B0600070205080204" pitchFamily="34" charset="-128"/>
              </a:rPr>
              <a:t> learning exercise is designed to prompt your thinking about the different causes and the different recommendations (actions) that one would undertake to address the loss incident. Recommendations can be made to address immediate causes, basic causes, and latent causes. In a root cause analysis, it is desired to discover the latent causes, and implement recommendations to address those latent causes. This is the only means to prevent the recurrence of the loss incident. </a:t>
            </a:r>
          </a:p>
          <a:p>
            <a:endParaRPr lang="en-CA" altLang="en-US" dirty="0">
              <a:ea typeface="ＭＳ Ｐゴシック" panose="020B0600070205080204" pitchFamily="34" charset="-128"/>
            </a:endParaRPr>
          </a:p>
          <a:p>
            <a:r>
              <a:rPr lang="en-CA" altLang="en-US" dirty="0">
                <a:ea typeface="ＭＳ Ｐゴシック" panose="020B0600070205080204" pitchFamily="34" charset="-128"/>
              </a:rPr>
              <a:t>Recall from our discussion on RCA Tool</a:t>
            </a:r>
            <a:r>
              <a:rPr lang="en-CA" altLang="en-US" baseline="0" dirty="0">
                <a:ea typeface="ＭＳ Ｐゴシック" panose="020B0600070205080204" pitchFamily="34" charset="-128"/>
              </a:rPr>
              <a:t> and the C&amp;E Model to categorise the types of causes. </a:t>
            </a:r>
            <a:r>
              <a:rPr lang="en-CA" altLang="en-US" dirty="0">
                <a:ea typeface="ＭＳ Ｐゴシック" panose="020B0600070205080204" pitchFamily="34" charset="-128"/>
              </a:rPr>
              <a:t>One last in-class</a:t>
            </a:r>
            <a:r>
              <a:rPr lang="en-CA" altLang="en-US" baseline="0" dirty="0">
                <a:ea typeface="ＭＳ Ｐゴシック" panose="020B0600070205080204" pitchFamily="34" charset="-128"/>
              </a:rPr>
              <a:t> exercise … think about the latent cause. What would your recommendation be?</a:t>
            </a:r>
            <a:endParaRPr lang="en-CA" altLang="en-US" dirty="0">
              <a:ea typeface="ＭＳ Ｐゴシック" panose="020B0600070205080204" pitchFamily="34" charset="-128"/>
            </a:endParaRPr>
          </a:p>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7452106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ea typeface="ＭＳ Ｐゴシック" panose="020B0600070205080204" pitchFamily="34" charset="-128"/>
              </a:rPr>
              <a:t>Note the effectiveness of actions on each of the causes, and the effectiveness of preventing recurrence:</a:t>
            </a:r>
          </a:p>
          <a:p>
            <a:r>
              <a:rPr lang="en-CA" altLang="en-US" dirty="0">
                <a:ea typeface="ＭＳ Ｐゴシック" panose="020B0600070205080204" pitchFamily="34" charset="-128"/>
              </a:rPr>
              <a:t>&gt; “Replace the pump” does not prevent a recurrence.</a:t>
            </a:r>
          </a:p>
          <a:p>
            <a:r>
              <a:rPr lang="en-CA" altLang="en-US" dirty="0">
                <a:ea typeface="ＭＳ Ｐゴシック" panose="020B0600070205080204" pitchFamily="34" charset="-128"/>
              </a:rPr>
              <a:t>&gt; “Correct the design specification for this kind of pump” prevents</a:t>
            </a:r>
            <a:r>
              <a:rPr lang="en-CA" altLang="en-US" baseline="0" dirty="0">
                <a:ea typeface="ＭＳ Ｐゴシック" panose="020B0600070205080204" pitchFamily="34" charset="-128"/>
              </a:rPr>
              <a:t> recurrence in pumps of the same process service.</a:t>
            </a:r>
          </a:p>
          <a:p>
            <a:r>
              <a:rPr lang="en-CA" altLang="en-US" baseline="0" dirty="0">
                <a:ea typeface="ＭＳ Ｐゴシック" panose="020B0600070205080204" pitchFamily="34" charset="-128"/>
              </a:rPr>
              <a:t>&gt; “Correct the work process …” prevents recurrence in all pumps in all process services. This one addresses the latent cause. </a:t>
            </a:r>
            <a:endParaRPr lang="en-CA" altLang="en-US" dirty="0">
              <a:ea typeface="ＭＳ Ｐゴシック" panose="020B0600070205080204" pitchFamily="34" charset="-128"/>
            </a:endParaRPr>
          </a:p>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569979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ea typeface="ＭＳ Ｐゴシック" panose="020B0600070205080204" pitchFamily="34" charset="-128"/>
              </a:rPr>
              <a:t>Note the effectiveness of actions on each of the causes, and the effectiveness of preventing recurrence:</a:t>
            </a:r>
          </a:p>
          <a:p>
            <a:r>
              <a:rPr lang="en-CA" altLang="en-US" dirty="0">
                <a:ea typeface="ＭＳ Ｐゴシック" panose="020B0600070205080204" pitchFamily="34" charset="-128"/>
              </a:rPr>
              <a:t>&gt; “Replace the pump” does not prevent a recurrence.</a:t>
            </a:r>
          </a:p>
          <a:p>
            <a:r>
              <a:rPr lang="en-CA" altLang="en-US" dirty="0">
                <a:ea typeface="ＭＳ Ｐゴシック" panose="020B0600070205080204" pitchFamily="34" charset="-128"/>
              </a:rPr>
              <a:t>&gt; “Correct the design specification for this kind of pump” prevents</a:t>
            </a:r>
            <a:r>
              <a:rPr lang="en-CA" altLang="en-US" baseline="0" dirty="0">
                <a:ea typeface="ＭＳ Ｐゴシック" panose="020B0600070205080204" pitchFamily="34" charset="-128"/>
              </a:rPr>
              <a:t> recurrence in pumps of the same process service.</a:t>
            </a:r>
          </a:p>
          <a:p>
            <a:r>
              <a:rPr lang="en-CA" altLang="en-US" baseline="0" dirty="0">
                <a:ea typeface="ＭＳ Ｐゴシック" panose="020B0600070205080204" pitchFamily="34" charset="-128"/>
              </a:rPr>
              <a:t>&gt; “Correct the work process …” prevents recurrence in all pumps in all process services. This one addresses the latent cause. </a:t>
            </a:r>
            <a:endParaRPr lang="en-CA" altLang="en-US" dirty="0">
              <a:ea typeface="ＭＳ Ｐゴシック" panose="020B0600070205080204" pitchFamily="34" charset="-128"/>
            </a:endParaRPr>
          </a:p>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21186496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14</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ea typeface="ＭＳ Ｐゴシック" panose="020B0600070205080204" pitchFamily="34" charset="-128"/>
              </a:rPr>
              <a:t>Note the effectiveness of actions on each of the causes, and the effectiveness of preventing recurrence:</a:t>
            </a:r>
          </a:p>
          <a:p>
            <a:r>
              <a:rPr lang="en-CA" altLang="en-US" dirty="0">
                <a:ea typeface="ＭＳ Ｐゴシック" panose="020B0600070205080204" pitchFamily="34" charset="-128"/>
              </a:rPr>
              <a:t>&gt; “Replace the pump” does not prevent a recurrence.</a:t>
            </a:r>
          </a:p>
          <a:p>
            <a:r>
              <a:rPr lang="en-CA" altLang="en-US" dirty="0">
                <a:ea typeface="ＭＳ Ｐゴシック" panose="020B0600070205080204" pitchFamily="34" charset="-128"/>
              </a:rPr>
              <a:t>&gt; “Correct the design specification for this kind of pump” prevents</a:t>
            </a:r>
            <a:r>
              <a:rPr lang="en-CA" altLang="en-US" baseline="0" dirty="0">
                <a:ea typeface="ＭＳ Ｐゴシック" panose="020B0600070205080204" pitchFamily="34" charset="-128"/>
              </a:rPr>
              <a:t> recurrence in pumps of the same process service.</a:t>
            </a:r>
          </a:p>
          <a:p>
            <a:r>
              <a:rPr lang="en-CA" altLang="en-US" baseline="0" dirty="0">
                <a:ea typeface="ＭＳ Ｐゴシック" panose="020B0600070205080204" pitchFamily="34" charset="-128"/>
              </a:rPr>
              <a:t>&gt; “Correct the work process …” prevents recurrence in all pumps in all process services. This one addresses the latent cause. </a:t>
            </a:r>
            <a:endParaRPr lang="en-CA" altLang="en-US" dirty="0">
              <a:ea typeface="ＭＳ Ｐゴシック" panose="020B0600070205080204" pitchFamily="34" charset="-128"/>
            </a:endParaRPr>
          </a:p>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20102699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178844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001103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515225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309349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0803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13579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53118CC2-884A-4430-8B4F-9976F3C29C24}" type="datetimeFigureOut">
              <a:rPr lang="en-US"/>
              <a:pPr>
                <a:defRPr/>
              </a:pPr>
              <a:t>12/30/2021</a:t>
            </a:fld>
            <a:endParaRPr lang="en-US"/>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91823322-A425-42F9-B4E6-DE1BA6748FF3}" type="slidenum">
              <a:rPr lang="en-US" altLang="en-US"/>
              <a:pPr>
                <a:defRPr/>
              </a:pPr>
              <a:t>‹#›</a:t>
            </a:fld>
            <a:endParaRPr lang="en-US" altLang="en-US"/>
          </a:p>
        </p:txBody>
      </p:sp>
    </p:spTree>
    <p:extLst>
      <p:ext uri="{BB962C8B-B14F-4D97-AF65-F5344CB8AC3E}">
        <p14:creationId xmlns:p14="http://schemas.microsoft.com/office/powerpoint/2010/main" val="2368737125"/>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2041790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790609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17510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5" Type="http://schemas.openxmlformats.org/officeDocument/2006/relationships/image" Target="../media/image1.jpeg"/><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4149" r:id="rId1"/>
    <p:sldLayoutId id="2147484147" r:id="rId2"/>
    <p:sldLayoutId id="2147484148" r:id="rId3"/>
    <p:sldLayoutId id="2147484150"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2568471"/>
      </p:ext>
    </p:extLst>
  </p:cSld>
  <p:clrMap bg1="lt1" tx1="dk1" bg2="lt2" tx2="dk2" accent1="accent1" accent2="accent2" accent3="accent3" accent4="accent4" accent5="accent5" accent6="accent6" hlink="hlink" folHlink="folHlink"/>
  <p:sldLayoutIdLst>
    <p:sldLayoutId id="2147484152" r:id="rId1"/>
    <p:sldLayoutId id="2147484153" r:id="rId2"/>
    <p:sldLayoutId id="2147484154" r:id="rId3"/>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28600" y="838200"/>
            <a:ext cx="8610600" cy="1662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t>On Becoming a </a:t>
            </a:r>
            <a:br>
              <a:rPr kumimoji="0" lang="en-CA"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br>
            <a:r>
              <a:rPr kumimoji="0" lang="en-CA"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t>Leader in Risk Management</a:t>
            </a:r>
          </a:p>
        </p:txBody>
      </p:sp>
      <p:sp>
        <p:nvSpPr>
          <p:cNvPr id="8" name="Rectangle 3"/>
          <p:cNvSpPr>
            <a:spLocks noGrp="1" noChangeArrowheads="1"/>
          </p:cNvSpPr>
          <p:nvPr>
            <p:ph type="subTitle" idx="4294967295"/>
          </p:nvPr>
        </p:nvSpPr>
        <p:spPr>
          <a:xfrm>
            <a:off x="838200" y="2500342"/>
            <a:ext cx="7315201" cy="2224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lgn="ctr" eaLnBrk="1" hangingPunct="1">
              <a:spcBef>
                <a:spcPct val="0"/>
              </a:spcBef>
              <a:buNone/>
            </a:pP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Chapter </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4.5 Linking Latent Causes </a:t>
            </a:r>
            <a:b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to Recommendations for Action</a:t>
            </a:r>
          </a:p>
        </p:txBody>
      </p:sp>
      <p:sp>
        <p:nvSpPr>
          <p:cNvPr id="9" name="TextBox 8">
            <a:extLst>
              <a:ext uri="{FF2B5EF4-FFF2-40B4-BE49-F238E27FC236}">
                <a16:creationId xmlns:a16="http://schemas.microsoft.com/office/drawing/2014/main" id="{45837290-7F22-4D42-BFDD-D5AD4C09C01F}"/>
              </a:ext>
            </a:extLst>
          </p:cNvPr>
          <p:cNvSpPr txBox="1"/>
          <p:nvPr/>
        </p:nvSpPr>
        <p:spPr>
          <a:xfrm>
            <a:off x="152402" y="176015"/>
            <a:ext cx="1176817"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solidFill>
                  <a:srgbClr val="000000"/>
                </a:solidFill>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Fundamentals of RM</a:t>
            </a:r>
          </a:p>
        </p:txBody>
      </p:sp>
      <p:sp>
        <p:nvSpPr>
          <p:cNvPr id="10" name="TextBox 9">
            <a:extLst>
              <a:ext uri="{FF2B5EF4-FFF2-40B4-BE49-F238E27FC236}">
                <a16:creationId xmlns:a16="http://schemas.microsoft.com/office/drawing/2014/main" id="{7618FDCA-D6EA-3540-8AE2-F6CD31336ABE}"/>
              </a:ext>
            </a:extLst>
          </p:cNvPr>
          <p:cNvSpPr txBox="1"/>
          <p:nvPr/>
        </p:nvSpPr>
        <p:spPr>
          <a:xfrm>
            <a:off x="1481037" y="169908"/>
            <a:ext cx="1024999"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System and Process</a:t>
            </a:r>
          </a:p>
        </p:txBody>
      </p:sp>
      <p:sp>
        <p:nvSpPr>
          <p:cNvPr id="11" name="TextBox 10">
            <a:extLst>
              <a:ext uri="{FF2B5EF4-FFF2-40B4-BE49-F238E27FC236}">
                <a16:creationId xmlns:a16="http://schemas.microsoft.com/office/drawing/2014/main" id="{45BC740A-AE56-7744-84D0-32724BDFA21D}"/>
              </a:ext>
            </a:extLst>
          </p:cNvPr>
          <p:cNvSpPr txBox="1"/>
          <p:nvPr/>
        </p:nvSpPr>
        <p:spPr>
          <a:xfrm>
            <a:off x="7874130" y="169908"/>
            <a:ext cx="1155550"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Application and Perspectives</a:t>
            </a:r>
          </a:p>
        </p:txBody>
      </p:sp>
      <p:sp>
        <p:nvSpPr>
          <p:cNvPr id="12" name="TextBox 11">
            <a:extLst>
              <a:ext uri="{FF2B5EF4-FFF2-40B4-BE49-F238E27FC236}">
                <a16:creationId xmlns:a16="http://schemas.microsoft.com/office/drawing/2014/main" id="{0A7D91E5-FF6E-C346-BD54-1494F0C62548}"/>
              </a:ext>
            </a:extLst>
          </p:cNvPr>
          <p:cNvSpPr txBox="1"/>
          <p:nvPr/>
        </p:nvSpPr>
        <p:spPr>
          <a:xfrm>
            <a:off x="7051217" y="169908"/>
            <a:ext cx="671096"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People &amp; Org.</a:t>
            </a:r>
          </a:p>
        </p:txBody>
      </p:sp>
      <p:sp>
        <p:nvSpPr>
          <p:cNvPr id="13" name="TextBox 12">
            <a:extLst>
              <a:ext uri="{FF2B5EF4-FFF2-40B4-BE49-F238E27FC236}">
                <a16:creationId xmlns:a16="http://schemas.microsoft.com/office/drawing/2014/main" id="{00457A8C-8AD1-BC48-A393-2CA6461462C7}"/>
              </a:ext>
            </a:extLst>
          </p:cNvPr>
          <p:cNvSpPr txBox="1"/>
          <p:nvPr/>
        </p:nvSpPr>
        <p:spPr>
          <a:xfrm>
            <a:off x="3834670" y="169908"/>
            <a:ext cx="1024999"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Incident Investigation</a:t>
            </a:r>
          </a:p>
        </p:txBody>
      </p:sp>
      <p:sp>
        <p:nvSpPr>
          <p:cNvPr id="14" name="TextBox 13">
            <a:extLst>
              <a:ext uri="{FF2B5EF4-FFF2-40B4-BE49-F238E27FC236}">
                <a16:creationId xmlns:a16="http://schemas.microsoft.com/office/drawing/2014/main" id="{D7E14612-2C60-CA49-88DC-A40274E52BE8}"/>
              </a:ext>
            </a:extLst>
          </p:cNvPr>
          <p:cNvSpPr txBox="1"/>
          <p:nvPr/>
        </p:nvSpPr>
        <p:spPr>
          <a:xfrm>
            <a:off x="5011486"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Tools &amp; Challenges</a:t>
            </a:r>
          </a:p>
        </p:txBody>
      </p:sp>
      <p:sp>
        <p:nvSpPr>
          <p:cNvPr id="15" name="TextBox 14">
            <a:extLst>
              <a:ext uri="{FF2B5EF4-FFF2-40B4-BE49-F238E27FC236}">
                <a16:creationId xmlns:a16="http://schemas.microsoft.com/office/drawing/2014/main" id="{F48AF929-DEC8-B045-BD5C-00378213E2AE}"/>
              </a:ext>
            </a:extLst>
          </p:cNvPr>
          <p:cNvSpPr txBox="1"/>
          <p:nvPr/>
        </p:nvSpPr>
        <p:spPr>
          <a:xfrm>
            <a:off x="2657853" y="170432"/>
            <a:ext cx="1024999"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Leadership in RM</a:t>
            </a:r>
          </a:p>
        </p:txBody>
      </p:sp>
      <p:cxnSp>
        <p:nvCxnSpPr>
          <p:cNvPr id="16" name="Straight Arrow Connector 15">
            <a:extLst>
              <a:ext uri="{FF2B5EF4-FFF2-40B4-BE49-F238E27FC236}">
                <a16:creationId xmlns:a16="http://schemas.microsoft.com/office/drawing/2014/main" id="{194E84B9-8682-8C4B-A72E-1FFEAF78256B}"/>
              </a:ext>
            </a:extLst>
          </p:cNvPr>
          <p:cNvCxnSpPr>
            <a:cxnSpLocks/>
            <a:stCxn id="9" idx="3"/>
            <a:endCxn id="10" idx="1"/>
          </p:cNvCxnSpPr>
          <p:nvPr/>
        </p:nvCxnSpPr>
        <p:spPr>
          <a:xfrm flipV="1">
            <a:off x="1329217" y="400741"/>
            <a:ext cx="151818" cy="6107"/>
          </a:xfrm>
          <a:prstGeom prst="straightConnector1">
            <a:avLst/>
          </a:prstGeom>
          <a:noFill/>
          <a:ln w="6350" cap="flat" cmpd="sng" algn="ctr">
            <a:solidFill>
              <a:schemeClr val="tx1"/>
            </a:solidFill>
            <a:prstDash val="solid"/>
            <a:miter lim="800000"/>
            <a:tailEnd type="triangle"/>
          </a:ln>
          <a:effectLst/>
        </p:spPr>
      </p:cxnSp>
      <p:cxnSp>
        <p:nvCxnSpPr>
          <p:cNvPr id="17" name="Straight Arrow Connector 16">
            <a:extLst>
              <a:ext uri="{FF2B5EF4-FFF2-40B4-BE49-F238E27FC236}">
                <a16:creationId xmlns:a16="http://schemas.microsoft.com/office/drawing/2014/main" id="{BCED6320-D6B4-374B-AE59-18735BF60E66}"/>
              </a:ext>
            </a:extLst>
          </p:cNvPr>
          <p:cNvCxnSpPr>
            <a:stCxn id="10" idx="3"/>
            <a:endCxn id="15" idx="1"/>
          </p:cNvCxnSpPr>
          <p:nvPr/>
        </p:nvCxnSpPr>
        <p:spPr>
          <a:xfrm>
            <a:off x="2506036"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8" name="Straight Arrow Connector 17">
            <a:extLst>
              <a:ext uri="{FF2B5EF4-FFF2-40B4-BE49-F238E27FC236}">
                <a16:creationId xmlns:a16="http://schemas.microsoft.com/office/drawing/2014/main" id="{BA27112B-E9F0-2348-9B20-FB76B2277E3D}"/>
              </a:ext>
            </a:extLst>
          </p:cNvPr>
          <p:cNvCxnSpPr>
            <a:stCxn id="15" idx="3"/>
            <a:endCxn id="13" idx="1"/>
          </p:cNvCxnSpPr>
          <p:nvPr/>
        </p:nvCxnSpPr>
        <p:spPr>
          <a:xfrm flipV="1">
            <a:off x="3682853"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9" name="Straight Arrow Connector 18">
            <a:extLst>
              <a:ext uri="{FF2B5EF4-FFF2-40B4-BE49-F238E27FC236}">
                <a16:creationId xmlns:a16="http://schemas.microsoft.com/office/drawing/2014/main" id="{D6FCC88D-6DFA-474E-80EC-662B2D4B909B}"/>
              </a:ext>
            </a:extLst>
          </p:cNvPr>
          <p:cNvCxnSpPr>
            <a:stCxn id="13" idx="3"/>
            <a:endCxn id="14" idx="1"/>
          </p:cNvCxnSpPr>
          <p:nvPr/>
        </p:nvCxnSpPr>
        <p:spPr>
          <a:xfrm>
            <a:off x="4859669" y="400741"/>
            <a:ext cx="151817" cy="0"/>
          </a:xfrm>
          <a:prstGeom prst="straightConnector1">
            <a:avLst/>
          </a:prstGeom>
          <a:noFill/>
          <a:ln w="6350" cap="flat" cmpd="sng" algn="ctr">
            <a:solidFill>
              <a:schemeClr val="tx1"/>
            </a:solidFill>
            <a:prstDash val="solid"/>
            <a:miter lim="800000"/>
            <a:tailEnd type="triangle"/>
          </a:ln>
          <a:effectLst/>
        </p:spPr>
      </p:cxnSp>
      <p:cxnSp>
        <p:nvCxnSpPr>
          <p:cNvPr id="20" name="Straight Arrow Connector 19">
            <a:extLst>
              <a:ext uri="{FF2B5EF4-FFF2-40B4-BE49-F238E27FC236}">
                <a16:creationId xmlns:a16="http://schemas.microsoft.com/office/drawing/2014/main" id="{5CA7384E-C04D-ED41-9740-B0199EA1890A}"/>
              </a:ext>
            </a:extLst>
          </p:cNvPr>
          <p:cNvCxnSpPr>
            <a:cxnSpLocks/>
            <a:stCxn id="14" idx="3"/>
          </p:cNvCxnSpPr>
          <p:nvPr/>
        </p:nvCxnSpPr>
        <p:spPr>
          <a:xfrm flipV="1">
            <a:off x="6036485" y="400740"/>
            <a:ext cx="151816" cy="1"/>
          </a:xfrm>
          <a:prstGeom prst="straightConnector1">
            <a:avLst/>
          </a:prstGeom>
          <a:noFill/>
          <a:ln w="6350" cap="flat" cmpd="sng" algn="ctr">
            <a:solidFill>
              <a:schemeClr val="tx1"/>
            </a:solidFill>
            <a:prstDash val="solid"/>
            <a:miter lim="800000"/>
            <a:tailEnd type="triangle"/>
          </a:ln>
          <a:effectLst/>
        </p:spPr>
      </p:cxnSp>
      <p:cxnSp>
        <p:nvCxnSpPr>
          <p:cNvPr id="21" name="Straight Arrow Connector 20">
            <a:extLst>
              <a:ext uri="{FF2B5EF4-FFF2-40B4-BE49-F238E27FC236}">
                <a16:creationId xmlns:a16="http://schemas.microsoft.com/office/drawing/2014/main" id="{F37C1AD4-35C5-B84F-A011-FC352A9DC134}"/>
              </a:ext>
            </a:extLst>
          </p:cNvPr>
          <p:cNvCxnSpPr>
            <a:cxnSpLocks/>
            <a:endCxn id="12" idx="1"/>
          </p:cNvCxnSpPr>
          <p:nvPr/>
        </p:nvCxnSpPr>
        <p:spPr>
          <a:xfrm flipV="1">
            <a:off x="6899402" y="400741"/>
            <a:ext cx="151817" cy="1"/>
          </a:xfrm>
          <a:prstGeom prst="straightConnector1">
            <a:avLst/>
          </a:prstGeom>
          <a:noFill/>
          <a:ln w="6350" cap="flat" cmpd="sng" algn="ctr">
            <a:solidFill>
              <a:schemeClr val="tx1"/>
            </a:solidFill>
            <a:prstDash val="solid"/>
            <a:miter lim="800000"/>
            <a:tailEnd type="triangle"/>
          </a:ln>
          <a:effectLst/>
        </p:spPr>
      </p:cxnSp>
      <p:cxnSp>
        <p:nvCxnSpPr>
          <p:cNvPr id="22" name="Straight Arrow Connector 21">
            <a:extLst>
              <a:ext uri="{FF2B5EF4-FFF2-40B4-BE49-F238E27FC236}">
                <a16:creationId xmlns:a16="http://schemas.microsoft.com/office/drawing/2014/main" id="{A40B8989-9D9A-DE41-B118-0BB225CC7043}"/>
              </a:ext>
            </a:extLst>
          </p:cNvPr>
          <p:cNvCxnSpPr>
            <a:stCxn id="12" idx="3"/>
            <a:endCxn id="11" idx="1"/>
          </p:cNvCxnSpPr>
          <p:nvPr/>
        </p:nvCxnSpPr>
        <p:spPr>
          <a:xfrm>
            <a:off x="7722315" y="400739"/>
            <a:ext cx="151817" cy="0"/>
          </a:xfrm>
          <a:prstGeom prst="straightConnector1">
            <a:avLst/>
          </a:prstGeom>
          <a:noFill/>
          <a:ln w="6350" cap="flat" cmpd="sng" algn="ctr">
            <a:solidFill>
              <a:schemeClr val="tx1"/>
            </a:solidFill>
            <a:prstDash val="solid"/>
            <a:miter lim="800000"/>
            <a:tailEnd type="triangle"/>
          </a:ln>
          <a:effectLst/>
        </p:spPr>
      </p:cxnSp>
      <p:sp>
        <p:nvSpPr>
          <p:cNvPr id="23" name="TextBox 22">
            <a:extLst>
              <a:ext uri="{FF2B5EF4-FFF2-40B4-BE49-F238E27FC236}">
                <a16:creationId xmlns:a16="http://schemas.microsoft.com/office/drawing/2014/main" id="{E97011C2-9A0B-664B-83CB-DE2410B86B87}"/>
              </a:ext>
            </a:extLst>
          </p:cNvPr>
          <p:cNvSpPr txBox="1"/>
          <p:nvPr/>
        </p:nvSpPr>
        <p:spPr>
          <a:xfrm>
            <a:off x="6188301" y="169907"/>
            <a:ext cx="692362"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in Industry</a:t>
            </a:r>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182" y="4419600"/>
            <a:ext cx="1766671" cy="1766671"/>
          </a:xfrm>
          <a:prstGeom prst="rect">
            <a:avLst/>
          </a:prstGeom>
        </p:spPr>
      </p:pic>
      <p:pic>
        <p:nvPicPr>
          <p:cNvPr id="25" name="Picture 24" descr="Introduction to Sociology - 2013 - The Collaboratory"/>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500" y="4419600"/>
            <a:ext cx="2590300" cy="1752600"/>
          </a:xfrm>
          <a:prstGeom prst="rect">
            <a:avLst/>
          </a:prstGeom>
        </p:spPr>
      </p:pic>
    </p:spTree>
    <p:extLst>
      <p:ext uri="{BB962C8B-B14F-4D97-AF65-F5344CB8AC3E}">
        <p14:creationId xmlns:p14="http://schemas.microsoft.com/office/powerpoint/2010/main" val="369864542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Write an</a:t>
            </a:r>
            <a:r>
              <a:rPr kumimoji="0" lang="en-CA" altLang="en-US" sz="20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acceptable statement for a latent cause.</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b="0" baseline="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Test cause statements to determine category of the cause.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Link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 latent cause to a management system element.</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Explain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how to “make the link” from latent causes to recommendations for actions. </a:t>
            </a: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Learning Outcomes: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4.5: Linking Latent Causes to Recommendations</a:t>
            </a:r>
          </a:p>
        </p:txBody>
      </p:sp>
    </p:spTree>
    <p:extLst>
      <p:ext uri="{BB962C8B-B14F-4D97-AF65-F5344CB8AC3E}">
        <p14:creationId xmlns:p14="http://schemas.microsoft.com/office/powerpoint/2010/main" val="3255664366"/>
      </p:ext>
    </p:extLst>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Introduction – The Construct of an RCA:</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4.5: Linking Latent Causes to Recommendations</a:t>
            </a:r>
          </a:p>
        </p:txBody>
      </p:sp>
      <p:grpSp>
        <p:nvGrpSpPr>
          <p:cNvPr id="6" name="Group 2">
            <a:extLst>
              <a:ext uri="{FF2B5EF4-FFF2-40B4-BE49-F238E27FC236}">
                <a16:creationId xmlns:a16="http://schemas.microsoft.com/office/drawing/2014/main" id="{5BD8E639-3A08-4D32-8E74-B6D79B40DF5C}"/>
              </a:ext>
            </a:extLst>
          </p:cNvPr>
          <p:cNvGrpSpPr>
            <a:grpSpLocks/>
          </p:cNvGrpSpPr>
          <p:nvPr/>
        </p:nvGrpSpPr>
        <p:grpSpPr bwMode="auto">
          <a:xfrm>
            <a:off x="914400" y="932156"/>
            <a:ext cx="7315200" cy="5119687"/>
            <a:chOff x="816" y="519"/>
            <a:chExt cx="4608" cy="3225"/>
          </a:xfrm>
        </p:grpSpPr>
        <p:sp>
          <p:nvSpPr>
            <p:cNvPr id="7" name="Rectangle 6">
              <a:extLst>
                <a:ext uri="{FF2B5EF4-FFF2-40B4-BE49-F238E27FC236}">
                  <a16:creationId xmlns:a16="http://schemas.microsoft.com/office/drawing/2014/main" id="{748A913C-2118-463B-9476-B6F42A86E128}"/>
                </a:ext>
              </a:extLst>
            </p:cNvPr>
            <p:cNvSpPr/>
            <p:nvPr/>
          </p:nvSpPr>
          <p:spPr>
            <a:xfrm>
              <a:off x="817" y="519"/>
              <a:ext cx="4607" cy="3225"/>
            </a:xfrm>
            <a:prstGeom prst="rect">
              <a:avLst/>
            </a:prstGeom>
            <a:solidFill>
              <a:srgbClr val="FFFFFF"/>
            </a:solidFill>
            <a:ln w="25400" cap="flat" cmpd="sng" algn="ctr">
              <a:solidFill>
                <a:srgbClr val="000000"/>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a:ln>
                  <a:noFill/>
                </a:ln>
                <a:solidFill>
                  <a:srgbClr val="FFFFFF"/>
                </a:solidFill>
                <a:effectLst/>
                <a:uLnTx/>
                <a:uFillTx/>
                <a:latin typeface="Arial"/>
                <a:ea typeface="+mn-ea"/>
                <a:cs typeface="+mn-cs"/>
              </a:endParaRPr>
            </a:p>
          </p:txBody>
        </p:sp>
        <p:sp>
          <p:nvSpPr>
            <p:cNvPr id="10" name="Text Box 2">
              <a:extLst>
                <a:ext uri="{FF2B5EF4-FFF2-40B4-BE49-F238E27FC236}">
                  <a16:creationId xmlns:a16="http://schemas.microsoft.com/office/drawing/2014/main" id="{0D31264D-164B-45FF-AB49-4A686309161C}"/>
                </a:ext>
              </a:extLst>
            </p:cNvPr>
            <p:cNvSpPr txBox="1">
              <a:spLocks noChangeArrowheads="1"/>
            </p:cNvSpPr>
            <p:nvPr/>
          </p:nvSpPr>
          <p:spPr bwMode="auto">
            <a:xfrm>
              <a:off x="2496" y="993"/>
              <a:ext cx="768" cy="294"/>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t>Incident</a:t>
              </a:r>
              <a:br>
                <a:rPr kumimoji="0" lang="en-US" altLang="en-US" sz="12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br>
              <a:endParaRPr kumimoji="0" lang="en-US" altLang="en-US" sz="12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1" name="Text Box 3">
              <a:extLst>
                <a:ext uri="{FF2B5EF4-FFF2-40B4-BE49-F238E27FC236}">
                  <a16:creationId xmlns:a16="http://schemas.microsoft.com/office/drawing/2014/main" id="{5E626C11-FFD8-4BE6-A749-846E2457D62C}"/>
                </a:ext>
              </a:extLst>
            </p:cNvPr>
            <p:cNvSpPr txBox="1">
              <a:spLocks noChangeArrowheads="1"/>
            </p:cNvSpPr>
            <p:nvPr/>
          </p:nvSpPr>
          <p:spPr bwMode="auto">
            <a:xfrm>
              <a:off x="2256" y="1408"/>
              <a:ext cx="1248" cy="179"/>
            </a:xfrm>
            <a:prstGeom prst="rect">
              <a:avLst/>
            </a:prstGeom>
            <a:solidFill>
              <a:srgbClr val="000000"/>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Immediate Cause</a:t>
              </a:r>
            </a:p>
          </p:txBody>
        </p:sp>
        <p:sp>
          <p:nvSpPr>
            <p:cNvPr id="14" name="Text Box 4">
              <a:extLst>
                <a:ext uri="{FF2B5EF4-FFF2-40B4-BE49-F238E27FC236}">
                  <a16:creationId xmlns:a16="http://schemas.microsoft.com/office/drawing/2014/main" id="{3E935391-9003-4722-A290-34D0ABC1CB62}"/>
                </a:ext>
              </a:extLst>
            </p:cNvPr>
            <p:cNvSpPr txBox="1">
              <a:spLocks noChangeArrowheads="1"/>
            </p:cNvSpPr>
            <p:nvPr/>
          </p:nvSpPr>
          <p:spPr bwMode="auto">
            <a:xfrm>
              <a:off x="2256" y="1719"/>
              <a:ext cx="1248" cy="179"/>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t>Intermediate Cause</a:t>
              </a:r>
            </a:p>
          </p:txBody>
        </p:sp>
        <p:sp>
          <p:nvSpPr>
            <p:cNvPr id="15" name="Text Box 5">
              <a:extLst>
                <a:ext uri="{FF2B5EF4-FFF2-40B4-BE49-F238E27FC236}">
                  <a16:creationId xmlns:a16="http://schemas.microsoft.com/office/drawing/2014/main" id="{ADD0BD91-C6CA-4868-9997-1ED51976F2D4}"/>
                </a:ext>
              </a:extLst>
            </p:cNvPr>
            <p:cNvSpPr txBox="1">
              <a:spLocks noChangeArrowheads="1"/>
            </p:cNvSpPr>
            <p:nvPr/>
          </p:nvSpPr>
          <p:spPr bwMode="auto">
            <a:xfrm>
              <a:off x="2304" y="2087"/>
              <a:ext cx="1152" cy="179"/>
            </a:xfrm>
            <a:prstGeom prst="rect">
              <a:avLst/>
            </a:prstGeom>
            <a:solidFill>
              <a:srgbClr val="000000"/>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Basic Cause</a:t>
              </a:r>
            </a:p>
          </p:txBody>
        </p:sp>
        <p:sp>
          <p:nvSpPr>
            <p:cNvPr id="16" name="Text Box 7">
              <a:extLst>
                <a:ext uri="{FF2B5EF4-FFF2-40B4-BE49-F238E27FC236}">
                  <a16:creationId xmlns:a16="http://schemas.microsoft.com/office/drawing/2014/main" id="{570686F1-DCED-4C37-9F05-769F19AB1560}"/>
                </a:ext>
              </a:extLst>
            </p:cNvPr>
            <p:cNvSpPr txBox="1">
              <a:spLocks noChangeArrowheads="1"/>
            </p:cNvSpPr>
            <p:nvPr/>
          </p:nvSpPr>
          <p:spPr bwMode="auto">
            <a:xfrm>
              <a:off x="1776" y="2859"/>
              <a:ext cx="2208" cy="179"/>
            </a:xfrm>
            <a:prstGeom prst="rect">
              <a:avLst/>
            </a:prstGeom>
            <a:solidFill>
              <a:srgbClr val="000000"/>
            </a:solidFill>
            <a:ln w="9525" algn="ctr">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Latent Cause</a:t>
              </a:r>
            </a:p>
          </p:txBody>
        </p:sp>
        <p:sp>
          <p:nvSpPr>
            <p:cNvPr id="17" name="Text Box 8">
              <a:extLst>
                <a:ext uri="{FF2B5EF4-FFF2-40B4-BE49-F238E27FC236}">
                  <a16:creationId xmlns:a16="http://schemas.microsoft.com/office/drawing/2014/main" id="{8F283A38-CC7A-43B6-AA48-D5CCC488E6DC}"/>
                </a:ext>
              </a:extLst>
            </p:cNvPr>
            <p:cNvSpPr txBox="1">
              <a:spLocks noChangeArrowheads="1"/>
            </p:cNvSpPr>
            <p:nvPr/>
          </p:nvSpPr>
          <p:spPr bwMode="auto">
            <a:xfrm>
              <a:off x="1776" y="3046"/>
              <a:ext cx="2208" cy="179"/>
            </a:xfrm>
            <a:prstGeom prst="rect">
              <a:avLst/>
            </a:prstGeom>
            <a:solidFill>
              <a:srgbClr val="000000"/>
            </a:solidFill>
            <a:ln w="9525" algn="ctr">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Weakness in Management System Element #.</a:t>
              </a:r>
            </a:p>
          </p:txBody>
        </p:sp>
        <p:sp>
          <p:nvSpPr>
            <p:cNvPr id="18" name="Text Box 10">
              <a:extLst>
                <a:ext uri="{FF2B5EF4-FFF2-40B4-BE49-F238E27FC236}">
                  <a16:creationId xmlns:a16="http://schemas.microsoft.com/office/drawing/2014/main" id="{F6993024-92B2-4126-BFE6-DA11564BF3E9}"/>
                </a:ext>
              </a:extLst>
            </p:cNvPr>
            <p:cNvSpPr txBox="1">
              <a:spLocks noChangeArrowheads="1"/>
            </p:cNvSpPr>
            <p:nvPr/>
          </p:nvSpPr>
          <p:spPr bwMode="auto">
            <a:xfrm>
              <a:off x="4080" y="1987"/>
              <a:ext cx="1296" cy="40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Engineering Factors</a:t>
              </a:r>
              <a:b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b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Job Factors</a:t>
              </a:r>
              <a:b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b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Personal Factors</a:t>
              </a:r>
            </a:p>
          </p:txBody>
        </p:sp>
        <p:sp>
          <p:nvSpPr>
            <p:cNvPr id="19" name="Text Box 11">
              <a:extLst>
                <a:ext uri="{FF2B5EF4-FFF2-40B4-BE49-F238E27FC236}">
                  <a16:creationId xmlns:a16="http://schemas.microsoft.com/office/drawing/2014/main" id="{8B5E2033-EAF0-4381-B8B9-BAA02E0C44DF}"/>
                </a:ext>
              </a:extLst>
            </p:cNvPr>
            <p:cNvSpPr txBox="1">
              <a:spLocks noChangeArrowheads="1"/>
            </p:cNvSpPr>
            <p:nvPr/>
          </p:nvSpPr>
          <p:spPr bwMode="auto">
            <a:xfrm>
              <a:off x="960" y="2041"/>
              <a:ext cx="624" cy="294"/>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Basic </a:t>
              </a:r>
              <a:b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b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Cause</a:t>
              </a:r>
            </a:p>
          </p:txBody>
        </p:sp>
        <p:sp>
          <p:nvSpPr>
            <p:cNvPr id="20" name="Text Box 12">
              <a:extLst>
                <a:ext uri="{FF2B5EF4-FFF2-40B4-BE49-F238E27FC236}">
                  <a16:creationId xmlns:a16="http://schemas.microsoft.com/office/drawing/2014/main" id="{3F9082D9-9EDB-42A9-91E6-6F947F5D91C4}"/>
                </a:ext>
              </a:extLst>
            </p:cNvPr>
            <p:cNvSpPr txBox="1">
              <a:spLocks noChangeArrowheads="1"/>
            </p:cNvSpPr>
            <p:nvPr/>
          </p:nvSpPr>
          <p:spPr bwMode="auto">
            <a:xfrm>
              <a:off x="960" y="1357"/>
              <a:ext cx="624" cy="294"/>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Immediate </a:t>
              </a:r>
              <a:b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b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Cause</a:t>
              </a:r>
            </a:p>
          </p:txBody>
        </p:sp>
        <p:sp>
          <p:nvSpPr>
            <p:cNvPr id="21" name="Text Box 13">
              <a:extLst>
                <a:ext uri="{FF2B5EF4-FFF2-40B4-BE49-F238E27FC236}">
                  <a16:creationId xmlns:a16="http://schemas.microsoft.com/office/drawing/2014/main" id="{12DCC463-1CA6-4670-AE0F-AE51A0E04948}"/>
                </a:ext>
              </a:extLst>
            </p:cNvPr>
            <p:cNvSpPr txBox="1">
              <a:spLocks noChangeArrowheads="1"/>
            </p:cNvSpPr>
            <p:nvPr/>
          </p:nvSpPr>
          <p:spPr bwMode="auto">
            <a:xfrm>
              <a:off x="960" y="989"/>
              <a:ext cx="624" cy="294"/>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t>Incident </a:t>
              </a:r>
              <a:br>
                <a:rPr kumimoji="0" lang="en-US" altLang="en-US" sz="12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br>
              <a:r>
                <a:rPr kumimoji="0" lang="en-US" altLang="en-US" sz="12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t>Description</a:t>
              </a:r>
            </a:p>
          </p:txBody>
        </p:sp>
        <p:sp>
          <p:nvSpPr>
            <p:cNvPr id="22" name="Text Box 14">
              <a:extLst>
                <a:ext uri="{FF2B5EF4-FFF2-40B4-BE49-F238E27FC236}">
                  <a16:creationId xmlns:a16="http://schemas.microsoft.com/office/drawing/2014/main" id="{3B179BF7-87C6-40E9-8214-5BACA820B273}"/>
                </a:ext>
              </a:extLst>
            </p:cNvPr>
            <p:cNvSpPr txBox="1">
              <a:spLocks noChangeArrowheads="1"/>
            </p:cNvSpPr>
            <p:nvPr/>
          </p:nvSpPr>
          <p:spPr bwMode="auto">
            <a:xfrm>
              <a:off x="960" y="2880"/>
              <a:ext cx="624" cy="294"/>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Latent </a:t>
              </a:r>
              <a:b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b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Cause</a:t>
              </a:r>
            </a:p>
          </p:txBody>
        </p:sp>
        <p:sp>
          <p:nvSpPr>
            <p:cNvPr id="23" name="Text Box 15">
              <a:extLst>
                <a:ext uri="{FF2B5EF4-FFF2-40B4-BE49-F238E27FC236}">
                  <a16:creationId xmlns:a16="http://schemas.microsoft.com/office/drawing/2014/main" id="{3C2038F6-3CC2-4788-937E-DFF358CE4E36}"/>
                </a:ext>
              </a:extLst>
            </p:cNvPr>
            <p:cNvSpPr txBox="1">
              <a:spLocks noChangeArrowheads="1"/>
            </p:cNvSpPr>
            <p:nvPr/>
          </p:nvSpPr>
          <p:spPr bwMode="auto">
            <a:xfrm>
              <a:off x="4080" y="2845"/>
              <a:ext cx="1296" cy="40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Inadequate Program</a:t>
              </a:r>
              <a:b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b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Inadequate Standards</a:t>
              </a:r>
              <a:b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b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Inadequate Compliance</a:t>
              </a:r>
            </a:p>
          </p:txBody>
        </p:sp>
        <p:cxnSp>
          <p:nvCxnSpPr>
            <p:cNvPr id="24" name="AutoShape 16">
              <a:extLst>
                <a:ext uri="{FF2B5EF4-FFF2-40B4-BE49-F238E27FC236}">
                  <a16:creationId xmlns:a16="http://schemas.microsoft.com/office/drawing/2014/main" id="{7B8804D8-5AC8-448C-8634-C6596FB17520}"/>
                </a:ext>
              </a:extLst>
            </p:cNvPr>
            <p:cNvCxnSpPr>
              <a:cxnSpLocks noChangeShapeType="1"/>
              <a:stCxn id="10" idx="2"/>
              <a:endCxn id="11" idx="0"/>
            </p:cNvCxnSpPr>
            <p:nvPr/>
          </p:nvCxnSpPr>
          <p:spPr bwMode="auto">
            <a:xfrm>
              <a:off x="2880" y="1287"/>
              <a:ext cx="0" cy="121"/>
            </a:xfrm>
            <a:prstGeom prst="straightConnector1">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AutoShape 17">
              <a:extLst>
                <a:ext uri="{FF2B5EF4-FFF2-40B4-BE49-F238E27FC236}">
                  <a16:creationId xmlns:a16="http://schemas.microsoft.com/office/drawing/2014/main" id="{6F241D5C-7E08-4D4C-86F3-2F32CCD46050}"/>
                </a:ext>
              </a:extLst>
            </p:cNvPr>
            <p:cNvCxnSpPr>
              <a:cxnSpLocks noChangeShapeType="1"/>
              <a:stCxn id="15" idx="2"/>
              <a:endCxn id="37" idx="0"/>
            </p:cNvCxnSpPr>
            <p:nvPr/>
          </p:nvCxnSpPr>
          <p:spPr bwMode="auto">
            <a:xfrm>
              <a:off x="2880" y="2266"/>
              <a:ext cx="0" cy="205"/>
            </a:xfrm>
            <a:prstGeom prst="straightConnector1">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AutoShape 18">
              <a:extLst>
                <a:ext uri="{FF2B5EF4-FFF2-40B4-BE49-F238E27FC236}">
                  <a16:creationId xmlns:a16="http://schemas.microsoft.com/office/drawing/2014/main" id="{68857720-0AAC-4EEA-8695-0583ABCCA5D5}"/>
                </a:ext>
              </a:extLst>
            </p:cNvPr>
            <p:cNvCxnSpPr>
              <a:cxnSpLocks noChangeShapeType="1"/>
              <a:stCxn id="14" idx="2"/>
              <a:endCxn id="15" idx="0"/>
            </p:cNvCxnSpPr>
            <p:nvPr/>
          </p:nvCxnSpPr>
          <p:spPr bwMode="auto">
            <a:xfrm>
              <a:off x="2880" y="1898"/>
              <a:ext cx="0" cy="189"/>
            </a:xfrm>
            <a:prstGeom prst="straightConnector1">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AutoShape 19">
              <a:extLst>
                <a:ext uri="{FF2B5EF4-FFF2-40B4-BE49-F238E27FC236}">
                  <a16:creationId xmlns:a16="http://schemas.microsoft.com/office/drawing/2014/main" id="{48AE2F1E-ECEA-41BC-90A2-0E039C5804DF}"/>
                </a:ext>
              </a:extLst>
            </p:cNvPr>
            <p:cNvCxnSpPr>
              <a:cxnSpLocks noChangeShapeType="1"/>
              <a:stCxn id="11" idx="2"/>
              <a:endCxn id="14" idx="0"/>
            </p:cNvCxnSpPr>
            <p:nvPr/>
          </p:nvCxnSpPr>
          <p:spPr bwMode="auto">
            <a:xfrm>
              <a:off x="2880" y="1587"/>
              <a:ext cx="0" cy="132"/>
            </a:xfrm>
            <a:prstGeom prst="straightConnector1">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AutoShape 20">
              <a:extLst>
                <a:ext uri="{FF2B5EF4-FFF2-40B4-BE49-F238E27FC236}">
                  <a16:creationId xmlns:a16="http://schemas.microsoft.com/office/drawing/2014/main" id="{9EE11B7E-E8EA-4DED-B5F2-3D0A3D929E50}"/>
                </a:ext>
              </a:extLst>
            </p:cNvPr>
            <p:cNvCxnSpPr>
              <a:cxnSpLocks noChangeShapeType="1"/>
              <a:stCxn id="17" idx="2"/>
              <a:endCxn id="29" idx="0"/>
            </p:cNvCxnSpPr>
            <p:nvPr/>
          </p:nvCxnSpPr>
          <p:spPr bwMode="auto">
            <a:xfrm>
              <a:off x="2880" y="3225"/>
              <a:ext cx="0" cy="183"/>
            </a:xfrm>
            <a:prstGeom prst="straightConnector1">
              <a:avLst/>
            </a:prstGeom>
            <a:noFill/>
            <a:ln w="38100">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 name="AutoShape 22">
              <a:extLst>
                <a:ext uri="{FF2B5EF4-FFF2-40B4-BE49-F238E27FC236}">
                  <a16:creationId xmlns:a16="http://schemas.microsoft.com/office/drawing/2014/main" id="{CCB6449C-6D05-41CE-A8D2-1DCD7DAE6FF6}"/>
                </a:ext>
              </a:extLst>
            </p:cNvPr>
            <p:cNvSpPr>
              <a:spLocks noChangeArrowheads="1"/>
            </p:cNvSpPr>
            <p:nvPr/>
          </p:nvSpPr>
          <p:spPr bwMode="auto">
            <a:xfrm>
              <a:off x="2112" y="3408"/>
              <a:ext cx="1536" cy="282"/>
            </a:xfrm>
            <a:prstGeom prst="roundRect">
              <a:avLst>
                <a:gd name="adj" fmla="val 50000"/>
              </a:avLst>
            </a:prstGeom>
            <a:solidFill>
              <a:srgbClr val="000000"/>
            </a:soli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600" b="1"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Recommendation?</a:t>
              </a:r>
            </a:p>
          </p:txBody>
        </p:sp>
        <p:sp>
          <p:nvSpPr>
            <p:cNvPr id="30" name="Text Box 5">
              <a:extLst>
                <a:ext uri="{FF2B5EF4-FFF2-40B4-BE49-F238E27FC236}">
                  <a16:creationId xmlns:a16="http://schemas.microsoft.com/office/drawing/2014/main" id="{8446B75B-4FDD-4618-9A09-475F3CE1BCEC}"/>
                </a:ext>
              </a:extLst>
            </p:cNvPr>
            <p:cNvSpPr txBox="1">
              <a:spLocks noChangeArrowheads="1"/>
            </p:cNvSpPr>
            <p:nvPr/>
          </p:nvSpPr>
          <p:spPr bwMode="auto">
            <a:xfrm>
              <a:off x="1920" y="565"/>
              <a:ext cx="1824" cy="179"/>
            </a:xfrm>
            <a:prstGeom prst="rect">
              <a:avLst/>
            </a:prstGeom>
            <a:solidFill>
              <a:srgbClr val="000000"/>
            </a:solidFill>
            <a:ln w="9525" algn="ctr">
              <a:solidFill>
                <a:srgbClr val="000000"/>
              </a:solidFill>
              <a:miter lim="800000"/>
              <a:headEnd/>
              <a:tailEnd/>
            </a:ln>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1" i="0" u="none" strike="noStrike" kern="0" cap="none" spc="0" normalizeH="0" baseline="0" noProof="0" dirty="0">
                  <a:ln>
                    <a:noFill/>
                  </a:ln>
                  <a:solidFill>
                    <a:srgbClr val="FFFFFF"/>
                  </a:solidFill>
                  <a:effectLst/>
                  <a:uLnTx/>
                  <a:uFillTx/>
                  <a:latin typeface="Times New Roman" panose="02020603050405020304" pitchFamily="18" charset="0"/>
                  <a:ea typeface="ＭＳ Ｐゴシック" panose="020B0600070205080204" pitchFamily="34" charset="-128"/>
                  <a:cs typeface="+mn-cs"/>
                </a:rPr>
                <a:t>Causes in the Root Cause Analysis</a:t>
              </a:r>
            </a:p>
          </p:txBody>
        </p:sp>
        <p:sp>
          <p:nvSpPr>
            <p:cNvPr id="31" name="Text Box 10">
              <a:extLst>
                <a:ext uri="{FF2B5EF4-FFF2-40B4-BE49-F238E27FC236}">
                  <a16:creationId xmlns:a16="http://schemas.microsoft.com/office/drawing/2014/main" id="{3EBC3D72-9BBE-46B1-A9AA-5CB804E0D16A}"/>
                </a:ext>
              </a:extLst>
            </p:cNvPr>
            <p:cNvSpPr txBox="1">
              <a:spLocks noChangeArrowheads="1"/>
            </p:cNvSpPr>
            <p:nvPr/>
          </p:nvSpPr>
          <p:spPr bwMode="auto">
            <a:xfrm>
              <a:off x="4128" y="564"/>
              <a:ext cx="1248" cy="179"/>
            </a:xfrm>
            <a:prstGeom prst="rect">
              <a:avLst/>
            </a:prstGeom>
            <a:solidFill>
              <a:srgbClr val="000000"/>
            </a:solidFill>
            <a:ln w="9525">
              <a:solidFill>
                <a:srgbClr val="000000"/>
              </a:solidFill>
              <a:miter lim="800000"/>
              <a:headEnd/>
              <a:tailEnd/>
            </a:ln>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1"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Category of Cause</a:t>
              </a:r>
            </a:p>
          </p:txBody>
        </p:sp>
        <p:sp>
          <p:nvSpPr>
            <p:cNvPr id="32" name="Text Box 11">
              <a:extLst>
                <a:ext uri="{FF2B5EF4-FFF2-40B4-BE49-F238E27FC236}">
                  <a16:creationId xmlns:a16="http://schemas.microsoft.com/office/drawing/2014/main" id="{9F491933-7117-4008-ACCD-DA668497F762}"/>
                </a:ext>
              </a:extLst>
            </p:cNvPr>
            <p:cNvSpPr txBox="1">
              <a:spLocks noChangeArrowheads="1"/>
            </p:cNvSpPr>
            <p:nvPr/>
          </p:nvSpPr>
          <p:spPr bwMode="auto">
            <a:xfrm>
              <a:off x="960" y="551"/>
              <a:ext cx="624" cy="294"/>
            </a:xfrm>
            <a:prstGeom prst="rect">
              <a:avLst/>
            </a:prstGeom>
            <a:solidFill>
              <a:srgbClr val="000000"/>
            </a:solidFill>
            <a:ln w="9525">
              <a:solidFill>
                <a:srgbClr val="000000"/>
              </a:solidFill>
              <a:miter lim="800000"/>
              <a:headEnd/>
              <a:tailEnd/>
            </a:ln>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1"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Type of Cause</a:t>
              </a:r>
            </a:p>
          </p:txBody>
        </p:sp>
        <p:cxnSp>
          <p:nvCxnSpPr>
            <p:cNvPr id="33" name="Straight Connector 32">
              <a:extLst>
                <a:ext uri="{FF2B5EF4-FFF2-40B4-BE49-F238E27FC236}">
                  <a16:creationId xmlns:a16="http://schemas.microsoft.com/office/drawing/2014/main" id="{B46F41E5-58E2-4100-A530-8333D161386B}"/>
                </a:ext>
              </a:extLst>
            </p:cNvPr>
            <p:cNvCxnSpPr/>
            <p:nvPr/>
          </p:nvCxnSpPr>
          <p:spPr>
            <a:xfrm>
              <a:off x="1728" y="528"/>
              <a:ext cx="0" cy="3216"/>
            </a:xfrm>
            <a:prstGeom prst="line">
              <a:avLst/>
            </a:prstGeom>
            <a:noFill/>
            <a:ln w="9525" cap="flat" cmpd="sng" algn="ctr">
              <a:solidFill>
                <a:srgbClr val="000000"/>
              </a:solidFill>
              <a:prstDash val="sysDash"/>
            </a:ln>
            <a:effectLst/>
          </p:spPr>
        </p:cxnSp>
        <p:cxnSp>
          <p:nvCxnSpPr>
            <p:cNvPr id="34" name="Straight Connector 33">
              <a:extLst>
                <a:ext uri="{FF2B5EF4-FFF2-40B4-BE49-F238E27FC236}">
                  <a16:creationId xmlns:a16="http://schemas.microsoft.com/office/drawing/2014/main" id="{502578C9-7227-48AF-9041-C54CDF8454FA}"/>
                </a:ext>
              </a:extLst>
            </p:cNvPr>
            <p:cNvCxnSpPr/>
            <p:nvPr/>
          </p:nvCxnSpPr>
          <p:spPr>
            <a:xfrm>
              <a:off x="816" y="912"/>
              <a:ext cx="4608" cy="0"/>
            </a:xfrm>
            <a:prstGeom prst="line">
              <a:avLst/>
            </a:prstGeom>
            <a:noFill/>
            <a:ln w="9525" cap="flat" cmpd="sng" algn="ctr">
              <a:solidFill>
                <a:srgbClr val="000000"/>
              </a:solidFill>
              <a:prstDash val="sysDash"/>
            </a:ln>
            <a:effectLst/>
          </p:spPr>
        </p:cxnSp>
        <p:sp>
          <p:nvSpPr>
            <p:cNvPr id="35" name="Text Box 10">
              <a:extLst>
                <a:ext uri="{FF2B5EF4-FFF2-40B4-BE49-F238E27FC236}">
                  <a16:creationId xmlns:a16="http://schemas.microsoft.com/office/drawing/2014/main" id="{3137458E-4D2B-4EC7-82A6-80525DF6F71B}"/>
                </a:ext>
              </a:extLst>
            </p:cNvPr>
            <p:cNvSpPr txBox="1">
              <a:spLocks noChangeArrowheads="1"/>
            </p:cNvSpPr>
            <p:nvPr/>
          </p:nvSpPr>
          <p:spPr bwMode="auto">
            <a:xfrm>
              <a:off x="4080" y="1315"/>
              <a:ext cx="1296" cy="40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Substandard</a:t>
              </a:r>
              <a:b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b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Work Practice or Substandard Condition</a:t>
              </a:r>
            </a:p>
          </p:txBody>
        </p:sp>
        <p:cxnSp>
          <p:nvCxnSpPr>
            <p:cNvPr id="36" name="Straight Connector 23">
              <a:extLst>
                <a:ext uri="{FF2B5EF4-FFF2-40B4-BE49-F238E27FC236}">
                  <a16:creationId xmlns:a16="http://schemas.microsoft.com/office/drawing/2014/main" id="{E9B0E3ED-3D1E-4474-B858-113B5230368D}"/>
                </a:ext>
              </a:extLst>
            </p:cNvPr>
            <p:cNvCxnSpPr/>
            <p:nvPr/>
          </p:nvCxnSpPr>
          <p:spPr>
            <a:xfrm>
              <a:off x="4032" y="528"/>
              <a:ext cx="0" cy="3216"/>
            </a:xfrm>
            <a:prstGeom prst="line">
              <a:avLst/>
            </a:prstGeom>
            <a:noFill/>
            <a:ln w="9525" cap="flat" cmpd="sng" algn="ctr">
              <a:solidFill>
                <a:srgbClr val="000000"/>
              </a:solidFill>
              <a:prstDash val="sysDash"/>
            </a:ln>
            <a:effectLst/>
          </p:spPr>
        </p:cxnSp>
        <p:sp>
          <p:nvSpPr>
            <p:cNvPr id="37" name="Text Box 4">
              <a:extLst>
                <a:ext uri="{FF2B5EF4-FFF2-40B4-BE49-F238E27FC236}">
                  <a16:creationId xmlns:a16="http://schemas.microsoft.com/office/drawing/2014/main" id="{0875AC3E-0A69-411E-A15F-5F08288FF276}"/>
                </a:ext>
              </a:extLst>
            </p:cNvPr>
            <p:cNvSpPr txBox="1">
              <a:spLocks noChangeArrowheads="1"/>
            </p:cNvSpPr>
            <p:nvPr/>
          </p:nvSpPr>
          <p:spPr bwMode="auto">
            <a:xfrm>
              <a:off x="2256" y="2471"/>
              <a:ext cx="1248" cy="179"/>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t>Intermediate Cause</a:t>
              </a:r>
            </a:p>
          </p:txBody>
        </p:sp>
        <p:cxnSp>
          <p:nvCxnSpPr>
            <p:cNvPr id="38" name="AutoShape 17">
              <a:extLst>
                <a:ext uri="{FF2B5EF4-FFF2-40B4-BE49-F238E27FC236}">
                  <a16:creationId xmlns:a16="http://schemas.microsoft.com/office/drawing/2014/main" id="{1FCA2A94-A99B-4D46-9FCD-CFD0BF684A33}"/>
                </a:ext>
              </a:extLst>
            </p:cNvPr>
            <p:cNvCxnSpPr>
              <a:cxnSpLocks noChangeShapeType="1"/>
              <a:stCxn id="37" idx="2"/>
              <a:endCxn id="16" idx="0"/>
            </p:cNvCxnSpPr>
            <p:nvPr/>
          </p:nvCxnSpPr>
          <p:spPr bwMode="auto">
            <a:xfrm>
              <a:off x="2880" y="2650"/>
              <a:ext cx="0" cy="209"/>
            </a:xfrm>
            <a:prstGeom prst="straightConnector1">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304652973"/>
      </p:ext>
    </p:extLst>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chemeClr val="tx1"/>
          </a:solidFill>
          <a:ln>
            <a:solidFill>
              <a:schemeClr val="tx1"/>
            </a:solidFill>
          </a:ln>
        </p:spPr>
        <p:txBody>
          <a:bodyPr anchor="ctr"/>
          <a:lstStyle/>
          <a:p>
            <a:pPr>
              <a:buFont typeface="Arial" panose="020B0604020202020204" pitchFamily="34" charset="0"/>
              <a:buNone/>
            </a:pPr>
            <a:r>
              <a:rPr lang="en-CA" altLang="en-US" sz="2400" b="0" dirty="0">
                <a:solidFill>
                  <a:schemeClr val="bg1"/>
                </a:solidFill>
                <a:latin typeface="Arial" panose="020B0604020202020204" pitchFamily="34" charset="0"/>
                <a:cs typeface="Arial" panose="020B0604020202020204" pitchFamily="34" charset="0"/>
              </a:rPr>
              <a:t>Example: Examine One Root of a Root Cause Analysis: </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4.5: Linking Latent Causes to Recommendations</a:t>
            </a:r>
          </a:p>
        </p:txBody>
      </p:sp>
      <p:sp>
        <p:nvSpPr>
          <p:cNvPr id="7" name="Rectangle 6">
            <a:extLst>
              <a:ext uri="{FF2B5EF4-FFF2-40B4-BE49-F238E27FC236}">
                <a16:creationId xmlns:a16="http://schemas.microsoft.com/office/drawing/2014/main" id="{8ACA68EA-FB4F-4421-8D17-2B73DF3F2A97}"/>
              </a:ext>
            </a:extLst>
          </p:cNvPr>
          <p:cNvSpPr/>
          <p:nvPr/>
        </p:nvSpPr>
        <p:spPr bwMode="auto">
          <a:xfrm>
            <a:off x="1219200" y="828000"/>
            <a:ext cx="6705600" cy="5384903"/>
          </a:xfrm>
          <a:prstGeom prst="rect">
            <a:avLst/>
          </a:prstGeom>
          <a:solidFill>
            <a:srgbClr val="FFFFFF"/>
          </a:solidFill>
          <a:ln w="25400" cap="flat" cmpd="sng" algn="ctr">
            <a:solidFill>
              <a:srgbClr val="000000"/>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a:ln>
                <a:noFill/>
              </a:ln>
              <a:solidFill>
                <a:srgbClr val="FFFFFF"/>
              </a:solidFill>
              <a:effectLst/>
              <a:uLnTx/>
              <a:uFillTx/>
              <a:latin typeface="Arial"/>
              <a:ea typeface="+mn-ea"/>
              <a:cs typeface="+mn-cs"/>
            </a:endParaRPr>
          </a:p>
        </p:txBody>
      </p:sp>
      <p:sp>
        <p:nvSpPr>
          <p:cNvPr id="10" name="Text Box 2">
            <a:extLst>
              <a:ext uri="{FF2B5EF4-FFF2-40B4-BE49-F238E27FC236}">
                <a16:creationId xmlns:a16="http://schemas.microsoft.com/office/drawing/2014/main" id="{6E4E9BBB-F47C-42A2-BC45-92CDE50F69B1}"/>
              </a:ext>
            </a:extLst>
          </p:cNvPr>
          <p:cNvSpPr txBox="1">
            <a:spLocks noChangeArrowheads="1"/>
          </p:cNvSpPr>
          <p:nvPr/>
        </p:nvSpPr>
        <p:spPr bwMode="auto">
          <a:xfrm>
            <a:off x="3253483" y="1690040"/>
            <a:ext cx="2411000" cy="272032"/>
          </a:xfrm>
          <a:prstGeom prst="rect">
            <a:avLst/>
          </a:prstGeom>
          <a:solidFill>
            <a:srgbClr val="66FF66"/>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Equipment found in defective state</a:t>
            </a:r>
          </a:p>
        </p:txBody>
      </p:sp>
      <p:sp>
        <p:nvSpPr>
          <p:cNvPr id="11" name="Text Box 10">
            <a:extLst>
              <a:ext uri="{FF2B5EF4-FFF2-40B4-BE49-F238E27FC236}">
                <a16:creationId xmlns:a16="http://schemas.microsoft.com/office/drawing/2014/main" id="{7067D28A-0EA2-47DA-B46C-DC9766B8A916}"/>
              </a:ext>
            </a:extLst>
          </p:cNvPr>
          <p:cNvSpPr txBox="1">
            <a:spLocks noChangeArrowheads="1"/>
          </p:cNvSpPr>
          <p:nvPr/>
        </p:nvSpPr>
        <p:spPr bwMode="auto">
          <a:xfrm>
            <a:off x="6191892" y="3333316"/>
            <a:ext cx="1506876" cy="398882"/>
          </a:xfrm>
          <a:prstGeom prst="rect">
            <a:avLst/>
          </a:prstGeom>
          <a:solidFill>
            <a:srgbClr val="FFFF66"/>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t>Improper Risk Taking</a:t>
            </a:r>
            <a:br>
              <a:rPr kumimoji="0" lang="en-US" alt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br>
            <a:r>
              <a:rPr kumimoji="0" lang="en-US" alt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t>Improper Motivation</a:t>
            </a:r>
          </a:p>
        </p:txBody>
      </p:sp>
      <p:sp>
        <p:nvSpPr>
          <p:cNvPr id="14" name="Text Box 11">
            <a:extLst>
              <a:ext uri="{FF2B5EF4-FFF2-40B4-BE49-F238E27FC236}">
                <a16:creationId xmlns:a16="http://schemas.microsoft.com/office/drawing/2014/main" id="{A1E0EF9D-F485-4BF9-BBC2-94695FD2507A}"/>
              </a:ext>
            </a:extLst>
          </p:cNvPr>
          <p:cNvSpPr txBox="1">
            <a:spLocks noChangeArrowheads="1"/>
          </p:cNvSpPr>
          <p:nvPr/>
        </p:nvSpPr>
        <p:spPr bwMode="auto">
          <a:xfrm>
            <a:off x="1520575" y="3327083"/>
            <a:ext cx="979470" cy="398882"/>
          </a:xfrm>
          <a:prstGeom prst="rect">
            <a:avLst/>
          </a:prstGeom>
          <a:solidFill>
            <a:srgbClr val="FFFF66"/>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t>Basic </a:t>
            </a:r>
            <a:br>
              <a:rPr kumimoji="0" lang="en-US" alt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br>
            <a:r>
              <a:rPr kumimoji="0" lang="en-US" alt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t>Cause</a:t>
            </a:r>
          </a:p>
        </p:txBody>
      </p:sp>
      <p:sp>
        <p:nvSpPr>
          <p:cNvPr id="15" name="Text Box 12">
            <a:extLst>
              <a:ext uri="{FF2B5EF4-FFF2-40B4-BE49-F238E27FC236}">
                <a16:creationId xmlns:a16="http://schemas.microsoft.com/office/drawing/2014/main" id="{ACC09F93-9366-4C2E-AF91-4827E7F2FAE0}"/>
              </a:ext>
            </a:extLst>
          </p:cNvPr>
          <p:cNvSpPr txBox="1">
            <a:spLocks noChangeArrowheads="1"/>
          </p:cNvSpPr>
          <p:nvPr/>
        </p:nvSpPr>
        <p:spPr bwMode="auto">
          <a:xfrm>
            <a:off x="1520575" y="2103769"/>
            <a:ext cx="979470" cy="398882"/>
          </a:xfrm>
          <a:prstGeom prst="rect">
            <a:avLst/>
          </a:prstGeom>
          <a:solidFill>
            <a:srgbClr val="CC99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t>Immediate </a:t>
            </a:r>
            <a:br>
              <a:rPr kumimoji="0" lang="en-US" alt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br>
            <a:r>
              <a:rPr kumimoji="0" lang="en-US" alt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t>Cause</a:t>
            </a:r>
          </a:p>
        </p:txBody>
      </p:sp>
      <p:sp>
        <p:nvSpPr>
          <p:cNvPr id="16" name="Text Box 13">
            <a:extLst>
              <a:ext uri="{FF2B5EF4-FFF2-40B4-BE49-F238E27FC236}">
                <a16:creationId xmlns:a16="http://schemas.microsoft.com/office/drawing/2014/main" id="{2F709FBB-6A03-4EA5-8049-D5A54C2E36D4}"/>
              </a:ext>
            </a:extLst>
          </p:cNvPr>
          <p:cNvSpPr txBox="1">
            <a:spLocks noChangeArrowheads="1"/>
          </p:cNvSpPr>
          <p:nvPr/>
        </p:nvSpPr>
        <p:spPr bwMode="auto">
          <a:xfrm>
            <a:off x="1294544" y="1700929"/>
            <a:ext cx="1356189" cy="256038"/>
          </a:xfrm>
          <a:prstGeom prst="rect">
            <a:avLst/>
          </a:prstGeom>
          <a:solidFill>
            <a:srgbClr val="66FF66"/>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Incident Description</a:t>
            </a:r>
          </a:p>
        </p:txBody>
      </p:sp>
      <p:sp>
        <p:nvSpPr>
          <p:cNvPr id="17" name="Text Box 14">
            <a:extLst>
              <a:ext uri="{FF2B5EF4-FFF2-40B4-BE49-F238E27FC236}">
                <a16:creationId xmlns:a16="http://schemas.microsoft.com/office/drawing/2014/main" id="{D9260694-C3AF-46C8-9979-BEA53438A9AE}"/>
              </a:ext>
            </a:extLst>
          </p:cNvPr>
          <p:cNvSpPr txBox="1">
            <a:spLocks noChangeArrowheads="1"/>
          </p:cNvSpPr>
          <p:nvPr/>
        </p:nvSpPr>
        <p:spPr bwMode="auto">
          <a:xfrm>
            <a:off x="1520575" y="4710677"/>
            <a:ext cx="979470" cy="398882"/>
          </a:xfrm>
          <a:prstGeom prst="rect">
            <a:avLst/>
          </a:prstGeom>
          <a:solidFill>
            <a:srgbClr val="66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t>Latent </a:t>
            </a:r>
            <a:br>
              <a:rPr kumimoji="0" lang="en-US" alt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br>
            <a:r>
              <a:rPr kumimoji="0" lang="en-US" alt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t>Cause</a:t>
            </a:r>
          </a:p>
        </p:txBody>
      </p:sp>
      <p:sp>
        <p:nvSpPr>
          <p:cNvPr id="18" name="Text Box 15">
            <a:extLst>
              <a:ext uri="{FF2B5EF4-FFF2-40B4-BE49-F238E27FC236}">
                <a16:creationId xmlns:a16="http://schemas.microsoft.com/office/drawing/2014/main" id="{0366DAF2-6637-4C92-B0F7-0417C60FBA58}"/>
              </a:ext>
            </a:extLst>
          </p:cNvPr>
          <p:cNvSpPr txBox="1">
            <a:spLocks noChangeArrowheads="1"/>
          </p:cNvSpPr>
          <p:nvPr/>
        </p:nvSpPr>
        <p:spPr bwMode="auto">
          <a:xfrm>
            <a:off x="6191892" y="4788331"/>
            <a:ext cx="1506876" cy="256038"/>
          </a:xfrm>
          <a:prstGeom prst="rect">
            <a:avLst/>
          </a:prstGeom>
          <a:solidFill>
            <a:srgbClr val="66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Inadequate Program</a:t>
            </a:r>
          </a:p>
        </p:txBody>
      </p:sp>
      <p:cxnSp>
        <p:nvCxnSpPr>
          <p:cNvPr id="19" name="AutoShape 16">
            <a:extLst>
              <a:ext uri="{FF2B5EF4-FFF2-40B4-BE49-F238E27FC236}">
                <a16:creationId xmlns:a16="http://schemas.microsoft.com/office/drawing/2014/main" id="{32B3E21A-525A-40F4-991E-18AD2BCA89F3}"/>
              </a:ext>
            </a:extLst>
          </p:cNvPr>
          <p:cNvCxnSpPr>
            <a:cxnSpLocks noChangeShapeType="1"/>
            <a:stCxn id="10" idx="2"/>
            <a:endCxn id="30" idx="0"/>
          </p:cNvCxnSpPr>
          <p:nvPr/>
        </p:nvCxnSpPr>
        <p:spPr bwMode="auto">
          <a:xfrm>
            <a:off x="4458983" y="1962072"/>
            <a:ext cx="1" cy="2873064"/>
          </a:xfrm>
          <a:prstGeom prst="straightConnector1">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Text Box 5">
            <a:extLst>
              <a:ext uri="{FF2B5EF4-FFF2-40B4-BE49-F238E27FC236}">
                <a16:creationId xmlns:a16="http://schemas.microsoft.com/office/drawing/2014/main" id="{1981E8CD-0320-4BB7-A57E-7EADB72A7E67}"/>
              </a:ext>
            </a:extLst>
          </p:cNvPr>
          <p:cNvSpPr txBox="1">
            <a:spLocks noChangeArrowheads="1"/>
          </p:cNvSpPr>
          <p:nvPr/>
        </p:nvSpPr>
        <p:spPr bwMode="auto">
          <a:xfrm>
            <a:off x="3027452" y="1052371"/>
            <a:ext cx="2863065" cy="243069"/>
          </a:xfrm>
          <a:prstGeom prst="rect">
            <a:avLst/>
          </a:prstGeom>
          <a:solidFill>
            <a:srgbClr val="000000"/>
          </a:solidFill>
          <a:ln w="9525" algn="ctr">
            <a:solidFill>
              <a:srgbClr val="000000"/>
            </a:solidFill>
            <a:miter lim="800000"/>
            <a:headEnd/>
            <a:tailEnd/>
          </a:ln>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1"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Causes in the Root Cause Analysis</a:t>
            </a:r>
          </a:p>
        </p:txBody>
      </p:sp>
      <p:sp>
        <p:nvSpPr>
          <p:cNvPr id="21" name="Text Box 10">
            <a:extLst>
              <a:ext uri="{FF2B5EF4-FFF2-40B4-BE49-F238E27FC236}">
                <a16:creationId xmlns:a16="http://schemas.microsoft.com/office/drawing/2014/main" id="{8DF4C73D-8733-42EA-A876-46CEA8BEEF39}"/>
              </a:ext>
            </a:extLst>
          </p:cNvPr>
          <p:cNvSpPr txBox="1">
            <a:spLocks noChangeArrowheads="1"/>
          </p:cNvSpPr>
          <p:nvPr/>
        </p:nvSpPr>
        <p:spPr bwMode="auto">
          <a:xfrm>
            <a:off x="6267236" y="1049255"/>
            <a:ext cx="1356189" cy="249301"/>
          </a:xfrm>
          <a:prstGeom prst="rect">
            <a:avLst/>
          </a:prstGeom>
          <a:solidFill>
            <a:srgbClr val="000000"/>
          </a:solidFill>
          <a:ln w="9525">
            <a:solidFill>
              <a:srgbClr val="000000"/>
            </a:solidFill>
            <a:miter lim="800000"/>
            <a:headEnd/>
            <a:tailEnd/>
          </a:ln>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1"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Category of Cause</a:t>
            </a:r>
          </a:p>
        </p:txBody>
      </p:sp>
      <p:sp>
        <p:nvSpPr>
          <p:cNvPr id="22" name="Text Box 11">
            <a:extLst>
              <a:ext uri="{FF2B5EF4-FFF2-40B4-BE49-F238E27FC236}">
                <a16:creationId xmlns:a16="http://schemas.microsoft.com/office/drawing/2014/main" id="{98F1D7F9-E436-49A0-B789-4C9D84BEC5B0}"/>
              </a:ext>
            </a:extLst>
          </p:cNvPr>
          <p:cNvSpPr txBox="1">
            <a:spLocks noChangeArrowheads="1"/>
          </p:cNvSpPr>
          <p:nvPr/>
        </p:nvSpPr>
        <p:spPr bwMode="auto">
          <a:xfrm>
            <a:off x="1520575" y="1046138"/>
            <a:ext cx="979470" cy="392649"/>
          </a:xfrm>
          <a:prstGeom prst="rect">
            <a:avLst/>
          </a:prstGeom>
          <a:solidFill>
            <a:srgbClr val="000000"/>
          </a:solidFill>
          <a:ln w="9525">
            <a:solidFill>
              <a:srgbClr val="000000"/>
            </a:solidFill>
            <a:miter lim="800000"/>
            <a:headEnd/>
            <a:tailEnd/>
          </a:ln>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1"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Type of Cause</a:t>
            </a:r>
          </a:p>
        </p:txBody>
      </p:sp>
      <p:cxnSp>
        <p:nvCxnSpPr>
          <p:cNvPr id="23" name="Straight Connector 22">
            <a:extLst>
              <a:ext uri="{FF2B5EF4-FFF2-40B4-BE49-F238E27FC236}">
                <a16:creationId xmlns:a16="http://schemas.microsoft.com/office/drawing/2014/main" id="{9DD1DEB0-E34A-4DD4-8176-C6C4069EBF52}"/>
              </a:ext>
            </a:extLst>
          </p:cNvPr>
          <p:cNvCxnSpPr/>
          <p:nvPr/>
        </p:nvCxnSpPr>
        <p:spPr bwMode="auto">
          <a:xfrm>
            <a:off x="2725391" y="828000"/>
            <a:ext cx="0" cy="5384903"/>
          </a:xfrm>
          <a:prstGeom prst="line">
            <a:avLst/>
          </a:prstGeom>
          <a:noFill/>
          <a:ln w="9525" cap="flat" cmpd="sng" algn="ctr">
            <a:solidFill>
              <a:srgbClr val="000000"/>
            </a:solidFill>
            <a:prstDash val="sysDash"/>
          </a:ln>
          <a:effectLst/>
        </p:spPr>
      </p:cxnSp>
      <p:cxnSp>
        <p:nvCxnSpPr>
          <p:cNvPr id="24" name="Straight Connector 23">
            <a:extLst>
              <a:ext uri="{FF2B5EF4-FFF2-40B4-BE49-F238E27FC236}">
                <a16:creationId xmlns:a16="http://schemas.microsoft.com/office/drawing/2014/main" id="{B0ECEBCE-E6C7-44E1-B3F5-958655CA23D0}"/>
              </a:ext>
            </a:extLst>
          </p:cNvPr>
          <p:cNvCxnSpPr/>
          <p:nvPr/>
        </p:nvCxnSpPr>
        <p:spPr bwMode="auto">
          <a:xfrm>
            <a:off x="1219200" y="1576462"/>
            <a:ext cx="6705600" cy="0"/>
          </a:xfrm>
          <a:prstGeom prst="line">
            <a:avLst/>
          </a:prstGeom>
          <a:noFill/>
          <a:ln w="9525" cap="flat" cmpd="sng" algn="ctr">
            <a:solidFill>
              <a:srgbClr val="000000"/>
            </a:solidFill>
            <a:prstDash val="sysDash"/>
          </a:ln>
          <a:effectLst/>
        </p:spPr>
      </p:cxnSp>
      <p:sp>
        <p:nvSpPr>
          <p:cNvPr id="25" name="Text Box 10">
            <a:extLst>
              <a:ext uri="{FF2B5EF4-FFF2-40B4-BE49-F238E27FC236}">
                <a16:creationId xmlns:a16="http://schemas.microsoft.com/office/drawing/2014/main" id="{FE9461E5-51D7-4C6E-8CF1-91CA7EA00922}"/>
              </a:ext>
            </a:extLst>
          </p:cNvPr>
          <p:cNvSpPr txBox="1">
            <a:spLocks noChangeArrowheads="1"/>
          </p:cNvSpPr>
          <p:nvPr/>
        </p:nvSpPr>
        <p:spPr bwMode="auto">
          <a:xfrm>
            <a:off x="6191892" y="2128699"/>
            <a:ext cx="1506876" cy="398882"/>
          </a:xfrm>
          <a:prstGeom prst="rect">
            <a:avLst/>
          </a:prstGeom>
          <a:solidFill>
            <a:srgbClr val="CC99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t>Sub-standard</a:t>
            </a:r>
            <a:br>
              <a:rPr kumimoji="0" lang="en-US" alt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br>
            <a:r>
              <a:rPr kumimoji="0" lang="en-US" alt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t>Work Practice</a:t>
            </a:r>
          </a:p>
        </p:txBody>
      </p:sp>
      <p:sp>
        <p:nvSpPr>
          <p:cNvPr id="26" name="Text Box 7">
            <a:extLst>
              <a:ext uri="{FF2B5EF4-FFF2-40B4-BE49-F238E27FC236}">
                <a16:creationId xmlns:a16="http://schemas.microsoft.com/office/drawing/2014/main" id="{A80B5988-6681-4FA2-A911-D0757586F1D6}"/>
              </a:ext>
            </a:extLst>
          </p:cNvPr>
          <p:cNvSpPr txBox="1">
            <a:spLocks noChangeArrowheads="1"/>
          </p:cNvSpPr>
          <p:nvPr/>
        </p:nvSpPr>
        <p:spPr bwMode="auto">
          <a:xfrm>
            <a:off x="3027452" y="3981062"/>
            <a:ext cx="2863065" cy="646331"/>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dirty="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Management failed to </a:t>
            </a: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communicate or </a:t>
            </a:r>
            <a:r>
              <a:rPr kumimoji="0" lang="en-US" altLang="en-US" sz="1200" b="0" i="0" u="none" strike="noStrike" kern="0" cap="none" spc="0" normalizeH="0" baseline="0" noProof="0" dirty="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did not </a:t>
            </a: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check that the IM understood Corporate Values: “Safety always before Production”</a:t>
            </a:r>
          </a:p>
        </p:txBody>
      </p:sp>
      <p:sp>
        <p:nvSpPr>
          <p:cNvPr id="27" name="Text Box 5">
            <a:extLst>
              <a:ext uri="{FF2B5EF4-FFF2-40B4-BE49-F238E27FC236}">
                <a16:creationId xmlns:a16="http://schemas.microsoft.com/office/drawing/2014/main" id="{74DF996E-7B23-4C40-B499-5742ACA459B0}"/>
              </a:ext>
            </a:extLst>
          </p:cNvPr>
          <p:cNvSpPr txBox="1">
            <a:spLocks noChangeArrowheads="1"/>
          </p:cNvSpPr>
          <p:nvPr/>
        </p:nvSpPr>
        <p:spPr bwMode="auto">
          <a:xfrm>
            <a:off x="3027452" y="3215386"/>
            <a:ext cx="2863065" cy="634741"/>
          </a:xfrm>
          <a:prstGeom prst="rect">
            <a:avLst/>
          </a:prstGeom>
          <a:solidFill>
            <a:srgbClr val="FFFF66"/>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IM had not yet learned or taken to heart or cared that or understood that safety checks must be done before </a:t>
            </a:r>
            <a:r>
              <a:rPr kumimoji="0" lang="en-US" altLang="en-US" sz="1200" b="0" i="0" u="none" strike="noStrike" kern="0" cap="none" spc="0" normalizeH="0" baseline="0" noProof="0" dirty="0" err="1">
                <a:ln>
                  <a:noFill/>
                </a:ln>
                <a:solidFill>
                  <a:srgbClr val="000000"/>
                </a:solidFill>
                <a:effectLst/>
                <a:uLnTx/>
                <a:uFillTx/>
                <a:latin typeface="Times New Roman" panose="02020603050405020304" pitchFamily="18" charset="0"/>
                <a:ea typeface="ＭＳ Ｐゴシック" panose="020B0600070205080204" pitchFamily="34" charset="-128"/>
                <a:cs typeface="+mn-cs"/>
              </a:rPr>
              <a:t>Prod’n</a:t>
            </a: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 checks</a:t>
            </a:r>
          </a:p>
        </p:txBody>
      </p:sp>
      <p:sp>
        <p:nvSpPr>
          <p:cNvPr id="28" name="Text Box 4">
            <a:extLst>
              <a:ext uri="{FF2B5EF4-FFF2-40B4-BE49-F238E27FC236}">
                <a16:creationId xmlns:a16="http://schemas.microsoft.com/office/drawing/2014/main" id="{DFA28246-9953-4917-BDC2-CF1EA075F8E5}"/>
              </a:ext>
            </a:extLst>
          </p:cNvPr>
          <p:cNvSpPr txBox="1">
            <a:spLocks noChangeArrowheads="1"/>
          </p:cNvSpPr>
          <p:nvPr/>
        </p:nvSpPr>
        <p:spPr bwMode="auto">
          <a:xfrm>
            <a:off x="3253483" y="2676606"/>
            <a:ext cx="2411002" cy="453387"/>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IM prioritized </a:t>
            </a:r>
            <a:r>
              <a:rPr kumimoji="0" lang="en-US" altLang="en-US" sz="1200" b="0" i="0" u="none" strike="noStrike" kern="0" cap="none" spc="0" normalizeH="0" baseline="0" noProof="0" dirty="0" err="1">
                <a:ln>
                  <a:noFill/>
                </a:ln>
                <a:solidFill>
                  <a:srgbClr val="000000"/>
                </a:solidFill>
                <a:effectLst/>
                <a:uLnTx/>
                <a:uFillTx/>
                <a:latin typeface="Times New Roman" panose="02020603050405020304" pitchFamily="18" charset="0"/>
                <a:ea typeface="ＭＳ Ｐゴシック" panose="020B0600070205080204" pitchFamily="34" charset="-128"/>
                <a:cs typeface="+mn-cs"/>
              </a:rPr>
              <a:t>Mtce</a:t>
            </a: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 work on </a:t>
            </a:r>
            <a:r>
              <a:rPr kumimoji="0" lang="en-US" altLang="en-US" sz="1200" b="0" i="0" u="none" strike="noStrike" kern="0" cap="none" spc="0" normalizeH="0" baseline="0" noProof="0" dirty="0" err="1">
                <a:ln>
                  <a:noFill/>
                </a:ln>
                <a:solidFill>
                  <a:srgbClr val="000000"/>
                </a:solidFill>
                <a:effectLst/>
                <a:uLnTx/>
                <a:uFillTx/>
                <a:latin typeface="Times New Roman" panose="02020603050405020304" pitchFamily="18" charset="0"/>
                <a:ea typeface="ＭＳ Ｐゴシック" panose="020B0600070205080204" pitchFamily="34" charset="-128"/>
                <a:cs typeface="+mn-cs"/>
              </a:rPr>
              <a:t>Prod’n</a:t>
            </a: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 Equipment over Safety Equipment</a:t>
            </a:r>
          </a:p>
        </p:txBody>
      </p:sp>
      <p:sp>
        <p:nvSpPr>
          <p:cNvPr id="29" name="Text Box 3">
            <a:extLst>
              <a:ext uri="{FF2B5EF4-FFF2-40B4-BE49-F238E27FC236}">
                <a16:creationId xmlns:a16="http://schemas.microsoft.com/office/drawing/2014/main" id="{27E5E2E5-F0C4-4DFA-828D-B7808AFFCC1C}"/>
              </a:ext>
            </a:extLst>
          </p:cNvPr>
          <p:cNvSpPr txBox="1">
            <a:spLocks noChangeArrowheads="1"/>
          </p:cNvSpPr>
          <p:nvPr/>
        </p:nvSpPr>
        <p:spPr bwMode="auto">
          <a:xfrm>
            <a:off x="3253483" y="2107680"/>
            <a:ext cx="2411000" cy="453387"/>
          </a:xfrm>
          <a:prstGeom prst="rect">
            <a:avLst/>
          </a:prstGeom>
          <a:solidFill>
            <a:srgbClr val="CC99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Industrial Mechanic (IM) did not follow / implement procedure</a:t>
            </a:r>
          </a:p>
        </p:txBody>
      </p:sp>
      <p:sp>
        <p:nvSpPr>
          <p:cNvPr id="30" name="Text Box 8">
            <a:extLst>
              <a:ext uri="{FF2B5EF4-FFF2-40B4-BE49-F238E27FC236}">
                <a16:creationId xmlns:a16="http://schemas.microsoft.com/office/drawing/2014/main" id="{2F7A8CF1-244C-45F7-96FA-5750FE7E8281}"/>
              </a:ext>
            </a:extLst>
          </p:cNvPr>
          <p:cNvSpPr txBox="1">
            <a:spLocks noChangeArrowheads="1"/>
          </p:cNvSpPr>
          <p:nvPr/>
        </p:nvSpPr>
        <p:spPr bwMode="auto">
          <a:xfrm>
            <a:off x="3027452" y="4835136"/>
            <a:ext cx="2863065" cy="272032"/>
          </a:xfrm>
          <a:prstGeom prst="rect">
            <a:avLst/>
          </a:prstGeom>
          <a:solidFill>
            <a:srgbClr val="66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Latent cause?</a:t>
            </a:r>
          </a:p>
        </p:txBody>
      </p:sp>
      <p:sp>
        <p:nvSpPr>
          <p:cNvPr id="32" name="Rectangular Callout 25">
            <a:extLst>
              <a:ext uri="{FF2B5EF4-FFF2-40B4-BE49-F238E27FC236}">
                <a16:creationId xmlns:a16="http://schemas.microsoft.com/office/drawing/2014/main" id="{80009069-71AC-4A12-9A84-63DA0EB67B90}"/>
              </a:ext>
            </a:extLst>
          </p:cNvPr>
          <p:cNvSpPr/>
          <p:nvPr/>
        </p:nvSpPr>
        <p:spPr bwMode="auto">
          <a:xfrm>
            <a:off x="180000" y="780949"/>
            <a:ext cx="3401400" cy="793552"/>
          </a:xfrm>
          <a:prstGeom prst="wedgeRectCallout">
            <a:avLst>
              <a:gd name="adj1" fmla="val 35017"/>
              <a:gd name="adj2" fmla="val 250576"/>
            </a:avLst>
          </a:prstGeom>
          <a:solidFill>
            <a:schemeClr val="tx1"/>
          </a:solidFill>
          <a:ln w="9525" algn="ctr">
            <a:solidFill>
              <a:schemeClr val="tx1"/>
            </a:solidFill>
            <a:miter lim="800000"/>
            <a:headEnd/>
            <a:tailEnd/>
          </a:ln>
          <a:effectLst/>
        </p:spPr>
        <p:txBody>
          <a:bodyPr wrap="square" anchor="t" anchorCtr="0">
            <a:noAutofit/>
          </a:bodyPr>
          <a:lstStyle/>
          <a:p>
            <a:pPr lvl="0">
              <a:spcBef>
                <a:spcPts val="0"/>
              </a:spcBef>
              <a:buClr>
                <a:srgbClr val="000000"/>
              </a:buClr>
              <a:buSzPct val="65000"/>
            </a:pPr>
            <a:r>
              <a:rPr kumimoji="0" lang="en-US" b="0" i="0" u="none" strike="noStrike" kern="1200" cap="none" spc="0" normalizeH="0" baseline="0" noProof="0" dirty="0" smtClean="0">
                <a:ln>
                  <a:noFill/>
                </a:ln>
                <a:solidFill>
                  <a:srgbClr val="FFFFFF"/>
                </a:solidFill>
                <a:effectLst/>
                <a:uLnTx/>
                <a:uFillTx/>
                <a:latin typeface="Arial"/>
                <a:ea typeface="ＭＳ Ｐゴシック" panose="020B0600070205080204" pitchFamily="34" charset="-128"/>
              </a:rPr>
              <a:t>What improvement</a:t>
            </a:r>
            <a:r>
              <a:rPr lang="en-US" b="0" dirty="0" smtClean="0">
                <a:solidFill>
                  <a:srgbClr val="FFFFFF"/>
                </a:solidFill>
                <a:latin typeface="Arial"/>
                <a:ea typeface="ＭＳ Ｐゴシック" panose="020B0600070205080204" pitchFamily="34" charset="-128"/>
              </a:rPr>
              <a:t> would you make in this cause statement?</a:t>
            </a:r>
            <a:endParaRPr kumimoji="0" lang="en-US" b="0" i="0" u="none" strike="noStrike" kern="1200" cap="none" spc="0" normalizeH="0" baseline="0" noProof="0" dirty="0">
              <a:ln>
                <a:noFill/>
              </a:ln>
              <a:solidFill>
                <a:srgbClr val="FFFFFF"/>
              </a:solidFill>
              <a:effectLst/>
              <a:uLnTx/>
              <a:uFillTx/>
              <a:latin typeface="Arial"/>
              <a:ea typeface="ＭＳ Ｐゴシック" panose="020B0600070205080204" pitchFamily="34" charset="-128"/>
            </a:endParaRPr>
          </a:p>
        </p:txBody>
      </p:sp>
      <p:sp>
        <p:nvSpPr>
          <p:cNvPr id="33" name="Rectangular Callout 25">
            <a:extLst>
              <a:ext uri="{FF2B5EF4-FFF2-40B4-BE49-F238E27FC236}">
                <a16:creationId xmlns:a16="http://schemas.microsoft.com/office/drawing/2014/main" id="{80009069-71AC-4A12-9A84-63DA0EB67B90}"/>
              </a:ext>
            </a:extLst>
          </p:cNvPr>
          <p:cNvSpPr/>
          <p:nvPr/>
        </p:nvSpPr>
        <p:spPr bwMode="auto">
          <a:xfrm>
            <a:off x="6324600" y="1453429"/>
            <a:ext cx="2488800" cy="984972"/>
          </a:xfrm>
          <a:prstGeom prst="wedgeRectCallout">
            <a:avLst>
              <a:gd name="adj1" fmla="val -66653"/>
              <a:gd name="adj2" fmla="val 216963"/>
            </a:avLst>
          </a:prstGeom>
          <a:solidFill>
            <a:schemeClr val="tx1"/>
          </a:solidFill>
          <a:ln w="9525" algn="ctr">
            <a:solidFill>
              <a:schemeClr val="tx1"/>
            </a:solidFill>
            <a:miter lim="800000"/>
            <a:headEnd/>
            <a:tailEnd/>
          </a:ln>
          <a:effectLst/>
        </p:spPr>
        <p:txBody>
          <a:bodyPr wrap="square" anchor="t" anchorCtr="0">
            <a:noAutofit/>
          </a:bodyPr>
          <a:lstStyle/>
          <a:p>
            <a:pPr lvl="0">
              <a:spcBef>
                <a:spcPts val="0"/>
              </a:spcBef>
              <a:buClr>
                <a:srgbClr val="000000"/>
              </a:buClr>
              <a:buSzPct val="65000"/>
            </a:pPr>
            <a:r>
              <a:rPr kumimoji="0" lang="en-US" b="0" i="0" u="none" strike="noStrike" kern="1200" cap="none" spc="0" normalizeH="0" baseline="0" noProof="0" dirty="0" smtClean="0">
                <a:ln>
                  <a:noFill/>
                </a:ln>
                <a:solidFill>
                  <a:srgbClr val="FFFFFF"/>
                </a:solidFill>
                <a:effectLst/>
                <a:uLnTx/>
                <a:uFillTx/>
                <a:latin typeface="Arial"/>
                <a:ea typeface="ＭＳ Ｐゴシック" panose="020B0600070205080204" pitchFamily="34" charset="-128"/>
              </a:rPr>
              <a:t>What improvement</a:t>
            </a:r>
            <a:r>
              <a:rPr lang="en-US" b="0" dirty="0" smtClean="0">
                <a:solidFill>
                  <a:srgbClr val="FFFFFF"/>
                </a:solidFill>
                <a:latin typeface="Arial"/>
                <a:ea typeface="ＭＳ Ｐゴシック" panose="020B0600070205080204" pitchFamily="34" charset="-128"/>
              </a:rPr>
              <a:t> would you make in this cause statement?</a:t>
            </a:r>
            <a:endParaRPr kumimoji="0" lang="en-US" b="0" i="0" u="none" strike="noStrike" kern="1200" cap="none" spc="0" normalizeH="0" baseline="0" noProof="0" dirty="0">
              <a:ln>
                <a:noFill/>
              </a:ln>
              <a:solidFill>
                <a:srgbClr val="FFFFFF"/>
              </a:solidFill>
              <a:effectLst/>
              <a:uLnTx/>
              <a:uFillTx/>
              <a:latin typeface="Arial"/>
              <a:ea typeface="ＭＳ Ｐゴシック" panose="020B0600070205080204" pitchFamily="34" charset="-128"/>
            </a:endParaRPr>
          </a:p>
        </p:txBody>
      </p:sp>
    </p:spTree>
    <p:extLst>
      <p:ext uri="{BB962C8B-B14F-4D97-AF65-F5344CB8AC3E}">
        <p14:creationId xmlns:p14="http://schemas.microsoft.com/office/powerpoint/2010/main" val="1777950412"/>
      </p:ext>
    </p:extLst>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4.5: Linking Latent Causes to Recommendations</a:t>
            </a:r>
          </a:p>
        </p:txBody>
      </p:sp>
      <p:sp>
        <p:nvSpPr>
          <p:cNvPr id="6" name="Text Box 2">
            <a:extLst>
              <a:ext uri="{FF2B5EF4-FFF2-40B4-BE49-F238E27FC236}">
                <a16:creationId xmlns:a16="http://schemas.microsoft.com/office/drawing/2014/main" id="{452E5BBE-3462-4C66-BE19-E9C41D5F705B}"/>
              </a:ext>
            </a:extLst>
          </p:cNvPr>
          <p:cNvSpPr txBox="1">
            <a:spLocks noChangeArrowheads="1"/>
          </p:cNvSpPr>
          <p:nvPr/>
        </p:nvSpPr>
        <p:spPr bwMode="auto">
          <a:xfrm>
            <a:off x="3393581" y="840291"/>
            <a:ext cx="2006638" cy="390288"/>
          </a:xfrm>
          <a:prstGeom prst="rect">
            <a:avLst/>
          </a:prstGeom>
          <a:solidFill>
            <a:srgbClr val="66FF66"/>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Equipment found in defective state</a:t>
            </a:r>
          </a:p>
        </p:txBody>
      </p:sp>
      <p:sp>
        <p:nvSpPr>
          <p:cNvPr id="7" name="Text Box 3">
            <a:extLst>
              <a:ext uri="{FF2B5EF4-FFF2-40B4-BE49-F238E27FC236}">
                <a16:creationId xmlns:a16="http://schemas.microsoft.com/office/drawing/2014/main" id="{D87DDC1B-24CA-446F-85D4-E1EE886207A2}"/>
              </a:ext>
            </a:extLst>
          </p:cNvPr>
          <p:cNvSpPr txBox="1">
            <a:spLocks noChangeArrowheads="1"/>
          </p:cNvSpPr>
          <p:nvPr/>
        </p:nvSpPr>
        <p:spPr bwMode="auto">
          <a:xfrm>
            <a:off x="3393580" y="1364403"/>
            <a:ext cx="2006639" cy="390288"/>
          </a:xfrm>
          <a:prstGeom prst="rect">
            <a:avLst/>
          </a:prstGeom>
          <a:solidFill>
            <a:srgbClr val="CC99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t>Industrial Mechanic (IM) did not follow / implement procedure</a:t>
            </a:r>
          </a:p>
        </p:txBody>
      </p:sp>
      <p:sp>
        <p:nvSpPr>
          <p:cNvPr id="10" name="Text Box 4">
            <a:extLst>
              <a:ext uri="{FF2B5EF4-FFF2-40B4-BE49-F238E27FC236}">
                <a16:creationId xmlns:a16="http://schemas.microsoft.com/office/drawing/2014/main" id="{83ADFC1C-7C09-4FB3-A3FB-1831E6ED4AA7}"/>
              </a:ext>
            </a:extLst>
          </p:cNvPr>
          <p:cNvSpPr txBox="1">
            <a:spLocks noChangeArrowheads="1"/>
          </p:cNvSpPr>
          <p:nvPr/>
        </p:nvSpPr>
        <p:spPr bwMode="auto">
          <a:xfrm>
            <a:off x="3393580" y="1897803"/>
            <a:ext cx="2006639" cy="390288"/>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9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IM </a:t>
            </a:r>
            <a:r>
              <a:rPr kumimoji="0" lang="en-US" altLang="en-US" sz="900" b="0" i="0" u="none" strike="noStrike" kern="0" cap="none" spc="0" normalizeH="0" baseline="0" noProof="0" dirty="0" err="1">
                <a:ln>
                  <a:noFill/>
                </a:ln>
                <a:solidFill>
                  <a:srgbClr val="000000"/>
                </a:solidFill>
                <a:effectLst/>
                <a:uLnTx/>
                <a:uFillTx/>
                <a:latin typeface="Times New Roman" panose="02020603050405020304" pitchFamily="18" charset="0"/>
                <a:ea typeface="ＭＳ Ｐゴシック" panose="020B0600070205080204" pitchFamily="34" charset="-128"/>
                <a:cs typeface="+mn-cs"/>
              </a:rPr>
              <a:t>prioritised</a:t>
            </a:r>
            <a:r>
              <a:rPr kumimoji="0" lang="en-US" altLang="en-US" sz="9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 </a:t>
            </a:r>
            <a:r>
              <a:rPr kumimoji="0" lang="en-US" altLang="en-US" sz="900" b="0" i="0" u="none" strike="noStrike" kern="0" cap="none" spc="0" normalizeH="0" baseline="0" noProof="0" dirty="0" err="1">
                <a:ln>
                  <a:noFill/>
                </a:ln>
                <a:solidFill>
                  <a:srgbClr val="000000"/>
                </a:solidFill>
                <a:effectLst/>
                <a:uLnTx/>
                <a:uFillTx/>
                <a:latin typeface="Times New Roman" panose="02020603050405020304" pitchFamily="18" charset="0"/>
                <a:ea typeface="ＭＳ Ｐゴシック" panose="020B0600070205080204" pitchFamily="34" charset="-128"/>
                <a:cs typeface="+mn-cs"/>
              </a:rPr>
              <a:t>Mtce</a:t>
            </a:r>
            <a:r>
              <a:rPr kumimoji="0" lang="en-US" altLang="en-US" sz="9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 work on </a:t>
            </a:r>
            <a:r>
              <a:rPr kumimoji="0" lang="en-US" altLang="en-US" sz="900" b="0" i="0" u="none" strike="noStrike" kern="0" cap="none" spc="0" normalizeH="0" baseline="0" noProof="0" dirty="0" err="1">
                <a:ln>
                  <a:noFill/>
                </a:ln>
                <a:solidFill>
                  <a:srgbClr val="000000"/>
                </a:solidFill>
                <a:effectLst/>
                <a:uLnTx/>
                <a:uFillTx/>
                <a:latin typeface="Times New Roman" panose="02020603050405020304" pitchFamily="18" charset="0"/>
                <a:ea typeface="ＭＳ Ｐゴシック" panose="020B0600070205080204" pitchFamily="34" charset="-128"/>
                <a:cs typeface="+mn-cs"/>
              </a:rPr>
              <a:t>Prod’n</a:t>
            </a:r>
            <a:r>
              <a:rPr kumimoji="0" lang="en-US" altLang="en-US" sz="9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 Equipment over Safety Equipment</a:t>
            </a:r>
          </a:p>
        </p:txBody>
      </p:sp>
      <p:sp>
        <p:nvSpPr>
          <p:cNvPr id="11" name="Text Box 5">
            <a:extLst>
              <a:ext uri="{FF2B5EF4-FFF2-40B4-BE49-F238E27FC236}">
                <a16:creationId xmlns:a16="http://schemas.microsoft.com/office/drawing/2014/main" id="{96D455B4-E825-4EC9-8F48-F03E6BDD86B2}"/>
              </a:ext>
            </a:extLst>
          </p:cNvPr>
          <p:cNvSpPr txBox="1">
            <a:spLocks noChangeArrowheads="1"/>
          </p:cNvSpPr>
          <p:nvPr/>
        </p:nvSpPr>
        <p:spPr bwMode="auto">
          <a:xfrm>
            <a:off x="4395358" y="3115058"/>
            <a:ext cx="3423287" cy="646331"/>
          </a:xfrm>
          <a:prstGeom prst="rect">
            <a:avLst/>
          </a:prstGeom>
          <a:solidFill>
            <a:srgbClr val="FFFF66"/>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IM had not yet learned (i.e. cared for, understood) that safety checks must be done before </a:t>
            </a:r>
            <a:r>
              <a:rPr kumimoji="0" lang="en-US" altLang="en-US" sz="1200" b="0" i="0" u="none" strike="noStrike" kern="0" cap="none" spc="0" normalizeH="0" baseline="0" noProof="0" dirty="0" err="1">
                <a:ln>
                  <a:noFill/>
                </a:ln>
                <a:solidFill>
                  <a:srgbClr val="000000"/>
                </a:solidFill>
                <a:effectLst/>
                <a:uLnTx/>
                <a:uFillTx/>
                <a:latin typeface="Times New Roman" panose="02020603050405020304" pitchFamily="18" charset="0"/>
                <a:ea typeface="ＭＳ Ｐゴシック" panose="020B0600070205080204" pitchFamily="34" charset="-128"/>
                <a:cs typeface="+mn-cs"/>
              </a:rPr>
              <a:t>Prod’n</a:t>
            </a: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 checks</a:t>
            </a:r>
          </a:p>
        </p:txBody>
      </p:sp>
      <p:cxnSp>
        <p:nvCxnSpPr>
          <p:cNvPr id="14" name="AutoShape 14">
            <a:extLst>
              <a:ext uri="{FF2B5EF4-FFF2-40B4-BE49-F238E27FC236}">
                <a16:creationId xmlns:a16="http://schemas.microsoft.com/office/drawing/2014/main" id="{CFB40778-ED91-4E94-9CAE-EE450017DD16}"/>
              </a:ext>
            </a:extLst>
          </p:cNvPr>
          <p:cNvCxnSpPr>
            <a:cxnSpLocks noChangeShapeType="1"/>
            <a:stCxn id="6" idx="2"/>
            <a:endCxn id="7" idx="0"/>
          </p:cNvCxnSpPr>
          <p:nvPr/>
        </p:nvCxnSpPr>
        <p:spPr bwMode="auto">
          <a:xfrm>
            <a:off x="4396900" y="1230579"/>
            <a:ext cx="0" cy="133824"/>
          </a:xfrm>
          <a:prstGeom prst="straightConnector1">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AutoShape 15">
            <a:extLst>
              <a:ext uri="{FF2B5EF4-FFF2-40B4-BE49-F238E27FC236}">
                <a16:creationId xmlns:a16="http://schemas.microsoft.com/office/drawing/2014/main" id="{61561059-E927-4037-9115-84AA15067388}"/>
              </a:ext>
            </a:extLst>
          </p:cNvPr>
          <p:cNvCxnSpPr>
            <a:cxnSpLocks noChangeShapeType="1"/>
            <a:stCxn id="11" idx="2"/>
          </p:cNvCxnSpPr>
          <p:nvPr/>
        </p:nvCxnSpPr>
        <p:spPr bwMode="auto">
          <a:xfrm>
            <a:off x="6107002" y="3761389"/>
            <a:ext cx="4801" cy="1410111"/>
          </a:xfrm>
          <a:prstGeom prst="straightConnector1">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AutoShape 16">
            <a:extLst>
              <a:ext uri="{FF2B5EF4-FFF2-40B4-BE49-F238E27FC236}">
                <a16:creationId xmlns:a16="http://schemas.microsoft.com/office/drawing/2014/main" id="{9311E561-567F-4FE5-802E-FE4811D8450B}"/>
              </a:ext>
            </a:extLst>
          </p:cNvPr>
          <p:cNvCxnSpPr>
            <a:cxnSpLocks noChangeShapeType="1"/>
            <a:stCxn id="21" idx="3"/>
            <a:endCxn id="11" idx="0"/>
          </p:cNvCxnSpPr>
          <p:nvPr/>
        </p:nvCxnSpPr>
        <p:spPr bwMode="auto">
          <a:xfrm rot="16200000" flipH="1">
            <a:off x="5064131" y="2072186"/>
            <a:ext cx="385493" cy="1700249"/>
          </a:xfrm>
          <a:prstGeom prst="bentConnector3">
            <a:avLst>
              <a:gd name="adj1" fmla="val 50000"/>
            </a:avLst>
          </a:prstGeom>
          <a:noFill/>
          <a:ln w="3810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AutoShape 17">
            <a:extLst>
              <a:ext uri="{FF2B5EF4-FFF2-40B4-BE49-F238E27FC236}">
                <a16:creationId xmlns:a16="http://schemas.microsoft.com/office/drawing/2014/main" id="{6E38BDD6-1630-4223-8A8B-75AD4C7BA324}"/>
              </a:ext>
            </a:extLst>
          </p:cNvPr>
          <p:cNvCxnSpPr>
            <a:cxnSpLocks noChangeShapeType="1"/>
            <a:stCxn id="7" idx="2"/>
            <a:endCxn id="10" idx="0"/>
          </p:cNvCxnSpPr>
          <p:nvPr/>
        </p:nvCxnSpPr>
        <p:spPr bwMode="auto">
          <a:xfrm>
            <a:off x="4396900" y="1754691"/>
            <a:ext cx="0" cy="143112"/>
          </a:xfrm>
          <a:prstGeom prst="straightConnector1">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Text Box 18">
            <a:extLst>
              <a:ext uri="{FF2B5EF4-FFF2-40B4-BE49-F238E27FC236}">
                <a16:creationId xmlns:a16="http://schemas.microsoft.com/office/drawing/2014/main" id="{C58AEC30-D78C-44CC-804F-569AF78FBCAC}"/>
              </a:ext>
            </a:extLst>
          </p:cNvPr>
          <p:cNvSpPr txBox="1">
            <a:spLocks noChangeArrowheads="1"/>
          </p:cNvSpPr>
          <p:nvPr/>
        </p:nvSpPr>
        <p:spPr bwMode="auto">
          <a:xfrm>
            <a:off x="952394" y="3117362"/>
            <a:ext cx="3262393" cy="461665"/>
          </a:xfrm>
          <a:prstGeom prst="rect">
            <a:avLst/>
          </a:prstGeom>
          <a:solidFill>
            <a:srgbClr val="FFFF66"/>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IM was not trained on </a:t>
            </a:r>
            <a:b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b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Corporate Values</a:t>
            </a:r>
          </a:p>
        </p:txBody>
      </p:sp>
      <p:cxnSp>
        <p:nvCxnSpPr>
          <p:cNvPr id="19" name="AutoShape 23">
            <a:extLst>
              <a:ext uri="{FF2B5EF4-FFF2-40B4-BE49-F238E27FC236}">
                <a16:creationId xmlns:a16="http://schemas.microsoft.com/office/drawing/2014/main" id="{DA604BD2-64BD-4D53-8E96-6972EA197DA5}"/>
              </a:ext>
            </a:extLst>
          </p:cNvPr>
          <p:cNvCxnSpPr>
            <a:cxnSpLocks noChangeShapeType="1"/>
            <a:stCxn id="18" idx="2"/>
          </p:cNvCxnSpPr>
          <p:nvPr/>
        </p:nvCxnSpPr>
        <p:spPr bwMode="auto">
          <a:xfrm flipH="1">
            <a:off x="2583590" y="3579027"/>
            <a:ext cx="1" cy="1594246"/>
          </a:xfrm>
          <a:prstGeom prst="straightConnector1">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AutoShape 24">
            <a:extLst>
              <a:ext uri="{FF2B5EF4-FFF2-40B4-BE49-F238E27FC236}">
                <a16:creationId xmlns:a16="http://schemas.microsoft.com/office/drawing/2014/main" id="{61506945-410A-4EBE-BE6E-AD344025E98A}"/>
              </a:ext>
            </a:extLst>
          </p:cNvPr>
          <p:cNvCxnSpPr>
            <a:cxnSpLocks noChangeShapeType="1"/>
            <a:stCxn id="21" idx="3"/>
            <a:endCxn id="18" idx="0"/>
          </p:cNvCxnSpPr>
          <p:nvPr/>
        </p:nvCxnSpPr>
        <p:spPr bwMode="auto">
          <a:xfrm rot="5400000">
            <a:off x="3301274" y="2011882"/>
            <a:ext cx="387797" cy="1823162"/>
          </a:xfrm>
          <a:prstGeom prst="bentConnector3">
            <a:avLst>
              <a:gd name="adj1" fmla="val 50000"/>
            </a:avLst>
          </a:prstGeom>
          <a:noFill/>
          <a:ln w="3810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AutoShape 25">
            <a:extLst>
              <a:ext uri="{FF2B5EF4-FFF2-40B4-BE49-F238E27FC236}">
                <a16:creationId xmlns:a16="http://schemas.microsoft.com/office/drawing/2014/main" id="{174CB09C-6290-4DBA-81B2-0519B90F9829}"/>
              </a:ext>
            </a:extLst>
          </p:cNvPr>
          <p:cNvSpPr>
            <a:spLocks noChangeArrowheads="1"/>
          </p:cNvSpPr>
          <p:nvPr/>
        </p:nvSpPr>
        <p:spPr bwMode="auto">
          <a:xfrm rot="5255844">
            <a:off x="4227384" y="2319544"/>
            <a:ext cx="350650" cy="627256"/>
          </a:xfrm>
          <a:prstGeom prst="moon">
            <a:avLst>
              <a:gd name="adj" fmla="val 77514"/>
            </a:avLst>
          </a:prstGeom>
          <a:solidFill>
            <a:srgbClr val="FFFFFF"/>
          </a:solidFill>
          <a:ln w="1905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
                <a:srgbClr val="000000"/>
              </a:buClr>
              <a:buSzPct val="65000"/>
              <a:buFont typeface="Wingdings" panose="05000000000000000000" pitchFamily="2" charset="2"/>
              <a:buNone/>
              <a:tabLst/>
              <a:defRPr/>
            </a:pPr>
            <a:endParaRPr kumimoji="0" lang="en-CA" altLang="en-US" sz="18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cxnSp>
        <p:nvCxnSpPr>
          <p:cNvPr id="22" name="AutoShape 26">
            <a:extLst>
              <a:ext uri="{FF2B5EF4-FFF2-40B4-BE49-F238E27FC236}">
                <a16:creationId xmlns:a16="http://schemas.microsoft.com/office/drawing/2014/main" id="{751AE255-9E3A-455B-83F7-62209871C68E}"/>
              </a:ext>
            </a:extLst>
          </p:cNvPr>
          <p:cNvCxnSpPr>
            <a:cxnSpLocks noChangeShapeType="1"/>
            <a:stCxn id="10" idx="2"/>
            <a:endCxn id="21" idx="1"/>
          </p:cNvCxnSpPr>
          <p:nvPr/>
        </p:nvCxnSpPr>
        <p:spPr bwMode="auto">
          <a:xfrm rot="5400000">
            <a:off x="4311175" y="2372276"/>
            <a:ext cx="169910" cy="1541"/>
          </a:xfrm>
          <a:prstGeom prst="bentConnector3">
            <a:avLst>
              <a:gd name="adj1" fmla="val 50000"/>
            </a:avLst>
          </a:prstGeom>
          <a:noFill/>
          <a:ln w="3810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AutoShape 28">
            <a:extLst>
              <a:ext uri="{FF2B5EF4-FFF2-40B4-BE49-F238E27FC236}">
                <a16:creationId xmlns:a16="http://schemas.microsoft.com/office/drawing/2014/main" id="{59245E1C-A153-4071-8F7E-9FE5EE190CAE}"/>
              </a:ext>
            </a:extLst>
          </p:cNvPr>
          <p:cNvCxnSpPr>
            <a:cxnSpLocks noChangeShapeType="1"/>
          </p:cNvCxnSpPr>
          <p:nvPr/>
        </p:nvCxnSpPr>
        <p:spPr bwMode="auto">
          <a:xfrm>
            <a:off x="6041995" y="5945691"/>
            <a:ext cx="0" cy="320248"/>
          </a:xfrm>
          <a:prstGeom prst="straightConnector1">
            <a:avLst/>
          </a:prstGeom>
          <a:noFill/>
          <a:ln w="38100">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Text Box 6">
            <a:extLst>
              <a:ext uri="{FF2B5EF4-FFF2-40B4-BE49-F238E27FC236}">
                <a16:creationId xmlns:a16="http://schemas.microsoft.com/office/drawing/2014/main" id="{0ABF47E3-835C-4C83-AACF-616B55C819FB}"/>
              </a:ext>
            </a:extLst>
          </p:cNvPr>
          <p:cNvSpPr txBox="1">
            <a:spLocks noChangeArrowheads="1"/>
          </p:cNvSpPr>
          <p:nvPr/>
        </p:nvSpPr>
        <p:spPr bwMode="auto">
          <a:xfrm>
            <a:off x="4387105" y="4015628"/>
            <a:ext cx="3423287" cy="954107"/>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
                <a:srgbClr val="000000"/>
              </a:buClr>
              <a:buSzPct val="65000"/>
              <a:buFont typeface="Wingdings" panose="05000000000000000000" pitchFamily="2" charset="2"/>
              <a:buNone/>
              <a:tabLst/>
              <a:defRPr/>
            </a:pPr>
            <a:r>
              <a:rPr kumimoji="0" lang="en-US" altLang="en-US" sz="1400" b="0" i="0" u="none" strike="noStrike" kern="0" cap="none" spc="0" normalizeH="0" baseline="0" noProof="0" dirty="0" err="1"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Mngmt</a:t>
            </a:r>
            <a:r>
              <a:rPr kumimoji="0" lang="en-US" altLang="en-US" sz="1400" b="0" i="0" u="none" strike="noStrike" kern="0" cap="none" spc="0" normalizeH="0" baseline="0" noProof="0" dirty="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 System did not </a:t>
            </a:r>
            <a:r>
              <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check that the IM understood Corporate Values: “Safety always before Production” as part of the communications plan.</a:t>
            </a:r>
          </a:p>
        </p:txBody>
      </p:sp>
      <p:sp>
        <p:nvSpPr>
          <p:cNvPr id="26" name="Text Box 19">
            <a:extLst>
              <a:ext uri="{FF2B5EF4-FFF2-40B4-BE49-F238E27FC236}">
                <a16:creationId xmlns:a16="http://schemas.microsoft.com/office/drawing/2014/main" id="{D56C0B47-A8CA-4F2E-A61A-4741E707BD76}"/>
              </a:ext>
            </a:extLst>
          </p:cNvPr>
          <p:cNvSpPr txBox="1">
            <a:spLocks noChangeArrowheads="1"/>
          </p:cNvSpPr>
          <p:nvPr/>
        </p:nvSpPr>
        <p:spPr bwMode="auto">
          <a:xfrm>
            <a:off x="982171" y="3984850"/>
            <a:ext cx="3262393" cy="523220"/>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defPPr>
              <a:defRPr lang="en-US"/>
            </a:defPPr>
            <a:lvl1pPr algn="ctr" eaLnBrk="1" hangingPunct="1">
              <a:spcBef>
                <a:spcPct val="50000"/>
              </a:spcBef>
              <a:buClr>
                <a:schemeClr val="tx2"/>
              </a:buClr>
              <a:buSzPct val="65000"/>
              <a:buFont typeface="Wingdings" panose="05000000000000000000" pitchFamily="2" charset="2"/>
              <a:buNone/>
              <a:defRPr sz="1000">
                <a:solidFill>
                  <a:srgbClr val="000000"/>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400" b="0" i="0" u="none" strike="noStrike" kern="0" cap="none" spc="0" normalizeH="0" baseline="0" noProof="0" dirty="0" err="1"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Mngmt</a:t>
            </a:r>
            <a:r>
              <a:rPr kumimoji="0" lang="en-US" altLang="en-US" sz="1400" b="0" i="0" u="none" strike="noStrike" kern="0" cap="none" spc="0" normalizeH="0" baseline="0" noProof="0" dirty="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 System did not </a:t>
            </a:r>
            <a:r>
              <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
            </a:r>
            <a:br>
              <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br>
            <a:r>
              <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train IM on Corporate Values</a:t>
            </a:r>
          </a:p>
        </p:txBody>
      </p:sp>
      <p:sp>
        <p:nvSpPr>
          <p:cNvPr id="28" name="Text Box 8">
            <a:extLst>
              <a:ext uri="{FF2B5EF4-FFF2-40B4-BE49-F238E27FC236}">
                <a16:creationId xmlns:a16="http://schemas.microsoft.com/office/drawing/2014/main" id="{1C71BD5C-B2A7-4161-B10E-19164CF15318}"/>
              </a:ext>
            </a:extLst>
          </p:cNvPr>
          <p:cNvSpPr txBox="1">
            <a:spLocks noChangeArrowheads="1"/>
          </p:cNvSpPr>
          <p:nvPr/>
        </p:nvSpPr>
        <p:spPr bwMode="auto">
          <a:xfrm>
            <a:off x="952394" y="5204050"/>
            <a:ext cx="3262392" cy="523220"/>
          </a:xfrm>
          <a:prstGeom prst="rect">
            <a:avLst/>
          </a:prstGeom>
          <a:solidFill>
            <a:srgbClr val="66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400" b="0" i="0" u="none" strike="noStrike" kern="0" cap="none" spc="0" normalizeH="0" baseline="0" noProof="0" dirty="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LC-C: The </a:t>
            </a:r>
            <a:r>
              <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(existing) training program on Corporate Values was not implemented. </a:t>
            </a:r>
          </a:p>
        </p:txBody>
      </p:sp>
      <p:sp>
        <p:nvSpPr>
          <p:cNvPr id="32" name="Rectangular Callout 25">
            <a:extLst>
              <a:ext uri="{FF2B5EF4-FFF2-40B4-BE49-F238E27FC236}">
                <a16:creationId xmlns:a16="http://schemas.microsoft.com/office/drawing/2014/main" id="{80009069-71AC-4A12-9A84-63DA0EB67B90}"/>
              </a:ext>
            </a:extLst>
          </p:cNvPr>
          <p:cNvSpPr/>
          <p:nvPr/>
        </p:nvSpPr>
        <p:spPr bwMode="auto">
          <a:xfrm>
            <a:off x="180000" y="780948"/>
            <a:ext cx="2639400" cy="1111905"/>
          </a:xfrm>
          <a:prstGeom prst="wedgeRectCallout">
            <a:avLst>
              <a:gd name="adj1" fmla="val 100086"/>
              <a:gd name="adj2" fmla="val 114055"/>
            </a:avLst>
          </a:prstGeom>
          <a:solidFill>
            <a:schemeClr val="tx1"/>
          </a:solidFill>
          <a:ln w="9525" algn="ctr">
            <a:solidFill>
              <a:schemeClr val="tx1"/>
            </a:solidFill>
            <a:miter lim="800000"/>
            <a:headEnd/>
            <a:tailEnd/>
          </a:ln>
          <a:effectLst/>
        </p:spPr>
        <p:txBody>
          <a:bodyPr wrap="square" anchor="t" anchorCtr="0">
            <a:noAutofit/>
          </a:bodyPr>
          <a:lstStyle/>
          <a:p>
            <a:pPr lvl="0">
              <a:spcBef>
                <a:spcPts val="0"/>
              </a:spcBef>
              <a:buClr>
                <a:srgbClr val="000000"/>
              </a:buClr>
              <a:buSzPct val="65000"/>
            </a:pPr>
            <a:r>
              <a:rPr kumimoji="0" lang="en-US" sz="1600" b="0" i="0" u="none" strike="noStrike" kern="1200" cap="none" spc="0" normalizeH="0" baseline="0" noProof="0" dirty="0" smtClean="0">
                <a:ln>
                  <a:noFill/>
                </a:ln>
                <a:solidFill>
                  <a:srgbClr val="FFFFFF"/>
                </a:solidFill>
                <a:effectLst/>
                <a:uLnTx/>
                <a:uFillTx/>
                <a:latin typeface="Arial"/>
                <a:ea typeface="ＭＳ Ｐゴシック" panose="020B0600070205080204" pitchFamily="34" charset="-128"/>
              </a:rPr>
              <a:t>The</a:t>
            </a:r>
            <a:r>
              <a:rPr kumimoji="0" lang="en-US" sz="1600" b="0" i="0" u="none" strike="noStrike" kern="1200" cap="none" spc="0" normalizeH="0" noProof="0" dirty="0" smtClean="0">
                <a:ln>
                  <a:noFill/>
                </a:ln>
                <a:solidFill>
                  <a:srgbClr val="FFFFFF"/>
                </a:solidFill>
                <a:effectLst/>
                <a:uLnTx/>
                <a:uFillTx/>
                <a:latin typeface="Arial"/>
                <a:ea typeface="ＭＳ Ｐゴシック" panose="020B0600070205080204" pitchFamily="34" charset="-128"/>
              </a:rPr>
              <a:t> </a:t>
            </a:r>
            <a:r>
              <a:rPr lang="en-US" sz="1600" b="0" dirty="0" smtClean="0">
                <a:solidFill>
                  <a:srgbClr val="FFFFFF"/>
                </a:solidFill>
                <a:latin typeface="Arial"/>
                <a:ea typeface="ＭＳ Ｐゴシック" panose="020B0600070205080204" pitchFamily="34" charset="-128"/>
              </a:rPr>
              <a:t>cause statement on the previous page included the “OR” word, so branch to another root.</a:t>
            </a:r>
            <a:endParaRPr kumimoji="0" lang="en-US" sz="1600" b="0" i="0" u="none" strike="noStrike" kern="1200" cap="none" spc="0" normalizeH="0" baseline="0" noProof="0" dirty="0">
              <a:ln>
                <a:noFill/>
              </a:ln>
              <a:solidFill>
                <a:srgbClr val="FFFFFF"/>
              </a:solidFill>
              <a:effectLst/>
              <a:uLnTx/>
              <a:uFillTx/>
              <a:latin typeface="Arial"/>
              <a:ea typeface="ＭＳ Ｐゴシック" panose="020B0600070205080204" pitchFamily="34" charset="-128"/>
            </a:endParaRPr>
          </a:p>
        </p:txBody>
      </p:sp>
      <p:sp>
        <p:nvSpPr>
          <p:cNvPr id="33" name="Rectangular Callout 25">
            <a:extLst>
              <a:ext uri="{FF2B5EF4-FFF2-40B4-BE49-F238E27FC236}">
                <a16:creationId xmlns:a16="http://schemas.microsoft.com/office/drawing/2014/main" id="{80009069-71AC-4A12-9A84-63DA0EB67B90}"/>
              </a:ext>
            </a:extLst>
          </p:cNvPr>
          <p:cNvSpPr/>
          <p:nvPr/>
        </p:nvSpPr>
        <p:spPr bwMode="auto">
          <a:xfrm>
            <a:off x="5398680" y="832789"/>
            <a:ext cx="3421319" cy="1625213"/>
          </a:xfrm>
          <a:prstGeom prst="wedgeRectCallout">
            <a:avLst>
              <a:gd name="adj1" fmla="val 10456"/>
              <a:gd name="adj2" fmla="val 143776"/>
            </a:avLst>
          </a:prstGeom>
          <a:solidFill>
            <a:schemeClr val="tx1"/>
          </a:solidFill>
          <a:ln w="9525" algn="ctr">
            <a:solidFill>
              <a:schemeClr val="tx1"/>
            </a:solidFill>
            <a:miter lim="800000"/>
            <a:headEnd/>
            <a:tailEnd/>
          </a:ln>
          <a:effectLst/>
        </p:spPr>
        <p:txBody>
          <a:bodyPr wrap="square" anchor="t" anchorCtr="0">
            <a:noAutofit/>
          </a:bodyPr>
          <a:lstStyle/>
          <a:p>
            <a:pPr lvl="0">
              <a:spcBef>
                <a:spcPts val="0"/>
              </a:spcBef>
              <a:buClr>
                <a:srgbClr val="000000"/>
              </a:buClr>
              <a:buSzPct val="65000"/>
            </a:pPr>
            <a:r>
              <a:rPr kumimoji="0" lang="en-US" sz="1600" b="0" i="0" u="none" strike="noStrike" kern="1200" cap="none" spc="0" normalizeH="0" baseline="0" noProof="0" dirty="0" smtClean="0">
                <a:ln>
                  <a:noFill/>
                </a:ln>
                <a:solidFill>
                  <a:srgbClr val="FFFFFF"/>
                </a:solidFill>
                <a:effectLst/>
                <a:uLnTx/>
                <a:uFillTx/>
                <a:latin typeface="Arial"/>
                <a:ea typeface="ＭＳ Ｐゴシック" panose="020B0600070205080204" pitchFamily="34" charset="-128"/>
              </a:rPr>
              <a:t>State so</a:t>
            </a:r>
            <a:r>
              <a:rPr kumimoji="0" lang="en-US" sz="1600" b="0" i="0" u="none" strike="noStrike" kern="1200" cap="none" spc="0" normalizeH="0" noProof="0" dirty="0" smtClean="0">
                <a:ln>
                  <a:noFill/>
                </a:ln>
                <a:solidFill>
                  <a:srgbClr val="FFFFFF"/>
                </a:solidFill>
                <a:effectLst/>
                <a:uLnTx/>
                <a:uFillTx/>
                <a:latin typeface="Arial"/>
                <a:ea typeface="ＭＳ Ｐゴシック" panose="020B0600070205080204" pitchFamily="34" charset="-128"/>
              </a:rPr>
              <a:t> that you</a:t>
            </a:r>
            <a:r>
              <a:rPr lang="en-US" sz="1600" b="0" dirty="0" smtClean="0">
                <a:solidFill>
                  <a:srgbClr val="FFFFFF"/>
                </a:solidFill>
                <a:latin typeface="Arial"/>
                <a:ea typeface="ＭＳ Ｐゴシック" panose="020B0600070205080204" pitchFamily="34" charset="-128"/>
              </a:rPr>
              <a:t> do not imply to ”blame management”. </a:t>
            </a:r>
          </a:p>
          <a:p>
            <a:pPr lvl="0">
              <a:spcBef>
                <a:spcPts val="0"/>
              </a:spcBef>
              <a:buClr>
                <a:srgbClr val="000000"/>
              </a:buClr>
              <a:buSzPct val="65000"/>
            </a:pPr>
            <a:endParaRPr lang="en-US" sz="1600" b="0" dirty="0">
              <a:solidFill>
                <a:srgbClr val="FFFFFF"/>
              </a:solidFill>
              <a:latin typeface="Arial"/>
              <a:ea typeface="ＭＳ Ｐゴシック" panose="020B0600070205080204" pitchFamily="34" charset="-128"/>
            </a:endParaRPr>
          </a:p>
          <a:p>
            <a:pPr lvl="0">
              <a:spcBef>
                <a:spcPts val="0"/>
              </a:spcBef>
              <a:buClr>
                <a:srgbClr val="000000"/>
              </a:buClr>
              <a:buSzPct val="65000"/>
            </a:pPr>
            <a:r>
              <a:rPr lang="en-US" sz="1600" b="0" dirty="0" smtClean="0">
                <a:solidFill>
                  <a:srgbClr val="FFFFFF"/>
                </a:solidFill>
                <a:latin typeface="Arial"/>
                <a:ea typeface="ＭＳ Ｐゴシック" panose="020B0600070205080204" pitchFamily="34" charset="-128"/>
              </a:rPr>
              <a:t>Instead of “Management failed …”, state “Management did not …” or “Management system did not …”</a:t>
            </a:r>
            <a:endParaRPr kumimoji="0" lang="en-US" sz="1600" b="0" i="0" u="none" strike="noStrike" kern="1200" cap="none" spc="0" normalizeH="0" baseline="0" noProof="0" dirty="0">
              <a:ln>
                <a:noFill/>
              </a:ln>
              <a:solidFill>
                <a:srgbClr val="FFFFFF"/>
              </a:solidFill>
              <a:effectLst/>
              <a:uLnTx/>
              <a:uFillTx/>
              <a:latin typeface="Arial"/>
              <a:ea typeface="ＭＳ Ｐゴシック" panose="020B0600070205080204" pitchFamily="34" charset="-128"/>
            </a:endParaRPr>
          </a:p>
        </p:txBody>
      </p:sp>
      <p:sp>
        <p:nvSpPr>
          <p:cNvPr id="34" name="Rectangle 2"/>
          <p:cNvSpPr>
            <a:spLocks noChangeArrowheads="1"/>
          </p:cNvSpPr>
          <p:nvPr/>
        </p:nvSpPr>
        <p:spPr bwMode="auto">
          <a:xfrm>
            <a:off x="180000" y="216000"/>
            <a:ext cx="8640000" cy="504000"/>
          </a:xfrm>
          <a:prstGeom prst="rect">
            <a:avLst/>
          </a:prstGeom>
          <a:solidFill>
            <a:schemeClr val="tx1"/>
          </a:solidFill>
          <a:ln>
            <a:solidFill>
              <a:schemeClr val="tx1"/>
            </a:solid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smtClean="0">
                <a:ln>
                  <a:noFill/>
                </a:ln>
                <a:solidFill>
                  <a:schemeClr val="bg1"/>
                </a:solidFill>
                <a:effectLst/>
                <a:uLnTx/>
                <a:uFillTx/>
                <a:latin typeface="Arial" panose="020B0604020202020204" pitchFamily="34" charset="0"/>
                <a:ea typeface="+mn-ea"/>
                <a:cs typeface="Arial" panose="020B0604020202020204" pitchFamily="34" charset="0"/>
              </a:rPr>
              <a:t>Example:</a:t>
            </a:r>
            <a:r>
              <a:rPr kumimoji="0" lang="en-CA" altLang="en-US" sz="2400" b="0" i="0" u="none" strike="noStrike" kern="1200" cap="none" spc="0" normalizeH="0" noProof="0" dirty="0" smtClean="0">
                <a:ln>
                  <a:noFill/>
                </a:ln>
                <a:solidFill>
                  <a:schemeClr val="bg1"/>
                </a:solidFill>
                <a:effectLst/>
                <a:uLnTx/>
                <a:uFillTx/>
                <a:latin typeface="Arial" panose="020B0604020202020204" pitchFamily="34" charset="0"/>
                <a:ea typeface="+mn-ea"/>
                <a:cs typeface="Arial" panose="020B0604020202020204" pitchFamily="34" charset="0"/>
              </a:rPr>
              <a:t> </a:t>
            </a:r>
            <a:r>
              <a:rPr kumimoji="0" lang="en-CA" altLang="en-US" sz="2400" b="0" i="0" u="none" strike="noStrike" kern="1200" cap="none" spc="0" normalizeH="0" baseline="0" noProof="0" dirty="0" smtClean="0">
                <a:ln>
                  <a:noFill/>
                </a:ln>
                <a:solidFill>
                  <a:schemeClr val="bg1"/>
                </a:solidFill>
                <a:effectLst/>
                <a:uLnTx/>
                <a:uFillTx/>
                <a:latin typeface="Arial" panose="020B0604020202020204" pitchFamily="34" charset="0"/>
                <a:ea typeface="+mn-ea"/>
                <a:cs typeface="Arial" panose="020B0604020202020204" pitchFamily="34" charset="0"/>
              </a:rPr>
              <a:t>Examine </a:t>
            </a:r>
            <a:r>
              <a:rPr kumimoji="0" lang="en-CA" altLang="en-US" sz="2400"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One Root </a:t>
            </a:r>
            <a:r>
              <a:rPr kumimoji="0" lang="en-CA" altLang="en-US" sz="2400" b="0" i="0" u="none" strike="noStrike" kern="1200" cap="none" spc="0" normalizeH="0" baseline="0" noProof="0" dirty="0" smtClean="0">
                <a:ln>
                  <a:noFill/>
                </a:ln>
                <a:solidFill>
                  <a:schemeClr val="bg1"/>
                </a:solidFill>
                <a:effectLst/>
                <a:uLnTx/>
                <a:uFillTx/>
                <a:latin typeface="Arial" panose="020B0604020202020204" pitchFamily="34" charset="0"/>
                <a:ea typeface="+mn-ea"/>
                <a:cs typeface="Arial" panose="020B0604020202020204" pitchFamily="34" charset="0"/>
              </a:rPr>
              <a:t>Splits to</a:t>
            </a:r>
            <a:r>
              <a:rPr kumimoji="0" lang="en-CA" altLang="en-US" sz="2400" b="0" i="0" u="none" strike="noStrike" kern="1200" cap="none" spc="0" normalizeH="0" noProof="0" dirty="0" smtClean="0">
                <a:ln>
                  <a:noFill/>
                </a:ln>
                <a:solidFill>
                  <a:schemeClr val="bg1"/>
                </a:solidFill>
                <a:effectLst/>
                <a:uLnTx/>
                <a:uFillTx/>
                <a:latin typeface="Arial" panose="020B0604020202020204" pitchFamily="34" charset="0"/>
                <a:ea typeface="+mn-ea"/>
                <a:cs typeface="Arial" panose="020B0604020202020204" pitchFamily="34" charset="0"/>
              </a:rPr>
              <a:t> Two Roots</a:t>
            </a:r>
            <a:r>
              <a:rPr kumimoji="0" lang="en-CA" altLang="en-US" sz="2400" b="0" i="0" u="none" strike="noStrike" kern="1200" cap="none" spc="0" normalizeH="0" baseline="0" noProof="0" dirty="0" smtClean="0">
                <a:ln>
                  <a:noFill/>
                </a:ln>
                <a:solidFill>
                  <a:schemeClr val="bg1"/>
                </a:solidFill>
                <a:effectLst/>
                <a:uLnTx/>
                <a:uFillTx/>
                <a:latin typeface="Arial" panose="020B0604020202020204" pitchFamily="34" charset="0"/>
                <a:ea typeface="+mn-ea"/>
                <a:cs typeface="Arial" panose="020B0604020202020204" pitchFamily="34" charset="0"/>
              </a:rPr>
              <a:t> </a:t>
            </a:r>
            <a:endParaRPr kumimoji="0" lang="en-CA" altLang="en-US" sz="2400"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203256668"/>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chemeClr val="tx1"/>
          </a:solidFill>
          <a:ln>
            <a:solidFill>
              <a:schemeClr val="tx1"/>
            </a:solidFill>
          </a:ln>
        </p:spPr>
        <p:txBody>
          <a:bodyPr anchor="ctr"/>
          <a:lstStyle/>
          <a:p>
            <a:pPr>
              <a:buFont typeface="Arial" panose="020B0604020202020204" pitchFamily="34" charset="0"/>
              <a:buNone/>
            </a:pPr>
            <a:r>
              <a:rPr lang="en-CA" altLang="en-US" sz="2400" b="0" dirty="0">
                <a:solidFill>
                  <a:schemeClr val="bg1"/>
                </a:solidFill>
                <a:latin typeface="Arial" panose="020B0604020202020204" pitchFamily="34" charset="0"/>
                <a:cs typeface="Arial" panose="020B0604020202020204" pitchFamily="34" charset="0"/>
              </a:rPr>
              <a:t>Example: </a:t>
            </a:r>
            <a:r>
              <a:rPr lang="en-US" altLang="en-US" sz="2400" b="0" dirty="0">
                <a:solidFill>
                  <a:schemeClr val="bg1"/>
                </a:solidFill>
                <a:latin typeface="Arial" panose="020B0604020202020204" pitchFamily="34" charset="0"/>
                <a:cs typeface="Arial" panose="020B0604020202020204" pitchFamily="34" charset="0"/>
              </a:rPr>
              <a:t>Examine Right Root </a:t>
            </a:r>
            <a:r>
              <a:rPr lang="en-US" altLang="en-US" sz="2400" b="0" dirty="0" smtClean="0">
                <a:solidFill>
                  <a:schemeClr val="bg1"/>
                </a:solidFill>
                <a:latin typeface="Arial" panose="020B0604020202020204" pitchFamily="34" charset="0"/>
                <a:cs typeface="Arial" panose="020B0604020202020204" pitchFamily="34" charset="0"/>
              </a:rPr>
              <a:t>Latent Cause</a:t>
            </a:r>
            <a:endParaRPr lang="en-CA" altLang="en-US" sz="2400" b="0" dirty="0">
              <a:solidFill>
                <a:schemeClr val="bg1"/>
              </a:solidFill>
              <a:latin typeface="Arial" panose="020B0604020202020204" pitchFamily="34" charset="0"/>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4.5: Linking Latent Causes to Recommendations</a:t>
            </a:r>
          </a:p>
        </p:txBody>
      </p:sp>
      <p:sp>
        <p:nvSpPr>
          <p:cNvPr id="6" name="Text Box 2">
            <a:extLst>
              <a:ext uri="{FF2B5EF4-FFF2-40B4-BE49-F238E27FC236}">
                <a16:creationId xmlns:a16="http://schemas.microsoft.com/office/drawing/2014/main" id="{452E5BBE-3462-4C66-BE19-E9C41D5F705B}"/>
              </a:ext>
            </a:extLst>
          </p:cNvPr>
          <p:cNvSpPr txBox="1">
            <a:spLocks noChangeArrowheads="1"/>
          </p:cNvSpPr>
          <p:nvPr/>
        </p:nvSpPr>
        <p:spPr bwMode="auto">
          <a:xfrm>
            <a:off x="3393581" y="840291"/>
            <a:ext cx="2006638" cy="390288"/>
          </a:xfrm>
          <a:prstGeom prst="rect">
            <a:avLst/>
          </a:prstGeom>
          <a:solidFill>
            <a:srgbClr val="66FF66"/>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Equipment found in defective state</a:t>
            </a:r>
          </a:p>
        </p:txBody>
      </p:sp>
      <p:sp>
        <p:nvSpPr>
          <p:cNvPr id="7" name="Text Box 3">
            <a:extLst>
              <a:ext uri="{FF2B5EF4-FFF2-40B4-BE49-F238E27FC236}">
                <a16:creationId xmlns:a16="http://schemas.microsoft.com/office/drawing/2014/main" id="{D87DDC1B-24CA-446F-85D4-E1EE886207A2}"/>
              </a:ext>
            </a:extLst>
          </p:cNvPr>
          <p:cNvSpPr txBox="1">
            <a:spLocks noChangeArrowheads="1"/>
          </p:cNvSpPr>
          <p:nvPr/>
        </p:nvSpPr>
        <p:spPr bwMode="auto">
          <a:xfrm>
            <a:off x="3393580" y="1364403"/>
            <a:ext cx="2006639" cy="390288"/>
          </a:xfrm>
          <a:prstGeom prst="rect">
            <a:avLst/>
          </a:prstGeom>
          <a:solidFill>
            <a:srgbClr val="CC99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t>Industrial Mechanic (IM) did not follow / implement procedure</a:t>
            </a:r>
          </a:p>
        </p:txBody>
      </p:sp>
      <p:sp>
        <p:nvSpPr>
          <p:cNvPr id="10" name="Text Box 4">
            <a:extLst>
              <a:ext uri="{FF2B5EF4-FFF2-40B4-BE49-F238E27FC236}">
                <a16:creationId xmlns:a16="http://schemas.microsoft.com/office/drawing/2014/main" id="{83ADFC1C-7C09-4FB3-A3FB-1831E6ED4AA7}"/>
              </a:ext>
            </a:extLst>
          </p:cNvPr>
          <p:cNvSpPr txBox="1">
            <a:spLocks noChangeArrowheads="1"/>
          </p:cNvSpPr>
          <p:nvPr/>
        </p:nvSpPr>
        <p:spPr bwMode="auto">
          <a:xfrm>
            <a:off x="3393580" y="1897803"/>
            <a:ext cx="2006639" cy="390288"/>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9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IM </a:t>
            </a:r>
            <a:r>
              <a:rPr kumimoji="0" lang="en-US" altLang="en-US" sz="900" b="0" i="0" u="none" strike="noStrike" kern="0" cap="none" spc="0" normalizeH="0" baseline="0" noProof="0" dirty="0" err="1">
                <a:ln>
                  <a:noFill/>
                </a:ln>
                <a:solidFill>
                  <a:srgbClr val="000000"/>
                </a:solidFill>
                <a:effectLst/>
                <a:uLnTx/>
                <a:uFillTx/>
                <a:latin typeface="Times New Roman" panose="02020603050405020304" pitchFamily="18" charset="0"/>
                <a:ea typeface="ＭＳ Ｐゴシック" panose="020B0600070205080204" pitchFamily="34" charset="-128"/>
                <a:cs typeface="+mn-cs"/>
              </a:rPr>
              <a:t>prioritised</a:t>
            </a:r>
            <a:r>
              <a:rPr kumimoji="0" lang="en-US" altLang="en-US" sz="9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 </a:t>
            </a:r>
            <a:r>
              <a:rPr kumimoji="0" lang="en-US" altLang="en-US" sz="900" b="0" i="0" u="none" strike="noStrike" kern="0" cap="none" spc="0" normalizeH="0" baseline="0" noProof="0" dirty="0" err="1">
                <a:ln>
                  <a:noFill/>
                </a:ln>
                <a:solidFill>
                  <a:srgbClr val="000000"/>
                </a:solidFill>
                <a:effectLst/>
                <a:uLnTx/>
                <a:uFillTx/>
                <a:latin typeface="Times New Roman" panose="02020603050405020304" pitchFamily="18" charset="0"/>
                <a:ea typeface="ＭＳ Ｐゴシック" panose="020B0600070205080204" pitchFamily="34" charset="-128"/>
                <a:cs typeface="+mn-cs"/>
              </a:rPr>
              <a:t>Mtce</a:t>
            </a:r>
            <a:r>
              <a:rPr kumimoji="0" lang="en-US" altLang="en-US" sz="9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 work on </a:t>
            </a:r>
            <a:r>
              <a:rPr kumimoji="0" lang="en-US" altLang="en-US" sz="900" b="0" i="0" u="none" strike="noStrike" kern="0" cap="none" spc="0" normalizeH="0" baseline="0" noProof="0" dirty="0" err="1">
                <a:ln>
                  <a:noFill/>
                </a:ln>
                <a:solidFill>
                  <a:srgbClr val="000000"/>
                </a:solidFill>
                <a:effectLst/>
                <a:uLnTx/>
                <a:uFillTx/>
                <a:latin typeface="Times New Roman" panose="02020603050405020304" pitchFamily="18" charset="0"/>
                <a:ea typeface="ＭＳ Ｐゴシック" panose="020B0600070205080204" pitchFamily="34" charset="-128"/>
                <a:cs typeface="+mn-cs"/>
              </a:rPr>
              <a:t>Prod’n</a:t>
            </a:r>
            <a:r>
              <a:rPr kumimoji="0" lang="en-US" altLang="en-US" sz="9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 Equipment over Safety Equipment</a:t>
            </a:r>
          </a:p>
        </p:txBody>
      </p:sp>
      <p:sp>
        <p:nvSpPr>
          <p:cNvPr id="11" name="Text Box 5">
            <a:extLst>
              <a:ext uri="{FF2B5EF4-FFF2-40B4-BE49-F238E27FC236}">
                <a16:creationId xmlns:a16="http://schemas.microsoft.com/office/drawing/2014/main" id="{96D455B4-E825-4EC9-8F48-F03E6BDD86B2}"/>
              </a:ext>
            </a:extLst>
          </p:cNvPr>
          <p:cNvSpPr txBox="1">
            <a:spLocks noChangeArrowheads="1"/>
          </p:cNvSpPr>
          <p:nvPr/>
        </p:nvSpPr>
        <p:spPr bwMode="auto">
          <a:xfrm>
            <a:off x="4395358" y="3115058"/>
            <a:ext cx="3423287" cy="646331"/>
          </a:xfrm>
          <a:prstGeom prst="rect">
            <a:avLst/>
          </a:prstGeom>
          <a:solidFill>
            <a:srgbClr val="FFFF66"/>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IM had not yet learned (i.e. cared for, understood) that safety checks must be done before </a:t>
            </a:r>
            <a:r>
              <a:rPr kumimoji="0" lang="en-US" altLang="en-US" sz="1200" b="0" i="0" u="none" strike="noStrike" kern="0" cap="none" spc="0" normalizeH="0" baseline="0" noProof="0" dirty="0" err="1">
                <a:ln>
                  <a:noFill/>
                </a:ln>
                <a:solidFill>
                  <a:srgbClr val="000000"/>
                </a:solidFill>
                <a:effectLst/>
                <a:uLnTx/>
                <a:uFillTx/>
                <a:latin typeface="Times New Roman" panose="02020603050405020304" pitchFamily="18" charset="0"/>
                <a:ea typeface="ＭＳ Ｐゴシック" panose="020B0600070205080204" pitchFamily="34" charset="-128"/>
                <a:cs typeface="+mn-cs"/>
              </a:rPr>
              <a:t>Prod’n</a:t>
            </a: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 checks</a:t>
            </a:r>
          </a:p>
        </p:txBody>
      </p:sp>
      <p:cxnSp>
        <p:nvCxnSpPr>
          <p:cNvPr id="14" name="AutoShape 14">
            <a:extLst>
              <a:ext uri="{FF2B5EF4-FFF2-40B4-BE49-F238E27FC236}">
                <a16:creationId xmlns:a16="http://schemas.microsoft.com/office/drawing/2014/main" id="{CFB40778-ED91-4E94-9CAE-EE450017DD16}"/>
              </a:ext>
            </a:extLst>
          </p:cNvPr>
          <p:cNvCxnSpPr>
            <a:cxnSpLocks noChangeShapeType="1"/>
            <a:stCxn id="6" idx="2"/>
            <a:endCxn id="7" idx="0"/>
          </p:cNvCxnSpPr>
          <p:nvPr/>
        </p:nvCxnSpPr>
        <p:spPr bwMode="auto">
          <a:xfrm>
            <a:off x="4396900" y="1230579"/>
            <a:ext cx="0" cy="133824"/>
          </a:xfrm>
          <a:prstGeom prst="straightConnector1">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AutoShape 15">
            <a:extLst>
              <a:ext uri="{FF2B5EF4-FFF2-40B4-BE49-F238E27FC236}">
                <a16:creationId xmlns:a16="http://schemas.microsoft.com/office/drawing/2014/main" id="{61561059-E927-4037-9115-84AA15067388}"/>
              </a:ext>
            </a:extLst>
          </p:cNvPr>
          <p:cNvCxnSpPr>
            <a:cxnSpLocks noChangeShapeType="1"/>
            <a:stCxn id="11" idx="2"/>
            <a:endCxn id="29" idx="0"/>
          </p:cNvCxnSpPr>
          <p:nvPr/>
        </p:nvCxnSpPr>
        <p:spPr bwMode="auto">
          <a:xfrm>
            <a:off x="6107002" y="3761389"/>
            <a:ext cx="4801" cy="1410111"/>
          </a:xfrm>
          <a:prstGeom prst="straightConnector1">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AutoShape 16">
            <a:extLst>
              <a:ext uri="{FF2B5EF4-FFF2-40B4-BE49-F238E27FC236}">
                <a16:creationId xmlns:a16="http://schemas.microsoft.com/office/drawing/2014/main" id="{9311E561-567F-4FE5-802E-FE4811D8450B}"/>
              </a:ext>
            </a:extLst>
          </p:cNvPr>
          <p:cNvCxnSpPr>
            <a:cxnSpLocks noChangeShapeType="1"/>
            <a:stCxn id="21" idx="3"/>
            <a:endCxn id="11" idx="0"/>
          </p:cNvCxnSpPr>
          <p:nvPr/>
        </p:nvCxnSpPr>
        <p:spPr bwMode="auto">
          <a:xfrm rot="16200000" flipH="1">
            <a:off x="5064131" y="2072186"/>
            <a:ext cx="385493" cy="1700249"/>
          </a:xfrm>
          <a:prstGeom prst="bentConnector3">
            <a:avLst>
              <a:gd name="adj1" fmla="val 50000"/>
            </a:avLst>
          </a:prstGeom>
          <a:noFill/>
          <a:ln w="3810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AutoShape 17">
            <a:extLst>
              <a:ext uri="{FF2B5EF4-FFF2-40B4-BE49-F238E27FC236}">
                <a16:creationId xmlns:a16="http://schemas.microsoft.com/office/drawing/2014/main" id="{6E38BDD6-1630-4223-8A8B-75AD4C7BA324}"/>
              </a:ext>
            </a:extLst>
          </p:cNvPr>
          <p:cNvCxnSpPr>
            <a:cxnSpLocks noChangeShapeType="1"/>
            <a:stCxn id="7" idx="2"/>
            <a:endCxn id="10" idx="0"/>
          </p:cNvCxnSpPr>
          <p:nvPr/>
        </p:nvCxnSpPr>
        <p:spPr bwMode="auto">
          <a:xfrm>
            <a:off x="4396900" y="1754691"/>
            <a:ext cx="0" cy="143112"/>
          </a:xfrm>
          <a:prstGeom prst="straightConnector1">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Text Box 18">
            <a:extLst>
              <a:ext uri="{FF2B5EF4-FFF2-40B4-BE49-F238E27FC236}">
                <a16:creationId xmlns:a16="http://schemas.microsoft.com/office/drawing/2014/main" id="{C58AEC30-D78C-44CC-804F-569AF78FBCAC}"/>
              </a:ext>
            </a:extLst>
          </p:cNvPr>
          <p:cNvSpPr txBox="1">
            <a:spLocks noChangeArrowheads="1"/>
          </p:cNvSpPr>
          <p:nvPr/>
        </p:nvSpPr>
        <p:spPr bwMode="auto">
          <a:xfrm>
            <a:off x="952394" y="3117362"/>
            <a:ext cx="3262393" cy="461665"/>
          </a:xfrm>
          <a:prstGeom prst="rect">
            <a:avLst/>
          </a:prstGeom>
          <a:solidFill>
            <a:srgbClr val="FFFF66"/>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IM was not trained on </a:t>
            </a:r>
            <a:b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b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Corporate Values</a:t>
            </a:r>
          </a:p>
        </p:txBody>
      </p:sp>
      <p:cxnSp>
        <p:nvCxnSpPr>
          <p:cNvPr id="19" name="AutoShape 23">
            <a:extLst>
              <a:ext uri="{FF2B5EF4-FFF2-40B4-BE49-F238E27FC236}">
                <a16:creationId xmlns:a16="http://schemas.microsoft.com/office/drawing/2014/main" id="{DA604BD2-64BD-4D53-8E96-6972EA197DA5}"/>
              </a:ext>
            </a:extLst>
          </p:cNvPr>
          <p:cNvCxnSpPr>
            <a:cxnSpLocks noChangeShapeType="1"/>
            <a:stCxn id="18" idx="2"/>
          </p:cNvCxnSpPr>
          <p:nvPr/>
        </p:nvCxnSpPr>
        <p:spPr bwMode="auto">
          <a:xfrm flipH="1">
            <a:off x="2583590" y="3579027"/>
            <a:ext cx="1" cy="1594246"/>
          </a:xfrm>
          <a:prstGeom prst="straightConnector1">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AutoShape 24">
            <a:extLst>
              <a:ext uri="{FF2B5EF4-FFF2-40B4-BE49-F238E27FC236}">
                <a16:creationId xmlns:a16="http://schemas.microsoft.com/office/drawing/2014/main" id="{61506945-410A-4EBE-BE6E-AD344025E98A}"/>
              </a:ext>
            </a:extLst>
          </p:cNvPr>
          <p:cNvCxnSpPr>
            <a:cxnSpLocks noChangeShapeType="1"/>
            <a:stCxn id="21" idx="3"/>
            <a:endCxn id="18" idx="0"/>
          </p:cNvCxnSpPr>
          <p:nvPr/>
        </p:nvCxnSpPr>
        <p:spPr bwMode="auto">
          <a:xfrm rot="5400000">
            <a:off x="3301274" y="2011882"/>
            <a:ext cx="387797" cy="1823162"/>
          </a:xfrm>
          <a:prstGeom prst="bentConnector3">
            <a:avLst>
              <a:gd name="adj1" fmla="val 50000"/>
            </a:avLst>
          </a:prstGeom>
          <a:noFill/>
          <a:ln w="3810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AutoShape 25">
            <a:extLst>
              <a:ext uri="{FF2B5EF4-FFF2-40B4-BE49-F238E27FC236}">
                <a16:creationId xmlns:a16="http://schemas.microsoft.com/office/drawing/2014/main" id="{174CB09C-6290-4DBA-81B2-0519B90F9829}"/>
              </a:ext>
            </a:extLst>
          </p:cNvPr>
          <p:cNvSpPr>
            <a:spLocks noChangeArrowheads="1"/>
          </p:cNvSpPr>
          <p:nvPr/>
        </p:nvSpPr>
        <p:spPr bwMode="auto">
          <a:xfrm rot="5255844">
            <a:off x="4227384" y="2319544"/>
            <a:ext cx="350650" cy="627256"/>
          </a:xfrm>
          <a:prstGeom prst="moon">
            <a:avLst>
              <a:gd name="adj" fmla="val 77514"/>
            </a:avLst>
          </a:prstGeom>
          <a:solidFill>
            <a:srgbClr val="FFFFFF"/>
          </a:solidFill>
          <a:ln w="1905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
                <a:srgbClr val="000000"/>
              </a:buClr>
              <a:buSzPct val="65000"/>
              <a:buFont typeface="Wingdings" panose="05000000000000000000" pitchFamily="2" charset="2"/>
              <a:buNone/>
              <a:tabLst/>
              <a:defRPr/>
            </a:pPr>
            <a:endParaRPr kumimoji="0" lang="en-CA" altLang="en-US" sz="18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cxnSp>
        <p:nvCxnSpPr>
          <p:cNvPr id="22" name="AutoShape 26">
            <a:extLst>
              <a:ext uri="{FF2B5EF4-FFF2-40B4-BE49-F238E27FC236}">
                <a16:creationId xmlns:a16="http://schemas.microsoft.com/office/drawing/2014/main" id="{751AE255-9E3A-455B-83F7-62209871C68E}"/>
              </a:ext>
            </a:extLst>
          </p:cNvPr>
          <p:cNvCxnSpPr>
            <a:cxnSpLocks noChangeShapeType="1"/>
            <a:stCxn id="10" idx="2"/>
            <a:endCxn id="21" idx="1"/>
          </p:cNvCxnSpPr>
          <p:nvPr/>
        </p:nvCxnSpPr>
        <p:spPr bwMode="auto">
          <a:xfrm rot="5400000">
            <a:off x="4311175" y="2372276"/>
            <a:ext cx="169910" cy="1541"/>
          </a:xfrm>
          <a:prstGeom prst="bentConnector3">
            <a:avLst>
              <a:gd name="adj1" fmla="val 50000"/>
            </a:avLst>
          </a:prstGeom>
          <a:noFill/>
          <a:ln w="3810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AutoShape 28">
            <a:extLst>
              <a:ext uri="{FF2B5EF4-FFF2-40B4-BE49-F238E27FC236}">
                <a16:creationId xmlns:a16="http://schemas.microsoft.com/office/drawing/2014/main" id="{59245E1C-A153-4071-8F7E-9FE5EE190CAE}"/>
              </a:ext>
            </a:extLst>
          </p:cNvPr>
          <p:cNvCxnSpPr>
            <a:cxnSpLocks noChangeShapeType="1"/>
          </p:cNvCxnSpPr>
          <p:nvPr/>
        </p:nvCxnSpPr>
        <p:spPr bwMode="auto">
          <a:xfrm>
            <a:off x="6041995" y="5945691"/>
            <a:ext cx="0" cy="320248"/>
          </a:xfrm>
          <a:prstGeom prst="straightConnector1">
            <a:avLst/>
          </a:prstGeom>
          <a:noFill/>
          <a:ln w="38100">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Text Box 6">
            <a:extLst>
              <a:ext uri="{FF2B5EF4-FFF2-40B4-BE49-F238E27FC236}">
                <a16:creationId xmlns:a16="http://schemas.microsoft.com/office/drawing/2014/main" id="{0ABF47E3-835C-4C83-AACF-616B55C819FB}"/>
              </a:ext>
            </a:extLst>
          </p:cNvPr>
          <p:cNvSpPr txBox="1">
            <a:spLocks noChangeArrowheads="1"/>
          </p:cNvSpPr>
          <p:nvPr/>
        </p:nvSpPr>
        <p:spPr bwMode="auto">
          <a:xfrm>
            <a:off x="4387105" y="4015628"/>
            <a:ext cx="3423287" cy="954107"/>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
                <a:srgbClr val="000000"/>
              </a:buClr>
              <a:buSzPct val="65000"/>
              <a:buFont typeface="Wingdings" panose="05000000000000000000" pitchFamily="2" charset="2"/>
              <a:buNone/>
              <a:tabLst/>
              <a:defRPr/>
            </a:pPr>
            <a:r>
              <a:rPr kumimoji="0" lang="en-US" altLang="en-US" sz="1400" b="0" i="0" u="none" strike="noStrike" kern="0" cap="none" spc="0" normalizeH="0" baseline="0" noProof="0" dirty="0" err="1"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Mngmt</a:t>
            </a:r>
            <a:r>
              <a:rPr kumimoji="0" lang="en-US" altLang="en-US" sz="1400" b="0" i="0" u="none" strike="noStrike" kern="0" cap="none" spc="0" normalizeH="0" baseline="0" noProof="0" dirty="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 System did not </a:t>
            </a:r>
            <a:r>
              <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check that the IM understood Corporate Values: “Safety always before Production” as part of the communications plan.</a:t>
            </a:r>
          </a:p>
        </p:txBody>
      </p:sp>
      <p:sp>
        <p:nvSpPr>
          <p:cNvPr id="26" name="Text Box 19">
            <a:extLst>
              <a:ext uri="{FF2B5EF4-FFF2-40B4-BE49-F238E27FC236}">
                <a16:creationId xmlns:a16="http://schemas.microsoft.com/office/drawing/2014/main" id="{D56C0B47-A8CA-4F2E-A61A-4741E707BD76}"/>
              </a:ext>
            </a:extLst>
          </p:cNvPr>
          <p:cNvSpPr txBox="1">
            <a:spLocks noChangeArrowheads="1"/>
          </p:cNvSpPr>
          <p:nvPr/>
        </p:nvSpPr>
        <p:spPr bwMode="auto">
          <a:xfrm>
            <a:off x="982171" y="3984850"/>
            <a:ext cx="3262393" cy="523220"/>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defPPr>
              <a:defRPr lang="en-US"/>
            </a:defPPr>
            <a:lvl1pPr algn="ctr" eaLnBrk="1" hangingPunct="1">
              <a:spcBef>
                <a:spcPct val="50000"/>
              </a:spcBef>
              <a:buClr>
                <a:schemeClr val="tx2"/>
              </a:buClr>
              <a:buSzPct val="65000"/>
              <a:buFont typeface="Wingdings" panose="05000000000000000000" pitchFamily="2" charset="2"/>
              <a:buNone/>
              <a:defRPr sz="1000">
                <a:solidFill>
                  <a:srgbClr val="000000"/>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400" b="0" i="0" u="none" strike="noStrike" kern="0" cap="none" spc="0" normalizeH="0" baseline="0" noProof="0" dirty="0" err="1"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Mngmt</a:t>
            </a:r>
            <a:r>
              <a:rPr kumimoji="0" lang="en-US" altLang="en-US" sz="1400" b="0" i="0" u="none" strike="noStrike" kern="0" cap="none" spc="0" normalizeH="0" baseline="0" noProof="0" dirty="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 System did not </a:t>
            </a:r>
            <a:r>
              <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
            </a:r>
            <a:br>
              <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br>
            <a:r>
              <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train IM on Corporate Values</a:t>
            </a:r>
          </a:p>
        </p:txBody>
      </p:sp>
      <p:sp>
        <p:nvSpPr>
          <p:cNvPr id="28" name="Text Box 8">
            <a:extLst>
              <a:ext uri="{FF2B5EF4-FFF2-40B4-BE49-F238E27FC236}">
                <a16:creationId xmlns:a16="http://schemas.microsoft.com/office/drawing/2014/main" id="{1C71BD5C-B2A7-4161-B10E-19164CF15318}"/>
              </a:ext>
            </a:extLst>
          </p:cNvPr>
          <p:cNvSpPr txBox="1">
            <a:spLocks noChangeArrowheads="1"/>
          </p:cNvSpPr>
          <p:nvPr/>
        </p:nvSpPr>
        <p:spPr bwMode="auto">
          <a:xfrm>
            <a:off x="952394" y="5204050"/>
            <a:ext cx="3262392" cy="523220"/>
          </a:xfrm>
          <a:prstGeom prst="rect">
            <a:avLst/>
          </a:prstGeom>
          <a:solidFill>
            <a:srgbClr val="66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400" b="0" i="0" u="none" strike="noStrike" kern="0" cap="none" spc="0" normalizeH="0" baseline="0" noProof="0" dirty="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LC-C: The </a:t>
            </a:r>
            <a:r>
              <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(existing) training program on Corporate Values was not implemented. </a:t>
            </a:r>
          </a:p>
        </p:txBody>
      </p:sp>
      <p:sp>
        <p:nvSpPr>
          <p:cNvPr id="27" name="Rectangular Callout 25">
            <a:extLst>
              <a:ext uri="{FF2B5EF4-FFF2-40B4-BE49-F238E27FC236}">
                <a16:creationId xmlns:a16="http://schemas.microsoft.com/office/drawing/2014/main" id="{80009069-71AC-4A12-9A84-63DA0EB67B90}"/>
              </a:ext>
            </a:extLst>
          </p:cNvPr>
          <p:cNvSpPr/>
          <p:nvPr/>
        </p:nvSpPr>
        <p:spPr bwMode="auto">
          <a:xfrm>
            <a:off x="180000" y="809391"/>
            <a:ext cx="3401400" cy="1825682"/>
          </a:xfrm>
          <a:prstGeom prst="wedgeRectCallout">
            <a:avLst>
              <a:gd name="adj1" fmla="val 74263"/>
              <a:gd name="adj2" fmla="val 187734"/>
            </a:avLst>
          </a:prstGeom>
          <a:solidFill>
            <a:schemeClr val="tx1"/>
          </a:solidFill>
          <a:ln w="9525" algn="ctr">
            <a:solidFill>
              <a:schemeClr val="tx1"/>
            </a:solidFill>
            <a:miter lim="800000"/>
            <a:headEnd/>
            <a:tailEnd/>
          </a:ln>
          <a:effectLst/>
        </p:spPr>
        <p:txBody>
          <a:bodyPr wrap="square" anchor="t" anchorCtr="0">
            <a:noAutofit/>
          </a:bodyPr>
          <a:lstStyle/>
          <a:p>
            <a:pPr lvl="0">
              <a:spcBef>
                <a:spcPts val="0"/>
              </a:spcBef>
              <a:buClr>
                <a:srgbClr val="000000"/>
              </a:buClr>
              <a:buSzPct val="65000"/>
            </a:pPr>
            <a:r>
              <a:rPr kumimoji="0" lang="en-US" sz="1400" b="0" i="0" u="none" strike="noStrike" kern="1200" cap="none" spc="0" normalizeH="0" baseline="0" noProof="0" dirty="0" smtClean="0">
                <a:ln>
                  <a:noFill/>
                </a:ln>
                <a:solidFill>
                  <a:srgbClr val="FFFFFF"/>
                </a:solidFill>
                <a:effectLst/>
                <a:uLnTx/>
                <a:uFillTx/>
                <a:latin typeface="Arial"/>
                <a:ea typeface="ＭＳ Ｐゴシック" panose="020B0600070205080204" pitchFamily="34" charset="-128"/>
              </a:rPr>
              <a:t>This</a:t>
            </a:r>
            <a:r>
              <a:rPr kumimoji="0" lang="en-US" sz="1400" b="0" i="0" u="none" strike="noStrike" kern="1200" cap="none" spc="0" normalizeH="0" noProof="0" dirty="0" smtClean="0">
                <a:ln>
                  <a:noFill/>
                </a:ln>
                <a:solidFill>
                  <a:srgbClr val="FFFFFF"/>
                </a:solidFill>
                <a:effectLst/>
                <a:uLnTx/>
                <a:uFillTx/>
                <a:latin typeface="Arial"/>
                <a:ea typeface="ＭＳ Ｐゴシック" panose="020B0600070205080204" pitchFamily="34" charset="-128"/>
              </a:rPr>
              <a:t> </a:t>
            </a:r>
            <a:r>
              <a:rPr kumimoji="0" lang="en-US" sz="1400" b="0" i="0" u="none" strike="noStrike" kern="1200" cap="none" spc="0" normalizeH="0" baseline="0" noProof="0" dirty="0" smtClean="0">
                <a:ln>
                  <a:noFill/>
                </a:ln>
                <a:solidFill>
                  <a:srgbClr val="FFFFFF"/>
                </a:solidFill>
                <a:effectLst/>
                <a:uLnTx/>
                <a:uFillTx/>
                <a:latin typeface="Arial"/>
                <a:ea typeface="ＭＳ Ｐゴシック" panose="020B0600070205080204" pitchFamily="34" charset="-128"/>
              </a:rPr>
              <a:t>latent </a:t>
            </a:r>
            <a:r>
              <a:rPr kumimoji="0" lang="en-US" sz="1400" b="0" i="0" u="none" strike="noStrike" kern="1200" cap="none" spc="0" normalizeH="0" baseline="0" noProof="0" dirty="0">
                <a:ln>
                  <a:noFill/>
                </a:ln>
                <a:solidFill>
                  <a:srgbClr val="FFFFFF"/>
                </a:solidFill>
                <a:effectLst/>
                <a:uLnTx/>
                <a:uFillTx/>
                <a:latin typeface="Arial"/>
                <a:ea typeface="ＭＳ Ｐゴシック" panose="020B0600070205080204" pitchFamily="34" charset="-128"/>
              </a:rPr>
              <a:t>cause </a:t>
            </a:r>
            <a:r>
              <a:rPr kumimoji="0" lang="en-US" sz="1400" b="0" i="0" u="none" strike="noStrike" kern="1200" cap="none" spc="0" normalizeH="0" baseline="0" noProof="0" dirty="0" smtClean="0">
                <a:ln>
                  <a:noFill/>
                </a:ln>
                <a:solidFill>
                  <a:srgbClr val="FFFFFF"/>
                </a:solidFill>
                <a:effectLst/>
                <a:uLnTx/>
                <a:uFillTx/>
                <a:latin typeface="Arial"/>
                <a:ea typeface="ＭＳ Ｐゴシック" panose="020B0600070205080204" pitchFamily="34" charset="-128"/>
              </a:rPr>
              <a:t>statement </a:t>
            </a:r>
            <a:r>
              <a:rPr kumimoji="0" lang="en-US" sz="1400" b="0" i="0" u="none" strike="noStrike" kern="1200" cap="none" spc="0" normalizeH="0" baseline="0" noProof="0" dirty="0" smtClean="0">
                <a:ln>
                  <a:noFill/>
                </a:ln>
                <a:solidFill>
                  <a:srgbClr val="FFFFFF"/>
                </a:solidFill>
                <a:effectLst/>
                <a:uLnTx/>
                <a:uFillTx/>
                <a:latin typeface="Arial"/>
                <a:ea typeface="ＭＳ Ｐゴシック" panose="020B0600070205080204" pitchFamily="34" charset="-128"/>
              </a:rPr>
              <a:t>states </a:t>
            </a:r>
            <a:r>
              <a:rPr kumimoji="0" lang="en-US" sz="1400" b="0" i="0" u="none" strike="noStrike" kern="1200" cap="none" spc="0" normalizeH="0" baseline="0" noProof="0" dirty="0" smtClean="0">
                <a:ln>
                  <a:noFill/>
                </a:ln>
                <a:solidFill>
                  <a:srgbClr val="FFFFFF"/>
                </a:solidFill>
                <a:effectLst/>
                <a:uLnTx/>
                <a:uFillTx/>
                <a:latin typeface="Arial"/>
                <a:ea typeface="ＭＳ Ｐゴシック" panose="020B0600070205080204" pitchFamily="34" charset="-128"/>
              </a:rPr>
              <a:t>that there is a </a:t>
            </a:r>
            <a:r>
              <a:rPr lang="en-US" sz="1400" b="0" noProof="0" dirty="0" smtClean="0">
                <a:solidFill>
                  <a:srgbClr val="FFFFFF"/>
                </a:solidFill>
                <a:latin typeface="Arial"/>
                <a:ea typeface="ＭＳ Ｐゴシック" panose="020B0600070205080204" pitchFamily="34" charset="-128"/>
              </a:rPr>
              <a:t>program </a:t>
            </a:r>
            <a:r>
              <a:rPr kumimoji="0" lang="en-US" sz="1400" b="0" i="0" u="none" strike="noStrike" kern="1200" cap="none" spc="0" normalizeH="0" noProof="0" dirty="0" smtClean="0">
                <a:ln>
                  <a:noFill/>
                </a:ln>
                <a:solidFill>
                  <a:srgbClr val="FFFFFF"/>
                </a:solidFill>
                <a:effectLst/>
                <a:uLnTx/>
                <a:uFillTx/>
                <a:latin typeface="Arial"/>
                <a:ea typeface="ＭＳ Ｐゴシック" panose="020B0600070205080204" pitchFamily="34" charset="-128"/>
              </a:rPr>
              <a:t>and </a:t>
            </a:r>
            <a:r>
              <a:rPr kumimoji="0" lang="en-US" sz="1400" b="0" i="0" u="none" strike="noStrike" kern="1200" cap="none" spc="0" normalizeH="0" noProof="0" dirty="0" smtClean="0">
                <a:ln>
                  <a:noFill/>
                </a:ln>
                <a:solidFill>
                  <a:srgbClr val="FFFFFF"/>
                </a:solidFill>
                <a:effectLst/>
                <a:uLnTx/>
                <a:uFillTx/>
                <a:latin typeface="Arial"/>
                <a:ea typeface="ＭＳ Ｐゴシック" panose="020B0600070205080204" pitchFamily="34" charset="-128"/>
              </a:rPr>
              <a:t>that the plan is </a:t>
            </a:r>
            <a:r>
              <a:rPr kumimoji="0" lang="en-US" sz="1400" b="0" i="0" u="none" strike="noStrike" kern="1200" cap="none" spc="0" normalizeH="0" noProof="0" dirty="0" smtClean="0">
                <a:ln>
                  <a:noFill/>
                </a:ln>
                <a:solidFill>
                  <a:srgbClr val="FFFFFF"/>
                </a:solidFill>
                <a:effectLst/>
                <a:uLnTx/>
                <a:uFillTx/>
                <a:latin typeface="Arial"/>
                <a:ea typeface="ＭＳ Ｐゴシック" panose="020B0600070205080204" pitchFamily="34" charset="-128"/>
              </a:rPr>
              <a:t>a  </a:t>
            </a:r>
            <a:r>
              <a:rPr kumimoji="0" lang="en-US" sz="1400" b="0" i="0" u="none" strike="noStrike" kern="1200" cap="none" spc="0" normalizeH="0" noProof="0" dirty="0" smtClean="0">
                <a:ln>
                  <a:noFill/>
                </a:ln>
                <a:solidFill>
                  <a:srgbClr val="FFFFFF"/>
                </a:solidFill>
                <a:effectLst/>
                <a:uLnTx/>
                <a:uFillTx/>
                <a:latin typeface="Arial"/>
                <a:ea typeface="ＭＳ Ｐゴシック" panose="020B0600070205080204" pitchFamily="34" charset="-128"/>
              </a:rPr>
              <a:t>“standard” (an administrative control) </a:t>
            </a:r>
            <a:r>
              <a:rPr kumimoji="0" lang="en-US" sz="1400" b="0" i="0" u="none" strike="noStrike" kern="1200" cap="none" spc="0" normalizeH="0" noProof="0" dirty="0" smtClean="0">
                <a:ln>
                  <a:noFill/>
                </a:ln>
                <a:solidFill>
                  <a:srgbClr val="FFFFFF"/>
                </a:solidFill>
                <a:effectLst/>
                <a:uLnTx/>
                <a:uFillTx/>
                <a:latin typeface="Arial"/>
                <a:ea typeface="ＭＳ Ｐゴシック" panose="020B0600070205080204" pitchFamily="34" charset="-128"/>
              </a:rPr>
              <a:t>that is missing </a:t>
            </a:r>
            <a:r>
              <a:rPr kumimoji="0" lang="en-US" sz="1400" b="0" i="0" u="none" strike="noStrike" kern="1200" cap="none" spc="0" normalizeH="0" noProof="0" dirty="0" smtClean="0">
                <a:ln>
                  <a:noFill/>
                </a:ln>
                <a:solidFill>
                  <a:srgbClr val="FFFFFF"/>
                </a:solidFill>
                <a:effectLst/>
                <a:uLnTx/>
                <a:uFillTx/>
                <a:latin typeface="Arial"/>
                <a:ea typeface="ＭＳ Ｐゴシック" panose="020B0600070205080204" pitchFamily="34" charset="-128"/>
              </a:rPr>
              <a:t>“steps to check that new employees could explain”; thus, the LC </a:t>
            </a:r>
            <a:r>
              <a:rPr lang="en-US" sz="1400" b="0" dirty="0" smtClean="0">
                <a:solidFill>
                  <a:srgbClr val="FFFFFF"/>
                </a:solidFill>
                <a:latin typeface="Arial"/>
                <a:ea typeface="ＭＳ Ｐゴシック" panose="020B0600070205080204" pitchFamily="34" charset="-128"/>
              </a:rPr>
              <a:t>is </a:t>
            </a:r>
            <a:r>
              <a:rPr lang="en-US" sz="1400" b="0" dirty="0">
                <a:solidFill>
                  <a:srgbClr val="FFFFFF"/>
                </a:solidFill>
                <a:latin typeface="Arial"/>
                <a:ea typeface="ＭＳ Ｐゴシック" panose="020B0600070205080204" pitchFamily="34" charset="-128"/>
              </a:rPr>
              <a:t>categorized as </a:t>
            </a:r>
            <a:r>
              <a:rPr lang="en-US" sz="1400" b="0" dirty="0" smtClean="0">
                <a:solidFill>
                  <a:srgbClr val="FFFFFF"/>
                </a:solidFill>
                <a:latin typeface="Arial"/>
                <a:ea typeface="ＭＳ Ｐゴシック" panose="020B0600070205080204" pitchFamily="34" charset="-128"/>
              </a:rPr>
              <a:t/>
            </a:r>
            <a:br>
              <a:rPr lang="en-US" sz="1400" b="0" dirty="0" smtClean="0">
                <a:solidFill>
                  <a:srgbClr val="FFFFFF"/>
                </a:solidFill>
                <a:latin typeface="Arial"/>
                <a:ea typeface="ＭＳ Ｐゴシック" panose="020B0600070205080204" pitchFamily="34" charset="-128"/>
              </a:rPr>
            </a:br>
            <a:r>
              <a:rPr lang="en-US" sz="1400" b="0" dirty="0" smtClean="0">
                <a:solidFill>
                  <a:srgbClr val="FFFFFF"/>
                </a:solidFill>
                <a:latin typeface="Arial"/>
                <a:ea typeface="ＭＳ Ｐゴシック" panose="020B0600070205080204" pitchFamily="34" charset="-128"/>
              </a:rPr>
              <a:t>“</a:t>
            </a:r>
            <a:r>
              <a:rPr lang="en-US" sz="1400" b="0" dirty="0">
                <a:solidFill>
                  <a:srgbClr val="FFFFFF"/>
                </a:solidFill>
                <a:latin typeface="Arial"/>
                <a:ea typeface="ＭＳ Ｐゴシック" panose="020B0600070205080204" pitchFamily="34" charset="-128"/>
              </a:rPr>
              <a:t>S – inadequate program </a:t>
            </a:r>
            <a:r>
              <a:rPr lang="en-US" sz="1400" b="0" dirty="0" smtClean="0">
                <a:solidFill>
                  <a:srgbClr val="FFFFFF"/>
                </a:solidFill>
                <a:latin typeface="Arial"/>
                <a:ea typeface="ＭＳ Ｐゴシック" panose="020B0600070205080204" pitchFamily="34" charset="-128"/>
              </a:rPr>
              <a:t>standards”.</a:t>
            </a:r>
            <a:endParaRPr kumimoji="0" lang="en-US" sz="1400" b="0" i="0" u="none" strike="noStrike" kern="1200" cap="none" spc="0" normalizeH="0" baseline="0" noProof="0" dirty="0">
              <a:ln>
                <a:noFill/>
              </a:ln>
              <a:solidFill>
                <a:srgbClr val="FFFFFF"/>
              </a:solidFill>
              <a:effectLst/>
              <a:uLnTx/>
              <a:uFillTx/>
              <a:latin typeface="Arial"/>
              <a:ea typeface="ＭＳ Ｐゴシック" panose="020B0600070205080204" pitchFamily="34" charset="-128"/>
            </a:endParaRPr>
          </a:p>
        </p:txBody>
      </p:sp>
      <p:sp>
        <p:nvSpPr>
          <p:cNvPr id="29" name="Text Box 8">
            <a:extLst>
              <a:ext uri="{FF2B5EF4-FFF2-40B4-BE49-F238E27FC236}">
                <a16:creationId xmlns:a16="http://schemas.microsoft.com/office/drawing/2014/main" id="{152F85F0-F3F9-45AC-BE70-8A4D4BD02583}"/>
              </a:ext>
            </a:extLst>
          </p:cNvPr>
          <p:cNvSpPr txBox="1">
            <a:spLocks noChangeArrowheads="1"/>
          </p:cNvSpPr>
          <p:nvPr/>
        </p:nvSpPr>
        <p:spPr bwMode="auto">
          <a:xfrm>
            <a:off x="4406753" y="5171500"/>
            <a:ext cx="3410099" cy="848300"/>
          </a:xfrm>
          <a:prstGeom prst="rect">
            <a:avLst/>
          </a:prstGeom>
          <a:solidFill>
            <a:srgbClr val="66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36000" rIns="36000" bIns="36000"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90000"/>
              </a:lnSpc>
              <a:spcBef>
                <a:spcPts val="0"/>
              </a:spcBef>
              <a:spcAft>
                <a:spcPts val="0"/>
              </a:spcAft>
              <a:buClr>
                <a:srgbClr val="000000"/>
              </a:buClr>
              <a:buSzPct val="65000"/>
              <a:buFont typeface="Wingdings" panose="05000000000000000000" pitchFamily="2" charset="2"/>
              <a:buNone/>
              <a:tabLst/>
              <a:defRPr/>
            </a:pPr>
            <a:r>
              <a:rPr kumimoji="0" lang="en-US" altLang="en-US" sz="1400" b="0" i="0" u="none" strike="noStrike" kern="0" cap="none" spc="0" normalizeH="0" baseline="0" noProof="0" dirty="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LC-S: The </a:t>
            </a:r>
            <a:r>
              <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management communications </a:t>
            </a:r>
            <a:r>
              <a:rPr kumimoji="0" lang="en-US" altLang="en-US" sz="1400" b="0" i="0" u="none" strike="noStrike" kern="0" cap="none" spc="0" normalizeH="0" baseline="0" noProof="0" dirty="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program </a:t>
            </a:r>
            <a:r>
              <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did not include steps </a:t>
            </a:r>
            <a:r>
              <a:rPr kumimoji="0" lang="en-US" altLang="en-US" sz="1400" b="0" i="0" u="none" strike="noStrike" kern="0" cap="none" spc="0" normalizeH="0" baseline="0" noProof="0" dirty="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in the communications plan to </a:t>
            </a:r>
            <a:r>
              <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check that new employees could explain Corporate </a:t>
            </a:r>
            <a:r>
              <a:rPr kumimoji="0" lang="en-US" altLang="en-US" sz="1400" b="0" i="0" u="none" strike="noStrike" kern="0" cap="none" spc="0" normalizeH="0" baseline="0" noProof="0" dirty="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Values.</a:t>
            </a:r>
            <a:endPar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224692879"/>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40000"/>
          </a:xfrm>
          <a:prstGeom prst="rect">
            <a:avLst/>
          </a:prstGeom>
          <a:solidFill>
            <a:schemeClr val="tx1"/>
          </a:solidFill>
          <a:ln>
            <a:solidFill>
              <a:schemeClr val="tx1"/>
            </a:solidFill>
          </a:ln>
        </p:spPr>
        <p:txBody>
          <a:bodyPr wrap="square"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CA"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Recall Best Practices</a:t>
            </a:r>
            <a:r>
              <a:rPr kumimoji="0" lang="en-CA" altLang="en-US" sz="24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CA"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The </a:t>
            </a:r>
            <a:r>
              <a:rPr kumimoji="0" lang="en-CA" altLang="en-US" sz="24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Latent Cause Statement</a:t>
            </a:r>
            <a:endParaRPr kumimoji="0" lang="en-CA"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6" name="Rectangle 3"/>
          <p:cNvSpPr>
            <a:spLocks noChangeArrowheads="1"/>
          </p:cNvSpPr>
          <p:nvPr/>
        </p:nvSpPr>
        <p:spPr bwMode="auto">
          <a:xfrm>
            <a:off x="180000" y="828000"/>
            <a:ext cx="8640000" cy="5328000"/>
          </a:xfrm>
          <a:prstGeom prst="rect">
            <a:avLst/>
          </a:prstGeom>
          <a:solidFill>
            <a:schemeClr val="tx1"/>
          </a:solidFill>
          <a:ln w="9525" algn="ctr">
            <a:solidFill>
              <a:schemeClr val="tx1"/>
            </a:solidFill>
            <a:miter lim="800000"/>
            <a:headEnd/>
            <a:tailEnd/>
          </a:ln>
          <a:effectLst/>
        </p:spPr>
        <p:txBody>
          <a:bodyPr/>
          <a:lstStyle/>
          <a:p>
            <a:pPr lvl="0" eaLnBrk="0" fontAlgn="base" hangingPunct="0">
              <a:spcAft>
                <a:spcPct val="0"/>
              </a:spcAft>
              <a:buSzPct val="100000"/>
              <a:defRPr/>
            </a:pPr>
            <a:r>
              <a:rPr lang="en-US" altLang="en-US" b="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Recall the best practices: these examples of latent cause statement have these items in common:</a:t>
            </a:r>
          </a:p>
          <a:p>
            <a:pPr marR="0" lvl="0" algn="l" defTabSz="914400" rtl="0" eaLnBrk="0" fontAlgn="base" latinLnBrk="0" hangingPunct="0">
              <a:lnSpc>
                <a:spcPct val="100000"/>
              </a:lnSpc>
              <a:spcBef>
                <a:spcPts val="0"/>
              </a:spcBef>
              <a:spcAft>
                <a:spcPct val="0"/>
              </a:spcAft>
              <a:buClrTx/>
              <a:buSzPct val="100000"/>
              <a:tabLst/>
              <a:defRPr/>
            </a:pPr>
            <a:endParaRPr kumimoji="0" lang="en-CA" altLang="en-US"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spcAft>
                <a:spcPct val="0"/>
              </a:spcAft>
              <a:buSzPct val="100000"/>
              <a:buFont typeface="Wingdings" panose="05000000000000000000" pitchFamily="2" charset="2"/>
              <a:buChar char="Ø"/>
              <a:defRPr/>
            </a:pPr>
            <a:r>
              <a:rPr lang="en-US" altLang="en-US"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Labelled and numbered: LC1, LC2, etc.</a:t>
            </a:r>
          </a:p>
          <a:p>
            <a:pPr marL="360000" indent="-360000" eaLnBrk="0" fontAlgn="base" hangingPunct="0">
              <a:spcAft>
                <a:spcPct val="0"/>
              </a:spcAft>
              <a:buSzPct val="100000"/>
              <a:buFont typeface="Wingdings" panose="05000000000000000000" pitchFamily="2" charset="2"/>
              <a:buChar char="Ø"/>
              <a:defRPr/>
            </a:pPr>
            <a:endParaRPr lang="en-US" altLang="en-US"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spcAft>
                <a:spcPct val="0"/>
              </a:spcAft>
              <a:buSzPct val="100000"/>
              <a:buFont typeface="Wingdings" panose="05000000000000000000" pitchFamily="2" charset="2"/>
              <a:buChar char="Ø"/>
              <a:defRPr/>
            </a:pPr>
            <a:r>
              <a:rPr lang="en-US" altLang="en-US"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Categorized as P, S, or </a:t>
            </a:r>
            <a:r>
              <a:rPr lang="en-US" altLang="en-US"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C</a:t>
            </a:r>
            <a:r>
              <a:rPr lang="en-US" altLang="en-US"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 categorizing these with appropriately stated latent causes demonstrates the ability to differentiate among the three categories of latent causes.</a:t>
            </a:r>
          </a:p>
          <a:p>
            <a:pPr marL="360000" indent="-360000" eaLnBrk="0" fontAlgn="base" hangingPunct="0">
              <a:spcAft>
                <a:spcPct val="0"/>
              </a:spcAft>
              <a:buSzPct val="100000"/>
              <a:buFont typeface="Wingdings" panose="05000000000000000000" pitchFamily="2" charset="2"/>
              <a:buChar char="Ø"/>
              <a:defRPr/>
            </a:pPr>
            <a:endParaRPr lang="en-US" altLang="en-US"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spcAft>
                <a:spcPct val="0"/>
              </a:spcAft>
              <a:buSzPct val="100000"/>
              <a:buFont typeface="Wingdings" panose="05000000000000000000" pitchFamily="2" charset="2"/>
              <a:buChar char="Ø"/>
              <a:defRPr/>
            </a:pPr>
            <a:r>
              <a:rPr lang="en-US" altLang="en-US"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Each statement has four components, not always in this order for 3 &amp; 4:</a:t>
            </a:r>
          </a:p>
          <a:p>
            <a:pPr marL="360000" indent="-360000" eaLnBrk="0" fontAlgn="base" hangingPunct="0">
              <a:spcAft>
                <a:spcPct val="0"/>
              </a:spcAft>
              <a:buSzPct val="100000"/>
              <a:buFont typeface="+mj-lt"/>
              <a:buAutoNum type="arabicParenR"/>
              <a:defRPr/>
            </a:pPr>
            <a:r>
              <a:rPr lang="en-US" altLang="en-US"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Relates to an element “training”, “design”, “incident reporting”, etc.; </a:t>
            </a:r>
          </a:p>
          <a:p>
            <a:pPr marL="360000" indent="-360000" eaLnBrk="0" fontAlgn="base" hangingPunct="0">
              <a:spcAft>
                <a:spcPct val="0"/>
              </a:spcAft>
              <a:buSzPct val="100000"/>
              <a:buFont typeface="+mj-lt"/>
              <a:buAutoNum type="arabicParenR"/>
              <a:defRPr/>
            </a:pPr>
            <a:r>
              <a:rPr lang="en-US" altLang="en-US"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Has the word “program”;</a:t>
            </a:r>
          </a:p>
          <a:p>
            <a:pPr marL="360000" indent="-360000" eaLnBrk="0" fontAlgn="base" hangingPunct="0">
              <a:spcAft>
                <a:spcPct val="0"/>
              </a:spcAft>
              <a:buSzPct val="100000"/>
              <a:buFont typeface="+mj-lt"/>
              <a:buAutoNum type="arabicParenR"/>
              <a:defRPr/>
            </a:pPr>
            <a:r>
              <a:rPr lang="en-US" altLang="en-US"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Gives some level or degree of inadequacy that relates to the LC category e.g. inadequate program, inadequate program standards, or inadequate compliance with program standards;</a:t>
            </a:r>
          </a:p>
          <a:p>
            <a:pPr marL="360000" indent="-360000" eaLnBrk="0" fontAlgn="base" hangingPunct="0">
              <a:spcAft>
                <a:spcPct val="0"/>
              </a:spcAft>
              <a:buSzPct val="100000"/>
              <a:buFont typeface="+mj-lt"/>
              <a:buAutoNum type="arabicParenR"/>
              <a:defRPr/>
            </a:pPr>
            <a:r>
              <a:rPr lang="en-US" altLang="en-US"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Specific and unique terms or phrases relevant to the root in question. </a:t>
            </a:r>
          </a:p>
          <a:p>
            <a:pPr marL="360000" indent="-360000" eaLnBrk="0" fontAlgn="base" hangingPunct="0">
              <a:spcAft>
                <a:spcPct val="0"/>
              </a:spcAft>
              <a:buSzPct val="100000"/>
              <a:buFont typeface="Wingdings" panose="05000000000000000000" pitchFamily="2" charset="2"/>
              <a:buChar char="Ø"/>
              <a:defRPr/>
            </a:pPr>
            <a:endParaRPr lang="en-US" altLang="en-US"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spcAft>
                <a:spcPct val="0"/>
              </a:spcAft>
              <a:buSzPct val="100000"/>
              <a:buFont typeface="Wingdings" panose="05000000000000000000" pitchFamily="2" charset="2"/>
              <a:buChar char="Ø"/>
              <a:defRPr/>
            </a:pPr>
            <a:r>
              <a:rPr lang="en-US" altLang="en-US"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The stated latent cause then clearly links to a Risk Management System element. </a:t>
            </a:r>
            <a:endParaRPr kumimoji="0" lang="en-US" altLang="en-US"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7"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4.5: Linking Latent Causes to Recommendations</a:t>
            </a:r>
          </a:p>
        </p:txBody>
      </p:sp>
    </p:spTree>
    <p:extLst>
      <p:ext uri="{BB962C8B-B14F-4D97-AF65-F5344CB8AC3E}">
        <p14:creationId xmlns:p14="http://schemas.microsoft.com/office/powerpoint/2010/main" val="4097313523"/>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chemeClr val="tx1"/>
          </a:solidFill>
          <a:ln>
            <a:solidFill>
              <a:schemeClr val="tx1"/>
            </a:solidFill>
          </a:ln>
        </p:spPr>
        <p:txBody>
          <a:bodyPr anchor="ctr"/>
          <a:lstStyle/>
          <a:p>
            <a:pPr>
              <a:buFont typeface="Arial" panose="020B0604020202020204" pitchFamily="34" charset="0"/>
              <a:buNone/>
            </a:pPr>
            <a:r>
              <a:rPr lang="en-US" altLang="en-US" sz="2000" b="0" dirty="0" smtClean="0">
                <a:solidFill>
                  <a:schemeClr val="bg1"/>
                </a:solidFill>
                <a:latin typeface="Arial" panose="020B0604020202020204" pitchFamily="34" charset="0"/>
                <a:cs typeface="Arial" panose="020B0604020202020204" pitchFamily="34" charset="0"/>
              </a:rPr>
              <a:t>Examine </a:t>
            </a:r>
            <a:r>
              <a:rPr lang="en-US" altLang="en-US" sz="2000" b="0" dirty="0">
                <a:solidFill>
                  <a:schemeClr val="bg1"/>
                </a:solidFill>
                <a:latin typeface="Arial" panose="020B0604020202020204" pitchFamily="34" charset="0"/>
                <a:cs typeface="Arial" panose="020B0604020202020204" pitchFamily="34" charset="0"/>
              </a:rPr>
              <a:t>One Root in an RCA: Latent Cause &amp; Recommendation</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4.5: Linking Latent Causes to Recommendations</a:t>
            </a:r>
          </a:p>
        </p:txBody>
      </p:sp>
      <p:sp>
        <p:nvSpPr>
          <p:cNvPr id="6" name="Rectangle 5">
            <a:extLst>
              <a:ext uri="{FF2B5EF4-FFF2-40B4-BE49-F238E27FC236}">
                <a16:creationId xmlns:a16="http://schemas.microsoft.com/office/drawing/2014/main" id="{E2CABA61-9B79-4CDA-91EB-7241E7279CB1}"/>
              </a:ext>
            </a:extLst>
          </p:cNvPr>
          <p:cNvSpPr/>
          <p:nvPr/>
        </p:nvSpPr>
        <p:spPr bwMode="auto">
          <a:xfrm>
            <a:off x="457199" y="756573"/>
            <a:ext cx="8229601" cy="5399427"/>
          </a:xfrm>
          <a:prstGeom prst="rect">
            <a:avLst/>
          </a:prstGeom>
          <a:solidFill>
            <a:srgbClr val="FFFFFF"/>
          </a:solidFill>
          <a:ln w="25400" cap="flat" cmpd="sng" algn="ctr">
            <a:solidFill>
              <a:srgbClr val="000000"/>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a:ln>
                <a:noFill/>
              </a:ln>
              <a:solidFill>
                <a:srgbClr val="FFFFFF"/>
              </a:solidFill>
              <a:effectLst/>
              <a:uLnTx/>
              <a:uFillTx/>
              <a:latin typeface="Arial"/>
              <a:ea typeface="+mn-ea"/>
              <a:cs typeface="+mn-cs"/>
            </a:endParaRPr>
          </a:p>
        </p:txBody>
      </p:sp>
      <p:sp>
        <p:nvSpPr>
          <p:cNvPr id="7" name="Text Box 2">
            <a:extLst>
              <a:ext uri="{FF2B5EF4-FFF2-40B4-BE49-F238E27FC236}">
                <a16:creationId xmlns:a16="http://schemas.microsoft.com/office/drawing/2014/main" id="{B3DFD48C-2343-4A59-AE5B-2BCFC70C2A28}"/>
              </a:ext>
            </a:extLst>
          </p:cNvPr>
          <p:cNvSpPr txBox="1">
            <a:spLocks noChangeArrowheads="1"/>
          </p:cNvSpPr>
          <p:nvPr/>
        </p:nvSpPr>
        <p:spPr bwMode="auto">
          <a:xfrm>
            <a:off x="3228861" y="1393025"/>
            <a:ext cx="2438398" cy="249743"/>
          </a:xfrm>
          <a:prstGeom prst="rect">
            <a:avLst/>
          </a:prstGeom>
          <a:solidFill>
            <a:srgbClr val="66FF66"/>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t>Equipment found in defective state</a:t>
            </a:r>
          </a:p>
        </p:txBody>
      </p:sp>
      <p:sp>
        <p:nvSpPr>
          <p:cNvPr id="10" name="Text Box 10">
            <a:extLst>
              <a:ext uri="{FF2B5EF4-FFF2-40B4-BE49-F238E27FC236}">
                <a16:creationId xmlns:a16="http://schemas.microsoft.com/office/drawing/2014/main" id="{796558F4-6EE9-4D1C-8607-62A48A3C584C}"/>
              </a:ext>
            </a:extLst>
          </p:cNvPr>
          <p:cNvSpPr txBox="1">
            <a:spLocks noChangeArrowheads="1"/>
          </p:cNvSpPr>
          <p:nvPr/>
        </p:nvSpPr>
        <p:spPr bwMode="auto">
          <a:xfrm>
            <a:off x="6993757" y="3033370"/>
            <a:ext cx="1524000" cy="383587"/>
          </a:xfrm>
          <a:prstGeom prst="rect">
            <a:avLst/>
          </a:prstGeom>
          <a:solidFill>
            <a:srgbClr val="FFFF66"/>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Improper Risk Taking</a:t>
            </a:r>
            <a:b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b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Improper Motivation</a:t>
            </a:r>
          </a:p>
        </p:txBody>
      </p:sp>
      <p:sp>
        <p:nvSpPr>
          <p:cNvPr id="11" name="Text Box 11">
            <a:extLst>
              <a:ext uri="{FF2B5EF4-FFF2-40B4-BE49-F238E27FC236}">
                <a16:creationId xmlns:a16="http://schemas.microsoft.com/office/drawing/2014/main" id="{C1947594-9936-4F07-96C3-A297207AEA76}"/>
              </a:ext>
            </a:extLst>
          </p:cNvPr>
          <p:cNvSpPr txBox="1">
            <a:spLocks noChangeArrowheads="1"/>
          </p:cNvSpPr>
          <p:nvPr/>
        </p:nvSpPr>
        <p:spPr bwMode="auto">
          <a:xfrm>
            <a:off x="526966" y="3042721"/>
            <a:ext cx="990600" cy="383587"/>
          </a:xfrm>
          <a:prstGeom prst="rect">
            <a:avLst/>
          </a:prstGeom>
          <a:solidFill>
            <a:srgbClr val="FFFF66"/>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Basic </a:t>
            </a:r>
            <a:b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b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Cause</a:t>
            </a:r>
          </a:p>
        </p:txBody>
      </p:sp>
      <p:sp>
        <p:nvSpPr>
          <p:cNvPr id="14" name="Text Box 12">
            <a:extLst>
              <a:ext uri="{FF2B5EF4-FFF2-40B4-BE49-F238E27FC236}">
                <a16:creationId xmlns:a16="http://schemas.microsoft.com/office/drawing/2014/main" id="{AB6D83BC-53DD-4017-B480-8A4B6D953DD6}"/>
              </a:ext>
            </a:extLst>
          </p:cNvPr>
          <p:cNvSpPr txBox="1">
            <a:spLocks noChangeArrowheads="1"/>
          </p:cNvSpPr>
          <p:nvPr/>
        </p:nvSpPr>
        <p:spPr bwMode="auto">
          <a:xfrm>
            <a:off x="526966" y="1926421"/>
            <a:ext cx="990600" cy="383587"/>
          </a:xfrm>
          <a:prstGeom prst="rect">
            <a:avLst/>
          </a:prstGeom>
          <a:solidFill>
            <a:srgbClr val="CC99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Immediate </a:t>
            </a:r>
            <a:b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b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Cause</a:t>
            </a:r>
          </a:p>
        </p:txBody>
      </p:sp>
      <p:sp>
        <p:nvSpPr>
          <p:cNvPr id="15" name="Text Box 13">
            <a:extLst>
              <a:ext uri="{FF2B5EF4-FFF2-40B4-BE49-F238E27FC236}">
                <a16:creationId xmlns:a16="http://schemas.microsoft.com/office/drawing/2014/main" id="{1C2F0AE6-8A12-477C-82C3-74E3820F7480}"/>
              </a:ext>
            </a:extLst>
          </p:cNvPr>
          <p:cNvSpPr txBox="1">
            <a:spLocks noChangeArrowheads="1"/>
          </p:cNvSpPr>
          <p:nvPr/>
        </p:nvSpPr>
        <p:spPr bwMode="auto">
          <a:xfrm>
            <a:off x="526966" y="1396555"/>
            <a:ext cx="990600" cy="413787"/>
          </a:xfrm>
          <a:prstGeom prst="rect">
            <a:avLst/>
          </a:prstGeom>
          <a:solidFill>
            <a:srgbClr val="66FF66"/>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Incident Description</a:t>
            </a:r>
          </a:p>
        </p:txBody>
      </p:sp>
      <p:sp>
        <p:nvSpPr>
          <p:cNvPr id="16" name="Text Box 14">
            <a:extLst>
              <a:ext uri="{FF2B5EF4-FFF2-40B4-BE49-F238E27FC236}">
                <a16:creationId xmlns:a16="http://schemas.microsoft.com/office/drawing/2014/main" id="{74A08599-4156-4407-A56A-79D7DEEB22BB}"/>
              </a:ext>
            </a:extLst>
          </p:cNvPr>
          <p:cNvSpPr txBox="1">
            <a:spLocks noChangeArrowheads="1"/>
          </p:cNvSpPr>
          <p:nvPr/>
        </p:nvSpPr>
        <p:spPr bwMode="auto">
          <a:xfrm>
            <a:off x="534988" y="4259040"/>
            <a:ext cx="990600" cy="584775"/>
          </a:xfrm>
          <a:prstGeom prst="rect">
            <a:avLst/>
          </a:prstGeom>
          <a:solidFill>
            <a:srgbClr val="66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6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Latent </a:t>
            </a:r>
            <a:br>
              <a:rPr kumimoji="0" lang="en-US" altLang="en-US" sz="16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br>
            <a:r>
              <a:rPr kumimoji="0" lang="en-US" altLang="en-US" sz="16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Cause</a:t>
            </a:r>
          </a:p>
        </p:txBody>
      </p:sp>
      <p:sp>
        <p:nvSpPr>
          <p:cNvPr id="17" name="Text Box 15">
            <a:extLst>
              <a:ext uri="{FF2B5EF4-FFF2-40B4-BE49-F238E27FC236}">
                <a16:creationId xmlns:a16="http://schemas.microsoft.com/office/drawing/2014/main" id="{B7A7341D-D594-45C3-9889-485D6760F733}"/>
              </a:ext>
            </a:extLst>
          </p:cNvPr>
          <p:cNvSpPr txBox="1">
            <a:spLocks noChangeArrowheads="1"/>
          </p:cNvSpPr>
          <p:nvPr/>
        </p:nvSpPr>
        <p:spPr bwMode="auto">
          <a:xfrm>
            <a:off x="6993757" y="4278571"/>
            <a:ext cx="1521993" cy="584775"/>
          </a:xfrm>
          <a:prstGeom prst="rect">
            <a:avLst/>
          </a:prstGeom>
          <a:solidFill>
            <a:srgbClr val="66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6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Inadequate Standard</a:t>
            </a:r>
          </a:p>
        </p:txBody>
      </p:sp>
      <p:cxnSp>
        <p:nvCxnSpPr>
          <p:cNvPr id="18" name="AutoShape 16">
            <a:extLst>
              <a:ext uri="{FF2B5EF4-FFF2-40B4-BE49-F238E27FC236}">
                <a16:creationId xmlns:a16="http://schemas.microsoft.com/office/drawing/2014/main" id="{32F19411-D405-4B57-A891-40FC89BB55D1}"/>
              </a:ext>
            </a:extLst>
          </p:cNvPr>
          <p:cNvCxnSpPr>
            <a:cxnSpLocks noChangeShapeType="1"/>
            <a:endCxn id="29" idx="0"/>
          </p:cNvCxnSpPr>
          <p:nvPr/>
        </p:nvCxnSpPr>
        <p:spPr bwMode="auto">
          <a:xfrm>
            <a:off x="4421188" y="1642768"/>
            <a:ext cx="38101" cy="2847016"/>
          </a:xfrm>
          <a:prstGeom prst="straightConnector1">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Text Box 5">
            <a:extLst>
              <a:ext uri="{FF2B5EF4-FFF2-40B4-BE49-F238E27FC236}">
                <a16:creationId xmlns:a16="http://schemas.microsoft.com/office/drawing/2014/main" id="{D2EEF2AF-EE2D-4933-B801-91EBBA7FFF28}"/>
              </a:ext>
            </a:extLst>
          </p:cNvPr>
          <p:cNvSpPr txBox="1">
            <a:spLocks noChangeArrowheads="1"/>
          </p:cNvSpPr>
          <p:nvPr/>
        </p:nvSpPr>
        <p:spPr bwMode="auto">
          <a:xfrm>
            <a:off x="3049588" y="854007"/>
            <a:ext cx="2895600" cy="233748"/>
          </a:xfrm>
          <a:prstGeom prst="rect">
            <a:avLst/>
          </a:prstGeom>
          <a:solidFill>
            <a:srgbClr val="000000"/>
          </a:solidFill>
          <a:ln w="9525" algn="ctr">
            <a:solidFill>
              <a:srgbClr val="000000"/>
            </a:solidFill>
            <a:miter lim="800000"/>
            <a:headEnd/>
            <a:tailEnd/>
          </a:ln>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1"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Causes in the Root Cause Analysis</a:t>
            </a:r>
          </a:p>
        </p:txBody>
      </p:sp>
      <p:sp>
        <p:nvSpPr>
          <p:cNvPr id="20" name="Text Box 10">
            <a:extLst>
              <a:ext uri="{FF2B5EF4-FFF2-40B4-BE49-F238E27FC236}">
                <a16:creationId xmlns:a16="http://schemas.microsoft.com/office/drawing/2014/main" id="{C8CAB5D0-91BC-497E-A594-A8A734158FC0}"/>
              </a:ext>
            </a:extLst>
          </p:cNvPr>
          <p:cNvSpPr txBox="1">
            <a:spLocks noChangeArrowheads="1"/>
          </p:cNvSpPr>
          <p:nvPr/>
        </p:nvSpPr>
        <p:spPr bwMode="auto">
          <a:xfrm>
            <a:off x="7088188" y="851010"/>
            <a:ext cx="1371600" cy="239742"/>
          </a:xfrm>
          <a:prstGeom prst="rect">
            <a:avLst/>
          </a:prstGeom>
          <a:solidFill>
            <a:srgbClr val="000000"/>
          </a:solidFill>
          <a:ln w="9525">
            <a:solidFill>
              <a:srgbClr val="000000"/>
            </a:solidFill>
            <a:miter lim="800000"/>
            <a:headEnd/>
            <a:tailEnd/>
          </a:ln>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1" i="0" u="none" strike="noStrike" kern="0" cap="none" spc="0" normalizeH="0" baseline="0" noProof="0" dirty="0">
                <a:ln>
                  <a:noFill/>
                </a:ln>
                <a:solidFill>
                  <a:srgbClr val="FFFFFF"/>
                </a:solidFill>
                <a:effectLst/>
                <a:uLnTx/>
                <a:uFillTx/>
                <a:latin typeface="Times New Roman" panose="02020603050405020304" pitchFamily="18" charset="0"/>
                <a:ea typeface="ＭＳ Ｐゴシック" panose="020B0600070205080204" pitchFamily="34" charset="-128"/>
                <a:cs typeface="+mn-cs"/>
              </a:rPr>
              <a:t>Category of Cause</a:t>
            </a:r>
          </a:p>
        </p:txBody>
      </p:sp>
      <p:sp>
        <p:nvSpPr>
          <p:cNvPr id="21" name="Text Box 11">
            <a:extLst>
              <a:ext uri="{FF2B5EF4-FFF2-40B4-BE49-F238E27FC236}">
                <a16:creationId xmlns:a16="http://schemas.microsoft.com/office/drawing/2014/main" id="{FB5E7B73-FF58-448D-AA0F-3FF92F25B100}"/>
              </a:ext>
            </a:extLst>
          </p:cNvPr>
          <p:cNvSpPr txBox="1">
            <a:spLocks noChangeArrowheads="1"/>
          </p:cNvSpPr>
          <p:nvPr/>
        </p:nvSpPr>
        <p:spPr bwMode="auto">
          <a:xfrm>
            <a:off x="534988" y="848013"/>
            <a:ext cx="990600" cy="377593"/>
          </a:xfrm>
          <a:prstGeom prst="rect">
            <a:avLst/>
          </a:prstGeom>
          <a:solidFill>
            <a:srgbClr val="000000"/>
          </a:solidFill>
          <a:ln w="9525">
            <a:solidFill>
              <a:srgbClr val="000000"/>
            </a:solidFill>
            <a:miter lim="800000"/>
            <a:headEnd/>
            <a:tailEnd/>
          </a:ln>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1" i="0" u="none" strike="noStrike" kern="0" cap="none" spc="0" normalizeH="0" baseline="0" noProof="0" dirty="0">
                <a:ln>
                  <a:noFill/>
                </a:ln>
                <a:solidFill>
                  <a:srgbClr val="FFFFFF"/>
                </a:solidFill>
                <a:effectLst/>
                <a:uLnTx/>
                <a:uFillTx/>
                <a:latin typeface="Times New Roman" panose="02020603050405020304" pitchFamily="18" charset="0"/>
                <a:ea typeface="ＭＳ Ｐゴシック" panose="020B0600070205080204" pitchFamily="34" charset="-128"/>
                <a:cs typeface="+mn-cs"/>
              </a:rPr>
              <a:t>Type of Cause</a:t>
            </a:r>
          </a:p>
        </p:txBody>
      </p:sp>
      <p:cxnSp>
        <p:nvCxnSpPr>
          <p:cNvPr id="22" name="Straight Connector 21">
            <a:extLst>
              <a:ext uri="{FF2B5EF4-FFF2-40B4-BE49-F238E27FC236}">
                <a16:creationId xmlns:a16="http://schemas.microsoft.com/office/drawing/2014/main" id="{13F8E239-4349-4F3D-B751-294330441CA4}"/>
              </a:ext>
            </a:extLst>
          </p:cNvPr>
          <p:cNvCxnSpPr>
            <a:cxnSpLocks/>
          </p:cNvCxnSpPr>
          <p:nvPr/>
        </p:nvCxnSpPr>
        <p:spPr bwMode="auto">
          <a:xfrm>
            <a:off x="1677988" y="848013"/>
            <a:ext cx="0" cy="5229514"/>
          </a:xfrm>
          <a:prstGeom prst="line">
            <a:avLst/>
          </a:prstGeom>
          <a:noFill/>
          <a:ln w="9525" cap="flat" cmpd="sng" algn="ctr">
            <a:solidFill>
              <a:srgbClr val="000000"/>
            </a:solidFill>
            <a:prstDash val="sysDash"/>
          </a:ln>
          <a:effectLst/>
        </p:spPr>
      </p:cxnSp>
      <p:cxnSp>
        <p:nvCxnSpPr>
          <p:cNvPr id="23" name="Straight Connector 22">
            <a:extLst>
              <a:ext uri="{FF2B5EF4-FFF2-40B4-BE49-F238E27FC236}">
                <a16:creationId xmlns:a16="http://schemas.microsoft.com/office/drawing/2014/main" id="{860DE867-33DD-459B-AA53-4190521D0DF2}"/>
              </a:ext>
            </a:extLst>
          </p:cNvPr>
          <p:cNvCxnSpPr>
            <a:cxnSpLocks/>
          </p:cNvCxnSpPr>
          <p:nvPr/>
        </p:nvCxnSpPr>
        <p:spPr bwMode="auto">
          <a:xfrm>
            <a:off x="687388" y="1261701"/>
            <a:ext cx="7772400" cy="0"/>
          </a:xfrm>
          <a:prstGeom prst="line">
            <a:avLst/>
          </a:prstGeom>
          <a:noFill/>
          <a:ln w="9525" cap="flat" cmpd="sng" algn="ctr">
            <a:solidFill>
              <a:srgbClr val="000000"/>
            </a:solidFill>
            <a:prstDash val="sysDash"/>
          </a:ln>
          <a:effectLst/>
        </p:spPr>
      </p:cxnSp>
      <p:sp>
        <p:nvSpPr>
          <p:cNvPr id="24" name="Text Box 10">
            <a:extLst>
              <a:ext uri="{FF2B5EF4-FFF2-40B4-BE49-F238E27FC236}">
                <a16:creationId xmlns:a16="http://schemas.microsoft.com/office/drawing/2014/main" id="{E8B9B421-114C-4DB1-B72C-37142258414D}"/>
              </a:ext>
            </a:extLst>
          </p:cNvPr>
          <p:cNvSpPr txBox="1">
            <a:spLocks noChangeArrowheads="1"/>
          </p:cNvSpPr>
          <p:nvPr/>
        </p:nvSpPr>
        <p:spPr bwMode="auto">
          <a:xfrm>
            <a:off x="6866221" y="1926299"/>
            <a:ext cx="1649530" cy="400110"/>
          </a:xfrm>
          <a:prstGeom prst="rect">
            <a:avLst/>
          </a:prstGeom>
          <a:solidFill>
            <a:srgbClr val="CC99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Sub-standard</a:t>
            </a:r>
            <a:b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b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Work Practice</a:t>
            </a:r>
          </a:p>
        </p:txBody>
      </p:sp>
      <p:sp>
        <p:nvSpPr>
          <p:cNvPr id="25" name="Text Box 7">
            <a:extLst>
              <a:ext uri="{FF2B5EF4-FFF2-40B4-BE49-F238E27FC236}">
                <a16:creationId xmlns:a16="http://schemas.microsoft.com/office/drawing/2014/main" id="{0D8F94C3-CB44-4EDB-98AC-06F5F4EC21D5}"/>
              </a:ext>
            </a:extLst>
          </p:cNvPr>
          <p:cNvSpPr txBox="1">
            <a:spLocks noChangeArrowheads="1"/>
          </p:cNvSpPr>
          <p:nvPr/>
        </p:nvSpPr>
        <p:spPr bwMode="auto">
          <a:xfrm>
            <a:off x="3049588" y="3615689"/>
            <a:ext cx="2895600" cy="553998"/>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dirty="0" err="1"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Mngmt</a:t>
            </a:r>
            <a:r>
              <a:rPr kumimoji="0" lang="en-US" altLang="en-US" sz="1000" b="0" i="0" u="none" strike="noStrike" kern="0" cap="none" spc="0" normalizeH="0" baseline="0" noProof="0" dirty="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 System did not</a:t>
            </a:r>
            <a:r>
              <a:rPr kumimoji="0" lang="en-CA" altLang="en-US" sz="1000" b="0" i="0" u="none" strike="noStrike" kern="0" cap="none" spc="0" normalizeH="0" baseline="0" noProof="0" dirty="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 </a:t>
            </a:r>
            <a:r>
              <a:rPr kumimoji="0" lang="en-CA"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check that </a:t>
            </a: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the IM understood Corporate Values: “Safety always before Production” as part of the communications plan.</a:t>
            </a:r>
          </a:p>
        </p:txBody>
      </p:sp>
      <p:sp>
        <p:nvSpPr>
          <p:cNvPr id="26" name="Text Box 5">
            <a:extLst>
              <a:ext uri="{FF2B5EF4-FFF2-40B4-BE49-F238E27FC236}">
                <a16:creationId xmlns:a16="http://schemas.microsoft.com/office/drawing/2014/main" id="{8934C917-953A-4685-A217-66CE8014D914}"/>
              </a:ext>
            </a:extLst>
          </p:cNvPr>
          <p:cNvSpPr txBox="1">
            <a:spLocks noChangeArrowheads="1"/>
          </p:cNvSpPr>
          <p:nvPr/>
        </p:nvSpPr>
        <p:spPr bwMode="auto">
          <a:xfrm>
            <a:off x="3049588" y="3038703"/>
            <a:ext cx="2895600" cy="400110"/>
          </a:xfrm>
          <a:prstGeom prst="rect">
            <a:avLst/>
          </a:prstGeom>
          <a:solidFill>
            <a:srgbClr val="FFFF66"/>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IM had not yet learned (i.e. </a:t>
            </a:r>
            <a:r>
              <a:rPr kumimoji="0" lang="en-US" altLang="en-US" sz="1000" b="0" i="0" u="none" strike="noStrike" kern="0" cap="none" spc="0" normalizeH="0" baseline="0" noProof="0" dirty="0" err="1">
                <a:ln>
                  <a:noFill/>
                </a:ln>
                <a:solidFill>
                  <a:srgbClr val="000000"/>
                </a:solidFill>
                <a:effectLst/>
                <a:uLnTx/>
                <a:uFillTx/>
                <a:latin typeface="Times New Roman" panose="02020603050405020304" pitchFamily="18" charset="0"/>
                <a:ea typeface="ＭＳ Ｐゴシック" panose="020B0600070205080204" pitchFamily="34" charset="-128"/>
                <a:cs typeface="+mn-cs"/>
              </a:rPr>
              <a:t>carunderstood</a:t>
            </a: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 that safety checks must be done before </a:t>
            </a:r>
            <a:r>
              <a:rPr kumimoji="0" lang="en-US" altLang="en-US" sz="1000" b="0" i="0" u="none" strike="noStrike" kern="0" cap="none" spc="0" normalizeH="0" baseline="0" noProof="0" dirty="0" err="1">
                <a:ln>
                  <a:noFill/>
                </a:ln>
                <a:solidFill>
                  <a:srgbClr val="000000"/>
                </a:solidFill>
                <a:effectLst/>
                <a:uLnTx/>
                <a:uFillTx/>
                <a:latin typeface="Times New Roman" panose="02020603050405020304" pitchFamily="18" charset="0"/>
                <a:ea typeface="ＭＳ Ｐゴシック" panose="020B0600070205080204" pitchFamily="34" charset="-128"/>
                <a:cs typeface="+mn-cs"/>
              </a:rPr>
              <a:t>Prod’n</a:t>
            </a: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 checks</a:t>
            </a:r>
          </a:p>
        </p:txBody>
      </p:sp>
      <p:sp>
        <p:nvSpPr>
          <p:cNvPr id="27" name="Text Box 4">
            <a:extLst>
              <a:ext uri="{FF2B5EF4-FFF2-40B4-BE49-F238E27FC236}">
                <a16:creationId xmlns:a16="http://schemas.microsoft.com/office/drawing/2014/main" id="{EF71C5BC-5827-41A0-B035-B603DC29AAA0}"/>
              </a:ext>
            </a:extLst>
          </p:cNvPr>
          <p:cNvSpPr txBox="1">
            <a:spLocks noChangeArrowheads="1"/>
          </p:cNvSpPr>
          <p:nvPr/>
        </p:nvSpPr>
        <p:spPr bwMode="auto">
          <a:xfrm>
            <a:off x="3223646" y="2492056"/>
            <a:ext cx="2443614" cy="400110"/>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IM prioritized </a:t>
            </a:r>
            <a:r>
              <a:rPr kumimoji="0" lang="en-US" altLang="en-US" sz="1000" b="0" i="0" u="none" strike="noStrike" kern="0" cap="none" spc="0" normalizeH="0" baseline="0" noProof="0" dirty="0" err="1">
                <a:ln>
                  <a:noFill/>
                </a:ln>
                <a:solidFill>
                  <a:srgbClr val="000000"/>
                </a:solidFill>
                <a:effectLst/>
                <a:uLnTx/>
                <a:uFillTx/>
                <a:latin typeface="Times New Roman" panose="02020603050405020304" pitchFamily="18" charset="0"/>
                <a:ea typeface="ＭＳ Ｐゴシック" panose="020B0600070205080204" pitchFamily="34" charset="-128"/>
                <a:cs typeface="+mn-cs"/>
              </a:rPr>
              <a:t>Mtce</a:t>
            </a: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 work on </a:t>
            </a:r>
            <a:r>
              <a:rPr kumimoji="0" lang="en-US" altLang="en-US" sz="1000" b="0" i="0" u="none" strike="noStrike" kern="0" cap="none" spc="0" normalizeH="0" baseline="0" noProof="0" dirty="0" err="1">
                <a:ln>
                  <a:noFill/>
                </a:ln>
                <a:solidFill>
                  <a:srgbClr val="000000"/>
                </a:solidFill>
                <a:effectLst/>
                <a:uLnTx/>
                <a:uFillTx/>
                <a:latin typeface="Times New Roman" panose="02020603050405020304" pitchFamily="18" charset="0"/>
                <a:ea typeface="ＭＳ Ｐゴシック" panose="020B0600070205080204" pitchFamily="34" charset="-128"/>
                <a:cs typeface="+mn-cs"/>
              </a:rPr>
              <a:t>Prod’n</a:t>
            </a: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 Equipment over Safety Equipment</a:t>
            </a:r>
          </a:p>
        </p:txBody>
      </p:sp>
      <p:sp>
        <p:nvSpPr>
          <p:cNvPr id="28" name="Text Box 3">
            <a:extLst>
              <a:ext uri="{FF2B5EF4-FFF2-40B4-BE49-F238E27FC236}">
                <a16:creationId xmlns:a16="http://schemas.microsoft.com/office/drawing/2014/main" id="{FB528315-1D05-45B9-AC26-430FEDCB62E9}"/>
              </a:ext>
            </a:extLst>
          </p:cNvPr>
          <p:cNvSpPr txBox="1">
            <a:spLocks noChangeArrowheads="1"/>
          </p:cNvSpPr>
          <p:nvPr/>
        </p:nvSpPr>
        <p:spPr bwMode="auto">
          <a:xfrm>
            <a:off x="3223645" y="1907719"/>
            <a:ext cx="2443614" cy="400110"/>
          </a:xfrm>
          <a:prstGeom prst="rect">
            <a:avLst/>
          </a:prstGeom>
          <a:solidFill>
            <a:srgbClr val="CC99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Industrial Mechanic (IM) did not follow / implement procedure</a:t>
            </a:r>
          </a:p>
        </p:txBody>
      </p:sp>
      <p:sp>
        <p:nvSpPr>
          <p:cNvPr id="29" name="Text Box 8">
            <a:extLst>
              <a:ext uri="{FF2B5EF4-FFF2-40B4-BE49-F238E27FC236}">
                <a16:creationId xmlns:a16="http://schemas.microsoft.com/office/drawing/2014/main" id="{A98AAC7D-91D4-4822-80BC-9E63CFFE369D}"/>
              </a:ext>
            </a:extLst>
          </p:cNvPr>
          <p:cNvSpPr txBox="1">
            <a:spLocks noChangeArrowheads="1"/>
          </p:cNvSpPr>
          <p:nvPr/>
        </p:nvSpPr>
        <p:spPr bwMode="auto">
          <a:xfrm>
            <a:off x="2058989" y="4489784"/>
            <a:ext cx="4800599" cy="1089529"/>
          </a:xfrm>
          <a:prstGeom prst="rect">
            <a:avLst/>
          </a:prstGeom>
          <a:solidFill>
            <a:srgbClr val="66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lvl="0" algn="ctr" fontAlgn="auto">
              <a:lnSpc>
                <a:spcPct val="90000"/>
              </a:lnSpc>
              <a:spcBef>
                <a:spcPts val="0"/>
              </a:spcBef>
              <a:spcAft>
                <a:spcPts val="0"/>
              </a:spcAft>
              <a:buClr>
                <a:srgbClr val="000000"/>
              </a:buClr>
              <a:buNone/>
              <a:defRPr/>
            </a:pPr>
            <a:r>
              <a:rPr lang="en-US" altLang="en-US" sz="1800" b="0" kern="0" dirty="0">
                <a:solidFill>
                  <a:srgbClr val="000000"/>
                </a:solidFill>
              </a:rPr>
              <a:t>LC-S: The management communications program did not include steps in the communications plan to check that new employees could explain Corporate Values</a:t>
            </a:r>
            <a:r>
              <a:rPr lang="en-US" altLang="en-US" sz="1800" b="0" kern="0" dirty="0" smtClean="0">
                <a:solidFill>
                  <a:srgbClr val="000000"/>
                </a:solidFill>
              </a:rPr>
              <a:t>. #1 MLCA</a:t>
            </a:r>
            <a:endParaRPr lang="en-US" altLang="en-US" sz="1800" b="0" kern="0" dirty="0">
              <a:solidFill>
                <a:srgbClr val="000000"/>
              </a:solidFill>
            </a:endParaRPr>
          </a:p>
        </p:txBody>
      </p:sp>
      <p:sp>
        <p:nvSpPr>
          <p:cNvPr id="31" name="Rectangular Callout 27">
            <a:extLst>
              <a:ext uri="{FF2B5EF4-FFF2-40B4-BE49-F238E27FC236}">
                <a16:creationId xmlns:a16="http://schemas.microsoft.com/office/drawing/2014/main" id="{92A56BCC-7136-4D2A-8EB2-23D4BD1A2AA9}"/>
              </a:ext>
            </a:extLst>
          </p:cNvPr>
          <p:cNvSpPr/>
          <p:nvPr/>
        </p:nvSpPr>
        <p:spPr bwMode="auto">
          <a:xfrm>
            <a:off x="132150" y="804375"/>
            <a:ext cx="7259250" cy="1467866"/>
          </a:xfrm>
          <a:prstGeom prst="wedgeRectCallout">
            <a:avLst>
              <a:gd name="adj1" fmla="val -20401"/>
              <a:gd name="adj2" fmla="val 210153"/>
            </a:avLst>
          </a:prstGeom>
          <a:solidFill>
            <a:schemeClr val="tx1"/>
          </a:solidFill>
          <a:ln w="9525" algn="ctr">
            <a:solidFill>
              <a:schemeClr val="tx1"/>
            </a:solidFill>
            <a:miter lim="800000"/>
            <a:headEnd/>
            <a:tailEnd/>
          </a:ln>
          <a:effectLst/>
        </p:spPr>
        <p:txBody>
          <a:bodyPr wrap="square" anchor="t" anchorCtr="0">
            <a:noAutofit/>
          </a:bodyPr>
          <a:lstStyle/>
          <a:p>
            <a:pPr marL="0" marR="0" lvl="0" indent="0" algn="l" defTabSz="914400" rtl="0" eaLnBrk="1" fontAlgn="base" latinLnBrk="0" hangingPunct="1">
              <a:lnSpc>
                <a:spcPct val="100000"/>
              </a:lnSpc>
              <a:spcBef>
                <a:spcPts val="0"/>
              </a:spcBef>
              <a:spcAft>
                <a:spcPct val="0"/>
              </a:spcAft>
              <a:buClr>
                <a:srgbClr val="000000"/>
              </a:buClr>
              <a:buSzPct val="65000"/>
              <a:buFont typeface="Wingdings" panose="05000000000000000000" pitchFamily="2" charset="2"/>
              <a:buNone/>
              <a:tabLst/>
              <a:defRPr/>
            </a:pPr>
            <a:r>
              <a:rPr kumimoji="0" lang="en-US" b="0" i="0"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Note the Latent Cause is stated in unique and specific terms relevant to the loss incident RCA and is aligned with </a:t>
            </a:r>
            <a:r>
              <a:rPr kumimoji="0" lang="en-US"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rPr>
              <a:t>RME#1 </a:t>
            </a:r>
            <a:r>
              <a:rPr kumimoji="0" lang="en-US" b="0" i="0"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MLCA. It should be straight-forward to write a recommendation. </a:t>
            </a:r>
            <a:endParaRPr kumimoji="0" lang="en-US"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base" latinLnBrk="0" hangingPunct="1">
              <a:lnSpc>
                <a:spcPct val="100000"/>
              </a:lnSpc>
              <a:spcBef>
                <a:spcPts val="0"/>
              </a:spcBef>
              <a:spcAft>
                <a:spcPct val="0"/>
              </a:spcAft>
              <a:buClr>
                <a:srgbClr val="000000"/>
              </a:buClr>
              <a:buSzPct val="65000"/>
              <a:buFont typeface="Wingdings" panose="05000000000000000000" pitchFamily="2" charset="2"/>
              <a:buNone/>
              <a:tabLst/>
              <a:defRPr/>
            </a:pPr>
            <a:r>
              <a:rPr kumimoji="0" lang="en-US"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rPr>
              <a:t>Please confer (pen-to-paper / MM-Open):</a:t>
            </a:r>
            <a:endParaRPr kumimoji="0" lang="en-US" b="0" i="0"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endParaRPr>
          </a:p>
          <a:p>
            <a:pPr marL="285750" marR="0" lvl="0" indent="-285750" algn="l" defTabSz="914400" rtl="0" eaLnBrk="1" fontAlgn="base" latinLnBrk="0" hangingPunct="1">
              <a:lnSpc>
                <a:spcPct val="100000"/>
              </a:lnSpc>
              <a:spcBef>
                <a:spcPts val="0"/>
              </a:spcBef>
              <a:spcAft>
                <a:spcPct val="0"/>
              </a:spcAft>
              <a:buClrTx/>
              <a:buSzPct val="100000"/>
              <a:buFont typeface="Wingdings" panose="05000000000000000000" pitchFamily="2" charset="2"/>
              <a:buChar char="Ø"/>
              <a:tabLst/>
              <a:defRPr/>
            </a:pPr>
            <a:r>
              <a:rPr kumimoji="0" lang="en-US" b="0" i="0"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What would your recommendation be to address this latent cause?</a:t>
            </a:r>
          </a:p>
        </p:txBody>
      </p:sp>
    </p:spTree>
    <p:extLst>
      <p:ext uri="{BB962C8B-B14F-4D97-AF65-F5344CB8AC3E}">
        <p14:creationId xmlns:p14="http://schemas.microsoft.com/office/powerpoint/2010/main" val="177664019"/>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chemeClr val="tx1"/>
          </a:solidFill>
          <a:ln>
            <a:solidFill>
              <a:schemeClr val="tx1"/>
            </a:solidFill>
          </a:ln>
        </p:spPr>
        <p:txBody>
          <a:bodyPr anchor="ctr"/>
          <a:lstStyle/>
          <a:p>
            <a:pPr>
              <a:buFont typeface="Arial" panose="020B0604020202020204" pitchFamily="34" charset="0"/>
              <a:buNone/>
            </a:pPr>
            <a:r>
              <a:rPr lang="en-US" altLang="en-US" sz="2000" b="0" dirty="0" smtClean="0">
                <a:solidFill>
                  <a:schemeClr val="bg1"/>
                </a:solidFill>
                <a:latin typeface="Arial" panose="020B0604020202020204" pitchFamily="34" charset="0"/>
                <a:cs typeface="Arial" panose="020B0604020202020204" pitchFamily="34" charset="0"/>
              </a:rPr>
              <a:t>Example: Examine </a:t>
            </a:r>
            <a:r>
              <a:rPr lang="en-US" altLang="en-US" sz="2000" b="0" dirty="0">
                <a:solidFill>
                  <a:schemeClr val="bg1"/>
                </a:solidFill>
                <a:latin typeface="Arial" panose="020B0604020202020204" pitchFamily="34" charset="0"/>
                <a:cs typeface="Arial" panose="020B0604020202020204" pitchFamily="34" charset="0"/>
              </a:rPr>
              <a:t>One Root in an RCA: Latent Cause &amp; Recommendation</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4.5: Linking Latent Causes to Recommendations</a:t>
            </a:r>
          </a:p>
        </p:txBody>
      </p:sp>
      <p:sp>
        <p:nvSpPr>
          <p:cNvPr id="6" name="Rectangle 5">
            <a:extLst>
              <a:ext uri="{FF2B5EF4-FFF2-40B4-BE49-F238E27FC236}">
                <a16:creationId xmlns:a16="http://schemas.microsoft.com/office/drawing/2014/main" id="{DD05066A-1424-440B-B958-1094E20F86EA}"/>
              </a:ext>
            </a:extLst>
          </p:cNvPr>
          <p:cNvSpPr/>
          <p:nvPr/>
        </p:nvSpPr>
        <p:spPr bwMode="auto">
          <a:xfrm>
            <a:off x="324000" y="845567"/>
            <a:ext cx="8286600" cy="5402833"/>
          </a:xfrm>
          <a:prstGeom prst="rect">
            <a:avLst/>
          </a:prstGeom>
          <a:solidFill>
            <a:srgbClr val="FFFFFF"/>
          </a:solidFill>
          <a:ln w="25400" cap="flat" cmpd="sng" algn="ctr">
            <a:solidFill>
              <a:srgbClr val="000000"/>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a:ln>
                <a:noFill/>
              </a:ln>
              <a:solidFill>
                <a:srgbClr val="FFFFFF"/>
              </a:solidFill>
              <a:effectLst/>
              <a:uLnTx/>
              <a:uFillTx/>
              <a:latin typeface="Arial"/>
              <a:ea typeface="+mn-ea"/>
              <a:cs typeface="+mn-cs"/>
            </a:endParaRPr>
          </a:p>
        </p:txBody>
      </p:sp>
      <p:sp>
        <p:nvSpPr>
          <p:cNvPr id="7" name="Text Box 2">
            <a:extLst>
              <a:ext uri="{FF2B5EF4-FFF2-40B4-BE49-F238E27FC236}">
                <a16:creationId xmlns:a16="http://schemas.microsoft.com/office/drawing/2014/main" id="{8C4BA5A7-744A-4FA1-9034-D7DBC8934E03}"/>
              </a:ext>
            </a:extLst>
          </p:cNvPr>
          <p:cNvSpPr txBox="1">
            <a:spLocks noChangeArrowheads="1"/>
          </p:cNvSpPr>
          <p:nvPr/>
        </p:nvSpPr>
        <p:spPr bwMode="auto">
          <a:xfrm>
            <a:off x="3189394" y="1357802"/>
            <a:ext cx="2455286" cy="244719"/>
          </a:xfrm>
          <a:prstGeom prst="rect">
            <a:avLst/>
          </a:prstGeom>
          <a:solidFill>
            <a:srgbClr val="66FF66"/>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t>Equipment found in defective state</a:t>
            </a:r>
          </a:p>
        </p:txBody>
      </p:sp>
      <p:sp>
        <p:nvSpPr>
          <p:cNvPr id="10" name="Text Box 10">
            <a:extLst>
              <a:ext uri="{FF2B5EF4-FFF2-40B4-BE49-F238E27FC236}">
                <a16:creationId xmlns:a16="http://schemas.microsoft.com/office/drawing/2014/main" id="{A671000C-4470-45DB-93EF-5C3269176E5F}"/>
              </a:ext>
            </a:extLst>
          </p:cNvPr>
          <p:cNvSpPr txBox="1">
            <a:spLocks noChangeArrowheads="1"/>
          </p:cNvSpPr>
          <p:nvPr/>
        </p:nvSpPr>
        <p:spPr bwMode="auto">
          <a:xfrm>
            <a:off x="6969089" y="2987891"/>
            <a:ext cx="1534555" cy="396514"/>
          </a:xfrm>
          <a:prstGeom prst="rect">
            <a:avLst/>
          </a:prstGeom>
          <a:solidFill>
            <a:srgbClr val="FFFF66"/>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Improper Risk Taking</a:t>
            </a:r>
            <a:b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b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Improper Motivation</a:t>
            </a:r>
          </a:p>
        </p:txBody>
      </p:sp>
      <p:sp>
        <p:nvSpPr>
          <p:cNvPr id="11" name="Text Box 11">
            <a:extLst>
              <a:ext uri="{FF2B5EF4-FFF2-40B4-BE49-F238E27FC236}">
                <a16:creationId xmlns:a16="http://schemas.microsoft.com/office/drawing/2014/main" id="{FC4B7F83-E01C-41C8-AF64-3C8BEEF8C0B3}"/>
              </a:ext>
            </a:extLst>
          </p:cNvPr>
          <p:cNvSpPr txBox="1">
            <a:spLocks noChangeArrowheads="1"/>
          </p:cNvSpPr>
          <p:nvPr/>
        </p:nvSpPr>
        <p:spPr bwMode="auto">
          <a:xfrm>
            <a:off x="510932" y="2997242"/>
            <a:ext cx="997461" cy="396514"/>
          </a:xfrm>
          <a:prstGeom prst="rect">
            <a:avLst/>
          </a:prstGeom>
          <a:solidFill>
            <a:srgbClr val="FFFF66"/>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Basic </a:t>
            </a:r>
            <a:b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b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Cause</a:t>
            </a:r>
          </a:p>
        </p:txBody>
      </p:sp>
      <p:sp>
        <p:nvSpPr>
          <p:cNvPr id="14" name="Text Box 12">
            <a:extLst>
              <a:ext uri="{FF2B5EF4-FFF2-40B4-BE49-F238E27FC236}">
                <a16:creationId xmlns:a16="http://schemas.microsoft.com/office/drawing/2014/main" id="{AA70F837-AF45-4186-AF9A-EFB2A8B059A2}"/>
              </a:ext>
            </a:extLst>
          </p:cNvPr>
          <p:cNvSpPr txBox="1">
            <a:spLocks noChangeArrowheads="1"/>
          </p:cNvSpPr>
          <p:nvPr/>
        </p:nvSpPr>
        <p:spPr bwMode="auto">
          <a:xfrm>
            <a:off x="510932" y="1880942"/>
            <a:ext cx="997461" cy="396514"/>
          </a:xfrm>
          <a:prstGeom prst="rect">
            <a:avLst/>
          </a:prstGeom>
          <a:solidFill>
            <a:srgbClr val="CC99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Immediate </a:t>
            </a:r>
            <a:b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b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Cause</a:t>
            </a:r>
          </a:p>
        </p:txBody>
      </p:sp>
      <p:sp>
        <p:nvSpPr>
          <p:cNvPr id="15" name="Text Box 13">
            <a:extLst>
              <a:ext uri="{FF2B5EF4-FFF2-40B4-BE49-F238E27FC236}">
                <a16:creationId xmlns:a16="http://schemas.microsoft.com/office/drawing/2014/main" id="{97BA6AE1-1488-4C5D-9B4B-F36BC39C1150}"/>
              </a:ext>
            </a:extLst>
          </p:cNvPr>
          <p:cNvSpPr txBox="1">
            <a:spLocks noChangeArrowheads="1"/>
          </p:cNvSpPr>
          <p:nvPr/>
        </p:nvSpPr>
        <p:spPr bwMode="auto">
          <a:xfrm>
            <a:off x="510932" y="1366468"/>
            <a:ext cx="997461" cy="400805"/>
          </a:xfrm>
          <a:prstGeom prst="rect">
            <a:avLst/>
          </a:prstGeom>
          <a:solidFill>
            <a:srgbClr val="66FF66"/>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Incident Description</a:t>
            </a:r>
          </a:p>
        </p:txBody>
      </p:sp>
      <p:sp>
        <p:nvSpPr>
          <p:cNvPr id="16" name="Text Box 14">
            <a:extLst>
              <a:ext uri="{FF2B5EF4-FFF2-40B4-BE49-F238E27FC236}">
                <a16:creationId xmlns:a16="http://schemas.microsoft.com/office/drawing/2014/main" id="{8664DEEA-29CF-4BF3-9C73-7D9DD8ED5110}"/>
              </a:ext>
            </a:extLst>
          </p:cNvPr>
          <p:cNvSpPr txBox="1">
            <a:spLocks noChangeArrowheads="1"/>
          </p:cNvSpPr>
          <p:nvPr/>
        </p:nvSpPr>
        <p:spPr bwMode="auto">
          <a:xfrm>
            <a:off x="518954" y="4221999"/>
            <a:ext cx="997461" cy="579518"/>
          </a:xfrm>
          <a:prstGeom prst="rect">
            <a:avLst/>
          </a:prstGeom>
          <a:solidFill>
            <a:srgbClr val="66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6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Latent </a:t>
            </a:r>
            <a:br>
              <a:rPr kumimoji="0" lang="en-US" altLang="en-US" sz="16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br>
            <a:r>
              <a:rPr kumimoji="0" lang="en-US" altLang="en-US" sz="16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Cause</a:t>
            </a:r>
          </a:p>
        </p:txBody>
      </p:sp>
      <p:sp>
        <p:nvSpPr>
          <p:cNvPr id="17" name="Text Box 15">
            <a:extLst>
              <a:ext uri="{FF2B5EF4-FFF2-40B4-BE49-F238E27FC236}">
                <a16:creationId xmlns:a16="http://schemas.microsoft.com/office/drawing/2014/main" id="{FEC4ECA4-56EA-4444-B7D7-EE6D081265B4}"/>
              </a:ext>
            </a:extLst>
          </p:cNvPr>
          <p:cNvSpPr txBox="1">
            <a:spLocks noChangeArrowheads="1"/>
          </p:cNvSpPr>
          <p:nvPr/>
        </p:nvSpPr>
        <p:spPr bwMode="auto">
          <a:xfrm>
            <a:off x="6969122" y="4241530"/>
            <a:ext cx="1532535" cy="579518"/>
          </a:xfrm>
          <a:prstGeom prst="rect">
            <a:avLst/>
          </a:prstGeom>
          <a:solidFill>
            <a:srgbClr val="66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6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Inadequate Standard</a:t>
            </a:r>
          </a:p>
        </p:txBody>
      </p:sp>
      <p:cxnSp>
        <p:nvCxnSpPr>
          <p:cNvPr id="18" name="AutoShape 16">
            <a:extLst>
              <a:ext uri="{FF2B5EF4-FFF2-40B4-BE49-F238E27FC236}">
                <a16:creationId xmlns:a16="http://schemas.microsoft.com/office/drawing/2014/main" id="{A4EFE54E-EBBA-4B4E-A975-8FC948A61D15}"/>
              </a:ext>
            </a:extLst>
          </p:cNvPr>
          <p:cNvCxnSpPr>
            <a:cxnSpLocks noChangeShapeType="1"/>
            <a:endCxn id="30" idx="0"/>
          </p:cNvCxnSpPr>
          <p:nvPr/>
        </p:nvCxnSpPr>
        <p:spPr bwMode="auto">
          <a:xfrm>
            <a:off x="4421187" y="1605762"/>
            <a:ext cx="56725" cy="4300443"/>
          </a:xfrm>
          <a:prstGeom prst="straightConnector1">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Text Box 5">
            <a:extLst>
              <a:ext uri="{FF2B5EF4-FFF2-40B4-BE49-F238E27FC236}">
                <a16:creationId xmlns:a16="http://schemas.microsoft.com/office/drawing/2014/main" id="{F2CE7584-CCED-4ED6-B428-9FAB6C00DC84}"/>
              </a:ext>
            </a:extLst>
          </p:cNvPr>
          <p:cNvSpPr txBox="1">
            <a:spLocks noChangeArrowheads="1"/>
          </p:cNvSpPr>
          <p:nvPr/>
        </p:nvSpPr>
        <p:spPr bwMode="auto">
          <a:xfrm>
            <a:off x="3002720" y="914400"/>
            <a:ext cx="2915655" cy="244008"/>
          </a:xfrm>
          <a:prstGeom prst="rect">
            <a:avLst/>
          </a:prstGeom>
          <a:solidFill>
            <a:srgbClr val="000000"/>
          </a:solidFill>
          <a:ln w="9525" algn="ctr">
            <a:solidFill>
              <a:srgbClr val="000000"/>
            </a:solidFill>
            <a:miter lim="800000"/>
            <a:headEnd/>
            <a:tailEnd/>
          </a:ln>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1"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Causes in the Root Cause Analysis</a:t>
            </a:r>
          </a:p>
        </p:txBody>
      </p:sp>
      <p:sp>
        <p:nvSpPr>
          <p:cNvPr id="20" name="Text Box 10">
            <a:extLst>
              <a:ext uri="{FF2B5EF4-FFF2-40B4-BE49-F238E27FC236}">
                <a16:creationId xmlns:a16="http://schemas.microsoft.com/office/drawing/2014/main" id="{199DF7B1-D786-47EC-8304-ED11A0706AC1}"/>
              </a:ext>
            </a:extLst>
          </p:cNvPr>
          <p:cNvSpPr txBox="1">
            <a:spLocks noChangeArrowheads="1"/>
          </p:cNvSpPr>
          <p:nvPr/>
        </p:nvSpPr>
        <p:spPr bwMode="auto">
          <a:xfrm>
            <a:off x="7065987" y="914400"/>
            <a:ext cx="1381100" cy="244008"/>
          </a:xfrm>
          <a:prstGeom prst="rect">
            <a:avLst/>
          </a:prstGeom>
          <a:solidFill>
            <a:srgbClr val="000000"/>
          </a:solidFill>
          <a:ln w="9525">
            <a:solidFill>
              <a:srgbClr val="000000"/>
            </a:solidFill>
            <a:miter lim="800000"/>
            <a:headEnd/>
            <a:tailEnd/>
          </a:ln>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1" i="0" u="none" strike="noStrike" kern="0" cap="none" spc="0" normalizeH="0" baseline="0" noProof="0" dirty="0">
                <a:ln>
                  <a:noFill/>
                </a:ln>
                <a:solidFill>
                  <a:srgbClr val="FFFFFF"/>
                </a:solidFill>
                <a:effectLst/>
                <a:uLnTx/>
                <a:uFillTx/>
                <a:latin typeface="Times New Roman" panose="02020603050405020304" pitchFamily="18" charset="0"/>
                <a:ea typeface="ＭＳ Ｐゴシック" panose="020B0600070205080204" pitchFamily="34" charset="-128"/>
                <a:cs typeface="+mn-cs"/>
              </a:rPr>
              <a:t>Category of Cause</a:t>
            </a:r>
          </a:p>
        </p:txBody>
      </p:sp>
      <p:sp>
        <p:nvSpPr>
          <p:cNvPr id="21" name="Text Box 11">
            <a:extLst>
              <a:ext uri="{FF2B5EF4-FFF2-40B4-BE49-F238E27FC236}">
                <a16:creationId xmlns:a16="http://schemas.microsoft.com/office/drawing/2014/main" id="{0E60F0FF-AAA3-4D1D-8C18-AC35D4E9CD1B}"/>
              </a:ext>
            </a:extLst>
          </p:cNvPr>
          <p:cNvSpPr txBox="1">
            <a:spLocks noChangeArrowheads="1"/>
          </p:cNvSpPr>
          <p:nvPr/>
        </p:nvSpPr>
        <p:spPr bwMode="auto">
          <a:xfrm>
            <a:off x="518954" y="898992"/>
            <a:ext cx="997461" cy="244008"/>
          </a:xfrm>
          <a:prstGeom prst="rect">
            <a:avLst/>
          </a:prstGeom>
          <a:solidFill>
            <a:srgbClr val="000000"/>
          </a:solidFill>
          <a:ln w="9525">
            <a:solidFill>
              <a:srgbClr val="000000"/>
            </a:solidFill>
            <a:miter lim="800000"/>
            <a:headEnd/>
            <a:tailEnd/>
          </a:ln>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1" i="0" u="none" strike="noStrike" kern="0" cap="none" spc="0" normalizeH="0" baseline="0" noProof="0" dirty="0">
                <a:ln>
                  <a:noFill/>
                </a:ln>
                <a:solidFill>
                  <a:srgbClr val="FFFFFF"/>
                </a:solidFill>
                <a:effectLst/>
                <a:uLnTx/>
                <a:uFillTx/>
                <a:latin typeface="Times New Roman" panose="02020603050405020304" pitchFamily="18" charset="0"/>
                <a:ea typeface="ＭＳ Ｐゴシック" panose="020B0600070205080204" pitchFamily="34" charset="-128"/>
                <a:cs typeface="+mn-cs"/>
              </a:rPr>
              <a:t>Type of Cause</a:t>
            </a:r>
          </a:p>
        </p:txBody>
      </p:sp>
      <p:cxnSp>
        <p:nvCxnSpPr>
          <p:cNvPr id="22" name="Straight Connector 21">
            <a:extLst>
              <a:ext uri="{FF2B5EF4-FFF2-40B4-BE49-F238E27FC236}">
                <a16:creationId xmlns:a16="http://schemas.microsoft.com/office/drawing/2014/main" id="{586CEF88-46FE-4942-9E53-721882D9D70C}"/>
              </a:ext>
            </a:extLst>
          </p:cNvPr>
          <p:cNvCxnSpPr>
            <a:cxnSpLocks/>
          </p:cNvCxnSpPr>
          <p:nvPr/>
        </p:nvCxnSpPr>
        <p:spPr bwMode="auto">
          <a:xfrm>
            <a:off x="1677987" y="933042"/>
            <a:ext cx="0" cy="5232812"/>
          </a:xfrm>
          <a:prstGeom prst="line">
            <a:avLst/>
          </a:prstGeom>
          <a:noFill/>
          <a:ln w="9525" cap="flat" cmpd="sng" algn="ctr">
            <a:solidFill>
              <a:srgbClr val="000000"/>
            </a:solidFill>
            <a:prstDash val="sysDash"/>
          </a:ln>
          <a:effectLst/>
        </p:spPr>
      </p:cxnSp>
      <p:cxnSp>
        <p:nvCxnSpPr>
          <p:cNvPr id="23" name="Straight Connector 22">
            <a:extLst>
              <a:ext uri="{FF2B5EF4-FFF2-40B4-BE49-F238E27FC236}">
                <a16:creationId xmlns:a16="http://schemas.microsoft.com/office/drawing/2014/main" id="{85353691-4190-478B-8AD6-9BEB28404A17}"/>
              </a:ext>
            </a:extLst>
          </p:cNvPr>
          <p:cNvCxnSpPr>
            <a:cxnSpLocks/>
          </p:cNvCxnSpPr>
          <p:nvPr/>
        </p:nvCxnSpPr>
        <p:spPr bwMode="auto">
          <a:xfrm>
            <a:off x="561588" y="1224695"/>
            <a:ext cx="7826232" cy="0"/>
          </a:xfrm>
          <a:prstGeom prst="line">
            <a:avLst/>
          </a:prstGeom>
          <a:noFill/>
          <a:ln w="9525" cap="flat" cmpd="sng" algn="ctr">
            <a:solidFill>
              <a:srgbClr val="000000"/>
            </a:solidFill>
            <a:prstDash val="sysDash"/>
          </a:ln>
          <a:effectLst/>
        </p:spPr>
      </p:cxnSp>
      <p:sp>
        <p:nvSpPr>
          <p:cNvPr id="24" name="Text Box 10">
            <a:extLst>
              <a:ext uri="{FF2B5EF4-FFF2-40B4-BE49-F238E27FC236}">
                <a16:creationId xmlns:a16="http://schemas.microsoft.com/office/drawing/2014/main" id="{E2675E4D-2622-42C4-BABC-D75225644AAC}"/>
              </a:ext>
            </a:extLst>
          </p:cNvPr>
          <p:cNvSpPr txBox="1">
            <a:spLocks noChangeArrowheads="1"/>
          </p:cNvSpPr>
          <p:nvPr/>
        </p:nvSpPr>
        <p:spPr bwMode="auto">
          <a:xfrm>
            <a:off x="6839521" y="1889268"/>
            <a:ext cx="1660955" cy="396514"/>
          </a:xfrm>
          <a:prstGeom prst="rect">
            <a:avLst/>
          </a:prstGeom>
          <a:solidFill>
            <a:srgbClr val="CC99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Sub-standard</a:t>
            </a:r>
            <a:b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b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Work Practice</a:t>
            </a:r>
          </a:p>
        </p:txBody>
      </p:sp>
      <p:sp>
        <p:nvSpPr>
          <p:cNvPr id="25" name="Text Box 7">
            <a:extLst>
              <a:ext uri="{FF2B5EF4-FFF2-40B4-BE49-F238E27FC236}">
                <a16:creationId xmlns:a16="http://schemas.microsoft.com/office/drawing/2014/main" id="{F22AAB5D-4398-40E1-953C-9E960CD5FCE0}"/>
              </a:ext>
            </a:extLst>
          </p:cNvPr>
          <p:cNvSpPr txBox="1">
            <a:spLocks noChangeArrowheads="1"/>
          </p:cNvSpPr>
          <p:nvPr/>
        </p:nvSpPr>
        <p:spPr bwMode="auto">
          <a:xfrm>
            <a:off x="3002720" y="3578648"/>
            <a:ext cx="2915655" cy="549018"/>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dirty="0" err="1"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Mngmt</a:t>
            </a:r>
            <a:r>
              <a:rPr kumimoji="0" lang="en-US" altLang="en-US" sz="1000" b="0" i="0" u="none" strike="noStrike" kern="0" cap="none" spc="0" normalizeH="0" baseline="0" noProof="0" dirty="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 System did not</a:t>
            </a:r>
            <a:r>
              <a:rPr kumimoji="0" lang="en-CA" altLang="en-US" sz="1000" b="0" i="0" u="none" strike="noStrike" kern="0" cap="none" spc="0" normalizeH="0" baseline="0" noProof="0" dirty="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 </a:t>
            </a:r>
            <a:r>
              <a:rPr kumimoji="0" lang="en-CA"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check that </a:t>
            </a: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the IM understood Corporate Values: “Safety always before Production” as part of the communications plan.</a:t>
            </a:r>
          </a:p>
        </p:txBody>
      </p:sp>
      <p:sp>
        <p:nvSpPr>
          <p:cNvPr id="26" name="Text Box 5">
            <a:extLst>
              <a:ext uri="{FF2B5EF4-FFF2-40B4-BE49-F238E27FC236}">
                <a16:creationId xmlns:a16="http://schemas.microsoft.com/office/drawing/2014/main" id="{04FCEA24-3090-4501-B036-CD66B10C68D8}"/>
              </a:ext>
            </a:extLst>
          </p:cNvPr>
          <p:cNvSpPr txBox="1">
            <a:spLocks noChangeArrowheads="1"/>
          </p:cNvSpPr>
          <p:nvPr/>
        </p:nvSpPr>
        <p:spPr bwMode="auto">
          <a:xfrm>
            <a:off x="3002720" y="3001672"/>
            <a:ext cx="2915655" cy="396514"/>
          </a:xfrm>
          <a:prstGeom prst="rect">
            <a:avLst/>
          </a:prstGeom>
          <a:solidFill>
            <a:srgbClr val="FFFF66"/>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IM had not yet learned (i.e. </a:t>
            </a:r>
            <a:r>
              <a:rPr kumimoji="0" lang="en-US" altLang="en-US" sz="1000" b="0" i="0" u="none" strike="noStrike" kern="0" cap="none" spc="0" normalizeH="0" baseline="0" noProof="0" dirty="0" err="1">
                <a:ln>
                  <a:noFill/>
                </a:ln>
                <a:solidFill>
                  <a:srgbClr val="000000"/>
                </a:solidFill>
                <a:effectLst/>
                <a:uLnTx/>
                <a:uFillTx/>
                <a:latin typeface="Times New Roman" panose="02020603050405020304" pitchFamily="18" charset="0"/>
                <a:ea typeface="ＭＳ Ｐゴシック" panose="020B0600070205080204" pitchFamily="34" charset="-128"/>
                <a:cs typeface="+mn-cs"/>
              </a:rPr>
              <a:t>carunderstood</a:t>
            </a: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 that safety checks must be done before </a:t>
            </a:r>
            <a:r>
              <a:rPr kumimoji="0" lang="en-US" altLang="en-US" sz="1000" b="0" i="0" u="none" strike="noStrike" kern="0" cap="none" spc="0" normalizeH="0" baseline="0" noProof="0" dirty="0" err="1">
                <a:ln>
                  <a:noFill/>
                </a:ln>
                <a:solidFill>
                  <a:srgbClr val="000000"/>
                </a:solidFill>
                <a:effectLst/>
                <a:uLnTx/>
                <a:uFillTx/>
                <a:latin typeface="Times New Roman" panose="02020603050405020304" pitchFamily="18" charset="0"/>
                <a:ea typeface="ＭＳ Ｐゴシック" panose="020B0600070205080204" pitchFamily="34" charset="-128"/>
                <a:cs typeface="+mn-cs"/>
              </a:rPr>
              <a:t>Prod’n</a:t>
            </a: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 checks</a:t>
            </a:r>
          </a:p>
        </p:txBody>
      </p:sp>
      <p:sp>
        <p:nvSpPr>
          <p:cNvPr id="27" name="Text Box 4">
            <a:extLst>
              <a:ext uri="{FF2B5EF4-FFF2-40B4-BE49-F238E27FC236}">
                <a16:creationId xmlns:a16="http://schemas.microsoft.com/office/drawing/2014/main" id="{4C4252B8-7885-41F0-A7F0-EFCB5341FD61}"/>
              </a:ext>
            </a:extLst>
          </p:cNvPr>
          <p:cNvSpPr txBox="1">
            <a:spLocks noChangeArrowheads="1"/>
          </p:cNvSpPr>
          <p:nvPr/>
        </p:nvSpPr>
        <p:spPr bwMode="auto">
          <a:xfrm>
            <a:off x="3184094" y="2455025"/>
            <a:ext cx="2460539" cy="396514"/>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IM prioritized </a:t>
            </a:r>
            <a:r>
              <a:rPr kumimoji="0" lang="en-US" altLang="en-US" sz="1000" b="0" i="0" u="none" strike="noStrike" kern="0" cap="none" spc="0" normalizeH="0" baseline="0" noProof="0" dirty="0" err="1">
                <a:ln>
                  <a:noFill/>
                </a:ln>
                <a:solidFill>
                  <a:srgbClr val="000000"/>
                </a:solidFill>
                <a:effectLst/>
                <a:uLnTx/>
                <a:uFillTx/>
                <a:latin typeface="Times New Roman" panose="02020603050405020304" pitchFamily="18" charset="0"/>
                <a:ea typeface="ＭＳ Ｐゴシック" panose="020B0600070205080204" pitchFamily="34" charset="-128"/>
                <a:cs typeface="+mn-cs"/>
              </a:rPr>
              <a:t>Mtce</a:t>
            </a: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 work on </a:t>
            </a:r>
            <a:r>
              <a:rPr kumimoji="0" lang="en-US" altLang="en-US" sz="1000" b="0" i="0" u="none" strike="noStrike" kern="0" cap="none" spc="0" normalizeH="0" baseline="0" noProof="0" dirty="0" err="1">
                <a:ln>
                  <a:noFill/>
                </a:ln>
                <a:solidFill>
                  <a:srgbClr val="000000"/>
                </a:solidFill>
                <a:effectLst/>
                <a:uLnTx/>
                <a:uFillTx/>
                <a:latin typeface="Times New Roman" panose="02020603050405020304" pitchFamily="18" charset="0"/>
                <a:ea typeface="ＭＳ Ｐゴシック" panose="020B0600070205080204" pitchFamily="34" charset="-128"/>
                <a:cs typeface="+mn-cs"/>
              </a:rPr>
              <a:t>Prod’n</a:t>
            </a: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 Equipment over Safety Equipment</a:t>
            </a:r>
          </a:p>
        </p:txBody>
      </p:sp>
      <p:sp>
        <p:nvSpPr>
          <p:cNvPr id="28" name="Text Box 3">
            <a:extLst>
              <a:ext uri="{FF2B5EF4-FFF2-40B4-BE49-F238E27FC236}">
                <a16:creationId xmlns:a16="http://schemas.microsoft.com/office/drawing/2014/main" id="{3725D8E8-5A69-4648-B14A-4AAD6A9922CC}"/>
              </a:ext>
            </a:extLst>
          </p:cNvPr>
          <p:cNvSpPr txBox="1">
            <a:spLocks noChangeArrowheads="1"/>
          </p:cNvSpPr>
          <p:nvPr/>
        </p:nvSpPr>
        <p:spPr bwMode="auto">
          <a:xfrm>
            <a:off x="3184093" y="1870688"/>
            <a:ext cx="2460539" cy="396514"/>
          </a:xfrm>
          <a:prstGeom prst="rect">
            <a:avLst/>
          </a:prstGeom>
          <a:solidFill>
            <a:srgbClr val="CC99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Industrial Mechanic (IM) did not follow / implement procedure</a:t>
            </a:r>
          </a:p>
        </p:txBody>
      </p:sp>
      <p:sp>
        <p:nvSpPr>
          <p:cNvPr id="29" name="Text Box 8">
            <a:extLst>
              <a:ext uri="{FF2B5EF4-FFF2-40B4-BE49-F238E27FC236}">
                <a16:creationId xmlns:a16="http://schemas.microsoft.com/office/drawing/2014/main" id="{5762A3F2-3353-42AD-A537-D9B45C6096C4}"/>
              </a:ext>
            </a:extLst>
          </p:cNvPr>
          <p:cNvSpPr txBox="1">
            <a:spLocks noChangeArrowheads="1"/>
          </p:cNvSpPr>
          <p:nvPr/>
        </p:nvSpPr>
        <p:spPr bwMode="auto">
          <a:xfrm>
            <a:off x="1831971" y="4403657"/>
            <a:ext cx="5028209" cy="1200329"/>
          </a:xfrm>
          <a:prstGeom prst="rect">
            <a:avLst/>
          </a:prstGeom>
          <a:solidFill>
            <a:srgbClr val="66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lvl="0" algn="ctr" fontAlgn="auto">
              <a:spcBef>
                <a:spcPct val="50000"/>
              </a:spcBef>
              <a:spcAft>
                <a:spcPts val="0"/>
              </a:spcAft>
              <a:buClr>
                <a:srgbClr val="000000"/>
              </a:buClr>
              <a:buNone/>
              <a:defRPr/>
            </a:pPr>
            <a:r>
              <a:rPr lang="en-US" altLang="en-US" sz="1800" b="0" kern="0" dirty="0">
                <a:solidFill>
                  <a:srgbClr val="000000"/>
                </a:solidFill>
              </a:rPr>
              <a:t>LC-S: The management communications program did not include steps in the communications plan to check that new employees could explain Corporate Values. #1 MLCA</a:t>
            </a:r>
            <a:endParaRPr lang="en-US" altLang="en-US" sz="1800" b="0" kern="0" dirty="0">
              <a:solidFill>
                <a:srgbClr val="000000"/>
              </a:solidFill>
            </a:endParaRPr>
          </a:p>
        </p:txBody>
      </p:sp>
      <p:sp>
        <p:nvSpPr>
          <p:cNvPr id="30" name="AutoShape 22">
            <a:extLst>
              <a:ext uri="{FF2B5EF4-FFF2-40B4-BE49-F238E27FC236}">
                <a16:creationId xmlns:a16="http://schemas.microsoft.com/office/drawing/2014/main" id="{C895CEE8-8B83-43C9-9B4C-5F3C0F89DC05}"/>
              </a:ext>
            </a:extLst>
          </p:cNvPr>
          <p:cNvSpPr>
            <a:spLocks noChangeArrowheads="1"/>
          </p:cNvSpPr>
          <p:nvPr/>
        </p:nvSpPr>
        <p:spPr bwMode="auto">
          <a:xfrm>
            <a:off x="3037135" y="5906205"/>
            <a:ext cx="2881554" cy="301300"/>
          </a:xfrm>
          <a:prstGeom prst="roundRect">
            <a:avLst>
              <a:gd name="adj" fmla="val 50000"/>
            </a:avLst>
          </a:prstGeom>
          <a:solidFill>
            <a:srgbClr val="000000"/>
          </a:solidFill>
          <a:ln w="9525" algn="ctr">
            <a:solidFill>
              <a:srgbClr val="000000"/>
            </a:solidFill>
            <a:round/>
            <a:headEnd/>
            <a:tailEnd/>
          </a:ln>
          <a:effectLst/>
        </p:spPr>
        <p:txBody>
          <a:bodyPr wrap="square" anchor="ctr" anchorCtr="1">
            <a:no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800" b="1" i="0" u="none" strike="noStrike" kern="0" cap="none" spc="0" normalizeH="0" baseline="0" noProof="0" dirty="0">
                <a:ln>
                  <a:noFill/>
                </a:ln>
                <a:solidFill>
                  <a:srgbClr val="FFFFFF"/>
                </a:solidFill>
                <a:effectLst/>
                <a:uLnTx/>
                <a:uFillTx/>
                <a:latin typeface="Times New Roman" panose="02020603050405020304" pitchFamily="18" charset="0"/>
                <a:ea typeface="ＭＳ Ｐゴシック" panose="020B0600070205080204" pitchFamily="34" charset="-128"/>
                <a:cs typeface="+mn-cs"/>
              </a:rPr>
              <a:t>Recommendation!</a:t>
            </a:r>
          </a:p>
        </p:txBody>
      </p:sp>
      <p:sp>
        <p:nvSpPr>
          <p:cNvPr id="32" name="TextBox 31">
            <a:extLst>
              <a:ext uri="{FF2B5EF4-FFF2-40B4-BE49-F238E27FC236}">
                <a16:creationId xmlns:a16="http://schemas.microsoft.com/office/drawing/2014/main" id="{E5EF8FE0-DCF1-45D0-ADF3-12375134868F}"/>
              </a:ext>
            </a:extLst>
          </p:cNvPr>
          <p:cNvSpPr txBox="1"/>
          <p:nvPr/>
        </p:nvSpPr>
        <p:spPr>
          <a:xfrm>
            <a:off x="397663" y="1472752"/>
            <a:ext cx="8044117" cy="2287574"/>
          </a:xfrm>
          <a:prstGeom prst="rect">
            <a:avLst/>
          </a:prstGeom>
          <a:solidFill>
            <a:srgbClr val="0000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FFFFFF"/>
                </a:solidFill>
                <a:effectLst/>
                <a:highlight>
                  <a:srgbClr val="000000"/>
                </a:highlight>
                <a:uLnTx/>
                <a:uFillTx/>
                <a:latin typeface="Arial" panose="020B0604020202020204" pitchFamily="34" charset="0"/>
                <a:ea typeface="+mn-ea"/>
                <a:cs typeface="+mn-cs"/>
              </a:rPr>
              <a:t>A </a:t>
            </a:r>
            <a:r>
              <a:rPr kumimoji="0" lang="en-CA" sz="1800" b="0" i="0" u="sng" strike="noStrike" kern="0" cap="none" spc="0" normalizeH="0" baseline="0" noProof="0" dirty="0">
                <a:ln>
                  <a:noFill/>
                </a:ln>
                <a:solidFill>
                  <a:srgbClr val="FFFFFF"/>
                </a:solidFill>
                <a:effectLst/>
                <a:highlight>
                  <a:srgbClr val="000000"/>
                </a:highlight>
                <a:uLnTx/>
                <a:uFillTx/>
                <a:latin typeface="Arial" panose="020B0604020202020204" pitchFamily="34" charset="0"/>
                <a:ea typeface="+mn-ea"/>
                <a:cs typeface="+mn-cs"/>
              </a:rPr>
              <a:t>recommendation</a:t>
            </a:r>
            <a:r>
              <a:rPr kumimoji="0" lang="en-CA" sz="1800" b="0" i="0" u="none" strike="noStrike" kern="0" cap="none" spc="0" normalizeH="0" baseline="0" noProof="0" dirty="0">
                <a:ln>
                  <a:noFill/>
                </a:ln>
                <a:solidFill>
                  <a:srgbClr val="FFFFFF"/>
                </a:solidFill>
                <a:effectLst/>
                <a:highlight>
                  <a:srgbClr val="000000"/>
                </a:highlight>
                <a:uLnTx/>
                <a:uFillTx/>
                <a:latin typeface="Arial" panose="020B0604020202020204" pitchFamily="34" charset="0"/>
                <a:ea typeface="+mn-ea"/>
                <a:cs typeface="+mn-cs"/>
              </a:rPr>
              <a:t> to address this latent cause: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CA" sz="1800" b="0" i="0" u="none" strike="noStrike" kern="0" cap="none" spc="0" normalizeH="0" baseline="0" noProof="0" dirty="0">
                <a:ln>
                  <a:noFill/>
                </a:ln>
                <a:solidFill>
                  <a:srgbClr val="FFFFFF"/>
                </a:solidFill>
                <a:effectLst/>
                <a:highlight>
                  <a:srgbClr val="000000"/>
                </a:highlight>
                <a:uLnTx/>
                <a:uFillTx/>
                <a:latin typeface="Arial" panose="020B0604020202020204" pitchFamily="34" charset="0"/>
                <a:ea typeface="+mn-ea"/>
                <a:cs typeface="+mn-cs"/>
              </a:rPr>
              <a:t>Improve the “Corporate Values” Communications Plan:</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CA" sz="1800" b="0" i="0" u="none" strike="noStrike" kern="0" cap="none" spc="0" normalizeH="0" baseline="0" noProof="0" dirty="0">
                <a:ln>
                  <a:noFill/>
                </a:ln>
                <a:solidFill>
                  <a:srgbClr val="FFFFFF"/>
                </a:solidFill>
                <a:effectLst/>
                <a:highlight>
                  <a:srgbClr val="000000"/>
                </a:highlight>
                <a:uLnTx/>
                <a:uFillTx/>
                <a:latin typeface="Arial" panose="020B0604020202020204" pitchFamily="34" charset="0"/>
                <a:ea typeface="+mn-ea"/>
                <a:cs typeface="+mn-cs"/>
              </a:rPr>
              <a:t>Confirm the organization has established corporate values</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CA" sz="1800" b="0" i="0" u="none" strike="noStrike" kern="0" cap="none" spc="0" normalizeH="0" baseline="0" noProof="0" dirty="0">
                <a:ln>
                  <a:noFill/>
                </a:ln>
                <a:solidFill>
                  <a:srgbClr val="FFFFFF"/>
                </a:solidFill>
                <a:effectLst/>
                <a:highlight>
                  <a:srgbClr val="000000"/>
                </a:highlight>
                <a:uLnTx/>
                <a:uFillTx/>
                <a:latin typeface="Arial" panose="020B0604020202020204" pitchFamily="34" charset="0"/>
                <a:ea typeface="+mn-ea"/>
                <a:cs typeface="+mn-cs"/>
              </a:rPr>
              <a:t>Include steps in the communications plan to confirm that new employees can explain the Corporate Values. </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CA" sz="1800" b="0" i="0" u="none" strike="noStrike" kern="0" cap="none" spc="0" normalizeH="0" baseline="0" noProof="0" dirty="0">
                <a:ln>
                  <a:noFill/>
                </a:ln>
                <a:solidFill>
                  <a:srgbClr val="FFFFFF"/>
                </a:solidFill>
                <a:effectLst/>
                <a:highlight>
                  <a:srgbClr val="000000"/>
                </a:highlight>
                <a:uLnTx/>
                <a:uFillTx/>
                <a:latin typeface="Arial" panose="020B0604020202020204" pitchFamily="34" charset="0"/>
                <a:ea typeface="+mn-ea"/>
                <a:cs typeface="+mn-cs"/>
              </a:rPr>
              <a:t>Implement a job observation audit system so management can confirm alignment to corporate values i.e. that the communications plan is effective. </a:t>
            </a:r>
          </a:p>
        </p:txBody>
      </p:sp>
      <p:cxnSp>
        <p:nvCxnSpPr>
          <p:cNvPr id="33" name="Curved Connector 2">
            <a:extLst>
              <a:ext uri="{FF2B5EF4-FFF2-40B4-BE49-F238E27FC236}">
                <a16:creationId xmlns:a16="http://schemas.microsoft.com/office/drawing/2014/main" id="{453FDDC6-B3C3-48A6-BAAE-77FCAF08AE36}"/>
              </a:ext>
            </a:extLst>
          </p:cNvPr>
          <p:cNvCxnSpPr>
            <a:endCxn id="32" idx="1"/>
          </p:cNvCxnSpPr>
          <p:nvPr/>
        </p:nvCxnSpPr>
        <p:spPr bwMode="auto">
          <a:xfrm rot="16200000" flipV="1">
            <a:off x="99240" y="2914963"/>
            <a:ext cx="3282641" cy="2685794"/>
          </a:xfrm>
          <a:prstGeom prst="curvedConnector4">
            <a:avLst>
              <a:gd name="adj1" fmla="val 11640"/>
              <a:gd name="adj2" fmla="val 108511"/>
            </a:avLst>
          </a:prstGeom>
          <a:solidFill>
            <a:srgbClr val="9999FF"/>
          </a:solidFill>
          <a:ln w="76200" cap="flat" cmpd="sng" algn="ctr">
            <a:solidFill>
              <a:srgbClr val="000000"/>
            </a:solidFill>
            <a:prstDash val="sysDot"/>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816870199"/>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Tx/>
              <a:buSzPct val="100000"/>
              <a:buFont typeface="Wingdings" panose="05000000000000000000" pitchFamily="2" charset="2"/>
              <a:buChar char="Ø"/>
              <a:defRPr/>
            </a:pPr>
            <a:r>
              <a:rPr lang="en-CA"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U</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se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categories and sub-categories from the C&amp;E Model to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test and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determine if you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have “drilled sufficiently deep”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i.e. check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if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you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have drilled down to the latent cause,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or still at a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basic or intermediate</a:t>
            </a:r>
            <a:r>
              <a:rPr kumimoji="0" lang="en-CA" altLang="en-US" sz="20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cause</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As will be seen, the nature of the recommendation can also reveal if you are at a latent cause or still at a basic cause. </a:t>
            </a: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Test </a:t>
            </a:r>
            <a:r>
              <a:rPr kumimoji="0" lang="en-CA"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and Differentiate – Immediate, Basic, and Latent Causes:</a:t>
            </a:r>
            <a:endPar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4.5: Linking Latent Causes to Recommendations</a:t>
            </a:r>
          </a:p>
        </p:txBody>
      </p:sp>
      <p:sp>
        <p:nvSpPr>
          <p:cNvPr id="6" name="Rectangle 5">
            <a:extLst>
              <a:ext uri="{FF2B5EF4-FFF2-40B4-BE49-F238E27FC236}">
                <a16:creationId xmlns:a16="http://schemas.microsoft.com/office/drawing/2014/main" id="{D79DE476-410C-4FEC-A77E-E621F2E16905}"/>
              </a:ext>
            </a:extLst>
          </p:cNvPr>
          <p:cNvSpPr/>
          <p:nvPr/>
        </p:nvSpPr>
        <p:spPr>
          <a:xfrm>
            <a:off x="786387" y="3429000"/>
            <a:ext cx="7313613" cy="2451100"/>
          </a:xfrm>
          <a:prstGeom prst="rect">
            <a:avLst/>
          </a:prstGeom>
          <a:solidFill>
            <a:srgbClr val="FFFFFF"/>
          </a:solidFill>
          <a:ln w="25400" cap="flat" cmpd="sng" algn="ctr">
            <a:solidFill>
              <a:srgbClr val="000000"/>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a:ln>
                <a:noFill/>
              </a:ln>
              <a:solidFill>
                <a:srgbClr val="FFFFFF"/>
              </a:solidFill>
              <a:effectLst/>
              <a:uLnTx/>
              <a:uFillTx/>
              <a:latin typeface="Arial"/>
              <a:ea typeface="+mn-ea"/>
              <a:cs typeface="+mn-cs"/>
            </a:endParaRPr>
          </a:p>
        </p:txBody>
      </p:sp>
      <p:sp>
        <p:nvSpPr>
          <p:cNvPr id="7" name="Text Box 5">
            <a:extLst>
              <a:ext uri="{FF2B5EF4-FFF2-40B4-BE49-F238E27FC236}">
                <a16:creationId xmlns:a16="http://schemas.microsoft.com/office/drawing/2014/main" id="{AEDB7FBB-D324-4C63-B7FE-22AA6D016C39}"/>
              </a:ext>
            </a:extLst>
          </p:cNvPr>
          <p:cNvSpPr txBox="1">
            <a:spLocks noChangeArrowheads="1"/>
          </p:cNvSpPr>
          <p:nvPr/>
        </p:nvSpPr>
        <p:spPr bwMode="auto">
          <a:xfrm>
            <a:off x="3147000" y="3776663"/>
            <a:ext cx="1828800" cy="284162"/>
          </a:xfrm>
          <a:prstGeom prst="rect">
            <a:avLst/>
          </a:prstGeom>
          <a:solidFill>
            <a:srgbClr val="000000"/>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Basic Cause</a:t>
            </a:r>
          </a:p>
        </p:txBody>
      </p:sp>
      <p:sp>
        <p:nvSpPr>
          <p:cNvPr id="10" name="Text Box 7">
            <a:extLst>
              <a:ext uri="{FF2B5EF4-FFF2-40B4-BE49-F238E27FC236}">
                <a16:creationId xmlns:a16="http://schemas.microsoft.com/office/drawing/2014/main" id="{D8C58D90-71B4-4EF5-998E-A6D86AF8623A}"/>
              </a:ext>
            </a:extLst>
          </p:cNvPr>
          <p:cNvSpPr txBox="1">
            <a:spLocks noChangeArrowheads="1"/>
          </p:cNvSpPr>
          <p:nvPr/>
        </p:nvSpPr>
        <p:spPr bwMode="auto">
          <a:xfrm>
            <a:off x="2308800" y="4475163"/>
            <a:ext cx="3505200" cy="284162"/>
          </a:xfrm>
          <a:prstGeom prst="rect">
            <a:avLst/>
          </a:prstGeom>
          <a:solidFill>
            <a:srgbClr val="000000"/>
          </a:solidFill>
          <a:ln w="9525" algn="ctr">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Latent Cause</a:t>
            </a:r>
          </a:p>
        </p:txBody>
      </p:sp>
      <p:sp>
        <p:nvSpPr>
          <p:cNvPr id="11" name="Text Box 8">
            <a:extLst>
              <a:ext uri="{FF2B5EF4-FFF2-40B4-BE49-F238E27FC236}">
                <a16:creationId xmlns:a16="http://schemas.microsoft.com/office/drawing/2014/main" id="{877E367A-5C8F-4335-96DE-542EF6B99B2D}"/>
              </a:ext>
            </a:extLst>
          </p:cNvPr>
          <p:cNvSpPr txBox="1">
            <a:spLocks noChangeArrowheads="1"/>
          </p:cNvSpPr>
          <p:nvPr/>
        </p:nvSpPr>
        <p:spPr bwMode="auto">
          <a:xfrm>
            <a:off x="2308800" y="4772025"/>
            <a:ext cx="3505200" cy="284163"/>
          </a:xfrm>
          <a:prstGeom prst="rect">
            <a:avLst/>
          </a:prstGeom>
          <a:solidFill>
            <a:srgbClr val="000000"/>
          </a:solidFill>
          <a:ln w="9525" algn="ctr">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Weakness in Management System Element #.</a:t>
            </a:r>
          </a:p>
        </p:txBody>
      </p:sp>
      <p:sp>
        <p:nvSpPr>
          <p:cNvPr id="14" name="Text Box 10">
            <a:extLst>
              <a:ext uri="{FF2B5EF4-FFF2-40B4-BE49-F238E27FC236}">
                <a16:creationId xmlns:a16="http://schemas.microsoft.com/office/drawing/2014/main" id="{83113A39-3A5A-43A9-B6B6-87FE6D60A078}"/>
              </a:ext>
            </a:extLst>
          </p:cNvPr>
          <p:cNvSpPr txBox="1">
            <a:spLocks noChangeArrowheads="1"/>
          </p:cNvSpPr>
          <p:nvPr/>
        </p:nvSpPr>
        <p:spPr bwMode="auto">
          <a:xfrm>
            <a:off x="5966400" y="3617913"/>
            <a:ext cx="2057400" cy="649287"/>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Engineering Factors</a:t>
            </a:r>
            <a:b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b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Job Factors</a:t>
            </a:r>
            <a:b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b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Personal Factors</a:t>
            </a:r>
          </a:p>
        </p:txBody>
      </p:sp>
      <p:sp>
        <p:nvSpPr>
          <p:cNvPr id="15" name="Text Box 11">
            <a:extLst>
              <a:ext uri="{FF2B5EF4-FFF2-40B4-BE49-F238E27FC236}">
                <a16:creationId xmlns:a16="http://schemas.microsoft.com/office/drawing/2014/main" id="{DEE675A8-1F5A-4EB5-A017-3A83248EBB34}"/>
              </a:ext>
            </a:extLst>
          </p:cNvPr>
          <p:cNvSpPr txBox="1">
            <a:spLocks noChangeArrowheads="1"/>
          </p:cNvSpPr>
          <p:nvPr/>
        </p:nvSpPr>
        <p:spPr bwMode="auto">
          <a:xfrm>
            <a:off x="1013400" y="3703638"/>
            <a:ext cx="990600" cy="46672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Basic </a:t>
            </a:r>
            <a:b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b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Cause</a:t>
            </a:r>
          </a:p>
        </p:txBody>
      </p:sp>
      <p:sp>
        <p:nvSpPr>
          <p:cNvPr id="16" name="Text Box 14">
            <a:extLst>
              <a:ext uri="{FF2B5EF4-FFF2-40B4-BE49-F238E27FC236}">
                <a16:creationId xmlns:a16="http://schemas.microsoft.com/office/drawing/2014/main" id="{C132B17F-9E5C-48A1-B599-54B2F734A21F}"/>
              </a:ext>
            </a:extLst>
          </p:cNvPr>
          <p:cNvSpPr txBox="1">
            <a:spLocks noChangeArrowheads="1"/>
          </p:cNvSpPr>
          <p:nvPr/>
        </p:nvSpPr>
        <p:spPr bwMode="auto">
          <a:xfrm>
            <a:off x="1013400" y="4508500"/>
            <a:ext cx="990600" cy="46672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Latent </a:t>
            </a:r>
            <a:b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b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Cause</a:t>
            </a:r>
          </a:p>
        </p:txBody>
      </p:sp>
      <p:sp>
        <p:nvSpPr>
          <p:cNvPr id="17" name="Text Box 15">
            <a:extLst>
              <a:ext uri="{FF2B5EF4-FFF2-40B4-BE49-F238E27FC236}">
                <a16:creationId xmlns:a16="http://schemas.microsoft.com/office/drawing/2014/main" id="{5C8DCF97-45B4-4C72-9449-C14E66A90E28}"/>
              </a:ext>
            </a:extLst>
          </p:cNvPr>
          <p:cNvSpPr txBox="1">
            <a:spLocks noChangeArrowheads="1"/>
          </p:cNvSpPr>
          <p:nvPr/>
        </p:nvSpPr>
        <p:spPr bwMode="auto">
          <a:xfrm>
            <a:off x="5966400" y="4452938"/>
            <a:ext cx="2057400" cy="649287"/>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Inadequate Program</a:t>
            </a:r>
            <a:b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b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Inadequate Standards</a:t>
            </a:r>
            <a:b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b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Inadequate Compliance</a:t>
            </a:r>
          </a:p>
        </p:txBody>
      </p:sp>
      <p:cxnSp>
        <p:nvCxnSpPr>
          <p:cNvPr id="18" name="AutoShape 17">
            <a:extLst>
              <a:ext uri="{FF2B5EF4-FFF2-40B4-BE49-F238E27FC236}">
                <a16:creationId xmlns:a16="http://schemas.microsoft.com/office/drawing/2014/main" id="{506AC946-7965-42D6-8413-217BBC087EE1}"/>
              </a:ext>
            </a:extLst>
          </p:cNvPr>
          <p:cNvCxnSpPr>
            <a:cxnSpLocks noChangeShapeType="1"/>
            <a:stCxn id="7" idx="2"/>
            <a:endCxn id="10" idx="0"/>
          </p:cNvCxnSpPr>
          <p:nvPr/>
        </p:nvCxnSpPr>
        <p:spPr bwMode="auto">
          <a:xfrm>
            <a:off x="4061400" y="4060825"/>
            <a:ext cx="0" cy="414338"/>
          </a:xfrm>
          <a:prstGeom prst="straightConnector1">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AutoShape 20">
            <a:extLst>
              <a:ext uri="{FF2B5EF4-FFF2-40B4-BE49-F238E27FC236}">
                <a16:creationId xmlns:a16="http://schemas.microsoft.com/office/drawing/2014/main" id="{958C2580-0AA4-4D0D-9EF9-3ECCB4437677}"/>
              </a:ext>
            </a:extLst>
          </p:cNvPr>
          <p:cNvCxnSpPr>
            <a:cxnSpLocks noChangeShapeType="1"/>
            <a:stCxn id="11" idx="2"/>
            <a:endCxn id="20" idx="0"/>
          </p:cNvCxnSpPr>
          <p:nvPr/>
        </p:nvCxnSpPr>
        <p:spPr bwMode="auto">
          <a:xfrm>
            <a:off x="4061400" y="5056188"/>
            <a:ext cx="0" cy="290512"/>
          </a:xfrm>
          <a:prstGeom prst="straightConnector1">
            <a:avLst/>
          </a:prstGeom>
          <a:noFill/>
          <a:ln w="38100">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AutoShape 22">
            <a:extLst>
              <a:ext uri="{FF2B5EF4-FFF2-40B4-BE49-F238E27FC236}">
                <a16:creationId xmlns:a16="http://schemas.microsoft.com/office/drawing/2014/main" id="{EC6E1412-F2CE-4D5E-AC3F-EEEB4725881C}"/>
              </a:ext>
            </a:extLst>
          </p:cNvPr>
          <p:cNvSpPr>
            <a:spLocks noChangeArrowheads="1"/>
          </p:cNvSpPr>
          <p:nvPr/>
        </p:nvSpPr>
        <p:spPr bwMode="auto">
          <a:xfrm>
            <a:off x="2842200" y="5346700"/>
            <a:ext cx="2438400" cy="447675"/>
          </a:xfrm>
          <a:prstGeom prst="roundRect">
            <a:avLst>
              <a:gd name="adj" fmla="val 50000"/>
            </a:avLst>
          </a:prstGeom>
          <a:solidFill>
            <a:srgbClr val="000000"/>
          </a:soli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600" b="1"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Recommendation?</a:t>
            </a:r>
          </a:p>
        </p:txBody>
      </p:sp>
      <p:cxnSp>
        <p:nvCxnSpPr>
          <p:cNvPr id="21" name="Straight Connector 20">
            <a:extLst>
              <a:ext uri="{FF2B5EF4-FFF2-40B4-BE49-F238E27FC236}">
                <a16:creationId xmlns:a16="http://schemas.microsoft.com/office/drawing/2014/main" id="{B9053322-4FF9-4C8F-99A0-3F964794DBAE}"/>
              </a:ext>
            </a:extLst>
          </p:cNvPr>
          <p:cNvCxnSpPr/>
          <p:nvPr/>
        </p:nvCxnSpPr>
        <p:spPr>
          <a:xfrm>
            <a:off x="2232600" y="3429000"/>
            <a:ext cx="1587" cy="2451100"/>
          </a:xfrm>
          <a:prstGeom prst="line">
            <a:avLst/>
          </a:prstGeom>
          <a:noFill/>
          <a:ln w="9525" cap="flat" cmpd="sng" algn="ctr">
            <a:solidFill>
              <a:srgbClr val="000000"/>
            </a:solidFill>
            <a:prstDash val="sysDash"/>
          </a:ln>
          <a:effectLst/>
        </p:spPr>
      </p:cxnSp>
      <p:cxnSp>
        <p:nvCxnSpPr>
          <p:cNvPr id="22" name="Straight Connector 23">
            <a:extLst>
              <a:ext uri="{FF2B5EF4-FFF2-40B4-BE49-F238E27FC236}">
                <a16:creationId xmlns:a16="http://schemas.microsoft.com/office/drawing/2014/main" id="{E025BC98-3987-440A-B050-5B5DB1D3E029}"/>
              </a:ext>
            </a:extLst>
          </p:cNvPr>
          <p:cNvCxnSpPr/>
          <p:nvPr/>
        </p:nvCxnSpPr>
        <p:spPr>
          <a:xfrm>
            <a:off x="5890200" y="3429000"/>
            <a:ext cx="1587" cy="2451100"/>
          </a:xfrm>
          <a:prstGeom prst="line">
            <a:avLst/>
          </a:prstGeom>
          <a:noFill/>
          <a:ln w="9525" cap="flat" cmpd="sng" algn="ctr">
            <a:solidFill>
              <a:srgbClr val="000000"/>
            </a:solidFill>
            <a:prstDash val="sysDash"/>
          </a:ln>
          <a:effectLst/>
        </p:spPr>
      </p:cxnSp>
      <p:sp>
        <p:nvSpPr>
          <p:cNvPr id="23" name="AutoShape 16">
            <a:extLst>
              <a:ext uri="{FF2B5EF4-FFF2-40B4-BE49-F238E27FC236}">
                <a16:creationId xmlns:a16="http://schemas.microsoft.com/office/drawing/2014/main" id="{4DBA7B04-5244-4F89-8BFB-3DA096AF275C}"/>
              </a:ext>
            </a:extLst>
          </p:cNvPr>
          <p:cNvSpPr>
            <a:spLocks noChangeArrowheads="1"/>
          </p:cNvSpPr>
          <p:nvPr/>
        </p:nvSpPr>
        <p:spPr bwMode="auto">
          <a:xfrm>
            <a:off x="1929387" y="4572000"/>
            <a:ext cx="533400" cy="1296000"/>
          </a:xfrm>
          <a:prstGeom prst="curvedRightArrow">
            <a:avLst>
              <a:gd name="adj1" fmla="val 72007"/>
              <a:gd name="adj2" fmla="val 123019"/>
              <a:gd name="adj3" fmla="val 33333"/>
            </a:avLst>
          </a:prstGeom>
          <a:solidFill>
            <a:srgbClr val="0000FF"/>
          </a:solidFill>
          <a:ln w="2857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t" anchorCtr="1"/>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    2</a:t>
            </a:r>
          </a:p>
        </p:txBody>
      </p:sp>
      <p:sp>
        <p:nvSpPr>
          <p:cNvPr id="24" name="AutoShape 17">
            <a:extLst>
              <a:ext uri="{FF2B5EF4-FFF2-40B4-BE49-F238E27FC236}">
                <a16:creationId xmlns:a16="http://schemas.microsoft.com/office/drawing/2014/main" id="{6994EF41-28F3-4732-99A3-E7AA806482FC}"/>
              </a:ext>
            </a:extLst>
          </p:cNvPr>
          <p:cNvSpPr>
            <a:spLocks noChangeArrowheads="1"/>
          </p:cNvSpPr>
          <p:nvPr/>
        </p:nvSpPr>
        <p:spPr bwMode="auto">
          <a:xfrm>
            <a:off x="5358387" y="5334000"/>
            <a:ext cx="2590800" cy="533400"/>
          </a:xfrm>
          <a:custGeom>
            <a:avLst/>
            <a:gdLst>
              <a:gd name="T0" fmla="*/ 233064050 w 21600"/>
              <a:gd name="T1" fmla="*/ 0 h 21600"/>
              <a:gd name="T2" fmla="*/ 0 w 21600"/>
              <a:gd name="T3" fmla="*/ 6586008 h 21600"/>
              <a:gd name="T4" fmla="*/ 233064050 w 21600"/>
              <a:gd name="T5" fmla="*/ 13172017 h 21600"/>
              <a:gd name="T6" fmla="*/ 310752067 w 21600"/>
              <a:gd name="T7" fmla="*/ 6586008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0000FF"/>
          </a:solidFill>
          <a:ln w="2857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400" b="1" i="0" u="none" strike="noStrike" kern="0" cap="none" spc="0" normalizeH="0" baseline="0" noProof="0" dirty="0">
                <a:ln>
                  <a:noFill/>
                </a:ln>
                <a:solidFill>
                  <a:srgbClr val="FFFFFF"/>
                </a:solidFill>
                <a:effectLst/>
                <a:uLnTx/>
                <a:uFillTx/>
                <a:latin typeface="Arial" panose="020B0604020202020204" pitchFamily="34" charset="0"/>
                <a:ea typeface="+mn-ea"/>
                <a:cs typeface="+mn-cs"/>
              </a:rPr>
              <a:t>3</a:t>
            </a:r>
          </a:p>
        </p:txBody>
      </p:sp>
      <p:sp>
        <p:nvSpPr>
          <p:cNvPr id="25" name="AutoShape 18">
            <a:extLst>
              <a:ext uri="{FF2B5EF4-FFF2-40B4-BE49-F238E27FC236}">
                <a16:creationId xmlns:a16="http://schemas.microsoft.com/office/drawing/2014/main" id="{7E6BCE03-ADE9-46B0-ACCF-A252974D0A3A}"/>
              </a:ext>
            </a:extLst>
          </p:cNvPr>
          <p:cNvSpPr>
            <a:spLocks noChangeArrowheads="1"/>
          </p:cNvSpPr>
          <p:nvPr/>
        </p:nvSpPr>
        <p:spPr bwMode="auto">
          <a:xfrm rot="10800000">
            <a:off x="7949187" y="3581400"/>
            <a:ext cx="533400" cy="1295400"/>
          </a:xfrm>
          <a:prstGeom prst="curvedRightArrow">
            <a:avLst>
              <a:gd name="adj1" fmla="val 68562"/>
              <a:gd name="adj2" fmla="val 117134"/>
              <a:gd name="adj3" fmla="val 33333"/>
            </a:avLst>
          </a:prstGeom>
          <a:solidFill>
            <a:srgbClr val="0000FF"/>
          </a:solidFill>
          <a:ln w="2857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1"/>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400" b="1" i="0"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4b</a:t>
            </a:r>
          </a:p>
        </p:txBody>
      </p:sp>
      <p:sp>
        <p:nvSpPr>
          <p:cNvPr id="26" name="AutoShape 19">
            <a:extLst>
              <a:ext uri="{FF2B5EF4-FFF2-40B4-BE49-F238E27FC236}">
                <a16:creationId xmlns:a16="http://schemas.microsoft.com/office/drawing/2014/main" id="{47442FAE-7FA7-4750-9076-13E55C41D24F}"/>
              </a:ext>
            </a:extLst>
          </p:cNvPr>
          <p:cNvSpPr>
            <a:spLocks noChangeArrowheads="1"/>
          </p:cNvSpPr>
          <p:nvPr/>
        </p:nvSpPr>
        <p:spPr bwMode="auto">
          <a:xfrm rot="10800000">
            <a:off x="7949187" y="4495800"/>
            <a:ext cx="533400" cy="1295400"/>
          </a:xfrm>
          <a:prstGeom prst="curvedRightArrow">
            <a:avLst>
              <a:gd name="adj1" fmla="val 68562"/>
              <a:gd name="adj2" fmla="val 117134"/>
              <a:gd name="adj3" fmla="val 33333"/>
            </a:avLst>
          </a:prstGeom>
          <a:solidFill>
            <a:srgbClr val="0000FF"/>
          </a:solidFill>
          <a:ln w="2857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1"/>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400" b="1" i="0"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4a</a:t>
            </a:r>
          </a:p>
        </p:txBody>
      </p:sp>
      <p:sp>
        <p:nvSpPr>
          <p:cNvPr id="27" name="AutoShape 20">
            <a:extLst>
              <a:ext uri="{FF2B5EF4-FFF2-40B4-BE49-F238E27FC236}">
                <a16:creationId xmlns:a16="http://schemas.microsoft.com/office/drawing/2014/main" id="{C1EC26FE-8B80-459B-8173-B2CE42BBE30D}"/>
              </a:ext>
            </a:extLst>
          </p:cNvPr>
          <p:cNvSpPr>
            <a:spLocks noChangeArrowheads="1"/>
          </p:cNvSpPr>
          <p:nvPr/>
        </p:nvSpPr>
        <p:spPr bwMode="auto">
          <a:xfrm rot="10800000">
            <a:off x="4523362" y="3730625"/>
            <a:ext cx="1766888" cy="457200"/>
          </a:xfrm>
          <a:custGeom>
            <a:avLst/>
            <a:gdLst>
              <a:gd name="T0" fmla="*/ 108399070 w 21600"/>
              <a:gd name="T1" fmla="*/ 0 h 21600"/>
              <a:gd name="T2" fmla="*/ 0 w 21600"/>
              <a:gd name="T3" fmla="*/ 4838700 h 21600"/>
              <a:gd name="T4" fmla="*/ 108399070 w 21600"/>
              <a:gd name="T5" fmla="*/ 9677400 h 21600"/>
              <a:gd name="T6" fmla="*/ 144532093 w 21600"/>
              <a:gd name="T7" fmla="*/ 4838700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0000FF"/>
          </a:solidFill>
          <a:ln w="2857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vert"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400" b="1" i="0" u="none" strike="noStrike" kern="0" cap="none" spc="0" normalizeH="0" baseline="0" noProof="0" dirty="0">
                <a:ln>
                  <a:noFill/>
                </a:ln>
                <a:solidFill>
                  <a:srgbClr val="FFFFFF"/>
                </a:solidFill>
                <a:effectLst/>
                <a:uLnTx/>
                <a:uFillTx/>
                <a:latin typeface="Arial" panose="020B0604020202020204" pitchFamily="34" charset="0"/>
                <a:ea typeface="+mn-ea"/>
                <a:cs typeface="+mn-cs"/>
              </a:rPr>
              <a:t>5</a:t>
            </a:r>
          </a:p>
        </p:txBody>
      </p:sp>
      <p:sp>
        <p:nvSpPr>
          <p:cNvPr id="28" name="AutoShape 20">
            <a:extLst>
              <a:ext uri="{FF2B5EF4-FFF2-40B4-BE49-F238E27FC236}">
                <a16:creationId xmlns:a16="http://schemas.microsoft.com/office/drawing/2014/main" id="{7DA3E8A3-144F-4EA8-A6E9-0B63A18F6235}"/>
              </a:ext>
            </a:extLst>
          </p:cNvPr>
          <p:cNvSpPr>
            <a:spLocks noChangeArrowheads="1"/>
          </p:cNvSpPr>
          <p:nvPr/>
        </p:nvSpPr>
        <p:spPr bwMode="auto">
          <a:xfrm rot="5400000">
            <a:off x="3822481" y="4044950"/>
            <a:ext cx="481012" cy="457200"/>
          </a:xfrm>
          <a:custGeom>
            <a:avLst/>
            <a:gdLst>
              <a:gd name="T0" fmla="*/ 29557091 w 21600"/>
              <a:gd name="T1" fmla="*/ 0 h 21600"/>
              <a:gd name="T2" fmla="*/ 0 w 21600"/>
              <a:gd name="T3" fmla="*/ 4838700 h 21600"/>
              <a:gd name="T4" fmla="*/ 29557091 w 21600"/>
              <a:gd name="T5" fmla="*/ 9677400 h 21600"/>
              <a:gd name="T6" fmla="*/ 39409455 w 21600"/>
              <a:gd name="T7" fmla="*/ 4838700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0000FF"/>
          </a:solidFill>
          <a:ln w="2857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vert270"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400" b="1" i="0" u="none" strike="noStrike" kern="0" cap="none" spc="0" normalizeH="0" baseline="0" noProof="0" dirty="0">
                <a:ln>
                  <a:noFill/>
                </a:ln>
                <a:solidFill>
                  <a:srgbClr val="FFFFFF"/>
                </a:solidFill>
                <a:effectLst/>
                <a:uLnTx/>
                <a:uFillTx/>
                <a:latin typeface="Arial" panose="020B0604020202020204" pitchFamily="34" charset="0"/>
                <a:ea typeface="+mn-ea"/>
                <a:cs typeface="+mn-cs"/>
              </a:rPr>
              <a:t>1</a:t>
            </a:r>
          </a:p>
        </p:txBody>
      </p:sp>
    </p:spTree>
    <p:extLst>
      <p:ext uri="{BB962C8B-B14F-4D97-AF65-F5344CB8AC3E}">
        <p14:creationId xmlns:p14="http://schemas.microsoft.com/office/powerpoint/2010/main" val="4019474744"/>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chemeClr val="tx1"/>
          </a:solidFill>
          <a:ln>
            <a:solidFill>
              <a:schemeClr val="tx1"/>
            </a:solidFill>
          </a:ln>
        </p:spPr>
        <p:txBody>
          <a:bodyPr wrap="square"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alt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Example: Consider this RCA One-root Construct:</a:t>
            </a: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Rectangle 1"/>
          <p:cNvSpPr/>
          <p:nvPr/>
        </p:nvSpPr>
        <p:spPr>
          <a:xfrm>
            <a:off x="180000" y="828000"/>
            <a:ext cx="8640000" cy="5328000"/>
          </a:xfrm>
          <a:prstGeom prst="rect">
            <a:avLst/>
          </a:prstGeom>
          <a:solidFill>
            <a:schemeClr val="tx1"/>
          </a:solidFill>
          <a:ln>
            <a:solidFill>
              <a:schemeClr val="tx1"/>
            </a:solidFill>
          </a:ln>
        </p:spPr>
        <p:txBody>
          <a:bodyPr wrap="square">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4.5: Linking Latent Causes to Recommendations</a:t>
            </a:r>
          </a:p>
        </p:txBody>
      </p:sp>
      <p:cxnSp>
        <p:nvCxnSpPr>
          <p:cNvPr id="6" name="Straight Connector 5">
            <a:extLst>
              <a:ext uri="{FF2B5EF4-FFF2-40B4-BE49-F238E27FC236}">
                <a16:creationId xmlns:a16="http://schemas.microsoft.com/office/drawing/2014/main" id="{9D36D7A7-E3C0-4187-A8FC-616C922B7687}"/>
              </a:ext>
            </a:extLst>
          </p:cNvPr>
          <p:cNvCxnSpPr>
            <a:stCxn id="16" idx="2"/>
            <a:endCxn id="15" idx="0"/>
          </p:cNvCxnSpPr>
          <p:nvPr/>
        </p:nvCxnSpPr>
        <p:spPr bwMode="auto">
          <a:xfrm>
            <a:off x="2286000" y="1176754"/>
            <a:ext cx="0" cy="4081046"/>
          </a:xfrm>
          <a:prstGeom prst="line">
            <a:avLst/>
          </a:prstGeom>
          <a:solidFill>
            <a:srgbClr val="9999FF"/>
          </a:solidFill>
          <a:ln w="57150" cap="flat" cmpd="sng" algn="ctr">
            <a:solidFill>
              <a:srgbClr val="FFFFFF"/>
            </a:solidFill>
            <a:prstDash val="sysDot"/>
            <a:round/>
            <a:headEnd type="none" w="med" len="med"/>
            <a:tailEnd type="none" w="med" len="med"/>
          </a:ln>
          <a:effectLst/>
        </p:spPr>
      </p:cxnSp>
      <p:sp>
        <p:nvSpPr>
          <p:cNvPr id="7" name="TextBox 6">
            <a:extLst>
              <a:ext uri="{FF2B5EF4-FFF2-40B4-BE49-F238E27FC236}">
                <a16:creationId xmlns:a16="http://schemas.microsoft.com/office/drawing/2014/main" id="{0D90E9BD-1D69-41E7-82C8-A59F9071E2EE}"/>
              </a:ext>
            </a:extLst>
          </p:cNvPr>
          <p:cNvSpPr txBox="1"/>
          <p:nvPr/>
        </p:nvSpPr>
        <p:spPr>
          <a:xfrm>
            <a:off x="640080" y="1417320"/>
            <a:ext cx="3291840" cy="338554"/>
          </a:xfrm>
          <a:prstGeom prst="rect">
            <a:avLst/>
          </a:prstGeom>
          <a:solidFill>
            <a:srgbClr val="FFFFFF"/>
          </a:solidFill>
          <a:ln>
            <a:solidFill>
              <a:srgbClr val="00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Petroleum fire</a:t>
            </a:r>
          </a:p>
        </p:txBody>
      </p:sp>
      <p:sp>
        <p:nvSpPr>
          <p:cNvPr id="10" name="TextBox 9">
            <a:extLst>
              <a:ext uri="{FF2B5EF4-FFF2-40B4-BE49-F238E27FC236}">
                <a16:creationId xmlns:a16="http://schemas.microsoft.com/office/drawing/2014/main" id="{4867D4FD-CD35-4594-9EFE-6C2E33177F59}"/>
              </a:ext>
            </a:extLst>
          </p:cNvPr>
          <p:cNvSpPr txBox="1"/>
          <p:nvPr/>
        </p:nvSpPr>
        <p:spPr>
          <a:xfrm>
            <a:off x="640080" y="2057400"/>
            <a:ext cx="3291840" cy="338554"/>
          </a:xfrm>
          <a:prstGeom prst="rect">
            <a:avLst/>
          </a:prstGeom>
          <a:solidFill>
            <a:srgbClr val="FFFFFF"/>
          </a:solidFill>
          <a:ln>
            <a:solidFill>
              <a:srgbClr val="00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Petrol released from pump casing</a:t>
            </a:r>
          </a:p>
        </p:txBody>
      </p:sp>
      <p:sp>
        <p:nvSpPr>
          <p:cNvPr id="11" name="TextBox 10">
            <a:extLst>
              <a:ext uri="{FF2B5EF4-FFF2-40B4-BE49-F238E27FC236}">
                <a16:creationId xmlns:a16="http://schemas.microsoft.com/office/drawing/2014/main" id="{AEA8C77B-3D5F-4E56-973A-BE696B607AF1}"/>
              </a:ext>
            </a:extLst>
          </p:cNvPr>
          <p:cNvSpPr txBox="1"/>
          <p:nvPr/>
        </p:nvSpPr>
        <p:spPr>
          <a:xfrm>
            <a:off x="640080" y="2697480"/>
            <a:ext cx="3291840" cy="338554"/>
          </a:xfrm>
          <a:prstGeom prst="rect">
            <a:avLst/>
          </a:prstGeom>
          <a:solidFill>
            <a:srgbClr val="FFFF00"/>
          </a:solidFill>
          <a:ln>
            <a:solidFill>
              <a:srgbClr val="00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Pump casing corroded (failed)</a:t>
            </a:r>
          </a:p>
        </p:txBody>
      </p:sp>
      <p:sp>
        <p:nvSpPr>
          <p:cNvPr id="12" name="TextBox 11">
            <a:extLst>
              <a:ext uri="{FF2B5EF4-FFF2-40B4-BE49-F238E27FC236}">
                <a16:creationId xmlns:a16="http://schemas.microsoft.com/office/drawing/2014/main" id="{3656C491-87A8-430F-BFBA-2C14F19E6625}"/>
              </a:ext>
            </a:extLst>
          </p:cNvPr>
          <p:cNvSpPr txBox="1"/>
          <p:nvPr/>
        </p:nvSpPr>
        <p:spPr>
          <a:xfrm>
            <a:off x="640080" y="3337560"/>
            <a:ext cx="3291840" cy="338554"/>
          </a:xfrm>
          <a:prstGeom prst="rect">
            <a:avLst/>
          </a:prstGeom>
          <a:solidFill>
            <a:srgbClr val="FFFFFF"/>
          </a:solidFill>
          <a:ln>
            <a:solidFill>
              <a:srgbClr val="00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Casing material was incompatible</a:t>
            </a:r>
          </a:p>
        </p:txBody>
      </p:sp>
      <p:sp>
        <p:nvSpPr>
          <p:cNvPr id="13" name="TextBox 12">
            <a:extLst>
              <a:ext uri="{FF2B5EF4-FFF2-40B4-BE49-F238E27FC236}">
                <a16:creationId xmlns:a16="http://schemas.microsoft.com/office/drawing/2014/main" id="{9A34E4E3-FBD8-4349-ACEA-8E730FC6550D}"/>
              </a:ext>
            </a:extLst>
          </p:cNvPr>
          <p:cNvSpPr txBox="1"/>
          <p:nvPr/>
        </p:nvSpPr>
        <p:spPr>
          <a:xfrm>
            <a:off x="640080" y="3977640"/>
            <a:ext cx="3291840" cy="338554"/>
          </a:xfrm>
          <a:prstGeom prst="rect">
            <a:avLst/>
          </a:prstGeom>
          <a:solidFill>
            <a:srgbClr val="FFFFFF"/>
          </a:solidFill>
          <a:ln>
            <a:solidFill>
              <a:srgbClr val="00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Improper material was used</a:t>
            </a:r>
          </a:p>
        </p:txBody>
      </p:sp>
      <p:sp>
        <p:nvSpPr>
          <p:cNvPr id="14" name="TextBox 13">
            <a:extLst>
              <a:ext uri="{FF2B5EF4-FFF2-40B4-BE49-F238E27FC236}">
                <a16:creationId xmlns:a16="http://schemas.microsoft.com/office/drawing/2014/main" id="{23681B1E-7FDB-4CBE-9547-FA117CD33585}"/>
              </a:ext>
            </a:extLst>
          </p:cNvPr>
          <p:cNvSpPr txBox="1"/>
          <p:nvPr/>
        </p:nvSpPr>
        <p:spPr>
          <a:xfrm>
            <a:off x="640080" y="4617720"/>
            <a:ext cx="3291840" cy="338554"/>
          </a:xfrm>
          <a:prstGeom prst="rect">
            <a:avLst/>
          </a:prstGeom>
          <a:solidFill>
            <a:srgbClr val="FFFF00"/>
          </a:solidFill>
          <a:ln>
            <a:solidFill>
              <a:srgbClr val="00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Pump design was incorrect</a:t>
            </a:r>
          </a:p>
        </p:txBody>
      </p:sp>
      <p:sp>
        <p:nvSpPr>
          <p:cNvPr id="15" name="TextBox 14">
            <a:extLst>
              <a:ext uri="{FF2B5EF4-FFF2-40B4-BE49-F238E27FC236}">
                <a16:creationId xmlns:a16="http://schemas.microsoft.com/office/drawing/2014/main" id="{A84E4193-5EDC-4AA6-A9F9-BA222D66A629}"/>
              </a:ext>
            </a:extLst>
          </p:cNvPr>
          <p:cNvSpPr txBox="1"/>
          <p:nvPr/>
        </p:nvSpPr>
        <p:spPr>
          <a:xfrm>
            <a:off x="640080" y="5257800"/>
            <a:ext cx="3291840" cy="830997"/>
          </a:xfrm>
          <a:prstGeom prst="rect">
            <a:avLst/>
          </a:prstGeom>
          <a:solidFill>
            <a:srgbClr val="FFFF00"/>
          </a:solidFill>
          <a:ln>
            <a:solidFill>
              <a:srgbClr val="00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The refinery </a:t>
            </a:r>
            <a:r>
              <a:rPr kumimoji="0" lang="en-US" sz="1600" b="0" i="0" u="none" strike="noStrike" kern="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design program did not include a standard </a:t>
            </a:r>
            <a:r>
              <a:rPr lang="en-US" sz="1600" b="0" kern="0" dirty="0" smtClean="0">
                <a:solidFill>
                  <a:srgbClr val="000000"/>
                </a:solidFill>
                <a:latin typeface="Arial" panose="020B0604020202020204" pitchFamily="34" charset="0"/>
                <a:cs typeface="Arial" panose="020B0604020202020204" pitchFamily="34" charset="0"/>
              </a:rPr>
              <a:t>to </a:t>
            </a:r>
            <a:r>
              <a:rPr kumimoji="0" lang="en-US" sz="1600" b="0" i="0" u="none" strike="noStrike" kern="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design </a:t>
            </a:r>
            <a:r>
              <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pumps </a:t>
            </a:r>
            <a:r>
              <a:rPr kumimoji="0" lang="en-US" sz="1600" b="0" i="0" u="none" strike="noStrike" kern="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for this</a:t>
            </a:r>
            <a:r>
              <a:rPr kumimoji="0" lang="en-US" sz="1600" b="0" i="0" u="none" strike="noStrike" kern="0" cap="none" spc="0" normalizeH="0" noProof="0" dirty="0" smtClean="0">
                <a:ln>
                  <a:noFill/>
                </a:ln>
                <a:solidFill>
                  <a:srgbClr val="000000"/>
                </a:solidFill>
                <a:effectLst/>
                <a:uLnTx/>
                <a:uFillTx/>
                <a:latin typeface="Arial" panose="020B0604020202020204" pitchFamily="34" charset="0"/>
                <a:ea typeface="+mn-ea"/>
                <a:cs typeface="Arial" panose="020B0604020202020204" pitchFamily="34" charset="0"/>
              </a:rPr>
              <a:t> process service</a:t>
            </a:r>
            <a:endPar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6" name="TextBox 15">
            <a:extLst>
              <a:ext uri="{FF2B5EF4-FFF2-40B4-BE49-F238E27FC236}">
                <a16:creationId xmlns:a16="http://schemas.microsoft.com/office/drawing/2014/main" id="{D2B36200-534F-44BD-8A54-820E467D50E2}"/>
              </a:ext>
            </a:extLst>
          </p:cNvPr>
          <p:cNvSpPr txBox="1"/>
          <p:nvPr/>
        </p:nvSpPr>
        <p:spPr>
          <a:xfrm>
            <a:off x="640080" y="838200"/>
            <a:ext cx="3291840" cy="338554"/>
          </a:xfrm>
          <a:prstGeom prst="rect">
            <a:avLst/>
          </a:prstGeom>
          <a:solidFill>
            <a:srgbClr val="FFFFFF"/>
          </a:solidFill>
          <a:ln>
            <a:solidFill>
              <a:srgbClr val="000000"/>
            </a:solidFill>
          </a:ln>
        </p:spPr>
        <p:txBody>
          <a:bodyPr wrap="square" rtlCol="0">
            <a:spAutoFit/>
          </a:bodyPr>
          <a:lstStyle>
            <a:defPPr>
              <a:defRPr lang="en-US"/>
            </a:defPPr>
            <a:lvl1pPr algn="ctr">
              <a:defRPr sz="1600">
                <a:solidFill>
                  <a:schemeClr val="bg2"/>
                </a:solidFill>
                <a:latin typeface="Arial" panose="020B0604020202020204"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sng"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LOSS INCIDENT</a:t>
            </a:r>
          </a:p>
        </p:txBody>
      </p:sp>
      <p:sp>
        <p:nvSpPr>
          <p:cNvPr id="17" name="TextBox 16">
            <a:extLst>
              <a:ext uri="{FF2B5EF4-FFF2-40B4-BE49-F238E27FC236}">
                <a16:creationId xmlns:a16="http://schemas.microsoft.com/office/drawing/2014/main" id="{173C0635-A3CB-4344-A972-5302C440F422}"/>
              </a:ext>
            </a:extLst>
          </p:cNvPr>
          <p:cNvSpPr txBox="1"/>
          <p:nvPr/>
        </p:nvSpPr>
        <p:spPr>
          <a:xfrm>
            <a:off x="4419600" y="1295400"/>
            <a:ext cx="4191000" cy="672525"/>
          </a:xfrm>
          <a:prstGeom prst="leftArrow">
            <a:avLst/>
          </a:prstGeom>
          <a:solidFill>
            <a:srgbClr val="CCFFCC"/>
          </a:solidFill>
          <a:ln>
            <a:solidFill>
              <a:srgbClr val="00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Incident description</a:t>
            </a:r>
          </a:p>
        </p:txBody>
      </p:sp>
      <p:sp>
        <p:nvSpPr>
          <p:cNvPr id="18" name="TextBox 17">
            <a:extLst>
              <a:ext uri="{FF2B5EF4-FFF2-40B4-BE49-F238E27FC236}">
                <a16:creationId xmlns:a16="http://schemas.microsoft.com/office/drawing/2014/main" id="{09F540C4-D851-4948-9144-A24DF77D8340}"/>
              </a:ext>
            </a:extLst>
          </p:cNvPr>
          <p:cNvSpPr txBox="1"/>
          <p:nvPr/>
        </p:nvSpPr>
        <p:spPr>
          <a:xfrm>
            <a:off x="4419600" y="1935480"/>
            <a:ext cx="4191000" cy="672525"/>
          </a:xfrm>
          <a:prstGeom prst="leftArrow">
            <a:avLst/>
          </a:prstGeom>
          <a:solidFill>
            <a:srgbClr val="CCFFCC"/>
          </a:solidFill>
          <a:ln>
            <a:solidFill>
              <a:srgbClr val="00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Intermediate / triggering event</a:t>
            </a:r>
            <a:endPar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9" name="TextBox 18">
            <a:extLst>
              <a:ext uri="{FF2B5EF4-FFF2-40B4-BE49-F238E27FC236}">
                <a16:creationId xmlns:a16="http://schemas.microsoft.com/office/drawing/2014/main" id="{FAE2E7A2-39F4-4154-9B24-2A909524829C}"/>
              </a:ext>
            </a:extLst>
          </p:cNvPr>
          <p:cNvSpPr txBox="1"/>
          <p:nvPr/>
        </p:nvSpPr>
        <p:spPr>
          <a:xfrm>
            <a:off x="4419600" y="2575560"/>
            <a:ext cx="4191000" cy="672525"/>
          </a:xfrm>
          <a:prstGeom prst="leftArrow">
            <a:avLst/>
          </a:prstGeom>
          <a:solidFill>
            <a:srgbClr val="CCFFCC"/>
          </a:solidFill>
          <a:ln>
            <a:solidFill>
              <a:srgbClr val="00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IC: Sub-standard condition</a:t>
            </a:r>
          </a:p>
        </p:txBody>
      </p:sp>
      <p:sp>
        <p:nvSpPr>
          <p:cNvPr id="20" name="TextBox 19">
            <a:extLst>
              <a:ext uri="{FF2B5EF4-FFF2-40B4-BE49-F238E27FC236}">
                <a16:creationId xmlns:a16="http://schemas.microsoft.com/office/drawing/2014/main" id="{B1F2CE11-419B-4068-876B-1D4883344F86}"/>
              </a:ext>
            </a:extLst>
          </p:cNvPr>
          <p:cNvSpPr txBox="1"/>
          <p:nvPr/>
        </p:nvSpPr>
        <p:spPr>
          <a:xfrm>
            <a:off x="4419600" y="3215640"/>
            <a:ext cx="4191000" cy="672525"/>
          </a:xfrm>
          <a:prstGeom prst="leftArrow">
            <a:avLst/>
          </a:prstGeom>
          <a:solidFill>
            <a:srgbClr val="CCFFCC"/>
          </a:solidFill>
          <a:ln>
            <a:solidFill>
              <a:srgbClr val="00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intermediate</a:t>
            </a:r>
          </a:p>
        </p:txBody>
      </p:sp>
      <p:sp>
        <p:nvSpPr>
          <p:cNvPr id="21" name="TextBox 20">
            <a:extLst>
              <a:ext uri="{FF2B5EF4-FFF2-40B4-BE49-F238E27FC236}">
                <a16:creationId xmlns:a16="http://schemas.microsoft.com/office/drawing/2014/main" id="{0351B377-A90C-4AEF-8A43-7B2497142024}"/>
              </a:ext>
            </a:extLst>
          </p:cNvPr>
          <p:cNvSpPr txBox="1"/>
          <p:nvPr/>
        </p:nvSpPr>
        <p:spPr>
          <a:xfrm>
            <a:off x="4419600" y="3855720"/>
            <a:ext cx="4191000" cy="672525"/>
          </a:xfrm>
          <a:prstGeom prst="leftArrow">
            <a:avLst/>
          </a:prstGeom>
          <a:solidFill>
            <a:srgbClr val="CCFFCC"/>
          </a:solidFill>
          <a:ln>
            <a:solidFill>
              <a:srgbClr val="00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intermediate</a:t>
            </a:r>
          </a:p>
        </p:txBody>
      </p:sp>
      <p:sp>
        <p:nvSpPr>
          <p:cNvPr id="22" name="TextBox 21">
            <a:extLst>
              <a:ext uri="{FF2B5EF4-FFF2-40B4-BE49-F238E27FC236}">
                <a16:creationId xmlns:a16="http://schemas.microsoft.com/office/drawing/2014/main" id="{6E5553D4-7E7F-4B72-9DA0-6481652B4994}"/>
              </a:ext>
            </a:extLst>
          </p:cNvPr>
          <p:cNvSpPr txBox="1"/>
          <p:nvPr/>
        </p:nvSpPr>
        <p:spPr>
          <a:xfrm>
            <a:off x="4419600" y="4495800"/>
            <a:ext cx="4191000" cy="672525"/>
          </a:xfrm>
          <a:prstGeom prst="leftArrow">
            <a:avLst/>
          </a:prstGeom>
          <a:solidFill>
            <a:srgbClr val="CCFFCC"/>
          </a:solidFill>
          <a:ln>
            <a:solidFill>
              <a:srgbClr val="00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BC: Design – inadequate tech. design  </a:t>
            </a:r>
          </a:p>
        </p:txBody>
      </p:sp>
      <p:sp>
        <p:nvSpPr>
          <p:cNvPr id="23" name="TextBox 22">
            <a:extLst>
              <a:ext uri="{FF2B5EF4-FFF2-40B4-BE49-F238E27FC236}">
                <a16:creationId xmlns:a16="http://schemas.microsoft.com/office/drawing/2014/main" id="{1232868B-221B-4B1A-8545-E441EF46318E}"/>
              </a:ext>
            </a:extLst>
          </p:cNvPr>
          <p:cNvSpPr txBox="1"/>
          <p:nvPr/>
        </p:nvSpPr>
        <p:spPr>
          <a:xfrm>
            <a:off x="4419600" y="5271075"/>
            <a:ext cx="4191000" cy="672525"/>
          </a:xfrm>
          <a:prstGeom prst="leftArrow">
            <a:avLst/>
          </a:prstGeom>
          <a:solidFill>
            <a:srgbClr val="99FF99"/>
          </a:solidFill>
          <a:ln w="57150">
            <a:solidFill>
              <a:srgbClr val="FFFF00"/>
            </a:solidFill>
          </a:ln>
        </p:spPr>
        <p:txBody>
          <a:bodyPr wrap="square" rtlCol="0">
            <a:spAutoFit/>
          </a:bodyPr>
          <a:lstStyle>
            <a:defPPr>
              <a:defRPr lang="en-US"/>
            </a:defPPr>
            <a:lvl1pPr algn="ctr">
              <a:defRPr sz="1600">
                <a:solidFill>
                  <a:schemeClr val="bg2"/>
                </a:solidFill>
                <a:latin typeface="Arial" panose="020B0604020202020204"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i="0" u="none" strike="noStrike" kern="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LC-S: </a:t>
            </a:r>
            <a:r>
              <a:rPr kumimoji="0" lang="en-US" sz="1600" i="0" u="none" strike="noStrike" kern="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RME#7 </a:t>
            </a:r>
            <a:r>
              <a:rPr kumimoji="0" lang="en-US" sz="160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DC&amp;SU</a:t>
            </a:r>
          </a:p>
        </p:txBody>
      </p:sp>
      <p:sp>
        <p:nvSpPr>
          <p:cNvPr id="24" name="TextBox 23">
            <a:extLst>
              <a:ext uri="{FF2B5EF4-FFF2-40B4-BE49-F238E27FC236}">
                <a16:creationId xmlns:a16="http://schemas.microsoft.com/office/drawing/2014/main" id="{0A7173F6-47C8-47C4-9F51-EC04D9641316}"/>
              </a:ext>
            </a:extLst>
          </p:cNvPr>
          <p:cNvSpPr txBox="1"/>
          <p:nvPr/>
        </p:nvSpPr>
        <p:spPr>
          <a:xfrm>
            <a:off x="4419600" y="838200"/>
            <a:ext cx="4191000" cy="338554"/>
          </a:xfrm>
          <a:prstGeom prst="rect">
            <a:avLst/>
          </a:prstGeom>
          <a:solidFill>
            <a:srgbClr val="CCFFCC"/>
          </a:solidFill>
          <a:ln>
            <a:solidFill>
              <a:srgbClr val="00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sng"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CATEGORIES</a:t>
            </a:r>
          </a:p>
        </p:txBody>
      </p:sp>
    </p:spTree>
    <p:extLst>
      <p:ext uri="{BB962C8B-B14F-4D97-AF65-F5344CB8AC3E}">
        <p14:creationId xmlns:p14="http://schemas.microsoft.com/office/powerpoint/2010/main" val="1262642594"/>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chemeClr val="tx1"/>
          </a:solidFill>
          <a:ln>
            <a:solidFill>
              <a:schemeClr val="tx1"/>
            </a:solidFill>
          </a:ln>
        </p:spPr>
        <p:txBody>
          <a:bodyPr wrap="square" anchor="ctr" anchorCtr="0">
            <a:noAutofit/>
          </a:bodyPr>
          <a:lstStyle/>
          <a:p>
            <a:pPr>
              <a:spcBef>
                <a:spcPts val="0"/>
              </a:spcBef>
              <a:spcAft>
                <a:spcPts val="0"/>
              </a:spcAft>
            </a:pPr>
            <a:r>
              <a:rPr lang="en-CA" alt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Example: What </a:t>
            </a:r>
            <a:r>
              <a:rPr lang="en-CA" alt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are some recommendations on the Causes?</a:t>
            </a:r>
          </a:p>
        </p:txBody>
      </p:sp>
      <p:sp>
        <p:nvSpPr>
          <p:cNvPr id="8" name="Slide Number Placeholder 1"/>
          <p:cNvSpPr txBox="1">
            <a:spLocks noGrp="1"/>
          </p:cNvSpPr>
          <p:nvPr/>
        </p:nvSpPr>
        <p:spPr bwMode="auto">
          <a:xfrm>
            <a:off x="8280000" y="6477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1"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6" name="Rectangle 3"/>
          <p:cNvSpPr>
            <a:spLocks noChangeArrowheads="1"/>
          </p:cNvSpPr>
          <p:nvPr/>
        </p:nvSpPr>
        <p:spPr bwMode="auto">
          <a:xfrm>
            <a:off x="180000" y="828000"/>
            <a:ext cx="8640000" cy="5328000"/>
          </a:xfrm>
          <a:prstGeom prst="rect">
            <a:avLst/>
          </a:prstGeom>
          <a:solidFill>
            <a:schemeClr val="tx1"/>
          </a:solidFill>
          <a:ln>
            <a:solidFill>
              <a:schemeClr val="tx1"/>
            </a:solidFill>
          </a:ln>
        </p:spPr>
        <p:txBody>
          <a:bodyPr wrap="square">
            <a:noAutofit/>
          </a:bodyPr>
          <a:lstStyle/>
          <a:p>
            <a:pPr>
              <a:spcBef>
                <a:spcPts val="0"/>
              </a:spcBef>
              <a:spcAft>
                <a:spcPts val="0"/>
              </a:spcAft>
            </a:pPr>
            <a:endParaRPr lang="en-US" alt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cxnSp>
        <p:nvCxnSpPr>
          <p:cNvPr id="7" name="Straight Connector 6">
            <a:extLst>
              <a:ext uri="{FF2B5EF4-FFF2-40B4-BE49-F238E27FC236}">
                <a16:creationId xmlns:a16="http://schemas.microsoft.com/office/drawing/2014/main" id="{FBA30691-95AA-4FEA-9547-B494F46013B8}"/>
              </a:ext>
            </a:extLst>
          </p:cNvPr>
          <p:cNvCxnSpPr>
            <a:stCxn id="17" idx="2"/>
            <a:endCxn id="16" idx="0"/>
          </p:cNvCxnSpPr>
          <p:nvPr/>
        </p:nvCxnSpPr>
        <p:spPr bwMode="auto">
          <a:xfrm>
            <a:off x="2286000" y="1214140"/>
            <a:ext cx="0" cy="4053840"/>
          </a:xfrm>
          <a:prstGeom prst="line">
            <a:avLst/>
          </a:prstGeom>
          <a:solidFill>
            <a:srgbClr val="9999FF"/>
          </a:solidFill>
          <a:ln w="57150" cap="flat" cmpd="sng" algn="ctr">
            <a:solidFill>
              <a:schemeClr val="bg1"/>
            </a:solidFill>
            <a:prstDash val="sysDot"/>
            <a:round/>
            <a:headEnd type="none" w="med" len="med"/>
            <a:tailEnd type="none" w="med" len="med"/>
          </a:ln>
          <a:effectLst/>
        </p:spPr>
      </p:cxnSp>
      <p:sp>
        <p:nvSpPr>
          <p:cNvPr id="10" name="TextBox 9">
            <a:extLst>
              <a:ext uri="{FF2B5EF4-FFF2-40B4-BE49-F238E27FC236}">
                <a16:creationId xmlns:a16="http://schemas.microsoft.com/office/drawing/2014/main" id="{5E782F49-E031-44EC-A4B9-0C0730B83A14}"/>
              </a:ext>
            </a:extLst>
          </p:cNvPr>
          <p:cNvSpPr txBox="1"/>
          <p:nvPr/>
        </p:nvSpPr>
        <p:spPr>
          <a:xfrm>
            <a:off x="640080" y="1427500"/>
            <a:ext cx="3291840" cy="36576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Petroleum fire</a:t>
            </a:r>
          </a:p>
        </p:txBody>
      </p:sp>
      <p:sp>
        <p:nvSpPr>
          <p:cNvPr id="11" name="TextBox 10">
            <a:extLst>
              <a:ext uri="{FF2B5EF4-FFF2-40B4-BE49-F238E27FC236}">
                <a16:creationId xmlns:a16="http://schemas.microsoft.com/office/drawing/2014/main" id="{D0C20258-625D-4571-A4A0-DFD1FEBCCA9A}"/>
              </a:ext>
            </a:extLst>
          </p:cNvPr>
          <p:cNvSpPr txBox="1"/>
          <p:nvPr/>
        </p:nvSpPr>
        <p:spPr>
          <a:xfrm>
            <a:off x="640080" y="2067580"/>
            <a:ext cx="3291840" cy="36576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Petrol released from pump casing</a:t>
            </a:r>
          </a:p>
        </p:txBody>
      </p:sp>
      <p:sp>
        <p:nvSpPr>
          <p:cNvPr id="12" name="TextBox 11">
            <a:extLst>
              <a:ext uri="{FF2B5EF4-FFF2-40B4-BE49-F238E27FC236}">
                <a16:creationId xmlns:a16="http://schemas.microsoft.com/office/drawing/2014/main" id="{84E6BEDB-0395-47CF-BE8E-0FED3D107750}"/>
              </a:ext>
            </a:extLst>
          </p:cNvPr>
          <p:cNvSpPr txBox="1"/>
          <p:nvPr/>
        </p:nvSpPr>
        <p:spPr>
          <a:xfrm>
            <a:off x="640080" y="2707660"/>
            <a:ext cx="3291840" cy="338554"/>
          </a:xfrm>
          <a:prstGeom prst="rect">
            <a:avLst/>
          </a:prstGeom>
          <a:solidFill>
            <a:srgbClr val="FFFF00"/>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Pump casing corroded (failed)</a:t>
            </a:r>
          </a:p>
        </p:txBody>
      </p:sp>
      <p:sp>
        <p:nvSpPr>
          <p:cNvPr id="13" name="TextBox 12">
            <a:extLst>
              <a:ext uri="{FF2B5EF4-FFF2-40B4-BE49-F238E27FC236}">
                <a16:creationId xmlns:a16="http://schemas.microsoft.com/office/drawing/2014/main" id="{BE5F168D-248F-440F-8D7C-7822F687C487}"/>
              </a:ext>
            </a:extLst>
          </p:cNvPr>
          <p:cNvSpPr txBox="1"/>
          <p:nvPr/>
        </p:nvSpPr>
        <p:spPr>
          <a:xfrm>
            <a:off x="640080" y="3347740"/>
            <a:ext cx="3291840" cy="36576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Casing material was incompatible</a:t>
            </a:r>
          </a:p>
        </p:txBody>
      </p:sp>
      <p:sp>
        <p:nvSpPr>
          <p:cNvPr id="14" name="TextBox 13">
            <a:extLst>
              <a:ext uri="{FF2B5EF4-FFF2-40B4-BE49-F238E27FC236}">
                <a16:creationId xmlns:a16="http://schemas.microsoft.com/office/drawing/2014/main" id="{38DF5A59-99DC-42AB-B861-FAE0E75B0126}"/>
              </a:ext>
            </a:extLst>
          </p:cNvPr>
          <p:cNvSpPr txBox="1"/>
          <p:nvPr/>
        </p:nvSpPr>
        <p:spPr>
          <a:xfrm>
            <a:off x="640080" y="3987820"/>
            <a:ext cx="3291840" cy="36576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Improper material was used</a:t>
            </a:r>
          </a:p>
        </p:txBody>
      </p:sp>
      <p:sp>
        <p:nvSpPr>
          <p:cNvPr id="15" name="TextBox 14">
            <a:extLst>
              <a:ext uri="{FF2B5EF4-FFF2-40B4-BE49-F238E27FC236}">
                <a16:creationId xmlns:a16="http://schemas.microsoft.com/office/drawing/2014/main" id="{BCDC09E9-AE6E-475D-87A4-C36FD4D5A4E0}"/>
              </a:ext>
            </a:extLst>
          </p:cNvPr>
          <p:cNvSpPr txBox="1"/>
          <p:nvPr/>
        </p:nvSpPr>
        <p:spPr>
          <a:xfrm>
            <a:off x="640080" y="4627900"/>
            <a:ext cx="3291840" cy="365760"/>
          </a:xfrm>
          <a:prstGeom prst="rect">
            <a:avLst/>
          </a:prstGeom>
          <a:solidFill>
            <a:srgbClr val="FFFF00"/>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Pump design was incorrect</a:t>
            </a:r>
          </a:p>
        </p:txBody>
      </p:sp>
      <p:sp>
        <p:nvSpPr>
          <p:cNvPr id="16" name="TextBox 15">
            <a:extLst>
              <a:ext uri="{FF2B5EF4-FFF2-40B4-BE49-F238E27FC236}">
                <a16:creationId xmlns:a16="http://schemas.microsoft.com/office/drawing/2014/main" id="{6F937B0E-C221-478A-9B2F-D04F74D1BAC7}"/>
              </a:ext>
            </a:extLst>
          </p:cNvPr>
          <p:cNvSpPr txBox="1"/>
          <p:nvPr/>
        </p:nvSpPr>
        <p:spPr>
          <a:xfrm>
            <a:off x="640080" y="5267980"/>
            <a:ext cx="3291840" cy="830997"/>
          </a:xfrm>
          <a:prstGeom prst="rect">
            <a:avLst/>
          </a:prstGeom>
          <a:solidFill>
            <a:srgbClr val="FFFF00"/>
          </a:solidFill>
          <a:ln>
            <a:solidFill>
              <a:schemeClr val="tx1"/>
            </a:solidFill>
          </a:ln>
        </p:spPr>
        <p:txBody>
          <a:bodyPr wrap="square" rtlCol="0">
            <a:spAutoFit/>
          </a:bodyPr>
          <a:lstStyle/>
          <a:p>
            <a:pPr lvl="0" algn="ctr" fontAlgn="auto">
              <a:spcBef>
                <a:spcPts val="0"/>
              </a:spcBef>
              <a:spcAft>
                <a:spcPts val="0"/>
              </a:spcAft>
              <a:defRPr/>
            </a:pPr>
            <a:r>
              <a:rPr lang="en-US" sz="1600" b="0" kern="0" dirty="0">
                <a:solidFill>
                  <a:srgbClr val="00007D"/>
                </a:solidFill>
                <a:latin typeface="Arial" panose="020B0604020202020204" pitchFamily="34" charset="0"/>
                <a:cs typeface="Arial" panose="020B0604020202020204" pitchFamily="34" charset="0"/>
              </a:rPr>
              <a:t>The refinery design program did not include a standard to design pumps for this process service</a:t>
            </a:r>
            <a:endParaRPr lang="en-US" sz="1600" b="0" kern="0" dirty="0">
              <a:solidFill>
                <a:srgbClr val="00007D"/>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DD1F102B-CF61-415B-A281-08651BD4BCC2}"/>
              </a:ext>
            </a:extLst>
          </p:cNvPr>
          <p:cNvSpPr txBox="1"/>
          <p:nvPr/>
        </p:nvSpPr>
        <p:spPr>
          <a:xfrm>
            <a:off x="640080" y="848380"/>
            <a:ext cx="3291840" cy="365760"/>
          </a:xfrm>
          <a:prstGeom prst="rect">
            <a:avLst/>
          </a:prstGeom>
          <a:solidFill>
            <a:srgbClr val="FFFFFF"/>
          </a:solidFill>
          <a:ln>
            <a:solidFill>
              <a:schemeClr val="tx1"/>
            </a:solidFill>
          </a:ln>
        </p:spPr>
        <p:txBody>
          <a:bodyPr wrap="square" rtlCol="0">
            <a:spAutoFit/>
          </a:bodyPr>
          <a:lstStyle>
            <a:defPPr>
              <a:defRPr lang="en-US"/>
            </a:defPPr>
            <a:lvl1pPr algn="ctr">
              <a:defRPr sz="1600">
                <a:solidFill>
                  <a:schemeClr val="bg2"/>
                </a:solidFill>
                <a:latin typeface="Arial" panose="020B0604020202020204"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sng"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LOSS INCIDENT</a:t>
            </a:r>
          </a:p>
        </p:txBody>
      </p:sp>
      <p:sp>
        <p:nvSpPr>
          <p:cNvPr id="21" name="TextBox 20">
            <a:extLst>
              <a:ext uri="{FF2B5EF4-FFF2-40B4-BE49-F238E27FC236}">
                <a16:creationId xmlns:a16="http://schemas.microsoft.com/office/drawing/2014/main" id="{0F74F0D8-45AA-4424-A9EF-96CDBEE56F55}"/>
              </a:ext>
            </a:extLst>
          </p:cNvPr>
          <p:cNvSpPr txBox="1"/>
          <p:nvPr/>
        </p:nvSpPr>
        <p:spPr>
          <a:xfrm>
            <a:off x="4389120" y="848380"/>
            <a:ext cx="4114800" cy="338554"/>
          </a:xfrm>
          <a:prstGeom prst="rect">
            <a:avLst/>
          </a:prstGeom>
          <a:solidFill>
            <a:srgbClr val="FFFF00"/>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sng" strike="noStrike" kern="0" cap="none" spc="0" normalizeH="0" baseline="0" noProof="0" dirty="0" smtClean="0">
                <a:ln>
                  <a:noFill/>
                </a:ln>
                <a:solidFill>
                  <a:srgbClr val="00007D"/>
                </a:solidFill>
                <a:effectLst/>
                <a:uLnTx/>
                <a:uFillTx/>
                <a:latin typeface="Arial" panose="020B0604020202020204" pitchFamily="34" charset="0"/>
                <a:ea typeface="+mn-ea"/>
                <a:cs typeface="Arial" panose="020B0604020202020204" pitchFamily="34" charset="0"/>
              </a:rPr>
              <a:t>RECOMMENDATIONS</a:t>
            </a:r>
            <a:endParaRPr kumimoji="0" lang="en-US" sz="1600" b="1" i="0" u="sng"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endParaRPr>
          </a:p>
        </p:txBody>
      </p:sp>
      <p:sp>
        <p:nvSpPr>
          <p:cNvPr id="25"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4.5: Linking Latent Causes to Recommendations</a:t>
            </a:r>
          </a:p>
        </p:txBody>
      </p:sp>
      <p:sp>
        <p:nvSpPr>
          <p:cNvPr id="18" name="TextBox 17">
            <a:extLst>
              <a:ext uri="{FF2B5EF4-FFF2-40B4-BE49-F238E27FC236}">
                <a16:creationId xmlns:a16="http://schemas.microsoft.com/office/drawing/2014/main" id="{0F74F0D8-45AA-4424-A9EF-96CDBEE56F55}"/>
              </a:ext>
            </a:extLst>
          </p:cNvPr>
          <p:cNvSpPr txBox="1"/>
          <p:nvPr/>
        </p:nvSpPr>
        <p:spPr>
          <a:xfrm>
            <a:off x="5366520" y="2467900"/>
            <a:ext cx="2160000" cy="2160000"/>
          </a:xfrm>
          <a:prstGeom prst="rect">
            <a:avLst/>
          </a:prstGeom>
          <a:solidFill>
            <a:srgbClr val="FFFF00"/>
          </a:solidFill>
          <a:ln>
            <a:solidFill>
              <a:schemeClr val="tx1"/>
            </a:solidFill>
          </a:ln>
        </p:spPr>
        <p:txBody>
          <a:bodyPr wrap="square"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0" kern="0" dirty="0">
                <a:latin typeface="Arial" panose="020B0604020202020204" pitchFamily="34" charset="0"/>
                <a:cs typeface="Arial" panose="020B0604020202020204" pitchFamily="34" charset="0"/>
              </a:rPr>
              <a:t>?</a:t>
            </a:r>
            <a:r>
              <a:rPr kumimoji="0" lang="en-US" sz="8000" b="1" i="0" strike="noStrike" kern="0" cap="none" spc="0" normalizeH="0" baseline="0" noProof="0" dirty="0" smtClean="0">
                <a:ln>
                  <a:noFill/>
                </a:ln>
                <a:effectLst/>
                <a:uLnTx/>
                <a:uFillTx/>
                <a:latin typeface="Arial" panose="020B0604020202020204" pitchFamily="34" charset="0"/>
                <a:ea typeface="+mn-ea"/>
                <a:cs typeface="Arial" panose="020B0604020202020204" pitchFamily="34" charset="0"/>
              </a:rPr>
              <a:t>  </a:t>
            </a:r>
            <a:endParaRPr kumimoji="0" lang="en-US" sz="8000" b="1" i="0" strike="noStrike" kern="0" cap="none" spc="0" normalizeH="0" baseline="0" noProof="0" dirty="0">
              <a:ln>
                <a:noFill/>
              </a:ln>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168930002"/>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rgbClr val="000000"/>
            </a:solidFill>
          </a:ln>
        </p:spPr>
        <p:txBody>
          <a:bodyPr wrap="square"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CA" altLang="en-US" sz="20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Example: Recommendations </a:t>
            </a: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on </a:t>
            </a:r>
            <a:r>
              <a:rPr kumimoji="0" lang="en-CA" altLang="en-US" sz="20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the Causes</a:t>
            </a:r>
            <a:endPar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477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1"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6" name="Rectangle 3"/>
          <p:cNvSpPr>
            <a:spLocks noChangeArrowheads="1"/>
          </p:cNvSpPr>
          <p:nvPr/>
        </p:nvSpPr>
        <p:spPr bwMode="auto">
          <a:xfrm>
            <a:off x="180000" y="828000"/>
            <a:ext cx="8640000" cy="5328000"/>
          </a:xfrm>
          <a:prstGeom prst="rect">
            <a:avLst/>
          </a:prstGeom>
          <a:solidFill>
            <a:schemeClr val="tx1"/>
          </a:solidFill>
          <a:ln w="9525" algn="ctr">
            <a:solidFill>
              <a:schemeClr val="tx1"/>
            </a:solidFill>
            <a:miter lim="800000"/>
            <a:headEnd/>
            <a:tailEnd/>
          </a:ln>
          <a:effectLst/>
        </p:spPr>
        <p:txBody>
          <a:bodyPr/>
          <a:lstStyle/>
          <a:p>
            <a:pPr marL="0" marR="0" lvl="0" indent="0" algn="l" defTabSz="914400" rtl="0" eaLnBrk="0" fontAlgn="base" latinLnBrk="0" hangingPunct="0">
              <a:lnSpc>
                <a:spcPct val="100000"/>
              </a:lnSpc>
              <a:spcBef>
                <a:spcPts val="0"/>
              </a:spcBef>
              <a:spcAft>
                <a:spcPct val="0"/>
              </a:spcAft>
              <a:buClr>
                <a:srgbClr val="000000"/>
              </a:buClr>
              <a:buSzPct val="100000"/>
              <a:buFontTx/>
              <a:buNone/>
              <a:tabLst/>
              <a:defRPr/>
            </a:pP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cxnSp>
        <p:nvCxnSpPr>
          <p:cNvPr id="7" name="Straight Connector 6">
            <a:extLst>
              <a:ext uri="{FF2B5EF4-FFF2-40B4-BE49-F238E27FC236}">
                <a16:creationId xmlns:a16="http://schemas.microsoft.com/office/drawing/2014/main" id="{FBA30691-95AA-4FEA-9547-B494F46013B8}"/>
              </a:ext>
            </a:extLst>
          </p:cNvPr>
          <p:cNvCxnSpPr>
            <a:stCxn id="17" idx="2"/>
            <a:endCxn id="16" idx="0"/>
          </p:cNvCxnSpPr>
          <p:nvPr/>
        </p:nvCxnSpPr>
        <p:spPr bwMode="auto">
          <a:xfrm>
            <a:off x="2286000" y="1214140"/>
            <a:ext cx="0" cy="4053840"/>
          </a:xfrm>
          <a:prstGeom prst="line">
            <a:avLst/>
          </a:prstGeom>
          <a:solidFill>
            <a:srgbClr val="9999FF"/>
          </a:solidFill>
          <a:ln w="57150" cap="flat" cmpd="sng" algn="ctr">
            <a:solidFill>
              <a:srgbClr val="FFFFFF"/>
            </a:solidFill>
            <a:prstDash val="sysDot"/>
            <a:round/>
            <a:headEnd type="none" w="med" len="med"/>
            <a:tailEnd type="none" w="med" len="med"/>
          </a:ln>
          <a:effectLst/>
        </p:spPr>
      </p:cxnSp>
      <p:sp>
        <p:nvSpPr>
          <p:cNvPr id="10" name="TextBox 9">
            <a:extLst>
              <a:ext uri="{FF2B5EF4-FFF2-40B4-BE49-F238E27FC236}">
                <a16:creationId xmlns:a16="http://schemas.microsoft.com/office/drawing/2014/main" id="{5E782F49-E031-44EC-A4B9-0C0730B83A14}"/>
              </a:ext>
            </a:extLst>
          </p:cNvPr>
          <p:cNvSpPr txBox="1"/>
          <p:nvPr/>
        </p:nvSpPr>
        <p:spPr>
          <a:xfrm>
            <a:off x="640080" y="1427500"/>
            <a:ext cx="3291840" cy="365760"/>
          </a:xfrm>
          <a:prstGeom prst="rect">
            <a:avLst/>
          </a:prstGeom>
          <a:solidFill>
            <a:srgbClr val="FFFFFF"/>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Petroleum fire</a:t>
            </a:r>
          </a:p>
        </p:txBody>
      </p:sp>
      <p:sp>
        <p:nvSpPr>
          <p:cNvPr id="11" name="TextBox 10">
            <a:extLst>
              <a:ext uri="{FF2B5EF4-FFF2-40B4-BE49-F238E27FC236}">
                <a16:creationId xmlns:a16="http://schemas.microsoft.com/office/drawing/2014/main" id="{D0C20258-625D-4571-A4A0-DFD1FEBCCA9A}"/>
              </a:ext>
            </a:extLst>
          </p:cNvPr>
          <p:cNvSpPr txBox="1"/>
          <p:nvPr/>
        </p:nvSpPr>
        <p:spPr>
          <a:xfrm>
            <a:off x="640080" y="2067580"/>
            <a:ext cx="3291840" cy="365760"/>
          </a:xfrm>
          <a:prstGeom prst="rect">
            <a:avLst/>
          </a:prstGeom>
          <a:solidFill>
            <a:srgbClr val="FFFFFF"/>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Petrol released from pump casing</a:t>
            </a:r>
          </a:p>
        </p:txBody>
      </p:sp>
      <p:sp>
        <p:nvSpPr>
          <p:cNvPr id="12" name="TextBox 11">
            <a:extLst>
              <a:ext uri="{FF2B5EF4-FFF2-40B4-BE49-F238E27FC236}">
                <a16:creationId xmlns:a16="http://schemas.microsoft.com/office/drawing/2014/main" id="{84E6BEDB-0395-47CF-BE8E-0FED3D107750}"/>
              </a:ext>
            </a:extLst>
          </p:cNvPr>
          <p:cNvSpPr txBox="1"/>
          <p:nvPr/>
        </p:nvSpPr>
        <p:spPr>
          <a:xfrm>
            <a:off x="640080" y="2707660"/>
            <a:ext cx="3291840" cy="338554"/>
          </a:xfrm>
          <a:prstGeom prst="rect">
            <a:avLst/>
          </a:prstGeom>
          <a:solidFill>
            <a:srgbClr val="FFFFFF"/>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Pump casing corroded (failed)</a:t>
            </a:r>
          </a:p>
        </p:txBody>
      </p:sp>
      <p:sp>
        <p:nvSpPr>
          <p:cNvPr id="13" name="TextBox 12">
            <a:extLst>
              <a:ext uri="{FF2B5EF4-FFF2-40B4-BE49-F238E27FC236}">
                <a16:creationId xmlns:a16="http://schemas.microsoft.com/office/drawing/2014/main" id="{BE5F168D-248F-440F-8D7C-7822F687C487}"/>
              </a:ext>
            </a:extLst>
          </p:cNvPr>
          <p:cNvSpPr txBox="1"/>
          <p:nvPr/>
        </p:nvSpPr>
        <p:spPr>
          <a:xfrm>
            <a:off x="640080" y="3347740"/>
            <a:ext cx="3291840" cy="365760"/>
          </a:xfrm>
          <a:prstGeom prst="rect">
            <a:avLst/>
          </a:prstGeom>
          <a:solidFill>
            <a:srgbClr val="FFFFFF"/>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Casing material was incompatible</a:t>
            </a:r>
          </a:p>
        </p:txBody>
      </p:sp>
      <p:sp>
        <p:nvSpPr>
          <p:cNvPr id="14" name="TextBox 13">
            <a:extLst>
              <a:ext uri="{FF2B5EF4-FFF2-40B4-BE49-F238E27FC236}">
                <a16:creationId xmlns:a16="http://schemas.microsoft.com/office/drawing/2014/main" id="{38DF5A59-99DC-42AB-B861-FAE0E75B0126}"/>
              </a:ext>
            </a:extLst>
          </p:cNvPr>
          <p:cNvSpPr txBox="1"/>
          <p:nvPr/>
        </p:nvSpPr>
        <p:spPr>
          <a:xfrm>
            <a:off x="640080" y="3987820"/>
            <a:ext cx="3291840" cy="365760"/>
          </a:xfrm>
          <a:prstGeom prst="rect">
            <a:avLst/>
          </a:prstGeom>
          <a:solidFill>
            <a:srgbClr val="FFFFFF"/>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Improper material was used</a:t>
            </a:r>
          </a:p>
        </p:txBody>
      </p:sp>
      <p:sp>
        <p:nvSpPr>
          <p:cNvPr id="15" name="TextBox 14">
            <a:extLst>
              <a:ext uri="{FF2B5EF4-FFF2-40B4-BE49-F238E27FC236}">
                <a16:creationId xmlns:a16="http://schemas.microsoft.com/office/drawing/2014/main" id="{BCDC09E9-AE6E-475D-87A4-C36FD4D5A4E0}"/>
              </a:ext>
            </a:extLst>
          </p:cNvPr>
          <p:cNvSpPr txBox="1"/>
          <p:nvPr/>
        </p:nvSpPr>
        <p:spPr>
          <a:xfrm>
            <a:off x="640080" y="4627900"/>
            <a:ext cx="3291840" cy="365760"/>
          </a:xfrm>
          <a:prstGeom prst="rect">
            <a:avLst/>
          </a:prstGeom>
          <a:solidFill>
            <a:srgbClr val="FFFFFF"/>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Pump design was incorrect</a:t>
            </a:r>
          </a:p>
        </p:txBody>
      </p:sp>
      <p:sp>
        <p:nvSpPr>
          <p:cNvPr id="16" name="TextBox 15">
            <a:extLst>
              <a:ext uri="{FF2B5EF4-FFF2-40B4-BE49-F238E27FC236}">
                <a16:creationId xmlns:a16="http://schemas.microsoft.com/office/drawing/2014/main" id="{6F937B0E-C221-478A-9B2F-D04F74D1BAC7}"/>
              </a:ext>
            </a:extLst>
          </p:cNvPr>
          <p:cNvSpPr txBox="1"/>
          <p:nvPr/>
        </p:nvSpPr>
        <p:spPr>
          <a:xfrm>
            <a:off x="640080" y="5267980"/>
            <a:ext cx="3291840" cy="830997"/>
          </a:xfrm>
          <a:prstGeom prst="rect">
            <a:avLst/>
          </a:prstGeom>
          <a:solidFill>
            <a:srgbClr val="FFFFFF"/>
          </a:solidFill>
          <a:ln>
            <a:solidFill>
              <a:srgbClr val="00007D"/>
            </a:solidFill>
          </a:ln>
        </p:spPr>
        <p:txBody>
          <a:bodyPr wrap="square" rtlCol="0">
            <a:spAutoFit/>
          </a:bodyPr>
          <a:lstStyle/>
          <a:p>
            <a:pPr lvl="0" algn="ctr" fontAlgn="auto">
              <a:spcBef>
                <a:spcPts val="0"/>
              </a:spcBef>
              <a:spcAft>
                <a:spcPts val="0"/>
              </a:spcAft>
              <a:defRPr/>
            </a:pPr>
            <a:r>
              <a:rPr lang="en-US" sz="1600" b="0" kern="0" dirty="0">
                <a:solidFill>
                  <a:srgbClr val="00007D"/>
                </a:solidFill>
                <a:latin typeface="Arial" panose="020B0604020202020204" pitchFamily="34" charset="0"/>
                <a:cs typeface="Arial" panose="020B0604020202020204" pitchFamily="34" charset="0"/>
              </a:rPr>
              <a:t>The refinery design program did not include a standard to design pumps for </a:t>
            </a:r>
            <a:r>
              <a:rPr lang="en-US" sz="1600" b="0" kern="0" dirty="0" smtClean="0">
                <a:solidFill>
                  <a:srgbClr val="00007D"/>
                </a:solidFill>
                <a:latin typeface="Arial" panose="020B0604020202020204" pitchFamily="34" charset="0"/>
                <a:cs typeface="Arial" panose="020B0604020202020204" pitchFamily="34" charset="0"/>
              </a:rPr>
              <a:t>any </a:t>
            </a:r>
            <a:r>
              <a:rPr lang="en-US" sz="1600" b="0" kern="0" dirty="0">
                <a:solidFill>
                  <a:srgbClr val="00007D"/>
                </a:solidFill>
                <a:latin typeface="Arial" panose="020B0604020202020204" pitchFamily="34" charset="0"/>
                <a:cs typeface="Arial" panose="020B0604020202020204" pitchFamily="34" charset="0"/>
              </a:rPr>
              <a:t>process service</a:t>
            </a:r>
            <a:endParaRPr lang="en-US" sz="1600" b="0" kern="0" dirty="0">
              <a:solidFill>
                <a:srgbClr val="00007D"/>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DD1F102B-CF61-415B-A281-08651BD4BCC2}"/>
              </a:ext>
            </a:extLst>
          </p:cNvPr>
          <p:cNvSpPr txBox="1"/>
          <p:nvPr/>
        </p:nvSpPr>
        <p:spPr>
          <a:xfrm>
            <a:off x="640080" y="848380"/>
            <a:ext cx="3291840" cy="365760"/>
          </a:xfrm>
          <a:prstGeom prst="rect">
            <a:avLst/>
          </a:prstGeom>
          <a:solidFill>
            <a:srgbClr val="FFFFFF"/>
          </a:solidFill>
          <a:ln>
            <a:solidFill>
              <a:srgbClr val="00007D"/>
            </a:solidFill>
          </a:ln>
        </p:spPr>
        <p:txBody>
          <a:bodyPr wrap="square" rtlCol="0">
            <a:spAutoFit/>
          </a:bodyPr>
          <a:lstStyle>
            <a:defPPr>
              <a:defRPr lang="en-US"/>
            </a:defPPr>
            <a:lvl1pPr algn="ctr">
              <a:defRPr sz="1600">
                <a:solidFill>
                  <a:schemeClr val="bg2"/>
                </a:solidFill>
                <a:latin typeface="Arial" panose="020B0604020202020204"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sng"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LOSS INCIDENT</a:t>
            </a:r>
          </a:p>
        </p:txBody>
      </p:sp>
      <p:sp>
        <p:nvSpPr>
          <p:cNvPr id="18" name="TextBox 17">
            <a:extLst>
              <a:ext uri="{FF2B5EF4-FFF2-40B4-BE49-F238E27FC236}">
                <a16:creationId xmlns:a16="http://schemas.microsoft.com/office/drawing/2014/main" id="{6E750230-F738-483A-ABEA-9B148486E173}"/>
              </a:ext>
            </a:extLst>
          </p:cNvPr>
          <p:cNvSpPr txBox="1"/>
          <p:nvPr/>
        </p:nvSpPr>
        <p:spPr>
          <a:xfrm>
            <a:off x="4389120" y="1305580"/>
            <a:ext cx="4114800" cy="584775"/>
          </a:xfrm>
          <a:prstGeom prst="wedgeRectCallout">
            <a:avLst>
              <a:gd name="adj1" fmla="val -65659"/>
              <a:gd name="adj2" fmla="val 221296"/>
            </a:avLst>
          </a:prstGeom>
          <a:solidFill>
            <a:srgbClr val="FFFF00"/>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Replace the pump. </a:t>
            </a:r>
            <a:b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br>
            <a:endParaRPr kumimoji="0" lang="en-US" sz="1600" b="0" i="1"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endParaRPr>
          </a:p>
        </p:txBody>
      </p:sp>
      <p:sp>
        <p:nvSpPr>
          <p:cNvPr id="19" name="TextBox 18">
            <a:extLst>
              <a:ext uri="{FF2B5EF4-FFF2-40B4-BE49-F238E27FC236}">
                <a16:creationId xmlns:a16="http://schemas.microsoft.com/office/drawing/2014/main" id="{B8575825-5C9D-40ED-B2B3-55FAABAC3A00}"/>
              </a:ext>
            </a:extLst>
          </p:cNvPr>
          <p:cNvSpPr txBox="1"/>
          <p:nvPr/>
        </p:nvSpPr>
        <p:spPr>
          <a:xfrm>
            <a:off x="4389120" y="2829580"/>
            <a:ext cx="4114800" cy="584775"/>
          </a:xfrm>
          <a:prstGeom prst="wedgeRectCallout">
            <a:avLst>
              <a:gd name="adj1" fmla="val -65212"/>
              <a:gd name="adj2" fmla="val 275869"/>
            </a:avLst>
          </a:prstGeom>
          <a:solidFill>
            <a:srgbClr val="FFFF00"/>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Correct the design specification for pumps in this kind of process service</a:t>
            </a:r>
            <a:r>
              <a:rPr kumimoji="0" lang="en-US" sz="1600" b="0" i="0" u="none" strike="noStrike" kern="0" cap="none" spc="0" normalizeH="0" baseline="0" noProof="0" dirty="0" smtClean="0">
                <a:ln>
                  <a:noFill/>
                </a:ln>
                <a:solidFill>
                  <a:srgbClr val="00007D"/>
                </a:solidFill>
                <a:effectLst/>
                <a:uLnTx/>
                <a:uFillTx/>
                <a:latin typeface="Arial" panose="020B0604020202020204" pitchFamily="34" charset="0"/>
                <a:ea typeface="+mn-ea"/>
                <a:cs typeface="Arial" panose="020B0604020202020204" pitchFamily="34" charset="0"/>
              </a:rPr>
              <a:t>.</a:t>
            </a:r>
            <a:endPar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endParaRPr>
          </a:p>
        </p:txBody>
      </p:sp>
      <p:sp>
        <p:nvSpPr>
          <p:cNvPr id="20" name="TextBox 19">
            <a:extLst>
              <a:ext uri="{FF2B5EF4-FFF2-40B4-BE49-F238E27FC236}">
                <a16:creationId xmlns:a16="http://schemas.microsoft.com/office/drawing/2014/main" id="{538DC856-BDE7-492C-89BC-3E020DD3E252}"/>
              </a:ext>
            </a:extLst>
          </p:cNvPr>
          <p:cNvSpPr txBox="1"/>
          <p:nvPr/>
        </p:nvSpPr>
        <p:spPr>
          <a:xfrm>
            <a:off x="4389120" y="4555777"/>
            <a:ext cx="4114800" cy="830997"/>
          </a:xfrm>
          <a:prstGeom prst="wedgeRectCallout">
            <a:avLst>
              <a:gd name="adj1" fmla="val -63395"/>
              <a:gd name="adj2" fmla="val 82070"/>
            </a:avLst>
          </a:prstGeom>
          <a:solidFill>
            <a:srgbClr val="FFFF00"/>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smtClean="0">
                <a:ln>
                  <a:noFill/>
                </a:ln>
                <a:solidFill>
                  <a:srgbClr val="00007D"/>
                </a:solidFill>
                <a:effectLst/>
                <a:uLnTx/>
                <a:uFillTx/>
                <a:latin typeface="Arial" panose="020B0604020202020204" pitchFamily="34" charset="0"/>
                <a:ea typeface="+mn-ea"/>
                <a:cs typeface="Arial" panose="020B0604020202020204" pitchFamily="34" charset="0"/>
              </a:rPr>
              <a:t>Create and implement a standard for writing </a:t>
            </a: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specifications </a:t>
            </a:r>
            <a:r>
              <a:rPr kumimoji="0" lang="en-US" sz="1600" b="0" i="0" u="none" strike="noStrike" kern="0" cap="none" spc="0" normalizeH="0" baseline="0" noProof="0" dirty="0" smtClean="0">
                <a:ln>
                  <a:noFill/>
                </a:ln>
                <a:solidFill>
                  <a:srgbClr val="00007D"/>
                </a:solidFill>
                <a:effectLst/>
                <a:uLnTx/>
                <a:uFillTx/>
                <a:latin typeface="Arial" panose="020B0604020202020204" pitchFamily="34" charset="0"/>
                <a:ea typeface="+mn-ea"/>
                <a:cs typeface="Arial" panose="020B0604020202020204" pitchFamily="34" charset="0"/>
              </a:rPr>
              <a:t>and </a:t>
            </a: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designing pumps for all </a:t>
            </a:r>
            <a:r>
              <a:rPr kumimoji="0" lang="en-US" sz="1600" b="0" i="0" u="none" strike="noStrike" kern="0" cap="none" spc="0" normalizeH="0" baseline="0" noProof="0" dirty="0" smtClean="0">
                <a:ln>
                  <a:noFill/>
                </a:ln>
                <a:solidFill>
                  <a:srgbClr val="00007D"/>
                </a:solidFill>
                <a:effectLst/>
                <a:uLnTx/>
                <a:uFillTx/>
                <a:latin typeface="Arial" panose="020B0604020202020204" pitchFamily="34" charset="0"/>
                <a:ea typeface="+mn-ea"/>
                <a:cs typeface="Arial" panose="020B0604020202020204" pitchFamily="34" charset="0"/>
              </a:rPr>
              <a:t>pumps in all services at </a:t>
            </a: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this refinery</a:t>
            </a:r>
            <a:r>
              <a:rPr kumimoji="0" lang="en-US" sz="1600" b="0" i="0" u="none" strike="noStrike" kern="0" cap="none" spc="0" normalizeH="0" baseline="0" noProof="0" dirty="0" smtClean="0">
                <a:ln>
                  <a:noFill/>
                </a:ln>
                <a:solidFill>
                  <a:srgbClr val="00007D"/>
                </a:solidFill>
                <a:effectLst/>
                <a:uLnTx/>
                <a:uFillTx/>
                <a:latin typeface="Arial" panose="020B0604020202020204" pitchFamily="34" charset="0"/>
                <a:ea typeface="+mn-ea"/>
                <a:cs typeface="Arial" panose="020B0604020202020204" pitchFamily="34" charset="0"/>
              </a:rPr>
              <a:t>.</a:t>
            </a:r>
            <a:endPar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endParaRPr>
          </a:p>
        </p:txBody>
      </p:sp>
      <p:sp>
        <p:nvSpPr>
          <p:cNvPr id="21" name="TextBox 20">
            <a:extLst>
              <a:ext uri="{FF2B5EF4-FFF2-40B4-BE49-F238E27FC236}">
                <a16:creationId xmlns:a16="http://schemas.microsoft.com/office/drawing/2014/main" id="{0F74F0D8-45AA-4424-A9EF-96CDBEE56F55}"/>
              </a:ext>
            </a:extLst>
          </p:cNvPr>
          <p:cNvSpPr txBox="1"/>
          <p:nvPr/>
        </p:nvSpPr>
        <p:spPr>
          <a:xfrm>
            <a:off x="4389120" y="848380"/>
            <a:ext cx="4114800" cy="338554"/>
          </a:xfrm>
          <a:prstGeom prst="rect">
            <a:avLst/>
          </a:prstGeom>
          <a:solidFill>
            <a:srgbClr val="FFFF00"/>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sng" strike="noStrike" kern="0" cap="none" spc="0" normalizeH="0" baseline="0" noProof="0" dirty="0" smtClean="0">
                <a:ln>
                  <a:noFill/>
                </a:ln>
                <a:solidFill>
                  <a:srgbClr val="00007D"/>
                </a:solidFill>
                <a:effectLst/>
                <a:uLnTx/>
                <a:uFillTx/>
                <a:latin typeface="Arial" panose="020B0604020202020204" pitchFamily="34" charset="0"/>
                <a:ea typeface="+mn-ea"/>
                <a:cs typeface="Arial" panose="020B0604020202020204" pitchFamily="34" charset="0"/>
              </a:rPr>
              <a:t>RECOMMENDATIONS</a:t>
            </a:r>
            <a:endParaRPr kumimoji="0" lang="en-US" sz="1600" b="1" i="0" u="sng"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endParaRPr>
          </a:p>
        </p:txBody>
      </p:sp>
      <p:sp>
        <p:nvSpPr>
          <p:cNvPr id="25"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4.5: Linking Latent Causes to Recommendations</a:t>
            </a:r>
          </a:p>
        </p:txBody>
      </p:sp>
    </p:spTree>
    <p:extLst>
      <p:ext uri="{BB962C8B-B14F-4D97-AF65-F5344CB8AC3E}">
        <p14:creationId xmlns:p14="http://schemas.microsoft.com/office/powerpoint/2010/main" val="3971894617"/>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rgbClr val="000000"/>
            </a:solidFill>
          </a:ln>
        </p:spPr>
        <p:txBody>
          <a:bodyPr wrap="square"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Note the Effectiveness of Actions on Causes to Prevent Recurrence:</a:t>
            </a:r>
          </a:p>
        </p:txBody>
      </p:sp>
      <p:sp>
        <p:nvSpPr>
          <p:cNvPr id="8" name="Slide Number Placeholder 1"/>
          <p:cNvSpPr txBox="1">
            <a:spLocks noGrp="1"/>
          </p:cNvSpPr>
          <p:nvPr/>
        </p:nvSpPr>
        <p:spPr bwMode="auto">
          <a:xfrm>
            <a:off x="8280000" y="6477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6" name="Rectangle 3"/>
          <p:cNvSpPr>
            <a:spLocks noChangeArrowheads="1"/>
          </p:cNvSpPr>
          <p:nvPr/>
        </p:nvSpPr>
        <p:spPr bwMode="auto">
          <a:xfrm>
            <a:off x="180000" y="828000"/>
            <a:ext cx="8640000" cy="5328000"/>
          </a:xfrm>
          <a:prstGeom prst="rect">
            <a:avLst/>
          </a:prstGeom>
          <a:solidFill>
            <a:schemeClr val="tx1"/>
          </a:solidFill>
          <a:ln w="9525" algn="ctr">
            <a:solidFill>
              <a:schemeClr val="tx1"/>
            </a:solidFill>
            <a:miter lim="800000"/>
            <a:headEnd/>
            <a:tailEnd/>
          </a:ln>
          <a:effectLst/>
        </p:spPr>
        <p:txBody>
          <a:bodyPr/>
          <a:lstStyle/>
          <a:p>
            <a:pPr marL="0" marR="0" lvl="0" indent="0" algn="l" defTabSz="914400" rtl="0" eaLnBrk="0" fontAlgn="base" latinLnBrk="0" hangingPunct="0">
              <a:lnSpc>
                <a:spcPct val="100000"/>
              </a:lnSpc>
              <a:spcBef>
                <a:spcPts val="0"/>
              </a:spcBef>
              <a:spcAft>
                <a:spcPct val="0"/>
              </a:spcAft>
              <a:buClr>
                <a:srgbClr val="000000"/>
              </a:buClr>
              <a:buSzPct val="100000"/>
              <a:buFontTx/>
              <a:buNone/>
              <a:tabLst/>
              <a:defRPr/>
            </a:pP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cxnSp>
        <p:nvCxnSpPr>
          <p:cNvPr id="7" name="Straight Connector 6">
            <a:extLst>
              <a:ext uri="{FF2B5EF4-FFF2-40B4-BE49-F238E27FC236}">
                <a16:creationId xmlns:a16="http://schemas.microsoft.com/office/drawing/2014/main" id="{FBA30691-95AA-4FEA-9547-B494F46013B8}"/>
              </a:ext>
            </a:extLst>
          </p:cNvPr>
          <p:cNvCxnSpPr>
            <a:stCxn id="17" idx="2"/>
            <a:endCxn id="16" idx="0"/>
          </p:cNvCxnSpPr>
          <p:nvPr/>
        </p:nvCxnSpPr>
        <p:spPr bwMode="auto">
          <a:xfrm>
            <a:off x="2286000" y="1214140"/>
            <a:ext cx="0" cy="4053840"/>
          </a:xfrm>
          <a:prstGeom prst="line">
            <a:avLst/>
          </a:prstGeom>
          <a:solidFill>
            <a:srgbClr val="9999FF"/>
          </a:solidFill>
          <a:ln w="57150" cap="flat" cmpd="sng" algn="ctr">
            <a:solidFill>
              <a:srgbClr val="FFFFFF"/>
            </a:solidFill>
            <a:prstDash val="sysDot"/>
            <a:round/>
            <a:headEnd type="none" w="med" len="med"/>
            <a:tailEnd type="none" w="med" len="med"/>
          </a:ln>
          <a:effectLst/>
        </p:spPr>
      </p:cxnSp>
      <p:sp>
        <p:nvSpPr>
          <p:cNvPr id="10" name="TextBox 9">
            <a:extLst>
              <a:ext uri="{FF2B5EF4-FFF2-40B4-BE49-F238E27FC236}">
                <a16:creationId xmlns:a16="http://schemas.microsoft.com/office/drawing/2014/main" id="{5E782F49-E031-44EC-A4B9-0C0730B83A14}"/>
              </a:ext>
            </a:extLst>
          </p:cNvPr>
          <p:cNvSpPr txBox="1"/>
          <p:nvPr/>
        </p:nvSpPr>
        <p:spPr>
          <a:xfrm>
            <a:off x="640080" y="1427500"/>
            <a:ext cx="3291840" cy="365760"/>
          </a:xfrm>
          <a:prstGeom prst="rect">
            <a:avLst/>
          </a:prstGeom>
          <a:solidFill>
            <a:srgbClr val="FFFFFF"/>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Petroleum fire</a:t>
            </a:r>
          </a:p>
        </p:txBody>
      </p:sp>
      <p:sp>
        <p:nvSpPr>
          <p:cNvPr id="11" name="TextBox 10">
            <a:extLst>
              <a:ext uri="{FF2B5EF4-FFF2-40B4-BE49-F238E27FC236}">
                <a16:creationId xmlns:a16="http://schemas.microsoft.com/office/drawing/2014/main" id="{D0C20258-625D-4571-A4A0-DFD1FEBCCA9A}"/>
              </a:ext>
            </a:extLst>
          </p:cNvPr>
          <p:cNvSpPr txBox="1"/>
          <p:nvPr/>
        </p:nvSpPr>
        <p:spPr>
          <a:xfrm>
            <a:off x="640080" y="2067580"/>
            <a:ext cx="3291840" cy="365760"/>
          </a:xfrm>
          <a:prstGeom prst="rect">
            <a:avLst/>
          </a:prstGeom>
          <a:solidFill>
            <a:srgbClr val="FFFFFF"/>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Petrol released from pump casing</a:t>
            </a:r>
          </a:p>
        </p:txBody>
      </p:sp>
      <p:sp>
        <p:nvSpPr>
          <p:cNvPr id="12" name="TextBox 11">
            <a:extLst>
              <a:ext uri="{FF2B5EF4-FFF2-40B4-BE49-F238E27FC236}">
                <a16:creationId xmlns:a16="http://schemas.microsoft.com/office/drawing/2014/main" id="{84E6BEDB-0395-47CF-BE8E-0FED3D107750}"/>
              </a:ext>
            </a:extLst>
          </p:cNvPr>
          <p:cNvSpPr txBox="1"/>
          <p:nvPr/>
        </p:nvSpPr>
        <p:spPr>
          <a:xfrm>
            <a:off x="640080" y="2707660"/>
            <a:ext cx="3291840" cy="338554"/>
          </a:xfrm>
          <a:prstGeom prst="rect">
            <a:avLst/>
          </a:prstGeom>
          <a:solidFill>
            <a:srgbClr val="FFFFFF"/>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Pump casing corroded (failed)</a:t>
            </a:r>
          </a:p>
        </p:txBody>
      </p:sp>
      <p:sp>
        <p:nvSpPr>
          <p:cNvPr id="13" name="TextBox 12">
            <a:extLst>
              <a:ext uri="{FF2B5EF4-FFF2-40B4-BE49-F238E27FC236}">
                <a16:creationId xmlns:a16="http://schemas.microsoft.com/office/drawing/2014/main" id="{BE5F168D-248F-440F-8D7C-7822F687C487}"/>
              </a:ext>
            </a:extLst>
          </p:cNvPr>
          <p:cNvSpPr txBox="1"/>
          <p:nvPr/>
        </p:nvSpPr>
        <p:spPr>
          <a:xfrm>
            <a:off x="640080" y="3347740"/>
            <a:ext cx="3291840" cy="365760"/>
          </a:xfrm>
          <a:prstGeom prst="rect">
            <a:avLst/>
          </a:prstGeom>
          <a:solidFill>
            <a:srgbClr val="FFFFFF"/>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Casing material was incompatible</a:t>
            </a:r>
          </a:p>
        </p:txBody>
      </p:sp>
      <p:sp>
        <p:nvSpPr>
          <p:cNvPr id="14" name="TextBox 13">
            <a:extLst>
              <a:ext uri="{FF2B5EF4-FFF2-40B4-BE49-F238E27FC236}">
                <a16:creationId xmlns:a16="http://schemas.microsoft.com/office/drawing/2014/main" id="{38DF5A59-99DC-42AB-B861-FAE0E75B0126}"/>
              </a:ext>
            </a:extLst>
          </p:cNvPr>
          <p:cNvSpPr txBox="1"/>
          <p:nvPr/>
        </p:nvSpPr>
        <p:spPr>
          <a:xfrm>
            <a:off x="640080" y="3987820"/>
            <a:ext cx="3291840" cy="365760"/>
          </a:xfrm>
          <a:prstGeom prst="rect">
            <a:avLst/>
          </a:prstGeom>
          <a:solidFill>
            <a:srgbClr val="FFFFFF"/>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Improper material was used</a:t>
            </a:r>
          </a:p>
        </p:txBody>
      </p:sp>
      <p:sp>
        <p:nvSpPr>
          <p:cNvPr id="15" name="TextBox 14">
            <a:extLst>
              <a:ext uri="{FF2B5EF4-FFF2-40B4-BE49-F238E27FC236}">
                <a16:creationId xmlns:a16="http://schemas.microsoft.com/office/drawing/2014/main" id="{BCDC09E9-AE6E-475D-87A4-C36FD4D5A4E0}"/>
              </a:ext>
            </a:extLst>
          </p:cNvPr>
          <p:cNvSpPr txBox="1"/>
          <p:nvPr/>
        </p:nvSpPr>
        <p:spPr>
          <a:xfrm>
            <a:off x="640080" y="4627900"/>
            <a:ext cx="3291840" cy="365760"/>
          </a:xfrm>
          <a:prstGeom prst="rect">
            <a:avLst/>
          </a:prstGeom>
          <a:solidFill>
            <a:srgbClr val="FFFFFF"/>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Pump design was incorrect</a:t>
            </a:r>
          </a:p>
        </p:txBody>
      </p:sp>
      <p:sp>
        <p:nvSpPr>
          <p:cNvPr id="16" name="TextBox 15">
            <a:extLst>
              <a:ext uri="{FF2B5EF4-FFF2-40B4-BE49-F238E27FC236}">
                <a16:creationId xmlns:a16="http://schemas.microsoft.com/office/drawing/2014/main" id="{6F937B0E-C221-478A-9B2F-D04F74D1BAC7}"/>
              </a:ext>
            </a:extLst>
          </p:cNvPr>
          <p:cNvSpPr txBox="1"/>
          <p:nvPr/>
        </p:nvSpPr>
        <p:spPr>
          <a:xfrm>
            <a:off x="640080" y="5267980"/>
            <a:ext cx="3291840" cy="830997"/>
          </a:xfrm>
          <a:prstGeom prst="rect">
            <a:avLst/>
          </a:prstGeom>
          <a:solidFill>
            <a:srgbClr val="FFFFFF"/>
          </a:solidFill>
          <a:ln>
            <a:solidFill>
              <a:srgbClr val="00007D"/>
            </a:solidFill>
          </a:ln>
        </p:spPr>
        <p:txBody>
          <a:bodyPr wrap="square" rtlCol="0">
            <a:spAutoFit/>
          </a:bodyPr>
          <a:lstStyle/>
          <a:p>
            <a:pPr lvl="0" algn="ctr" fontAlgn="auto">
              <a:spcBef>
                <a:spcPts val="0"/>
              </a:spcBef>
              <a:spcAft>
                <a:spcPts val="0"/>
              </a:spcAft>
              <a:defRPr/>
            </a:pPr>
            <a:r>
              <a:rPr lang="en-US" sz="1600" b="0" kern="0" dirty="0">
                <a:solidFill>
                  <a:srgbClr val="00007D"/>
                </a:solidFill>
                <a:latin typeface="Arial" panose="020B0604020202020204" pitchFamily="34" charset="0"/>
                <a:cs typeface="Arial" panose="020B0604020202020204" pitchFamily="34" charset="0"/>
              </a:rPr>
              <a:t>The refinery design program did not include a standard to design pumps for any process service</a:t>
            </a:r>
            <a:endParaRPr lang="en-US" sz="1600" b="0" kern="0" dirty="0">
              <a:solidFill>
                <a:srgbClr val="00007D"/>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DD1F102B-CF61-415B-A281-08651BD4BCC2}"/>
              </a:ext>
            </a:extLst>
          </p:cNvPr>
          <p:cNvSpPr txBox="1"/>
          <p:nvPr/>
        </p:nvSpPr>
        <p:spPr>
          <a:xfrm>
            <a:off x="640080" y="848380"/>
            <a:ext cx="3291840" cy="365760"/>
          </a:xfrm>
          <a:prstGeom prst="rect">
            <a:avLst/>
          </a:prstGeom>
          <a:solidFill>
            <a:srgbClr val="FFFFFF"/>
          </a:solidFill>
          <a:ln>
            <a:solidFill>
              <a:srgbClr val="00007D"/>
            </a:solidFill>
          </a:ln>
        </p:spPr>
        <p:txBody>
          <a:bodyPr wrap="square" rtlCol="0">
            <a:spAutoFit/>
          </a:bodyPr>
          <a:lstStyle>
            <a:defPPr>
              <a:defRPr lang="en-US"/>
            </a:defPPr>
            <a:lvl1pPr algn="ctr">
              <a:defRPr sz="1600">
                <a:solidFill>
                  <a:schemeClr val="bg2"/>
                </a:solidFill>
                <a:latin typeface="Arial" panose="020B0604020202020204"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sng"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LOSS INCIDENT</a:t>
            </a:r>
          </a:p>
        </p:txBody>
      </p:sp>
      <p:sp>
        <p:nvSpPr>
          <p:cNvPr id="18" name="TextBox 17">
            <a:extLst>
              <a:ext uri="{FF2B5EF4-FFF2-40B4-BE49-F238E27FC236}">
                <a16:creationId xmlns:a16="http://schemas.microsoft.com/office/drawing/2014/main" id="{6E750230-F738-483A-ABEA-9B148486E173}"/>
              </a:ext>
            </a:extLst>
          </p:cNvPr>
          <p:cNvSpPr txBox="1"/>
          <p:nvPr/>
        </p:nvSpPr>
        <p:spPr>
          <a:xfrm>
            <a:off x="4389120" y="1305580"/>
            <a:ext cx="4114800" cy="1077218"/>
          </a:xfrm>
          <a:prstGeom prst="wedgeRectCallout">
            <a:avLst>
              <a:gd name="adj1" fmla="val -66388"/>
              <a:gd name="adj2" fmla="val 100816"/>
            </a:avLst>
          </a:prstGeom>
          <a:solidFill>
            <a:srgbClr val="FFFF00"/>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Replace the pump. </a:t>
            </a:r>
            <a:b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br>
            <a:r>
              <a:rPr kumimoji="0" lang="en-US" sz="1600" b="0" i="1"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Note: This actions fixes the pump that failed, but not any other pumps in the refinery, now or in the future.</a:t>
            </a:r>
          </a:p>
        </p:txBody>
      </p:sp>
      <p:sp>
        <p:nvSpPr>
          <p:cNvPr id="19" name="TextBox 18">
            <a:extLst>
              <a:ext uri="{FF2B5EF4-FFF2-40B4-BE49-F238E27FC236}">
                <a16:creationId xmlns:a16="http://schemas.microsoft.com/office/drawing/2014/main" id="{B8575825-5C9D-40ED-B2B3-55FAABAC3A00}"/>
              </a:ext>
            </a:extLst>
          </p:cNvPr>
          <p:cNvSpPr txBox="1"/>
          <p:nvPr/>
        </p:nvSpPr>
        <p:spPr>
          <a:xfrm>
            <a:off x="4389120" y="2829580"/>
            <a:ext cx="4114800" cy="1323439"/>
          </a:xfrm>
          <a:prstGeom prst="wedgeRectCallout">
            <a:avLst>
              <a:gd name="adj1" fmla="val -68126"/>
              <a:gd name="adj2" fmla="val 98994"/>
            </a:avLst>
          </a:prstGeom>
          <a:solidFill>
            <a:srgbClr val="FFFF00"/>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Correct the design specification for pumps in this kind of process service.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Note: This action fixes the design for all pumps in this service, now and in the future, but not any pumps in other services.</a:t>
            </a:r>
          </a:p>
        </p:txBody>
      </p:sp>
      <p:sp>
        <p:nvSpPr>
          <p:cNvPr id="20" name="TextBox 19">
            <a:extLst>
              <a:ext uri="{FF2B5EF4-FFF2-40B4-BE49-F238E27FC236}">
                <a16:creationId xmlns:a16="http://schemas.microsoft.com/office/drawing/2014/main" id="{538DC856-BDE7-492C-89BC-3E020DD3E252}"/>
              </a:ext>
            </a:extLst>
          </p:cNvPr>
          <p:cNvSpPr txBox="1"/>
          <p:nvPr/>
        </p:nvSpPr>
        <p:spPr>
          <a:xfrm>
            <a:off x="4389120" y="4555777"/>
            <a:ext cx="4114800" cy="1323439"/>
          </a:xfrm>
          <a:prstGeom prst="wedgeRectCallout">
            <a:avLst>
              <a:gd name="adj1" fmla="val -61574"/>
              <a:gd name="adj2" fmla="val 27954"/>
            </a:avLst>
          </a:prstGeom>
          <a:solidFill>
            <a:srgbClr val="FFFF00"/>
          </a:solidFill>
          <a:ln>
            <a:solidFill>
              <a:srgbClr val="00007D"/>
            </a:solidFill>
          </a:ln>
        </p:spPr>
        <p:txBody>
          <a:bodyPr wrap="square" rtlCol="0">
            <a:spAutoFit/>
          </a:bodyPr>
          <a:lstStyle/>
          <a:p>
            <a:pPr lvl="0" algn="ctr" fontAlgn="auto">
              <a:spcBef>
                <a:spcPts val="0"/>
              </a:spcBef>
              <a:spcAft>
                <a:spcPts val="0"/>
              </a:spcAft>
              <a:defRPr/>
            </a:pPr>
            <a:r>
              <a:rPr lang="en-US" sz="1600" b="0" kern="0" dirty="0">
                <a:solidFill>
                  <a:srgbClr val="00007D"/>
                </a:solidFill>
                <a:latin typeface="Arial" panose="020B0604020202020204" pitchFamily="34" charset="0"/>
                <a:cs typeface="Arial" panose="020B0604020202020204" pitchFamily="34" charset="0"/>
              </a:rPr>
              <a:t>Create and implement a standard for writing specifications and designing pumps for all pumps in all services at this refinery.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0" cap="none" spc="0" normalizeH="0" baseline="0" noProof="0" dirty="0" smtClean="0">
                <a:ln>
                  <a:noFill/>
                </a:ln>
                <a:solidFill>
                  <a:srgbClr val="00007D"/>
                </a:solidFill>
                <a:effectLst/>
                <a:uLnTx/>
                <a:uFillTx/>
                <a:latin typeface="Arial" panose="020B0604020202020204" pitchFamily="34" charset="0"/>
                <a:ea typeface="+mn-ea"/>
                <a:cs typeface="Arial" panose="020B0604020202020204" pitchFamily="34" charset="0"/>
              </a:rPr>
              <a:t>Note</a:t>
            </a:r>
            <a:r>
              <a:rPr kumimoji="0" lang="en-US" sz="1600" b="0" i="1"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 This fixes all designs for all pumps in all services. </a:t>
            </a:r>
          </a:p>
        </p:txBody>
      </p:sp>
      <p:sp>
        <p:nvSpPr>
          <p:cNvPr id="21" name="TextBox 20">
            <a:extLst>
              <a:ext uri="{FF2B5EF4-FFF2-40B4-BE49-F238E27FC236}">
                <a16:creationId xmlns:a16="http://schemas.microsoft.com/office/drawing/2014/main" id="{0F74F0D8-45AA-4424-A9EF-96CDBEE56F55}"/>
              </a:ext>
            </a:extLst>
          </p:cNvPr>
          <p:cNvSpPr txBox="1"/>
          <p:nvPr/>
        </p:nvSpPr>
        <p:spPr>
          <a:xfrm>
            <a:off x="4389120" y="848380"/>
            <a:ext cx="4114800" cy="338554"/>
          </a:xfrm>
          <a:prstGeom prst="rect">
            <a:avLst/>
          </a:prstGeom>
          <a:solidFill>
            <a:srgbClr val="FFFF00"/>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sng" strike="noStrike" kern="0" cap="none" spc="0" normalizeH="0" baseline="0" noProof="0" dirty="0" smtClean="0">
                <a:ln>
                  <a:noFill/>
                </a:ln>
                <a:solidFill>
                  <a:srgbClr val="00007D"/>
                </a:solidFill>
                <a:effectLst/>
                <a:uLnTx/>
                <a:uFillTx/>
                <a:latin typeface="Arial" panose="020B0604020202020204" pitchFamily="34" charset="0"/>
                <a:ea typeface="+mn-ea"/>
                <a:cs typeface="Arial" panose="020B0604020202020204" pitchFamily="34" charset="0"/>
              </a:rPr>
              <a:t>RECOMMENDATIONS</a:t>
            </a:r>
            <a:endParaRPr kumimoji="0" lang="en-US" sz="1600" b="1" i="0" u="sng"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endParaRPr>
          </a:p>
        </p:txBody>
      </p:sp>
      <p:sp>
        <p:nvSpPr>
          <p:cNvPr id="22" name="TextBox 21">
            <a:extLst>
              <a:ext uri="{FF2B5EF4-FFF2-40B4-BE49-F238E27FC236}">
                <a16:creationId xmlns:a16="http://schemas.microsoft.com/office/drawing/2014/main" id="{9CD4B3BB-9032-41E4-9166-6C683FFA76CB}"/>
              </a:ext>
            </a:extLst>
          </p:cNvPr>
          <p:cNvSpPr txBox="1"/>
          <p:nvPr/>
        </p:nvSpPr>
        <p:spPr>
          <a:xfrm>
            <a:off x="5257800" y="2384048"/>
            <a:ext cx="3246120" cy="307777"/>
          </a:xfrm>
          <a:prstGeom prst="rect">
            <a:avLst/>
          </a:prstGeom>
          <a:solidFill>
            <a:srgbClr val="FF0000"/>
          </a:solid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NO PREVENTION</a:t>
            </a:r>
          </a:p>
        </p:txBody>
      </p:sp>
      <p:sp>
        <p:nvSpPr>
          <p:cNvPr id="23" name="TextBox 22">
            <a:extLst>
              <a:ext uri="{FF2B5EF4-FFF2-40B4-BE49-F238E27FC236}">
                <a16:creationId xmlns:a16="http://schemas.microsoft.com/office/drawing/2014/main" id="{C784D895-933D-4D8B-8768-96DAED71C2C9}"/>
              </a:ext>
            </a:extLst>
          </p:cNvPr>
          <p:cNvSpPr txBox="1"/>
          <p:nvPr/>
        </p:nvSpPr>
        <p:spPr>
          <a:xfrm>
            <a:off x="5242560" y="4153019"/>
            <a:ext cx="3246120" cy="307777"/>
          </a:xfrm>
          <a:prstGeom prst="rect">
            <a:avLst/>
          </a:prstGeom>
          <a:solidFill>
            <a:srgbClr val="FF0000"/>
          </a:solid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PREVENTS ONLY SAME SERVICE</a:t>
            </a:r>
          </a:p>
        </p:txBody>
      </p:sp>
      <p:sp>
        <p:nvSpPr>
          <p:cNvPr id="25"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4.5: Linking Latent Causes to Recommendations</a:t>
            </a:r>
          </a:p>
        </p:txBody>
      </p:sp>
      <p:sp>
        <p:nvSpPr>
          <p:cNvPr id="26" name="TextBox 25">
            <a:extLst>
              <a:ext uri="{FF2B5EF4-FFF2-40B4-BE49-F238E27FC236}">
                <a16:creationId xmlns:a16="http://schemas.microsoft.com/office/drawing/2014/main" id="{18520E9F-5BFB-494D-9E89-7BC5D111DD24}"/>
              </a:ext>
            </a:extLst>
          </p:cNvPr>
          <p:cNvSpPr txBox="1"/>
          <p:nvPr/>
        </p:nvSpPr>
        <p:spPr>
          <a:xfrm>
            <a:off x="4389120" y="5801380"/>
            <a:ext cx="4114800" cy="523220"/>
          </a:xfrm>
          <a:prstGeom prst="rect">
            <a:avLst/>
          </a:prstGeom>
          <a:solidFill>
            <a:srgbClr val="FF0000"/>
          </a:solid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rPr>
              <a:t>MOST EFFECTIVE!PREVENTS </a:t>
            </a:r>
            <a:r>
              <a:rPr kumimoji="0" lang="en-US" sz="14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DESIGN ERRORS ON ALL PROCESS SERVICES</a:t>
            </a:r>
          </a:p>
        </p:txBody>
      </p:sp>
    </p:spTree>
    <p:extLst>
      <p:ext uri="{BB962C8B-B14F-4D97-AF65-F5344CB8AC3E}">
        <p14:creationId xmlns:p14="http://schemas.microsoft.com/office/powerpoint/2010/main" val="1140430324"/>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solidFill>
            <a:srgbClr val="FFFF00"/>
          </a:solid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90000"/>
              </a:lnSpc>
              <a:spcBef>
                <a:spcPts val="0"/>
              </a:spcBef>
              <a:spcAft>
                <a:spcPct val="0"/>
              </a:spcAft>
              <a:buClr>
                <a:srgbClr val="000000"/>
              </a:buClr>
              <a:buSzPct val="100000"/>
              <a:buNone/>
              <a:tabLst/>
              <a:defRPr/>
            </a:pPr>
            <a:r>
              <a:rPr lang="en-US" altLang="en-US" sz="1800" noProof="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a:t>
            </a:r>
            <a:r>
              <a:rPr kumimoji="0" lang="en-US" altLang="en-US" sz="180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hat</a:t>
            </a:r>
            <a:r>
              <a:rPr kumimoji="0" lang="en-US" altLang="en-US" sz="180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does a good “recommendation for action” statement look like?</a:t>
            </a:r>
            <a:endParaRPr kumimoji="0" lang="en-US" altLang="en-US" sz="180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Tx/>
              <a:buSzPct val="100000"/>
              <a:buFont typeface="Wingdings" panose="05000000000000000000" pitchFamily="2" charset="2"/>
              <a:buChar char="Ø"/>
              <a:defRPr/>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previous slides give you a good idea about differentiating an action to address an immediate cause, a basic cause, and a latent cause</a:t>
            </a:r>
            <a:r>
              <a:rPr lang="en-CA"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however, this </a:t>
            </a:r>
            <a:r>
              <a:rPr lang="en-CA" altLang="en-US" sz="1800" b="0" noProof="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latent cause statement is not the best model. </a:t>
            </a:r>
            <a:r>
              <a:rPr lang="en-CA"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So, </a:t>
            </a:r>
            <a:r>
              <a:rPr lang="en-CA" altLang="en-US" sz="1800" b="0" noProof="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let’s consider these two latent cause statements in two different roots:</a:t>
            </a:r>
          </a:p>
          <a:p>
            <a:pPr marL="720000" lvl="0" indent="-360000" eaLnBrk="0" hangingPunct="0">
              <a:lnSpc>
                <a:spcPct val="90000"/>
              </a:lnSpc>
              <a:spcBef>
                <a:spcPts val="0"/>
              </a:spcBef>
              <a:buClrTx/>
              <a:buSzPct val="100000"/>
              <a:buFont typeface="+mj-lt"/>
              <a:buAutoNum type="alphaLcParenR"/>
              <a:defRPr/>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auditing program did not include a standard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to </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define how and when to perform regular / periodic internal and external evaluations for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on-going </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construction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practices.</a:t>
            </a:r>
          </a:p>
          <a:p>
            <a:pPr marL="720000" lvl="0" indent="-360000" eaLnBrk="0" hangingPunct="0">
              <a:lnSpc>
                <a:spcPct val="90000"/>
              </a:lnSpc>
              <a:spcBef>
                <a:spcPts val="0"/>
              </a:spcBef>
              <a:buClrTx/>
              <a:buSzPct val="100000"/>
              <a:buFont typeface="+mj-lt"/>
              <a:buAutoNum type="alphaLcParenR"/>
              <a:defRPr/>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auditing program did not include a standard to define how and when to perform regular / periodic internal and external evaluations for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inspection </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documents and the review of those documents</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lvl="0" indent="-360000" eaLnBrk="0" hangingPunct="0">
              <a:lnSpc>
                <a:spcPct val="90000"/>
              </a:lnSpc>
              <a:spcBef>
                <a:spcPts val="0"/>
              </a:spcBef>
              <a:buClrTx/>
              <a:buSzPct val="100000"/>
              <a:buFont typeface="Wingdings" panose="05000000000000000000" pitchFamily="2" charset="2"/>
              <a:buChar char="Ø"/>
              <a:defRPr/>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Tx/>
              <a:buSzPct val="100000"/>
              <a:buFont typeface="Wingdings" panose="05000000000000000000" pitchFamily="2" charset="2"/>
              <a:buChar char="Ø"/>
              <a:defRPr/>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Thus, your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action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for each recommendation should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then address exactly what is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missing</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or what needs to be addressed in order to close the gap:</a:t>
            </a:r>
          </a:p>
          <a:p>
            <a:pPr marL="720000" lvl="0" indent="-360000" eaLnBrk="0" hangingPunct="0">
              <a:lnSpc>
                <a:spcPct val="90000"/>
              </a:lnSpc>
              <a:spcBef>
                <a:spcPts val="0"/>
              </a:spcBef>
              <a:buClrTx/>
              <a:buSzPct val="100000"/>
              <a:buFont typeface="+mj-lt"/>
              <a:buAutoNum type="alphaLcParenR"/>
              <a:defRPr/>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Implement a standard for the </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auditing program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to </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define how and when to perform regular / periodic internal and external evaluations for on-going construction practices.</a:t>
            </a:r>
          </a:p>
          <a:p>
            <a:pPr marL="720000" lvl="0" indent="-360000" eaLnBrk="0" hangingPunct="0">
              <a:lnSpc>
                <a:spcPct val="90000"/>
              </a:lnSpc>
              <a:spcBef>
                <a:spcPts val="0"/>
              </a:spcBef>
              <a:buClrTx/>
              <a:buSzPct val="100000"/>
              <a:buFont typeface="+mj-lt"/>
              <a:buAutoNum type="alphaLcParenR"/>
              <a:defRPr/>
            </a:pP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Implement a standard for the auditing program to define how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when to perform regular / periodic internal and external evaluations for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inspection of on-going </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construction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documents </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the review of those documents.</a:t>
            </a:r>
          </a:p>
          <a:p>
            <a:pPr marL="360000" lvl="0" indent="-360000" eaLnBrk="0" hangingPunct="0">
              <a:lnSpc>
                <a:spcPct val="90000"/>
              </a:lnSpc>
              <a:spcBef>
                <a:spcPts val="0"/>
              </a:spcBef>
              <a:buClrTx/>
              <a:buSzPct val="100000"/>
              <a:buFont typeface="Wingdings" panose="05000000000000000000" pitchFamily="2" charset="2"/>
              <a:buChar char="Ø"/>
              <a:defRPr/>
            </a:pPr>
            <a:endPar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lang="en-US" altLang="en-US" sz="2400" b="0" dirty="0" smtClean="0">
                <a:solidFill>
                  <a:srgbClr val="333399"/>
                </a:solidFill>
                <a:latin typeface="Arial" panose="020B0604020202020204" pitchFamily="34" charset="0"/>
                <a:cs typeface="Arial" panose="020B0604020202020204" pitchFamily="34" charset="0"/>
              </a:rPr>
              <a:t>Recommendation for Action:</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4.5: Linking Latent Causes to Recommendations</a:t>
            </a:r>
          </a:p>
        </p:txBody>
      </p:sp>
    </p:spTree>
    <p:extLst>
      <p:ext uri="{BB962C8B-B14F-4D97-AF65-F5344CB8AC3E}">
        <p14:creationId xmlns:p14="http://schemas.microsoft.com/office/powerpoint/2010/main" val="314524767"/>
      </p:ext>
    </p:extLst>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solidFill>
            <a:srgbClr val="FFFF00"/>
          </a:solid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90000"/>
              </a:lnSpc>
              <a:spcBef>
                <a:spcPts val="0"/>
              </a:spcBef>
              <a:spcAft>
                <a:spcPct val="0"/>
              </a:spcAft>
              <a:buClr>
                <a:srgbClr val="000000"/>
              </a:buClr>
              <a:buSzPct val="100000"/>
              <a:buNone/>
              <a:tabLst/>
              <a:defRPr/>
            </a:pPr>
            <a:r>
              <a:rPr lang="en-US" altLang="en-US" sz="1800" noProof="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a:t>
            </a:r>
            <a:r>
              <a:rPr kumimoji="0" lang="en-US" altLang="en-US" sz="180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hat</a:t>
            </a:r>
            <a:r>
              <a:rPr kumimoji="0" lang="en-US" altLang="en-US" sz="180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does a good “recommendation for action” statement look like?</a:t>
            </a:r>
            <a:endParaRPr kumimoji="0" lang="en-US" altLang="en-US" sz="180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Tx/>
              <a:buSzPct val="100000"/>
              <a:buFont typeface="Wingdings" panose="05000000000000000000" pitchFamily="2" charset="2"/>
              <a:buChar char="Ø"/>
              <a:defRPr/>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Tx/>
              <a:buSzPct val="100000"/>
              <a:buFont typeface="Wingdings" panose="05000000000000000000" pitchFamily="2" charset="2"/>
              <a:buChar char="Ø"/>
              <a:defRPr/>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Alternatively, one could create a combined recommendation to address both latent causes:</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90000"/>
              </a:lnSpc>
              <a:spcBef>
                <a:spcPts val="0"/>
              </a:spcBef>
              <a:buClrTx/>
              <a:buSzPct val="100000"/>
              <a:buFont typeface="Wingdings" panose="05000000000000000000" pitchFamily="2" charset="2"/>
              <a:buChar char="Ø"/>
              <a:defRPr/>
            </a:pP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Implement an auditing program that ensures regular internal and external evaluations are performed for ongoing construction practices, as well as for inspection documents and the review of those documents.</a:t>
            </a:r>
          </a:p>
          <a:p>
            <a:pPr marL="360000" lvl="0" indent="-360000" eaLnBrk="0" hangingPunct="0">
              <a:lnSpc>
                <a:spcPct val="90000"/>
              </a:lnSpc>
              <a:spcBef>
                <a:spcPts val="0"/>
              </a:spcBef>
              <a:buClrTx/>
              <a:buSzPct val="100000"/>
              <a:buFont typeface="Wingdings" panose="05000000000000000000" pitchFamily="2" charset="2"/>
              <a:buChar char="Ø"/>
              <a:defRPr/>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Tx/>
              <a:buSzPct val="100000"/>
              <a:buFont typeface="Wingdings" panose="05000000000000000000" pitchFamily="2" charset="2"/>
              <a:buChar char="Ø"/>
              <a:defRPr/>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BUT the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phrase "Implement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 auditing program</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 ensure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inspections are done" is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somewhat weak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i.e</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it is not expressed in concrete terms. </a:t>
            </a: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Tx/>
              <a:buSzPct val="100000"/>
              <a:buFont typeface="Wingdings" panose="05000000000000000000" pitchFamily="2" charset="2"/>
              <a:buChar char="Ø"/>
              <a:defRPr/>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combined recommendation can be expressed as either:</a:t>
            </a:r>
          </a:p>
          <a:p>
            <a:pPr marL="720000" lvl="0" indent="-360000" eaLnBrk="0" hangingPunct="0">
              <a:lnSpc>
                <a:spcPct val="90000"/>
              </a:lnSpc>
              <a:spcBef>
                <a:spcPts val="0"/>
              </a:spcBef>
              <a:buClrTx/>
              <a:buSzPct val="100000"/>
              <a:buFont typeface="Wingdings" panose="05000000000000000000" pitchFamily="2" charset="2"/>
              <a:buChar char="Ø"/>
              <a:defRPr/>
            </a:pP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Implement an auditing program standard to define how and when to perform regular / periodic internal and external evaluations for ongoing construction practices, as well as for inspection documents and the review of those documents.</a:t>
            </a:r>
          </a:p>
          <a:p>
            <a:pPr marL="720000" lvl="0" indent="-360000" eaLnBrk="0" hangingPunct="0">
              <a:lnSpc>
                <a:spcPct val="90000"/>
              </a:lnSpc>
              <a:spcBef>
                <a:spcPts val="0"/>
              </a:spcBef>
              <a:buClrTx/>
              <a:buSzPct val="100000"/>
              <a:buFont typeface="Wingdings" panose="05000000000000000000" pitchFamily="2" charset="2"/>
              <a:buChar char="Ø"/>
              <a:defRPr/>
            </a:pP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Implement a standard within the auditing program to define how and when to perform regular / periodic internal and external evaluations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of on-going </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construction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practices, and the as well as for </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inspection documents and the review of those documents</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lang="en-US" altLang="en-US" sz="2400" b="0" dirty="0" smtClean="0">
                <a:solidFill>
                  <a:srgbClr val="333399"/>
                </a:solidFill>
                <a:latin typeface="Arial" panose="020B0604020202020204" pitchFamily="34" charset="0"/>
                <a:cs typeface="Arial" panose="020B0604020202020204" pitchFamily="34" charset="0"/>
              </a:rPr>
              <a:t>Recommendation for Action:</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4.5: Linking Latent Causes to Recommendations</a:t>
            </a:r>
          </a:p>
        </p:txBody>
      </p:sp>
    </p:spTree>
    <p:extLst>
      <p:ext uri="{BB962C8B-B14F-4D97-AF65-F5344CB8AC3E}">
        <p14:creationId xmlns:p14="http://schemas.microsoft.com/office/powerpoint/2010/main" val="3248880226"/>
      </p:ext>
    </p:ext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Tx/>
              <a:buSzPct val="100000"/>
              <a:buFont typeface="Wingdings" panose="05000000000000000000" pitchFamily="2" charset="2"/>
              <a:buChar char="Ø"/>
              <a:defRP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Each root ends in one unique latent cause, and one latent cause can align to only one risk management system element.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latent cause is stated in terms relevant to one unique management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system element.</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recommendation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for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action should readily follow from a well-stated latent cause. It should</a:t>
            </a:r>
            <a:r>
              <a:rPr kumimoji="0" lang="en-CA" altLang="en-US" sz="20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be in concrete terms. </a:t>
            </a:r>
            <a:endPar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b="0" noProof="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 recommendation that addresses a latent cause is MOST effective in preventing a recurrence of a loss incident</a:t>
            </a:r>
            <a:r>
              <a:rPr kumimoji="0" lang="en-CA" altLang="en-US" sz="2000" b="0" i="0" u="none" strike="noStrike" kern="1200" cap="none" spc="0" normalizeH="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through the identified root in the RCA. </a:t>
            </a: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Summary &amp; Key Lessons:</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4.5: Linking Latent Causes to Recommendations</a:t>
            </a:r>
          </a:p>
        </p:txBody>
      </p:sp>
    </p:spTree>
    <p:extLst>
      <p:ext uri="{BB962C8B-B14F-4D97-AF65-F5344CB8AC3E}">
        <p14:creationId xmlns:p14="http://schemas.microsoft.com/office/powerpoint/2010/main" val="2814169817"/>
      </p:ext>
    </p:extLst>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69829</TotalTime>
  <Words>2951</Words>
  <Application>Microsoft Office PowerPoint</Application>
  <PresentationFormat>On-screen Show (4:3)</PresentationFormat>
  <Paragraphs>335</Paragraphs>
  <Slides>17</Slides>
  <Notes>17</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17</vt:i4>
      </vt:variant>
    </vt:vector>
  </HeadingPairs>
  <TitlesOfParts>
    <vt:vector size="24" baseType="lpstr">
      <vt:lpstr>ＭＳ Ｐゴシック</vt:lpstr>
      <vt:lpstr>Arial</vt:lpstr>
      <vt:lpstr>Calibri</vt:lpstr>
      <vt:lpstr>Times New Roman</vt:lpstr>
      <vt:lpstr>Wingdings</vt:lpstr>
      <vt:lpstr>Default Design</vt:lpstr>
      <vt:lpstr>1_Default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The University of Texas at Austin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MSB</dc:creator>
  <cp:lastModifiedBy>JR Cocchio</cp:lastModifiedBy>
  <cp:revision>2000</cp:revision>
  <cp:lastPrinted>2018-12-17T22:21:47Z</cp:lastPrinted>
  <dcterms:created xsi:type="dcterms:W3CDTF">2007-03-28T16:18:47Z</dcterms:created>
  <dcterms:modified xsi:type="dcterms:W3CDTF">2021-12-30T19:55:42Z</dcterms:modified>
</cp:coreProperties>
</file>