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10" roundtripDataSignature="AMtx7mjkFYiZyDe9U1URAdckL3f/vP6s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customschemas.google.com/relationships/presentationmetadata" Target="meta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 name="Google Shape;30;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53" name="Google Shape;53;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62" name="Google Shape;62;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1" name="Google Shape;71;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6"/>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6"/>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8"/>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9"/>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9"/>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9"/>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5"/>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5"/>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5"/>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
          <p:cNvSpPr txBox="1"/>
          <p:nvPr/>
        </p:nvSpPr>
        <p:spPr>
          <a:xfrm>
            <a:off x="228600" y="838200"/>
            <a:ext cx="8610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b="1" i="1" sz="3600" u="none" cap="none" strike="noStrike">
              <a:solidFill>
                <a:srgbClr val="000099"/>
              </a:solidFill>
              <a:latin typeface="Calibri"/>
              <a:ea typeface="Calibri"/>
              <a:cs typeface="Calibri"/>
              <a:sym typeface="Calibri"/>
            </a:endParaRPr>
          </a:p>
        </p:txBody>
      </p:sp>
      <p:sp>
        <p:nvSpPr>
          <p:cNvPr id="33" name="Google Shape;33;p1"/>
          <p:cNvSpPr txBox="1"/>
          <p:nvPr>
            <p:ph idx="1" type="subTitle"/>
          </p:nvPr>
        </p:nvSpPr>
        <p:spPr>
          <a:xfrm>
            <a:off x="838200" y="2105520"/>
            <a:ext cx="7315201" cy="216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ENGG404 - Lecture</a:t>
            </a:r>
            <a:endParaRPr/>
          </a:p>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Preparation for Assignment #3</a:t>
            </a:r>
            <a:endParaRPr b="1" i="0" sz="3200" u="none" cap="none" strike="noStrike">
              <a:solidFill>
                <a:schemeClr val="dk2"/>
              </a:solidFill>
              <a:latin typeface="Arial"/>
              <a:ea typeface="Arial"/>
              <a:cs typeface="Arial"/>
              <a:sym typeface="Arial"/>
            </a:endParaRPr>
          </a:p>
        </p:txBody>
      </p:sp>
      <p:sp>
        <p:nvSpPr>
          <p:cNvPr id="34" name="Google Shape;34;p1"/>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35" name="Google Shape;35;p1"/>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36" name="Google Shape;36;p1"/>
          <p:cNvSpPr txBox="1"/>
          <p:nvPr/>
        </p:nvSpPr>
        <p:spPr>
          <a:xfrm>
            <a:off x="7874130" y="169908"/>
            <a:ext cx="1155550"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37" name="Google Shape;37;p1"/>
          <p:cNvSpPr txBox="1"/>
          <p:nvPr/>
        </p:nvSpPr>
        <p:spPr>
          <a:xfrm>
            <a:off x="7051217" y="169908"/>
            <a:ext cx="671096"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38" name="Google Shape;38;p1"/>
          <p:cNvSpPr txBox="1"/>
          <p:nvPr/>
        </p:nvSpPr>
        <p:spPr>
          <a:xfrm>
            <a:off x="3834670"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39" name="Google Shape;39;p1"/>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40" name="Google Shape;40;p1"/>
          <p:cNvSpPr txBox="1"/>
          <p:nvPr/>
        </p:nvSpPr>
        <p:spPr>
          <a:xfrm>
            <a:off x="2657853" y="170432"/>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41" name="Google Shape;41;p1"/>
          <p:cNvCxnSpPr>
            <a:stCxn id="34" idx="3"/>
            <a:endCxn id="35" idx="1"/>
          </p:cNvCxnSpPr>
          <p:nvPr/>
        </p:nvCxnSpPr>
        <p:spPr>
          <a:xfrm flipH="1" rot="10800000">
            <a:off x="1329219" y="400848"/>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42" name="Google Shape;42;p1"/>
          <p:cNvCxnSpPr>
            <a:stCxn id="35" idx="3"/>
            <a:endCxn id="40" idx="1"/>
          </p:cNvCxnSpPr>
          <p:nvPr/>
        </p:nvCxnSpPr>
        <p:spPr>
          <a:xfrm>
            <a:off x="2506036" y="400741"/>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3" name="Google Shape;43;p1"/>
          <p:cNvCxnSpPr>
            <a:stCxn id="40" idx="3"/>
            <a:endCxn id="38" idx="1"/>
          </p:cNvCxnSpPr>
          <p:nvPr/>
        </p:nvCxnSpPr>
        <p:spPr>
          <a:xfrm flipH="1" rot="10800000">
            <a:off x="3682852" y="400665"/>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4" name="Google Shape;44;p1"/>
          <p:cNvCxnSpPr>
            <a:stCxn id="38" idx="3"/>
            <a:endCxn id="39" idx="1"/>
          </p:cNvCxnSpPr>
          <p:nvPr/>
        </p:nvCxnSpPr>
        <p:spPr>
          <a:xfrm>
            <a:off x="4859669"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5" name="Google Shape;45;p1"/>
          <p:cNvCxnSpPr>
            <a:stCxn id="39" idx="3"/>
          </p:cNvCxnSpPr>
          <p:nvPr/>
        </p:nvCxnSpPr>
        <p:spPr>
          <a:xfrm>
            <a:off x="6036485"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6" name="Google Shape;46;p1"/>
          <p:cNvCxnSpPr>
            <a:endCxn id="37" idx="1"/>
          </p:cNvCxnSpPr>
          <p:nvPr/>
        </p:nvCxnSpPr>
        <p:spPr>
          <a:xfrm>
            <a:off x="6899417"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7" name="Google Shape;47;p1"/>
          <p:cNvCxnSpPr>
            <a:stCxn id="37" idx="3"/>
            <a:endCxn id="36" idx="1"/>
          </p:cNvCxnSpPr>
          <p:nvPr/>
        </p:nvCxnSpPr>
        <p:spPr>
          <a:xfrm>
            <a:off x="7722313" y="400741"/>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48" name="Google Shape;48;p1"/>
          <p:cNvSpPr txBox="1"/>
          <p:nvPr/>
        </p:nvSpPr>
        <p:spPr>
          <a:xfrm>
            <a:off x="6188301" y="169907"/>
            <a:ext cx="692362"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49" name="Google Shape;49;p1"/>
          <p:cNvPicPr preferRelativeResize="0"/>
          <p:nvPr/>
        </p:nvPicPr>
        <p:blipFill rotWithShape="1">
          <a:blip r:embed="rId3">
            <a:alphaModFix/>
          </a:blip>
          <a:srcRect b="0" l="0" r="0" t="0"/>
          <a:stretch/>
        </p:blipFill>
        <p:spPr>
          <a:xfrm>
            <a:off x="891182" y="4114800"/>
            <a:ext cx="1766671" cy="1766671"/>
          </a:xfrm>
          <a:prstGeom prst="rect">
            <a:avLst/>
          </a:prstGeom>
          <a:noFill/>
          <a:ln>
            <a:noFill/>
          </a:ln>
        </p:spPr>
      </p:pic>
      <p:pic>
        <p:nvPicPr>
          <p:cNvPr descr="Introduction to Sociology - 2013 - The Collaboratory" id="50" name="Google Shape;50;p1"/>
          <p:cNvPicPr preferRelativeResize="0"/>
          <p:nvPr/>
        </p:nvPicPr>
        <p:blipFill rotWithShape="1">
          <a:blip r:embed="rId4">
            <a:alphaModFix/>
          </a:blip>
          <a:srcRect b="0" l="0" r="0" t="0"/>
          <a:stretch/>
        </p:blipFill>
        <p:spPr>
          <a:xfrm>
            <a:off x="6096500" y="4114613"/>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assignment is designed to:</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Build expertise and your skills for leadership in risk management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Assess your performance up to / including </a:t>
            </a:r>
            <a:r>
              <a:rPr b="1" i="0" lang="en-US" sz="2000" u="none" cap="none" strike="noStrike">
                <a:solidFill>
                  <a:srgbClr val="000000"/>
                </a:solidFill>
                <a:latin typeface="Arial"/>
                <a:ea typeface="Arial"/>
                <a:cs typeface="Arial"/>
                <a:sym typeface="Arial"/>
              </a:rPr>
              <a:t>Lecture #27</a:t>
            </a:r>
            <a:r>
              <a:rPr b="0"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It is also about </a:t>
            </a:r>
            <a:r>
              <a:rPr b="0" i="0" lang="en-US" sz="2000" u="sng" cap="none" strike="noStrike">
                <a:solidFill>
                  <a:srgbClr val="000000"/>
                </a:solidFill>
                <a:latin typeface="Arial"/>
                <a:ea typeface="Arial"/>
                <a:cs typeface="Arial"/>
                <a:sym typeface="Arial"/>
              </a:rPr>
              <a:t>helping you succeed on the Final Exam</a:t>
            </a:r>
            <a:r>
              <a:rPr b="0" i="0" lang="en-US" sz="2000" u="none" cap="none" strike="noStrike">
                <a:solidFill>
                  <a:srgbClr val="000000"/>
                </a:solidFill>
                <a:latin typeface="Arial"/>
                <a:ea typeface="Arial"/>
                <a:cs typeface="Arial"/>
                <a:sym typeface="Arial"/>
              </a:rPr>
              <a:t>.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Simulate the condition</a:t>
            </a:r>
            <a:r>
              <a:rPr b="0" i="0" lang="en-US" sz="2000" u="none" cap="none" strike="noStrike">
                <a:solidFill>
                  <a:srgbClr val="000000"/>
                </a:solidFill>
                <a:latin typeface="Arial"/>
                <a:ea typeface="Arial"/>
                <a:cs typeface="Arial"/>
                <a:sym typeface="Arial"/>
              </a:rPr>
              <a:t>s of the Final Exam, prepare and practice.</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you perform this assignment, you should attempt to do it under "exam like" conditions e.g. schedule some time prior to doing the assignment in order to study as though it were an exam, and then set aside a day or two in a quiet study space.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Make use of “any available resources”: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is NOT an effective substitute for studying.</a:t>
            </a:r>
            <a:endParaRPr/>
          </a:p>
          <a:p>
            <a:pPr indent="-232999" lvl="1"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Complete and submit the assignment online through eClass. </a:t>
            </a:r>
            <a:endParaRPr/>
          </a:p>
          <a:p>
            <a:pPr indent="-232999" lvl="1"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57" name="Google Shape;57;p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ENGG404 - Assignment #3 (weight = 5%)</a:t>
            </a:r>
            <a:endParaRPr b="0" i="0" sz="2400" u="none" cap="none" strike="noStrike">
              <a:solidFill>
                <a:schemeClr val="dk1"/>
              </a:solidFill>
              <a:latin typeface="Arial"/>
              <a:ea typeface="Arial"/>
              <a:cs typeface="Arial"/>
              <a:sym typeface="Arial"/>
            </a:endParaRPr>
          </a:p>
        </p:txBody>
      </p:sp>
      <p:sp>
        <p:nvSpPr>
          <p:cNvPr id="58" name="Google Shape;58;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9" name="Google Shape;59;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Preparation for Assignment #3</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Due date per Course Plan:</a:t>
            </a:r>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There is no extension except by exception. </a:t>
            </a:r>
            <a:endParaRPr b="0" i="0" sz="2000" u="none" cap="none" strike="noStrike">
              <a:solidFill>
                <a:srgbClr val="000000"/>
              </a:solidFill>
              <a:latin typeface="Arial"/>
              <a:ea typeface="Arial"/>
              <a:cs typeface="Arial"/>
              <a:sym typeface="Arial"/>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Any exceptions please contact your professor. </a:t>
            </a:r>
            <a:endParaRPr b="0" i="0" sz="2000" u="none" cap="none" strike="noStrike">
              <a:solidFill>
                <a:srgbClr val="000000"/>
              </a:solidFill>
              <a:latin typeface="Arial"/>
              <a:ea typeface="Arial"/>
              <a:cs typeface="Arial"/>
              <a:sym typeface="Arial"/>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Getting dates and times confused is not a valid exception. </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Assignment presented in three (3) segments. </a:t>
            </a:r>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 can the segments in any order.</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Due dates and times on eClass for all are: </a:t>
            </a:r>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All segments open at 08:00AM 13-March-2022</a:t>
            </a:r>
            <a:endParaRPr b="1" i="0" sz="2000" u="none" cap="none" strike="noStrike">
              <a:solidFill>
                <a:srgbClr val="FF0000"/>
              </a:solidFill>
              <a:latin typeface="Arial"/>
              <a:ea typeface="Arial"/>
              <a:cs typeface="Arial"/>
              <a:sym typeface="Arial"/>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All segments close at </a:t>
            </a:r>
            <a:r>
              <a:rPr b="1" lang="en-US" sz="2000">
                <a:solidFill>
                  <a:srgbClr val="FF0000"/>
                </a:solidFill>
              </a:rPr>
              <a:t>11:55P</a:t>
            </a:r>
            <a:r>
              <a:rPr b="1" i="0" lang="en-US" sz="2000" u="none" cap="none" strike="noStrike">
                <a:solidFill>
                  <a:srgbClr val="FF0000"/>
                </a:solidFill>
                <a:latin typeface="Arial"/>
                <a:ea typeface="Arial"/>
                <a:cs typeface="Arial"/>
                <a:sym typeface="Arial"/>
              </a:rPr>
              <a:t>M </a:t>
            </a:r>
            <a:r>
              <a:rPr b="1" lang="en-US" sz="2000">
                <a:solidFill>
                  <a:srgbClr val="FF0000"/>
                </a:solidFill>
              </a:rPr>
              <a:t>4-April</a:t>
            </a:r>
            <a:r>
              <a:rPr b="1" i="0" lang="en-US" sz="2000" u="none" cap="none" strike="noStrike">
                <a:solidFill>
                  <a:srgbClr val="FF0000"/>
                </a:solidFill>
                <a:latin typeface="Arial"/>
                <a:ea typeface="Arial"/>
                <a:cs typeface="Arial"/>
                <a:sym typeface="Arial"/>
              </a:rPr>
              <a:t>-2022</a:t>
            </a:r>
            <a:endParaRPr/>
          </a:p>
          <a:p>
            <a:pPr indent="-232999" lvl="1" marL="720000" marR="0" rtl="0" algn="l">
              <a:lnSpc>
                <a:spcPct val="90000"/>
              </a:lnSpc>
              <a:spcBef>
                <a:spcPts val="0"/>
              </a:spcBef>
              <a:spcAft>
                <a:spcPts val="0"/>
              </a:spcAft>
              <a:buClr>
                <a:srgbClr val="000000"/>
              </a:buClr>
              <a:buSzPts val="2000"/>
              <a:buFont typeface="Noto Sans Symbols"/>
              <a:buNone/>
            </a:pPr>
            <a:r>
              <a:t/>
            </a:r>
            <a:endParaRPr b="1" i="0" sz="2000" u="none" cap="none" strike="noStrike">
              <a:solidFill>
                <a:srgbClr val="FF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Only </a:t>
            </a:r>
            <a:r>
              <a:rPr b="1" i="0" lang="en-US" sz="2000" u="none" cap="none" strike="noStrike">
                <a:solidFill>
                  <a:srgbClr val="000000"/>
                </a:solidFill>
                <a:latin typeface="Arial"/>
                <a:ea typeface="Arial"/>
                <a:cs typeface="Arial"/>
                <a:sym typeface="Arial"/>
              </a:rPr>
              <a:t>ONE (1) attempt</a:t>
            </a:r>
            <a:r>
              <a:rPr b="0" i="0" lang="en-US" sz="2000" u="none" cap="none" strike="noStrike">
                <a:solidFill>
                  <a:srgbClr val="000000"/>
                </a:solidFill>
                <a:latin typeface="Arial"/>
                <a:ea typeface="Arial"/>
                <a:cs typeface="Arial"/>
                <a:sym typeface="Arial"/>
              </a:rPr>
              <a:t> is allowed for each segment. </a:t>
            </a:r>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Once you start the attempt, you must complete it. </a:t>
            </a:r>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Be prepared to do so!. </a:t>
            </a:r>
            <a:endParaRPr/>
          </a:p>
          <a:p>
            <a:pPr indent="-232999" lvl="1" marL="720000" marR="0" rtl="0" algn="l">
              <a:lnSpc>
                <a:spcPct val="90000"/>
              </a:lnSpc>
              <a:spcBef>
                <a:spcPts val="0"/>
              </a:spcBef>
              <a:spcAft>
                <a:spcPts val="0"/>
              </a:spcAft>
              <a:buClr>
                <a:srgbClr val="000000"/>
              </a:buClr>
              <a:buSzPts val="2000"/>
              <a:buFont typeface="Noto Sans Symbols"/>
              <a:buNone/>
            </a:pPr>
            <a:r>
              <a:t/>
            </a:r>
            <a:endParaRPr b="1" i="0" sz="2000" u="none" cap="none" strike="noStrike">
              <a:solidFill>
                <a:srgbClr val="FF0000"/>
              </a:solidFill>
              <a:latin typeface="Arial"/>
              <a:ea typeface="Arial"/>
              <a:cs typeface="Arial"/>
              <a:sym typeface="Arial"/>
            </a:endParaRPr>
          </a:p>
        </p:txBody>
      </p:sp>
      <p:sp>
        <p:nvSpPr>
          <p:cNvPr id="66" name="Google Shape;66;p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ENGG404 - Assignment #3 (weight = 5%)</a:t>
            </a:r>
            <a:endParaRPr b="0" i="0" sz="2400" u="none" cap="none" strike="noStrike">
              <a:solidFill>
                <a:schemeClr val="dk1"/>
              </a:solidFill>
              <a:latin typeface="Arial"/>
              <a:ea typeface="Arial"/>
              <a:cs typeface="Arial"/>
              <a:sym typeface="Arial"/>
            </a:endParaRPr>
          </a:p>
        </p:txBody>
      </p:sp>
      <p:sp>
        <p:nvSpPr>
          <p:cNvPr id="67" name="Google Shape;67;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8" name="Google Shape;68;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Preparation for Assignment #3</a:t>
            </a: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Each segment has a different number of questions / marks, different overall grade weighting, and different durations to write.</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See eClass for breakdown of questions, marks, duration, for each segment.</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You may do the segments in any order. </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The navigation through the questions is sequential: </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Start on the first question, respond to it, then go to the next question</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“No going back” to previous questions that are not on the same “page”; do NOT skip a question / page!</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To navigate to the next question, select the button in the lower right corner. </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p:txBody>
      </p:sp>
      <p:sp>
        <p:nvSpPr>
          <p:cNvPr id="75" name="Google Shape;75;p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ENGG404 - Assignment #3 (weight = 5%)</a:t>
            </a:r>
            <a:endParaRPr b="0" i="0" sz="2400" u="none" cap="none" strike="noStrike">
              <a:solidFill>
                <a:schemeClr val="dk1"/>
              </a:solidFill>
              <a:latin typeface="Arial"/>
              <a:ea typeface="Arial"/>
              <a:cs typeface="Arial"/>
              <a:sym typeface="Arial"/>
            </a:endParaRPr>
          </a:p>
        </p:txBody>
      </p:sp>
      <p:sp>
        <p:nvSpPr>
          <p:cNvPr id="76" name="Google Shape;76;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7" name="Google Shape;77;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Preparation for Assignment #3</a:t>
            </a:r>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