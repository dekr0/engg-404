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895" r:id="rId2"/>
    <p:sldId id="880" r:id="rId3"/>
    <p:sldId id="903" r:id="rId4"/>
    <p:sldId id="915" r:id="rId5"/>
    <p:sldId id="913" r:id="rId6"/>
    <p:sldId id="914" r:id="rId7"/>
    <p:sldId id="905" r:id="rId8"/>
    <p:sldId id="906" r:id="rId9"/>
    <p:sldId id="907" r:id="rId10"/>
    <p:sldId id="902" r:id="rId11"/>
    <p:sldId id="908" r:id="rId12"/>
    <p:sldId id="940" r:id="rId13"/>
    <p:sldId id="910" r:id="rId14"/>
    <p:sldId id="911" r:id="rId15"/>
    <p:sldId id="918" r:id="rId16"/>
    <p:sldId id="919" r:id="rId17"/>
    <p:sldId id="920" r:id="rId18"/>
    <p:sldId id="921" r:id="rId19"/>
    <p:sldId id="945" r:id="rId20"/>
    <p:sldId id="923" r:id="rId21"/>
    <p:sldId id="924" r:id="rId22"/>
    <p:sldId id="926" r:id="rId23"/>
    <p:sldId id="927" r:id="rId24"/>
    <p:sldId id="928" r:id="rId25"/>
    <p:sldId id="936" r:id="rId26"/>
    <p:sldId id="937" r:id="rId27"/>
    <p:sldId id="938" r:id="rId28"/>
    <p:sldId id="939" r:id="rId29"/>
    <p:sldId id="946" r:id="rId30"/>
    <p:sldId id="947" r:id="rId3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03"/>
            <p14:sldId id="915"/>
            <p14:sldId id="913"/>
            <p14:sldId id="914"/>
            <p14:sldId id="905"/>
            <p14:sldId id="906"/>
            <p14:sldId id="907"/>
            <p14:sldId id="902"/>
            <p14:sldId id="908"/>
            <p14:sldId id="940"/>
            <p14:sldId id="910"/>
            <p14:sldId id="911"/>
            <p14:sldId id="918"/>
            <p14:sldId id="919"/>
            <p14:sldId id="920"/>
            <p14:sldId id="921"/>
            <p14:sldId id="945"/>
            <p14:sldId id="923"/>
            <p14:sldId id="924"/>
            <p14:sldId id="926"/>
            <p14:sldId id="927"/>
            <p14:sldId id="928"/>
            <p14:sldId id="936"/>
            <p14:sldId id="937"/>
            <p14:sldId id="938"/>
            <p14:sldId id="939"/>
            <p14:sldId id="946"/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00"/>
    <a:srgbClr val="66FFFF"/>
    <a:srgbClr val="0000FF"/>
    <a:srgbClr val="0000CC"/>
    <a:srgbClr val="F8F8F8"/>
    <a:srgbClr val="F5D7F1"/>
    <a:srgbClr val="5F5F5F"/>
    <a:srgbClr val="DDDDDD"/>
    <a:srgbClr val="FBA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220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40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2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49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66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33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26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40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982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31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39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02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439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297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42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347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51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15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89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70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75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99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2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26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1659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8412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27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88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02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6.1: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 to Technical Safety and Avoiding Catastrophic Loss Incidents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two different types of loss incidents, and the differences: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ccupational Safety LI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LI</a:t>
            </a:r>
          </a:p>
          <a:p>
            <a:pPr marL="108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is a sub-set of Technical Safety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technical safety loss incidents and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investigations in the context of other engineering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disciplines i.e. the catastrophic loss incident.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concept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to an industrial example.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concerns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refers to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prevention of worker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injuries,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prevention of trips, slips and falls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includes the prevention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or an unintentional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releases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form of energy. Process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is a specialized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sub-set.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 it follows that there are 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 startAt="2"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 startAt="2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LI: 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integrity of the design intent of the engineered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Unintentional or uncontrolled release of some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Extremely low </a:t>
            </a:r>
            <a:r>
              <a:rPr lang="en-US" alt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with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consequences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  <a:p>
            <a:pPr marL="36000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 that most government agencies do NOT differentiate between these two kinds of loss incidents – any injury in the workplace regardless of the nature of the loss incident is classified as an “occupational injury”.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Different Types of Safety Concerns and LIs: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30503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Hazard: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 - typical “technical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or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“technical safety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may lead to a “technical safety loss incident”: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situation where the activity is taking place </a:t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(i.e. the facility, equipment)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Harm or damage to PEAP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that resulted in a release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Nature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 or nature of materials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(shock hazard, momentum/motion, flammable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combustible,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etc.)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 definition of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 two incident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 to an understanding that “technical safety” is NOT limited to chemical unit process operations i.e. any “catastrophic loss incident”!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 Hazard and The Incident Models: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3737400"/>
            <a:ext cx="1498200" cy="13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5;p12" descr="BD06711_[1]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108" y="3714298"/>
            <a:ext cx="1368000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ight Arrow 1"/>
          <p:cNvSpPr/>
          <p:nvPr/>
        </p:nvSpPr>
        <p:spPr>
          <a:xfrm>
            <a:off x="381000" y="3838688"/>
            <a:ext cx="5638800" cy="1266712"/>
          </a:xfrm>
          <a:prstGeom prst="rightArrow">
            <a:avLst>
              <a:gd name="adj1" fmla="val 73100"/>
              <a:gd name="adj2" fmla="val 50000"/>
            </a:avLst>
          </a:prstGeom>
          <a:solidFill>
            <a:srgbClr val="0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Now, recall the </a:t>
            </a:r>
            <a:r>
              <a:rPr lang="en-US" i="1" dirty="0" smtClean="0"/>
              <a:t>two </a:t>
            </a:r>
            <a:r>
              <a:rPr lang="en-US" i="1" u="sng" dirty="0" smtClean="0"/>
              <a:t>Incident Models</a:t>
            </a:r>
            <a:r>
              <a:rPr lang="en-US" i="1" dirty="0" smtClean="0"/>
              <a:t>, the Discovery </a:t>
            </a:r>
            <a:r>
              <a:rPr lang="en-US" i="1" dirty="0"/>
              <a:t>Approach and </a:t>
            </a:r>
            <a:br>
              <a:rPr lang="en-US" i="1" dirty="0"/>
            </a:br>
            <a:r>
              <a:rPr lang="en-US" i="1" dirty="0"/>
              <a:t>relate </a:t>
            </a:r>
            <a:r>
              <a:rPr lang="en-US" i="1" dirty="0" smtClean="0"/>
              <a:t>these </a:t>
            </a:r>
            <a:r>
              <a:rPr lang="en-US" i="1" dirty="0"/>
              <a:t>to </a:t>
            </a:r>
            <a:r>
              <a:rPr lang="en-US" i="1" dirty="0" smtClean="0"/>
              <a:t>any catastrophic loss </a:t>
            </a:r>
            <a:r>
              <a:rPr lang="en-US" i="1" dirty="0"/>
              <a:t>incident</a:t>
            </a:r>
            <a:r>
              <a:rPr lang="en-US" i="1" dirty="0" smtClean="0"/>
              <a:t>!</a:t>
            </a:r>
            <a:endParaRPr lang="en-US" i="1" dirty="0"/>
          </a:p>
        </p:txBody>
      </p:sp>
      <p:sp>
        <p:nvSpPr>
          <p:cNvPr id="1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4723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818596" cy="529282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Definition: “technical safety hazard”: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?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864001"/>
            <a:ext cx="2665800" cy="2442242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Event?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Safeguard?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Technical Safety, RCA, &amp; The Discovery Approach: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0148" y="220980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7" name="Google Shape;255;p12" descr="BD06711_[1]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800" y="222659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200" y="4687668"/>
            <a:ext cx="1725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4687669"/>
            <a:ext cx="2302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996" y="4687668"/>
            <a:ext cx="21348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655676" y="3753924"/>
            <a:ext cx="634068" cy="123342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3" idx="1"/>
            <a:endCxn id="11" idx="0"/>
          </p:cNvCxnSpPr>
          <p:nvPr/>
        </p:nvCxnSpPr>
        <p:spPr>
          <a:xfrm rot="5400000">
            <a:off x="3465216" y="3796884"/>
            <a:ext cx="634069" cy="11475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420316" y="2751984"/>
            <a:ext cx="634068" cy="32373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6200" y="5435025"/>
            <a:ext cx="17250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5435025"/>
            <a:ext cx="23022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Triggering Event: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5435024"/>
            <a:ext cx="21348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31796" y="4684620"/>
            <a:ext cx="22317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05600" y="5431976"/>
            <a:ext cx="22317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No Safeguard: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786325" y="2623275"/>
            <a:ext cx="631020" cy="349167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46434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864001"/>
            <a:ext cx="2665800" cy="2442242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Event?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Safeguard?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 “technical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hazard” definition: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crane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people crushed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Wind loading exceeds specifications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Gravity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Safety, RCA, and The Discovery Approach: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0148" y="220980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7" name="Google Shape;255;p12" descr="BD06711_[1]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800" y="222659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000" y="4687668"/>
            <a:ext cx="1725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fell to ground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4687669"/>
            <a:ext cx="2302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ind forces exceeded crane strength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996" y="4687668"/>
            <a:ext cx="21348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People were below the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655676" y="3753924"/>
            <a:ext cx="634068" cy="123342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3" idx="1"/>
            <a:endCxn id="11" idx="0"/>
          </p:cNvCxnSpPr>
          <p:nvPr/>
        </p:nvCxnSpPr>
        <p:spPr>
          <a:xfrm rot="5400000">
            <a:off x="3465216" y="3796884"/>
            <a:ext cx="634069" cy="1147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382216" y="2713884"/>
            <a:ext cx="634068" cy="3313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0000" y="5435025"/>
            <a:ext cx="17250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gravity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5435025"/>
            <a:ext cx="23022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Triggering Event: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excessive wind loads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5435024"/>
            <a:ext cx="21348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People below crane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848" y="4684620"/>
            <a:ext cx="22317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did not keep people out of area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0652" y="5431976"/>
            <a:ext cx="22317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No Safeguard: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not in place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803851" y="2605749"/>
            <a:ext cx="631020" cy="352672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ouble Wave 3"/>
          <p:cNvSpPr/>
          <p:nvPr/>
        </p:nvSpPr>
        <p:spPr>
          <a:xfrm>
            <a:off x="219900" y="2743200"/>
            <a:ext cx="2742672" cy="1524000"/>
          </a:xfrm>
          <a:prstGeom prst="doubleWav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sz="1600" i="1" dirty="0" smtClean="0"/>
              <a:t>Indeed, a crane collapse is a catastrophic LI akin to a refinery explosion.</a:t>
            </a:r>
            <a:endParaRPr lang="en-US" sz="1600" i="1" dirty="0"/>
          </a:p>
        </p:txBody>
      </p:sp>
      <p:sp>
        <p:nvSpPr>
          <p:cNvPr id="25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1233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80000" y="1836000"/>
            <a:ext cx="8640000" cy="4320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Containment: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Tailings 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a tailings pond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Sewage from a sludge line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Private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/ secured data breach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Hydrocarbons from a train car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Slope failure of a quarry or roadway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endParaRPr lang="en-CA" sz="1800" b="0" i="1" dirty="0" smtClean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Integrity of </a:t>
            </a: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Eng’d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Systems:</a:t>
            </a:r>
          </a:p>
          <a:p>
            <a:pPr marL="342900" indent="-342900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Aerospace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Boeing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737MAX, 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STS Challenger &amp; Columbia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Marine: off-shore BP-DWH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Civil: Bridges, buildings, dams, cranes 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Transportation: Train derailments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Automotive / Computer Process Control: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Takata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airbags, Tesla self-driving vehicles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12800" y="1944000"/>
            <a:ext cx="1800000" cy="1260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loss of the integrity of the engineered system that would have the equivalent magnitude or impact of a “process safety loss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incident”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equivalent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failure!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El Blog de Ricardo SB: Prevención de Pérdida de Datos (I ...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3312000"/>
            <a:ext cx="1800000" cy="1260000"/>
          </a:xfrm>
          <a:prstGeom prst="rect">
            <a:avLst/>
          </a:prstGeom>
        </p:spPr>
      </p:pic>
      <p:pic>
        <p:nvPicPr>
          <p:cNvPr id="11" name="Picture 10" descr="Harper to block NAFTA commission from studying tar sands ...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4644000"/>
            <a:ext cx="1800000" cy="1260000"/>
          </a:xfrm>
          <a:prstGeom prst="rect">
            <a:avLst/>
          </a:prstGeom>
        </p:spPr>
      </p:pic>
      <p:pic>
        <p:nvPicPr>
          <p:cNvPr id="14" name="Picture 13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963000" y="1944000"/>
            <a:ext cx="1800000" cy="1260000"/>
          </a:xfrm>
          <a:prstGeom prst="rect">
            <a:avLst/>
          </a:prstGeom>
        </p:spPr>
      </p:pic>
      <p:pic>
        <p:nvPicPr>
          <p:cNvPr id="16" name="Picture 15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912800" y="3312000"/>
            <a:ext cx="1800000" cy="1260000"/>
          </a:xfrm>
          <a:prstGeom prst="rect">
            <a:avLst/>
          </a:prstGeom>
        </p:spPr>
      </p:pic>
      <p:pic>
        <p:nvPicPr>
          <p:cNvPr id="17" name="Picture 16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912800" y="4644000"/>
            <a:ext cx="1800000" cy="1260000"/>
          </a:xfrm>
          <a:prstGeom prst="rect">
            <a:avLst/>
          </a:prstGeom>
        </p:spPr>
      </p:pic>
      <p:sp>
        <p:nvSpPr>
          <p:cNvPr id="18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4526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fields of engineering involved in Process Safety LIs!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Investigations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 expertise of many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Management and specialized risk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assessments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 expertise: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Design, Constructability, Operability, Maintenance, Process Control, Fire Protection, and so on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Process 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&lt;strong&gt;Railroad&lt;/strong&gt; &lt;strong&gt;tank&lt;/strong&gt; &lt;strong&gt;car&lt;/strong&gt; pictures, free use image, 25-24-6 by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6" y="2732736"/>
            <a:ext cx="2699999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Picture 9" descr="File:Steam Pipelines Near Taupo.jpg - Wikimedia Common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14" y="4191000"/>
            <a:ext cx="2399999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Picture 10" descr="File:&lt;strong&gt;Oil&lt;/strong&gt; Storage &lt;strong&gt;Tanks&lt;/strong&gt; - geograph.org.uk - 4843.jpg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908" y="2789496"/>
            <a:ext cx="2837437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3" name="Picture 12" descr="An oil &lt;strong&gt;refinery&lt;/strong&gt; in Groves, Texas. Original im.. | Free ..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578" y="4156752"/>
            <a:ext cx="269662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64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immediate causes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innumerable: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“Normalization of Deviance”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Immediate Causes of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Process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Loss Incidents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2328947" y="1533083"/>
            <a:ext cx="3897999" cy="3417107"/>
          </a:xfrm>
          <a:custGeom>
            <a:avLst/>
            <a:gdLst>
              <a:gd name="connsiteX0" fmla="*/ 0 w 3897999"/>
              <a:gd name="connsiteY0" fmla="*/ 1708554 h 3417107"/>
              <a:gd name="connsiteX1" fmla="*/ 1949000 w 3897999"/>
              <a:gd name="connsiteY1" fmla="*/ 0 h 3417107"/>
              <a:gd name="connsiteX2" fmla="*/ 3898000 w 3897999"/>
              <a:gd name="connsiteY2" fmla="*/ 1708554 h 3417107"/>
              <a:gd name="connsiteX3" fmla="*/ 1949000 w 3897999"/>
              <a:gd name="connsiteY3" fmla="*/ 3417108 h 3417107"/>
              <a:gd name="connsiteX4" fmla="*/ 0 w 3897999"/>
              <a:gd name="connsiteY4" fmla="*/ 1708554 h 34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7999" h="3417107">
                <a:moveTo>
                  <a:pt x="0" y="1708554"/>
                </a:moveTo>
                <a:cubicBezTo>
                  <a:pt x="0" y="764946"/>
                  <a:pt x="872597" y="0"/>
                  <a:pt x="1949000" y="0"/>
                </a:cubicBezTo>
                <a:cubicBezTo>
                  <a:pt x="3025403" y="0"/>
                  <a:pt x="3898000" y="764946"/>
                  <a:pt x="3898000" y="1708554"/>
                </a:cubicBezTo>
                <a:cubicBezTo>
                  <a:pt x="3898000" y="2652162"/>
                  <a:pt x="3025403" y="3417108"/>
                  <a:pt x="1949000" y="3417108"/>
                </a:cubicBezTo>
                <a:cubicBezTo>
                  <a:pt x="872597" y="3417108"/>
                  <a:pt x="0" y="2652162"/>
                  <a:pt x="0" y="1708554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647049" tIns="576624" rIns="647049" bIns="576624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Not addressing process equipment that is in imminent failure mode, a sub-standard condition. </a:t>
            </a:r>
          </a:p>
        </p:txBody>
      </p:sp>
      <p:sp>
        <p:nvSpPr>
          <p:cNvPr id="49" name="Oval 48"/>
          <p:cNvSpPr/>
          <p:nvPr/>
        </p:nvSpPr>
        <p:spPr>
          <a:xfrm>
            <a:off x="4109674" y="533287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0" name="Oval 49"/>
          <p:cNvSpPr/>
          <p:nvPr/>
        </p:nvSpPr>
        <p:spPr>
          <a:xfrm>
            <a:off x="6499300" y="3576439"/>
            <a:ext cx="336544" cy="336869"/>
          </a:xfrm>
          <a:prstGeom prst="ellipse">
            <a:avLst/>
          </a:prstGeom>
          <a:gradFill rotWithShape="1">
            <a:gsLst>
              <a:gs pos="0">
                <a:srgbClr val="F9DBD3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F9DBD3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F9DBD3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2" name="Oval 51"/>
          <p:cNvSpPr/>
          <p:nvPr/>
        </p:nvSpPr>
        <p:spPr>
          <a:xfrm>
            <a:off x="5153234" y="160823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3" name="Oval 52"/>
          <p:cNvSpPr/>
          <p:nvPr/>
        </p:nvSpPr>
        <p:spPr>
          <a:xfrm>
            <a:off x="2313514" y="530500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4" name="Freeform 53"/>
          <p:cNvSpPr/>
          <p:nvPr/>
        </p:nvSpPr>
        <p:spPr>
          <a:xfrm>
            <a:off x="340442" y="2243445"/>
            <a:ext cx="2508948" cy="2480953"/>
          </a:xfrm>
          <a:custGeom>
            <a:avLst/>
            <a:gdLst>
              <a:gd name="connsiteX0" fmla="*/ 0 w 2508948"/>
              <a:gd name="connsiteY0" fmla="*/ 1240477 h 2480953"/>
              <a:gd name="connsiteX1" fmla="*/ 1254474 w 2508948"/>
              <a:gd name="connsiteY1" fmla="*/ 0 h 2480953"/>
              <a:gd name="connsiteX2" fmla="*/ 2508948 w 2508948"/>
              <a:gd name="connsiteY2" fmla="*/ 1240477 h 2480953"/>
              <a:gd name="connsiteX3" fmla="*/ 1254474 w 2508948"/>
              <a:gd name="connsiteY3" fmla="*/ 2480954 h 2480953"/>
              <a:gd name="connsiteX4" fmla="*/ 0 w 2508948"/>
              <a:gd name="connsiteY4" fmla="*/ 1240477 h 248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8948" h="2480953">
                <a:moveTo>
                  <a:pt x="0" y="1240477"/>
                </a:moveTo>
                <a:cubicBezTo>
                  <a:pt x="0" y="555380"/>
                  <a:pt x="561647" y="0"/>
                  <a:pt x="1254474" y="0"/>
                </a:cubicBezTo>
                <a:cubicBezTo>
                  <a:pt x="1947301" y="0"/>
                  <a:pt x="2508948" y="555380"/>
                  <a:pt x="2508948" y="1240477"/>
                </a:cubicBezTo>
                <a:cubicBezTo>
                  <a:pt x="2508948" y="1925574"/>
                  <a:pt x="1947301" y="2480954"/>
                  <a:pt x="1254474" y="2480954"/>
                </a:cubicBezTo>
                <a:cubicBezTo>
                  <a:pt x="561647" y="2480954"/>
                  <a:pt x="0" y="1925574"/>
                  <a:pt x="0" y="1240477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443627" tIns="439527" rIns="443627" bIns="439527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Tolerance for substandard practices for critical procedures.</a:t>
            </a:r>
          </a:p>
        </p:txBody>
      </p:sp>
      <p:sp>
        <p:nvSpPr>
          <p:cNvPr id="55" name="Oval 54"/>
          <p:cNvSpPr/>
          <p:nvPr/>
        </p:nvSpPr>
        <p:spPr>
          <a:xfrm>
            <a:off x="1105193" y="1957055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6" name="Oval 55"/>
          <p:cNvSpPr/>
          <p:nvPr/>
        </p:nvSpPr>
        <p:spPr>
          <a:xfrm>
            <a:off x="4113150" y="4393293"/>
            <a:ext cx="840196" cy="84021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7" name="Freeform 56"/>
          <p:cNvSpPr/>
          <p:nvPr/>
        </p:nvSpPr>
        <p:spPr>
          <a:xfrm>
            <a:off x="5588075" y="1705941"/>
            <a:ext cx="2895600" cy="2816492"/>
          </a:xfrm>
          <a:custGeom>
            <a:avLst/>
            <a:gdLst>
              <a:gd name="connsiteX0" fmla="*/ 0 w 2895600"/>
              <a:gd name="connsiteY0" fmla="*/ 1408246 h 2816492"/>
              <a:gd name="connsiteX1" fmla="*/ 1447800 w 2895600"/>
              <a:gd name="connsiteY1" fmla="*/ 0 h 2816492"/>
              <a:gd name="connsiteX2" fmla="*/ 2895600 w 2895600"/>
              <a:gd name="connsiteY2" fmla="*/ 1408246 h 2816492"/>
              <a:gd name="connsiteX3" fmla="*/ 1447800 w 2895600"/>
              <a:gd name="connsiteY3" fmla="*/ 2816492 h 2816492"/>
              <a:gd name="connsiteX4" fmla="*/ 0 w 2895600"/>
              <a:gd name="connsiteY4" fmla="*/ 1408246 h 281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0" h="2816492">
                <a:moveTo>
                  <a:pt x="0" y="1408246"/>
                </a:moveTo>
                <a:cubicBezTo>
                  <a:pt x="0" y="630493"/>
                  <a:pt x="648202" y="0"/>
                  <a:pt x="1447800" y="0"/>
                </a:cubicBezTo>
                <a:cubicBezTo>
                  <a:pt x="2247398" y="0"/>
                  <a:pt x="2895600" y="630493"/>
                  <a:pt x="2895600" y="1408246"/>
                </a:cubicBezTo>
                <a:cubicBezTo>
                  <a:pt x="2895600" y="2185999"/>
                  <a:pt x="2247398" y="2816492"/>
                  <a:pt x="1447800" y="2816492"/>
                </a:cubicBezTo>
                <a:cubicBezTo>
                  <a:pt x="648202" y="2816492"/>
                  <a:pt x="0" y="2185999"/>
                  <a:pt x="0" y="1408246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500251" tIns="488666" rIns="500251" bIns="488666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Bypassing alarms or taking control systems offline.</a:t>
            </a:r>
          </a:p>
        </p:txBody>
      </p:sp>
      <p:sp>
        <p:nvSpPr>
          <p:cNvPr id="58" name="Oval 57"/>
          <p:cNvSpPr/>
          <p:nvPr/>
        </p:nvSpPr>
        <p:spPr>
          <a:xfrm>
            <a:off x="6168404" y="4191002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9" name="Oval 58"/>
          <p:cNvSpPr/>
          <p:nvPr/>
        </p:nvSpPr>
        <p:spPr>
          <a:xfrm>
            <a:off x="5588075" y="5216225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60" name="Oval 59"/>
          <p:cNvSpPr/>
          <p:nvPr/>
        </p:nvSpPr>
        <p:spPr>
          <a:xfrm>
            <a:off x="6026579" y="4852434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1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434896" y="4564008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1" name="Oval 50"/>
          <p:cNvSpPr/>
          <p:nvPr/>
        </p:nvSpPr>
        <p:spPr>
          <a:xfrm>
            <a:off x="7844804" y="1776673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2" name="Oval 21"/>
          <p:cNvSpPr/>
          <p:nvPr/>
        </p:nvSpPr>
        <p:spPr>
          <a:xfrm>
            <a:off x="1899685" y="502086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</p:spTree>
    <p:extLst>
      <p:ext uri="{BB962C8B-B14F-4D97-AF65-F5344CB8AC3E}">
        <p14:creationId xmlns:p14="http://schemas.microsoft.com/office/powerpoint/2010/main" val="1566851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Diameter Tubing – Industrial / Refinery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Installations: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19800" y="828000"/>
            <a:ext cx="43002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small-diameter process tubing that is commonly used in many industrial process unit operations, as depicted here.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28000"/>
            <a:ext cx="4062600" cy="532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 bwMode="auto">
          <a:xfrm>
            <a:off x="1066800" y="2743200"/>
            <a:ext cx="1870710" cy="2362200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34890" y="1981200"/>
            <a:ext cx="3657600" cy="4140000"/>
            <a:chOff x="4834890" y="1981200"/>
            <a:chExt cx="3657600" cy="41400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4890" y="1981200"/>
              <a:ext cx="3657600" cy="4140000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 bwMode="auto">
            <a:xfrm flipV="1">
              <a:off x="6206490" y="3933003"/>
              <a:ext cx="1565910" cy="221620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 flipH="1" flipV="1">
              <a:off x="6206490" y="4154623"/>
              <a:ext cx="41910" cy="118197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V="1">
              <a:off x="5181600" y="2086169"/>
              <a:ext cx="0" cy="173602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 flipV="1">
              <a:off x="4834890" y="4921361"/>
              <a:ext cx="651510" cy="503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5414943" y="4921361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 flipV="1">
              <a:off x="6968490" y="4995234"/>
              <a:ext cx="118110" cy="267489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6445820" y="5262724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7086600" y="5128979"/>
              <a:ext cx="0" cy="429238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41778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Caused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by ½-inch stainless steel tube between a heat transfer fluid (antifreeze, combustible) pump and a process vessel failed at a fitting near the process vessel.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resulting leak sprayed onto a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re-boiler, very hot surfaces,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ignited causing significant equipment damage.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tubing failure was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result of uncontrolled vibration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pump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2: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 leak from ½-inch tubing for pump seal was detected during LNG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(Liquefied Natural Gas) plant startup.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Deficient repairs done by unqualified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technician.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the plant re-started, tubing failed completely causing an LNG leak and fire.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</a:t>
            </a:r>
            <a:r>
              <a:rPr lang="en-US" altLang="en-US" sz="180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 responsible for these LI’s, </a:t>
            </a: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would you do?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1083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should we do?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Tubing may not be as durable as pipe and may be more easily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damaged.; therefore, avoid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impacts to tubing and tubing connections.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 damaged or leaking tubing observed in the plant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repair it. Report &amp;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correct sub-standard conditions i.e. “see it - own it – solve it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”.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design, installation, operation, maintenance: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 procedures for tubing identification and isolation for work.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procedures for installation, inspection, &amp;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qualified personnel to install and repair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tools for installation and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components – tubing, ferrules, nuts,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fittings - do not mix components from different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manufacturers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Ask your tubing supplier to provide information on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proper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 and maintenance of their product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it is not just about “using the right technology” …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leadership skills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actively practice </a:t>
            </a:r>
            <a:b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technical safety expertise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commitment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set the example!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88" y="4038600"/>
            <a:ext cx="2089512" cy="19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38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Sub-standard conditions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found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during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on: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instrument fluid connections: To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flush pump and agitator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seals, for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applications with small flow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e.g. density meters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conduit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connections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instrument signals, electrical power supply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improper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assembly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</a:t>
            </a: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events: 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vibration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fatigue failure;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misalignment stress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– forced fit or struck by; wrong fitting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loosened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(also a sub-standard practice)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 </a:t>
            </a: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Energy: 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Fluid or electricity!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m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5"/>
          <a:stretch/>
        </p:blipFill>
        <p:spPr bwMode="auto">
          <a:xfrm>
            <a:off x="736186" y="3428999"/>
            <a:ext cx="1870982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8" descr="Imagem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14"/>
          <a:stretch/>
        </p:blipFill>
        <p:spPr bwMode="auto">
          <a:xfrm>
            <a:off x="3124201" y="3429000"/>
            <a:ext cx="1578427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 descr="Imagem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3" t="-9048" r="14076" b="9048"/>
          <a:stretch/>
        </p:blipFill>
        <p:spPr bwMode="auto">
          <a:xfrm>
            <a:off x="5120640" y="3170903"/>
            <a:ext cx="2505061" cy="2925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Mechanical Integrity of Tubing</a:t>
            </a:r>
          </a:p>
        </p:txBody>
      </p:sp>
      <p:pic>
        <p:nvPicPr>
          <p:cNvPr id="14" name="Google Shape;254;p12"/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0900" y="1524000"/>
            <a:ext cx="838200" cy="760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5" name="Google Shape;255;p12" descr="BD06711_[1]"/>
          <p:cNvPicPr preferRelativeResize="0">
            <a:picLocks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2481" y="2402425"/>
            <a:ext cx="838200" cy="760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3780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Differences between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 and Technical Safety LI: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Magnitude of the impacts on PEAP as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typically at least an order of magnitude worse than occupational safety incidents.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 a worker was injured during the course of physical </a:t>
            </a:r>
            <a:r>
              <a:rPr lang="en-US" altLang="en-US" sz="20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labour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LI: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i.e. loss of the integrity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the design intent of the engineered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 this usually results in a catastrophic LI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is a specific sub-set of Technical Safety; process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is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about keeping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substances contained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 controlled (prevention of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release, mitigation in event of a release).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LI’s are NOT unique to the chemical process industries.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and process safety are not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just for chemical engineers!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investigation into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 requires the expertise of various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87689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 Slide Deck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follows with details.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0095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two different types of loss incidents, and the differences: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ccupational Safety LI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LI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is a sub-set of Technical Safety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technical safety loss incidents and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investigations in the context of other engineering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disciplines i.e. the catastrophic loss incident.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concept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to an industrial example.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70961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concerns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refers to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prevention of worker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injuries, such as prevention of trips, slips and falls.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includes the prevention of unintentional releases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form of energy.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is a specialized sub-set of Technical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 it follows that there are 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injury to a worker usually caused by an action of that worker or another worker during their work activity e.g. using a sharp blade to cut insulation; standing behind a truck to direct it while backing up; falling from elevation; tripping over materials in a cluttered, unkempt workplace; mishandling of materials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Could be caused by a sub-standard work practice or condition on a small scale.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Breadth of injuries generally limited to 1 or a few persons with rare impacts on E, A, or Pr.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Different Types of Safety Concerns and LIs: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31322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follows that there are two different types of loss incidents: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 startAt="2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loss incident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by a loss of integrity of the design intent of the engineered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loss of integrity could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the unintentional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uncontrolled release of some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e.g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chemicals / hazardous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substances, thermal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explosive, combustive, electrical, momentum energy, gravity, potential energy, nuclear,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radioactive, and so on.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these types is extremely low.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types of LI’s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usually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result in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consequences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e.g. tens or more of people, potential major impact on the environment, major loss of assets, and major interruption of business interests.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“Process Safety LI” is specific to the chemical process operations, and is usually the result of a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containment of a hazardous substance. </a:t>
            </a:r>
          </a:p>
          <a:p>
            <a:pPr marL="108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jurisdictions have specific and prescriptive definitions for “what is a process safety loss incident” e.g. US-OSHA defines the release of 5 kg or more of chlorine as a process safety loss incident.   </a:t>
            </a: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i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 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government 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agencies do NOT differentiate between these two kinds of loss incidents – any injury in the workplace regardless of the nature of the loss incident is classified as an “occupational injury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”.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Different Types of Safety Concerns and LIs: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04102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Hazard: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 - typical “technical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or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“technical safety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may lead to a “technical safety loss incident”: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situation where the activity is taking place </a:t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(i.e. the facility, equipment)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Harm or damage to PEAP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that resulted in a release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Nature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 or nature of materials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(shock hazard, momentum/motion, flammable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combustible,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etc.)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 definition of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 two incident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 to an understanding that “technical safety” is NOT limited to chemical unit process operations i.e. any “catastrophic loss incident”!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 Hazard and The Incident Models: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3737400"/>
            <a:ext cx="1498200" cy="13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5;p12" descr="BD06711_[1]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108" y="3714298"/>
            <a:ext cx="1368000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ight Arrow 1"/>
          <p:cNvSpPr/>
          <p:nvPr/>
        </p:nvSpPr>
        <p:spPr>
          <a:xfrm>
            <a:off x="381000" y="3838688"/>
            <a:ext cx="5638800" cy="1266712"/>
          </a:xfrm>
          <a:prstGeom prst="rightArrow">
            <a:avLst>
              <a:gd name="adj1" fmla="val 73100"/>
              <a:gd name="adj2" fmla="val 50000"/>
            </a:avLst>
          </a:prstGeom>
          <a:solidFill>
            <a:srgbClr val="0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Now, recall the </a:t>
            </a:r>
            <a:r>
              <a:rPr lang="en-US" i="1" dirty="0" smtClean="0"/>
              <a:t>two </a:t>
            </a:r>
            <a:r>
              <a:rPr lang="en-US" i="1" u="sng" dirty="0" smtClean="0"/>
              <a:t>Incident Models</a:t>
            </a:r>
            <a:r>
              <a:rPr lang="en-US" i="1" dirty="0" smtClean="0"/>
              <a:t>, the Discovery </a:t>
            </a:r>
            <a:r>
              <a:rPr lang="en-US" i="1" dirty="0"/>
              <a:t>Approach and </a:t>
            </a:r>
            <a:br>
              <a:rPr lang="en-US" i="1" dirty="0"/>
            </a:br>
            <a:r>
              <a:rPr lang="en-US" i="1" dirty="0"/>
              <a:t>relate </a:t>
            </a:r>
            <a:r>
              <a:rPr lang="en-US" i="1" dirty="0" smtClean="0"/>
              <a:t>these </a:t>
            </a:r>
            <a:r>
              <a:rPr lang="en-US" i="1" dirty="0"/>
              <a:t>to </a:t>
            </a:r>
            <a:r>
              <a:rPr lang="en-US" i="1" dirty="0" smtClean="0"/>
              <a:t>any catastrophic loss </a:t>
            </a:r>
            <a:r>
              <a:rPr lang="en-US" i="1" dirty="0"/>
              <a:t>incident</a:t>
            </a:r>
            <a:r>
              <a:rPr lang="en-US" i="1" dirty="0" smtClean="0"/>
              <a:t>!</a:t>
            </a:r>
            <a:endParaRPr lang="en-US" i="1" dirty="0"/>
          </a:p>
        </p:txBody>
      </p:sp>
      <p:sp>
        <p:nvSpPr>
          <p:cNvPr id="1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68263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818596" cy="529282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Definition: “technical safety hazard”: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?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864001"/>
            <a:ext cx="2665800" cy="2442242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Event?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Safeguard?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Technical Safety, RCA, &amp; The Discovery Approach: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0148" y="220980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7" name="Google Shape;255;p12" descr="BD06711_[1]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800" y="222659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200" y="4687668"/>
            <a:ext cx="1725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4687669"/>
            <a:ext cx="2302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996" y="4687668"/>
            <a:ext cx="21348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655676" y="3753924"/>
            <a:ext cx="634068" cy="123342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3" idx="1"/>
            <a:endCxn id="11" idx="0"/>
          </p:cNvCxnSpPr>
          <p:nvPr/>
        </p:nvCxnSpPr>
        <p:spPr>
          <a:xfrm rot="5400000">
            <a:off x="3465216" y="3796884"/>
            <a:ext cx="634069" cy="11475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420316" y="2751984"/>
            <a:ext cx="634068" cy="32373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6200" y="5435025"/>
            <a:ext cx="17250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5435025"/>
            <a:ext cx="23022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Triggering Event: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5435024"/>
            <a:ext cx="21348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31796" y="4684620"/>
            <a:ext cx="22317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05600" y="5431976"/>
            <a:ext cx="22317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No Safeguard: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786325" y="2623275"/>
            <a:ext cx="631020" cy="349167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52947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864001"/>
            <a:ext cx="2665800" cy="2442242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Event?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Safeguard?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 “technical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hazard” definition: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crane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people crushed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Trigger: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Wind loading exceeds specifications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Gravity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Safety, RCA, and The Discovery Approach: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254;p12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0148" y="220980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7" name="Google Shape;255;p12" descr="BD06711_[1]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800" y="2226590"/>
            <a:ext cx="1188000" cy="97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000" y="4687668"/>
            <a:ext cx="1725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fell to ground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4687669"/>
            <a:ext cx="2302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ind forces exceeded crane strength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996" y="4687668"/>
            <a:ext cx="21348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People were below the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655676" y="3753924"/>
            <a:ext cx="634068" cy="123342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3" idx="1"/>
            <a:endCxn id="11" idx="0"/>
          </p:cNvCxnSpPr>
          <p:nvPr/>
        </p:nvCxnSpPr>
        <p:spPr>
          <a:xfrm rot="5400000">
            <a:off x="3465216" y="3796884"/>
            <a:ext cx="634069" cy="1147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382216" y="2713884"/>
            <a:ext cx="634068" cy="3313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0000" y="5435025"/>
            <a:ext cx="17250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gravity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5435025"/>
            <a:ext cx="23022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Triggering Event: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excessive wind loads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5435024"/>
            <a:ext cx="21348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People below crane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848" y="4684620"/>
            <a:ext cx="22317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did not keep people out of area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0652" y="5431976"/>
            <a:ext cx="22317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No Safeguard: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not in place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803851" y="2605749"/>
            <a:ext cx="631020" cy="352672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ouble Wave 3"/>
          <p:cNvSpPr/>
          <p:nvPr/>
        </p:nvSpPr>
        <p:spPr>
          <a:xfrm>
            <a:off x="219900" y="2743200"/>
            <a:ext cx="2742672" cy="1524000"/>
          </a:xfrm>
          <a:prstGeom prst="doubleWav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sz="1600" i="1" dirty="0" smtClean="0"/>
              <a:t>Indeed, a crane collapse is a catastrophic LI akin to a refinery explosion.</a:t>
            </a:r>
            <a:endParaRPr lang="en-US" sz="1600" i="1" dirty="0"/>
          </a:p>
        </p:txBody>
      </p:sp>
      <p:sp>
        <p:nvSpPr>
          <p:cNvPr id="25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96755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80000" y="1836000"/>
            <a:ext cx="8640000" cy="4320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Containment: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Tailings 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a tailings pond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Sewage from a sludge line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Private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/ secured data breach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Hydrocarbons from a train car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Slope failure of a quarry or roadway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endParaRPr lang="en-CA" sz="1800" b="0" i="1" dirty="0" smtClean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Integrity of </a:t>
            </a: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Eng’d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Systems:</a:t>
            </a:r>
          </a:p>
          <a:p>
            <a:pPr marL="342900" indent="-342900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Aerospace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Boeing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737MAX, 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STS Challenger &amp; Columbia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Marine: off-shore BP-DWH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Civil: Bridges, buildings, dams, cranes 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Transportation: Train derailments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Automotive / Computer Process Control: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Takata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airbags, Tesla self-driving vehicles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12800" y="1944000"/>
            <a:ext cx="1800000" cy="1260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loss of the integrity of the engineered system that would have the equivalent magnitude or impact of a “process safety loss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incident”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equivalent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failure!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El Blog de Ricardo SB: Prevención de Pérdida de Datos (I ...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3312000"/>
            <a:ext cx="1800000" cy="1260000"/>
          </a:xfrm>
          <a:prstGeom prst="rect">
            <a:avLst/>
          </a:prstGeom>
        </p:spPr>
      </p:pic>
      <p:pic>
        <p:nvPicPr>
          <p:cNvPr id="11" name="Picture 10" descr="Harper to block NAFTA commission from studying tar sands ...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4644000"/>
            <a:ext cx="1800000" cy="1260000"/>
          </a:xfrm>
          <a:prstGeom prst="rect">
            <a:avLst/>
          </a:prstGeom>
        </p:spPr>
      </p:pic>
      <p:pic>
        <p:nvPicPr>
          <p:cNvPr id="14" name="Picture 13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963000" y="1944000"/>
            <a:ext cx="1800000" cy="1260000"/>
          </a:xfrm>
          <a:prstGeom prst="rect">
            <a:avLst/>
          </a:prstGeom>
        </p:spPr>
      </p:pic>
      <p:pic>
        <p:nvPicPr>
          <p:cNvPr id="16" name="Picture 15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912800" y="3312000"/>
            <a:ext cx="1800000" cy="1260000"/>
          </a:xfrm>
          <a:prstGeom prst="rect">
            <a:avLst/>
          </a:prstGeom>
        </p:spPr>
      </p:pic>
      <p:pic>
        <p:nvPicPr>
          <p:cNvPr id="17" name="Picture 16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912800" y="4644000"/>
            <a:ext cx="1800000" cy="1260000"/>
          </a:xfrm>
          <a:prstGeom prst="rect">
            <a:avLst/>
          </a:prstGeom>
        </p:spPr>
      </p:pic>
      <p:sp>
        <p:nvSpPr>
          <p:cNvPr id="18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7222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fields of engineering involved in Process Safety LIs!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 investigations require expertise of many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Need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conduct a robust and thorough investigation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concern with a process safety incident is that the magnitude of the loss is significantly higher than occupational safety incident.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Process 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&lt;strong&gt;Railroad&lt;/strong&gt; &lt;strong&gt;tank&lt;/strong&gt; &lt;strong&gt;car&lt;/strong&gt; pictures, free use image, 25-24-6 by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48000"/>
            <a:ext cx="2689726" cy="179315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Picture 9" descr="File:Steam Pipelines Near Taupo.jpg - Wikimedia Common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100" y="3466912"/>
            <a:ext cx="3210926" cy="240819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Picture 10" descr="File:&lt;strong&gt;Oil&lt;/strong&gt; Storage &lt;strong&gt;Tanks&lt;/strong&gt; - geograph.org.uk - 4843.jpg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488" y="4079721"/>
            <a:ext cx="3304041" cy="2096001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66046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fields of engineering involved in Process Safety LIs!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requires expertise in all elements in a risk management program for reviews (risk assessments), throughout all stages (Design, Constructability, Operability,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Maintenance) 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engineering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disciplines (mechanical, civil, electrical,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control, fire protection, and so on).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Process 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 descr="An oil &lt;strong&gt;refinery&lt;/strong&gt; in Groves, Texas. Original im.. | Free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849872"/>
            <a:ext cx="4953000" cy="330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008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8"/>
          <p:cNvSpPr/>
          <p:nvPr/>
        </p:nvSpPr>
        <p:spPr>
          <a:xfrm>
            <a:off x="4109674" y="533287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3" name="Oval 52"/>
          <p:cNvSpPr/>
          <p:nvPr/>
        </p:nvSpPr>
        <p:spPr>
          <a:xfrm>
            <a:off x="2313514" y="530500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9" name="Oval 58"/>
          <p:cNvSpPr/>
          <p:nvPr/>
        </p:nvSpPr>
        <p:spPr>
          <a:xfrm>
            <a:off x="5588075" y="5216225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immediate causes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innumerable: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these causes are not checked and corrected, “Normalization of Deviance” creeps into the organization.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Immediate Causes of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Process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Loss Incidents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2328947" y="1533083"/>
            <a:ext cx="3897999" cy="3417107"/>
          </a:xfrm>
          <a:custGeom>
            <a:avLst/>
            <a:gdLst>
              <a:gd name="connsiteX0" fmla="*/ 0 w 3897999"/>
              <a:gd name="connsiteY0" fmla="*/ 1708554 h 3417107"/>
              <a:gd name="connsiteX1" fmla="*/ 1949000 w 3897999"/>
              <a:gd name="connsiteY1" fmla="*/ 0 h 3417107"/>
              <a:gd name="connsiteX2" fmla="*/ 3898000 w 3897999"/>
              <a:gd name="connsiteY2" fmla="*/ 1708554 h 3417107"/>
              <a:gd name="connsiteX3" fmla="*/ 1949000 w 3897999"/>
              <a:gd name="connsiteY3" fmla="*/ 3417108 h 3417107"/>
              <a:gd name="connsiteX4" fmla="*/ 0 w 3897999"/>
              <a:gd name="connsiteY4" fmla="*/ 1708554 h 34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7999" h="3417107">
                <a:moveTo>
                  <a:pt x="0" y="1708554"/>
                </a:moveTo>
                <a:cubicBezTo>
                  <a:pt x="0" y="764946"/>
                  <a:pt x="872597" y="0"/>
                  <a:pt x="1949000" y="0"/>
                </a:cubicBezTo>
                <a:cubicBezTo>
                  <a:pt x="3025403" y="0"/>
                  <a:pt x="3898000" y="764946"/>
                  <a:pt x="3898000" y="1708554"/>
                </a:cubicBezTo>
                <a:cubicBezTo>
                  <a:pt x="3898000" y="2652162"/>
                  <a:pt x="3025403" y="3417108"/>
                  <a:pt x="1949000" y="3417108"/>
                </a:cubicBezTo>
                <a:cubicBezTo>
                  <a:pt x="872597" y="3417108"/>
                  <a:pt x="0" y="2652162"/>
                  <a:pt x="0" y="1708554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647049" tIns="576624" rIns="647049" bIns="576624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Not addressing process equipment that is in imminent failure mode, a sub-standard condition. </a:t>
            </a:r>
          </a:p>
        </p:txBody>
      </p:sp>
      <p:sp>
        <p:nvSpPr>
          <p:cNvPr id="50" name="Oval 49"/>
          <p:cNvSpPr/>
          <p:nvPr/>
        </p:nvSpPr>
        <p:spPr>
          <a:xfrm>
            <a:off x="6499300" y="3576439"/>
            <a:ext cx="336544" cy="336869"/>
          </a:xfrm>
          <a:prstGeom prst="ellipse">
            <a:avLst/>
          </a:prstGeom>
          <a:gradFill rotWithShape="1">
            <a:gsLst>
              <a:gs pos="0">
                <a:srgbClr val="F9DBD3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F9DBD3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F9DBD3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2" name="Oval 51"/>
          <p:cNvSpPr/>
          <p:nvPr/>
        </p:nvSpPr>
        <p:spPr>
          <a:xfrm>
            <a:off x="5153234" y="160823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4" name="Freeform 53"/>
          <p:cNvSpPr/>
          <p:nvPr/>
        </p:nvSpPr>
        <p:spPr>
          <a:xfrm>
            <a:off x="340442" y="2243445"/>
            <a:ext cx="2508948" cy="2480953"/>
          </a:xfrm>
          <a:custGeom>
            <a:avLst/>
            <a:gdLst>
              <a:gd name="connsiteX0" fmla="*/ 0 w 2508948"/>
              <a:gd name="connsiteY0" fmla="*/ 1240477 h 2480953"/>
              <a:gd name="connsiteX1" fmla="*/ 1254474 w 2508948"/>
              <a:gd name="connsiteY1" fmla="*/ 0 h 2480953"/>
              <a:gd name="connsiteX2" fmla="*/ 2508948 w 2508948"/>
              <a:gd name="connsiteY2" fmla="*/ 1240477 h 2480953"/>
              <a:gd name="connsiteX3" fmla="*/ 1254474 w 2508948"/>
              <a:gd name="connsiteY3" fmla="*/ 2480954 h 2480953"/>
              <a:gd name="connsiteX4" fmla="*/ 0 w 2508948"/>
              <a:gd name="connsiteY4" fmla="*/ 1240477 h 248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8948" h="2480953">
                <a:moveTo>
                  <a:pt x="0" y="1240477"/>
                </a:moveTo>
                <a:cubicBezTo>
                  <a:pt x="0" y="555380"/>
                  <a:pt x="561647" y="0"/>
                  <a:pt x="1254474" y="0"/>
                </a:cubicBezTo>
                <a:cubicBezTo>
                  <a:pt x="1947301" y="0"/>
                  <a:pt x="2508948" y="555380"/>
                  <a:pt x="2508948" y="1240477"/>
                </a:cubicBezTo>
                <a:cubicBezTo>
                  <a:pt x="2508948" y="1925574"/>
                  <a:pt x="1947301" y="2480954"/>
                  <a:pt x="1254474" y="2480954"/>
                </a:cubicBezTo>
                <a:cubicBezTo>
                  <a:pt x="561647" y="2480954"/>
                  <a:pt x="0" y="1925574"/>
                  <a:pt x="0" y="1240477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443627" tIns="439527" rIns="443627" bIns="439527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Tolerance for substandard practices for critical procedures.</a:t>
            </a:r>
          </a:p>
        </p:txBody>
      </p:sp>
      <p:sp>
        <p:nvSpPr>
          <p:cNvPr id="55" name="Oval 54"/>
          <p:cNvSpPr/>
          <p:nvPr/>
        </p:nvSpPr>
        <p:spPr>
          <a:xfrm>
            <a:off x="1105193" y="1957055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6" name="Oval 55"/>
          <p:cNvSpPr/>
          <p:nvPr/>
        </p:nvSpPr>
        <p:spPr>
          <a:xfrm>
            <a:off x="4113150" y="4393293"/>
            <a:ext cx="840196" cy="84021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7" name="Freeform 56"/>
          <p:cNvSpPr/>
          <p:nvPr/>
        </p:nvSpPr>
        <p:spPr>
          <a:xfrm>
            <a:off x="5588075" y="1705941"/>
            <a:ext cx="2895600" cy="2816492"/>
          </a:xfrm>
          <a:custGeom>
            <a:avLst/>
            <a:gdLst>
              <a:gd name="connsiteX0" fmla="*/ 0 w 2895600"/>
              <a:gd name="connsiteY0" fmla="*/ 1408246 h 2816492"/>
              <a:gd name="connsiteX1" fmla="*/ 1447800 w 2895600"/>
              <a:gd name="connsiteY1" fmla="*/ 0 h 2816492"/>
              <a:gd name="connsiteX2" fmla="*/ 2895600 w 2895600"/>
              <a:gd name="connsiteY2" fmla="*/ 1408246 h 2816492"/>
              <a:gd name="connsiteX3" fmla="*/ 1447800 w 2895600"/>
              <a:gd name="connsiteY3" fmla="*/ 2816492 h 2816492"/>
              <a:gd name="connsiteX4" fmla="*/ 0 w 2895600"/>
              <a:gd name="connsiteY4" fmla="*/ 1408246 h 281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0" h="2816492">
                <a:moveTo>
                  <a:pt x="0" y="1408246"/>
                </a:moveTo>
                <a:cubicBezTo>
                  <a:pt x="0" y="630493"/>
                  <a:pt x="648202" y="0"/>
                  <a:pt x="1447800" y="0"/>
                </a:cubicBezTo>
                <a:cubicBezTo>
                  <a:pt x="2247398" y="0"/>
                  <a:pt x="2895600" y="630493"/>
                  <a:pt x="2895600" y="1408246"/>
                </a:cubicBezTo>
                <a:cubicBezTo>
                  <a:pt x="2895600" y="2185999"/>
                  <a:pt x="2247398" y="2816492"/>
                  <a:pt x="1447800" y="2816492"/>
                </a:cubicBezTo>
                <a:cubicBezTo>
                  <a:pt x="648202" y="2816492"/>
                  <a:pt x="0" y="2185999"/>
                  <a:pt x="0" y="1408246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500251" tIns="488666" rIns="500251" bIns="488666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Bypassing alarms or taking control systems offline.</a:t>
            </a:r>
          </a:p>
        </p:txBody>
      </p:sp>
      <p:sp>
        <p:nvSpPr>
          <p:cNvPr id="58" name="Oval 57"/>
          <p:cNvSpPr/>
          <p:nvPr/>
        </p:nvSpPr>
        <p:spPr>
          <a:xfrm>
            <a:off x="6168404" y="4191002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60" name="Oval 59"/>
          <p:cNvSpPr/>
          <p:nvPr/>
        </p:nvSpPr>
        <p:spPr>
          <a:xfrm>
            <a:off x="6026579" y="4852434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1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434896" y="4564008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1" name="Oval 50"/>
          <p:cNvSpPr/>
          <p:nvPr/>
        </p:nvSpPr>
        <p:spPr>
          <a:xfrm>
            <a:off x="7844804" y="1776673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2" name="Oval 21"/>
          <p:cNvSpPr/>
          <p:nvPr/>
        </p:nvSpPr>
        <p:spPr>
          <a:xfrm>
            <a:off x="1899685" y="502086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</p:spTree>
    <p:extLst>
      <p:ext uri="{BB962C8B-B14F-4D97-AF65-F5344CB8AC3E}">
        <p14:creationId xmlns:p14="http://schemas.microsoft.com/office/powerpoint/2010/main" val="17335794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Diameter Tubing – Industrial / Refinery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Installations: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19800" y="828000"/>
            <a:ext cx="43002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small-diameter process tubing that is commonly used in many industrial process unit operations, as depicted here.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28000"/>
            <a:ext cx="4062600" cy="532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 bwMode="auto">
          <a:xfrm>
            <a:off x="1066800" y="2743200"/>
            <a:ext cx="1870710" cy="2362200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34890" y="1981200"/>
            <a:ext cx="3657600" cy="4140000"/>
            <a:chOff x="4834890" y="1981200"/>
            <a:chExt cx="3657600" cy="41400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4890" y="1981200"/>
              <a:ext cx="3657600" cy="4140000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 bwMode="auto">
            <a:xfrm flipV="1">
              <a:off x="6206490" y="3933003"/>
              <a:ext cx="1565910" cy="221620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 flipH="1" flipV="1">
              <a:off x="6206490" y="4154623"/>
              <a:ext cx="41910" cy="118197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V="1">
              <a:off x="5181600" y="2086169"/>
              <a:ext cx="0" cy="173602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 flipV="1">
              <a:off x="4834890" y="4921361"/>
              <a:ext cx="651510" cy="503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5414943" y="4921361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 flipV="1">
              <a:off x="6968490" y="4995234"/>
              <a:ext cx="118110" cy="267489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6445820" y="5262724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7086600" y="5128979"/>
              <a:ext cx="0" cy="429238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7501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Caused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by ½-inch stainless steel tube between a heat transfer fluid (antifreeze, combustible) pump and a process vessel failed at a fitting near the process vessel.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resulting leak sprayed onto a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re-boiler, very hot surfaces,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ignited causing significant equipment damage.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tubing failure was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result of uncontrolled vibration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pump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2: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 leak from ½-inch tubing for pump seal was detected during LNG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(Liquefied Natural Gas) plant startup.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Deficient repairs done by unqualified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technician.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the plant re-started, tubing failed completely causing an LNG leak and fire.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</a:t>
            </a:r>
            <a:r>
              <a:rPr lang="en-US" altLang="en-US" sz="180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 responsible for these LI’s, </a:t>
            </a: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would you do?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19604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should we do?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Tubing may not be as durable as pipe and may be more easily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damaged.; therefore, avoid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impacts to tubing and tubing connections.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 damaged or leaking tubing observed in the plant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repair it. Report &amp;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correct sub-standard conditions i.e. “see it - own it – solve it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”.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design, installation, operation, maintenance: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 procedures for tubing identification and isolation for work.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procedures for installation, inspection, &amp;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qualified personnel to install and repair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tools for installation and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components – tubing, ferrules, nuts,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fittings - do not mix components from different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manufacturers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Ask your tubing supplier to provide information on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proper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 and maintenance of their product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it is not just about “using the right technology” …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leadership skills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actively practice </a:t>
            </a:r>
            <a:b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technical safety expertise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commitment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set the example!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88" y="4038600"/>
            <a:ext cx="2089512" cy="19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512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Sub-standard conditions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found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during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on: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instrument fluid connections: To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flush pump and agitator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seals, for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applications with small flow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e.g. density meters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conduit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connections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instrument signals, electrical power supply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improper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assembly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Triggering </a:t>
            </a: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events: 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vibration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fatigue failure;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misalignment stress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– forced fit or struck by; wrong fitting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loosened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(also a sub-standard practice)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 </a:t>
            </a: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Energy: 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Fluid or electricity!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m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5"/>
          <a:stretch/>
        </p:blipFill>
        <p:spPr bwMode="auto">
          <a:xfrm>
            <a:off x="736186" y="3428999"/>
            <a:ext cx="1870982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8" descr="Imagem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14"/>
          <a:stretch/>
        </p:blipFill>
        <p:spPr bwMode="auto">
          <a:xfrm>
            <a:off x="3124201" y="3429000"/>
            <a:ext cx="1578427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 descr="Imagem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3" t="-9048" r="14076" b="9048"/>
          <a:stretch/>
        </p:blipFill>
        <p:spPr bwMode="auto">
          <a:xfrm>
            <a:off x="5120640" y="3170903"/>
            <a:ext cx="2505061" cy="2925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Mechanical Integrity of Tubing</a:t>
            </a:r>
          </a:p>
        </p:txBody>
      </p:sp>
      <p:pic>
        <p:nvPicPr>
          <p:cNvPr id="14" name="Google Shape;254;p12"/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0900" y="1524000"/>
            <a:ext cx="838200" cy="760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5" name="Google Shape;255;p12" descr="BD06711_[1]"/>
          <p:cNvPicPr preferRelativeResize="0">
            <a:picLocks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2481" y="2402425"/>
            <a:ext cx="838200" cy="760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73357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Differences between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 and Technical Safety LI: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Magnitude of the impacts on PEAP as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typically at least an order of magnitude worse than occupational safety incidents.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 a worker was injured during the course of physical </a:t>
            </a:r>
            <a:r>
              <a:rPr lang="en-US" altLang="en-US" sz="20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labour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LI: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i.e. loss of the integrity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the design intent of the engineered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 this usually results in a catastrophic LI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is a specific sub-set of Technical Safety; process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is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about keeping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substances contained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 controlled (prevention of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release, mitigation in event of a release).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LI’s are NOT unique to the chemical process industries.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and process safety are not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just for chemical engineers!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investigation into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 requires the expertise of various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65931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69533</TotalTime>
  <Words>3238</Words>
  <Application>Microsoft Office PowerPoint</Application>
  <PresentationFormat>On-screen Show (4:3)</PresentationFormat>
  <Paragraphs>472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1960</cp:revision>
  <cp:lastPrinted>2018-12-17T22:21:47Z</cp:lastPrinted>
  <dcterms:created xsi:type="dcterms:W3CDTF">2007-03-28T16:18:47Z</dcterms:created>
  <dcterms:modified xsi:type="dcterms:W3CDTF">2021-10-13T16:19:06Z</dcterms:modified>
</cp:coreProperties>
</file>