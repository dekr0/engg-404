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895" r:id="rId2"/>
    <p:sldId id="880" r:id="rId3"/>
    <p:sldId id="881" r:id="rId4"/>
    <p:sldId id="882" r:id="rId5"/>
    <p:sldId id="883" r:id="rId6"/>
    <p:sldId id="884" r:id="rId7"/>
    <p:sldId id="885" r:id="rId8"/>
    <p:sldId id="886" r:id="rId9"/>
    <p:sldId id="887" r:id="rId10"/>
    <p:sldId id="888" r:id="rId11"/>
    <p:sldId id="889" r:id="rId12"/>
    <p:sldId id="890" r:id="rId13"/>
    <p:sldId id="891" r:id="rId14"/>
    <p:sldId id="892" r:id="rId15"/>
    <p:sldId id="893" r:id="rId16"/>
    <p:sldId id="894" r:id="rId17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880"/>
            <p14:sldId id="881"/>
            <p14:sldId id="882"/>
            <p14:sldId id="883"/>
            <p14:sldId id="884"/>
            <p14:sldId id="885"/>
            <p14:sldId id="886"/>
            <p14:sldId id="887"/>
            <p14:sldId id="888"/>
            <p14:sldId id="889"/>
            <p14:sldId id="890"/>
            <p14:sldId id="891"/>
            <p14:sldId id="892"/>
            <p14:sldId id="893"/>
            <p14:sldId id="8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DB1A6"/>
    <a:srgbClr val="0000CC"/>
    <a:srgbClr val="000000"/>
    <a:srgbClr val="F8F8F8"/>
    <a:srgbClr val="F5D7F1"/>
    <a:srgbClr val="5F5F5F"/>
    <a:srgbClr val="DDDDDD"/>
    <a:srgbClr val="FBA3E8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9" autoAdjust="0"/>
    <p:restoredTop sz="90112" autoAdjust="0"/>
  </p:normalViewPr>
  <p:slideViewPr>
    <p:cSldViewPr>
      <p:cViewPr varScale="1">
        <p:scale>
          <a:sx n="107" d="100"/>
          <a:sy n="107" d="100"/>
        </p:scale>
        <p:origin x="1638" y="114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6/1/2022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6/1/2022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300"/>
              <a:t>ENGG406 2015W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300"/>
              <a:t>3-Feb-2015</a:t>
            </a:r>
          </a:p>
        </p:txBody>
      </p:sp>
      <p:sp>
        <p:nvSpPr>
          <p:cNvPr id="92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A31F306-09FB-47A3-B7F2-EBDC5AA2EBC3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  <p:sp>
        <p:nvSpPr>
          <p:cNvPr id="9221" name="Rectangle 7"/>
          <p:cNvSpPr txBox="1">
            <a:spLocks noGrp="1" noChangeArrowheads="1"/>
          </p:cNvSpPr>
          <p:nvPr/>
        </p:nvSpPr>
        <p:spPr bwMode="auto">
          <a:xfrm>
            <a:off x="3971444" y="8831686"/>
            <a:ext cx="3038956" cy="464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94" tIns="46396" rIns="92794" bIns="46396" anchor="b"/>
          <a:lstStyle>
            <a:lvl1pPr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0178E9A9-A8BA-4372-805F-FD1C06DC55DE}" type="slidenum">
              <a:rPr lang="en-US" altLang="en-US">
                <a:cs typeface="Arial" panose="020B0604020202020204" pitchFamily="34" charset="0"/>
              </a:rPr>
              <a:pPr algn="r">
                <a:spcBef>
                  <a:spcPct val="0"/>
                </a:spcBef>
              </a:pPr>
              <a:t>3</a:t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92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794" tIns="46396" rIns="92794" bIns="46396"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1274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300"/>
              <a:t>ENGG406 2015W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300"/>
              <a:t>3-Feb-2015</a:t>
            </a:r>
          </a:p>
        </p:txBody>
      </p:sp>
      <p:sp>
        <p:nvSpPr>
          <p:cNvPr id="92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A31F306-09FB-47A3-B7F2-EBDC5AA2EBC3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  <p:sp>
        <p:nvSpPr>
          <p:cNvPr id="9221" name="Rectangle 7"/>
          <p:cNvSpPr txBox="1">
            <a:spLocks noGrp="1" noChangeArrowheads="1"/>
          </p:cNvSpPr>
          <p:nvPr/>
        </p:nvSpPr>
        <p:spPr bwMode="auto">
          <a:xfrm>
            <a:off x="3971444" y="8831686"/>
            <a:ext cx="3038956" cy="464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94" tIns="46396" rIns="92794" bIns="46396" anchor="b"/>
          <a:lstStyle>
            <a:lvl1pPr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0178E9A9-A8BA-4372-805F-FD1C06DC55DE}" type="slidenum">
              <a:rPr lang="en-US" altLang="en-US">
                <a:cs typeface="Arial" panose="020B0604020202020204" pitchFamily="34" charset="0"/>
              </a:rPr>
              <a:pPr algn="r">
                <a:spcBef>
                  <a:spcPct val="0"/>
                </a:spcBef>
              </a:pPr>
              <a:t>4</a:t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92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794" tIns="46396" rIns="92794" bIns="46396"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5990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Burned electrical box,</a:t>
            </a:r>
            <a:r>
              <a:rPr lang="en-CA" baseline="0" dirty="0"/>
              <a:t> f</a:t>
            </a:r>
            <a:r>
              <a:rPr lang="en-CA" dirty="0"/>
              <a:t>ailed transformer, ice storm downed power transmission</a:t>
            </a:r>
            <a:r>
              <a:rPr lang="en-CA" baseline="0" dirty="0"/>
              <a:t> lines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7289C4-4137-4B30-96C9-7C06C8229121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45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A7289C4-4137-4B30-96C9-7C06C8229121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47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300"/>
              <a:t>ENGG406 2015W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300"/>
              <a:t>3-Feb-2015</a:t>
            </a:r>
          </a:p>
        </p:txBody>
      </p:sp>
      <p:sp>
        <p:nvSpPr>
          <p:cNvPr id="92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A31F306-09FB-47A3-B7F2-EBDC5AA2EBC3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  <p:sp>
        <p:nvSpPr>
          <p:cNvPr id="9221" name="Rectangle 7"/>
          <p:cNvSpPr txBox="1">
            <a:spLocks noGrp="1" noChangeArrowheads="1"/>
          </p:cNvSpPr>
          <p:nvPr/>
        </p:nvSpPr>
        <p:spPr bwMode="auto">
          <a:xfrm>
            <a:off x="3971444" y="8831686"/>
            <a:ext cx="3038956" cy="464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94" tIns="46396" rIns="92794" bIns="46396" anchor="b"/>
          <a:lstStyle>
            <a:lvl1pPr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0178E9A9-A8BA-4372-805F-FD1C06DC55DE}" type="slidenum">
              <a:rPr lang="en-US" altLang="en-US">
                <a:cs typeface="Arial" panose="020B0604020202020204" pitchFamily="34" charset="0"/>
              </a:rPr>
              <a:pPr algn="r">
                <a:spcBef>
                  <a:spcPct val="0"/>
                </a:spcBef>
              </a:pPr>
              <a:t>7</a:t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92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794" tIns="46396" rIns="92794" bIns="46396"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Risk</a:t>
            </a:r>
            <a:r>
              <a:rPr lang="en-US" altLang="en-US" baseline="0" dirty="0">
                <a:ea typeface="ＭＳ Ｐゴシック" panose="020B0600070205080204" pitchFamily="34" charset="-128"/>
              </a:rPr>
              <a:t> criteria </a:t>
            </a:r>
            <a:r>
              <a:rPr lang="en-CA" altLang="en-US" baseline="0" dirty="0">
                <a:ea typeface="ＭＳ Ｐゴシック" panose="020B0600070205080204" pitchFamily="34" charset="-128"/>
              </a:rPr>
              <a:t>are used to determine whether a specified level of risk is acceptable or tolerable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9802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A7289C4-4137-4B30-96C9-7C06C8229121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249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A7289C4-4137-4B30-96C9-7C06C8229121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21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A7289C4-4137-4B30-96C9-7C06C8229121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966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ENGG406 2015WENGG404 Lecture 00 - Day 1</a:t>
            </a: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2-Feb-20152012 Fall</a:t>
            </a: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82E3E13-10A4-4D86-850F-72E362D61B09}" type="slidenum">
              <a:rPr lang="en-US" altLang="en-US" sz="1200" smtClean="0"/>
              <a:pPr/>
              <a:t>11</a:t>
            </a:fld>
            <a:endParaRPr lang="en-US" altLang="en-US" sz="1200"/>
          </a:p>
        </p:txBody>
      </p:sp>
      <p:sp>
        <p:nvSpPr>
          <p:cNvPr id="1126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5863" y="698500"/>
            <a:ext cx="4652962" cy="3489325"/>
          </a:xfrm>
          <a:ln/>
        </p:spPr>
      </p:sp>
      <p:sp>
        <p:nvSpPr>
          <p:cNvPr id="1127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wrap="none" tIns="46457" bIns="46457"/>
          <a:lstStyle/>
          <a:p>
            <a:endParaRPr lang="en-CA" altLang="en-US">
              <a:ea typeface="ＭＳ Ｐゴシック" panose="020B0600070205080204" pitchFamily="34" charset="-128"/>
            </a:endParaRPr>
          </a:p>
        </p:txBody>
      </p:sp>
      <p:sp>
        <p:nvSpPr>
          <p:cNvPr id="11271" name="Slide Number Placeholder 3"/>
          <p:cNvSpPr txBox="1">
            <a:spLocks noGrp="1"/>
          </p:cNvSpPr>
          <p:nvPr/>
        </p:nvSpPr>
        <p:spPr bwMode="auto">
          <a:xfrm>
            <a:off x="3979838" y="8843752"/>
            <a:ext cx="3043263" cy="46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78" tIns="46639" rIns="93278" bIns="46639" anchor="b"/>
          <a:lstStyle>
            <a:lvl1pPr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6125" indent="-28733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9350" indent="-23018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8138" indent="-23018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68513" indent="-23018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257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829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401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973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482E4BEE-2CF0-43F2-9963-CC573725B15D}" type="slidenum">
              <a:rPr lang="en-US" altLang="en-US" sz="1200">
                <a:cs typeface="Arial" panose="020B0604020202020204" pitchFamily="34" charset="0"/>
              </a:rPr>
              <a:pPr algn="r" eaLnBrk="1" hangingPunct="1"/>
              <a:t>11</a:t>
            </a:fld>
            <a:endParaRPr lang="en-US" altLang="en-US" sz="12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222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ENGG406 2015WENGG404 Lecture 00 - Day 1</a:t>
            </a: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2-Feb-20152012 Fall</a:t>
            </a: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82E3E13-10A4-4D86-850F-72E362D61B09}" type="slidenum">
              <a:rPr lang="en-US" altLang="en-US" sz="1200" smtClean="0"/>
              <a:pPr/>
              <a:t>12</a:t>
            </a:fld>
            <a:endParaRPr lang="en-US" altLang="en-US" sz="1200"/>
          </a:p>
        </p:txBody>
      </p:sp>
      <p:sp>
        <p:nvSpPr>
          <p:cNvPr id="1126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5863" y="698500"/>
            <a:ext cx="4652962" cy="3489325"/>
          </a:xfrm>
          <a:ln/>
        </p:spPr>
      </p:sp>
      <p:sp>
        <p:nvSpPr>
          <p:cNvPr id="1127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wrap="none" tIns="46457" bIns="46457"/>
          <a:lstStyle/>
          <a:p>
            <a:endParaRPr lang="en-CA" altLang="en-US">
              <a:ea typeface="ＭＳ Ｐゴシック" panose="020B0600070205080204" pitchFamily="34" charset="-128"/>
            </a:endParaRPr>
          </a:p>
        </p:txBody>
      </p:sp>
      <p:sp>
        <p:nvSpPr>
          <p:cNvPr id="11271" name="Slide Number Placeholder 3"/>
          <p:cNvSpPr txBox="1">
            <a:spLocks noGrp="1"/>
          </p:cNvSpPr>
          <p:nvPr/>
        </p:nvSpPr>
        <p:spPr bwMode="auto">
          <a:xfrm>
            <a:off x="3979838" y="8843752"/>
            <a:ext cx="3043263" cy="46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78" tIns="46639" rIns="93278" bIns="46639" anchor="b"/>
          <a:lstStyle>
            <a:lvl1pPr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6125" indent="-28733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9350" indent="-23018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8138" indent="-23018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68513" indent="-23018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257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829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401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973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482E4BEE-2CF0-43F2-9963-CC573725B15D}" type="slidenum">
              <a:rPr lang="en-US" altLang="en-US" sz="1200">
                <a:cs typeface="Arial" panose="020B0604020202020204" pitchFamily="34" charset="0"/>
              </a:rPr>
              <a:pPr algn="r" eaLnBrk="1" hangingPunct="1"/>
              <a:t>12</a:t>
            </a:fld>
            <a:endParaRPr lang="en-US" altLang="en-US" sz="12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403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ENGG406 2015WENGG404 Lecture 00 - Day 1</a:t>
            </a: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2-Feb-20152012 Fall</a:t>
            </a: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82E3E13-10A4-4D86-850F-72E362D61B09}" type="slidenum">
              <a:rPr lang="en-US" altLang="en-US" sz="1200" smtClean="0"/>
              <a:pPr/>
              <a:t>13</a:t>
            </a:fld>
            <a:endParaRPr lang="en-US" altLang="en-US" sz="1200"/>
          </a:p>
        </p:txBody>
      </p:sp>
      <p:sp>
        <p:nvSpPr>
          <p:cNvPr id="1126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5863" y="698500"/>
            <a:ext cx="4652962" cy="3489325"/>
          </a:xfrm>
          <a:ln/>
        </p:spPr>
      </p:sp>
      <p:sp>
        <p:nvSpPr>
          <p:cNvPr id="1127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wrap="none" tIns="46457" bIns="46457"/>
          <a:lstStyle/>
          <a:p>
            <a:endParaRPr lang="en-CA" altLang="en-US">
              <a:ea typeface="ＭＳ Ｐゴシック" panose="020B0600070205080204" pitchFamily="34" charset="-128"/>
            </a:endParaRPr>
          </a:p>
        </p:txBody>
      </p:sp>
      <p:sp>
        <p:nvSpPr>
          <p:cNvPr id="11271" name="Slide Number Placeholder 3"/>
          <p:cNvSpPr txBox="1">
            <a:spLocks noGrp="1"/>
          </p:cNvSpPr>
          <p:nvPr/>
        </p:nvSpPr>
        <p:spPr bwMode="auto">
          <a:xfrm>
            <a:off x="3979838" y="8843752"/>
            <a:ext cx="3043263" cy="46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78" tIns="46639" rIns="93278" bIns="46639" anchor="b"/>
          <a:lstStyle>
            <a:lvl1pPr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6125" indent="-28733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9350" indent="-23018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8138" indent="-23018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68513" indent="-23018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257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829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401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973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482E4BEE-2CF0-43F2-9963-CC573725B15D}" type="slidenum">
              <a:rPr lang="en-US" altLang="en-US" sz="1200">
                <a:cs typeface="Arial" panose="020B0604020202020204" pitchFamily="34" charset="0"/>
              </a:rPr>
              <a:pPr algn="r" eaLnBrk="1" hangingPunct="1"/>
              <a:t>13</a:t>
            </a:fld>
            <a:endParaRPr lang="en-US" altLang="en-US" sz="12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2389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A7289C4-4137-4B30-96C9-7C06C822912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619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Are the ‘right’ questions being asked? </a:t>
            </a:r>
          </a:p>
          <a:p>
            <a:r>
              <a:rPr lang="en-CA" dirty="0"/>
              <a:t>You may not know the questions to ask with a new process, product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7289C4-4137-4B30-96C9-7C06C8229121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277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ENGG406 2015WENGG404 Lecture 00 - Day 1</a:t>
            </a:r>
          </a:p>
        </p:txBody>
      </p:sp>
      <p:sp>
        <p:nvSpPr>
          <p:cNvPr id="276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2-Feb-20152012 Fall</a:t>
            </a:r>
          </a:p>
        </p:txBody>
      </p:sp>
      <p:sp>
        <p:nvSpPr>
          <p:cNvPr id="276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0F11A85-18C6-4443-8104-73A031F15A63}" type="slidenum">
              <a:rPr lang="en-US" altLang="en-US" sz="1200" smtClean="0"/>
              <a:pPr/>
              <a:t>16</a:t>
            </a:fld>
            <a:endParaRPr lang="en-US" altLang="en-US" sz="1200"/>
          </a:p>
        </p:txBody>
      </p:sp>
      <p:sp>
        <p:nvSpPr>
          <p:cNvPr id="27653" name="Rectangle 7"/>
          <p:cNvSpPr txBox="1">
            <a:spLocks noGrp="1" noChangeArrowheads="1"/>
          </p:cNvSpPr>
          <p:nvPr/>
        </p:nvSpPr>
        <p:spPr bwMode="auto">
          <a:xfrm>
            <a:off x="3979838" y="8843752"/>
            <a:ext cx="3043263" cy="46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78" tIns="46639" rIns="93278" bIns="46639" anchor="b"/>
          <a:lstStyle>
            <a:lvl1pPr defTabSz="9398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6125" indent="-287338" defTabSz="9398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9350" indent="-230188" defTabSz="9398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8138" indent="-230188" defTabSz="9398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68513" indent="-230188" defTabSz="9398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25713" indent="-230188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82913" indent="-230188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40113" indent="-230188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97313" indent="-230188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2289D0B-54E1-4325-86FE-7AC58F5684A2}" type="slidenum">
              <a:rPr lang="en-US" altLang="en-US" sz="1200">
                <a:cs typeface="Arial" panose="020B0604020202020204" pitchFamily="34" charset="0"/>
              </a:rPr>
              <a:pPr algn="r"/>
              <a:t>16</a:t>
            </a:fld>
            <a:endParaRPr lang="en-US" altLang="en-US" sz="1200">
              <a:cs typeface="Arial" panose="020B0604020202020204" pitchFamily="34" charset="0"/>
            </a:endParaRPr>
          </a:p>
        </p:txBody>
      </p:sp>
      <p:sp>
        <p:nvSpPr>
          <p:cNvPr id="276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3278" tIns="46639" rIns="93278" bIns="46639"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0116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6/1/2022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6;p1" descr="SAT10E2"/>
          <p:cNvPicPr preferRelativeResize="0"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152400" y="3733802"/>
            <a:ext cx="1828800" cy="1884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Leader </a:t>
            </a:r>
            <a:br>
              <a:rPr lang="en-CA" altLang="en-US" i="1" kern="0" dirty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in Risk Management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105520"/>
            <a:ext cx="7315201" cy="216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5.10: What-If Analysis Tool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sp>
        <p:nvSpPr>
          <p:cNvPr id="25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228600" y="1066800"/>
            <a:ext cx="7848600" cy="199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0" hangingPunct="0"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What-If Analysis risk analysis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technique</a:t>
            </a:r>
          </a:p>
          <a:p>
            <a:pPr eaLnBrk="0" hangingPunct="0"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Interpret and create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 What-If Analysis </a:t>
            </a:r>
          </a:p>
          <a:p>
            <a:pPr eaLnBrk="0" hangingPunct="0"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benefits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</a:t>
            </a:r>
            <a:r>
              <a:rPr lang="en-US" altLang="en-US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limitations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the What-If Analysis </a:t>
            </a:r>
          </a:p>
          <a:p>
            <a:pPr eaLnBrk="0" hangingPunct="0"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3557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3200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Learning Outcomes:</a:t>
            </a:r>
          </a:p>
        </p:txBody>
      </p:sp>
      <p:sp>
        <p:nvSpPr>
          <p:cNvPr id="21506" name="AutoShape 2" descr="Image result for image of toxic plum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21508" name="AutoShape 4" descr="Image result for image of toxic plum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10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What-If Analysis Tool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80000" y="828000"/>
            <a:ext cx="8640000" cy="532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 so easy, </a:t>
            </a:r>
            <a:r>
              <a:rPr lang="en-GB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especially</a:t>
            </a: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if you do </a:t>
            </a:r>
            <a:r>
              <a:rPr lang="en-GB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 know</a:t>
            </a: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</a:t>
            </a:r>
            <a:r>
              <a:rPr lang="en-GB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technology</a:t>
            </a: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!  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GB" sz="20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What-If Analysis - a </a:t>
            </a:r>
            <a:r>
              <a:rPr lang="en-GB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well-established</a:t>
            </a: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</a:t>
            </a:r>
            <a:r>
              <a:rPr lang="en-GB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widely used method</a:t>
            </a: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 </a:t>
            </a:r>
            <a:r>
              <a:rPr lang="en-GB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identifying</a:t>
            </a: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</a:t>
            </a:r>
            <a:r>
              <a:rPr lang="en-GB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analysing</a:t>
            </a: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GB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</a:t>
            </a: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n-GB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hazardous events</a:t>
            </a: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(scenarios), and </a:t>
            </a:r>
            <a:r>
              <a:rPr lang="en-GB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needed controls</a:t>
            </a: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GB" sz="10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While originally developed for chemical/petrochemical process hazard analysis </a:t>
            </a:r>
            <a:r>
              <a:rPr lang="en-GB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(PHA)</a:t>
            </a: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the tool has </a:t>
            </a:r>
            <a:r>
              <a:rPr lang="en-GB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become widely</a:t>
            </a: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used in many other industries.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GB" sz="10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be applied to a </a:t>
            </a:r>
            <a:r>
              <a:rPr lang="en-GB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</a:t>
            </a: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n-GB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</a:t>
            </a: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or </a:t>
            </a:r>
            <a:r>
              <a:rPr lang="en-GB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operation</a:t>
            </a: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or for a </a:t>
            </a:r>
            <a:r>
              <a:rPr lang="en-GB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more specific</a:t>
            </a: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GB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focus</a:t>
            </a:r>
            <a:r>
              <a:rPr lang="en-GB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such as a piece of equipment, procedure, or activity.</a:t>
            </a: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GB" sz="10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tool </a:t>
            </a:r>
            <a:r>
              <a:rPr lang="en-US" altLang="en-US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helps uncover</a:t>
            </a:r>
            <a:r>
              <a:rPr lang="en-US" altLang="en-US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potential incidents</a:t>
            </a:r>
            <a:r>
              <a:rPr lang="en-US" altLang="en-US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(</a:t>
            </a:r>
            <a:r>
              <a:rPr lang="en-US" altLang="en-US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proactive</a:t>
            </a:r>
            <a:r>
              <a:rPr lang="en-US" altLang="en-US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), and </a:t>
            </a:r>
            <a:r>
              <a:rPr lang="en-US" altLang="en-US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challenges</a:t>
            </a:r>
            <a:r>
              <a:rPr lang="en-US" altLang="en-US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team to </a:t>
            </a:r>
            <a:r>
              <a:rPr lang="en-US" altLang="en-US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create</a:t>
            </a:r>
            <a:r>
              <a:rPr lang="en-US" altLang="en-US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</a:t>
            </a:r>
            <a:r>
              <a:rPr lang="en-US" altLang="en-US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answer</a:t>
            </a:r>
            <a:r>
              <a:rPr lang="en-US" altLang="en-US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questions</a:t>
            </a:r>
            <a:r>
              <a:rPr lang="en-US" altLang="en-US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which </a:t>
            </a:r>
            <a:r>
              <a:rPr lang="en-US" altLang="en-US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reveal potential</a:t>
            </a:r>
            <a:r>
              <a:rPr lang="en-US" altLang="en-US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undesirable</a:t>
            </a:r>
            <a:r>
              <a:rPr lang="en-US" altLang="en-US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kern="1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consequences</a:t>
            </a:r>
            <a:r>
              <a:rPr lang="en-US" altLang="en-US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GB" sz="20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GB" sz="20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GB" sz="20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Introduction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What-If Analysis Tool</a:t>
            </a:r>
          </a:p>
        </p:txBody>
      </p:sp>
    </p:spTree>
    <p:extLst>
      <p:ext uri="{BB962C8B-B14F-4D97-AF65-F5344CB8AC3E}">
        <p14:creationId xmlns:p14="http://schemas.microsoft.com/office/powerpoint/2010/main" val="2595473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Introduction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80000" y="828000"/>
            <a:ext cx="8640000" cy="5328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A9C8F"/>
              </a:buClr>
              <a:buFont typeface="Wingdings" pitchFamily="2" charset="2"/>
              <a:buChar char="§"/>
              <a:defRPr sz="2800">
                <a:solidFill>
                  <a:srgbClr val="4D4D4D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0000" indent="-3600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structured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b="0" u="sng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brainstorming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technique</a:t>
            </a:r>
          </a:p>
          <a:p>
            <a:pPr marL="360000" indent="-3600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 are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identified by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answering questions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derived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from a review team’s knowledge and experience – “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if …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</a:p>
          <a:p>
            <a:pPr marL="720000" lvl="2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Specific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components fail</a:t>
            </a:r>
          </a:p>
          <a:p>
            <a:pPr marL="720000" lvl="2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parameter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(flow, level, temperature) are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abnormal</a:t>
            </a:r>
          </a:p>
          <a:p>
            <a:pPr marL="720000" lvl="2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Operator actions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are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performed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incorrectly</a:t>
            </a:r>
          </a:p>
          <a:p>
            <a:pPr marL="720000" lvl="2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Various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external events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occur</a:t>
            </a:r>
          </a:p>
          <a:p>
            <a:pPr marL="360000" indent="-3600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be used in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conjunction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with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relevant checklists</a:t>
            </a:r>
          </a:p>
          <a:p>
            <a:pPr marL="360000" indent="-3600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each question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we evaluate</a:t>
            </a:r>
          </a:p>
          <a:p>
            <a:pPr marL="720000" lvl="2" indent="-3600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causes</a:t>
            </a:r>
          </a:p>
          <a:p>
            <a:pPr marL="720000" lvl="2" indent="-3600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consequences</a:t>
            </a:r>
          </a:p>
          <a:p>
            <a:pPr marL="720000" lvl="2" indent="-3600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safeguards/controls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(in place, assumed)</a:t>
            </a:r>
          </a:p>
          <a:p>
            <a:pPr marL="360000" indent="-3600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Recommendations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are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made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when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improvements are needed</a:t>
            </a:r>
          </a:p>
        </p:txBody>
      </p:sp>
      <p:sp>
        <p:nvSpPr>
          <p:cNvPr id="9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What-If Analysis Tool</a:t>
            </a:r>
          </a:p>
        </p:txBody>
      </p:sp>
    </p:spTree>
    <p:extLst>
      <p:ext uri="{BB962C8B-B14F-4D97-AF65-F5344CB8AC3E}">
        <p14:creationId xmlns:p14="http://schemas.microsoft.com/office/powerpoint/2010/main" val="89150870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38112" y="131745"/>
            <a:ext cx="8762999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algn="l"/>
            <a:r>
              <a:rPr lang="en-US" altLang="en-US" sz="3200" b="0" dirty="0"/>
              <a:t>Consider Extreme Events (Low L, High C)</a:t>
            </a:r>
            <a:endParaRPr lang="en-US" altLang="en-US" sz="2000" b="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533400" y="877485"/>
            <a:ext cx="8305800" cy="72413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A9C8F"/>
              </a:buClr>
              <a:buFont typeface="Wingdings" pitchFamily="2" charset="2"/>
              <a:buChar char="§"/>
              <a:defRPr sz="2800">
                <a:solidFill>
                  <a:srgbClr val="4D4D4D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may never have seen it, but is it possible?</a:t>
            </a:r>
            <a:b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(Extremely Low Likelihood but Extremely High Consequence)</a:t>
            </a:r>
          </a:p>
          <a:p>
            <a:pPr marL="0" indent="0" algn="ctr">
              <a:buFontTx/>
              <a:buNone/>
            </a:pPr>
            <a:r>
              <a:rPr lang="en-US" altLang="en-US" sz="1800" b="0" kern="0" dirty="0">
                <a:solidFill>
                  <a:schemeClr val="bg1"/>
                </a:solidFill>
              </a:rPr>
              <a:t>What if we created a vacuum, instead of pressure, on the vessel ?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069" y="1711438"/>
            <a:ext cx="3964931" cy="25488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91" y="1601623"/>
            <a:ext cx="2971800" cy="19775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6777" y="3442426"/>
            <a:ext cx="4064005" cy="27052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What-If Analysis Tool</a:t>
            </a:r>
          </a:p>
        </p:txBody>
      </p:sp>
    </p:spTree>
    <p:extLst>
      <p:ext uri="{BB962C8B-B14F-4D97-AF65-F5344CB8AC3E}">
        <p14:creationId xmlns:p14="http://schemas.microsoft.com/office/powerpoint/2010/main" val="371950207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152400"/>
            <a:ext cx="5028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What-If Analysis Applications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48058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Design safety reviews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new facilities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&amp;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equipment</a:t>
            </a:r>
          </a:p>
          <a:p>
            <a:pPr marL="720000" lvl="2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can be a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input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the “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Prevention Through Design Process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”, the next topic!</a:t>
            </a:r>
          </a:p>
          <a:p>
            <a:pPr marL="360000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part of Management of Change (MOC) reviews</a:t>
            </a:r>
          </a:p>
          <a:p>
            <a:pPr marL="360000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Non-routine activities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such as equipment installation, repair or decommissioning</a:t>
            </a:r>
          </a:p>
          <a:p>
            <a:pPr marL="360000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Facilities / Operations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that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store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handle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 hazardous processes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materials</a:t>
            </a:r>
          </a:p>
          <a:p>
            <a:pPr marL="360000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Table Top Drills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 to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review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emergency scenarios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&amp;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necessary measures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 preparedness, disaster recovery &amp; business interruption</a:t>
            </a:r>
          </a:p>
        </p:txBody>
      </p:sp>
      <p:sp>
        <p:nvSpPr>
          <p:cNvPr id="9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What-If Analysis Tool</a:t>
            </a:r>
          </a:p>
        </p:txBody>
      </p:sp>
    </p:spTree>
    <p:extLst>
      <p:ext uri="{BB962C8B-B14F-4D97-AF65-F5344CB8AC3E}">
        <p14:creationId xmlns:p14="http://schemas.microsoft.com/office/powerpoint/2010/main" val="108649901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Steps in What If Analysis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1722125" y="864736"/>
            <a:ext cx="6964675" cy="5231264"/>
            <a:chOff x="1051562" y="785658"/>
            <a:chExt cx="6964675" cy="5231264"/>
          </a:xfrm>
        </p:grpSpPr>
        <p:sp>
          <p:nvSpPr>
            <p:cNvPr id="4" name="Freeform 3"/>
            <p:cNvSpPr/>
            <p:nvPr/>
          </p:nvSpPr>
          <p:spPr>
            <a:xfrm>
              <a:off x="2666997" y="785658"/>
              <a:ext cx="5349240" cy="533802"/>
            </a:xfrm>
            <a:custGeom>
              <a:avLst/>
              <a:gdLst>
                <a:gd name="connsiteX0" fmla="*/ 0 w 5349240"/>
                <a:gd name="connsiteY0" fmla="*/ 66725 h 533802"/>
                <a:gd name="connsiteX1" fmla="*/ 5082339 w 5349240"/>
                <a:gd name="connsiteY1" fmla="*/ 66725 h 533802"/>
                <a:gd name="connsiteX2" fmla="*/ 5082339 w 5349240"/>
                <a:gd name="connsiteY2" fmla="*/ 0 h 533802"/>
                <a:gd name="connsiteX3" fmla="*/ 5349240 w 5349240"/>
                <a:gd name="connsiteY3" fmla="*/ 266901 h 533802"/>
                <a:gd name="connsiteX4" fmla="*/ 5082339 w 5349240"/>
                <a:gd name="connsiteY4" fmla="*/ 533802 h 533802"/>
                <a:gd name="connsiteX5" fmla="*/ 5082339 w 5349240"/>
                <a:gd name="connsiteY5" fmla="*/ 467077 h 533802"/>
                <a:gd name="connsiteX6" fmla="*/ 0 w 5349240"/>
                <a:gd name="connsiteY6" fmla="*/ 467077 h 533802"/>
                <a:gd name="connsiteX7" fmla="*/ 0 w 5349240"/>
                <a:gd name="connsiteY7" fmla="*/ 66725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9240" h="533802">
                  <a:moveTo>
                    <a:pt x="0" y="66725"/>
                  </a:moveTo>
                  <a:lnTo>
                    <a:pt x="5082339" y="66725"/>
                  </a:lnTo>
                  <a:lnTo>
                    <a:pt x="5082339" y="0"/>
                  </a:lnTo>
                  <a:lnTo>
                    <a:pt x="5349240" y="266901"/>
                  </a:lnTo>
                  <a:lnTo>
                    <a:pt x="5082339" y="533802"/>
                  </a:lnTo>
                  <a:lnTo>
                    <a:pt x="5082339" y="467077"/>
                  </a:lnTo>
                  <a:lnTo>
                    <a:pt x="0" y="467077"/>
                  </a:lnTo>
                  <a:lnTo>
                    <a:pt x="0" y="66725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44450" h="36350" prst="relaxedInset"/>
              <a:contourClr>
                <a:schemeClr val="bg1"/>
              </a:contourClr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55" tIns="74980" rIns="208431" bIns="7498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>
                  <a:highlight>
                    <a:srgbClr val="FFFF00"/>
                  </a:highlight>
                </a:rPr>
                <a:t>What</a:t>
              </a:r>
              <a:r>
                <a:rPr lang="en-US" sz="1300" kern="1200" dirty="0"/>
                <a:t> is being </a:t>
              </a:r>
              <a:r>
                <a:rPr lang="en-US" sz="1300" kern="1200" dirty="0">
                  <a:highlight>
                    <a:srgbClr val="FFFF00"/>
                  </a:highlight>
                </a:rPr>
                <a:t>analyzed</a:t>
              </a:r>
              <a:r>
                <a:rPr lang="en-US" sz="1300" kern="1200" dirty="0"/>
                <a:t>?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>
                  <a:highlight>
                    <a:srgbClr val="FFFF00"/>
                  </a:highlight>
                </a:rPr>
                <a:t>What</a:t>
              </a:r>
              <a:r>
                <a:rPr lang="en-US" sz="1300" kern="1200" dirty="0"/>
                <a:t> </a:t>
              </a:r>
              <a:r>
                <a:rPr lang="en-US" sz="1300" kern="1200" dirty="0">
                  <a:highlight>
                    <a:srgbClr val="FFFF00"/>
                  </a:highlight>
                </a:rPr>
                <a:t>risk criteria</a:t>
              </a:r>
              <a:r>
                <a:rPr lang="en-US" sz="1300" kern="1200" dirty="0"/>
                <a:t> will be </a:t>
              </a:r>
              <a:r>
                <a:rPr lang="en-US" sz="1300" kern="1200" dirty="0">
                  <a:highlight>
                    <a:srgbClr val="FFFF00"/>
                  </a:highlight>
                </a:rPr>
                <a:t>used</a:t>
              </a:r>
              <a:r>
                <a:rPr lang="en-US" sz="1300" kern="1200" dirty="0"/>
                <a:t>? (the acceptable level of risk)</a:t>
              </a:r>
            </a:p>
          </p:txBody>
        </p:sp>
        <p:sp>
          <p:nvSpPr>
            <p:cNvPr id="5" name="Freeform 4"/>
            <p:cNvSpPr/>
            <p:nvPr/>
          </p:nvSpPr>
          <p:spPr>
            <a:xfrm>
              <a:off x="1051562" y="785658"/>
              <a:ext cx="1615434" cy="533802"/>
            </a:xfrm>
            <a:custGeom>
              <a:avLst/>
              <a:gdLst>
                <a:gd name="connsiteX0" fmla="*/ 0 w 1615434"/>
                <a:gd name="connsiteY0" fmla="*/ 88969 h 533802"/>
                <a:gd name="connsiteX1" fmla="*/ 88969 w 1615434"/>
                <a:gd name="connsiteY1" fmla="*/ 0 h 533802"/>
                <a:gd name="connsiteX2" fmla="*/ 1526465 w 1615434"/>
                <a:gd name="connsiteY2" fmla="*/ 0 h 533802"/>
                <a:gd name="connsiteX3" fmla="*/ 1615434 w 1615434"/>
                <a:gd name="connsiteY3" fmla="*/ 88969 h 533802"/>
                <a:gd name="connsiteX4" fmla="*/ 1615434 w 1615434"/>
                <a:gd name="connsiteY4" fmla="*/ 444833 h 533802"/>
                <a:gd name="connsiteX5" fmla="*/ 1526465 w 1615434"/>
                <a:gd name="connsiteY5" fmla="*/ 533802 h 533802"/>
                <a:gd name="connsiteX6" fmla="*/ 88969 w 1615434"/>
                <a:gd name="connsiteY6" fmla="*/ 533802 h 533802"/>
                <a:gd name="connsiteX7" fmla="*/ 0 w 1615434"/>
                <a:gd name="connsiteY7" fmla="*/ 444833 h 533802"/>
                <a:gd name="connsiteX8" fmla="*/ 0 w 1615434"/>
                <a:gd name="connsiteY8" fmla="*/ 88969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5434" h="533802">
                  <a:moveTo>
                    <a:pt x="0" y="88969"/>
                  </a:moveTo>
                  <a:cubicBezTo>
                    <a:pt x="0" y="39833"/>
                    <a:pt x="39833" y="0"/>
                    <a:pt x="88969" y="0"/>
                  </a:cubicBezTo>
                  <a:lnTo>
                    <a:pt x="1526465" y="0"/>
                  </a:lnTo>
                  <a:cubicBezTo>
                    <a:pt x="1575601" y="0"/>
                    <a:pt x="1615434" y="39833"/>
                    <a:pt x="1615434" y="88969"/>
                  </a:cubicBezTo>
                  <a:lnTo>
                    <a:pt x="1615434" y="444833"/>
                  </a:lnTo>
                  <a:cubicBezTo>
                    <a:pt x="1615434" y="493969"/>
                    <a:pt x="1575601" y="533802"/>
                    <a:pt x="1526465" y="533802"/>
                  </a:cubicBezTo>
                  <a:lnTo>
                    <a:pt x="88969" y="533802"/>
                  </a:lnTo>
                  <a:cubicBezTo>
                    <a:pt x="39833" y="533802"/>
                    <a:pt x="0" y="493969"/>
                    <a:pt x="0" y="444833"/>
                  </a:cubicBezTo>
                  <a:lnTo>
                    <a:pt x="0" y="88969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8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588" tIns="50823" rIns="75588" bIns="50823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kern="1200" dirty="0"/>
                <a:t>Define purpose and scope</a:t>
              </a:r>
            </a:p>
          </p:txBody>
        </p:sp>
        <p:sp>
          <p:nvSpPr>
            <p:cNvPr id="6" name="Freeform 5"/>
            <p:cNvSpPr/>
            <p:nvPr/>
          </p:nvSpPr>
          <p:spPr>
            <a:xfrm>
              <a:off x="2666997" y="1372841"/>
              <a:ext cx="5349240" cy="533802"/>
            </a:xfrm>
            <a:custGeom>
              <a:avLst/>
              <a:gdLst>
                <a:gd name="connsiteX0" fmla="*/ 0 w 5349240"/>
                <a:gd name="connsiteY0" fmla="*/ 66725 h 533802"/>
                <a:gd name="connsiteX1" fmla="*/ 5082339 w 5349240"/>
                <a:gd name="connsiteY1" fmla="*/ 66725 h 533802"/>
                <a:gd name="connsiteX2" fmla="*/ 5082339 w 5349240"/>
                <a:gd name="connsiteY2" fmla="*/ 0 h 533802"/>
                <a:gd name="connsiteX3" fmla="*/ 5349240 w 5349240"/>
                <a:gd name="connsiteY3" fmla="*/ 266901 h 533802"/>
                <a:gd name="connsiteX4" fmla="*/ 5082339 w 5349240"/>
                <a:gd name="connsiteY4" fmla="*/ 533802 h 533802"/>
                <a:gd name="connsiteX5" fmla="*/ 5082339 w 5349240"/>
                <a:gd name="connsiteY5" fmla="*/ 467077 h 533802"/>
                <a:gd name="connsiteX6" fmla="*/ 0 w 5349240"/>
                <a:gd name="connsiteY6" fmla="*/ 467077 h 533802"/>
                <a:gd name="connsiteX7" fmla="*/ 0 w 5349240"/>
                <a:gd name="connsiteY7" fmla="*/ 66725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9240" h="533802">
                  <a:moveTo>
                    <a:pt x="0" y="66725"/>
                  </a:moveTo>
                  <a:lnTo>
                    <a:pt x="5082339" y="66725"/>
                  </a:lnTo>
                  <a:lnTo>
                    <a:pt x="5082339" y="0"/>
                  </a:lnTo>
                  <a:lnTo>
                    <a:pt x="5349240" y="266901"/>
                  </a:lnTo>
                  <a:lnTo>
                    <a:pt x="5082339" y="533802"/>
                  </a:lnTo>
                  <a:lnTo>
                    <a:pt x="5082339" y="467077"/>
                  </a:lnTo>
                  <a:lnTo>
                    <a:pt x="0" y="467077"/>
                  </a:lnTo>
                  <a:lnTo>
                    <a:pt x="0" y="66725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44450" h="36350" prst="relaxedInset"/>
              <a:contourClr>
                <a:schemeClr val="bg1"/>
              </a:contourClr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55" tIns="74980" rIns="208431" bIns="7498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>
                  <a:highlight>
                    <a:srgbClr val="FFFF00"/>
                  </a:highlight>
                </a:rPr>
                <a:t>Technical</a:t>
              </a:r>
              <a:r>
                <a:rPr lang="en-US" sz="1300" kern="1200" dirty="0"/>
                <a:t> experts, </a:t>
              </a:r>
              <a:r>
                <a:rPr lang="en-US" sz="1300" kern="1200" dirty="0">
                  <a:highlight>
                    <a:srgbClr val="FFFF00"/>
                  </a:highlight>
                </a:rPr>
                <a:t>safety</a:t>
              </a:r>
              <a:r>
                <a:rPr lang="en-US" sz="1300" kern="1200" dirty="0"/>
                <a:t> experts in different areas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>
                  <a:highlight>
                    <a:srgbClr val="FFFF00"/>
                  </a:highlight>
                </a:rPr>
                <a:t>End users</a:t>
              </a:r>
              <a:r>
                <a:rPr lang="en-US" sz="1300" kern="1200" dirty="0"/>
                <a:t> if possible</a:t>
              </a:r>
            </a:p>
          </p:txBody>
        </p:sp>
        <p:sp>
          <p:nvSpPr>
            <p:cNvPr id="7" name="Freeform 6"/>
            <p:cNvSpPr/>
            <p:nvPr/>
          </p:nvSpPr>
          <p:spPr>
            <a:xfrm>
              <a:off x="1051562" y="1372841"/>
              <a:ext cx="1615434" cy="533802"/>
            </a:xfrm>
            <a:custGeom>
              <a:avLst/>
              <a:gdLst>
                <a:gd name="connsiteX0" fmla="*/ 0 w 1615434"/>
                <a:gd name="connsiteY0" fmla="*/ 88969 h 533802"/>
                <a:gd name="connsiteX1" fmla="*/ 88969 w 1615434"/>
                <a:gd name="connsiteY1" fmla="*/ 0 h 533802"/>
                <a:gd name="connsiteX2" fmla="*/ 1526465 w 1615434"/>
                <a:gd name="connsiteY2" fmla="*/ 0 h 533802"/>
                <a:gd name="connsiteX3" fmla="*/ 1615434 w 1615434"/>
                <a:gd name="connsiteY3" fmla="*/ 88969 h 533802"/>
                <a:gd name="connsiteX4" fmla="*/ 1615434 w 1615434"/>
                <a:gd name="connsiteY4" fmla="*/ 444833 h 533802"/>
                <a:gd name="connsiteX5" fmla="*/ 1526465 w 1615434"/>
                <a:gd name="connsiteY5" fmla="*/ 533802 h 533802"/>
                <a:gd name="connsiteX6" fmla="*/ 88969 w 1615434"/>
                <a:gd name="connsiteY6" fmla="*/ 533802 h 533802"/>
                <a:gd name="connsiteX7" fmla="*/ 0 w 1615434"/>
                <a:gd name="connsiteY7" fmla="*/ 444833 h 533802"/>
                <a:gd name="connsiteX8" fmla="*/ 0 w 1615434"/>
                <a:gd name="connsiteY8" fmla="*/ 88969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5434" h="533802">
                  <a:moveTo>
                    <a:pt x="0" y="88969"/>
                  </a:moveTo>
                  <a:cubicBezTo>
                    <a:pt x="0" y="39833"/>
                    <a:pt x="39833" y="0"/>
                    <a:pt x="88969" y="0"/>
                  </a:cubicBezTo>
                  <a:lnTo>
                    <a:pt x="1526465" y="0"/>
                  </a:lnTo>
                  <a:cubicBezTo>
                    <a:pt x="1575601" y="0"/>
                    <a:pt x="1615434" y="39833"/>
                    <a:pt x="1615434" y="88969"/>
                  </a:cubicBezTo>
                  <a:lnTo>
                    <a:pt x="1615434" y="444833"/>
                  </a:lnTo>
                  <a:cubicBezTo>
                    <a:pt x="1615434" y="493969"/>
                    <a:pt x="1575601" y="533802"/>
                    <a:pt x="1526465" y="533802"/>
                  </a:cubicBezTo>
                  <a:lnTo>
                    <a:pt x="88969" y="533802"/>
                  </a:lnTo>
                  <a:cubicBezTo>
                    <a:pt x="39833" y="533802"/>
                    <a:pt x="0" y="493969"/>
                    <a:pt x="0" y="444833"/>
                  </a:cubicBezTo>
                  <a:lnTo>
                    <a:pt x="0" y="88969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80000"/>
                <a:hueOff val="0"/>
                <a:satOff val="-3502"/>
                <a:lumOff val="3969"/>
                <a:alphaOff val="0"/>
              </a:schemeClr>
            </a:fillRef>
            <a:effectRef idx="2">
              <a:schemeClr val="accent2">
                <a:shade val="80000"/>
                <a:hueOff val="0"/>
                <a:satOff val="-3502"/>
                <a:lumOff val="3969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588" tIns="50823" rIns="75588" bIns="50823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kern="1200" dirty="0"/>
                <a:t>Assemble team</a:t>
              </a:r>
            </a:p>
          </p:txBody>
        </p:sp>
        <p:sp>
          <p:nvSpPr>
            <p:cNvPr id="8" name="Freeform 7"/>
            <p:cNvSpPr/>
            <p:nvPr/>
          </p:nvSpPr>
          <p:spPr>
            <a:xfrm>
              <a:off x="2666997" y="1960024"/>
              <a:ext cx="5349240" cy="533802"/>
            </a:xfrm>
            <a:custGeom>
              <a:avLst/>
              <a:gdLst>
                <a:gd name="connsiteX0" fmla="*/ 0 w 5349240"/>
                <a:gd name="connsiteY0" fmla="*/ 66725 h 533802"/>
                <a:gd name="connsiteX1" fmla="*/ 5082339 w 5349240"/>
                <a:gd name="connsiteY1" fmla="*/ 66725 h 533802"/>
                <a:gd name="connsiteX2" fmla="*/ 5082339 w 5349240"/>
                <a:gd name="connsiteY2" fmla="*/ 0 h 533802"/>
                <a:gd name="connsiteX3" fmla="*/ 5349240 w 5349240"/>
                <a:gd name="connsiteY3" fmla="*/ 266901 h 533802"/>
                <a:gd name="connsiteX4" fmla="*/ 5082339 w 5349240"/>
                <a:gd name="connsiteY4" fmla="*/ 533802 h 533802"/>
                <a:gd name="connsiteX5" fmla="*/ 5082339 w 5349240"/>
                <a:gd name="connsiteY5" fmla="*/ 467077 h 533802"/>
                <a:gd name="connsiteX6" fmla="*/ 0 w 5349240"/>
                <a:gd name="connsiteY6" fmla="*/ 467077 h 533802"/>
                <a:gd name="connsiteX7" fmla="*/ 0 w 5349240"/>
                <a:gd name="connsiteY7" fmla="*/ 66725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9240" h="533802">
                  <a:moveTo>
                    <a:pt x="0" y="66725"/>
                  </a:moveTo>
                  <a:lnTo>
                    <a:pt x="5082339" y="66725"/>
                  </a:lnTo>
                  <a:lnTo>
                    <a:pt x="5082339" y="0"/>
                  </a:lnTo>
                  <a:lnTo>
                    <a:pt x="5349240" y="266901"/>
                  </a:lnTo>
                  <a:lnTo>
                    <a:pt x="5082339" y="533802"/>
                  </a:lnTo>
                  <a:lnTo>
                    <a:pt x="5082339" y="467077"/>
                  </a:lnTo>
                  <a:lnTo>
                    <a:pt x="0" y="467077"/>
                  </a:lnTo>
                  <a:lnTo>
                    <a:pt x="0" y="66725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44450" h="36350" prst="relaxedInset"/>
              <a:contourClr>
                <a:schemeClr val="bg1"/>
              </a:contourClr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55" tIns="74980" rIns="208431" bIns="7498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/>
                <a:t>Does </a:t>
              </a:r>
              <a:r>
                <a:rPr lang="en-US" sz="1300" kern="1200" dirty="0">
                  <a:highlight>
                    <a:srgbClr val="FFFF00"/>
                  </a:highlight>
                </a:rPr>
                <a:t>everyone</a:t>
              </a:r>
              <a:r>
                <a:rPr lang="en-US" sz="1300" kern="1200" dirty="0"/>
                <a:t> on the team </a:t>
              </a:r>
              <a:r>
                <a:rPr lang="en-US" sz="1300" kern="1200" dirty="0">
                  <a:highlight>
                    <a:srgbClr val="FFFF00"/>
                  </a:highlight>
                </a:rPr>
                <a:t>know what</a:t>
              </a:r>
              <a:r>
                <a:rPr lang="en-US" sz="1300" kern="1200" dirty="0"/>
                <a:t> the </a:t>
              </a:r>
              <a:r>
                <a:rPr lang="en-US" sz="1300" kern="1200" dirty="0">
                  <a:highlight>
                    <a:srgbClr val="FFFF00"/>
                  </a:highlight>
                </a:rPr>
                <a:t>purpose</a:t>
              </a:r>
              <a:r>
                <a:rPr lang="en-US" sz="1300" kern="1200" dirty="0"/>
                <a:t> and scope is? </a:t>
              </a:r>
              <a:r>
                <a:rPr lang="en-US" sz="1300" kern="1200" dirty="0">
                  <a:highlight>
                    <a:srgbClr val="FFFF00"/>
                  </a:highlight>
                </a:rPr>
                <a:t>How</a:t>
              </a:r>
              <a:r>
                <a:rPr lang="en-US" sz="1300" kern="1200" dirty="0"/>
                <a:t> are the </a:t>
              </a:r>
              <a:r>
                <a:rPr lang="en-US" sz="1300" kern="1200" dirty="0">
                  <a:highlight>
                    <a:srgbClr val="FFFF00"/>
                  </a:highlight>
                </a:rPr>
                <a:t>risk criteria</a:t>
              </a:r>
              <a:r>
                <a:rPr lang="en-US" sz="1300" kern="1200" dirty="0"/>
                <a:t> </a:t>
              </a:r>
              <a:r>
                <a:rPr lang="en-US" sz="1300" kern="1200" dirty="0">
                  <a:highlight>
                    <a:srgbClr val="FFFF00"/>
                  </a:highlight>
                </a:rPr>
                <a:t>defined</a:t>
              </a:r>
              <a:r>
                <a:rPr lang="en-US" sz="1300" kern="1200" dirty="0"/>
                <a:t>?</a:t>
              </a:r>
            </a:p>
          </p:txBody>
        </p:sp>
        <p:sp>
          <p:nvSpPr>
            <p:cNvPr id="11" name="Freeform 10"/>
            <p:cNvSpPr/>
            <p:nvPr/>
          </p:nvSpPr>
          <p:spPr>
            <a:xfrm>
              <a:off x="1051562" y="1960024"/>
              <a:ext cx="1615434" cy="533802"/>
            </a:xfrm>
            <a:custGeom>
              <a:avLst/>
              <a:gdLst>
                <a:gd name="connsiteX0" fmla="*/ 0 w 1615434"/>
                <a:gd name="connsiteY0" fmla="*/ 88969 h 533802"/>
                <a:gd name="connsiteX1" fmla="*/ 88969 w 1615434"/>
                <a:gd name="connsiteY1" fmla="*/ 0 h 533802"/>
                <a:gd name="connsiteX2" fmla="*/ 1526465 w 1615434"/>
                <a:gd name="connsiteY2" fmla="*/ 0 h 533802"/>
                <a:gd name="connsiteX3" fmla="*/ 1615434 w 1615434"/>
                <a:gd name="connsiteY3" fmla="*/ 88969 h 533802"/>
                <a:gd name="connsiteX4" fmla="*/ 1615434 w 1615434"/>
                <a:gd name="connsiteY4" fmla="*/ 444833 h 533802"/>
                <a:gd name="connsiteX5" fmla="*/ 1526465 w 1615434"/>
                <a:gd name="connsiteY5" fmla="*/ 533802 h 533802"/>
                <a:gd name="connsiteX6" fmla="*/ 88969 w 1615434"/>
                <a:gd name="connsiteY6" fmla="*/ 533802 h 533802"/>
                <a:gd name="connsiteX7" fmla="*/ 0 w 1615434"/>
                <a:gd name="connsiteY7" fmla="*/ 444833 h 533802"/>
                <a:gd name="connsiteX8" fmla="*/ 0 w 1615434"/>
                <a:gd name="connsiteY8" fmla="*/ 88969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5434" h="533802">
                  <a:moveTo>
                    <a:pt x="0" y="88969"/>
                  </a:moveTo>
                  <a:cubicBezTo>
                    <a:pt x="0" y="39833"/>
                    <a:pt x="39833" y="0"/>
                    <a:pt x="88969" y="0"/>
                  </a:cubicBezTo>
                  <a:lnTo>
                    <a:pt x="1526465" y="0"/>
                  </a:lnTo>
                  <a:cubicBezTo>
                    <a:pt x="1575601" y="0"/>
                    <a:pt x="1615434" y="39833"/>
                    <a:pt x="1615434" y="88969"/>
                  </a:cubicBezTo>
                  <a:lnTo>
                    <a:pt x="1615434" y="444833"/>
                  </a:lnTo>
                  <a:cubicBezTo>
                    <a:pt x="1615434" y="493969"/>
                    <a:pt x="1575601" y="533802"/>
                    <a:pt x="1526465" y="533802"/>
                  </a:cubicBezTo>
                  <a:lnTo>
                    <a:pt x="88969" y="533802"/>
                  </a:lnTo>
                  <a:cubicBezTo>
                    <a:pt x="39833" y="533802"/>
                    <a:pt x="0" y="493969"/>
                    <a:pt x="0" y="444833"/>
                  </a:cubicBezTo>
                  <a:lnTo>
                    <a:pt x="0" y="88969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80000"/>
                <a:hueOff val="0"/>
                <a:satOff val="-7005"/>
                <a:lumOff val="7938"/>
                <a:alphaOff val="0"/>
              </a:schemeClr>
            </a:fillRef>
            <a:effectRef idx="2">
              <a:schemeClr val="accent2">
                <a:shade val="80000"/>
                <a:hueOff val="0"/>
                <a:satOff val="-7005"/>
                <a:lumOff val="793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588" tIns="50823" rIns="75588" bIns="50823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kern="1200" dirty="0"/>
                <a:t>Communicate objectives</a:t>
              </a:r>
            </a:p>
          </p:txBody>
        </p:sp>
        <p:sp>
          <p:nvSpPr>
            <p:cNvPr id="12" name="Freeform 11"/>
            <p:cNvSpPr/>
            <p:nvPr/>
          </p:nvSpPr>
          <p:spPr>
            <a:xfrm>
              <a:off x="2666997" y="2547207"/>
              <a:ext cx="5349240" cy="533802"/>
            </a:xfrm>
            <a:custGeom>
              <a:avLst/>
              <a:gdLst>
                <a:gd name="connsiteX0" fmla="*/ 0 w 5349240"/>
                <a:gd name="connsiteY0" fmla="*/ 66725 h 533802"/>
                <a:gd name="connsiteX1" fmla="*/ 5082339 w 5349240"/>
                <a:gd name="connsiteY1" fmla="*/ 66725 h 533802"/>
                <a:gd name="connsiteX2" fmla="*/ 5082339 w 5349240"/>
                <a:gd name="connsiteY2" fmla="*/ 0 h 533802"/>
                <a:gd name="connsiteX3" fmla="*/ 5349240 w 5349240"/>
                <a:gd name="connsiteY3" fmla="*/ 266901 h 533802"/>
                <a:gd name="connsiteX4" fmla="*/ 5082339 w 5349240"/>
                <a:gd name="connsiteY4" fmla="*/ 533802 h 533802"/>
                <a:gd name="connsiteX5" fmla="*/ 5082339 w 5349240"/>
                <a:gd name="connsiteY5" fmla="*/ 467077 h 533802"/>
                <a:gd name="connsiteX6" fmla="*/ 0 w 5349240"/>
                <a:gd name="connsiteY6" fmla="*/ 467077 h 533802"/>
                <a:gd name="connsiteX7" fmla="*/ 0 w 5349240"/>
                <a:gd name="connsiteY7" fmla="*/ 66725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9240" h="533802">
                  <a:moveTo>
                    <a:pt x="0" y="66725"/>
                  </a:moveTo>
                  <a:lnTo>
                    <a:pt x="5082339" y="66725"/>
                  </a:lnTo>
                  <a:lnTo>
                    <a:pt x="5082339" y="0"/>
                  </a:lnTo>
                  <a:lnTo>
                    <a:pt x="5349240" y="266901"/>
                  </a:lnTo>
                  <a:lnTo>
                    <a:pt x="5082339" y="533802"/>
                  </a:lnTo>
                  <a:lnTo>
                    <a:pt x="5082339" y="467077"/>
                  </a:lnTo>
                  <a:lnTo>
                    <a:pt x="0" y="467077"/>
                  </a:lnTo>
                  <a:lnTo>
                    <a:pt x="0" y="66725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44450" h="36350" prst="relaxedInset"/>
              <a:contourClr>
                <a:schemeClr val="bg1"/>
              </a:contourClr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55" tIns="74980" rIns="208431" bIns="7498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/>
                <a:t>Drawings, schematics, component specs, operating manuals, reference manuals, etc</a:t>
              </a:r>
            </a:p>
          </p:txBody>
        </p:sp>
        <p:sp>
          <p:nvSpPr>
            <p:cNvPr id="13" name="Freeform 12"/>
            <p:cNvSpPr/>
            <p:nvPr/>
          </p:nvSpPr>
          <p:spPr>
            <a:xfrm>
              <a:off x="1051562" y="2547207"/>
              <a:ext cx="1615434" cy="533802"/>
            </a:xfrm>
            <a:custGeom>
              <a:avLst/>
              <a:gdLst>
                <a:gd name="connsiteX0" fmla="*/ 0 w 1615434"/>
                <a:gd name="connsiteY0" fmla="*/ 88969 h 533802"/>
                <a:gd name="connsiteX1" fmla="*/ 88969 w 1615434"/>
                <a:gd name="connsiteY1" fmla="*/ 0 h 533802"/>
                <a:gd name="connsiteX2" fmla="*/ 1526465 w 1615434"/>
                <a:gd name="connsiteY2" fmla="*/ 0 h 533802"/>
                <a:gd name="connsiteX3" fmla="*/ 1615434 w 1615434"/>
                <a:gd name="connsiteY3" fmla="*/ 88969 h 533802"/>
                <a:gd name="connsiteX4" fmla="*/ 1615434 w 1615434"/>
                <a:gd name="connsiteY4" fmla="*/ 444833 h 533802"/>
                <a:gd name="connsiteX5" fmla="*/ 1526465 w 1615434"/>
                <a:gd name="connsiteY5" fmla="*/ 533802 h 533802"/>
                <a:gd name="connsiteX6" fmla="*/ 88969 w 1615434"/>
                <a:gd name="connsiteY6" fmla="*/ 533802 h 533802"/>
                <a:gd name="connsiteX7" fmla="*/ 0 w 1615434"/>
                <a:gd name="connsiteY7" fmla="*/ 444833 h 533802"/>
                <a:gd name="connsiteX8" fmla="*/ 0 w 1615434"/>
                <a:gd name="connsiteY8" fmla="*/ 88969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5434" h="533802">
                  <a:moveTo>
                    <a:pt x="0" y="88969"/>
                  </a:moveTo>
                  <a:cubicBezTo>
                    <a:pt x="0" y="39833"/>
                    <a:pt x="39833" y="0"/>
                    <a:pt x="88969" y="0"/>
                  </a:cubicBezTo>
                  <a:lnTo>
                    <a:pt x="1526465" y="0"/>
                  </a:lnTo>
                  <a:cubicBezTo>
                    <a:pt x="1575601" y="0"/>
                    <a:pt x="1615434" y="39833"/>
                    <a:pt x="1615434" y="88969"/>
                  </a:cubicBezTo>
                  <a:lnTo>
                    <a:pt x="1615434" y="444833"/>
                  </a:lnTo>
                  <a:cubicBezTo>
                    <a:pt x="1615434" y="493969"/>
                    <a:pt x="1575601" y="533802"/>
                    <a:pt x="1526465" y="533802"/>
                  </a:cubicBezTo>
                  <a:lnTo>
                    <a:pt x="88969" y="533802"/>
                  </a:lnTo>
                  <a:cubicBezTo>
                    <a:pt x="39833" y="533802"/>
                    <a:pt x="0" y="493969"/>
                    <a:pt x="0" y="444833"/>
                  </a:cubicBezTo>
                  <a:lnTo>
                    <a:pt x="0" y="88969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80000"/>
                <a:hueOff val="0"/>
                <a:satOff val="-10507"/>
                <a:lumOff val="11907"/>
                <a:alphaOff val="0"/>
              </a:schemeClr>
            </a:fillRef>
            <a:effectRef idx="2">
              <a:schemeClr val="accent2">
                <a:shade val="80000"/>
                <a:hueOff val="0"/>
                <a:satOff val="-10507"/>
                <a:lumOff val="1190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588" tIns="50823" rIns="75588" bIns="50823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kern="1200" dirty="0"/>
                <a:t>Gather information</a:t>
              </a:r>
            </a:p>
          </p:txBody>
        </p:sp>
        <p:sp>
          <p:nvSpPr>
            <p:cNvPr id="14" name="Freeform 13"/>
            <p:cNvSpPr/>
            <p:nvPr/>
          </p:nvSpPr>
          <p:spPr>
            <a:xfrm>
              <a:off x="2666997" y="3134389"/>
              <a:ext cx="5349240" cy="533802"/>
            </a:xfrm>
            <a:custGeom>
              <a:avLst/>
              <a:gdLst>
                <a:gd name="connsiteX0" fmla="*/ 0 w 5349240"/>
                <a:gd name="connsiteY0" fmla="*/ 66725 h 533802"/>
                <a:gd name="connsiteX1" fmla="*/ 5082339 w 5349240"/>
                <a:gd name="connsiteY1" fmla="*/ 66725 h 533802"/>
                <a:gd name="connsiteX2" fmla="*/ 5082339 w 5349240"/>
                <a:gd name="connsiteY2" fmla="*/ 0 h 533802"/>
                <a:gd name="connsiteX3" fmla="*/ 5349240 w 5349240"/>
                <a:gd name="connsiteY3" fmla="*/ 266901 h 533802"/>
                <a:gd name="connsiteX4" fmla="*/ 5082339 w 5349240"/>
                <a:gd name="connsiteY4" fmla="*/ 533802 h 533802"/>
                <a:gd name="connsiteX5" fmla="*/ 5082339 w 5349240"/>
                <a:gd name="connsiteY5" fmla="*/ 467077 h 533802"/>
                <a:gd name="connsiteX6" fmla="*/ 0 w 5349240"/>
                <a:gd name="connsiteY6" fmla="*/ 467077 h 533802"/>
                <a:gd name="connsiteX7" fmla="*/ 0 w 5349240"/>
                <a:gd name="connsiteY7" fmla="*/ 66725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9240" h="533802">
                  <a:moveTo>
                    <a:pt x="0" y="66725"/>
                  </a:moveTo>
                  <a:lnTo>
                    <a:pt x="5082339" y="66725"/>
                  </a:lnTo>
                  <a:lnTo>
                    <a:pt x="5082339" y="0"/>
                  </a:lnTo>
                  <a:lnTo>
                    <a:pt x="5349240" y="266901"/>
                  </a:lnTo>
                  <a:lnTo>
                    <a:pt x="5082339" y="533802"/>
                  </a:lnTo>
                  <a:lnTo>
                    <a:pt x="5082339" y="467077"/>
                  </a:lnTo>
                  <a:lnTo>
                    <a:pt x="0" y="467077"/>
                  </a:lnTo>
                  <a:lnTo>
                    <a:pt x="0" y="66725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44450" h="36350" prst="relaxedInset"/>
              <a:contourClr>
                <a:schemeClr val="bg1"/>
              </a:contourClr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55" tIns="74980" rIns="208431" bIns="7498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>
                  <a:highlight>
                    <a:srgbClr val="FFFF00"/>
                  </a:highlight>
                </a:rPr>
                <a:t>Break down</a:t>
              </a:r>
              <a:r>
                <a:rPr lang="en-US" sz="1300" kern="1200" dirty="0"/>
                <a:t> the </a:t>
              </a:r>
              <a:r>
                <a:rPr lang="en-US" sz="1300" kern="1200" dirty="0">
                  <a:highlight>
                    <a:srgbClr val="FFFF00"/>
                  </a:highlight>
                </a:rPr>
                <a:t>activity/system</a:t>
              </a:r>
              <a:r>
                <a:rPr lang="en-US" sz="1300" kern="1200" dirty="0"/>
                <a:t> into </a:t>
              </a:r>
              <a:r>
                <a:rPr lang="en-US" sz="1300" kern="1200" dirty="0">
                  <a:highlight>
                    <a:srgbClr val="FFFF00"/>
                  </a:highlight>
                </a:rPr>
                <a:t>tasks/elements</a:t>
              </a:r>
              <a:r>
                <a:rPr lang="en-US" sz="1300" kern="1200" dirty="0"/>
                <a:t> to be analyzed</a:t>
              </a:r>
            </a:p>
          </p:txBody>
        </p:sp>
        <p:sp>
          <p:nvSpPr>
            <p:cNvPr id="15" name="Freeform 14"/>
            <p:cNvSpPr/>
            <p:nvPr/>
          </p:nvSpPr>
          <p:spPr>
            <a:xfrm>
              <a:off x="1051562" y="3134389"/>
              <a:ext cx="1615434" cy="533802"/>
            </a:xfrm>
            <a:custGeom>
              <a:avLst/>
              <a:gdLst>
                <a:gd name="connsiteX0" fmla="*/ 0 w 1615434"/>
                <a:gd name="connsiteY0" fmla="*/ 88969 h 533802"/>
                <a:gd name="connsiteX1" fmla="*/ 88969 w 1615434"/>
                <a:gd name="connsiteY1" fmla="*/ 0 h 533802"/>
                <a:gd name="connsiteX2" fmla="*/ 1526465 w 1615434"/>
                <a:gd name="connsiteY2" fmla="*/ 0 h 533802"/>
                <a:gd name="connsiteX3" fmla="*/ 1615434 w 1615434"/>
                <a:gd name="connsiteY3" fmla="*/ 88969 h 533802"/>
                <a:gd name="connsiteX4" fmla="*/ 1615434 w 1615434"/>
                <a:gd name="connsiteY4" fmla="*/ 444833 h 533802"/>
                <a:gd name="connsiteX5" fmla="*/ 1526465 w 1615434"/>
                <a:gd name="connsiteY5" fmla="*/ 533802 h 533802"/>
                <a:gd name="connsiteX6" fmla="*/ 88969 w 1615434"/>
                <a:gd name="connsiteY6" fmla="*/ 533802 h 533802"/>
                <a:gd name="connsiteX7" fmla="*/ 0 w 1615434"/>
                <a:gd name="connsiteY7" fmla="*/ 444833 h 533802"/>
                <a:gd name="connsiteX8" fmla="*/ 0 w 1615434"/>
                <a:gd name="connsiteY8" fmla="*/ 88969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5434" h="533802">
                  <a:moveTo>
                    <a:pt x="0" y="88969"/>
                  </a:moveTo>
                  <a:cubicBezTo>
                    <a:pt x="0" y="39833"/>
                    <a:pt x="39833" y="0"/>
                    <a:pt x="88969" y="0"/>
                  </a:cubicBezTo>
                  <a:lnTo>
                    <a:pt x="1526465" y="0"/>
                  </a:lnTo>
                  <a:cubicBezTo>
                    <a:pt x="1575601" y="0"/>
                    <a:pt x="1615434" y="39833"/>
                    <a:pt x="1615434" y="88969"/>
                  </a:cubicBezTo>
                  <a:lnTo>
                    <a:pt x="1615434" y="444833"/>
                  </a:lnTo>
                  <a:cubicBezTo>
                    <a:pt x="1615434" y="493969"/>
                    <a:pt x="1575601" y="533802"/>
                    <a:pt x="1526465" y="533802"/>
                  </a:cubicBezTo>
                  <a:lnTo>
                    <a:pt x="88969" y="533802"/>
                  </a:lnTo>
                  <a:cubicBezTo>
                    <a:pt x="39833" y="533802"/>
                    <a:pt x="0" y="493969"/>
                    <a:pt x="0" y="444833"/>
                  </a:cubicBezTo>
                  <a:lnTo>
                    <a:pt x="0" y="88969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80000"/>
                <a:hueOff val="0"/>
                <a:satOff val="-14010"/>
                <a:lumOff val="15876"/>
                <a:alphaOff val="0"/>
              </a:schemeClr>
            </a:fillRef>
            <a:effectRef idx="2">
              <a:schemeClr val="accent2">
                <a:shade val="80000"/>
                <a:hueOff val="0"/>
                <a:satOff val="-14010"/>
                <a:lumOff val="15876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588" tIns="50823" rIns="75588" bIns="50823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kern="1200" dirty="0"/>
                <a:t>Breakdown into tasks</a:t>
              </a:r>
            </a:p>
          </p:txBody>
        </p:sp>
        <p:sp>
          <p:nvSpPr>
            <p:cNvPr id="16" name="Freeform 15"/>
            <p:cNvSpPr/>
            <p:nvPr/>
          </p:nvSpPr>
          <p:spPr>
            <a:xfrm>
              <a:off x="2666997" y="3721572"/>
              <a:ext cx="5349240" cy="533802"/>
            </a:xfrm>
            <a:custGeom>
              <a:avLst/>
              <a:gdLst>
                <a:gd name="connsiteX0" fmla="*/ 0 w 5349240"/>
                <a:gd name="connsiteY0" fmla="*/ 66725 h 533802"/>
                <a:gd name="connsiteX1" fmla="*/ 5082339 w 5349240"/>
                <a:gd name="connsiteY1" fmla="*/ 66725 h 533802"/>
                <a:gd name="connsiteX2" fmla="*/ 5082339 w 5349240"/>
                <a:gd name="connsiteY2" fmla="*/ 0 h 533802"/>
                <a:gd name="connsiteX3" fmla="*/ 5349240 w 5349240"/>
                <a:gd name="connsiteY3" fmla="*/ 266901 h 533802"/>
                <a:gd name="connsiteX4" fmla="*/ 5082339 w 5349240"/>
                <a:gd name="connsiteY4" fmla="*/ 533802 h 533802"/>
                <a:gd name="connsiteX5" fmla="*/ 5082339 w 5349240"/>
                <a:gd name="connsiteY5" fmla="*/ 467077 h 533802"/>
                <a:gd name="connsiteX6" fmla="*/ 0 w 5349240"/>
                <a:gd name="connsiteY6" fmla="*/ 467077 h 533802"/>
                <a:gd name="connsiteX7" fmla="*/ 0 w 5349240"/>
                <a:gd name="connsiteY7" fmla="*/ 66725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9240" h="533802">
                  <a:moveTo>
                    <a:pt x="0" y="66725"/>
                  </a:moveTo>
                  <a:lnTo>
                    <a:pt x="5082339" y="66725"/>
                  </a:lnTo>
                  <a:lnTo>
                    <a:pt x="5082339" y="0"/>
                  </a:lnTo>
                  <a:lnTo>
                    <a:pt x="5349240" y="266901"/>
                  </a:lnTo>
                  <a:lnTo>
                    <a:pt x="5082339" y="533802"/>
                  </a:lnTo>
                  <a:lnTo>
                    <a:pt x="5082339" y="467077"/>
                  </a:lnTo>
                  <a:lnTo>
                    <a:pt x="0" y="467077"/>
                  </a:lnTo>
                  <a:lnTo>
                    <a:pt x="0" y="66725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44450" h="36350" prst="relaxedInset"/>
              <a:contourClr>
                <a:schemeClr val="bg1"/>
              </a:contourClr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55" tIns="74980" rIns="208431" bIns="7498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u="sng" kern="1200" dirty="0">
                  <a:highlight>
                    <a:srgbClr val="FFFF00"/>
                  </a:highlight>
                </a:rPr>
                <a:t>Brainstorm</a:t>
              </a:r>
              <a:r>
                <a:rPr lang="en-US" sz="1300" kern="1200" dirty="0"/>
                <a:t> </a:t>
              </a:r>
              <a:r>
                <a:rPr lang="en-US" sz="1300" kern="1200" dirty="0">
                  <a:highlight>
                    <a:srgbClr val="FFFF00"/>
                  </a:highlight>
                </a:rPr>
                <a:t>hazards</a:t>
              </a:r>
              <a:r>
                <a:rPr lang="en-US" sz="1300" kern="1200" dirty="0"/>
                <a:t> and </a:t>
              </a:r>
              <a:r>
                <a:rPr lang="en-US" sz="1300" kern="1200" dirty="0">
                  <a:highlight>
                    <a:srgbClr val="FFFF00"/>
                  </a:highlight>
                </a:rPr>
                <a:t>hazardous scenarios</a:t>
              </a:r>
              <a:r>
                <a:rPr lang="en-US" sz="1300" kern="1200" dirty="0"/>
                <a:t> with team</a:t>
              </a:r>
            </a:p>
          </p:txBody>
        </p:sp>
        <p:sp>
          <p:nvSpPr>
            <p:cNvPr id="17" name="Freeform 16"/>
            <p:cNvSpPr/>
            <p:nvPr/>
          </p:nvSpPr>
          <p:spPr>
            <a:xfrm>
              <a:off x="1051562" y="3721572"/>
              <a:ext cx="1615434" cy="533802"/>
            </a:xfrm>
            <a:custGeom>
              <a:avLst/>
              <a:gdLst>
                <a:gd name="connsiteX0" fmla="*/ 0 w 1615434"/>
                <a:gd name="connsiteY0" fmla="*/ 88969 h 533802"/>
                <a:gd name="connsiteX1" fmla="*/ 88969 w 1615434"/>
                <a:gd name="connsiteY1" fmla="*/ 0 h 533802"/>
                <a:gd name="connsiteX2" fmla="*/ 1526465 w 1615434"/>
                <a:gd name="connsiteY2" fmla="*/ 0 h 533802"/>
                <a:gd name="connsiteX3" fmla="*/ 1615434 w 1615434"/>
                <a:gd name="connsiteY3" fmla="*/ 88969 h 533802"/>
                <a:gd name="connsiteX4" fmla="*/ 1615434 w 1615434"/>
                <a:gd name="connsiteY4" fmla="*/ 444833 h 533802"/>
                <a:gd name="connsiteX5" fmla="*/ 1526465 w 1615434"/>
                <a:gd name="connsiteY5" fmla="*/ 533802 h 533802"/>
                <a:gd name="connsiteX6" fmla="*/ 88969 w 1615434"/>
                <a:gd name="connsiteY6" fmla="*/ 533802 h 533802"/>
                <a:gd name="connsiteX7" fmla="*/ 0 w 1615434"/>
                <a:gd name="connsiteY7" fmla="*/ 444833 h 533802"/>
                <a:gd name="connsiteX8" fmla="*/ 0 w 1615434"/>
                <a:gd name="connsiteY8" fmla="*/ 88969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5434" h="533802">
                  <a:moveTo>
                    <a:pt x="0" y="88969"/>
                  </a:moveTo>
                  <a:cubicBezTo>
                    <a:pt x="0" y="39833"/>
                    <a:pt x="39833" y="0"/>
                    <a:pt x="88969" y="0"/>
                  </a:cubicBezTo>
                  <a:lnTo>
                    <a:pt x="1526465" y="0"/>
                  </a:lnTo>
                  <a:cubicBezTo>
                    <a:pt x="1575601" y="0"/>
                    <a:pt x="1615434" y="39833"/>
                    <a:pt x="1615434" y="88969"/>
                  </a:cubicBezTo>
                  <a:lnTo>
                    <a:pt x="1615434" y="444833"/>
                  </a:lnTo>
                  <a:cubicBezTo>
                    <a:pt x="1615434" y="493969"/>
                    <a:pt x="1575601" y="533802"/>
                    <a:pt x="1526465" y="533802"/>
                  </a:cubicBezTo>
                  <a:lnTo>
                    <a:pt x="88969" y="533802"/>
                  </a:lnTo>
                  <a:cubicBezTo>
                    <a:pt x="39833" y="533802"/>
                    <a:pt x="0" y="493969"/>
                    <a:pt x="0" y="444833"/>
                  </a:cubicBezTo>
                  <a:lnTo>
                    <a:pt x="0" y="88969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80000"/>
                <a:hueOff val="0"/>
                <a:satOff val="-17512"/>
                <a:lumOff val="19845"/>
                <a:alphaOff val="0"/>
              </a:schemeClr>
            </a:fillRef>
            <a:effectRef idx="2">
              <a:schemeClr val="accent2">
                <a:shade val="80000"/>
                <a:hueOff val="0"/>
                <a:satOff val="-17512"/>
                <a:lumOff val="1984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588" tIns="50823" rIns="75588" bIns="50823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i="1" u="sng" kern="1200" dirty="0"/>
                <a:t>Generate What-If Analysis questions</a:t>
              </a:r>
            </a:p>
          </p:txBody>
        </p:sp>
        <p:sp>
          <p:nvSpPr>
            <p:cNvPr id="18" name="Freeform 17"/>
            <p:cNvSpPr/>
            <p:nvPr/>
          </p:nvSpPr>
          <p:spPr>
            <a:xfrm>
              <a:off x="2666997" y="4308755"/>
              <a:ext cx="5349240" cy="533802"/>
            </a:xfrm>
            <a:custGeom>
              <a:avLst/>
              <a:gdLst>
                <a:gd name="connsiteX0" fmla="*/ 0 w 5349240"/>
                <a:gd name="connsiteY0" fmla="*/ 66725 h 533802"/>
                <a:gd name="connsiteX1" fmla="*/ 5082339 w 5349240"/>
                <a:gd name="connsiteY1" fmla="*/ 66725 h 533802"/>
                <a:gd name="connsiteX2" fmla="*/ 5082339 w 5349240"/>
                <a:gd name="connsiteY2" fmla="*/ 0 h 533802"/>
                <a:gd name="connsiteX3" fmla="*/ 5349240 w 5349240"/>
                <a:gd name="connsiteY3" fmla="*/ 266901 h 533802"/>
                <a:gd name="connsiteX4" fmla="*/ 5082339 w 5349240"/>
                <a:gd name="connsiteY4" fmla="*/ 533802 h 533802"/>
                <a:gd name="connsiteX5" fmla="*/ 5082339 w 5349240"/>
                <a:gd name="connsiteY5" fmla="*/ 467077 h 533802"/>
                <a:gd name="connsiteX6" fmla="*/ 0 w 5349240"/>
                <a:gd name="connsiteY6" fmla="*/ 467077 h 533802"/>
                <a:gd name="connsiteX7" fmla="*/ 0 w 5349240"/>
                <a:gd name="connsiteY7" fmla="*/ 66725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9240" h="533802">
                  <a:moveTo>
                    <a:pt x="0" y="66725"/>
                  </a:moveTo>
                  <a:lnTo>
                    <a:pt x="5082339" y="66725"/>
                  </a:lnTo>
                  <a:lnTo>
                    <a:pt x="5082339" y="0"/>
                  </a:lnTo>
                  <a:lnTo>
                    <a:pt x="5349240" y="266901"/>
                  </a:lnTo>
                  <a:lnTo>
                    <a:pt x="5082339" y="533802"/>
                  </a:lnTo>
                  <a:lnTo>
                    <a:pt x="5082339" y="467077"/>
                  </a:lnTo>
                  <a:lnTo>
                    <a:pt x="0" y="467077"/>
                  </a:lnTo>
                  <a:lnTo>
                    <a:pt x="0" y="66725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44450" h="36350" prst="relaxedInset"/>
              <a:contourClr>
                <a:schemeClr val="bg1"/>
              </a:contourClr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55" tIns="74980" rIns="208431" bIns="7498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>
                  <a:highlight>
                    <a:srgbClr val="FFFF00"/>
                  </a:highlight>
                </a:rPr>
                <a:t>Discuss</a:t>
              </a:r>
              <a:r>
                <a:rPr lang="en-US" sz="1300" kern="1200" dirty="0"/>
                <a:t> the </a:t>
              </a:r>
              <a:r>
                <a:rPr lang="en-US" sz="1300" kern="1200" dirty="0">
                  <a:highlight>
                    <a:srgbClr val="FFFF00"/>
                  </a:highlight>
                </a:rPr>
                <a:t>causes</a:t>
              </a:r>
              <a:r>
                <a:rPr lang="en-US" sz="1300" kern="1200" dirty="0"/>
                <a:t>, resulting </a:t>
              </a:r>
              <a:r>
                <a:rPr lang="en-US" sz="1300" kern="1200" dirty="0">
                  <a:highlight>
                    <a:srgbClr val="FFFF00"/>
                  </a:highlight>
                </a:rPr>
                <a:t>consequences</a:t>
              </a:r>
              <a:r>
                <a:rPr lang="en-US" sz="1300" kern="1200" dirty="0"/>
                <a:t>, </a:t>
              </a:r>
              <a:r>
                <a:rPr lang="en-US" sz="1300" kern="1200" dirty="0">
                  <a:highlight>
                    <a:srgbClr val="FFFF00"/>
                  </a:highlight>
                </a:rPr>
                <a:t>existing</a:t>
              </a:r>
              <a:r>
                <a:rPr lang="en-US" sz="1300" kern="1200" dirty="0"/>
                <a:t>/</a:t>
              </a:r>
              <a:r>
                <a:rPr lang="en-US" sz="1300" kern="1200" dirty="0">
                  <a:highlight>
                    <a:srgbClr val="FFFF00"/>
                  </a:highlight>
                </a:rPr>
                <a:t>assumed</a:t>
              </a:r>
              <a:r>
                <a:rPr lang="en-US" sz="1300" kern="1200" dirty="0"/>
                <a:t> </a:t>
              </a:r>
              <a:r>
                <a:rPr lang="en-US" sz="1300" kern="1200" dirty="0">
                  <a:highlight>
                    <a:srgbClr val="FFFF00"/>
                  </a:highlight>
                </a:rPr>
                <a:t>controls</a:t>
              </a:r>
              <a:r>
                <a:rPr lang="en-US" sz="1300" kern="1200" dirty="0"/>
                <a:t>/safeguards</a:t>
              </a:r>
            </a:p>
          </p:txBody>
        </p:sp>
        <p:sp>
          <p:nvSpPr>
            <p:cNvPr id="19" name="Freeform 18"/>
            <p:cNvSpPr/>
            <p:nvPr/>
          </p:nvSpPr>
          <p:spPr>
            <a:xfrm>
              <a:off x="1051562" y="4308755"/>
              <a:ext cx="1615434" cy="533802"/>
            </a:xfrm>
            <a:custGeom>
              <a:avLst/>
              <a:gdLst>
                <a:gd name="connsiteX0" fmla="*/ 0 w 1615434"/>
                <a:gd name="connsiteY0" fmla="*/ 88969 h 533802"/>
                <a:gd name="connsiteX1" fmla="*/ 88969 w 1615434"/>
                <a:gd name="connsiteY1" fmla="*/ 0 h 533802"/>
                <a:gd name="connsiteX2" fmla="*/ 1526465 w 1615434"/>
                <a:gd name="connsiteY2" fmla="*/ 0 h 533802"/>
                <a:gd name="connsiteX3" fmla="*/ 1615434 w 1615434"/>
                <a:gd name="connsiteY3" fmla="*/ 88969 h 533802"/>
                <a:gd name="connsiteX4" fmla="*/ 1615434 w 1615434"/>
                <a:gd name="connsiteY4" fmla="*/ 444833 h 533802"/>
                <a:gd name="connsiteX5" fmla="*/ 1526465 w 1615434"/>
                <a:gd name="connsiteY5" fmla="*/ 533802 h 533802"/>
                <a:gd name="connsiteX6" fmla="*/ 88969 w 1615434"/>
                <a:gd name="connsiteY6" fmla="*/ 533802 h 533802"/>
                <a:gd name="connsiteX7" fmla="*/ 0 w 1615434"/>
                <a:gd name="connsiteY7" fmla="*/ 444833 h 533802"/>
                <a:gd name="connsiteX8" fmla="*/ 0 w 1615434"/>
                <a:gd name="connsiteY8" fmla="*/ 88969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5434" h="533802">
                  <a:moveTo>
                    <a:pt x="0" y="88969"/>
                  </a:moveTo>
                  <a:cubicBezTo>
                    <a:pt x="0" y="39833"/>
                    <a:pt x="39833" y="0"/>
                    <a:pt x="88969" y="0"/>
                  </a:cubicBezTo>
                  <a:lnTo>
                    <a:pt x="1526465" y="0"/>
                  </a:lnTo>
                  <a:cubicBezTo>
                    <a:pt x="1575601" y="0"/>
                    <a:pt x="1615434" y="39833"/>
                    <a:pt x="1615434" y="88969"/>
                  </a:cubicBezTo>
                  <a:lnTo>
                    <a:pt x="1615434" y="444833"/>
                  </a:lnTo>
                  <a:cubicBezTo>
                    <a:pt x="1615434" y="493969"/>
                    <a:pt x="1575601" y="533802"/>
                    <a:pt x="1526465" y="533802"/>
                  </a:cubicBezTo>
                  <a:lnTo>
                    <a:pt x="88969" y="533802"/>
                  </a:lnTo>
                  <a:cubicBezTo>
                    <a:pt x="39833" y="533802"/>
                    <a:pt x="0" y="493969"/>
                    <a:pt x="0" y="444833"/>
                  </a:cubicBezTo>
                  <a:lnTo>
                    <a:pt x="0" y="88969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80000"/>
                <a:hueOff val="0"/>
                <a:satOff val="-21014"/>
                <a:lumOff val="23814"/>
                <a:alphaOff val="0"/>
              </a:schemeClr>
            </a:fillRef>
            <a:effectRef idx="2">
              <a:schemeClr val="accent2">
                <a:shade val="80000"/>
                <a:hueOff val="0"/>
                <a:satOff val="-21014"/>
                <a:lumOff val="2381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588" tIns="50823" rIns="75588" bIns="50823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i="1" u="sng" kern="1200" dirty="0"/>
                <a:t>Answer What-If Analysis questions</a:t>
              </a:r>
            </a:p>
          </p:txBody>
        </p:sp>
        <p:sp>
          <p:nvSpPr>
            <p:cNvPr id="20" name="Freeform 19"/>
            <p:cNvSpPr/>
            <p:nvPr/>
          </p:nvSpPr>
          <p:spPr>
            <a:xfrm>
              <a:off x="2666997" y="4895937"/>
              <a:ext cx="5349240" cy="533802"/>
            </a:xfrm>
            <a:custGeom>
              <a:avLst/>
              <a:gdLst>
                <a:gd name="connsiteX0" fmla="*/ 0 w 5349240"/>
                <a:gd name="connsiteY0" fmla="*/ 66725 h 533802"/>
                <a:gd name="connsiteX1" fmla="*/ 5082339 w 5349240"/>
                <a:gd name="connsiteY1" fmla="*/ 66725 h 533802"/>
                <a:gd name="connsiteX2" fmla="*/ 5082339 w 5349240"/>
                <a:gd name="connsiteY2" fmla="*/ 0 h 533802"/>
                <a:gd name="connsiteX3" fmla="*/ 5349240 w 5349240"/>
                <a:gd name="connsiteY3" fmla="*/ 266901 h 533802"/>
                <a:gd name="connsiteX4" fmla="*/ 5082339 w 5349240"/>
                <a:gd name="connsiteY4" fmla="*/ 533802 h 533802"/>
                <a:gd name="connsiteX5" fmla="*/ 5082339 w 5349240"/>
                <a:gd name="connsiteY5" fmla="*/ 467077 h 533802"/>
                <a:gd name="connsiteX6" fmla="*/ 0 w 5349240"/>
                <a:gd name="connsiteY6" fmla="*/ 467077 h 533802"/>
                <a:gd name="connsiteX7" fmla="*/ 0 w 5349240"/>
                <a:gd name="connsiteY7" fmla="*/ 66725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9240" h="533802">
                  <a:moveTo>
                    <a:pt x="0" y="66725"/>
                  </a:moveTo>
                  <a:lnTo>
                    <a:pt x="5082339" y="66725"/>
                  </a:lnTo>
                  <a:lnTo>
                    <a:pt x="5082339" y="0"/>
                  </a:lnTo>
                  <a:lnTo>
                    <a:pt x="5349240" y="266901"/>
                  </a:lnTo>
                  <a:lnTo>
                    <a:pt x="5082339" y="533802"/>
                  </a:lnTo>
                  <a:lnTo>
                    <a:pt x="5082339" y="467077"/>
                  </a:lnTo>
                  <a:lnTo>
                    <a:pt x="0" y="467077"/>
                  </a:lnTo>
                  <a:lnTo>
                    <a:pt x="0" y="66725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44450" h="36350" prst="relaxedInset"/>
              <a:contourClr>
                <a:schemeClr val="bg1"/>
              </a:contourClr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55" tIns="74980" rIns="208431" bIns="7498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/>
                <a:t>Identify and select risk reduction controls (using hierarchy of controls)</a:t>
              </a:r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51562" y="4895937"/>
              <a:ext cx="1615434" cy="533802"/>
            </a:xfrm>
            <a:custGeom>
              <a:avLst/>
              <a:gdLst>
                <a:gd name="connsiteX0" fmla="*/ 0 w 1615434"/>
                <a:gd name="connsiteY0" fmla="*/ 88969 h 533802"/>
                <a:gd name="connsiteX1" fmla="*/ 88969 w 1615434"/>
                <a:gd name="connsiteY1" fmla="*/ 0 h 533802"/>
                <a:gd name="connsiteX2" fmla="*/ 1526465 w 1615434"/>
                <a:gd name="connsiteY2" fmla="*/ 0 h 533802"/>
                <a:gd name="connsiteX3" fmla="*/ 1615434 w 1615434"/>
                <a:gd name="connsiteY3" fmla="*/ 88969 h 533802"/>
                <a:gd name="connsiteX4" fmla="*/ 1615434 w 1615434"/>
                <a:gd name="connsiteY4" fmla="*/ 444833 h 533802"/>
                <a:gd name="connsiteX5" fmla="*/ 1526465 w 1615434"/>
                <a:gd name="connsiteY5" fmla="*/ 533802 h 533802"/>
                <a:gd name="connsiteX6" fmla="*/ 88969 w 1615434"/>
                <a:gd name="connsiteY6" fmla="*/ 533802 h 533802"/>
                <a:gd name="connsiteX7" fmla="*/ 0 w 1615434"/>
                <a:gd name="connsiteY7" fmla="*/ 444833 h 533802"/>
                <a:gd name="connsiteX8" fmla="*/ 0 w 1615434"/>
                <a:gd name="connsiteY8" fmla="*/ 88969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5434" h="533802">
                  <a:moveTo>
                    <a:pt x="0" y="88969"/>
                  </a:moveTo>
                  <a:cubicBezTo>
                    <a:pt x="0" y="39833"/>
                    <a:pt x="39833" y="0"/>
                    <a:pt x="88969" y="0"/>
                  </a:cubicBezTo>
                  <a:lnTo>
                    <a:pt x="1526465" y="0"/>
                  </a:lnTo>
                  <a:cubicBezTo>
                    <a:pt x="1575601" y="0"/>
                    <a:pt x="1615434" y="39833"/>
                    <a:pt x="1615434" y="88969"/>
                  </a:cubicBezTo>
                  <a:lnTo>
                    <a:pt x="1615434" y="444833"/>
                  </a:lnTo>
                  <a:cubicBezTo>
                    <a:pt x="1615434" y="493969"/>
                    <a:pt x="1575601" y="533802"/>
                    <a:pt x="1526465" y="533802"/>
                  </a:cubicBezTo>
                  <a:lnTo>
                    <a:pt x="88969" y="533802"/>
                  </a:lnTo>
                  <a:cubicBezTo>
                    <a:pt x="39833" y="533802"/>
                    <a:pt x="0" y="493969"/>
                    <a:pt x="0" y="444833"/>
                  </a:cubicBezTo>
                  <a:lnTo>
                    <a:pt x="0" y="88969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80000"/>
                <a:hueOff val="0"/>
                <a:satOff val="-24517"/>
                <a:lumOff val="27783"/>
                <a:alphaOff val="0"/>
              </a:schemeClr>
            </a:fillRef>
            <a:effectRef idx="2">
              <a:schemeClr val="accent2">
                <a:shade val="80000"/>
                <a:hueOff val="0"/>
                <a:satOff val="-24517"/>
                <a:lumOff val="27783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588" tIns="50823" rIns="75588" bIns="50823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kern="1200" dirty="0"/>
                <a:t>Select additional controls</a:t>
              </a:r>
            </a:p>
          </p:txBody>
        </p:sp>
        <p:sp>
          <p:nvSpPr>
            <p:cNvPr id="22" name="Freeform 21"/>
            <p:cNvSpPr/>
            <p:nvPr/>
          </p:nvSpPr>
          <p:spPr>
            <a:xfrm>
              <a:off x="2666997" y="5483120"/>
              <a:ext cx="5349240" cy="533802"/>
            </a:xfrm>
            <a:custGeom>
              <a:avLst/>
              <a:gdLst>
                <a:gd name="connsiteX0" fmla="*/ 0 w 5349240"/>
                <a:gd name="connsiteY0" fmla="*/ 66725 h 533802"/>
                <a:gd name="connsiteX1" fmla="*/ 5082339 w 5349240"/>
                <a:gd name="connsiteY1" fmla="*/ 66725 h 533802"/>
                <a:gd name="connsiteX2" fmla="*/ 5082339 w 5349240"/>
                <a:gd name="connsiteY2" fmla="*/ 0 h 533802"/>
                <a:gd name="connsiteX3" fmla="*/ 5349240 w 5349240"/>
                <a:gd name="connsiteY3" fmla="*/ 266901 h 533802"/>
                <a:gd name="connsiteX4" fmla="*/ 5082339 w 5349240"/>
                <a:gd name="connsiteY4" fmla="*/ 533802 h 533802"/>
                <a:gd name="connsiteX5" fmla="*/ 5082339 w 5349240"/>
                <a:gd name="connsiteY5" fmla="*/ 467077 h 533802"/>
                <a:gd name="connsiteX6" fmla="*/ 0 w 5349240"/>
                <a:gd name="connsiteY6" fmla="*/ 467077 h 533802"/>
                <a:gd name="connsiteX7" fmla="*/ 0 w 5349240"/>
                <a:gd name="connsiteY7" fmla="*/ 66725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9240" h="533802">
                  <a:moveTo>
                    <a:pt x="0" y="66725"/>
                  </a:moveTo>
                  <a:lnTo>
                    <a:pt x="5082339" y="66725"/>
                  </a:lnTo>
                  <a:lnTo>
                    <a:pt x="5082339" y="0"/>
                  </a:lnTo>
                  <a:lnTo>
                    <a:pt x="5349240" y="266901"/>
                  </a:lnTo>
                  <a:lnTo>
                    <a:pt x="5082339" y="533802"/>
                  </a:lnTo>
                  <a:lnTo>
                    <a:pt x="5082339" y="467077"/>
                  </a:lnTo>
                  <a:lnTo>
                    <a:pt x="0" y="467077"/>
                  </a:lnTo>
                  <a:lnTo>
                    <a:pt x="0" y="66725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44450" h="36350" prst="relaxedInset"/>
              <a:contourClr>
                <a:schemeClr val="bg1"/>
              </a:contourClr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55" tIns="74980" rIns="208431" bIns="7498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/>
                <a:t>Communicate analysis results &amp; recommendations for controls to decision makers</a:t>
              </a:r>
            </a:p>
          </p:txBody>
        </p:sp>
        <p:sp>
          <p:nvSpPr>
            <p:cNvPr id="23" name="Freeform 22"/>
            <p:cNvSpPr/>
            <p:nvPr/>
          </p:nvSpPr>
          <p:spPr>
            <a:xfrm>
              <a:off x="1051562" y="5483120"/>
              <a:ext cx="1615434" cy="533802"/>
            </a:xfrm>
            <a:custGeom>
              <a:avLst/>
              <a:gdLst>
                <a:gd name="connsiteX0" fmla="*/ 0 w 1615434"/>
                <a:gd name="connsiteY0" fmla="*/ 88969 h 533802"/>
                <a:gd name="connsiteX1" fmla="*/ 88969 w 1615434"/>
                <a:gd name="connsiteY1" fmla="*/ 0 h 533802"/>
                <a:gd name="connsiteX2" fmla="*/ 1526465 w 1615434"/>
                <a:gd name="connsiteY2" fmla="*/ 0 h 533802"/>
                <a:gd name="connsiteX3" fmla="*/ 1615434 w 1615434"/>
                <a:gd name="connsiteY3" fmla="*/ 88969 h 533802"/>
                <a:gd name="connsiteX4" fmla="*/ 1615434 w 1615434"/>
                <a:gd name="connsiteY4" fmla="*/ 444833 h 533802"/>
                <a:gd name="connsiteX5" fmla="*/ 1526465 w 1615434"/>
                <a:gd name="connsiteY5" fmla="*/ 533802 h 533802"/>
                <a:gd name="connsiteX6" fmla="*/ 88969 w 1615434"/>
                <a:gd name="connsiteY6" fmla="*/ 533802 h 533802"/>
                <a:gd name="connsiteX7" fmla="*/ 0 w 1615434"/>
                <a:gd name="connsiteY7" fmla="*/ 444833 h 533802"/>
                <a:gd name="connsiteX8" fmla="*/ 0 w 1615434"/>
                <a:gd name="connsiteY8" fmla="*/ 88969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5434" h="533802">
                  <a:moveTo>
                    <a:pt x="0" y="88969"/>
                  </a:moveTo>
                  <a:cubicBezTo>
                    <a:pt x="0" y="39833"/>
                    <a:pt x="39833" y="0"/>
                    <a:pt x="88969" y="0"/>
                  </a:cubicBezTo>
                  <a:lnTo>
                    <a:pt x="1526465" y="0"/>
                  </a:lnTo>
                  <a:cubicBezTo>
                    <a:pt x="1575601" y="0"/>
                    <a:pt x="1615434" y="39833"/>
                    <a:pt x="1615434" y="88969"/>
                  </a:cubicBezTo>
                  <a:lnTo>
                    <a:pt x="1615434" y="444833"/>
                  </a:lnTo>
                  <a:cubicBezTo>
                    <a:pt x="1615434" y="493969"/>
                    <a:pt x="1575601" y="533802"/>
                    <a:pt x="1526465" y="533802"/>
                  </a:cubicBezTo>
                  <a:lnTo>
                    <a:pt x="88969" y="533802"/>
                  </a:lnTo>
                  <a:cubicBezTo>
                    <a:pt x="39833" y="533802"/>
                    <a:pt x="0" y="493969"/>
                    <a:pt x="0" y="444833"/>
                  </a:cubicBezTo>
                  <a:lnTo>
                    <a:pt x="0" y="88969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80000"/>
                <a:hueOff val="0"/>
                <a:satOff val="-28019"/>
                <a:lumOff val="31752"/>
                <a:alphaOff val="0"/>
              </a:schemeClr>
            </a:fillRef>
            <a:effectRef idx="2">
              <a:schemeClr val="accent2">
                <a:shade val="80000"/>
                <a:hueOff val="0"/>
                <a:satOff val="-28019"/>
                <a:lumOff val="3175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588" tIns="50823" rIns="75588" bIns="50823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kern="1200" dirty="0"/>
                <a:t>Communicate results</a:t>
              </a:r>
            </a:p>
          </p:txBody>
        </p:sp>
      </p:grpSp>
      <p:sp>
        <p:nvSpPr>
          <p:cNvPr id="9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What-If Analysis Tool</a:t>
            </a:r>
          </a:p>
        </p:txBody>
      </p:sp>
      <p:pic>
        <p:nvPicPr>
          <p:cNvPr id="25" name="Picture 24" descr="tpeng | Trinity Banter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2001" y="3657600"/>
            <a:ext cx="917403" cy="677501"/>
          </a:xfrm>
          <a:prstGeom prst="rect">
            <a:avLst/>
          </a:prstGeom>
        </p:spPr>
      </p:pic>
      <p:pic>
        <p:nvPicPr>
          <p:cNvPr id="26" name="Picture 25" descr="tpeng | Trinity Banter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2001" y="4257191"/>
            <a:ext cx="917403" cy="677501"/>
          </a:xfrm>
          <a:prstGeom prst="rect">
            <a:avLst/>
          </a:prstGeom>
        </p:spPr>
      </p:pic>
      <p:sp>
        <p:nvSpPr>
          <p:cNvPr id="2" name="Rounded Rectangular Callout 1"/>
          <p:cNvSpPr/>
          <p:nvPr/>
        </p:nvSpPr>
        <p:spPr>
          <a:xfrm>
            <a:off x="152401" y="1600200"/>
            <a:ext cx="1447799" cy="1143000"/>
          </a:xfrm>
          <a:prstGeom prst="wedgeRoundRectCallout">
            <a:avLst>
              <a:gd name="adj1" fmla="val -2428"/>
              <a:gd name="adj2" fmla="val 171300"/>
              <a:gd name="adj3" fmla="val 16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Let’s examine these two steps …</a:t>
            </a:r>
          </a:p>
        </p:txBody>
      </p:sp>
    </p:spTree>
    <p:extLst>
      <p:ext uri="{BB962C8B-B14F-4D97-AF65-F5344CB8AC3E}">
        <p14:creationId xmlns:p14="http://schemas.microsoft.com/office/powerpoint/2010/main" val="97086954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685800"/>
            <a:ext cx="5562600" cy="5321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are the </a:t>
            </a: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</a:t>
            </a: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Gases e.g. argon, carbon dioxide, oxygen, </a:t>
            </a:r>
            <a:r>
              <a:rPr lang="en-US" altLang="en-US" sz="1600" u="sng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nitrogen</a:t>
            </a: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endParaRPr lang="en-US" altLang="en-US" sz="1600" dirty="0">
              <a:solidFill>
                <a:srgbClr val="FF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Electrostatic discharge (from machinery)</a:t>
            </a: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Acids such as acetic, chromic, hydrochloric, hydrofluoric, nitric, phosphoric, and sulfuric</a:t>
            </a: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Caustics such as ammonium hydroxide, hydrogen peroxide, and sodium hydroxide</a:t>
            </a: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Other gases which are corrosive, explosive, flammable, pyrophoric and/or toxic such as arsine, boron </a:t>
            </a:r>
            <a:r>
              <a:rPr lang="en-US" altLang="en-US" sz="1600" b="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trifluoride</a:t>
            </a: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n-US" altLang="en-US" sz="1600" b="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diborane</a:t>
            </a: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hydrogen chloride, phosphine, and </a:t>
            </a:r>
            <a:r>
              <a:rPr lang="en-US" altLang="en-US" sz="1600" b="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silane</a:t>
            </a:r>
            <a:endParaRPr lang="en-US" altLang="en-US" sz="16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Ionizing and nonionizing radiation such as infrared (IR), lasers, radiofrequency (RF), and x-rays</a:t>
            </a: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Metals &amp; salts such as aluminum, antimony, arsenic, boron, chromium, gallium, gold, magnesium, mercury, nickel, silver, and phosphorus</a:t>
            </a: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Nanoparticles</a:t>
            </a: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Nuisance dust</a:t>
            </a: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Silica (crystalline) and silicon such as polycrystalline silicon, silicon dioxide, and silicon nitride;</a:t>
            </a: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Solvents such as acetone, ethanol, glycol ether mixture, etc.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" y="152400"/>
            <a:ext cx="4652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Semiconductor Fabrication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23467" y="954921"/>
            <a:ext cx="3115733" cy="1752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72290" y="3043697"/>
            <a:ext cx="3490447" cy="3091932"/>
          </a:xfrm>
          <a:prstGeom prst="rect">
            <a:avLst/>
          </a:prstGeom>
        </p:spPr>
      </p:pic>
      <p:sp>
        <p:nvSpPr>
          <p:cNvPr id="11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What-If Analysis Tool</a:t>
            </a:r>
          </a:p>
        </p:txBody>
      </p:sp>
    </p:spTree>
    <p:extLst>
      <p:ext uri="{BB962C8B-B14F-4D97-AF65-F5344CB8AC3E}">
        <p14:creationId xmlns:p14="http://schemas.microsoft.com/office/powerpoint/2010/main" val="364961195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Box 2"/>
          <p:cNvSpPr txBox="1">
            <a:spLocks noChangeArrowheads="1"/>
          </p:cNvSpPr>
          <p:nvPr/>
        </p:nvSpPr>
        <p:spPr bwMode="auto">
          <a:xfrm>
            <a:off x="4381800" y="899999"/>
            <a:ext cx="4457400" cy="5040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txBody>
          <a:bodyPr wrap="square">
            <a:noAutofit/>
          </a:bodyPr>
          <a:lstStyle/>
          <a:p>
            <a:pPr eaLnBrk="0" hangingPunct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Let’s suppose you asked the question:</a:t>
            </a:r>
          </a:p>
          <a:p>
            <a:pPr marL="342900" indent="-342900" eaLnBrk="0" hangingPunct="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200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if the pneumatic lines pressured with </a:t>
            </a:r>
            <a:r>
              <a:rPr lang="en-US" altLang="en-US" sz="20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nitrogen</a:t>
            </a:r>
            <a:r>
              <a:rPr lang="en-US" altLang="en-US" sz="200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leaked?</a:t>
            </a:r>
          </a:p>
          <a:p>
            <a:pPr marL="342900" indent="-342900" eaLnBrk="0" hangingPunct="0"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hangingPunct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Identify the </a:t>
            </a:r>
            <a:r>
              <a:rPr lang="en-US" altLang="en-US" sz="2000" dirty="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consequences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342900" indent="-342900" eaLnBrk="0" hangingPunct="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200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nitrogen would escape into the surrounding environment and possibly asphyxiate workers. </a:t>
            </a:r>
            <a:br>
              <a:rPr lang="en-US" altLang="en-US" sz="200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 high concentrations, N2 is an </a:t>
            </a:r>
            <a:r>
              <a:rPr lang="en-US" altLang="en-US" sz="2000" b="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asphyxiant</a:t>
            </a:r>
            <a:r>
              <a:rPr lang="en-US" altLang="en-US" sz="200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.)</a:t>
            </a:r>
          </a:p>
          <a:p>
            <a:pPr marL="342900" indent="-342900" eaLnBrk="0" hangingPunct="0"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altLang="en-US" sz="2000" b="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Then, </a:t>
            </a:r>
            <a:r>
              <a:rPr lang="en-US" altLang="en-US" sz="2000" dirty="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specify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action(s) of any </a:t>
            </a:r>
            <a:r>
              <a:rPr lang="en-US" altLang="en-US" sz="2000" u="sng" dirty="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existing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safeguards/controls</a:t>
            </a:r>
            <a:endParaRPr lang="en-US" altLang="en-US" sz="2000" b="0" i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b="0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None; so what does this mean for risk level? Is it acceptable?</a:t>
            </a:r>
            <a:endParaRPr lang="en-US" altLang="en-US" sz="2000" b="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2400" y="152400"/>
            <a:ext cx="8686800" cy="5847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en-US" sz="3200" b="0" dirty="0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rPr>
              <a:t>Example: WIA on Semi-conductor Manufacturing</a:t>
            </a:r>
          </a:p>
        </p:txBody>
      </p:sp>
      <p:sp>
        <p:nvSpPr>
          <p:cNvPr id="11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What-If Analysis Tool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999" y="900002"/>
            <a:ext cx="3960000" cy="26358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4000" y="3672005"/>
            <a:ext cx="3960000" cy="225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56637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32575" y="3768273"/>
            <a:ext cx="2286198" cy="146926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2400" y="152400"/>
            <a:ext cx="86879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0" dirty="0">
                <a:solidFill>
                  <a:schemeClr val="accent2"/>
                </a:solidFill>
                <a:highlight>
                  <a:srgbClr val="FFFF00"/>
                </a:highlight>
                <a:latin typeface="Calibri" pitchFamily="34" charset="0"/>
                <a:ea typeface="+mj-ea"/>
                <a:cs typeface="+mj-cs"/>
              </a:rPr>
              <a:t>Suggest</a:t>
            </a:r>
            <a:r>
              <a:rPr lang="en-US" altLang="en-US" sz="3200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 Improvements / Alternatives To Lower Risk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52400" y="934472"/>
            <a:ext cx="8839200" cy="375843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A9C8F"/>
              </a:buClr>
              <a:buFont typeface="Wingdings" pitchFamily="2" charset="2"/>
              <a:buChar char="§"/>
              <a:defRPr sz="2800">
                <a:solidFill>
                  <a:srgbClr val="4D4D4D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Think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about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ways to reduce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likelihood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the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initiating event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(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prevention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):</a:t>
            </a:r>
          </a:p>
          <a:p>
            <a:pPr lvl="1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en-US" sz="2000" b="0" i="1" dirty="0">
                <a:solidFill>
                  <a:srgbClr val="000000"/>
                </a:solidFill>
                <a:latin typeface="+mn-lt"/>
              </a:rPr>
              <a:t>Consider using a </a:t>
            </a:r>
            <a:r>
              <a:rPr lang="en-US" altLang="en-US" sz="2000" b="0" i="1" dirty="0">
                <a:solidFill>
                  <a:srgbClr val="000000"/>
                </a:solidFill>
                <a:highlight>
                  <a:srgbClr val="FFFF00"/>
                </a:highlight>
                <a:latin typeface="+mn-lt"/>
              </a:rPr>
              <a:t>gas</a:t>
            </a:r>
            <a:r>
              <a:rPr lang="en-US" altLang="en-US" sz="2000" b="0" i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sz="2000" b="0" i="1" dirty="0">
                <a:solidFill>
                  <a:srgbClr val="000000"/>
                </a:solidFill>
                <a:highlight>
                  <a:srgbClr val="FFFF00"/>
                </a:highlight>
                <a:latin typeface="+mn-lt"/>
              </a:rPr>
              <a:t>other than nitrogen</a:t>
            </a:r>
            <a:r>
              <a:rPr lang="en-US" altLang="en-US" sz="2000" b="0" i="1" dirty="0">
                <a:solidFill>
                  <a:srgbClr val="000000"/>
                </a:solidFill>
                <a:latin typeface="+mn-lt"/>
              </a:rPr>
              <a:t> in the pneumatic lines</a:t>
            </a:r>
          </a:p>
          <a:p>
            <a:pPr lvl="1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endParaRPr lang="en-US" altLang="en-US" sz="2000" b="0" i="1" dirty="0">
              <a:solidFill>
                <a:srgbClr val="000000"/>
              </a:solidFill>
              <a:latin typeface="+mn-lt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Think about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ways to mitigate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the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hazardous event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lvl="1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en-US" sz="2000" b="0" i="1" dirty="0">
                <a:solidFill>
                  <a:srgbClr val="000000"/>
                </a:solidFill>
                <a:latin typeface="+mn-lt"/>
              </a:rPr>
              <a:t>Consider </a:t>
            </a:r>
            <a:r>
              <a:rPr lang="en-US" altLang="en-US" sz="2000" b="0" i="1" dirty="0">
                <a:solidFill>
                  <a:srgbClr val="000000"/>
                </a:solidFill>
                <a:highlight>
                  <a:srgbClr val="FFFF00"/>
                </a:highlight>
                <a:latin typeface="+mn-lt"/>
              </a:rPr>
              <a:t>installing</a:t>
            </a:r>
            <a:r>
              <a:rPr lang="en-US" altLang="en-US" sz="2000" b="0" i="1" dirty="0">
                <a:solidFill>
                  <a:srgbClr val="000000"/>
                </a:solidFill>
                <a:latin typeface="+mn-lt"/>
              </a:rPr>
              <a:t> oxygen sensors with </a:t>
            </a:r>
            <a:r>
              <a:rPr lang="en-US" altLang="en-US" sz="2000" b="0" i="1" dirty="0">
                <a:solidFill>
                  <a:srgbClr val="000000"/>
                </a:solidFill>
                <a:highlight>
                  <a:srgbClr val="FFFF00"/>
                </a:highlight>
                <a:latin typeface="+mn-lt"/>
              </a:rPr>
              <a:t>low O2 alarms</a:t>
            </a:r>
            <a:r>
              <a:rPr lang="en-US" altLang="en-US" sz="2000" b="0" i="1" dirty="0">
                <a:solidFill>
                  <a:srgbClr val="000000"/>
                </a:solidFill>
                <a:latin typeface="+mn-lt"/>
              </a:rPr>
              <a:t> in work areas</a:t>
            </a:r>
          </a:p>
          <a:p>
            <a:pPr lvl="1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endParaRPr lang="en-US" altLang="en-US" sz="2000" b="0" i="1" dirty="0">
              <a:solidFill>
                <a:srgbClr val="000000"/>
              </a:solidFill>
              <a:latin typeface="+mn-lt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Think about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ways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facilitate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response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</a:p>
          <a:p>
            <a:pPr lvl="1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en-US" sz="2000" b="0" i="1" dirty="0">
                <a:solidFill>
                  <a:srgbClr val="000000"/>
                </a:solidFill>
                <a:latin typeface="+mn-lt"/>
              </a:rPr>
              <a:t>Consider </a:t>
            </a:r>
            <a:r>
              <a:rPr lang="en-US" altLang="en-US" sz="2000" b="0" i="1" dirty="0">
                <a:solidFill>
                  <a:srgbClr val="000000"/>
                </a:solidFill>
                <a:highlight>
                  <a:srgbClr val="FFFF00"/>
                </a:highlight>
                <a:latin typeface="+mn-lt"/>
              </a:rPr>
              <a:t>providing personnel</a:t>
            </a:r>
            <a:r>
              <a:rPr lang="en-US" altLang="en-US" sz="2000" b="0" i="1" dirty="0">
                <a:solidFill>
                  <a:srgbClr val="000000"/>
                </a:solidFill>
                <a:latin typeface="+mn-lt"/>
              </a:rPr>
              <a:t> with </a:t>
            </a:r>
            <a:r>
              <a:rPr lang="en-US" altLang="en-US" sz="2000" b="0" i="1" dirty="0">
                <a:solidFill>
                  <a:srgbClr val="000000"/>
                </a:solidFill>
                <a:highlight>
                  <a:srgbClr val="FFFF00"/>
                </a:highlight>
                <a:latin typeface="+mn-lt"/>
              </a:rPr>
              <a:t>respirators</a:t>
            </a:r>
            <a:r>
              <a:rPr lang="en-US" altLang="en-US" sz="2000" b="0" i="1" dirty="0">
                <a:solidFill>
                  <a:srgbClr val="000000"/>
                </a:solidFill>
                <a:latin typeface="+mn-lt"/>
              </a:rPr>
              <a:t> in work areas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176623" y="4519364"/>
            <a:ext cx="3594797" cy="14692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04800" y="4470774"/>
            <a:ext cx="2727775" cy="1533525"/>
          </a:xfrm>
          <a:prstGeom prst="rect">
            <a:avLst/>
          </a:prstGeom>
        </p:spPr>
      </p:pic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What-If Analysis Tool</a:t>
            </a:r>
          </a:p>
        </p:txBody>
      </p:sp>
    </p:spTree>
    <p:extLst>
      <p:ext uri="{BB962C8B-B14F-4D97-AF65-F5344CB8AC3E}">
        <p14:creationId xmlns:p14="http://schemas.microsoft.com/office/powerpoint/2010/main" val="232230042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909732"/>
              </p:ext>
            </p:extLst>
          </p:nvPr>
        </p:nvGraphicFramePr>
        <p:xfrm>
          <a:off x="227012" y="914400"/>
          <a:ext cx="8688389" cy="4757007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155667">
                  <a:extLst>
                    <a:ext uri="{9D8B030D-6E8A-4147-A177-3AD203B41FA5}">
                      <a16:colId xmlns:a16="http://schemas.microsoft.com/office/drawing/2014/main" val="4103919208"/>
                    </a:ext>
                  </a:extLst>
                </a:gridCol>
                <a:gridCol w="1155667">
                  <a:extLst>
                    <a:ext uri="{9D8B030D-6E8A-4147-A177-3AD203B41FA5}">
                      <a16:colId xmlns:a16="http://schemas.microsoft.com/office/drawing/2014/main" val="2702426418"/>
                    </a:ext>
                  </a:extLst>
                </a:gridCol>
                <a:gridCol w="890654">
                  <a:extLst>
                    <a:ext uri="{9D8B030D-6E8A-4147-A177-3AD203B41FA5}">
                      <a16:colId xmlns:a16="http://schemas.microsoft.com/office/drawing/2014/main" val="3262073697"/>
                    </a:ext>
                  </a:extLst>
                </a:gridCol>
                <a:gridCol w="1253596">
                  <a:extLst>
                    <a:ext uri="{9D8B030D-6E8A-4147-A177-3AD203B41FA5}">
                      <a16:colId xmlns:a16="http://schemas.microsoft.com/office/drawing/2014/main" val="1958183453"/>
                    </a:ext>
                  </a:extLst>
                </a:gridCol>
                <a:gridCol w="1155667">
                  <a:extLst>
                    <a:ext uri="{9D8B030D-6E8A-4147-A177-3AD203B41FA5}">
                      <a16:colId xmlns:a16="http://schemas.microsoft.com/office/drawing/2014/main" val="2759589165"/>
                    </a:ext>
                  </a:extLst>
                </a:gridCol>
                <a:gridCol w="1308828">
                  <a:extLst>
                    <a:ext uri="{9D8B030D-6E8A-4147-A177-3AD203B41FA5}">
                      <a16:colId xmlns:a16="http://schemas.microsoft.com/office/drawing/2014/main" val="1460111988"/>
                    </a:ext>
                  </a:extLst>
                </a:gridCol>
                <a:gridCol w="1768310">
                  <a:extLst>
                    <a:ext uri="{9D8B030D-6E8A-4147-A177-3AD203B41FA5}">
                      <a16:colId xmlns:a16="http://schemas.microsoft.com/office/drawing/2014/main" val="4185843985"/>
                    </a:ext>
                  </a:extLst>
                </a:gridCol>
              </a:tblGrid>
              <a:tr h="504012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b="1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Area</a:t>
                      </a:r>
                      <a:r>
                        <a:rPr lang="en-CA" sz="14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</a:t>
                      </a:r>
                      <a:r>
                        <a:rPr lang="en-CA" sz="1400" b="1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Concern</a:t>
                      </a:r>
                      <a:endParaRPr lang="en-CA" sz="1400" b="1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b="1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If…</a:t>
                      </a:r>
                      <a:endParaRPr lang="en-CA" sz="1400" b="1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b="1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Hazard</a:t>
                      </a:r>
                      <a:endParaRPr lang="en-CA" sz="1400" b="1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b="1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Cause</a:t>
                      </a:r>
                      <a:endParaRPr lang="en-CA" sz="1400" b="1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b="1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Consequence</a:t>
                      </a:r>
                      <a:endParaRPr lang="en-CA" sz="1400" b="1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b="1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Safeguard In Place</a:t>
                      </a:r>
                      <a:endParaRPr lang="en-CA" sz="1400" b="1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b="1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Recommendation</a:t>
                      </a:r>
                      <a:endParaRPr lang="en-CA" sz="1400" b="1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73840"/>
                  </a:ext>
                </a:extLst>
              </a:tr>
              <a:tr h="1147516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Pneumatic lines utilizing nitrogen or carbon dioxide</a:t>
                      </a:r>
                      <a:endParaRPr lang="en-CA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lines leak inside the facility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Toxicity of gas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Over-pressurization, tube defects, loose connections</a:t>
                      </a:r>
                      <a:endParaRPr lang="en-CA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Gas leaks, asphyxiating workers in area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  <a:endParaRPr lang="en-CA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Install oxygen sensors; consider less toxic gas; make respirators available</a:t>
                      </a:r>
                      <a:endParaRPr lang="en-CA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153722"/>
                  </a:ext>
                </a:extLst>
              </a:tr>
              <a:tr h="1374998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venting of silane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Silane immediately ignites, or delayed vapour cloud ignition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Flamm</a:t>
                      </a:r>
                      <a:r>
                        <a:rPr lang="en-CA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-ability of gas</a:t>
                      </a:r>
                      <a:endParaRPr lang="en-CA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Spark or short circuit from handling equipment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Workers injured or killed, infrastructure damaged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Residual venting of area during container changes, double</a:t>
                      </a:r>
                      <a:r>
                        <a:rPr lang="en-CA" sz="1400" u="none" strike="noStrike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glass walls </a:t>
                      </a:r>
                      <a:r>
                        <a:rPr lang="en-CA" sz="1400" u="none" strike="noStrike" baseline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separation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Install pressure relief valves for emergency venting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040708"/>
                  </a:ext>
                </a:extLst>
              </a:tr>
              <a:tr h="16024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Radio-frequency radiation used in induction heating</a:t>
                      </a:r>
                      <a:endParaRPr lang="en-CA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 radiation exceeds recommended/ safe exposure levels</a:t>
                      </a:r>
                      <a:endParaRPr lang="en-CA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Radiation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Malfunctioning equipment during backside metallization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Workers exposed to RF radiation develop cancer or reduced fertility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PPE 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Enclose operations involving RF emissions; provide shielding as necessary</a:t>
                      </a:r>
                      <a:endParaRPr lang="en-CA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95909"/>
                  </a:ext>
                </a:extLst>
              </a:tr>
            </a:tbl>
          </a:graphicData>
        </a:graphic>
      </p:graphicFrame>
      <p:sp>
        <p:nvSpPr>
          <p:cNvPr id="1024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anchor="ctr"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3200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What-If Analysis Table For Hazardous Scenarios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4800" y="5802868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Assumed/existing safeguards? Auditing/confirmation of safeguards?</a:t>
            </a:r>
          </a:p>
        </p:txBody>
      </p:sp>
      <p:sp>
        <p:nvSpPr>
          <p:cNvPr id="10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What-If Analysis Tool</a:t>
            </a:r>
          </a:p>
        </p:txBody>
      </p:sp>
    </p:spTree>
    <p:extLst>
      <p:ext uri="{BB962C8B-B14F-4D97-AF65-F5344CB8AC3E}">
        <p14:creationId xmlns:p14="http://schemas.microsoft.com/office/powerpoint/2010/main" val="293444495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22758"/>
              </p:ext>
            </p:extLst>
          </p:nvPr>
        </p:nvGraphicFramePr>
        <p:xfrm>
          <a:off x="75406" y="2133600"/>
          <a:ext cx="8991599" cy="3962399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037613">
                  <a:extLst>
                    <a:ext uri="{9D8B030D-6E8A-4147-A177-3AD203B41FA5}">
                      <a16:colId xmlns:a16="http://schemas.microsoft.com/office/drawing/2014/main" val="1413065140"/>
                    </a:ext>
                  </a:extLst>
                </a:gridCol>
                <a:gridCol w="1037613">
                  <a:extLst>
                    <a:ext uri="{9D8B030D-6E8A-4147-A177-3AD203B41FA5}">
                      <a16:colId xmlns:a16="http://schemas.microsoft.com/office/drawing/2014/main" val="2196903259"/>
                    </a:ext>
                  </a:extLst>
                </a:gridCol>
                <a:gridCol w="637569">
                  <a:extLst>
                    <a:ext uri="{9D8B030D-6E8A-4147-A177-3AD203B41FA5}">
                      <a16:colId xmlns:a16="http://schemas.microsoft.com/office/drawing/2014/main" val="1102345944"/>
                    </a:ext>
                  </a:extLst>
                </a:gridCol>
                <a:gridCol w="1287639">
                  <a:extLst>
                    <a:ext uri="{9D8B030D-6E8A-4147-A177-3AD203B41FA5}">
                      <a16:colId xmlns:a16="http://schemas.microsoft.com/office/drawing/2014/main" val="2736625421"/>
                    </a:ext>
                  </a:extLst>
                </a:gridCol>
                <a:gridCol w="1037613">
                  <a:extLst>
                    <a:ext uri="{9D8B030D-6E8A-4147-A177-3AD203B41FA5}">
                      <a16:colId xmlns:a16="http://schemas.microsoft.com/office/drawing/2014/main" val="3315105302"/>
                    </a:ext>
                  </a:extLst>
                </a:gridCol>
                <a:gridCol w="515680">
                  <a:extLst>
                    <a:ext uri="{9D8B030D-6E8A-4147-A177-3AD203B41FA5}">
                      <a16:colId xmlns:a16="http://schemas.microsoft.com/office/drawing/2014/main" val="3623561032"/>
                    </a:ext>
                  </a:extLst>
                </a:gridCol>
                <a:gridCol w="1175127">
                  <a:extLst>
                    <a:ext uri="{9D8B030D-6E8A-4147-A177-3AD203B41FA5}">
                      <a16:colId xmlns:a16="http://schemas.microsoft.com/office/drawing/2014/main" val="2183271696"/>
                    </a:ext>
                  </a:extLst>
                </a:gridCol>
                <a:gridCol w="1425340">
                  <a:extLst>
                    <a:ext uri="{9D8B030D-6E8A-4147-A177-3AD203B41FA5}">
                      <a16:colId xmlns:a16="http://schemas.microsoft.com/office/drawing/2014/main" val="636395414"/>
                    </a:ext>
                  </a:extLst>
                </a:gridCol>
                <a:gridCol w="837405">
                  <a:extLst>
                    <a:ext uri="{9D8B030D-6E8A-4147-A177-3AD203B41FA5}">
                      <a16:colId xmlns:a16="http://schemas.microsoft.com/office/drawing/2014/main" val="1118748292"/>
                    </a:ext>
                  </a:extLst>
                </a:gridCol>
              </a:tblGrid>
              <a:tr h="626924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Area of Concern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If…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Hazard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Cause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Consequence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 Level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Safeguard In Place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Recommendation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Residual Risk Level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75302"/>
                  </a:ext>
                </a:extLst>
              </a:tr>
              <a:tr h="897586"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332886"/>
                  </a:ext>
                </a:extLst>
              </a:tr>
              <a:tr h="1108131"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177283"/>
                  </a:ext>
                </a:extLst>
              </a:tr>
              <a:tr h="1329758"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474283"/>
                  </a:ext>
                </a:extLst>
              </a:tr>
            </a:tbl>
          </a:graphicData>
        </a:graphic>
      </p:graphicFrame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What-If Analysis Tool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anchor="ctr"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3200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Sample What-If Analysis Template with Risk Matrix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227013" y="928414"/>
            <a:ext cx="842486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457200"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sz="1200" b="1" dirty="0">
                <a:solidFill>
                  <a:srgbClr val="000000"/>
                </a:solidFill>
              </a:rPr>
              <a:t>					 </a:t>
            </a:r>
            <a:r>
              <a:rPr lang="en-US" altLang="en-US" sz="1200" dirty="0">
                <a:solidFill>
                  <a:srgbClr val="000000"/>
                </a:solidFill>
              </a:rPr>
              <a:t>Date: 				 Process and Location:				 Topic Investigated: 				 Equipment / Task Intentions: </a:t>
            </a:r>
            <a:endParaRPr lang="en-US" alt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98442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7077" y="1828800"/>
            <a:ext cx="8334375" cy="4388590"/>
          </a:xfrm>
          <a:prstGeom prst="rect">
            <a:avLst/>
          </a:prstGeom>
          <a:noFill/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37077" y="760413"/>
            <a:ext cx="842486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457200"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sz="1200" b="1" dirty="0">
                <a:solidFill>
                  <a:srgbClr val="000000"/>
                </a:solidFill>
              </a:rPr>
              <a:t>					 </a:t>
            </a:r>
            <a:r>
              <a:rPr lang="en-US" altLang="en-US" sz="1200" dirty="0">
                <a:solidFill>
                  <a:srgbClr val="000000"/>
                </a:solidFill>
              </a:rPr>
              <a:t>Date: 				 Process and Location:				 Topic Investigated: 				 Equipment / Task Intentions: </a:t>
            </a:r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10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What-If Analysis Tool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anchor="ctr"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3200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Sample What-If Analysis Template w/o Risk Matrix</a:t>
            </a:r>
          </a:p>
        </p:txBody>
      </p:sp>
    </p:spTree>
    <p:extLst>
      <p:ext uri="{BB962C8B-B14F-4D97-AF65-F5344CB8AC3E}">
        <p14:creationId xmlns:p14="http://schemas.microsoft.com/office/powerpoint/2010/main" val="76729849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152400"/>
            <a:ext cx="445192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en-US" sz="3200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What-If Analysis Benefits: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76200" y="914400"/>
            <a:ext cx="8839200" cy="45259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A9C8F"/>
              </a:buClr>
              <a:buFont typeface="Wingdings" pitchFamily="2" charset="2"/>
              <a:buChar char="§"/>
              <a:defRPr sz="2800">
                <a:solidFill>
                  <a:srgbClr val="4D4D4D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Flexible - concept phase to detailed design phase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examine non-process issues (e.g. work practices, Human Factors)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use the technique to focus on critical “problem” areas and spend less time on areas of low concern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Technique is easy to learn (people with plant / operations experience, not necessarily expertise in the What-If Analysis process, can be readily engaged and contribute)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Generates creativity &amp; new ideas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Recognized technique accepted by many regulatory authorities (due diligence)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Excellent tool for creating “inputs” to the “Prevention Through Design Process”</a:t>
            </a:r>
          </a:p>
        </p:txBody>
      </p:sp>
      <p:sp>
        <p:nvSpPr>
          <p:cNvPr id="10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What-If Analysis Tool</a:t>
            </a:r>
          </a:p>
        </p:txBody>
      </p:sp>
    </p:spTree>
    <p:extLst>
      <p:ext uri="{BB962C8B-B14F-4D97-AF65-F5344CB8AC3E}">
        <p14:creationId xmlns:p14="http://schemas.microsoft.com/office/powerpoint/2010/main" val="376121229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152400"/>
            <a:ext cx="493404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anchor="ctr"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3200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What-If Analysis Limitations: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28600" y="908050"/>
            <a:ext cx="8610600" cy="45259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A9C8F"/>
              </a:buClr>
              <a:buFont typeface="Wingdings" pitchFamily="2" charset="2"/>
              <a:buChar char="§"/>
              <a:defRPr sz="2800">
                <a:solidFill>
                  <a:srgbClr val="4D4D4D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Completeness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depends on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questions selected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Quality of review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depends on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team experience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May miss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some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 always applicable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new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or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novel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processes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Requires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high level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</a:t>
            </a:r>
            <a:r>
              <a:rPr lang="en-US" altLang="en-US" sz="2000" b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team self-discipline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produce a thorough study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Difficult to audit for thoroughness</a:t>
            </a:r>
          </a:p>
          <a:p>
            <a:endParaRPr lang="en-US" altLang="en-US" b="0" kern="0" dirty="0"/>
          </a:p>
          <a:p>
            <a:endParaRPr lang="en-US" altLang="en-US" b="0" kern="0" dirty="0"/>
          </a:p>
        </p:txBody>
      </p:sp>
      <p:sp>
        <p:nvSpPr>
          <p:cNvPr id="10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What-If Analysis Tool</a:t>
            </a:r>
          </a:p>
        </p:txBody>
      </p:sp>
    </p:spTree>
    <p:extLst>
      <p:ext uri="{BB962C8B-B14F-4D97-AF65-F5344CB8AC3E}">
        <p14:creationId xmlns:p14="http://schemas.microsoft.com/office/powerpoint/2010/main" val="54245435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Summary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34570" y="883179"/>
            <a:ext cx="8458200" cy="52641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A9C8F"/>
              </a:buClr>
              <a:buFont typeface="Wingdings" pitchFamily="2" charset="2"/>
              <a:buChar char="§"/>
              <a:defRPr sz="2800">
                <a:solidFill>
                  <a:srgbClr val="4D4D4D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What-If Analysis is commonly used to identify potential design, process, or operational hazards in a structured manner</a:t>
            </a: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When to use the tool: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During a broad review of process design and operational scenarios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projects when P&amp;IDs are in development (early/preliminary design)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During a design review by experienced personnel</a:t>
            </a:r>
          </a:p>
          <a:p>
            <a:pPr lvl="1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What-If Analysis strengths: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Can apply to a system at any point in its life cycle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Allows focus on areas are greatest concern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Can address non-process issues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Use an input to a design process, such as “Prevention Through Design”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endParaRPr lang="en-US" alt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What-If Analysis weaknesses: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Requires sufficient experience to ask key questions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May not be best for new equipment or technology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Potential for less rigorous analysis</a:t>
            </a:r>
          </a:p>
          <a:p>
            <a:pPr>
              <a:spcBef>
                <a:spcPts val="0"/>
              </a:spcBef>
            </a:pPr>
            <a:endParaRPr lang="en-US" altLang="en-US" sz="2000" b="0" kern="0" dirty="0"/>
          </a:p>
        </p:txBody>
      </p:sp>
      <p:sp>
        <p:nvSpPr>
          <p:cNvPr id="9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What-If Analysis Tool</a:t>
            </a:r>
          </a:p>
        </p:txBody>
      </p:sp>
    </p:spTree>
    <p:extLst>
      <p:ext uri="{BB962C8B-B14F-4D97-AF65-F5344CB8AC3E}">
        <p14:creationId xmlns:p14="http://schemas.microsoft.com/office/powerpoint/2010/main" val="278657942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69151</TotalTime>
  <Words>1648</Words>
  <Application>Microsoft Office PowerPoint</Application>
  <PresentationFormat>On-screen Show (4:3)</PresentationFormat>
  <Paragraphs>256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Li Dekr0</cp:lastModifiedBy>
  <cp:revision>1933</cp:revision>
  <cp:lastPrinted>2018-12-17T22:21:47Z</cp:lastPrinted>
  <dcterms:created xsi:type="dcterms:W3CDTF">2007-03-28T16:18:47Z</dcterms:created>
  <dcterms:modified xsi:type="dcterms:W3CDTF">2022-06-02T05:53:14Z</dcterms:modified>
</cp:coreProperties>
</file>