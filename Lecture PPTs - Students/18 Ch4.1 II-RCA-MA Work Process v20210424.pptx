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18"/>
  </p:notesMasterIdLst>
  <p:sldIdLst>
    <p:sldId id="895" r:id="rId2"/>
    <p:sldId id="942" r:id="rId3"/>
    <p:sldId id="880" r:id="rId4"/>
    <p:sldId id="929" r:id="rId5"/>
    <p:sldId id="930" r:id="rId6"/>
    <p:sldId id="936" r:id="rId7"/>
    <p:sldId id="937" r:id="rId8"/>
    <p:sldId id="932" r:id="rId9"/>
    <p:sldId id="933" r:id="rId10"/>
    <p:sldId id="934" r:id="rId11"/>
    <p:sldId id="935" r:id="rId12"/>
    <p:sldId id="938" r:id="rId13"/>
    <p:sldId id="939" r:id="rId14"/>
    <p:sldId id="940" r:id="rId15"/>
    <p:sldId id="923" r:id="rId16"/>
    <p:sldId id="900" r:id="rId17"/>
  </p:sldIdLst>
  <p:sldSz cx="9144000" cy="6858000" type="screen4x3"/>
  <p:notesSz cx="6954838" cy="9309100"/>
  <p:embeddedFontLst>
    <p:embeddedFont>
      <p:font typeface="ＭＳ Ｐゴシック" panose="020B0600070205080204" pitchFamily="34" charset="-128"/>
      <p:regular r:id="rId19"/>
    </p:embeddedFont>
    <p:embeddedFont>
      <p:font typeface="Calibri" panose="020F0502020204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12">
          <p15:clr>
            <a:srgbClr val="A4A3A4"/>
          </p15:clr>
        </p15:guide>
        <p15:guide id="2" pos="2880">
          <p15:clr>
            <a:srgbClr val="A4A3A4"/>
          </p15:clr>
        </p15:guide>
      </p15:sldGuideLst>
    </p:ext>
    <p:ext uri="{2D200454-40CA-4A62-9FC3-DE9A4176ACB9}">
      <p15:notesGuideLst xmlns:p15="http://schemas.microsoft.com/office/powerpoint/2012/main">
        <p15:guide id="1" orient="horz" pos="2933">
          <p15:clr>
            <a:srgbClr val="A4A3A4"/>
          </p15:clr>
        </p15:guide>
        <p15:guide id="2" pos="2191">
          <p15:clr>
            <a:srgbClr val="A4A3A4"/>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28" roundtripDataSignature="AMtx7mhYoUeOI5rTWjh9UzJ8wzc9DI/38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532" autoAdjust="0"/>
  </p:normalViewPr>
  <p:slideViewPr>
    <p:cSldViewPr snapToGrid="0">
      <p:cViewPr varScale="1">
        <p:scale>
          <a:sx n="61" d="100"/>
          <a:sy n="61" d="100"/>
        </p:scale>
        <p:origin x="1440" y="56"/>
      </p:cViewPr>
      <p:guideLst>
        <p:guide orient="horz" pos="2112"/>
        <p:guide pos="2880"/>
      </p:guideLst>
    </p:cSldViewPr>
  </p:slideViewPr>
  <p:notesTextViewPr>
    <p:cViewPr>
      <p:scale>
        <a:sx n="1" d="1"/>
        <a:sy n="1" d="1"/>
      </p:scale>
      <p:origin x="0" y="0"/>
    </p:cViewPr>
  </p:notesTextViewPr>
  <p:sorterViewPr>
    <p:cViewPr>
      <p:scale>
        <a:sx n="150" d="100"/>
        <a:sy n="150" d="100"/>
      </p:scale>
      <p:origin x="0" y="-7632"/>
    </p:cViewPr>
  </p:sorterViewPr>
  <p:notesViewPr>
    <p:cSldViewPr snapToGrid="0">
      <p:cViewPr varScale="1">
        <p:scale>
          <a:sx n="100" d="100"/>
          <a:sy n="100" d="100"/>
        </p:scale>
        <p:origin x="0" y="0"/>
      </p:cViewPr>
      <p:guideLst>
        <p:guide orient="horz" pos="2933"/>
        <p:guide pos="219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14870" cy="467474"/>
          </a:xfrm>
          <a:prstGeom prst="rect">
            <a:avLst/>
          </a:prstGeom>
          <a:noFill/>
          <a:ln>
            <a:noFill/>
          </a:ln>
        </p:spPr>
        <p:txBody>
          <a:bodyPr spcFirstLastPara="1" wrap="square" lIns="92900" tIns="46450" rIns="92900" bIns="46450"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939968" y="0"/>
            <a:ext cx="3014870" cy="467474"/>
          </a:xfrm>
          <a:prstGeom prst="rect">
            <a:avLst/>
          </a:prstGeom>
          <a:noFill/>
          <a:ln>
            <a:noFill/>
          </a:ln>
        </p:spPr>
        <p:txBody>
          <a:bodyPr spcFirstLastPara="1" wrap="square" lIns="92900" tIns="46450" rIns="92900" bIns="46450"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27470" y="4421876"/>
            <a:ext cx="5099898" cy="4190263"/>
          </a:xfrm>
          <a:prstGeom prst="rect">
            <a:avLst/>
          </a:prstGeom>
          <a:noFill/>
          <a:ln>
            <a:noFill/>
          </a:ln>
        </p:spPr>
        <p:txBody>
          <a:bodyPr spcFirstLastPara="1" wrap="square" lIns="92900" tIns="46450" rIns="92900" bIns="4645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41626"/>
            <a:ext cx="3014870" cy="467474"/>
          </a:xfrm>
          <a:prstGeom prst="rect">
            <a:avLst/>
          </a:prstGeom>
          <a:noFill/>
          <a:ln>
            <a:noFill/>
          </a:ln>
        </p:spPr>
        <p:txBody>
          <a:bodyPr spcFirstLastPara="1" wrap="square" lIns="92900" tIns="46450" rIns="92900" bIns="4645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939968" y="8841626"/>
            <a:ext cx="3014870" cy="467474"/>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876956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6243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578852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None/>
            </a:pPr>
            <a:r>
              <a:rPr lang="en-CA" dirty="0">
                <a:latin typeface="Arial" panose="020B0604020202020204" pitchFamily="34" charset="0"/>
                <a:cs typeface="Arial" panose="020B0604020202020204" pitchFamily="34" charset="0"/>
              </a:rPr>
              <a:t>Immediately afterward</a:t>
            </a:r>
          </a:p>
          <a:p>
            <a:pPr marL="0" lvl="0" indent="0" algn="l" rtl="0">
              <a:spcBef>
                <a:spcPts val="360"/>
              </a:spcBef>
              <a:spcAft>
                <a:spcPts val="0"/>
              </a:spcAft>
              <a:buNone/>
            </a:pPr>
            <a:r>
              <a:rPr lang="en-CA" dirty="0">
                <a:latin typeface="Arial" panose="020B0604020202020204" pitchFamily="34" charset="0"/>
                <a:cs typeface="Arial" panose="020B0604020202020204" pitchFamily="34" charset="0"/>
              </a:rPr>
              <a:t>Severity or potential severity</a:t>
            </a:r>
          </a:p>
        </p:txBody>
      </p:sp>
    </p:spTree>
    <p:extLst>
      <p:ext uri="{BB962C8B-B14F-4D97-AF65-F5344CB8AC3E}">
        <p14:creationId xmlns:p14="http://schemas.microsoft.com/office/powerpoint/2010/main" val="1475958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1414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lvl="0" indent="0" algn="l" rtl="0">
              <a:spcBef>
                <a:spcPts val="0"/>
              </a:spcBef>
              <a:spcAft>
                <a:spcPts val="0"/>
              </a:spcAft>
              <a:buNone/>
            </a:pPr>
            <a:r>
              <a:rPr lang="en-CA" sz="1200" dirty="0">
                <a:latin typeface="Arial" panose="020B0604020202020204" pitchFamily="34" charset="0"/>
                <a:cs typeface="Arial" panose="020B0604020202020204" pitchFamily="34" charset="0"/>
              </a:rPr>
              <a:t>You now may be beginning to realize that unless your organization has some established practices in place the investigation will get off to a bad start. Until Syncrude established call out practices for investigators and “freeze evidence” protocols many investigation teams, formed days after the event, had a “cold trail” to follow. Consider the diagram above.</a:t>
            </a:r>
          </a:p>
          <a:p>
            <a:pPr marL="0" lvl="0" indent="0" algn="l" rtl="0">
              <a:spcBef>
                <a:spcPts val="330"/>
              </a:spcBef>
              <a:spcAft>
                <a:spcPts val="0"/>
              </a:spcAft>
              <a:buNone/>
            </a:pPr>
            <a:r>
              <a:rPr lang="en-CA" sz="1200" dirty="0">
                <a:latin typeface="Arial" panose="020B0604020202020204" pitchFamily="34" charset="0"/>
                <a:cs typeface="Arial" panose="020B0604020202020204" pitchFamily="34" charset="0"/>
              </a:rPr>
              <a:t>Evidence is captured in four areas known as the “four P’s”, each evidence type will disappear or become disturbed if not “frozen” or preserved</a:t>
            </a:r>
            <a:r>
              <a:rPr lang="en-CA" sz="1200" dirty="0">
                <a:latin typeface="Arial" panose="020B0604020202020204" pitchFamily="34" charset="0"/>
                <a:ea typeface="Open Sans"/>
                <a:cs typeface="Arial" panose="020B0604020202020204" pitchFamily="34" charset="0"/>
                <a:sym typeface="Open Sans"/>
              </a:rPr>
              <a:t>. </a:t>
            </a:r>
            <a:r>
              <a:rPr lang="en-CA" sz="1200" dirty="0">
                <a:latin typeface="Arial" panose="020B0604020202020204" pitchFamily="34" charset="0"/>
                <a:cs typeface="Arial" panose="020B0604020202020204" pitchFamily="34" charset="0"/>
              </a:rPr>
              <a:t>Position evidence is destroyed in minutes if the first people on the scene are unaware of preservation techniques, </a:t>
            </a:r>
            <a:r>
              <a:rPr lang="en-CA" sz="1200" b="1" dirty="0">
                <a:latin typeface="Arial" panose="020B0604020202020204" pitchFamily="34" charset="0"/>
                <a:cs typeface="Arial" panose="020B0604020202020204" pitchFamily="34" charset="0"/>
              </a:rPr>
              <a:t>therefore it is important that the scene is taped off immediately after an incident and entry restricted</a:t>
            </a:r>
            <a:r>
              <a:rPr lang="en-CA" sz="1200" dirty="0">
                <a:latin typeface="Arial" panose="020B0604020202020204" pitchFamily="34" charset="0"/>
                <a:cs typeface="Arial" panose="020B0604020202020204" pitchFamily="34" charset="0"/>
              </a:rPr>
              <a:t>. People talk amongst themselves and modify their observations accordingly or even forget “short term” memory information, therefore a simple statement sheet can be handed to them immediately after the incident to record their observations. Parts will be disturbed or thrown away, fracture surfaces contaminated.   Computer generated data will not be printed and “second” data will be averaged out to “minute” data if practices are not established to dump data to hard copy. So it is important that an organization trains personnel in retention techniques and has established practices for evidence capture.	</a:t>
            </a:r>
          </a:p>
        </p:txBody>
      </p:sp>
    </p:spTree>
    <p:extLst>
      <p:ext uri="{BB962C8B-B14F-4D97-AF65-F5344CB8AC3E}">
        <p14:creationId xmlns:p14="http://schemas.microsoft.com/office/powerpoint/2010/main" val="363777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4598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257603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5389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sym typeface="Arial"/>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6645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630235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591895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6115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4666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5/11/2022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838569391"/>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4708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rive.google.com/file/d/1D4dAsd1oo_rL5D_1ktDUy0tFwVmPkKyg/view?usp=sharin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t>On Becoming a </a:t>
            </a:r>
            <a:b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Rectangle 3"/>
          <p:cNvSpPr>
            <a:spLocks noGrp="1" noChangeArrowheads="1"/>
          </p:cNvSpPr>
          <p:nvPr>
            <p:ph type="subTitle" idx="4294967295"/>
          </p:nvPr>
        </p:nvSpPr>
        <p:spPr>
          <a:xfrm>
            <a:off x="838200" y="2421685"/>
            <a:ext cx="7315201" cy="3634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4.1: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The Work Processes:</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Incident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Investigation,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Root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Cause Analysis, and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Managing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Corrective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Actions</a:t>
            </a:r>
          </a:p>
          <a:p>
            <a:pPr marL="0" indent="0" algn="ctr" eaLnBrk="1" hangingPunct="1">
              <a:spcBef>
                <a:spcPct val="0"/>
              </a:spcBef>
              <a:buNone/>
            </a:pPr>
            <a:endParaRPr lang="en-US" altLang="en-US" sz="14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pPr marL="0" indent="0" algn="ctr" eaLnBrk="1" hangingPunct="1">
              <a:spcBef>
                <a:spcPct val="0"/>
              </a:spcBef>
              <a:buNone/>
            </a:pPr>
            <a: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At Instructor’s discretion, </a:t>
            </a:r>
            <a:b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tee-up video:</a:t>
            </a:r>
          </a:p>
          <a:p>
            <a:pPr marL="0" indent="0" algn="ctr" eaLnBrk="1" hangingPunct="1">
              <a:spcBef>
                <a:spcPct val="0"/>
              </a:spcBef>
              <a:buNone/>
            </a:pPr>
            <a: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hlinkClick r:id="rId3"/>
              </a:rPr>
              <a:t>“Elementary – Sherlock Holmes </a:t>
            </a:r>
            <a:b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hlinkClick r:id="rId3"/>
              </a:rPr>
            </a:br>
            <a: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hlinkClick r:id="rId3"/>
              </a:rPr>
              <a:t>and Dr. Watson at the Scene of</a:t>
            </a:r>
            <a:b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hlinkClick r:id="rId3"/>
              </a:rPr>
            </a:br>
            <a:r>
              <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hlinkClick r:id="rId3"/>
              </a:rPr>
              <a:t>an Aircraft Crash”</a:t>
            </a:r>
            <a:endParaRPr lang="en-US" altLang="en-US" sz="1400" i="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#1: Your </a:t>
            </a:r>
            <a:r>
              <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Experience?</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Please </a:t>
            </a:r>
            <a:r>
              <a:rPr kumimoji="0" 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confer (pen-to-paper):</a:t>
            </a: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Have you ever been involved in a loss incident (with major or minor consequences) you later thought could have easily been prevented with a simple action?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00000"/>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a:t>
            </a:r>
            <a:endPar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Your cellphone drops into the sink from the pocket on your shirt. </a:t>
            </a: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Had you thought about this and placed it elsewhere, you wouldn’t be standing in line at TELUS / Rogers / Bell right now.</a:t>
            </a:r>
          </a:p>
          <a:p>
            <a:pPr marL="360000" indent="-360000" eaLnBrk="0" fontAlgn="base" hangingPunct="0">
              <a:spcAft>
                <a:spcPct val="0"/>
              </a:spcAft>
              <a:buClrTx/>
              <a:buSzPct val="100000"/>
              <a:buFont typeface="Wingdings" panose="05000000000000000000" pitchFamily="2" charset="2"/>
              <a:buChar char="Ø"/>
              <a:defRPr/>
            </a:pPr>
            <a:endPar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eaLnBrk="0" fontAlgn="base" hangingPunct="0">
              <a:spcAft>
                <a:spcPct val="0"/>
              </a:spcAft>
              <a:buClrTx/>
              <a:buSzPct val="100000"/>
              <a:defRPr/>
            </a:pPr>
            <a:r>
              <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Share your experience with your colleague by answering these questions:</a:t>
            </a:r>
            <a:endPar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was the situation and incident?</a:t>
            </a: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t>
            </a:r>
            <a:r>
              <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would you have done? </a:t>
            </a:r>
            <a:endPar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t>
            </a:r>
            <a:r>
              <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caused it? </a:t>
            </a:r>
            <a:endPar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ClrTx/>
              <a:buSzPct val="100000"/>
              <a:buFont typeface="Wingdings" panose="05000000000000000000" pitchFamily="2" charset="2"/>
              <a:buChar char="Ø"/>
              <a:defRPr/>
            </a:pPr>
            <a:r>
              <a:rPr lang="en-CA" altLang="en-US" sz="2000" i="1"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What </a:t>
            </a:r>
            <a:r>
              <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would you recommend to your classmate? </a:t>
            </a: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147452303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the need to investigate the scene and collect evidence.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and apply the general II-RCA-MC Work Process to lead an Incident Investigation immediately after an incident happens, through the RCA and MCA work processes, and to conclude with a final check on the effectiveness of the process.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2734127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Incidents do happen. If the causes leading to an incident are not addressed, the incident can potentially repeat itself.</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Most organizations have systems in place for incident investigation and follow-up.</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This lecture presents a framework for the overall work process for Incident Investigation (II), Root Cause Analysis and to Manage the (proposed) Corrective Actions.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Tools for analysis that we will see in the following lectures include Root Cause Analysis (RCA), Cause and Effect Models (C&amp;E), and Manage Corrective Actions (MCA).</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Introduction: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128517005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Overall II-RCA-MA Work Process (general workflow):</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
        <p:nvSpPr>
          <p:cNvPr id="6" name="Google Shape;160;p7">
            <a:extLst>
              <a:ext uri="{FF2B5EF4-FFF2-40B4-BE49-F238E27FC236}">
                <a16:creationId xmlns:a16="http://schemas.microsoft.com/office/drawing/2014/main" id="{87323BD4-A55A-40AD-BAA3-557A9421A806}"/>
              </a:ext>
            </a:extLst>
          </p:cNvPr>
          <p:cNvSpPr/>
          <p:nvPr/>
        </p:nvSpPr>
        <p:spPr>
          <a:xfrm>
            <a:off x="4171764" y="1139905"/>
            <a:ext cx="4113213" cy="1296483"/>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
                <a:srgbClr val="FFFFFF"/>
              </a:buClr>
              <a:buSzPts val="1800"/>
              <a:buFont typeface="Noto Sans Symbols"/>
              <a:buChar char="⮚"/>
              <a:tabLst/>
              <a:defRPr/>
            </a:pPr>
            <a:r>
              <a:rPr kumimoji="0" lang="en-US" sz="18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Incident Investigation</a:t>
            </a:r>
            <a:r>
              <a:rPr kumimoji="0" lang="en-US" sz="18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collect evidence relating to an event (i.e. the discovery and ascertainment of the facts of a loss incident). </a:t>
            </a:r>
            <a:endParaRPr kumimoji="0" sz="18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cxnSp>
        <p:nvCxnSpPr>
          <p:cNvPr id="7" name="Google Shape;164;p7">
            <a:extLst>
              <a:ext uri="{FF2B5EF4-FFF2-40B4-BE49-F238E27FC236}">
                <a16:creationId xmlns:a16="http://schemas.microsoft.com/office/drawing/2014/main" id="{29C92E52-9901-4EB7-AB04-CD58CB959301}"/>
              </a:ext>
            </a:extLst>
          </p:cNvPr>
          <p:cNvCxnSpPr>
            <a:stCxn id="11" idx="2"/>
            <a:endCxn id="14" idx="0"/>
          </p:cNvCxnSpPr>
          <p:nvPr/>
        </p:nvCxnSpPr>
        <p:spPr>
          <a:xfrm>
            <a:off x="2174533" y="1785846"/>
            <a:ext cx="0" cy="221604"/>
          </a:xfrm>
          <a:prstGeom prst="straightConnector1">
            <a:avLst/>
          </a:prstGeom>
          <a:noFill/>
          <a:ln w="31750" cap="sq" cmpd="sng">
            <a:solidFill>
              <a:srgbClr val="000000"/>
            </a:solidFill>
            <a:prstDash val="solid"/>
            <a:round/>
            <a:headEnd type="none" w="sm" len="sm"/>
            <a:tailEnd type="triangle" w="med" len="med"/>
          </a:ln>
        </p:spPr>
      </p:cxnSp>
      <p:cxnSp>
        <p:nvCxnSpPr>
          <p:cNvPr id="10" name="Google Shape;167;p7">
            <a:extLst>
              <a:ext uri="{FF2B5EF4-FFF2-40B4-BE49-F238E27FC236}">
                <a16:creationId xmlns:a16="http://schemas.microsoft.com/office/drawing/2014/main" id="{7BC0D537-8234-4AB7-87F5-5AC2BC9BF7C9}"/>
              </a:ext>
            </a:extLst>
          </p:cNvPr>
          <p:cNvCxnSpPr>
            <a:stCxn id="15" idx="2"/>
            <a:endCxn id="18" idx="0"/>
          </p:cNvCxnSpPr>
          <p:nvPr/>
        </p:nvCxnSpPr>
        <p:spPr>
          <a:xfrm>
            <a:off x="2174533" y="3579887"/>
            <a:ext cx="0" cy="280558"/>
          </a:xfrm>
          <a:prstGeom prst="straightConnector1">
            <a:avLst/>
          </a:prstGeom>
          <a:noFill/>
          <a:ln w="31750" cap="sq" cmpd="sng">
            <a:solidFill>
              <a:srgbClr val="000000"/>
            </a:solidFill>
            <a:prstDash val="solid"/>
            <a:round/>
            <a:headEnd type="none" w="sm" len="sm"/>
            <a:tailEnd type="triangle" w="med" len="med"/>
          </a:ln>
        </p:spPr>
      </p:cxnSp>
      <p:sp>
        <p:nvSpPr>
          <p:cNvPr id="11" name="Google Shape;165;p7">
            <a:extLst>
              <a:ext uri="{FF2B5EF4-FFF2-40B4-BE49-F238E27FC236}">
                <a16:creationId xmlns:a16="http://schemas.microsoft.com/office/drawing/2014/main" id="{AEFE7B4C-0CCB-43EA-9AEC-04F063507E37}"/>
              </a:ext>
            </a:extLst>
          </p:cNvPr>
          <p:cNvSpPr/>
          <p:nvPr/>
        </p:nvSpPr>
        <p:spPr>
          <a:xfrm>
            <a:off x="665773" y="1139906"/>
            <a:ext cx="3017520" cy="645940"/>
          </a:xfrm>
          <a:prstGeom prst="flowChartProcess">
            <a:avLst/>
          </a:prstGeom>
          <a:solidFill>
            <a:srgbClr val="FFFFFF"/>
          </a:solidFill>
          <a:ln w="12700" cap="sq" cmpd="sng">
            <a:solidFill>
              <a:srgbClr val="000000"/>
            </a:solidFill>
            <a:prstDash val="solid"/>
            <a:miter lim="800000"/>
            <a:headEnd type="none" w="sm" len="sm"/>
            <a:tailEnd type="none" w="sm" len="sm"/>
          </a:ln>
          <a:effectLst>
            <a:outerShdw dist="35921" dir="2700000" algn="ctr" rotWithShape="0">
              <a:srgbClr val="000000"/>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Pts val="1600"/>
              <a:buFont typeface="Noto Sans Symbols"/>
              <a:buNone/>
              <a:tabLst/>
              <a:defRPr/>
            </a:pPr>
            <a:r>
              <a:rPr kumimoji="0" lang="en-US"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Incident Happens</a:t>
            </a:r>
            <a:endParaRPr kumimoji="0"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4" name="Google Shape;166;p7">
            <a:extLst>
              <a:ext uri="{FF2B5EF4-FFF2-40B4-BE49-F238E27FC236}">
                <a16:creationId xmlns:a16="http://schemas.microsoft.com/office/drawing/2014/main" id="{59AC3AD5-DA83-48D3-89DC-B62EB8BD0988}"/>
              </a:ext>
            </a:extLst>
          </p:cNvPr>
          <p:cNvSpPr/>
          <p:nvPr/>
        </p:nvSpPr>
        <p:spPr>
          <a:xfrm>
            <a:off x="665773" y="2007450"/>
            <a:ext cx="3017520" cy="645940"/>
          </a:xfrm>
          <a:prstGeom prst="flowChartProcess">
            <a:avLst/>
          </a:prstGeom>
          <a:solidFill>
            <a:srgbClr val="000000"/>
          </a:solidFill>
          <a:ln w="12700" cap="sq" cmpd="sng">
            <a:solidFill>
              <a:srgbClr val="000000"/>
            </a:solidFill>
            <a:prstDash val="solid"/>
            <a:miter lim="800000"/>
            <a:headEnd type="none" w="sm" len="sm"/>
            <a:tailEnd type="none" w="sm" len="sm"/>
          </a:ln>
          <a:effectLst>
            <a:outerShdw dist="35921" dir="2700000" algn="ctr" rotWithShape="0">
              <a:srgbClr val="000000"/>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1600"/>
              <a:buFont typeface="Noto Sans Symbols"/>
              <a:buNone/>
              <a:tabLst/>
              <a:defRPr/>
            </a:pPr>
            <a:r>
              <a:rPr kumimoji="0" lang="en-US" sz="20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Incident Investigation</a:t>
            </a:r>
            <a:endParaRPr kumimoji="0"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5" name="Google Shape;168;p7">
            <a:extLst>
              <a:ext uri="{FF2B5EF4-FFF2-40B4-BE49-F238E27FC236}">
                <a16:creationId xmlns:a16="http://schemas.microsoft.com/office/drawing/2014/main" id="{7C987125-4CC2-45F6-87CA-57F76D4E5683}"/>
              </a:ext>
            </a:extLst>
          </p:cNvPr>
          <p:cNvSpPr/>
          <p:nvPr/>
        </p:nvSpPr>
        <p:spPr>
          <a:xfrm>
            <a:off x="665773" y="2933947"/>
            <a:ext cx="3017520" cy="645940"/>
          </a:xfrm>
          <a:prstGeom prst="flowChartProcess">
            <a:avLst/>
          </a:prstGeom>
          <a:solidFill>
            <a:srgbClr val="000000"/>
          </a:solidFill>
          <a:ln w="12700" cap="sq" cmpd="sng">
            <a:solidFill>
              <a:srgbClr val="000000"/>
            </a:solidFill>
            <a:prstDash val="solid"/>
            <a:miter lim="800000"/>
            <a:headEnd type="none" w="sm" len="sm"/>
            <a:tailEnd type="none" w="sm" len="sm"/>
          </a:ln>
          <a:effectLst>
            <a:outerShdw dist="35921" dir="2700000" algn="ctr" rotWithShape="0">
              <a:srgbClr val="000000"/>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1600"/>
              <a:buFont typeface="Noto Sans Symbols"/>
              <a:buNone/>
              <a:tabLst/>
              <a:defRPr/>
            </a:pPr>
            <a:r>
              <a:rPr kumimoji="0" lang="en-US" sz="2000" b="0" i="0" u="none" strike="noStrike" kern="0" cap="none" spc="0" normalizeH="0" baseline="0" noProof="0">
                <a:ln>
                  <a:noFill/>
                </a:ln>
                <a:solidFill>
                  <a:srgbClr val="FFFFFF"/>
                </a:solidFill>
                <a:effectLst/>
                <a:uLnTx/>
                <a:uFillTx/>
                <a:latin typeface="Arial" panose="020B0604020202020204" pitchFamily="34" charset="0"/>
                <a:cs typeface="Arial" panose="020B0604020202020204" pitchFamily="34" charset="0"/>
              </a:rPr>
              <a:t>Root Cause Analysis</a:t>
            </a:r>
            <a:endParaRPr kumimoji="0" sz="2000" b="0" i="0" u="none" strike="noStrike" kern="0" cap="none" spc="0" normalizeH="0" baseline="0" noProof="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16" name="Google Shape;170;p7">
            <a:extLst>
              <a:ext uri="{FF2B5EF4-FFF2-40B4-BE49-F238E27FC236}">
                <a16:creationId xmlns:a16="http://schemas.microsoft.com/office/drawing/2014/main" id="{1E2F0436-0B2C-4B72-B454-3DDD8220BE34}"/>
              </a:ext>
            </a:extLst>
          </p:cNvPr>
          <p:cNvSpPr/>
          <p:nvPr/>
        </p:nvSpPr>
        <p:spPr>
          <a:xfrm>
            <a:off x="665773" y="4893396"/>
            <a:ext cx="3017520" cy="645940"/>
          </a:xfrm>
          <a:prstGeom prst="flowChartProcess">
            <a:avLst/>
          </a:prstGeom>
          <a:solidFill>
            <a:srgbClr val="FFFFFF"/>
          </a:solidFill>
          <a:ln w="12700" cap="sq" cmpd="sng">
            <a:solidFill>
              <a:srgbClr val="000000"/>
            </a:solidFill>
            <a:prstDash val="solid"/>
            <a:miter lim="800000"/>
            <a:headEnd type="none" w="sm" len="sm"/>
            <a:tailEnd type="none" w="sm" len="sm"/>
          </a:ln>
          <a:effectLst>
            <a:outerShdw dist="35921" dir="2700000" algn="ctr" rotWithShape="0">
              <a:srgbClr val="000000"/>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Tx/>
              <a:buSzPts val="1600"/>
              <a:buFont typeface="Noto Sans Symbols"/>
              <a:buNone/>
              <a:tabLst/>
              <a:defRPr/>
            </a:pPr>
            <a:r>
              <a:rPr kumimoji="0" lang="en-US"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Check Process Effectiveness</a:t>
            </a:r>
            <a:endParaRPr kumimoji="0"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cxnSp>
        <p:nvCxnSpPr>
          <p:cNvPr id="17" name="Google Shape;171;p7">
            <a:extLst>
              <a:ext uri="{FF2B5EF4-FFF2-40B4-BE49-F238E27FC236}">
                <a16:creationId xmlns:a16="http://schemas.microsoft.com/office/drawing/2014/main" id="{184D485C-0845-4E56-94B8-E38B223ADCCF}"/>
              </a:ext>
            </a:extLst>
          </p:cNvPr>
          <p:cNvCxnSpPr>
            <a:stCxn id="18" idx="2"/>
          </p:cNvCxnSpPr>
          <p:nvPr/>
        </p:nvCxnSpPr>
        <p:spPr>
          <a:xfrm flipV="1">
            <a:off x="2174533" y="3948933"/>
            <a:ext cx="0" cy="557452"/>
          </a:xfrm>
          <a:prstGeom prst="straightConnector1">
            <a:avLst/>
          </a:prstGeom>
          <a:noFill/>
          <a:ln w="31750" cap="sq" cmpd="sng">
            <a:solidFill>
              <a:srgbClr val="000000"/>
            </a:solidFill>
            <a:prstDash val="solid"/>
            <a:round/>
            <a:headEnd type="none" w="sm" len="sm"/>
            <a:tailEnd type="triangle" w="med" len="med"/>
          </a:ln>
        </p:spPr>
      </p:cxnSp>
      <p:sp>
        <p:nvSpPr>
          <p:cNvPr id="18" name="Google Shape;169;p7">
            <a:extLst>
              <a:ext uri="{FF2B5EF4-FFF2-40B4-BE49-F238E27FC236}">
                <a16:creationId xmlns:a16="http://schemas.microsoft.com/office/drawing/2014/main" id="{2122E6D3-C61D-4CD3-BC37-E3020B42EB34}"/>
              </a:ext>
            </a:extLst>
          </p:cNvPr>
          <p:cNvSpPr/>
          <p:nvPr/>
        </p:nvSpPr>
        <p:spPr>
          <a:xfrm>
            <a:off x="665773" y="3860445"/>
            <a:ext cx="3017520" cy="645940"/>
          </a:xfrm>
          <a:prstGeom prst="flowChartProcess">
            <a:avLst/>
          </a:prstGeom>
          <a:solidFill>
            <a:srgbClr val="000000"/>
          </a:solidFill>
          <a:ln w="12700" cap="sq" cmpd="sng">
            <a:solidFill>
              <a:srgbClr val="000000"/>
            </a:solidFill>
            <a:prstDash val="solid"/>
            <a:miter lim="800000"/>
            <a:headEnd type="none" w="sm" len="sm"/>
            <a:tailEnd type="none" w="sm" len="sm"/>
          </a:ln>
          <a:effectLst>
            <a:outerShdw dist="35921" dir="2700000" algn="ctr" rotWithShape="0">
              <a:srgbClr val="000000"/>
            </a:outerShdw>
          </a:effectLst>
        </p:spPr>
        <p:txBody>
          <a:bodyPr spcFirstLastPara="1" wrap="square" lIns="91425" tIns="45700" rIns="91425" bIns="4570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1600"/>
              <a:buFont typeface="Noto Sans Symbols"/>
              <a:buNone/>
              <a:tabLst/>
              <a:defRPr/>
            </a:pPr>
            <a:r>
              <a:rPr kumimoji="0" lang="en-US" sz="20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Manage Corrective Actions</a:t>
            </a:r>
            <a:endParaRPr kumimoji="0" sz="20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cxnSp>
        <p:nvCxnSpPr>
          <p:cNvPr id="19" name="Google Shape;172;p7">
            <a:extLst>
              <a:ext uri="{FF2B5EF4-FFF2-40B4-BE49-F238E27FC236}">
                <a16:creationId xmlns:a16="http://schemas.microsoft.com/office/drawing/2014/main" id="{EA284DD3-99AF-4039-BA59-62CEBBAB5EA1}"/>
              </a:ext>
            </a:extLst>
          </p:cNvPr>
          <p:cNvCxnSpPr>
            <a:stCxn id="14" idx="2"/>
            <a:endCxn id="15" idx="0"/>
          </p:cNvCxnSpPr>
          <p:nvPr/>
        </p:nvCxnSpPr>
        <p:spPr>
          <a:xfrm>
            <a:off x="2174533" y="2653390"/>
            <a:ext cx="0" cy="280557"/>
          </a:xfrm>
          <a:prstGeom prst="straightConnector1">
            <a:avLst/>
          </a:prstGeom>
          <a:noFill/>
          <a:ln w="31750" cap="sq" cmpd="sng">
            <a:solidFill>
              <a:srgbClr val="000000"/>
            </a:solidFill>
            <a:prstDash val="solid"/>
            <a:round/>
            <a:headEnd type="none" w="sm" len="sm"/>
            <a:tailEnd type="triangle" w="med" len="med"/>
          </a:ln>
        </p:spPr>
      </p:cxnSp>
      <p:cxnSp>
        <p:nvCxnSpPr>
          <p:cNvPr id="20" name="Google Shape;173;p7">
            <a:extLst>
              <a:ext uri="{FF2B5EF4-FFF2-40B4-BE49-F238E27FC236}">
                <a16:creationId xmlns:a16="http://schemas.microsoft.com/office/drawing/2014/main" id="{D95D5429-9603-4C15-A41E-F0A9DB8602C4}"/>
              </a:ext>
            </a:extLst>
          </p:cNvPr>
          <p:cNvCxnSpPr>
            <a:stCxn id="18" idx="2"/>
            <a:endCxn id="16" idx="0"/>
          </p:cNvCxnSpPr>
          <p:nvPr/>
        </p:nvCxnSpPr>
        <p:spPr>
          <a:xfrm>
            <a:off x="2174533" y="4506385"/>
            <a:ext cx="0" cy="387011"/>
          </a:xfrm>
          <a:prstGeom prst="straightConnector1">
            <a:avLst/>
          </a:prstGeom>
          <a:noFill/>
          <a:ln w="31750" cap="sq" cmpd="sng">
            <a:solidFill>
              <a:srgbClr val="000000"/>
            </a:solidFill>
            <a:prstDash val="solid"/>
            <a:round/>
            <a:headEnd type="none" w="sm" len="sm"/>
            <a:tailEnd type="triangle" w="med" len="med"/>
          </a:ln>
        </p:spPr>
      </p:cxnSp>
      <p:sp>
        <p:nvSpPr>
          <p:cNvPr id="21" name="Google Shape;175;p7">
            <a:extLst>
              <a:ext uri="{FF2B5EF4-FFF2-40B4-BE49-F238E27FC236}">
                <a16:creationId xmlns:a16="http://schemas.microsoft.com/office/drawing/2014/main" id="{E569819B-D1C8-489C-B74E-D9E93CC783F4}"/>
              </a:ext>
            </a:extLst>
          </p:cNvPr>
          <p:cNvSpPr/>
          <p:nvPr/>
        </p:nvSpPr>
        <p:spPr>
          <a:xfrm>
            <a:off x="4166787" y="2593421"/>
            <a:ext cx="4113213" cy="1129328"/>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
                <a:srgbClr val="FFFFFF"/>
              </a:buClr>
              <a:buSzPts val="1800"/>
              <a:buFont typeface="Noto Sans Symbols"/>
              <a:buChar char="⮚"/>
              <a:tabLst/>
              <a:defRPr/>
            </a:pPr>
            <a:r>
              <a:rPr kumimoji="0" lang="en-US" sz="18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Root Cause Analysis (RCA)</a:t>
            </a:r>
            <a:r>
              <a:rPr kumimoji="0" lang="en-US" sz="18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determine the causes of an </a:t>
            </a:r>
            <a:r>
              <a:rPr kumimoji="0" lang="en-US" sz="1800" b="0" i="0"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incident. </a:t>
            </a:r>
            <a:endParaRPr kumimoji="0" sz="1800" b="0" i="0" u="none" strike="noStrike" kern="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sp>
        <p:nvSpPr>
          <p:cNvPr id="22" name="Google Shape;176;p7">
            <a:extLst>
              <a:ext uri="{FF2B5EF4-FFF2-40B4-BE49-F238E27FC236}">
                <a16:creationId xmlns:a16="http://schemas.microsoft.com/office/drawing/2014/main" id="{4DF3B0B9-6BB4-4602-B0B1-8F68D68F01E3}"/>
              </a:ext>
            </a:extLst>
          </p:cNvPr>
          <p:cNvSpPr/>
          <p:nvPr/>
        </p:nvSpPr>
        <p:spPr>
          <a:xfrm>
            <a:off x="4166787" y="3879782"/>
            <a:ext cx="4113213" cy="1659553"/>
          </a:xfrm>
          <a:prstGeom prst="rect">
            <a:avLst/>
          </a:prstGeom>
          <a:solidFill>
            <a:srgbClr val="000000"/>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457200" marR="0" lvl="0" indent="-457200" defTabSz="914400" eaLnBrk="1" fontAlgn="auto" latinLnBrk="0" hangingPunct="1">
              <a:lnSpc>
                <a:spcPct val="110000"/>
              </a:lnSpc>
              <a:spcBef>
                <a:spcPts val="0"/>
              </a:spcBef>
              <a:spcAft>
                <a:spcPts val="0"/>
              </a:spcAft>
              <a:buClr>
                <a:srgbClr val="FFFFFF"/>
              </a:buClr>
              <a:buSzPts val="1800"/>
              <a:buFont typeface="Noto Sans Symbols"/>
              <a:buChar char="⮚"/>
              <a:tabLst/>
              <a:defRPr/>
            </a:pPr>
            <a:r>
              <a:rPr kumimoji="0" lang="en-US" sz="18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Manage Corrective Actions</a:t>
            </a:r>
            <a:r>
              <a:rPr kumimoji="0" lang="en-US" sz="18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rPr>
              <a:t>: manages the corrective and preventative actions that address the latent causes identified in the </a:t>
            </a:r>
            <a:r>
              <a:rPr kumimoji="0" lang="en-US" sz="1800" b="0" i="0" u="none" strike="noStrike" kern="0" cap="none" spc="0" normalizeH="0" baseline="0" noProof="0" dirty="0" smtClean="0">
                <a:ln>
                  <a:noFill/>
                </a:ln>
                <a:solidFill>
                  <a:srgbClr val="FFFFFF"/>
                </a:solidFill>
                <a:effectLst/>
                <a:uLnTx/>
                <a:uFillTx/>
                <a:latin typeface="Arial" panose="020B0604020202020204" pitchFamily="34" charset="0"/>
                <a:cs typeface="Arial" panose="020B0604020202020204" pitchFamily="34" charset="0"/>
              </a:rPr>
              <a:t>RCA</a:t>
            </a:r>
            <a:endParaRPr kumimoji="0" sz="18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461219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Why should I learn how to …?</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12700" marR="0" lvl="0" indent="-12700" algn="l" rtl="0">
              <a:spcAft>
                <a:spcPts val="0"/>
              </a:spcAft>
              <a:buClr>
                <a:srgbClr val="000000"/>
              </a:buClr>
              <a:buSzPts val="2000"/>
              <a:buFont typeface="Noto Sans Symbols"/>
              <a:buNone/>
            </a:pPr>
            <a:r>
              <a:rPr lang="en-CA" sz="2000" dirty="0">
                <a:solidFill>
                  <a:srgbClr val="FFFFFF"/>
                </a:solidFill>
                <a:latin typeface="Arial" panose="020B0604020202020204" pitchFamily="34" charset="0"/>
                <a:cs typeface="Arial" panose="020B0604020202020204" pitchFamily="34" charset="0"/>
                <a:sym typeface="Arial"/>
              </a:rPr>
              <a:t>Q: Why should I learn how to </a:t>
            </a:r>
            <a:r>
              <a:rPr lang="en-CA" sz="2000" u="sng" dirty="0">
                <a:solidFill>
                  <a:srgbClr val="FFFFFF"/>
                </a:solidFill>
                <a:latin typeface="Arial" panose="020B0604020202020204" pitchFamily="34" charset="0"/>
                <a:cs typeface="Arial" panose="020B0604020202020204" pitchFamily="34" charset="0"/>
                <a:sym typeface="Arial"/>
              </a:rPr>
              <a:t>investigate incidents</a:t>
            </a:r>
            <a:r>
              <a:rPr lang="en-CA" sz="2000" dirty="0">
                <a:solidFill>
                  <a:srgbClr val="FFFFFF"/>
                </a:solidFill>
                <a:latin typeface="Arial" panose="020B0604020202020204" pitchFamily="34" charset="0"/>
                <a:cs typeface="Arial" panose="020B0604020202020204" pitchFamily="34" charset="0"/>
                <a:sym typeface="Arial"/>
              </a:rPr>
              <a:t>, </a:t>
            </a:r>
            <a:r>
              <a:rPr lang="en-CA" sz="2000" u="sng" dirty="0">
                <a:solidFill>
                  <a:srgbClr val="FFFFFF"/>
                </a:solidFill>
                <a:latin typeface="Arial" panose="020B0604020202020204" pitchFamily="34" charset="0"/>
                <a:cs typeface="Arial" panose="020B0604020202020204" pitchFamily="34" charset="0"/>
                <a:sym typeface="Arial"/>
              </a:rPr>
              <a:t>conduct a root cause analysis</a:t>
            </a:r>
            <a:r>
              <a:rPr lang="en-CA" sz="2000" dirty="0">
                <a:solidFill>
                  <a:srgbClr val="FFFFFF"/>
                </a:solidFill>
                <a:latin typeface="Arial" panose="020B0604020202020204" pitchFamily="34" charset="0"/>
                <a:cs typeface="Arial" panose="020B0604020202020204" pitchFamily="34" charset="0"/>
                <a:sym typeface="Arial"/>
              </a:rPr>
              <a:t>, and </a:t>
            </a:r>
            <a:r>
              <a:rPr lang="en-CA" sz="2000" u="sng" dirty="0">
                <a:solidFill>
                  <a:srgbClr val="FFFFFF"/>
                </a:solidFill>
                <a:latin typeface="Arial" panose="020B0604020202020204" pitchFamily="34" charset="0"/>
                <a:cs typeface="Arial" panose="020B0604020202020204" pitchFamily="34" charset="0"/>
                <a:sym typeface="Arial"/>
              </a:rPr>
              <a:t>manage corrective actions</a:t>
            </a:r>
            <a:r>
              <a:rPr lang="en-CA" sz="2000" dirty="0">
                <a:solidFill>
                  <a:srgbClr val="FFFFFF"/>
                </a:solidFill>
                <a:latin typeface="Arial" panose="020B0604020202020204" pitchFamily="34" charset="0"/>
                <a:cs typeface="Arial" panose="020B0604020202020204" pitchFamily="34" charset="0"/>
                <a:sym typeface="Arial"/>
              </a:rPr>
              <a:t>?</a:t>
            </a:r>
          </a:p>
          <a:p>
            <a:pPr marL="12700" marR="0" lvl="0" indent="-12700" algn="l" rtl="0">
              <a:spcAft>
                <a:spcPts val="0"/>
              </a:spcAft>
              <a:buClr>
                <a:srgbClr val="000000"/>
              </a:buClr>
              <a:buSzPts val="2000"/>
              <a:buFont typeface="Noto Sans Symbols"/>
              <a:buNone/>
            </a:pPr>
            <a:endParaRPr lang="en-CA" sz="2000" dirty="0">
              <a:solidFill>
                <a:srgbClr val="FFFFFF"/>
              </a:solidFill>
              <a:latin typeface="Arial" panose="020B0604020202020204" pitchFamily="34" charset="0"/>
              <a:cs typeface="Arial" panose="020B0604020202020204" pitchFamily="34" charset="0"/>
            </a:endParaRPr>
          </a:p>
          <a:p>
            <a:pPr marL="12700" marR="0" lvl="0" indent="-12700" algn="l" rtl="0">
              <a:spcAft>
                <a:spcPts val="0"/>
              </a:spcAft>
              <a:buClr>
                <a:srgbClr val="000000"/>
              </a:buClr>
              <a:buSzPts val="2000"/>
              <a:buFont typeface="Noto Sans Symbols"/>
              <a:buNone/>
            </a:pPr>
            <a:r>
              <a:rPr lang="en-CA" sz="2000" dirty="0">
                <a:solidFill>
                  <a:srgbClr val="FFFFFF"/>
                </a:solidFill>
                <a:latin typeface="Arial" panose="020B0604020202020204" pitchFamily="34" charset="0"/>
                <a:cs typeface="Arial" panose="020B0604020202020204" pitchFamily="34" charset="0"/>
                <a:sym typeface="Arial"/>
              </a:rPr>
              <a:t>A: It is an essential leadership process!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will likely need it </a:t>
            </a:r>
            <a:r>
              <a:rPr kumimoji="0" lang="en-CA" altLang="en-US" sz="2000" b="0" i="0" u="sng"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in your job</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you will make decisions of technical and administrative nature in the future.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Because </a:t>
            </a:r>
            <a:r>
              <a:rPr kumimoji="0" lang="en-CA" altLang="en-US" sz="2000"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all incidents are preventable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and we need to prevent them from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recurring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that is </a:t>
            </a:r>
            <a:r>
              <a:rPr kumimoji="0" lang="en-CA" altLang="en-US" sz="2000" b="0" i="0" u="sng"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your role as a leader in risk management</a:t>
            </a:r>
            <a:r>
              <a:rPr kumimoji="0" lang="en-CA" altLang="en-US" sz="2000" b="0" i="0" u="sng"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2000" kern="12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In your future role as a leader, you will recognize the effectiveness of applying these work processes in shaping the culture of your organization. </a:t>
            </a:r>
            <a:endParaRPr kumimoji="0" lang="en-CA" altLang="en-US" sz="2000" b="0" i="0"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00000"/>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00000"/>
              <a:tabLst/>
              <a:defRPr/>
            </a:pPr>
            <a:r>
              <a:rPr lang="en-US" altLang="en-US" sz="2000"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Therefore: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Investigation is source for learning (proactive).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Must determine the root causes to prevent recurrence (reactive).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Conduct investigations with a sense of urgency and a sense of commitment!</a:t>
            </a:r>
          </a:p>
          <a:p>
            <a:pPr marR="0" lvl="0" algn="l" defTabSz="914400" rtl="0" eaLnBrk="0" fontAlgn="base" latinLnBrk="0" hangingPunct="0">
              <a:lnSpc>
                <a:spcPct val="100000"/>
              </a:lnSpc>
              <a:spcBef>
                <a:spcPts val="0"/>
              </a:spcBef>
              <a:spcAft>
                <a:spcPct val="0"/>
              </a:spcAft>
              <a:buClrTx/>
              <a:buSzPct val="100000"/>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06443933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#2: When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should an incident be investigated?</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Please confer:</a:t>
            </a: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When should an incident be investigated? (MM-M/C)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sz="2000" i="1" kern="120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457200" marR="0" lvl="0" indent="-457200" algn="l" rtl="0">
              <a:lnSpc>
                <a:spcPct val="110000"/>
              </a:lnSpc>
              <a:spcBef>
                <a:spcPts val="400"/>
              </a:spcBef>
              <a:spcAft>
                <a:spcPts val="0"/>
              </a:spcAft>
              <a:buClr>
                <a:srgbClr val="FFFFFF"/>
              </a:buClr>
              <a:buSzPts val="2000"/>
              <a:buFont typeface="Times New Roman"/>
              <a:buAutoNum type="alphaLcParenR"/>
            </a:pPr>
            <a:r>
              <a:rPr lang="en-CA" sz="2000" i="1" dirty="0">
                <a:solidFill>
                  <a:srgbClr val="FFFFFF"/>
                </a:solidFill>
                <a:latin typeface="Arial" panose="020B0604020202020204" pitchFamily="34" charset="0"/>
                <a:cs typeface="Arial" panose="020B0604020202020204" pitchFamily="34" charset="0"/>
                <a:sym typeface="Arial"/>
              </a:rPr>
              <a:t>When it is serious and must be reported to the government as required by law?</a:t>
            </a:r>
            <a:endParaRPr lang="en-CA" sz="2000" i="1" dirty="0">
              <a:latin typeface="Arial" panose="020B0604020202020204" pitchFamily="34" charset="0"/>
              <a:cs typeface="Arial" panose="020B0604020202020204" pitchFamily="34" charset="0"/>
            </a:endParaRPr>
          </a:p>
          <a:p>
            <a:pPr marL="457200" marR="0" lvl="0" indent="-457200" algn="l" rtl="0">
              <a:lnSpc>
                <a:spcPct val="110000"/>
              </a:lnSpc>
              <a:spcBef>
                <a:spcPts val="400"/>
              </a:spcBef>
              <a:spcAft>
                <a:spcPts val="0"/>
              </a:spcAft>
              <a:buClr>
                <a:srgbClr val="FFFFFF"/>
              </a:buClr>
              <a:buSzPts val="2000"/>
              <a:buFont typeface="Times New Roman"/>
              <a:buAutoNum type="alphaLcParenR"/>
            </a:pPr>
            <a:r>
              <a:rPr lang="en-CA" sz="2000" i="1" dirty="0">
                <a:solidFill>
                  <a:srgbClr val="FFFFFF"/>
                </a:solidFill>
                <a:latin typeface="Arial" panose="020B0604020202020204" pitchFamily="34" charset="0"/>
                <a:cs typeface="Arial" panose="020B0604020202020204" pitchFamily="34" charset="0"/>
                <a:sym typeface="Arial"/>
              </a:rPr>
              <a:t>Whenever there is an incident with consequences (impacts on PEAP) even though it is not required to report to the government?</a:t>
            </a:r>
            <a:endParaRPr lang="en-CA" sz="2000" i="1" dirty="0">
              <a:latin typeface="Arial" panose="020B0604020202020204" pitchFamily="34" charset="0"/>
              <a:cs typeface="Arial" panose="020B0604020202020204" pitchFamily="34" charset="0"/>
            </a:endParaRPr>
          </a:p>
          <a:p>
            <a:pPr marL="457200" marR="0" lvl="0" indent="-457200" algn="l" rtl="0">
              <a:lnSpc>
                <a:spcPct val="110000"/>
              </a:lnSpc>
              <a:spcBef>
                <a:spcPts val="400"/>
              </a:spcBef>
              <a:spcAft>
                <a:spcPts val="0"/>
              </a:spcAft>
              <a:buClr>
                <a:srgbClr val="FFFFFF"/>
              </a:buClr>
              <a:buSzPts val="2000"/>
              <a:buFont typeface="Times New Roman"/>
              <a:buAutoNum type="alphaLcParenR"/>
            </a:pPr>
            <a:r>
              <a:rPr lang="en-CA" sz="2000" i="1" dirty="0">
                <a:solidFill>
                  <a:srgbClr val="FFFFFF"/>
                </a:solidFill>
                <a:latin typeface="Arial" panose="020B0604020202020204" pitchFamily="34" charset="0"/>
                <a:cs typeface="Arial" panose="020B0604020202020204" pitchFamily="34" charset="0"/>
                <a:sym typeface="Arial"/>
              </a:rPr>
              <a:t>When there is some value or lesson to be learned from an incident even if there were no consequences? </a:t>
            </a:r>
          </a:p>
          <a:p>
            <a:pPr marR="0" lvl="0" algn="l" defTabSz="914400" rtl="0" eaLnBrk="0" fontAlgn="base" latinLnBrk="0" hangingPunct="0">
              <a:lnSpc>
                <a:spcPct val="100000"/>
              </a:lnSpc>
              <a:spcBef>
                <a:spcPts val="0"/>
              </a:spcBef>
              <a:spcAft>
                <a:spcPct val="0"/>
              </a:spcAft>
              <a:buClrTx/>
              <a:buSzPct val="100000"/>
              <a:tabLst/>
              <a:defRPr/>
            </a:pP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237655213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Font typeface="Arial" panose="020B0604020202020204" pitchFamily="34" charset="0"/>
              <a:buNone/>
              <a:tabLst/>
              <a:defRPr/>
            </a:pP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When should you investigate an incident</a:t>
            </a: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(Leading organisations)</a:t>
            </a:r>
            <a:endPar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it must </a:t>
            </a:r>
            <a:r>
              <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be reported to the government as required by </a:t>
            </a: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law.</a:t>
            </a:r>
            <a:endPar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Whenever there is an incident with consequences (impacts on PEAP</a:t>
            </a: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r>
              <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there is some value or lesson to be learned from an incident even if there were no </a:t>
            </a:r>
            <a:r>
              <a:rPr lang="en-US" altLang="en-US"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consequences.</a:t>
            </a:r>
          </a:p>
          <a:p>
            <a:pPr marL="360000" lvl="0" indent="-3600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90000"/>
              </a:lnSpc>
              <a:spcBef>
                <a:spcPts val="0"/>
              </a:spcBef>
              <a:spcAft>
                <a:spcPct val="0"/>
              </a:spcAft>
              <a:buClrTx/>
              <a:buSzPct val="100000"/>
              <a:buNone/>
              <a:defRPr/>
            </a:pPr>
            <a:r>
              <a:rPr lang="en-US" altLang="en-US"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Can all incidents be investigated?</a:t>
            </a:r>
            <a:endParaRPr lang="en-US" altLang="en-US"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Most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likely not all incidents can be investigated and managed, so how do you choose which incidents to investigate?</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Investigations require resources. </a:t>
            </a:r>
          </a:p>
          <a:p>
            <a:pPr marL="72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Need to define “threshold criteria” in order to assign and use resources effectively!</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0" marR="0" lvl="0" indent="0" algn="l" defTabSz="914400" rtl="0" eaLnBrk="0" fontAlgn="base" latinLnBrk="0" hangingPunct="0">
              <a:lnSpc>
                <a:spcPct val="90000"/>
              </a:lnSpc>
              <a:spcBef>
                <a:spcPts val="0"/>
              </a:spcBef>
              <a:spcAft>
                <a:spcPct val="0"/>
              </a:spcAft>
              <a:buClrTx/>
              <a:buSzPct val="100000"/>
              <a:buNone/>
              <a:tabLst/>
              <a:defRPr/>
            </a:pPr>
            <a:r>
              <a:rPr lang="en-US" altLang="en-US" b="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Challenges: </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Some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organizations: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may do nothing except</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the bare minimum as may be required by law.</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Others have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explicit criteria</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as to what requires an investigation.  </a:t>
            </a:r>
          </a:p>
          <a:p>
            <a:pPr marL="432000" marR="0" lvl="0" indent="-432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Can only investigate when an incident is reported – </a:t>
            </a:r>
            <a:r>
              <a:rPr kumimoji="0" lang="en-CA" altLang="en-US" sz="20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strong culture that encourages reporting</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Incidents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Arial"/>
              </a:rPr>
              <a:t>Investigated (or Managed)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Using this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140344487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Impartial leader, familiar with the processes, has credibility.</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Investigation Team composition (not involved in the incident):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One or more experts in the incident investigation process and the root cause analysis process </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One or more technical experts or specialists familiar with the work process being undertaken</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Who Undertakes the Overall II-RCA-MCA Work Process?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59007844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When gathering evidence, time is most important!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Evidence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can reveal what happened and how, but evidence can deteriorate, or degrade, or disappear with time.</a:t>
            </a:r>
          </a:p>
          <a:p>
            <a:pPr marL="0" indent="0" eaLnBrk="0" fontAlgn="base" hangingPunct="0">
              <a:lnSpc>
                <a:spcPct val="100000"/>
              </a:lnSpc>
              <a:spcBef>
                <a:spcPts val="0"/>
              </a:spcBef>
              <a:spcAft>
                <a:spcPct val="0"/>
              </a:spcAft>
              <a:buClrTx/>
              <a:buSzPct val="100000"/>
              <a:buNone/>
            </a:pPr>
            <a:endParaRPr lang="en-US" sz="2000" i="1" dirty="0">
              <a:solidFill>
                <a:srgbClr val="000000"/>
              </a:solidFill>
              <a:latin typeface="Arial" panose="020B0604020202020204" pitchFamily="34" charset="0"/>
              <a:cs typeface="Arial" panose="020B0604020202020204" pitchFamily="34" charset="0"/>
              <a:sym typeface="Arial"/>
            </a:endParaRPr>
          </a:p>
          <a:p>
            <a:pPr marL="0" indent="0" algn="ctr" eaLnBrk="0" fontAlgn="base" hangingPunct="0">
              <a:lnSpc>
                <a:spcPct val="100000"/>
              </a:lnSpc>
              <a:spcBef>
                <a:spcPts val="0"/>
              </a:spcBef>
              <a:spcAft>
                <a:spcPct val="0"/>
              </a:spcAft>
              <a:buClrTx/>
              <a:buSzPct val="100000"/>
              <a:buNone/>
            </a:pPr>
            <a:r>
              <a:rPr lang="en-US" sz="2000" b="1" i="1" u="sng" dirty="0">
                <a:solidFill>
                  <a:srgbClr val="000000"/>
                </a:solidFill>
                <a:latin typeface="Arial" panose="020B0604020202020204" pitchFamily="34" charset="0"/>
                <a:cs typeface="Arial" panose="020B0604020202020204" pitchFamily="34" charset="0"/>
                <a:sym typeface="Arial"/>
              </a:rPr>
              <a:t>Preservation of evidence:</a:t>
            </a:r>
            <a:endParaRPr lang="en-US" b="1" u="sng"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Evidence – You Need to Know What Happened and How:</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grpSp>
        <p:nvGrpSpPr>
          <p:cNvPr id="6" name="Google Shape;275;p14">
            <a:extLst>
              <a:ext uri="{FF2B5EF4-FFF2-40B4-BE49-F238E27FC236}">
                <a16:creationId xmlns:a16="http://schemas.microsoft.com/office/drawing/2014/main" id="{2642C74B-E480-41C8-A530-75096B3109BE}"/>
              </a:ext>
            </a:extLst>
          </p:cNvPr>
          <p:cNvGrpSpPr/>
          <p:nvPr/>
        </p:nvGrpSpPr>
        <p:grpSpPr>
          <a:xfrm>
            <a:off x="338040" y="1834257"/>
            <a:ext cx="6581717" cy="4329787"/>
            <a:chOff x="1018242" y="-445816"/>
            <a:chExt cx="7086600" cy="4499429"/>
          </a:xfrm>
        </p:grpSpPr>
        <p:graphicFrame>
          <p:nvGraphicFramePr>
            <p:cNvPr id="7" name="Google Shape;276;p14">
              <a:extLst>
                <a:ext uri="{FF2B5EF4-FFF2-40B4-BE49-F238E27FC236}">
                  <a16:creationId xmlns:a16="http://schemas.microsoft.com/office/drawing/2014/main" id="{EBDA5A4D-1C0B-4C50-9206-84E6876FE7F4}"/>
                </a:ext>
              </a:extLst>
            </p:cNvPr>
            <p:cNvGraphicFramePr/>
            <p:nvPr>
              <p:extLst>
                <p:ext uri="{D42A27DB-BD31-4B8C-83A1-F6EECF244321}">
                  <p14:modId xmlns:p14="http://schemas.microsoft.com/office/powerpoint/2010/main" val="358664428"/>
                </p:ext>
              </p:extLst>
            </p:nvPr>
          </p:nvGraphicFramePr>
          <p:xfrm>
            <a:off x="1018242" y="-445816"/>
            <a:ext cx="7086600" cy="4499429"/>
          </p:xfrm>
          <a:graphic>
            <a:graphicData uri="http://schemas.openxmlformats.org/presentationml/2006/ole">
              <mc:AlternateContent xmlns:mc="http://schemas.openxmlformats.org/markup-compatibility/2006">
                <mc:Choice xmlns:v="urn:schemas-microsoft-com:vml" Requires="v">
                  <p:oleObj spid="_x0000_s2074" r:id="rId4" imgW="7086600" imgH="4499429" progId="MSDraw.Drawing.8.2">
                    <p:embed/>
                  </p:oleObj>
                </mc:Choice>
                <mc:Fallback>
                  <p:oleObj r:id="rId4" imgW="7086600" imgH="4499429" progId="MSDraw.Drawing.8.2">
                    <p:embed/>
                    <p:pic>
                      <p:nvPicPr>
                        <p:cNvPr id="276" name="Google Shape;276;p14"/>
                        <p:cNvPicPr preferRelativeResize="0"/>
                        <p:nvPr/>
                      </p:nvPicPr>
                      <p:blipFill rotWithShape="1">
                        <a:blip r:embed="rId5">
                          <a:alphaModFix/>
                        </a:blip>
                        <a:srcRect/>
                        <a:stretch/>
                      </p:blipFill>
                      <p:spPr>
                        <a:xfrm>
                          <a:off x="1018242" y="-445816"/>
                          <a:ext cx="7086600" cy="4499429"/>
                        </a:xfrm>
                        <a:prstGeom prst="rect">
                          <a:avLst/>
                        </a:prstGeom>
                        <a:noFill/>
                        <a:ln>
                          <a:noFill/>
                        </a:ln>
                      </p:spPr>
                    </p:pic>
                  </p:oleObj>
                </mc:Fallback>
              </mc:AlternateContent>
            </a:graphicData>
          </a:graphic>
        </p:graphicFrame>
        <p:pic>
          <p:nvPicPr>
            <p:cNvPr id="10" name="Google Shape;277;p14">
              <a:extLst>
                <a:ext uri="{FF2B5EF4-FFF2-40B4-BE49-F238E27FC236}">
                  <a16:creationId xmlns:a16="http://schemas.microsoft.com/office/drawing/2014/main" id="{9DD5C030-74F2-49EF-AEBE-CB2112398881}"/>
                </a:ext>
              </a:extLst>
            </p:cNvPr>
            <p:cNvPicPr preferRelativeResize="0"/>
            <p:nvPr/>
          </p:nvPicPr>
          <p:blipFill rotWithShape="1">
            <a:blip r:embed="rId6">
              <a:alphaModFix/>
            </a:blip>
            <a:srcRect/>
            <a:stretch/>
          </p:blipFill>
          <p:spPr>
            <a:xfrm>
              <a:off x="2858761" y="555327"/>
              <a:ext cx="609600" cy="2878137"/>
            </a:xfrm>
            <a:prstGeom prst="rect">
              <a:avLst/>
            </a:prstGeom>
            <a:noFill/>
            <a:ln>
              <a:noFill/>
            </a:ln>
          </p:spPr>
        </p:pic>
      </p:grpSp>
    </p:spTree>
    <p:extLst>
      <p:ext uri="{BB962C8B-B14F-4D97-AF65-F5344CB8AC3E}">
        <p14:creationId xmlns:p14="http://schemas.microsoft.com/office/powerpoint/2010/main" val="296425691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Cat D12 dozer has gotten stuck in unexpected soft and wet clay.</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The operator is all right, but the dozer requires repairs (down time).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A broken water pipe was found adjacent to the dozer. The dozer was within its planned route and the area had just been regraded.</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Example: The Caterpillar D12 Dozer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pic>
        <p:nvPicPr>
          <p:cNvPr id="6" name="Google Shape;284;p15">
            <a:extLst>
              <a:ext uri="{FF2B5EF4-FFF2-40B4-BE49-F238E27FC236}">
                <a16:creationId xmlns:a16="http://schemas.microsoft.com/office/drawing/2014/main" id="{BDDE0014-32A4-4DD1-B4FD-CF43044539AF}"/>
              </a:ext>
            </a:extLst>
          </p:cNvPr>
          <p:cNvPicPr preferRelativeResize="0"/>
          <p:nvPr/>
        </p:nvPicPr>
        <p:blipFill rotWithShape="1">
          <a:blip r:embed="rId3">
            <a:alphaModFix/>
          </a:blip>
          <a:srcRect/>
          <a:stretch/>
        </p:blipFill>
        <p:spPr>
          <a:xfrm>
            <a:off x="2352092" y="3055169"/>
            <a:ext cx="4267200" cy="3104541"/>
          </a:xfrm>
          <a:prstGeom prst="rect">
            <a:avLst/>
          </a:prstGeom>
          <a:noFill/>
          <a:ln w="9525" cap="flat" cmpd="sng">
            <a:solidFill>
              <a:srgbClr val="000000"/>
            </a:solidFill>
            <a:prstDash val="solid"/>
            <a:round/>
            <a:headEnd type="none" w="sm" len="sm"/>
            <a:tailEnd type="none" w="sm" len="sm"/>
          </a:ln>
        </p:spPr>
      </p:pic>
    </p:spTree>
    <p:extLst>
      <p:ext uri="{BB962C8B-B14F-4D97-AF65-F5344CB8AC3E}">
        <p14:creationId xmlns:p14="http://schemas.microsoft.com/office/powerpoint/2010/main" val="204880044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ALE #3: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Caterpillar D12 Dozer Loss Incident</a:t>
            </a: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Please </a:t>
            </a:r>
            <a:r>
              <a:rPr kumimoji="0" 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confer (pen-to-paper, </a:t>
            </a:r>
            <a:r>
              <a:rPr kumimoji="0" 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Open discussion):</a:t>
            </a: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
                <a:srgbClr val="000000"/>
              </a:buClr>
              <a:buSzTx/>
              <a:buFont typeface="Wingdings" panose="05000000000000000000" pitchFamily="2" charset="2"/>
              <a:buNone/>
              <a:tabLst/>
              <a:defRPr/>
            </a:pPr>
            <a:endParaRPr kumimoji="0" lang="en-US" sz="2000" b="0" i="1" u="none" strike="noStrike" kern="1200" cap="none" spc="0" normalizeH="0" baseline="0" noProof="0" dirty="0">
              <a:ln>
                <a:noFill/>
              </a:ln>
              <a:solidFill>
                <a:srgbClr val="F8F8F8"/>
              </a:solidFill>
              <a:effectLst/>
              <a:uLnTx/>
              <a:uFillTx/>
              <a:latin typeface="Arial" panose="020B0604020202020204" pitchFamily="34" charset="0"/>
              <a:ea typeface="Times New Roman" panose="02020603050405020304" pitchFamily="18" charset="0"/>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Which specialists would you select for your investigation team</a:t>
            </a:r>
            <a:r>
              <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Why?</a:t>
            </a: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What evidence will you collect? </a:t>
            </a:r>
            <a:r>
              <a:rPr kumimoji="0" lang="en-CA" altLang="en-US" sz="2000" b="0" i="1"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Why?</a:t>
            </a:r>
            <a:endParaRPr kumimoji="0" lang="en-CA"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pic>
        <p:nvPicPr>
          <p:cNvPr id="3" name="Picture 2"/>
          <p:cNvPicPr>
            <a:picLocks noChangeAspect="1"/>
          </p:cNvPicPr>
          <p:nvPr/>
        </p:nvPicPr>
        <p:blipFill>
          <a:blip r:embed="rId3"/>
          <a:stretch>
            <a:fillRect/>
          </a:stretch>
        </p:blipFill>
        <p:spPr>
          <a:xfrm>
            <a:off x="605790" y="3146845"/>
            <a:ext cx="3997522" cy="2628000"/>
          </a:xfrm>
          <a:prstGeom prst="rect">
            <a:avLst/>
          </a:prstGeom>
          <a:solidFill>
            <a:schemeClr val="bg1"/>
          </a:solidFill>
          <a:ln>
            <a:solidFill>
              <a:schemeClr val="tx1"/>
            </a:solidFill>
          </a:ln>
        </p:spPr>
      </p:pic>
      <p:pic>
        <p:nvPicPr>
          <p:cNvPr id="4" name="Picture 3"/>
          <p:cNvPicPr>
            <a:picLocks noChangeAspect="1"/>
          </p:cNvPicPr>
          <p:nvPr/>
        </p:nvPicPr>
        <p:blipFill>
          <a:blip r:embed="rId4"/>
          <a:stretch>
            <a:fillRect/>
          </a:stretch>
        </p:blipFill>
        <p:spPr>
          <a:xfrm>
            <a:off x="4789168" y="3146845"/>
            <a:ext cx="3606458" cy="2628000"/>
          </a:xfrm>
          <a:prstGeom prst="rect">
            <a:avLst/>
          </a:prstGeom>
        </p:spPr>
      </p:pic>
    </p:spTree>
    <p:extLst>
      <p:ext uri="{BB962C8B-B14F-4D97-AF65-F5344CB8AC3E}">
        <p14:creationId xmlns:p14="http://schemas.microsoft.com/office/powerpoint/2010/main" val="375796260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Specialists on the Loss Incident Investigation Team (and rationale):</a:t>
            </a:r>
            <a:endParaRPr kumimoji="0" lang="en-US" altLang="en-US" sz="18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ESRM II-RCA Expert</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Guides the team through the work processes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Dozer Operator(s)</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NOT involved in the LI</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Expertise in operations but NOT personally at stake</a:t>
            </a:r>
            <a:endPar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kern="120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Supervisor of the Dozer Operator(s)</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Has </a:t>
            </a: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responsibility (and is accountable) for the dozer operators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Civil / Works Engineer</a:t>
            </a:r>
          </a:p>
          <a:p>
            <a:pPr marL="720000" lvl="0" indent="-360000" defTabSz="91440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Expertise for the plot plans / drawings / underground services and surveys</a:t>
            </a: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Site / Project Manager</a:t>
            </a:r>
          </a:p>
          <a:p>
            <a:pPr marL="720000" lvl="0" indent="-360000" defTabSz="91440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Has overall site/project responsibility, accountable for the loss incident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1800" b="0" i="1"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Dozer operator involved</a:t>
            </a:r>
            <a:r>
              <a:rPr kumimoji="0" lang="en-CA" altLang="en-US" sz="1800" b="0" i="1"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t> in the LI </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 </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witness / to be interviewed, but</a:t>
            </a:r>
            <a:b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t>
            </a: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 member of the </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team</a:t>
            </a:r>
          </a:p>
          <a:p>
            <a:pPr marL="360000" lvl="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Surveyor who marked the route and services</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t>
            </a: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witness / to be interviewed, but</a:t>
            </a:r>
            <a:b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NOT as a member of the </a:t>
            </a:r>
            <a:r>
              <a:rPr lang="en-CA"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team</a:t>
            </a:r>
          </a:p>
          <a:p>
            <a:pPr marL="360000" indent="-3600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Why not these two individuals?</a:t>
            </a:r>
          </a:p>
          <a:p>
            <a:pPr marL="720000" indent="-360000" eaLnBrk="0" fontAlgn="base" hangingPunct="0">
              <a:lnSpc>
                <a:spcPct val="100000"/>
              </a:lnSpc>
              <a:spcBef>
                <a:spcPts val="0"/>
              </a:spcBef>
              <a:spcAft>
                <a:spcPct val="0"/>
              </a:spcAft>
              <a:buClrTx/>
              <a:buSzPct val="100000"/>
              <a:buFont typeface="Wingdings" panose="05000000000000000000" pitchFamily="2" charset="2"/>
              <a:buChar char="Ø"/>
              <a:defRPr/>
            </a:pPr>
            <a:endParaRPr lang="en-CA"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Example: The Caterpillar D12 Dozer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pic>
        <p:nvPicPr>
          <p:cNvPr id="6" name="Google Shape;284;p15">
            <a:extLst>
              <a:ext uri="{FF2B5EF4-FFF2-40B4-BE49-F238E27FC236}">
                <a16:creationId xmlns:a16="http://schemas.microsoft.com/office/drawing/2014/main" id="{BDDE0014-32A4-4DD1-B4FD-CF43044539AF}"/>
              </a:ext>
            </a:extLst>
          </p:cNvPr>
          <p:cNvPicPr preferRelativeResize="0"/>
          <p:nvPr/>
        </p:nvPicPr>
        <p:blipFill rotWithShape="1">
          <a:blip r:embed="rId3">
            <a:alphaModFix/>
          </a:blip>
          <a:srcRect/>
          <a:stretch/>
        </p:blipFill>
        <p:spPr>
          <a:xfrm>
            <a:off x="6132628" y="4156810"/>
            <a:ext cx="2687372" cy="1999190"/>
          </a:xfrm>
          <a:prstGeom prst="rect">
            <a:avLst/>
          </a:prstGeom>
          <a:noFill/>
          <a:ln w="9525" cap="flat" cmpd="sng">
            <a:solidFill>
              <a:srgbClr val="000000"/>
            </a:solidFill>
            <a:prstDash val="solid"/>
            <a:round/>
            <a:headEnd type="none" w="sm" len="sm"/>
            <a:tailEnd type="none" w="sm" len="sm"/>
          </a:ln>
        </p:spPr>
      </p:pic>
    </p:spTree>
    <p:extLst>
      <p:ext uri="{BB962C8B-B14F-4D97-AF65-F5344CB8AC3E}">
        <p14:creationId xmlns:p14="http://schemas.microsoft.com/office/powerpoint/2010/main" val="48213345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576000" y="2252490"/>
            <a:ext cx="6012000" cy="29875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576000" y="1156138"/>
            <a:ext cx="6012000" cy="786962"/>
          </a:xfrm>
          <a:prstGeom prst="rect">
            <a:avLst/>
          </a:prstGeom>
          <a:solidFill>
            <a:srgbClr val="FF0000">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76000" y="1942440"/>
            <a:ext cx="6012000" cy="298755"/>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76000" y="2538021"/>
            <a:ext cx="6012000" cy="1115370"/>
          </a:xfrm>
          <a:prstGeom prst="rect">
            <a:avLst/>
          </a:prstGeom>
          <a:solidFill>
            <a:srgbClr val="66FF33"/>
          </a:solidFill>
          <a:ln>
            <a:solidFill>
              <a:srgbClr val="66FF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lang="en-US" altLang="en-US" sz="1800" b="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Evidence that should be collected and in the priority order:</a:t>
            </a:r>
            <a:endParaRPr kumimoji="0" lang="en-US" altLang="en-US" sz="18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Detailed photographs of the scene </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Locations of the flagging of the planned route </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Locations of the flags marking the underground waterline </a:t>
            </a:r>
          </a:p>
          <a:p>
            <a:pPr marL="36000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 interviews </a:t>
            </a:r>
            <a:endPar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Mechanical parts</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FLRA's </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rocedure for the planned route </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a:t>
            </a: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nderground drawings</a:t>
            </a:r>
          </a:p>
          <a:p>
            <a:pPr marL="360000" lvl="0" indent="-360000" eaLnBrk="0" fontAlgn="base" hangingPunct="0">
              <a:lnSpc>
                <a:spcPct val="100000"/>
              </a:lnSpc>
              <a:spcBef>
                <a:spcPts val="0"/>
              </a:spcBef>
              <a:spcAft>
                <a:spcPct val="0"/>
              </a:spcAft>
              <a:buClrTx/>
              <a:buSzPct val="100000"/>
              <a:buFont typeface="+mj-lt"/>
              <a:buAutoNum type="arabicParenR"/>
              <a:defRPr/>
            </a:pPr>
            <a:r>
              <a:rPr lang="en-US" altLang="en-US" sz="1800"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Weather bulletins</a:t>
            </a:r>
          </a:p>
          <a:p>
            <a:pPr marL="0" lvl="0" indent="0" eaLnBrk="0" fontAlgn="base" hangingPunct="0">
              <a:lnSpc>
                <a:spcPct val="100000"/>
              </a:lnSpc>
              <a:spcBef>
                <a:spcPts val="0"/>
              </a:spcBef>
              <a:spcAft>
                <a:spcPct val="0"/>
              </a:spcAft>
              <a:buClrTx/>
              <a:buSzPct val="100000"/>
              <a:buNone/>
              <a:defRPr/>
            </a:pPr>
            <a:endParaRPr lang="en-US" altLang="en-US" sz="1800"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Why? …because the evidence can </a:t>
            </a:r>
            <a:b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“decay” or “degrade” as time passes:</a:t>
            </a:r>
          </a:p>
          <a:p>
            <a:pPr marL="288000" lvl="0" indent="-288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site and location flags can be disturbed.</a:t>
            </a:r>
          </a:p>
          <a:p>
            <a:pPr marL="288000" lvl="0" indent="-288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People’s memories can fade or be influenced.</a:t>
            </a:r>
          </a:p>
          <a:p>
            <a:pPr marL="288000" lvl="0" indent="-288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Parts?</a:t>
            </a:r>
          </a:p>
          <a:p>
            <a:pPr marL="288000" lvl="0" indent="-288000" eaLnBrk="0" fontAlgn="base" hangingPunct="0">
              <a:lnSpc>
                <a:spcPct val="100000"/>
              </a:lnSpc>
              <a:spcBef>
                <a:spcPts val="0"/>
              </a:spcBef>
              <a:spcAft>
                <a:spcPct val="0"/>
              </a:spcAft>
              <a:buClrTx/>
              <a:buSzPct val="100000"/>
              <a:buFont typeface="Wingdings" panose="05000000000000000000" pitchFamily="2" charset="2"/>
              <a:buChar char="Ø"/>
              <a:defRPr/>
            </a:pPr>
            <a:r>
              <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FLRA’s first, then other documents are less likely to be tampered</a:t>
            </a:r>
          </a:p>
          <a:p>
            <a:pPr marL="0" lvl="0" indent="0" eaLnBrk="0" fontAlgn="base" hangingPunct="0">
              <a:lnSpc>
                <a:spcPct val="100000"/>
              </a:lnSpc>
              <a:spcBef>
                <a:spcPts val="0"/>
              </a:spcBef>
              <a:spcAft>
                <a:spcPct val="0"/>
              </a:spcAft>
              <a:buClrTx/>
              <a:buSzPct val="100000"/>
              <a:buNone/>
              <a:defRPr/>
            </a:pPr>
            <a:endParaRPr lang="en-US" altLang="en-US" sz="1800" i="1" kern="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eaLnBrk="0" fontAlgn="base" hangingPunct="0">
              <a:lnSpc>
                <a:spcPct val="100000"/>
              </a:lnSpc>
              <a:spcBef>
                <a:spcPts val="0"/>
              </a:spcBef>
              <a:spcAft>
                <a:spcPct val="0"/>
              </a:spcAft>
              <a:buClrTx/>
              <a:buSzPct val="100000"/>
              <a:buNone/>
              <a:defRPr/>
            </a:pPr>
            <a:endParaRPr lang="en-US" altLang="en-US" sz="1800" i="1" kern="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Arial"/>
              </a:rPr>
              <a:t>Example: The Caterpillar D12 Dozer Loss Incident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sym typeface="Arial"/>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pic>
        <p:nvPicPr>
          <p:cNvPr id="7" name="Picture 6"/>
          <p:cNvPicPr>
            <a:picLocks noChangeAspect="1"/>
          </p:cNvPicPr>
          <p:nvPr/>
        </p:nvPicPr>
        <p:blipFill>
          <a:blip r:embed="rId3"/>
          <a:stretch>
            <a:fillRect/>
          </a:stretch>
        </p:blipFill>
        <p:spPr>
          <a:xfrm>
            <a:off x="5517930" y="2931210"/>
            <a:ext cx="3302069" cy="2170804"/>
          </a:xfrm>
          <a:prstGeom prst="rect">
            <a:avLst/>
          </a:prstGeom>
          <a:solidFill>
            <a:schemeClr val="bg1"/>
          </a:solidFill>
          <a:ln>
            <a:solidFill>
              <a:schemeClr val="tx1"/>
            </a:solidFill>
          </a:ln>
        </p:spPr>
      </p:pic>
    </p:spTree>
    <p:extLst>
      <p:ext uri="{BB962C8B-B14F-4D97-AF65-F5344CB8AC3E}">
        <p14:creationId xmlns:p14="http://schemas.microsoft.com/office/powerpoint/2010/main" val="5684577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These processes will be effective only if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all components are complete, accurate, and thorough.</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Process is a learning experience for all.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Must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commit</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to the process with </a:t>
            </a:r>
            <a:r>
              <a:rPr kumimoji="0" lang="en-CA"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people and resources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for investigations.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CA"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4.1: II-RCA-MCA Work Processes</a:t>
            </a:r>
          </a:p>
        </p:txBody>
      </p:sp>
    </p:spTree>
    <p:extLst>
      <p:ext uri="{BB962C8B-B14F-4D97-AF65-F5344CB8AC3E}">
        <p14:creationId xmlns:p14="http://schemas.microsoft.com/office/powerpoint/2010/main" val="418750564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4077953517"/>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920</TotalTime>
  <Words>1558</Words>
  <Application>Microsoft Office PowerPoint</Application>
  <PresentationFormat>On-screen Show (4:3)</PresentationFormat>
  <Paragraphs>218</Paragraphs>
  <Slides>16</Slides>
  <Notes>16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5" baseType="lpstr">
      <vt:lpstr>Open Sans</vt:lpstr>
      <vt:lpstr>Arial</vt:lpstr>
      <vt:lpstr>Times New Roman</vt:lpstr>
      <vt:lpstr>ＭＳ Ｐゴシック</vt:lpstr>
      <vt:lpstr>Noto Sans Symbols</vt:lpstr>
      <vt:lpstr>Calibri</vt:lpstr>
      <vt:lpstr>Wingdings</vt:lpstr>
      <vt:lpstr>Default Design</vt:lpstr>
      <vt:lpstr>MSDraw.Drawing.8.2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JR Cocchio</dc:creator>
  <cp:lastModifiedBy>John Cocchio</cp:lastModifiedBy>
  <cp:revision>46</cp:revision>
  <dcterms:created xsi:type="dcterms:W3CDTF">2011-09-07T03:22:54Z</dcterms:created>
  <dcterms:modified xsi:type="dcterms:W3CDTF">2022-05-11T18:36:55Z</dcterms:modified>
</cp:coreProperties>
</file>