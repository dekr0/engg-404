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895" r:id="rId2"/>
    <p:sldId id="880" r:id="rId3"/>
    <p:sldId id="923" r:id="rId4"/>
    <p:sldId id="981" r:id="rId5"/>
    <p:sldId id="982" r:id="rId6"/>
    <p:sldId id="908" r:id="rId7"/>
    <p:sldId id="984" r:id="rId8"/>
    <p:sldId id="924" r:id="rId9"/>
    <p:sldId id="985" r:id="rId10"/>
    <p:sldId id="928" r:id="rId11"/>
    <p:sldId id="987" r:id="rId12"/>
    <p:sldId id="990" r:id="rId13"/>
    <p:sldId id="997" r:id="rId14"/>
    <p:sldId id="991" r:id="rId15"/>
    <p:sldId id="986" r:id="rId16"/>
    <p:sldId id="942" r:id="rId17"/>
    <p:sldId id="996" r:id="rId18"/>
    <p:sldId id="980" r:id="rId19"/>
    <p:sldId id="995" r:id="rId20"/>
    <p:sldId id="994" r:id="rId21"/>
    <p:sldId id="988" r:id="rId22"/>
    <p:sldId id="989" r:id="rId23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9E92DFA-6333-4D24-89B4-B39EC0786CAA}">
          <p14:sldIdLst>
            <p14:sldId id="895"/>
            <p14:sldId id="880"/>
            <p14:sldId id="923"/>
            <p14:sldId id="981"/>
            <p14:sldId id="982"/>
            <p14:sldId id="908"/>
            <p14:sldId id="984"/>
            <p14:sldId id="924"/>
            <p14:sldId id="985"/>
            <p14:sldId id="928"/>
            <p14:sldId id="987"/>
            <p14:sldId id="990"/>
            <p14:sldId id="997"/>
            <p14:sldId id="991"/>
            <p14:sldId id="986"/>
            <p14:sldId id="942"/>
            <p14:sldId id="996"/>
            <p14:sldId id="980"/>
            <p14:sldId id="995"/>
            <p14:sldId id="994"/>
            <p14:sldId id="988"/>
            <p14:sldId id="98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576">
          <p15:clr>
            <a:srgbClr val="A4A3A4"/>
          </p15:clr>
        </p15:guide>
        <p15:guide id="2" pos="379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9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oel Gehman" initials="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BA3E8"/>
    <a:srgbClr val="0000FF"/>
    <a:srgbClr val="000000"/>
    <a:srgbClr val="0000CC"/>
    <a:srgbClr val="F8F8F8"/>
    <a:srgbClr val="F5D7F1"/>
    <a:srgbClr val="5F5F5F"/>
    <a:srgbClr val="DDDDDD"/>
    <a:srgbClr val="333333"/>
    <a:srgbClr val="BDB1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49" autoAdjust="0"/>
    <p:restoredTop sz="98116" autoAdjust="0"/>
  </p:normalViewPr>
  <p:slideViewPr>
    <p:cSldViewPr>
      <p:cViewPr varScale="1">
        <p:scale>
          <a:sx n="77" d="100"/>
          <a:sy n="77" d="100"/>
        </p:scale>
        <p:origin x="1020" y="64"/>
      </p:cViewPr>
      <p:guideLst>
        <p:guide orient="horz" pos="576"/>
        <p:guide pos="379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1452"/>
    </p:cViewPr>
  </p:sorterViewPr>
  <p:notesViewPr>
    <p:cSldViewPr>
      <p:cViewPr>
        <p:scale>
          <a:sx n="66" d="100"/>
          <a:sy n="66" d="100"/>
        </p:scale>
        <p:origin x="-2634" y="222"/>
      </p:cViewPr>
      <p:guideLst>
        <p:guide orient="horz" pos="2928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01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654" y="1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25E55AEC-8BF8-47AA-8A9C-C1CC4D3D3CD7}" type="datetimeFigureOut">
              <a:rPr lang="en-US"/>
              <a:pPr>
                <a:defRPr/>
              </a:pPr>
              <a:t>3/28/2022</a:t>
            </a:fld>
            <a:endParaRPr lang="en-US"/>
          </a:p>
        </p:txBody>
      </p:sp>
      <p:sp>
        <p:nvSpPr>
          <p:cNvPr id="2201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8830312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01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654" y="8830312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E75F24CD-7E4C-4840-9EE0-3BA263838C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1716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1654" y="1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B38EBD9A-77E5-4352-9685-9DCF1AB5D0AE}" type="datetimeFigureOut">
              <a:rPr lang="en-US"/>
              <a:pPr>
                <a:defRPr/>
              </a:pPr>
              <a:t>3/28/2022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36" tIns="46568" rIns="93136" bIns="46568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0881" y="4415157"/>
            <a:ext cx="5608640" cy="4183696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30312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1654" y="8830312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4A7289C4-4137-4B30-96C9-7C06C82291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3213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aseline="0" dirty="0"/>
          </a:p>
        </p:txBody>
      </p:sp>
    </p:spTree>
    <p:extLst>
      <p:ext uri="{BB962C8B-B14F-4D97-AF65-F5344CB8AC3E}">
        <p14:creationId xmlns:p14="http://schemas.microsoft.com/office/powerpoint/2010/main" val="1800767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3931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3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1269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4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22892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5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7873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 txBox="1">
            <a:spLocks noGrp="1"/>
          </p:cNvSpPr>
          <p:nvPr>
            <p:ph type="hdr" idx="2"/>
          </p:nvPr>
        </p:nvSpPr>
        <p:spPr>
          <a:xfrm>
            <a:off x="0" y="1"/>
            <a:ext cx="3013684" cy="465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ENGG404 2015W</a:t>
            </a:r>
            <a:endParaRPr/>
          </a:p>
        </p:txBody>
      </p:sp>
      <p:sp>
        <p:nvSpPr>
          <p:cNvPr id="179" name="Google Shape;179;p6:notes"/>
          <p:cNvSpPr txBox="1">
            <a:spLocks noGrp="1"/>
          </p:cNvSpPr>
          <p:nvPr>
            <p:ph type="ftr" idx="11"/>
          </p:nvPr>
        </p:nvSpPr>
        <p:spPr>
          <a:xfrm>
            <a:off x="0" y="8843751"/>
            <a:ext cx="3013684" cy="463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15-Jan-2015</a:t>
            </a:r>
            <a:endParaRPr/>
          </a:p>
        </p:txBody>
      </p:sp>
      <p:sp>
        <p:nvSpPr>
          <p:cNvPr id="180" name="Google Shape;180;p6:notes"/>
          <p:cNvSpPr txBox="1">
            <a:spLocks noGrp="1"/>
          </p:cNvSpPr>
          <p:nvPr>
            <p:ph type="sldNum" idx="12"/>
          </p:nvPr>
        </p:nvSpPr>
        <p:spPr>
          <a:xfrm>
            <a:off x="3939968" y="8843751"/>
            <a:ext cx="3013684" cy="463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6:notes"/>
          <p:cNvSpPr txBox="1">
            <a:spLocks noGrp="1"/>
          </p:cNvSpPr>
          <p:nvPr>
            <p:ph type="dt" idx="10"/>
          </p:nvPr>
        </p:nvSpPr>
        <p:spPr>
          <a:xfrm>
            <a:off x="3939968" y="1"/>
            <a:ext cx="3013684" cy="465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6/26/2019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6:notes"/>
          <p:cNvSpPr txBox="1"/>
          <p:nvPr/>
        </p:nvSpPr>
        <p:spPr>
          <a:xfrm>
            <a:off x="3939968" y="8843751"/>
            <a:ext cx="3013684" cy="463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6:notes"/>
          <p:cNvSpPr txBox="1"/>
          <p:nvPr/>
        </p:nvSpPr>
        <p:spPr>
          <a:xfrm>
            <a:off x="3941155" y="8843751"/>
            <a:ext cx="3013684" cy="465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6:notes"/>
          <p:cNvSpPr>
            <a:spLocks noGrp="1" noRot="1" noChangeAspect="1"/>
          </p:cNvSpPr>
          <p:nvPr>
            <p:ph type="sldImg" idx="3"/>
          </p:nvPr>
        </p:nvSpPr>
        <p:spPr>
          <a:xfrm>
            <a:off x="1150938" y="696913"/>
            <a:ext cx="4652962" cy="34909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5" name="Google Shape;185;p6:notes"/>
          <p:cNvSpPr txBox="1">
            <a:spLocks noGrp="1"/>
          </p:cNvSpPr>
          <p:nvPr>
            <p:ph type="body" idx="1"/>
          </p:nvPr>
        </p:nvSpPr>
        <p:spPr>
          <a:xfrm>
            <a:off x="927470" y="4421876"/>
            <a:ext cx="5099898" cy="419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313421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 txBox="1">
            <a:spLocks noGrp="1"/>
          </p:cNvSpPr>
          <p:nvPr>
            <p:ph type="hdr" idx="2"/>
          </p:nvPr>
        </p:nvSpPr>
        <p:spPr>
          <a:xfrm>
            <a:off x="0" y="1"/>
            <a:ext cx="3013684" cy="465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ENGG404 2015W</a:t>
            </a:r>
            <a:endParaRPr/>
          </a:p>
        </p:txBody>
      </p:sp>
      <p:sp>
        <p:nvSpPr>
          <p:cNvPr id="179" name="Google Shape;179;p6:notes"/>
          <p:cNvSpPr txBox="1">
            <a:spLocks noGrp="1"/>
          </p:cNvSpPr>
          <p:nvPr>
            <p:ph type="ftr" idx="11"/>
          </p:nvPr>
        </p:nvSpPr>
        <p:spPr>
          <a:xfrm>
            <a:off x="0" y="8843751"/>
            <a:ext cx="3013684" cy="463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15-Jan-2015</a:t>
            </a:r>
            <a:endParaRPr/>
          </a:p>
        </p:txBody>
      </p:sp>
      <p:sp>
        <p:nvSpPr>
          <p:cNvPr id="180" name="Google Shape;180;p6:notes"/>
          <p:cNvSpPr txBox="1">
            <a:spLocks noGrp="1"/>
          </p:cNvSpPr>
          <p:nvPr>
            <p:ph type="sldNum" idx="12"/>
          </p:nvPr>
        </p:nvSpPr>
        <p:spPr>
          <a:xfrm>
            <a:off x="3939968" y="8843751"/>
            <a:ext cx="3013684" cy="463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6:notes"/>
          <p:cNvSpPr txBox="1">
            <a:spLocks noGrp="1"/>
          </p:cNvSpPr>
          <p:nvPr>
            <p:ph type="dt" idx="10"/>
          </p:nvPr>
        </p:nvSpPr>
        <p:spPr>
          <a:xfrm>
            <a:off x="3939968" y="1"/>
            <a:ext cx="3013684" cy="465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6/26/2019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6:notes"/>
          <p:cNvSpPr txBox="1"/>
          <p:nvPr/>
        </p:nvSpPr>
        <p:spPr>
          <a:xfrm>
            <a:off x="3939968" y="8843751"/>
            <a:ext cx="3013684" cy="463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6:notes"/>
          <p:cNvSpPr txBox="1"/>
          <p:nvPr/>
        </p:nvSpPr>
        <p:spPr>
          <a:xfrm>
            <a:off x="3941155" y="8843751"/>
            <a:ext cx="3013684" cy="465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6:notes"/>
          <p:cNvSpPr>
            <a:spLocks noGrp="1" noRot="1" noChangeAspect="1"/>
          </p:cNvSpPr>
          <p:nvPr>
            <p:ph type="sldImg" idx="3"/>
          </p:nvPr>
        </p:nvSpPr>
        <p:spPr>
          <a:xfrm>
            <a:off x="1150938" y="696913"/>
            <a:ext cx="4652962" cy="34909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5" name="Google Shape;185;p6:notes"/>
          <p:cNvSpPr txBox="1">
            <a:spLocks noGrp="1"/>
          </p:cNvSpPr>
          <p:nvPr>
            <p:ph type="body" idx="1"/>
          </p:nvPr>
        </p:nvSpPr>
        <p:spPr>
          <a:xfrm>
            <a:off x="927470" y="4421876"/>
            <a:ext cx="5099898" cy="419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026960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8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80188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9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2312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10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30270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11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625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12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96248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13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26198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14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0161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15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5101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16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76594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869224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39439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07772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31946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29228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4093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05000"/>
            <a:ext cx="7772400" cy="1470025"/>
          </a:xfrm>
        </p:spPr>
        <p:txBody>
          <a:bodyPr/>
          <a:lstStyle>
            <a:lvl1pPr>
              <a:spcBef>
                <a:spcPct val="20000"/>
              </a:spcBef>
              <a:defRPr sz="3600" smtClean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mtClean="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9349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389" y="1120588"/>
            <a:ext cx="8153400" cy="5105400"/>
          </a:xfrm>
          <a:prstGeom prst="rect">
            <a:avLst/>
          </a:prstGeom>
        </p:spPr>
        <p:txBody>
          <a:bodyPr/>
          <a:lstStyle>
            <a:lvl1pPr marL="342900" indent="-342900">
              <a:buClrTx/>
              <a:buFont typeface="Wingdings" charset="2"/>
              <a:buChar char="§"/>
              <a:defRPr sz="2400">
                <a:solidFill>
                  <a:schemeClr val="tx1"/>
                </a:solidFill>
              </a:defRPr>
            </a:lvl1pPr>
            <a:lvl2pPr marL="742950" indent="-285750">
              <a:buClrTx/>
              <a:buFont typeface="Arial"/>
              <a:buChar char="•"/>
              <a:defRPr sz="2200">
                <a:solidFill>
                  <a:schemeClr val="tx1"/>
                </a:solidFill>
              </a:defRPr>
            </a:lvl2pPr>
            <a:lvl3pPr marL="1143000" indent="-228600">
              <a:buClrTx/>
              <a:buFont typeface="Arial"/>
              <a:buChar char="•"/>
              <a:defRPr sz="2000">
                <a:solidFill>
                  <a:schemeClr val="tx1"/>
                </a:solidFill>
              </a:defRPr>
            </a:lvl3pPr>
            <a:lvl4pPr marL="16002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0803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168275"/>
            <a:ext cx="82296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77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8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13579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118CC2-884A-4430-8B4F-9976F3C29C24}" type="datetimeFigureOut">
              <a:rPr lang="en-US"/>
              <a:pPr>
                <a:defRPr/>
              </a:pPr>
              <a:t>3/28/2022</a:t>
            </a:fld>
            <a:endParaRPr lang="en-US"/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823322-A425-42F9-B4E6-DE1BA6748F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8737125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68275"/>
            <a:ext cx="81534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enter page Title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76200" y="7620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"/>
          <p:cNvCxnSpPr/>
          <p:nvPr/>
        </p:nvCxnSpPr>
        <p:spPr>
          <a:xfrm>
            <a:off x="76200" y="62484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http://www.nanobridge.ca/Portals/0/Images/eng-logo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6307038"/>
            <a:ext cx="1838325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9" r:id="rId1"/>
    <p:sldLayoutId id="2147484147" r:id="rId2"/>
    <p:sldLayoutId id="2147484148" r:id="rId3"/>
    <p:sldLayoutId id="2147484150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AA9C8F"/>
        </a:buClr>
        <a:buFont typeface="Wingdings" pitchFamily="2" charset="2"/>
        <a:buChar char="§"/>
        <a:defRPr sz="2800">
          <a:solidFill>
            <a:srgbClr val="4D4D4D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600">
          <a:solidFill>
            <a:schemeClr val="tx1"/>
          </a:solidFill>
          <a:latin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228600" y="838200"/>
            <a:ext cx="8610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CA" altLang="en-US" i="1" kern="0" dirty="0" smtClean="0">
                <a:solidFill>
                  <a:srgbClr val="000099"/>
                </a:solidFill>
                <a:ea typeface="ＭＳ Ｐゴシック" panose="020B0600070205080204" pitchFamily="34" charset="-128"/>
              </a:rPr>
              <a:t>On Becoming a </a:t>
            </a:r>
            <a:br>
              <a:rPr lang="en-CA" altLang="en-US" i="1" kern="0" dirty="0" smtClean="0">
                <a:solidFill>
                  <a:srgbClr val="000099"/>
                </a:solidFill>
                <a:ea typeface="ＭＳ Ｐゴシック" panose="020B0600070205080204" pitchFamily="34" charset="-128"/>
              </a:rPr>
            </a:br>
            <a:r>
              <a:rPr lang="en-CA" altLang="en-US" i="1" kern="0" dirty="0" smtClean="0">
                <a:solidFill>
                  <a:srgbClr val="000099"/>
                </a:solidFill>
                <a:ea typeface="ＭＳ Ｐゴシック" panose="020B0600070205080204" pitchFamily="34" charset="-128"/>
              </a:rPr>
              <a:t>Leader in Risk Management</a:t>
            </a:r>
            <a:endParaRPr lang="en-US" altLang="en-US" i="1" kern="0" dirty="0">
              <a:solidFill>
                <a:srgbClr val="000099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1116887" y="2105520"/>
            <a:ext cx="6884113" cy="2161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ENGG404 - </a:t>
            </a:r>
            <a:r>
              <a:rPr lang="en-US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Lecture</a:t>
            </a:r>
          </a:p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Case </a:t>
            </a:r>
            <a:r>
              <a:rPr lang="en-US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16: Lithium ion Battery Fires in Electric Vehicles</a:t>
            </a:r>
            <a:endParaRPr lang="en-US" altLang="en-US" sz="3200" b="1" dirty="0">
              <a:solidFill>
                <a:schemeClr val="tx2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837290-7F22-4D42-BFDD-D5AD4C09C01F}"/>
              </a:ext>
            </a:extLst>
          </p:cNvPr>
          <p:cNvSpPr txBox="1"/>
          <p:nvPr/>
        </p:nvSpPr>
        <p:spPr>
          <a:xfrm>
            <a:off x="152402" y="176015"/>
            <a:ext cx="1176817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/>
              <a:t>Fundamentals of RM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18FDCA-D6EA-3540-8AE2-F6CD31336ABE}"/>
              </a:ext>
            </a:extLst>
          </p:cNvPr>
          <p:cNvSpPr txBox="1"/>
          <p:nvPr/>
        </p:nvSpPr>
        <p:spPr>
          <a:xfrm>
            <a:off x="1481037" y="169908"/>
            <a:ext cx="1024999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System and Process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BC740A-AE56-7744-84D0-32724BDFA21D}"/>
              </a:ext>
            </a:extLst>
          </p:cNvPr>
          <p:cNvSpPr txBox="1"/>
          <p:nvPr/>
        </p:nvSpPr>
        <p:spPr>
          <a:xfrm>
            <a:off x="7874130" y="169908"/>
            <a:ext cx="1155550" cy="46166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/>
              <a:t>Application and Perspectives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7D91E5-FF6E-C346-BD54-1494F0C62548}"/>
              </a:ext>
            </a:extLst>
          </p:cNvPr>
          <p:cNvSpPr txBox="1"/>
          <p:nvPr/>
        </p:nvSpPr>
        <p:spPr>
          <a:xfrm>
            <a:off x="7051217" y="169908"/>
            <a:ext cx="671096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People &amp; Org.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457A8C-8AD1-BC48-A393-2CA6461462C7}"/>
              </a:ext>
            </a:extLst>
          </p:cNvPr>
          <p:cNvSpPr txBox="1"/>
          <p:nvPr/>
        </p:nvSpPr>
        <p:spPr>
          <a:xfrm>
            <a:off x="3834670" y="169908"/>
            <a:ext cx="1024999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Incident Investigation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E14612-2C60-CA49-88DC-A40274E52BE8}"/>
              </a:ext>
            </a:extLst>
          </p:cNvPr>
          <p:cNvSpPr txBox="1"/>
          <p:nvPr/>
        </p:nvSpPr>
        <p:spPr>
          <a:xfrm>
            <a:off x="5011486" y="169908"/>
            <a:ext cx="1024999" cy="46166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/>
              <a:t>RM Tools &amp; Challenges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8AF929-DEC8-B045-BD5C-00378213E2AE}"/>
              </a:ext>
            </a:extLst>
          </p:cNvPr>
          <p:cNvSpPr txBox="1"/>
          <p:nvPr/>
        </p:nvSpPr>
        <p:spPr>
          <a:xfrm>
            <a:off x="2657853" y="170432"/>
            <a:ext cx="1024999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Leadership in RM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94E84B9-8682-8C4B-A72E-1FFEAF78256B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1329217" y="400741"/>
            <a:ext cx="151818" cy="6107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CED6320-D6B4-374B-AE59-18735BF60E66}"/>
              </a:ext>
            </a:extLst>
          </p:cNvPr>
          <p:cNvCxnSpPr>
            <a:stCxn id="10" idx="3"/>
            <a:endCxn id="15" idx="1"/>
          </p:cNvCxnSpPr>
          <p:nvPr/>
        </p:nvCxnSpPr>
        <p:spPr>
          <a:xfrm>
            <a:off x="2506036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A27112B-E9F0-2348-9B20-FB76B2277E3D}"/>
              </a:ext>
            </a:extLst>
          </p:cNvPr>
          <p:cNvCxnSpPr>
            <a:stCxn id="15" idx="3"/>
            <a:endCxn id="13" idx="1"/>
          </p:cNvCxnSpPr>
          <p:nvPr/>
        </p:nvCxnSpPr>
        <p:spPr>
          <a:xfrm flipV="1">
            <a:off x="3682853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6FCC88D-6DFA-474E-80EC-662B2D4B909B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4859669" y="400741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CA7384E-C04D-ED41-9740-B0199EA1890A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6036485" y="400740"/>
            <a:ext cx="151816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37C1AD4-35C5-B84F-A011-FC352A9DC134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6899402" y="400741"/>
            <a:ext cx="151817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40B8989-9D9A-DE41-B118-0BB225CC7043}"/>
              </a:ext>
            </a:extLst>
          </p:cNvPr>
          <p:cNvCxnSpPr>
            <a:stCxn id="12" idx="3"/>
            <a:endCxn id="11" idx="1"/>
          </p:cNvCxnSpPr>
          <p:nvPr/>
        </p:nvCxnSpPr>
        <p:spPr>
          <a:xfrm>
            <a:off x="7722315" y="400739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97011C2-9A0B-664B-83CB-DE2410B86B87}"/>
              </a:ext>
            </a:extLst>
          </p:cNvPr>
          <p:cNvSpPr txBox="1"/>
          <p:nvPr/>
        </p:nvSpPr>
        <p:spPr>
          <a:xfrm>
            <a:off x="6188301" y="169907"/>
            <a:ext cx="692362" cy="46166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/>
              <a:t>RM in Industry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182" y="4114800"/>
            <a:ext cx="1766671" cy="1766671"/>
          </a:xfrm>
          <a:prstGeom prst="rect">
            <a:avLst/>
          </a:prstGeom>
        </p:spPr>
      </p:pic>
      <p:pic>
        <p:nvPicPr>
          <p:cNvPr id="25" name="Picture 24" descr="Introduction to Sociology - 2013 - The Collaboratory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500" y="4114613"/>
            <a:ext cx="2590300" cy="176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937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Explain the technical safety aspects of lithium ion battery fires and why they are considered a low frequency, high consequence risk scenario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Describe the bow tie approach for depicting key concepts in risk management 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Apply the prevention through design (PTD) concept for the future of electric vehicle batteries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Learning </a:t>
            </a: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Outcomes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Case 16: Lithium Ion Battery Fires in Electric Vehicles 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34127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Superior attributes of Lithium ion battery </a:t>
            </a:r>
            <a:endParaRPr lang="en-US" altLang="en-US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Higher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current, voltage, power and energy 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density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Reduced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cost, weight and 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pollution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Lack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of memory 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effect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Excellent stability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Low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self-discharge 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rate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Prolonged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life cycle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endParaRPr lang="en-US" altLang="en-US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Used in a variety of applications</a:t>
            </a:r>
            <a:endParaRPr lang="en-US" altLang="en-US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Small cells in consumer electronics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Large scale packs in the electrification of road transport and smart grids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Managing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peaks and valleys associated with output from wind and solar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Introduction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Case 16: Lithium Ion Battery Fires in Electric Vehicles 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6483011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76200" y="828000"/>
            <a:ext cx="4544400" cy="458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ells produce an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electric current by converting chemical energy into electrical 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energy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Two electrodes</a:t>
            </a:r>
          </a:p>
          <a:p>
            <a:pPr marL="493350" lvl="1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</a:pP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Negative (anode) -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typically made of carbon (graphite)</a:t>
            </a:r>
          </a:p>
          <a:p>
            <a:pPr marL="493350" lvl="1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</a:pP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Positive (cathode) -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generally consists of layers of lithium and metal oxide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ermeable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barrier between the electrodes prevents internal 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short-circuiting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Electrolyte transfers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charged ions between the 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electrodes. It consists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of a lithium salt dissolved in an organic solvent, mainly carbonates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Energy is related to the chemistry and construction of the LIB cell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Battery Design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Case 16: Lithium Ion Battery Fires in Electric Vehicles 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pic>
        <p:nvPicPr>
          <p:cNvPr id="6" name="Picture 5"/>
          <p:cNvPicPr/>
          <p:nvPr/>
        </p:nvPicPr>
        <p:blipFill rotWithShape="1">
          <a:blip r:embed="rId3"/>
          <a:srcRect l="50593" t="4088" r="2879" b="12534"/>
          <a:stretch/>
        </p:blipFill>
        <p:spPr bwMode="auto">
          <a:xfrm>
            <a:off x="4615071" y="1371600"/>
            <a:ext cx="4495799" cy="355973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48801799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76200" y="838200"/>
            <a:ext cx="8964000" cy="481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Overview </a:t>
            </a:r>
            <a:endParaRPr lang="en-US" altLang="en-US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Volatile organic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electrolyte 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solution (hazardous)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Short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circuit or high operating 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temp.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can lead to exothermic 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reactions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Worst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case 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scenario - battery catches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fire or 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explodes (low frequency)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Different fire in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terms of initiation, spread, duration, 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toxicity &amp; suppression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Increase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 fire risk is proportional to the increase in the mass and capacity of the battery (the fuel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)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Last two decades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Variety of fires (small consumer electronics to large power systems)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Initial concerns with portable devices (cell phones and laptops)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Sony (2006) recalled 9.6 million notebooks with LIBs 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($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400 million)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Samsung (2016) recalled 2.5 million Note 7 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smartphones ($17bn)</a:t>
            </a:r>
            <a:endParaRPr 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Boeing 787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Dreamliner 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grounding in 2013 (1.1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million 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USD/day loss)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Variety of electric vehicle fires including Chevy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Volt and Tesla Model 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</a:t>
            </a:r>
            <a:endParaRPr 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LIB Fires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Case 16: Lithium Ion Battery Fires in Electric Vehicles 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6516909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"/>
          <p:cNvSpPr/>
          <p:nvPr/>
        </p:nvSpPr>
        <p:spPr>
          <a:xfrm>
            <a:off x="0" y="4659313"/>
            <a:ext cx="269875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Electric Vehicle LIB related Fires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1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313" y="914400"/>
            <a:ext cx="8696325" cy="3333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585851"/>
            <a:ext cx="914399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eaLnBrk="0" hangingPunct="0">
              <a:spcBef>
                <a:spcPts val="0"/>
              </a:spcBef>
              <a:buClr>
                <a:srgbClr val="000000"/>
              </a:buClr>
              <a:buSzPct val="100000"/>
            </a:pPr>
            <a:r>
              <a:rPr 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a) A </a:t>
            </a:r>
            <a:r>
              <a:rPr 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Renault-Samsung </a:t>
            </a:r>
            <a:r>
              <a:rPr 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EV </a:t>
            </a:r>
            <a:r>
              <a:rPr 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caught fire while driving (January 2016, Korea)</a:t>
            </a:r>
          </a:p>
          <a:p>
            <a:pPr marR="0" eaLnBrk="0" hangingPunct="0">
              <a:spcBef>
                <a:spcPts val="0"/>
              </a:spcBef>
              <a:buClr>
                <a:srgbClr val="000000"/>
              </a:buClr>
              <a:buSzPct val="100000"/>
            </a:pPr>
            <a:r>
              <a:rPr 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b) A </a:t>
            </a:r>
            <a:r>
              <a:rPr 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pure battery electric bus caught fire in a charging station (April 2015, Shenzhen, China)</a:t>
            </a:r>
          </a:p>
        </p:txBody>
      </p:sp>
      <p:sp>
        <p:nvSpPr>
          <p:cNvPr id="7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Case 16: Lithium Ion Battery Fires in Electric Vehicles 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6514420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"/>
          <p:cNvSpPr/>
          <p:nvPr/>
        </p:nvSpPr>
        <p:spPr>
          <a:xfrm>
            <a:off x="0" y="4659313"/>
            <a:ext cx="269875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Electric Vehicle LIB related Fires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1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56162"/>
            <a:ext cx="7658100" cy="45529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497425"/>
            <a:ext cx="9143999" cy="75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eaLnBrk="0" hangingPunct="0">
              <a:lnSpc>
                <a:spcPct val="107000"/>
              </a:lnSpc>
              <a:spcBef>
                <a:spcPts val="0"/>
              </a:spcBef>
              <a:buClr>
                <a:srgbClr val="000000"/>
              </a:buClr>
              <a:buSzPct val="100000"/>
            </a:pPr>
            <a:r>
              <a:rPr 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c) A Tesla Model S released smokes while being driven (June 2018, California)</a:t>
            </a:r>
          </a:p>
          <a:p>
            <a:pPr marL="0" eaLnBrk="0" hangingPunct="0">
              <a:lnSpc>
                <a:spcPct val="107000"/>
              </a:lnSpc>
              <a:spcBef>
                <a:spcPts val="0"/>
              </a:spcBef>
              <a:buClr>
                <a:srgbClr val="000000"/>
              </a:buClr>
              <a:buSzPct val="100000"/>
            </a:pPr>
            <a:r>
              <a:rPr 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d) EV fire in a parking lot (May 2018, Hangzhou, China)</a:t>
            </a:r>
          </a:p>
        </p:txBody>
      </p:sp>
      <p:sp>
        <p:nvSpPr>
          <p:cNvPr id="7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Case 16: Lithium Ion Battery Fires in Electric Vehicles 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1462605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980400"/>
            <a:ext cx="8640000" cy="420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EV battery packs are usually composed of thousands of single 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cells</a:t>
            </a:r>
          </a:p>
          <a:p>
            <a:pPr marL="36000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 thermal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runaway (TR) 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can initiate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 a single cell and propagates to other cells in the 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pack</a:t>
            </a:r>
          </a:p>
          <a:p>
            <a:pPr marL="36000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LIB temp. reaches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 critical value such that the reaction rate of an exothermic reaction increases the 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temp. &amp; accelerates the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reaction 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rate</a:t>
            </a:r>
          </a:p>
          <a:p>
            <a:pPr marL="36000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fast process that occurs at a time scale &lt;2 s, leading in most cases to battery rupture in less &lt;0.01 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</a:t>
            </a:r>
          </a:p>
          <a:p>
            <a:pPr marL="36000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Triggers for LIB TR</a:t>
            </a:r>
          </a:p>
          <a:p>
            <a:pPr marL="419100" lvl="1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External abuse (mechanical, thermal, electrical)</a:t>
            </a:r>
          </a:p>
          <a:p>
            <a:pPr marL="419100" lvl="1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Internal failure (defects, self-heating)</a:t>
            </a: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20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Critical for LIB to balance heat generation with heat dissipation</a:t>
            </a:r>
          </a:p>
          <a:p>
            <a:pPr marL="432000" indent="-432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Thermal Runaway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Case 16: Lithium Ion Battery Fires in Electric Vehicles 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8886276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Chain of Events after abusing a LIB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/>
          <p:nvPr/>
        </p:nvPicPr>
        <p:blipFill rotWithShape="1">
          <a:blip r:embed="rId3"/>
          <a:srcRect b="9251"/>
          <a:stretch/>
        </p:blipFill>
        <p:spPr bwMode="auto">
          <a:xfrm>
            <a:off x="246086" y="990600"/>
            <a:ext cx="8584800" cy="47244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Case 16: Lithium Ion Battery Fires in Electric Vehicles 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5630278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18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Methodology has been used for over 20 years</a:t>
            </a: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Builds on the Swiss cheese model</a:t>
            </a: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Shows how a hazard can be released, escalate &amp; controlled</a:t>
            </a: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Helps communicate how to control major accident hazards </a:t>
            </a: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Barriers required to either manage hazard or prevent/mitigate consequences</a:t>
            </a:r>
            <a:endParaRPr lang="en-US" altLang="en-US" sz="20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Effective communication tool for leadership in ESRM</a:t>
            </a: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20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Bow tie components:</a:t>
            </a:r>
          </a:p>
          <a:p>
            <a:pPr marL="720000" lvl="2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eriod"/>
            </a:pPr>
            <a:r>
              <a:rPr lang="en-US" sz="2000" b="0" i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Hazard</a:t>
            </a:r>
            <a:r>
              <a:rPr lang="en-US" sz="2000" b="0" i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</a:t>
            </a:r>
            <a:r>
              <a:rPr lang="en-US" sz="2000" b="0" i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 source of energy has </a:t>
            </a:r>
            <a:r>
              <a:rPr lang="en-US" sz="2000" b="0" i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potential to cause </a:t>
            </a:r>
            <a:r>
              <a:rPr lang="en-US" sz="2000" b="0" i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harm</a:t>
            </a:r>
            <a:endParaRPr lang="en-US" sz="2000" b="0" i="1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lvl="2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eriod"/>
            </a:pPr>
            <a:r>
              <a:rPr lang="en-US" sz="2000" b="0" i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Top Event: </a:t>
            </a:r>
            <a:r>
              <a:rPr lang="en-US" sz="2000" b="0" i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 </a:t>
            </a:r>
            <a:r>
              <a:rPr lang="en-US" sz="2000" b="0" i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happens when the hazard is </a:t>
            </a:r>
            <a:r>
              <a:rPr lang="en-US" sz="2000" b="0" i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released</a:t>
            </a:r>
          </a:p>
          <a:p>
            <a:pPr marL="720000" lvl="2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eriod"/>
            </a:pPr>
            <a:r>
              <a:rPr lang="en-US" sz="2000" b="0" i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Threats: what </a:t>
            </a:r>
            <a:r>
              <a:rPr lang="en-US" sz="2000" b="0" i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causes the hazard to be </a:t>
            </a:r>
            <a:r>
              <a:rPr lang="en-US" sz="2000" b="0" i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released</a:t>
            </a:r>
          </a:p>
          <a:p>
            <a:pPr marL="720000" lvl="2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eriod"/>
            </a:pPr>
            <a:r>
              <a:rPr lang="en-US" sz="2000" b="0" i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Consequences: PEAP impacts</a:t>
            </a:r>
          </a:p>
          <a:p>
            <a:pPr marL="720000" lvl="2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eriod"/>
            </a:pPr>
            <a:r>
              <a:rPr lang="en-US" sz="2000" b="0" i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Threat </a:t>
            </a:r>
            <a:r>
              <a:rPr lang="en-US" sz="2000" b="0" i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controls: prevent </a:t>
            </a:r>
            <a:r>
              <a:rPr lang="en-US" sz="2000" b="0" i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hazard from being </a:t>
            </a:r>
            <a:r>
              <a:rPr lang="en-US" sz="2000" b="0" i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released</a:t>
            </a:r>
          </a:p>
          <a:p>
            <a:pPr marL="720000" lvl="2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eriod"/>
            </a:pPr>
            <a:r>
              <a:rPr lang="en-US" sz="2000" b="0" i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Recovery </a:t>
            </a:r>
            <a:r>
              <a:rPr lang="en-US" sz="2000" b="0" i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measures: limit </a:t>
            </a:r>
            <a:r>
              <a:rPr lang="en-US" sz="2000" b="0" i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severity of the event and minimize </a:t>
            </a:r>
            <a:r>
              <a:rPr lang="en-US" sz="2000" b="0" i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impacts</a:t>
            </a:r>
            <a:endParaRPr lang="en-US" sz="2000" b="0" i="1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60050" lvl="2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sz="20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60050" lvl="2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sz="20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60050" lvl="2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sz="20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60050" lvl="2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sz="20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60050" lvl="2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20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Bow Tie Risk Tool Overview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Case 16: Lithium Ion Battery Fires in Electric Vehicles 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9385852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Simplified Bow Tie Diagram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533400" y="1066800"/>
            <a:ext cx="7848600" cy="4495800"/>
          </a:xfrm>
          <a:prstGeom prst="rect">
            <a:avLst/>
          </a:prstGeom>
        </p:spPr>
      </p:pic>
      <p:sp>
        <p:nvSpPr>
          <p:cNvPr id="6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Case 16: Lithium Ion Battery Fires in Electric Vehicles 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0202219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  <a:extLst/>
        </p:spPr>
        <p:txBody>
          <a:bodyPr anchor="t" anchorCtr="0"/>
          <a:lstStyle/>
          <a:p>
            <a:pPr>
              <a:buFont typeface="Arial" panose="020B0604020202020204" pitchFamily="34" charset="0"/>
              <a:buNone/>
            </a:pPr>
            <a:r>
              <a:rPr lang="en-US" altLang="en-US" b="0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confer: select one of the 5 components, discuss, and respond (Chat-Open):</a:t>
            </a:r>
            <a:endParaRPr lang="en-US" altLang="en-US" b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  <a:extLst/>
        </p:spPr>
        <p:txBody>
          <a:bodyPr anchor="ctr"/>
          <a:lstStyle/>
          <a:p>
            <a:pPr>
              <a:buFont typeface="Arial" panose="020B0604020202020204" pitchFamily="34" charset="0"/>
              <a:buNone/>
            </a:pPr>
            <a:r>
              <a:rPr lang="en-US" altLang="en-US" sz="2400" b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ALE #1: Construct a Bow-Tie for a LIB Fire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Case 16: Lithium Ion Battery Fires in Electric Vehicles 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pic>
        <p:nvPicPr>
          <p:cNvPr id="7" name="Picture 6"/>
          <p:cNvPicPr/>
          <p:nvPr/>
        </p:nvPicPr>
        <p:blipFill>
          <a:blip r:embed="rId3"/>
          <a:stretch>
            <a:fillRect/>
          </a:stretch>
        </p:blipFill>
        <p:spPr>
          <a:xfrm>
            <a:off x="2209800" y="3810000"/>
            <a:ext cx="4495800" cy="2286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80000" y="1905000"/>
            <a:ext cx="1572600" cy="179700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1"/>
          <a:lstStyle/>
          <a:p>
            <a:pPr algn="ctr"/>
            <a:r>
              <a:rPr lang="en-US" sz="1400" dirty="0" smtClean="0">
                <a:solidFill>
                  <a:schemeClr val="bg1"/>
                </a:solidFill>
              </a:rPr>
              <a:t>Threats?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162800" y="1914144"/>
            <a:ext cx="1657200" cy="17970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1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Consequences?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257800" y="1923288"/>
            <a:ext cx="1828800" cy="179700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1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Recovery Measures?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790700" y="1941000"/>
            <a:ext cx="2019300" cy="1761000"/>
          </a:xfrm>
          <a:prstGeom prst="rect">
            <a:avLst/>
          </a:prstGeom>
          <a:solidFill>
            <a:srgbClr val="FBA3E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1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Controls?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3899328" y="2169000"/>
            <a:ext cx="1260000" cy="126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400" dirty="0" smtClean="0">
                <a:solidFill>
                  <a:schemeClr val="bg1"/>
                </a:solidFill>
              </a:rPr>
              <a:t>Top Event?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352800" y="1322728"/>
            <a:ext cx="2286000" cy="54056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1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Hazard?</a:t>
            </a: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602043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Simplified Bow Tie Diagram for EV LIB fire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Case 16: Lithium Ion Battery Fires in Electric Vehicles 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000" y="1008000"/>
            <a:ext cx="8640000" cy="2399084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4"/>
          <a:stretch>
            <a:fillRect/>
          </a:stretch>
        </p:blipFill>
        <p:spPr>
          <a:xfrm>
            <a:off x="2209800" y="3695084"/>
            <a:ext cx="4572000" cy="2400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99684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1066800"/>
            <a:ext cx="8633400" cy="420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Preventing battery failure which sometimes lead to TR &amp; fires has remained a challenge for LIBs</a:t>
            </a: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Recall PTD focus is to “engineer out the hazards” through our designs</a:t>
            </a: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PTD focus area is battery chemistry and design to prevent TR fires</a:t>
            </a: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20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PTD with inherently safer materials:</a:t>
            </a:r>
          </a:p>
          <a:p>
            <a:pPr marL="760050" lvl="2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</a:pPr>
            <a:r>
              <a:rPr 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Cathode chemistry</a:t>
            </a:r>
          </a:p>
          <a:p>
            <a:pPr marL="760050" lvl="2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</a:pPr>
            <a:r>
              <a:rPr 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Modified separators</a:t>
            </a:r>
          </a:p>
          <a:p>
            <a:pPr marL="760050" lvl="2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</a:pPr>
            <a:r>
              <a:rPr 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Modified electrolytes</a:t>
            </a:r>
          </a:p>
          <a:p>
            <a:pPr marL="760050" lvl="2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</a:pPr>
            <a:r>
              <a:rPr 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Solid state batteries</a:t>
            </a:r>
          </a:p>
          <a:p>
            <a:pPr marL="760050" lvl="2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60050" lvl="2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60050" lvl="2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60050" lvl="2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60050" lvl="2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Prevention Through Design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Case 16: Lithium Ion Battery Fires in Electric Vehicles 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0" y="3352475"/>
            <a:ext cx="4317600" cy="243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96764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Potential PTD Opportunities for LIBs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Google Shape;125;p2"/>
          <p:cNvSpPr/>
          <p:nvPr/>
        </p:nvSpPr>
        <p:spPr>
          <a:xfrm>
            <a:off x="2700000" y="63246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Case 16: Lithium Ion Battery Fires in Electric Vehicles 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893362"/>
            <a:ext cx="8191500" cy="5226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75982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73400" y="990600"/>
            <a:ext cx="8640000" cy="336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LIB technology is superior but the current designs have the risk of a low frequency, high consequence risk event (fires to thermal runaway)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 variety of LIB-related fires have occurred over the last two decades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 bow tie diagram provides a</a:t>
            </a:r>
            <a:r>
              <a:rPr lang="en-CA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CA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simple visual depiction of a complex </a:t>
            </a:r>
            <a:r>
              <a:rPr lang="en-CA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situation (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especially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when dealing with non-specialists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)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Prevention through design opportunities are in the area of inherently safer design that reduce the frequency of LIB-related fires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Summary &amp; Key </a:t>
            </a: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Lessons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Case 16: Lithium Ion Battery Fires in Electric Vehicles 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476649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523682497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Back up Slides 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5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Case 16: Lithium Ion Battery Fires in Electric Vehicles 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7073005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Typical EV Battery Cells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000" y="977400"/>
            <a:ext cx="5143500" cy="5029200"/>
          </a:xfrm>
          <a:prstGeom prst="rect">
            <a:avLst/>
          </a:prstGeom>
        </p:spPr>
      </p:pic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5323500" y="1295400"/>
            <a:ext cx="3630000" cy="415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457200" indent="-4572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lphaLcParenR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Pouch cell</a:t>
            </a:r>
          </a:p>
          <a:p>
            <a:pPr marL="457200" indent="-4572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lphaLcParenR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Prismatic cell</a:t>
            </a:r>
          </a:p>
          <a:p>
            <a:pPr marL="457200" indent="-4572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lphaLcParenR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Cylindrical cell</a:t>
            </a:r>
          </a:p>
          <a:p>
            <a:pPr marL="457200" indent="-4572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lphaLcParenR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Approximate battery size in popular EVs</a:t>
            </a:r>
          </a:p>
          <a:p>
            <a:pPr marL="457200" indent="-4572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lphaLcParenR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Fully assembled LG 60kWh battery pack (288 prismatic cells)</a:t>
            </a:r>
          </a:p>
          <a:p>
            <a:pPr marL="457200" indent="-4572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lphaLcParenR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Tesla battery module</a:t>
            </a:r>
          </a:p>
          <a:p>
            <a:pPr marL="457200" indent="-4572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lphaLcParenR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Nissan Leaf battery pack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7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Case 16: Lithium Ion Battery Fires in Electric Vehicles 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9019688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Multi-cell pack for Tesla Model S 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l="2383" t="1566" b="1"/>
          <a:stretch/>
        </p:blipFill>
        <p:spPr>
          <a:xfrm>
            <a:off x="457200" y="1879350"/>
            <a:ext cx="7663094" cy="3225300"/>
          </a:xfrm>
          <a:prstGeom prst="rect">
            <a:avLst/>
          </a:prstGeom>
        </p:spPr>
      </p:pic>
      <p:sp>
        <p:nvSpPr>
          <p:cNvPr id="6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Case 16: Lithium Ion Battery Fires in Electric Vehicles 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1380429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LIB Fires with Significant Media coverage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2" y="2158430"/>
            <a:ext cx="8982075" cy="2667140"/>
          </a:xfrm>
          <a:prstGeom prst="rect">
            <a:avLst/>
          </a:prstGeom>
        </p:spPr>
      </p:pic>
      <p:sp>
        <p:nvSpPr>
          <p:cNvPr id="10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Case 16: Lithium Ion Battery Fires in Electric Vehicles 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5171928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94200" y="180000"/>
            <a:ext cx="88116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LIB TR due to imbalance between heat generation &amp; dissipation 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14" y="994013"/>
            <a:ext cx="8850196" cy="5233987"/>
          </a:xfrm>
          <a:prstGeom prst="rect">
            <a:avLst/>
          </a:prstGeom>
        </p:spPr>
      </p:pic>
      <p:sp>
        <p:nvSpPr>
          <p:cNvPr id="7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Case 16: Lithium Ion Battery Fires in Electric Vehicles 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2567952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70415</TotalTime>
  <Words>1231</Words>
  <Application>Microsoft Office PowerPoint</Application>
  <PresentationFormat>On-screen Show (4:3)</PresentationFormat>
  <Paragraphs>225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ＭＳ Ｐゴシック</vt:lpstr>
      <vt:lpstr>Arial</vt:lpstr>
      <vt:lpstr>Calibri</vt:lpstr>
      <vt:lpstr>Times</vt:lpstr>
      <vt:lpstr>Times New Roman</vt:lpstr>
      <vt:lpstr>Wingdings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University of Texas at Austin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MSB</dc:creator>
  <cp:lastModifiedBy>JR Cocchio</cp:lastModifiedBy>
  <cp:revision>1989</cp:revision>
  <cp:lastPrinted>2018-12-17T22:21:47Z</cp:lastPrinted>
  <dcterms:created xsi:type="dcterms:W3CDTF">2007-03-28T16:18:47Z</dcterms:created>
  <dcterms:modified xsi:type="dcterms:W3CDTF">2022-03-28T16:32:28Z</dcterms:modified>
</cp:coreProperties>
</file>