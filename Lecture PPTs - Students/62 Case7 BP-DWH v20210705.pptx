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895" r:id="rId2"/>
    <p:sldId id="880" r:id="rId3"/>
    <p:sldId id="923" r:id="rId4"/>
    <p:sldId id="907" r:id="rId5"/>
    <p:sldId id="924" r:id="rId6"/>
    <p:sldId id="908" r:id="rId7"/>
    <p:sldId id="926" r:id="rId8"/>
    <p:sldId id="928" r:id="rId9"/>
    <p:sldId id="944" r:id="rId10"/>
    <p:sldId id="929" r:id="rId11"/>
    <p:sldId id="946" r:id="rId12"/>
    <p:sldId id="948" r:id="rId13"/>
    <p:sldId id="949" r:id="rId14"/>
    <p:sldId id="950" r:id="rId15"/>
    <p:sldId id="951" r:id="rId16"/>
    <p:sldId id="952" r:id="rId17"/>
    <p:sldId id="912" r:id="rId18"/>
    <p:sldId id="913" r:id="rId19"/>
    <p:sldId id="945" r:id="rId20"/>
    <p:sldId id="934" r:id="rId21"/>
    <p:sldId id="935" r:id="rId22"/>
    <p:sldId id="943" r:id="rId23"/>
    <p:sldId id="937" r:id="rId24"/>
    <p:sldId id="919" r:id="rId25"/>
    <p:sldId id="920" r:id="rId26"/>
    <p:sldId id="938" r:id="rId27"/>
    <p:sldId id="942" r:id="rId28"/>
    <p:sldId id="900" r:id="rId29"/>
    <p:sldId id="980" r:id="rId30"/>
    <p:sldId id="981" r:id="rId31"/>
    <p:sldId id="953" r:id="rId32"/>
    <p:sldId id="954" r:id="rId33"/>
    <p:sldId id="955" r:id="rId34"/>
    <p:sldId id="956" r:id="rId35"/>
    <p:sldId id="957" r:id="rId36"/>
    <p:sldId id="958" r:id="rId37"/>
    <p:sldId id="979" r:id="rId38"/>
    <p:sldId id="960" r:id="rId39"/>
    <p:sldId id="983" r:id="rId40"/>
    <p:sldId id="984" r:id="rId41"/>
    <p:sldId id="985" r:id="rId42"/>
    <p:sldId id="986" r:id="rId43"/>
    <p:sldId id="987" r:id="rId44"/>
    <p:sldId id="988" r:id="rId45"/>
    <p:sldId id="967" r:id="rId46"/>
    <p:sldId id="968" r:id="rId47"/>
    <p:sldId id="969" r:id="rId48"/>
    <p:sldId id="970" r:id="rId49"/>
    <p:sldId id="971" r:id="rId50"/>
    <p:sldId id="972" r:id="rId51"/>
    <p:sldId id="973" r:id="rId52"/>
    <p:sldId id="974" r:id="rId53"/>
    <p:sldId id="975" r:id="rId54"/>
    <p:sldId id="976" r:id="rId55"/>
    <p:sldId id="977" r:id="rId56"/>
    <p:sldId id="978" r:id="rId57"/>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23"/>
            <p14:sldId id="907"/>
            <p14:sldId id="924"/>
            <p14:sldId id="908"/>
            <p14:sldId id="926"/>
            <p14:sldId id="928"/>
            <p14:sldId id="944"/>
            <p14:sldId id="929"/>
            <p14:sldId id="946"/>
            <p14:sldId id="948"/>
            <p14:sldId id="949"/>
            <p14:sldId id="950"/>
            <p14:sldId id="951"/>
            <p14:sldId id="952"/>
            <p14:sldId id="912"/>
            <p14:sldId id="913"/>
            <p14:sldId id="945"/>
            <p14:sldId id="934"/>
            <p14:sldId id="935"/>
            <p14:sldId id="943"/>
            <p14:sldId id="937"/>
            <p14:sldId id="919"/>
            <p14:sldId id="920"/>
            <p14:sldId id="938"/>
            <p14:sldId id="942"/>
            <p14:sldId id="900"/>
            <p14:sldId id="980"/>
            <p14:sldId id="981"/>
            <p14:sldId id="953"/>
            <p14:sldId id="954"/>
            <p14:sldId id="955"/>
            <p14:sldId id="956"/>
            <p14:sldId id="957"/>
            <p14:sldId id="958"/>
            <p14:sldId id="979"/>
            <p14:sldId id="960"/>
            <p14:sldId id="983"/>
            <p14:sldId id="984"/>
            <p14:sldId id="985"/>
            <p14:sldId id="986"/>
            <p14:sldId id="987"/>
            <p14:sldId id="988"/>
            <p14:sldId id="967"/>
            <p14:sldId id="968"/>
            <p14:sldId id="969"/>
            <p14:sldId id="970"/>
            <p14:sldId id="971"/>
            <p14:sldId id="972"/>
            <p14:sldId id="973"/>
            <p14:sldId id="974"/>
            <p14:sldId id="975"/>
            <p14:sldId id="976"/>
            <p14:sldId id="977"/>
            <p14:sldId id="978"/>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98116" autoAdjust="0"/>
  </p:normalViewPr>
  <p:slideViewPr>
    <p:cSldViewPr>
      <p:cViewPr varScale="1">
        <p:scale>
          <a:sx n="70" d="100"/>
          <a:sy n="70" d="100"/>
        </p:scale>
        <p:origin x="1220"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0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10/21/2021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10/21/2021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126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162" name="Google Shape;162;p5: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163" name="Google Shape;163;p5: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a:t>
            </a:fld>
            <a:endParaRPr sz="1200" b="0" i="0" u="none" strike="noStrike" cap="none">
              <a:solidFill>
                <a:schemeClr val="dk1"/>
              </a:solidFill>
              <a:latin typeface="Arial"/>
              <a:ea typeface="Arial"/>
              <a:cs typeface="Arial"/>
              <a:sym typeface="Arial"/>
            </a:endParaRPr>
          </a:p>
        </p:txBody>
      </p:sp>
      <p:sp>
        <p:nvSpPr>
          <p:cNvPr id="164" name="Google Shape;164;p5: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165" name="Google Shape;165;p5: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a:t>
            </a:fld>
            <a:endParaRPr sz="1200" b="0" i="0" u="none" strike="noStrike" cap="none">
              <a:solidFill>
                <a:schemeClr val="dk1"/>
              </a:solidFill>
              <a:latin typeface="Arial"/>
              <a:ea typeface="Arial"/>
              <a:cs typeface="Arial"/>
              <a:sym typeface="Arial"/>
            </a:endParaRPr>
          </a:p>
        </p:txBody>
      </p:sp>
      <p:sp>
        <p:nvSpPr>
          <p:cNvPr id="166" name="Google Shape;166;p5: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4</a:t>
            </a:fld>
            <a:endParaRPr sz="1200" b="0" i="0" u="none" strike="noStrike" cap="none">
              <a:solidFill>
                <a:schemeClr val="dk1"/>
              </a:solidFill>
              <a:latin typeface="Times New Roman"/>
              <a:ea typeface="Times New Roman"/>
              <a:cs typeface="Times New Roman"/>
              <a:sym typeface="Times New Roman"/>
            </a:endParaRPr>
          </a:p>
        </p:txBody>
      </p:sp>
      <p:sp>
        <p:nvSpPr>
          <p:cNvPr id="167" name="Google Shape;167;p5: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5: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Much of this info is presented in the videos, so suggest that they listen for the details of the technology, especially for the engineers who do not study petroleum engineering. Briefly explain: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distance between the rig and the sea-floor.</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depth beyond the sea-floor that the drill goes.</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and basic design of drilling fluid (mud).</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basic theory of a “kick”. </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need to ensure that the drill bit speed does not exceed specified conditions (cracks the formation).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of cementing and location of plugs after drilling is complete and the well is being sealed in for future production.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of a BOP.  </a:t>
            </a:r>
            <a:endParaRPr>
              <a:latin typeface="Arial"/>
              <a:ea typeface="Arial"/>
              <a:cs typeface="Arial"/>
              <a:sym typeface="Arial"/>
            </a:endParaRPr>
          </a:p>
        </p:txBody>
      </p:sp>
    </p:spTree>
    <p:extLst>
      <p:ext uri="{BB962C8B-B14F-4D97-AF65-F5344CB8AC3E}">
        <p14:creationId xmlns:p14="http://schemas.microsoft.com/office/powerpoint/2010/main" val="516875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8018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179" name="Google Shape;179;p6: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180" name="Google Shape;180;p6: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6</a:t>
            </a:fld>
            <a:endParaRPr sz="1200" b="0" i="0" u="none" strike="noStrike" cap="none">
              <a:solidFill>
                <a:schemeClr val="dk1"/>
              </a:solidFill>
              <a:latin typeface="Arial"/>
              <a:ea typeface="Arial"/>
              <a:cs typeface="Arial"/>
              <a:sym typeface="Arial"/>
            </a:endParaRPr>
          </a:p>
        </p:txBody>
      </p:sp>
      <p:sp>
        <p:nvSpPr>
          <p:cNvPr id="181" name="Google Shape;181;p6: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182" name="Google Shape;182;p6: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6</a:t>
            </a:fld>
            <a:endParaRPr sz="1200" b="0" i="0" u="none" strike="noStrike" cap="none">
              <a:solidFill>
                <a:schemeClr val="dk1"/>
              </a:solidFill>
              <a:latin typeface="Arial"/>
              <a:ea typeface="Arial"/>
              <a:cs typeface="Arial"/>
              <a:sym typeface="Arial"/>
            </a:endParaRPr>
          </a:p>
        </p:txBody>
      </p:sp>
      <p:sp>
        <p:nvSpPr>
          <p:cNvPr id="183" name="Google Shape;183;p6: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6</a:t>
            </a:fld>
            <a:endParaRPr sz="1200" b="0" i="0" u="none" strike="noStrike" cap="none">
              <a:solidFill>
                <a:schemeClr val="dk1"/>
              </a:solidFill>
              <a:latin typeface="Times New Roman"/>
              <a:ea typeface="Times New Roman"/>
              <a:cs typeface="Times New Roman"/>
              <a:sym typeface="Times New Roman"/>
            </a:endParaRPr>
          </a:p>
        </p:txBody>
      </p:sp>
      <p:sp>
        <p:nvSpPr>
          <p:cNvPr id="184" name="Google Shape;184;p6: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6: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Much of this info is presented in the videos, so provide a very brief overview of the corporations involved and the Impacts on PEAP. </a:t>
            </a:r>
            <a:endParaRPr>
              <a:latin typeface="Arial"/>
              <a:ea typeface="Arial"/>
              <a:cs typeface="Arial"/>
              <a:sym typeface="Arial"/>
            </a:endParaRPr>
          </a:p>
        </p:txBody>
      </p:sp>
    </p:spTree>
    <p:extLst>
      <p:ext uri="{BB962C8B-B14F-4D97-AF65-F5344CB8AC3E}">
        <p14:creationId xmlns:p14="http://schemas.microsoft.com/office/powerpoint/2010/main" val="1031342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0251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3027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3214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6964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7221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2020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7849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9399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183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8060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0: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2015-2016ENGG404 Lecture 00 - Day 1</a:t>
            </a:r>
            <a:endParaRPr/>
          </a:p>
        </p:txBody>
      </p:sp>
      <p:sp>
        <p:nvSpPr>
          <p:cNvPr id="235" name="Google Shape;235;p10: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17</a:t>
            </a:fld>
            <a:endParaRPr sz="1200" b="0" i="0" u="none" strike="noStrike" cap="none">
              <a:solidFill>
                <a:schemeClr val="dk1"/>
              </a:solidFill>
              <a:latin typeface="Times New Roman"/>
              <a:ea typeface="Times New Roman"/>
              <a:cs typeface="Times New Roman"/>
              <a:sym typeface="Times New Roman"/>
            </a:endParaRPr>
          </a:p>
        </p:txBody>
      </p:sp>
      <p:sp>
        <p:nvSpPr>
          <p:cNvPr id="236" name="Google Shape;236;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p10:notes"/>
          <p:cNvSpPr txBox="1">
            <a:spLocks noGrp="1"/>
          </p:cNvSpPr>
          <p:nvPr>
            <p:ph type="body" idx="1"/>
          </p:nvPr>
        </p:nvSpPr>
        <p:spPr>
          <a:xfrm>
            <a:off x="696196" y="4421876"/>
            <a:ext cx="5562447" cy="4190263"/>
          </a:xfrm>
          <a:prstGeom prst="rect">
            <a:avLst/>
          </a:prstGeom>
          <a:noFill/>
          <a:ln>
            <a:noFill/>
          </a:ln>
        </p:spPr>
        <p:txBody>
          <a:bodyPr spcFirstLastPara="1" wrap="square" lIns="93275" tIns="46450" rIns="93275" bIns="46450" anchor="t" anchorCtr="0">
            <a:noAutofit/>
          </a:bodyPr>
          <a:lstStyle/>
          <a:p>
            <a:pPr marL="0" lvl="0" indent="0" algn="l" rtl="0">
              <a:spcBef>
                <a:spcPts val="0"/>
              </a:spcBef>
              <a:spcAft>
                <a:spcPts val="0"/>
              </a:spcAft>
              <a:buNone/>
            </a:pPr>
            <a:endParaRPr/>
          </a:p>
        </p:txBody>
      </p:sp>
      <p:sp>
        <p:nvSpPr>
          <p:cNvPr id="238" name="Google Shape;238;p10:notes"/>
          <p:cNvSpPr txBox="1"/>
          <p:nvPr/>
        </p:nvSpPr>
        <p:spPr>
          <a:xfrm>
            <a:off x="3939717" y="8844199"/>
            <a:ext cx="3015122" cy="464901"/>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75657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247" name="Google Shape;247;p11: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248" name="Google Shape;248;p11: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18</a:t>
            </a:fld>
            <a:endParaRPr sz="1200" b="0" i="0" u="none" strike="noStrike" cap="none">
              <a:solidFill>
                <a:schemeClr val="dk1"/>
              </a:solidFill>
              <a:latin typeface="Arial"/>
              <a:ea typeface="Arial"/>
              <a:cs typeface="Arial"/>
              <a:sym typeface="Arial"/>
            </a:endParaRPr>
          </a:p>
        </p:txBody>
      </p:sp>
      <p:sp>
        <p:nvSpPr>
          <p:cNvPr id="249" name="Google Shape;249;p11: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250" name="Google Shape;250;p11: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18</a:t>
            </a:fld>
            <a:endParaRPr sz="1200" b="0" u="none">
              <a:solidFill>
                <a:schemeClr val="dk1"/>
              </a:solidFill>
              <a:latin typeface="Arial"/>
              <a:ea typeface="Arial"/>
              <a:cs typeface="Arial"/>
              <a:sym typeface="Arial"/>
            </a:endParaRPr>
          </a:p>
        </p:txBody>
      </p:sp>
      <p:sp>
        <p:nvSpPr>
          <p:cNvPr id="251" name="Google Shape;251;p11: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Times New Roman"/>
                <a:ea typeface="Times New Roman"/>
                <a:cs typeface="Times New Roman"/>
                <a:sym typeface="Times New Roman"/>
              </a:rPr>
              <a:t>18</a:t>
            </a:fld>
            <a:endParaRPr sz="1200" b="0" u="none">
              <a:solidFill>
                <a:schemeClr val="dk1"/>
              </a:solidFill>
              <a:latin typeface="Times New Roman"/>
              <a:ea typeface="Times New Roman"/>
              <a:cs typeface="Times New Roman"/>
              <a:sym typeface="Times New Roman"/>
            </a:endParaRPr>
          </a:p>
        </p:txBody>
      </p:sp>
      <p:sp>
        <p:nvSpPr>
          <p:cNvPr id="252" name="Google Shape;252;p11: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1: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Details directly from the CBS video and also in their course ware. </a:t>
            </a:r>
            <a:endParaRPr/>
          </a:p>
        </p:txBody>
      </p:sp>
    </p:spTree>
    <p:extLst>
      <p:ext uri="{BB962C8B-B14F-4D97-AF65-F5344CB8AC3E}">
        <p14:creationId xmlns:p14="http://schemas.microsoft.com/office/powerpoint/2010/main" val="1994306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247" name="Google Shape;247;p11: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248" name="Google Shape;248;p11: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19</a:t>
            </a:fld>
            <a:endParaRPr sz="1200" b="0" i="0" u="none" strike="noStrike" cap="none">
              <a:solidFill>
                <a:schemeClr val="dk1"/>
              </a:solidFill>
              <a:latin typeface="Arial"/>
              <a:ea typeface="Arial"/>
              <a:cs typeface="Arial"/>
              <a:sym typeface="Arial"/>
            </a:endParaRPr>
          </a:p>
        </p:txBody>
      </p:sp>
      <p:sp>
        <p:nvSpPr>
          <p:cNvPr id="249" name="Google Shape;249;p11: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250" name="Google Shape;250;p11: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19</a:t>
            </a:fld>
            <a:endParaRPr sz="1200" b="0" u="none">
              <a:solidFill>
                <a:schemeClr val="dk1"/>
              </a:solidFill>
              <a:latin typeface="Arial"/>
              <a:ea typeface="Arial"/>
              <a:cs typeface="Arial"/>
              <a:sym typeface="Arial"/>
            </a:endParaRPr>
          </a:p>
        </p:txBody>
      </p:sp>
      <p:sp>
        <p:nvSpPr>
          <p:cNvPr id="251" name="Google Shape;251;p11: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Times New Roman"/>
                <a:ea typeface="Times New Roman"/>
                <a:cs typeface="Times New Roman"/>
                <a:sym typeface="Times New Roman"/>
              </a:rPr>
              <a:t>19</a:t>
            </a:fld>
            <a:endParaRPr sz="1200" b="0" u="none">
              <a:solidFill>
                <a:schemeClr val="dk1"/>
              </a:solidFill>
              <a:latin typeface="Times New Roman"/>
              <a:ea typeface="Times New Roman"/>
              <a:cs typeface="Times New Roman"/>
              <a:sym typeface="Times New Roman"/>
            </a:endParaRPr>
          </a:p>
        </p:txBody>
      </p:sp>
      <p:sp>
        <p:nvSpPr>
          <p:cNvPr id="252" name="Google Shape;252;p11: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1: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Details directly from the CBS video and also in their course ware. </a:t>
            </a:r>
            <a:endParaRPr/>
          </a:p>
        </p:txBody>
      </p:sp>
    </p:spTree>
    <p:extLst>
      <p:ext uri="{BB962C8B-B14F-4D97-AF65-F5344CB8AC3E}">
        <p14:creationId xmlns:p14="http://schemas.microsoft.com/office/powerpoint/2010/main" val="3253736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23551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5747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2589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11042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7: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ENGG404 2015W</a:t>
            </a:r>
            <a:endParaRPr/>
          </a:p>
        </p:txBody>
      </p:sp>
      <p:sp>
        <p:nvSpPr>
          <p:cNvPr id="332" name="Google Shape;332;p17: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15-Jan-2015</a:t>
            </a:r>
            <a:endParaRPr/>
          </a:p>
        </p:txBody>
      </p:sp>
      <p:sp>
        <p:nvSpPr>
          <p:cNvPr id="333" name="Google Shape;333;p17: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24</a:t>
            </a:fld>
            <a:endParaRPr sz="1200">
              <a:solidFill>
                <a:schemeClr val="dk1"/>
              </a:solidFill>
              <a:latin typeface="Arial"/>
              <a:ea typeface="Arial"/>
              <a:cs typeface="Arial"/>
              <a:sym typeface="Arial"/>
            </a:endParaRPr>
          </a:p>
        </p:txBody>
      </p:sp>
      <p:sp>
        <p:nvSpPr>
          <p:cNvPr id="334" name="Google Shape;334;p17: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6/26/2019</a:t>
            </a:r>
            <a:endParaRPr sz="1200">
              <a:solidFill>
                <a:schemeClr val="dk1"/>
              </a:solidFill>
              <a:latin typeface="Arial"/>
              <a:ea typeface="Arial"/>
              <a:cs typeface="Arial"/>
              <a:sym typeface="Arial"/>
            </a:endParaRPr>
          </a:p>
        </p:txBody>
      </p:sp>
      <p:sp>
        <p:nvSpPr>
          <p:cNvPr id="335" name="Google Shape;335;p17: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24</a:t>
            </a:fld>
            <a:endParaRPr sz="1200">
              <a:solidFill>
                <a:schemeClr val="dk1"/>
              </a:solidFill>
              <a:latin typeface="Arial"/>
              <a:ea typeface="Arial"/>
              <a:cs typeface="Arial"/>
              <a:sym typeface="Arial"/>
            </a:endParaRPr>
          </a:p>
        </p:txBody>
      </p:sp>
      <p:sp>
        <p:nvSpPr>
          <p:cNvPr id="336" name="Google Shape;336;p17: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24</a:t>
            </a:fld>
            <a:endParaRPr sz="1200">
              <a:solidFill>
                <a:schemeClr val="dk1"/>
              </a:solidFill>
              <a:latin typeface="Times New Roman"/>
              <a:ea typeface="Times New Roman"/>
              <a:cs typeface="Times New Roman"/>
              <a:sym typeface="Times New Roman"/>
            </a:endParaRPr>
          </a:p>
        </p:txBody>
      </p:sp>
      <p:sp>
        <p:nvSpPr>
          <p:cNvPr id="337" name="Google Shape;337;p17: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17: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The answer here is to “implement those policies”. But of course, this is far easier said than done, so give some insight into why this is a very difficult undertaking to “implement policies”. </a:t>
            </a:r>
            <a:endParaRPr>
              <a:latin typeface="Arial"/>
              <a:ea typeface="Arial"/>
              <a:cs typeface="Arial"/>
              <a:sym typeface="Arial"/>
            </a:endParaRPr>
          </a:p>
        </p:txBody>
      </p:sp>
    </p:spTree>
    <p:extLst>
      <p:ext uri="{BB962C8B-B14F-4D97-AF65-F5344CB8AC3E}">
        <p14:creationId xmlns:p14="http://schemas.microsoft.com/office/powerpoint/2010/main" val="29674896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8: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ENGG404 2015W</a:t>
            </a:r>
            <a:endParaRPr/>
          </a:p>
        </p:txBody>
      </p:sp>
      <p:sp>
        <p:nvSpPr>
          <p:cNvPr id="347" name="Google Shape;347;p18: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15-Jan-2015</a:t>
            </a:r>
            <a:endParaRPr/>
          </a:p>
        </p:txBody>
      </p:sp>
      <p:sp>
        <p:nvSpPr>
          <p:cNvPr id="348" name="Google Shape;348;p18: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25</a:t>
            </a:fld>
            <a:endParaRPr sz="1200">
              <a:solidFill>
                <a:schemeClr val="dk1"/>
              </a:solidFill>
              <a:latin typeface="Arial"/>
              <a:ea typeface="Arial"/>
              <a:cs typeface="Arial"/>
              <a:sym typeface="Arial"/>
            </a:endParaRPr>
          </a:p>
        </p:txBody>
      </p:sp>
      <p:sp>
        <p:nvSpPr>
          <p:cNvPr id="349" name="Google Shape;349;p18: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6/26/2019</a:t>
            </a:r>
            <a:endParaRPr sz="1200">
              <a:solidFill>
                <a:schemeClr val="dk1"/>
              </a:solidFill>
              <a:latin typeface="Arial"/>
              <a:ea typeface="Arial"/>
              <a:cs typeface="Arial"/>
              <a:sym typeface="Arial"/>
            </a:endParaRPr>
          </a:p>
        </p:txBody>
      </p:sp>
      <p:sp>
        <p:nvSpPr>
          <p:cNvPr id="350" name="Google Shape;350;p18: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25</a:t>
            </a:fld>
            <a:endParaRPr sz="1200">
              <a:solidFill>
                <a:schemeClr val="dk1"/>
              </a:solidFill>
              <a:latin typeface="Arial"/>
              <a:ea typeface="Arial"/>
              <a:cs typeface="Arial"/>
              <a:sym typeface="Arial"/>
            </a:endParaRPr>
          </a:p>
        </p:txBody>
      </p:sp>
      <p:sp>
        <p:nvSpPr>
          <p:cNvPr id="351" name="Google Shape;351;p18: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25</a:t>
            </a:fld>
            <a:endParaRPr sz="1200">
              <a:solidFill>
                <a:schemeClr val="dk1"/>
              </a:solidFill>
              <a:latin typeface="Times New Roman"/>
              <a:ea typeface="Times New Roman"/>
              <a:cs typeface="Times New Roman"/>
              <a:sym typeface="Times New Roman"/>
            </a:endParaRPr>
          </a:p>
        </p:txBody>
      </p:sp>
      <p:sp>
        <p:nvSpPr>
          <p:cNvPr id="352" name="Google Shape;352;p18: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18: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The answer here is to “implement those policies”. But of course, this is far easier said than done, so give some insight into why this is a very difficult undertaking to “implement policies”. </a:t>
            </a:r>
            <a:endParaRPr>
              <a:latin typeface="Arial"/>
              <a:ea typeface="Arial"/>
              <a:cs typeface="Arial"/>
              <a:sym typeface="Arial"/>
            </a:endParaRPr>
          </a:p>
        </p:txBody>
      </p:sp>
    </p:spTree>
    <p:extLst>
      <p:ext uri="{BB962C8B-B14F-4D97-AF65-F5344CB8AC3E}">
        <p14:creationId xmlns:p14="http://schemas.microsoft.com/office/powerpoint/2010/main" val="30343315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6752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76594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28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28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3943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9534176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39265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53913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8941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162" name="Google Shape;162;p5: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163" name="Google Shape;163;p5: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34</a:t>
            </a:fld>
            <a:endParaRPr sz="1200" b="0" i="0" u="none" strike="noStrike" cap="none">
              <a:solidFill>
                <a:schemeClr val="dk1"/>
              </a:solidFill>
              <a:latin typeface="Arial"/>
              <a:ea typeface="Arial"/>
              <a:cs typeface="Arial"/>
              <a:sym typeface="Arial"/>
            </a:endParaRPr>
          </a:p>
        </p:txBody>
      </p:sp>
      <p:sp>
        <p:nvSpPr>
          <p:cNvPr id="164" name="Google Shape;164;p5: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165" name="Google Shape;165;p5: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34</a:t>
            </a:fld>
            <a:endParaRPr sz="1200" b="0" i="0" u="none" strike="noStrike" cap="none">
              <a:solidFill>
                <a:schemeClr val="dk1"/>
              </a:solidFill>
              <a:latin typeface="Arial"/>
              <a:ea typeface="Arial"/>
              <a:cs typeface="Arial"/>
              <a:sym typeface="Arial"/>
            </a:endParaRPr>
          </a:p>
        </p:txBody>
      </p:sp>
      <p:sp>
        <p:nvSpPr>
          <p:cNvPr id="166" name="Google Shape;166;p5: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34</a:t>
            </a:fld>
            <a:endParaRPr sz="1200" b="0" i="0" u="none" strike="noStrike" cap="none">
              <a:solidFill>
                <a:schemeClr val="dk1"/>
              </a:solidFill>
              <a:latin typeface="Times New Roman"/>
              <a:ea typeface="Times New Roman"/>
              <a:cs typeface="Times New Roman"/>
              <a:sym typeface="Times New Roman"/>
            </a:endParaRPr>
          </a:p>
        </p:txBody>
      </p:sp>
      <p:sp>
        <p:nvSpPr>
          <p:cNvPr id="167" name="Google Shape;167;p5: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5: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Much of this info is presented in the videos, so suggest that they listen for the details of the technology, especially for the engineers who do not study petroleum engineering. Briefly explain: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distance between the rig and the sea-floor.</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depth beyond the sea-floor that the drill goes.</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and basic design of drilling fluid (mud).</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basic theory of a “kick”. </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need to ensure that the drill bit speed does not exceed specified conditions (cracks the formation).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of cementing and location of plugs after drilling is complete and the well is being sealed in for future production.</a:t>
            </a:r>
            <a:endParaRPr/>
          </a:p>
          <a:p>
            <a:pPr marL="171450" lvl="0" indent="-171450" algn="l" rtl="0">
              <a:spcBef>
                <a:spcPts val="360"/>
              </a:spcBef>
              <a:spcAft>
                <a:spcPts val="0"/>
              </a:spcAft>
              <a:buClr>
                <a:schemeClr val="dk1"/>
              </a:buClr>
              <a:buSzPts val="1200"/>
              <a:buFont typeface="Noto Sans Symbols"/>
              <a:buChar char="⮚"/>
            </a:pPr>
            <a:r>
              <a:rPr lang="en-US">
                <a:latin typeface="Arial"/>
                <a:ea typeface="Arial"/>
                <a:cs typeface="Arial"/>
                <a:sym typeface="Arial"/>
              </a:rPr>
              <a:t>The purpose of a BOP.  </a:t>
            </a:r>
            <a:endParaRPr>
              <a:latin typeface="Arial"/>
              <a:ea typeface="Arial"/>
              <a:cs typeface="Arial"/>
              <a:sym typeface="Arial"/>
            </a:endParaRPr>
          </a:p>
        </p:txBody>
      </p:sp>
    </p:spTree>
    <p:extLst>
      <p:ext uri="{BB962C8B-B14F-4D97-AF65-F5344CB8AC3E}">
        <p14:creationId xmlns:p14="http://schemas.microsoft.com/office/powerpoint/2010/main" val="20878673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179" name="Google Shape;179;p6: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180" name="Google Shape;180;p6: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35</a:t>
            </a:fld>
            <a:endParaRPr sz="1200" b="0" i="0" u="none" strike="noStrike" cap="none">
              <a:solidFill>
                <a:schemeClr val="dk1"/>
              </a:solidFill>
              <a:latin typeface="Arial"/>
              <a:ea typeface="Arial"/>
              <a:cs typeface="Arial"/>
              <a:sym typeface="Arial"/>
            </a:endParaRPr>
          </a:p>
        </p:txBody>
      </p:sp>
      <p:sp>
        <p:nvSpPr>
          <p:cNvPr id="181" name="Google Shape;181;p6: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182" name="Google Shape;182;p6: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35</a:t>
            </a:fld>
            <a:endParaRPr sz="1200" b="0" i="0" u="none" strike="noStrike" cap="none">
              <a:solidFill>
                <a:schemeClr val="dk1"/>
              </a:solidFill>
              <a:latin typeface="Arial"/>
              <a:ea typeface="Arial"/>
              <a:cs typeface="Arial"/>
              <a:sym typeface="Arial"/>
            </a:endParaRPr>
          </a:p>
        </p:txBody>
      </p:sp>
      <p:sp>
        <p:nvSpPr>
          <p:cNvPr id="183" name="Google Shape;183;p6: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35</a:t>
            </a:fld>
            <a:endParaRPr sz="1200" b="0" i="0" u="none" strike="noStrike" cap="none">
              <a:solidFill>
                <a:schemeClr val="dk1"/>
              </a:solidFill>
              <a:latin typeface="Times New Roman"/>
              <a:ea typeface="Times New Roman"/>
              <a:cs typeface="Times New Roman"/>
              <a:sym typeface="Times New Roman"/>
            </a:endParaRPr>
          </a:p>
        </p:txBody>
      </p:sp>
      <p:sp>
        <p:nvSpPr>
          <p:cNvPr id="184" name="Google Shape;184;p6: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6: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Much of this info is presented in the videos, so provide a very brief overview of the corporations involved and the Impacts on PEAP. </a:t>
            </a:r>
            <a:endParaRPr>
              <a:latin typeface="Arial"/>
              <a:ea typeface="Arial"/>
              <a:cs typeface="Arial"/>
              <a:sym typeface="Arial"/>
            </a:endParaRPr>
          </a:p>
        </p:txBody>
      </p:sp>
    </p:spTree>
    <p:extLst>
      <p:ext uri="{BB962C8B-B14F-4D97-AF65-F5344CB8AC3E}">
        <p14:creationId xmlns:p14="http://schemas.microsoft.com/office/powerpoint/2010/main" val="1532644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33290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48792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04489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22646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86967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7560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3984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05394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67532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80385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0: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2015-2016ENGG404 Lecture 00 - Day 1</a:t>
            </a:r>
            <a:endParaRPr/>
          </a:p>
        </p:txBody>
      </p:sp>
      <p:sp>
        <p:nvSpPr>
          <p:cNvPr id="235" name="Google Shape;235;p10: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46</a:t>
            </a:fld>
            <a:endParaRPr sz="1200" b="0" i="0" u="none" strike="noStrike" cap="none">
              <a:solidFill>
                <a:schemeClr val="dk1"/>
              </a:solidFill>
              <a:latin typeface="Times New Roman"/>
              <a:ea typeface="Times New Roman"/>
              <a:cs typeface="Times New Roman"/>
              <a:sym typeface="Times New Roman"/>
            </a:endParaRPr>
          </a:p>
        </p:txBody>
      </p:sp>
      <p:sp>
        <p:nvSpPr>
          <p:cNvPr id="236" name="Google Shape;236;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p10:notes"/>
          <p:cNvSpPr txBox="1">
            <a:spLocks noGrp="1"/>
          </p:cNvSpPr>
          <p:nvPr>
            <p:ph type="body" idx="1"/>
          </p:nvPr>
        </p:nvSpPr>
        <p:spPr>
          <a:xfrm>
            <a:off x="696196" y="4421876"/>
            <a:ext cx="5562447" cy="4190263"/>
          </a:xfrm>
          <a:prstGeom prst="rect">
            <a:avLst/>
          </a:prstGeom>
          <a:noFill/>
          <a:ln>
            <a:noFill/>
          </a:ln>
        </p:spPr>
        <p:txBody>
          <a:bodyPr spcFirstLastPara="1" wrap="square" lIns="93275" tIns="46450" rIns="93275" bIns="46450" anchor="t" anchorCtr="0">
            <a:noAutofit/>
          </a:bodyPr>
          <a:lstStyle/>
          <a:p>
            <a:pPr marL="0" lvl="0" indent="0" algn="l" rtl="0">
              <a:spcBef>
                <a:spcPts val="0"/>
              </a:spcBef>
              <a:spcAft>
                <a:spcPts val="0"/>
              </a:spcAft>
              <a:buNone/>
            </a:pPr>
            <a:endParaRPr/>
          </a:p>
        </p:txBody>
      </p:sp>
      <p:sp>
        <p:nvSpPr>
          <p:cNvPr id="238" name="Google Shape;238;p10:notes"/>
          <p:cNvSpPr txBox="1"/>
          <p:nvPr/>
        </p:nvSpPr>
        <p:spPr>
          <a:xfrm>
            <a:off x="3939717" y="8844199"/>
            <a:ext cx="3015122" cy="464901"/>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46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536092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247" name="Google Shape;247;p11: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248" name="Google Shape;248;p11: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47</a:t>
            </a:fld>
            <a:endParaRPr sz="1200" b="0" i="0" u="none" strike="noStrike" cap="none">
              <a:solidFill>
                <a:schemeClr val="dk1"/>
              </a:solidFill>
              <a:latin typeface="Arial"/>
              <a:ea typeface="Arial"/>
              <a:cs typeface="Arial"/>
              <a:sym typeface="Arial"/>
            </a:endParaRPr>
          </a:p>
        </p:txBody>
      </p:sp>
      <p:sp>
        <p:nvSpPr>
          <p:cNvPr id="249" name="Google Shape;249;p11: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250" name="Google Shape;250;p11: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47</a:t>
            </a:fld>
            <a:endParaRPr sz="1200" b="0" u="none">
              <a:solidFill>
                <a:schemeClr val="dk1"/>
              </a:solidFill>
              <a:latin typeface="Arial"/>
              <a:ea typeface="Arial"/>
              <a:cs typeface="Arial"/>
              <a:sym typeface="Arial"/>
            </a:endParaRPr>
          </a:p>
        </p:txBody>
      </p:sp>
      <p:sp>
        <p:nvSpPr>
          <p:cNvPr id="251" name="Google Shape;251;p11: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Times New Roman"/>
                <a:ea typeface="Times New Roman"/>
                <a:cs typeface="Times New Roman"/>
                <a:sym typeface="Times New Roman"/>
              </a:rPr>
              <a:t>47</a:t>
            </a:fld>
            <a:endParaRPr sz="1200" b="0" u="none">
              <a:solidFill>
                <a:schemeClr val="dk1"/>
              </a:solidFill>
              <a:latin typeface="Times New Roman"/>
              <a:ea typeface="Times New Roman"/>
              <a:cs typeface="Times New Roman"/>
              <a:sym typeface="Times New Roman"/>
            </a:endParaRPr>
          </a:p>
        </p:txBody>
      </p:sp>
      <p:sp>
        <p:nvSpPr>
          <p:cNvPr id="252" name="Google Shape;252;p11: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1: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Details directly from the CBS video and also in their course ware. </a:t>
            </a:r>
            <a:endParaRPr/>
          </a:p>
        </p:txBody>
      </p:sp>
    </p:spTree>
    <p:extLst>
      <p:ext uri="{BB962C8B-B14F-4D97-AF65-F5344CB8AC3E}">
        <p14:creationId xmlns:p14="http://schemas.microsoft.com/office/powerpoint/2010/main" val="42603378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ENGG404 2015W</a:t>
            </a:r>
            <a:endParaRPr/>
          </a:p>
        </p:txBody>
      </p:sp>
      <p:sp>
        <p:nvSpPr>
          <p:cNvPr id="247" name="Google Shape;247;p11: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15-Jan-2015</a:t>
            </a:r>
            <a:endParaRPr/>
          </a:p>
        </p:txBody>
      </p:sp>
      <p:sp>
        <p:nvSpPr>
          <p:cNvPr id="248" name="Google Shape;248;p11: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48</a:t>
            </a:fld>
            <a:endParaRPr sz="1200" b="0" i="0" u="none" strike="noStrike" cap="none">
              <a:solidFill>
                <a:schemeClr val="dk1"/>
              </a:solidFill>
              <a:latin typeface="Arial"/>
              <a:ea typeface="Arial"/>
              <a:cs typeface="Arial"/>
              <a:sym typeface="Arial"/>
            </a:endParaRPr>
          </a:p>
        </p:txBody>
      </p:sp>
      <p:sp>
        <p:nvSpPr>
          <p:cNvPr id="249" name="Google Shape;249;p11: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b="0" i="0" u="none" strike="noStrike" cap="none">
                <a:solidFill>
                  <a:schemeClr val="dk1"/>
                </a:solidFill>
                <a:latin typeface="Arial"/>
                <a:ea typeface="Arial"/>
                <a:cs typeface="Arial"/>
                <a:sym typeface="Arial"/>
              </a:rPr>
              <a:t>6/26/2019</a:t>
            </a:r>
            <a:endParaRPr sz="1200" b="0" i="0" u="none" strike="noStrike" cap="none">
              <a:solidFill>
                <a:schemeClr val="dk1"/>
              </a:solidFill>
              <a:latin typeface="Arial"/>
              <a:ea typeface="Arial"/>
              <a:cs typeface="Arial"/>
              <a:sym typeface="Arial"/>
            </a:endParaRPr>
          </a:p>
        </p:txBody>
      </p:sp>
      <p:sp>
        <p:nvSpPr>
          <p:cNvPr id="250" name="Google Shape;250;p11: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48</a:t>
            </a:fld>
            <a:endParaRPr sz="1200" b="0" u="none">
              <a:solidFill>
                <a:schemeClr val="dk1"/>
              </a:solidFill>
              <a:latin typeface="Arial"/>
              <a:ea typeface="Arial"/>
              <a:cs typeface="Arial"/>
              <a:sym typeface="Arial"/>
            </a:endParaRPr>
          </a:p>
        </p:txBody>
      </p:sp>
      <p:sp>
        <p:nvSpPr>
          <p:cNvPr id="251" name="Google Shape;251;p11: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Times New Roman"/>
                <a:ea typeface="Times New Roman"/>
                <a:cs typeface="Times New Roman"/>
                <a:sym typeface="Times New Roman"/>
              </a:rPr>
              <a:t>48</a:t>
            </a:fld>
            <a:endParaRPr sz="1200" b="0" u="none">
              <a:solidFill>
                <a:schemeClr val="dk1"/>
              </a:solidFill>
              <a:latin typeface="Times New Roman"/>
              <a:ea typeface="Times New Roman"/>
              <a:cs typeface="Times New Roman"/>
              <a:sym typeface="Times New Roman"/>
            </a:endParaRPr>
          </a:p>
        </p:txBody>
      </p:sp>
      <p:sp>
        <p:nvSpPr>
          <p:cNvPr id="252" name="Google Shape;252;p11: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1: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Details directly from the CBS video and also in their course ware. </a:t>
            </a:r>
            <a:endParaRPr/>
          </a:p>
        </p:txBody>
      </p:sp>
    </p:spTree>
    <p:extLst>
      <p:ext uri="{BB962C8B-B14F-4D97-AF65-F5344CB8AC3E}">
        <p14:creationId xmlns:p14="http://schemas.microsoft.com/office/powerpoint/2010/main" val="17032552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33137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4767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67277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09891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7: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ENGG404 2015W</a:t>
            </a:r>
            <a:endParaRPr/>
          </a:p>
        </p:txBody>
      </p:sp>
      <p:sp>
        <p:nvSpPr>
          <p:cNvPr id="332" name="Google Shape;332;p17: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15-Jan-2015</a:t>
            </a:r>
            <a:endParaRPr/>
          </a:p>
        </p:txBody>
      </p:sp>
      <p:sp>
        <p:nvSpPr>
          <p:cNvPr id="333" name="Google Shape;333;p17: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53</a:t>
            </a:fld>
            <a:endParaRPr sz="1200">
              <a:solidFill>
                <a:schemeClr val="dk1"/>
              </a:solidFill>
              <a:latin typeface="Arial"/>
              <a:ea typeface="Arial"/>
              <a:cs typeface="Arial"/>
              <a:sym typeface="Arial"/>
            </a:endParaRPr>
          </a:p>
        </p:txBody>
      </p:sp>
      <p:sp>
        <p:nvSpPr>
          <p:cNvPr id="334" name="Google Shape;334;p17: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6/26/2019</a:t>
            </a:r>
            <a:endParaRPr sz="1200">
              <a:solidFill>
                <a:schemeClr val="dk1"/>
              </a:solidFill>
              <a:latin typeface="Arial"/>
              <a:ea typeface="Arial"/>
              <a:cs typeface="Arial"/>
              <a:sym typeface="Arial"/>
            </a:endParaRPr>
          </a:p>
        </p:txBody>
      </p:sp>
      <p:sp>
        <p:nvSpPr>
          <p:cNvPr id="335" name="Google Shape;335;p17: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53</a:t>
            </a:fld>
            <a:endParaRPr sz="1200">
              <a:solidFill>
                <a:schemeClr val="dk1"/>
              </a:solidFill>
              <a:latin typeface="Arial"/>
              <a:ea typeface="Arial"/>
              <a:cs typeface="Arial"/>
              <a:sym typeface="Arial"/>
            </a:endParaRPr>
          </a:p>
        </p:txBody>
      </p:sp>
      <p:sp>
        <p:nvSpPr>
          <p:cNvPr id="336" name="Google Shape;336;p17: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53</a:t>
            </a:fld>
            <a:endParaRPr sz="1200">
              <a:solidFill>
                <a:schemeClr val="dk1"/>
              </a:solidFill>
              <a:latin typeface="Times New Roman"/>
              <a:ea typeface="Times New Roman"/>
              <a:cs typeface="Times New Roman"/>
              <a:sym typeface="Times New Roman"/>
            </a:endParaRPr>
          </a:p>
        </p:txBody>
      </p:sp>
      <p:sp>
        <p:nvSpPr>
          <p:cNvPr id="337" name="Google Shape;337;p17: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17: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The answer here is to “implement those policies”. But of course, this is far easier said than done, so give some insight into why this is a very difficult undertaking to “implement policies”. </a:t>
            </a:r>
            <a:endParaRPr>
              <a:latin typeface="Arial"/>
              <a:ea typeface="Arial"/>
              <a:cs typeface="Arial"/>
              <a:sym typeface="Arial"/>
            </a:endParaRPr>
          </a:p>
        </p:txBody>
      </p:sp>
    </p:spTree>
    <p:extLst>
      <p:ext uri="{BB962C8B-B14F-4D97-AF65-F5344CB8AC3E}">
        <p14:creationId xmlns:p14="http://schemas.microsoft.com/office/powerpoint/2010/main" val="1434186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8:notes"/>
          <p:cNvSpPr txBox="1">
            <a:spLocks noGrp="1"/>
          </p:cNvSpPr>
          <p:nvPr>
            <p:ph type="hdr" idx="2"/>
          </p:nvPr>
        </p:nvSpPr>
        <p:spPr>
          <a:xfrm>
            <a:off x="0" y="1"/>
            <a:ext cx="3013684" cy="465349"/>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ENGG404 2015W</a:t>
            </a:r>
            <a:endParaRPr/>
          </a:p>
        </p:txBody>
      </p:sp>
      <p:sp>
        <p:nvSpPr>
          <p:cNvPr id="347" name="Google Shape;347;p18:notes"/>
          <p:cNvSpPr txBox="1">
            <a:spLocks noGrp="1"/>
          </p:cNvSpPr>
          <p:nvPr>
            <p:ph type="ftr" idx="11"/>
          </p:nvPr>
        </p:nvSpPr>
        <p:spPr>
          <a:xfrm>
            <a:off x="0" y="8843751"/>
            <a:ext cx="3013684" cy="463224"/>
          </a:xfrm>
          <a:prstGeom prst="rect">
            <a:avLst/>
          </a:prstGeom>
          <a:noFill/>
          <a:ln>
            <a:noFill/>
          </a:ln>
        </p:spPr>
        <p:txBody>
          <a:bodyPr spcFirstLastPara="1" wrap="square" lIns="93275" tIns="46625" rIns="93275" bIns="46625" anchor="b"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15-Jan-2015</a:t>
            </a:r>
            <a:endParaRPr/>
          </a:p>
        </p:txBody>
      </p:sp>
      <p:sp>
        <p:nvSpPr>
          <p:cNvPr id="348" name="Google Shape;348;p18:notes"/>
          <p:cNvSpPr txBox="1">
            <a:spLocks noGrp="1"/>
          </p:cNvSpPr>
          <p:nvPr>
            <p:ph type="sldNum" idx="12"/>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54</a:t>
            </a:fld>
            <a:endParaRPr sz="1200">
              <a:solidFill>
                <a:schemeClr val="dk1"/>
              </a:solidFill>
              <a:latin typeface="Arial"/>
              <a:ea typeface="Arial"/>
              <a:cs typeface="Arial"/>
              <a:sym typeface="Arial"/>
            </a:endParaRPr>
          </a:p>
        </p:txBody>
      </p:sp>
      <p:sp>
        <p:nvSpPr>
          <p:cNvPr id="349" name="Google Shape;349;p18:notes"/>
          <p:cNvSpPr txBox="1">
            <a:spLocks noGrp="1"/>
          </p:cNvSpPr>
          <p:nvPr>
            <p:ph type="dt" idx="10"/>
          </p:nvPr>
        </p:nvSpPr>
        <p:spPr>
          <a:xfrm>
            <a:off x="3939968" y="1"/>
            <a:ext cx="3013684" cy="465349"/>
          </a:xfrm>
          <a:prstGeom prst="rect">
            <a:avLst/>
          </a:prstGeom>
          <a:noFill/>
          <a:ln>
            <a:noFill/>
          </a:ln>
        </p:spPr>
        <p:txBody>
          <a:bodyPr spcFirstLastPara="1" wrap="square" lIns="93275" tIns="46625" rIns="93275" bIns="46625"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6/26/2019</a:t>
            </a:r>
            <a:endParaRPr sz="1200">
              <a:solidFill>
                <a:schemeClr val="dk1"/>
              </a:solidFill>
              <a:latin typeface="Arial"/>
              <a:ea typeface="Arial"/>
              <a:cs typeface="Arial"/>
              <a:sym typeface="Arial"/>
            </a:endParaRPr>
          </a:p>
        </p:txBody>
      </p:sp>
      <p:sp>
        <p:nvSpPr>
          <p:cNvPr id="350" name="Google Shape;350;p18:notes"/>
          <p:cNvSpPr txBox="1"/>
          <p:nvPr/>
        </p:nvSpPr>
        <p:spPr>
          <a:xfrm>
            <a:off x="3939968" y="8843751"/>
            <a:ext cx="3013684" cy="46322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54</a:t>
            </a:fld>
            <a:endParaRPr sz="1200">
              <a:solidFill>
                <a:schemeClr val="dk1"/>
              </a:solidFill>
              <a:latin typeface="Arial"/>
              <a:ea typeface="Arial"/>
              <a:cs typeface="Arial"/>
              <a:sym typeface="Arial"/>
            </a:endParaRPr>
          </a:p>
        </p:txBody>
      </p:sp>
      <p:sp>
        <p:nvSpPr>
          <p:cNvPr id="351" name="Google Shape;351;p18:notes"/>
          <p:cNvSpPr txBox="1"/>
          <p:nvPr/>
        </p:nvSpPr>
        <p:spPr>
          <a:xfrm>
            <a:off x="3941155" y="8843751"/>
            <a:ext cx="3013684" cy="465349"/>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54</a:t>
            </a:fld>
            <a:endParaRPr sz="1200">
              <a:solidFill>
                <a:schemeClr val="dk1"/>
              </a:solidFill>
              <a:latin typeface="Times New Roman"/>
              <a:ea typeface="Times New Roman"/>
              <a:cs typeface="Times New Roman"/>
              <a:sym typeface="Times New Roman"/>
            </a:endParaRPr>
          </a:p>
        </p:txBody>
      </p:sp>
      <p:sp>
        <p:nvSpPr>
          <p:cNvPr id="352" name="Google Shape;352;p18: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18:notes"/>
          <p:cNvSpPr txBox="1">
            <a:spLocks noGrp="1"/>
          </p:cNvSpPr>
          <p:nvPr>
            <p:ph type="body" idx="1"/>
          </p:nvPr>
        </p:nvSpPr>
        <p:spPr>
          <a:xfrm>
            <a:off x="927470" y="4421876"/>
            <a:ext cx="5099898" cy="4190263"/>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latin typeface="Arial"/>
                <a:ea typeface="Arial"/>
                <a:cs typeface="Arial"/>
                <a:sym typeface="Arial"/>
              </a:rPr>
              <a:t>The answer here is to “implement those policies”. But of course, this is far easier said than done, so give some insight into why this is a very difficult undertaking to “implement policies”. </a:t>
            </a:r>
            <a:endParaRPr>
              <a:latin typeface="Arial"/>
              <a:ea typeface="Arial"/>
              <a:cs typeface="Arial"/>
              <a:sym typeface="Arial"/>
            </a:endParaRPr>
          </a:p>
        </p:txBody>
      </p:sp>
    </p:spTree>
    <p:extLst>
      <p:ext uri="{BB962C8B-B14F-4D97-AF65-F5344CB8AC3E}">
        <p14:creationId xmlns:p14="http://schemas.microsoft.com/office/powerpoint/2010/main" val="13143173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4791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2560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10/21/2021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energycommerce.house.gov/documents/20100614/Hayward.BP.2010.6.14.pdf"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hyperlink" Target="http://energycommerce.house.gov/documents/20100614/Hayward.BP.2010.6.14.pdf" TargetMode="External"/><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7: BP-</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Oilfield and </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DeepWater</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Horizon Rig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(2010)</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management has the responsibility for sound risk management systems covering both occupational safety and process safety.</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Demonstrate why leaders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smartly allocate finite resources to ensure high-hazard operations (i.e. with significant process safety hazards) are sustainably managed to acceptable risk exposure levels.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loss incident to identify the latent causes and associated management system improvement opportunities.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Sub-sea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 catastrophic event: </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Low likelihood,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extremely high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consequence</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 corporations:</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BP Energy</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Halliburton</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Background: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pic>
        <p:nvPicPr>
          <p:cNvPr id="6" name="Google Shape;141;p3"/>
          <p:cNvPicPr preferRelativeResize="0">
            <a:picLocks noChangeAspect="1"/>
          </p:cNvPicPr>
          <p:nvPr/>
        </p:nvPicPr>
        <p:blipFill rotWithShape="1">
          <a:blip r:embed="rId3">
            <a:alphaModFix/>
          </a:blip>
          <a:srcRect t="26031"/>
          <a:stretch/>
        </p:blipFill>
        <p:spPr>
          <a:xfrm>
            <a:off x="5029197" y="3096000"/>
            <a:ext cx="3070154" cy="3060000"/>
          </a:xfrm>
          <a:prstGeom prst="rect">
            <a:avLst/>
          </a:prstGeom>
          <a:noFill/>
          <a:ln>
            <a:noFill/>
          </a:ln>
        </p:spPr>
      </p:pic>
      <p:pic>
        <p:nvPicPr>
          <p:cNvPr id="7" name="Google Shape;143;p3"/>
          <p:cNvPicPr preferRelativeResize="0">
            <a:picLocks noChangeAspect="1"/>
          </p:cNvPicPr>
          <p:nvPr/>
        </p:nvPicPr>
        <p:blipFill rotWithShape="1">
          <a:blip r:embed="rId4">
            <a:alphaModFix/>
          </a:blip>
          <a:srcRect/>
          <a:stretch/>
        </p:blipFill>
        <p:spPr>
          <a:xfrm>
            <a:off x="725489" y="3096000"/>
            <a:ext cx="3882833" cy="3060000"/>
          </a:xfrm>
          <a:prstGeom prst="rect">
            <a:avLst/>
          </a:prstGeom>
          <a:noFill/>
          <a:ln>
            <a:noFill/>
          </a:ln>
        </p:spPr>
      </p:pic>
    </p:spTree>
    <p:extLst>
      <p:ext uri="{BB962C8B-B14F-4D97-AF65-F5344CB8AC3E}">
        <p14:creationId xmlns:p14="http://schemas.microsoft.com/office/powerpoint/2010/main" val="3664830112"/>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0" name="Google Shape;187;p6"/>
          <p:cNvSpPr/>
          <p:nvPr/>
        </p:nvSpPr>
        <p:spPr>
          <a:xfrm>
            <a:off x="180000" y="828000"/>
            <a:ext cx="8640000" cy="5364000"/>
          </a:xfrm>
          <a:prstGeom prst="rect">
            <a:avLst/>
          </a:prstGeom>
          <a:noFill/>
          <a:ln w="9525" cap="flat" cmpd="sng">
            <a:solidFill>
              <a:schemeClr val="tx1"/>
            </a:solidFill>
            <a:prstDash val="solid"/>
            <a:miter lim="800000"/>
            <a:headEnd type="none" w="sm" len="sm"/>
            <a:tailEnd type="none" w="sm" len="sm"/>
          </a:ln>
        </p:spPr>
        <p:txBody>
          <a:bodyPr spcFirstLastPara="1" wrap="square" lIns="91425" tIns="45700" rIns="91425" bIns="45700" anchor="t" anchorCtr="0">
            <a:noAutofit/>
          </a:bodyPr>
          <a:lstStyle/>
          <a:p>
            <a:pPr marL="609600" marR="0" lvl="0" indent="-609600" rtl="0">
              <a:lnSpc>
                <a:spcPct val="80000"/>
              </a:lnSpc>
              <a:spcBef>
                <a:spcPts val="0"/>
              </a:spcBef>
              <a:spcAft>
                <a:spcPts val="0"/>
              </a:spcAft>
              <a:buClr>
                <a:srgbClr val="000000"/>
              </a:buClr>
              <a:buSzPts val="2000"/>
              <a:buFont typeface="Noto Sans Symbols"/>
              <a:buNone/>
            </a:pPr>
            <a:r>
              <a:rPr lang="en-US" sz="1600" b="0" i="0" u="none" strike="noStrike" cap="none" dirty="0" smtClean="0">
                <a:solidFill>
                  <a:srgbClr val="000000"/>
                </a:solidFill>
                <a:latin typeface="Arial"/>
                <a:ea typeface="Arial"/>
                <a:cs typeface="Arial"/>
                <a:sym typeface="Arial"/>
              </a:rPr>
              <a:t>Surface to sea-floor          BOP ~15 </a:t>
            </a:r>
            <a:r>
              <a:rPr lang="en-US" sz="1600" b="0" i="0" u="none" strike="noStrike" cap="none" dirty="0" err="1" smtClean="0">
                <a:solidFill>
                  <a:srgbClr val="000000"/>
                </a:solidFill>
                <a:latin typeface="Arial"/>
                <a:ea typeface="Arial"/>
                <a:cs typeface="Arial"/>
                <a:sym typeface="Arial"/>
              </a:rPr>
              <a:t>metres</a:t>
            </a:r>
            <a:r>
              <a:rPr lang="en-US" sz="1600" b="0" i="0" u="none" strike="noStrike" cap="none" dirty="0" smtClean="0">
                <a:solidFill>
                  <a:srgbClr val="000000"/>
                </a:solidFill>
                <a:latin typeface="Arial"/>
                <a:ea typeface="Arial"/>
                <a:cs typeface="Arial"/>
                <a:sym typeface="Arial"/>
              </a:rPr>
              <a:t>                           Drilling End ~ 3 </a:t>
            </a:r>
            <a:r>
              <a:rPr lang="en-US" sz="1600" b="0" i="0" u="none" strike="noStrike" cap="none" dirty="0" err="1" smtClean="0">
                <a:solidFill>
                  <a:srgbClr val="000000"/>
                </a:solidFill>
                <a:latin typeface="Arial"/>
                <a:ea typeface="Arial"/>
                <a:cs typeface="Arial"/>
                <a:sym typeface="Arial"/>
              </a:rPr>
              <a:t>metres</a:t>
            </a:r>
            <a:endParaRPr sz="1600" b="0" i="0" u="none" strike="noStrike" cap="none" dirty="0">
              <a:solidFill>
                <a:srgbClr val="000000"/>
              </a:solidFill>
              <a:latin typeface="Arial"/>
              <a:ea typeface="Arial"/>
              <a:cs typeface="Arial"/>
              <a:sym typeface="Arial"/>
            </a:endParaRPr>
          </a:p>
        </p:txBody>
      </p:sp>
      <p:pic>
        <p:nvPicPr>
          <p:cNvPr id="173" name="Google Shape;173;p5"/>
          <p:cNvPicPr preferRelativeResize="0"/>
          <p:nvPr/>
        </p:nvPicPr>
        <p:blipFill rotWithShape="1">
          <a:blip r:embed="rId3">
            <a:alphaModFix/>
          </a:blip>
          <a:srcRect/>
          <a:stretch/>
        </p:blipFill>
        <p:spPr>
          <a:xfrm>
            <a:off x="304800" y="1116000"/>
            <a:ext cx="1600200" cy="5040000"/>
          </a:xfrm>
          <a:prstGeom prst="rect">
            <a:avLst/>
          </a:prstGeom>
          <a:noFill/>
          <a:ln>
            <a:solidFill>
              <a:schemeClr val="tx1"/>
            </a:solidFill>
          </a:ln>
        </p:spPr>
      </p:pic>
      <p:pic>
        <p:nvPicPr>
          <p:cNvPr id="174" name="Google Shape;174;p5"/>
          <p:cNvPicPr preferRelativeResize="0"/>
          <p:nvPr/>
        </p:nvPicPr>
        <p:blipFill rotWithShape="1">
          <a:blip r:embed="rId4">
            <a:alphaModFix/>
          </a:blip>
          <a:srcRect/>
          <a:stretch/>
        </p:blipFill>
        <p:spPr>
          <a:xfrm>
            <a:off x="1983646" y="1116000"/>
            <a:ext cx="3121754" cy="5040000"/>
          </a:xfrm>
          <a:prstGeom prst="rect">
            <a:avLst/>
          </a:prstGeom>
          <a:noFill/>
          <a:ln>
            <a:solidFill>
              <a:schemeClr val="tx1"/>
            </a:solidFill>
          </a:ln>
        </p:spPr>
      </p:pic>
      <p:pic>
        <p:nvPicPr>
          <p:cNvPr id="175" name="Google Shape;175;p5"/>
          <p:cNvPicPr preferRelativeResize="0"/>
          <p:nvPr/>
        </p:nvPicPr>
        <p:blipFill rotWithShape="1">
          <a:blip r:embed="rId5">
            <a:alphaModFix/>
          </a:blip>
          <a:srcRect/>
          <a:stretch/>
        </p:blipFill>
        <p:spPr>
          <a:xfrm>
            <a:off x="5184046" y="1116000"/>
            <a:ext cx="3578954" cy="5040000"/>
          </a:xfrm>
          <a:prstGeom prst="rect">
            <a:avLst/>
          </a:prstGeom>
          <a:noFill/>
          <a:ln>
            <a:solidFill>
              <a:schemeClr val="tx1"/>
            </a:solidFill>
          </a:ln>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Basics Of Well </a:t>
            </a:r>
            <a:r>
              <a:rPr lang="en-US" altLang="en-US" sz="2400" b="0" dirty="0" smtClean="0">
                <a:solidFill>
                  <a:schemeClr val="accent2"/>
                </a:solidFill>
                <a:latin typeface="Arial" panose="020B0604020202020204" pitchFamily="34" charset="0"/>
                <a:ea typeface="+mj-ea"/>
                <a:cs typeface="Arial" panose="020B0604020202020204" pitchFamily="34" charset="0"/>
              </a:rPr>
              <a:t>Control: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6047338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Deepest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oil well in history - 35,000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ft</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(10,500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metres</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a Record!</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ush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get 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production: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6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weeks normal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21 days target</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Rig operated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Seven (7)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years without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Lost-Time Injury</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great </a:t>
            </a: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achievement!</a:t>
            </a:r>
          </a:p>
          <a:p>
            <a:pPr marL="565350" lvl="1" indent="-432000" eaLnBrk="0" hangingPunct="0">
              <a:lnSpc>
                <a:spcPct val="9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BOP had been damaged 4 weeks before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“Wasn’t important”; wasn’t fixed; operations continued</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Unclear chain of command for changes made to activities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was in charge? BP or </a:t>
            </a:r>
            <a:r>
              <a:rPr lang="en-US" altLang="en-US" sz="20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Background: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588862760"/>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6"/>
          <p:cNvSpPr/>
          <p:nvPr/>
        </p:nvSpPr>
        <p:spPr>
          <a:xfrm>
            <a:off x="180000" y="828000"/>
            <a:ext cx="8640000" cy="5328000"/>
          </a:xfrm>
          <a:prstGeom prst="rect">
            <a:avLst/>
          </a:prstGeom>
          <a:solidFill>
            <a:schemeClr val="accent1">
              <a:alpha val="6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marR="0" lvl="0" indent="-609600" algn="l" rtl="0">
              <a:lnSpc>
                <a:spcPct val="8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p:txBody>
      </p:sp>
      <p:sp>
        <p:nvSpPr>
          <p:cNvPr id="189" name="Google Shape;189;p6"/>
          <p:cNvSpPr/>
          <p:nvPr/>
        </p:nvSpPr>
        <p:spPr>
          <a:xfrm>
            <a:off x="0" y="4659313"/>
            <a:ext cx="269875" cy="27463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b="0" i="0" u="none" strike="noStrike" cap="none">
                <a:solidFill>
                  <a:schemeClr val="dk1"/>
                </a:solidFill>
                <a:latin typeface="Times"/>
                <a:ea typeface="Times"/>
                <a:cs typeface="Times"/>
                <a:sym typeface="Times"/>
              </a:rPr>
              <a:t>  </a:t>
            </a:r>
            <a:endParaRPr sz="2400" b="0" i="0" u="none" strike="noStrike" cap="none">
              <a:solidFill>
                <a:schemeClr val="dk1"/>
              </a:solidFill>
              <a:latin typeface="Times New Roman"/>
              <a:ea typeface="Times New Roman"/>
              <a:cs typeface="Times New Roman"/>
              <a:sym typeface="Times New Roman"/>
            </a:endParaRPr>
          </a:p>
        </p:txBody>
      </p:sp>
      <p:pic>
        <p:nvPicPr>
          <p:cNvPr id="190" name="Google Shape;190;p6"/>
          <p:cNvPicPr preferRelativeResize="0"/>
          <p:nvPr/>
        </p:nvPicPr>
        <p:blipFill rotWithShape="1">
          <a:blip r:embed="rId3">
            <a:alphaModFix/>
          </a:blip>
          <a:srcRect/>
          <a:stretch/>
        </p:blipFill>
        <p:spPr>
          <a:xfrm>
            <a:off x="457200" y="873676"/>
            <a:ext cx="4495800" cy="2814638"/>
          </a:xfrm>
          <a:prstGeom prst="rect">
            <a:avLst/>
          </a:prstGeom>
          <a:noFill/>
          <a:ln>
            <a:solidFill>
              <a:schemeClr val="tx2"/>
            </a:solidFill>
          </a:ln>
        </p:spPr>
      </p:pic>
      <p:pic>
        <p:nvPicPr>
          <p:cNvPr id="191" name="Google Shape;191;p6"/>
          <p:cNvPicPr preferRelativeResize="0"/>
          <p:nvPr/>
        </p:nvPicPr>
        <p:blipFill rotWithShape="1">
          <a:blip r:embed="rId4">
            <a:alphaModFix/>
          </a:blip>
          <a:srcRect/>
          <a:stretch/>
        </p:blipFill>
        <p:spPr>
          <a:xfrm>
            <a:off x="4673601" y="3077638"/>
            <a:ext cx="3962400" cy="2971800"/>
          </a:xfrm>
          <a:prstGeom prst="rect">
            <a:avLst/>
          </a:prstGeom>
          <a:noFill/>
          <a:ln>
            <a:solidFill>
              <a:schemeClr val="tx2"/>
            </a:solidFill>
          </a:ln>
        </p:spPr>
      </p:pic>
      <p:sp>
        <p:nvSpPr>
          <p:cNvPr id="192" name="Google Shape;192;p6"/>
          <p:cNvSpPr txBox="1"/>
          <p:nvPr/>
        </p:nvSpPr>
        <p:spPr>
          <a:xfrm>
            <a:off x="4656398" y="1247014"/>
            <a:ext cx="3962400" cy="1492250"/>
          </a:xfrm>
          <a:prstGeom prst="rect">
            <a:avLst/>
          </a:prstGeom>
          <a:solidFill>
            <a:schemeClr val="tx1"/>
          </a:solidFill>
          <a:ln w="9525" cap="flat" cmpd="sng">
            <a:solidFill>
              <a:schemeClr val="tx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The Loss Incident: </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Date: 20-April-2010 to 15-July-2010</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Platform: Deepwater Horizon Drilling Rig </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Location: The </a:t>
            </a:r>
            <a:r>
              <a:rPr lang="en-US" sz="1300" b="0" i="0" u="none" strike="noStrike" cap="none" dirty="0" err="1">
                <a:solidFill>
                  <a:srgbClr val="FFFFFF"/>
                </a:solidFill>
                <a:latin typeface="Arial"/>
                <a:ea typeface="Arial"/>
                <a:cs typeface="Arial"/>
                <a:sym typeface="Arial"/>
              </a:rPr>
              <a:t>Macondo</a:t>
            </a:r>
            <a:r>
              <a:rPr lang="en-US" sz="1300" b="0" i="0" u="none" strike="noStrike" cap="none" dirty="0">
                <a:solidFill>
                  <a:srgbClr val="FFFFFF"/>
                </a:solidFill>
                <a:latin typeface="Arial"/>
                <a:ea typeface="Arial"/>
                <a:cs typeface="Arial"/>
                <a:sym typeface="Arial"/>
              </a:rPr>
              <a:t> Prospect, Gulf of Mexico</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Corporations: BP plc, </a:t>
            </a:r>
            <a:r>
              <a:rPr lang="en-US" sz="1300" b="0" i="0" u="none" strike="noStrike" cap="none" dirty="0" err="1">
                <a:solidFill>
                  <a:srgbClr val="FFFFFF"/>
                </a:solidFill>
                <a:latin typeface="Arial"/>
                <a:ea typeface="Arial"/>
                <a:cs typeface="Arial"/>
                <a:sym typeface="Arial"/>
              </a:rPr>
              <a:t>TransOcean</a:t>
            </a:r>
            <a:r>
              <a:rPr lang="en-US" sz="1300" b="0" i="0" u="none" strike="noStrike" cap="none" dirty="0">
                <a:solidFill>
                  <a:srgbClr val="FFFFFF"/>
                </a:solidFill>
                <a:latin typeface="Arial"/>
                <a:ea typeface="Arial"/>
                <a:cs typeface="Arial"/>
                <a:sym typeface="Arial"/>
              </a:rPr>
              <a:t>, Halliburton</a:t>
            </a:r>
            <a:endParaRPr dirty="0"/>
          </a:p>
        </p:txBody>
      </p:sp>
      <p:sp>
        <p:nvSpPr>
          <p:cNvPr id="193" name="Google Shape;193;p6"/>
          <p:cNvSpPr txBox="1"/>
          <p:nvPr/>
        </p:nvSpPr>
        <p:spPr>
          <a:xfrm>
            <a:off x="449875" y="3657600"/>
            <a:ext cx="4223725" cy="2392362"/>
          </a:xfrm>
          <a:prstGeom prst="rect">
            <a:avLst/>
          </a:prstGeom>
          <a:solidFill>
            <a:schemeClr val="tx1"/>
          </a:solidFill>
          <a:ln w="9525" cap="flat" cmpd="sng">
            <a:solidFill>
              <a:schemeClr val="tx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 Impact on PEAP:</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 11 killed, 16 seriously injured</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E: Inestimable impact</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A: </a:t>
            </a:r>
            <a:r>
              <a:rPr lang="en-US" sz="1300" b="1" i="0" u="none" strike="noStrike" cap="none" dirty="0">
                <a:solidFill>
                  <a:srgbClr val="FFFFFF"/>
                </a:solidFill>
                <a:latin typeface="Arial"/>
                <a:ea typeface="Arial"/>
                <a:cs typeface="Arial"/>
                <a:sym typeface="Arial"/>
              </a:rPr>
              <a:t>Tens of billions of dollars</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 Broad interruptions for US Gulf of Mexico offshore drilling industry; and Significant regulator intervention with regulatory impact</a:t>
            </a:r>
            <a:endParaRPr dirty="0"/>
          </a:p>
          <a:p>
            <a:pPr marL="0" marR="0" lvl="0" indent="0" algn="l" rtl="0">
              <a:spcBef>
                <a:spcPts val="65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 </a:t>
            </a:r>
            <a:r>
              <a:rPr lang="en-US" sz="1300" b="1" i="0" u="sng" strike="noStrike" cap="none" dirty="0">
                <a:solidFill>
                  <a:srgbClr val="FFFFFF"/>
                </a:solidFill>
                <a:latin typeface="Arial"/>
                <a:ea typeface="Arial"/>
                <a:cs typeface="Arial"/>
                <a:sym typeface="Arial"/>
              </a:rPr>
              <a:t>Prolonged and extensive media coverage (reputational impact)</a:t>
            </a:r>
            <a:endParaRPr dirty="0"/>
          </a:p>
        </p:txBody>
      </p:sp>
      <p:sp>
        <p:nvSpPr>
          <p:cNvPr id="10"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 The Loss Incident &amp; Impacts on PEAP</a:t>
            </a: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6514420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Documentary Videos on the BP DWH Blowout, Gulf of Mexico,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 are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posted on </a:t>
            </a:r>
            <a:r>
              <a:rPr lang="en-US" altLang="en-US" sz="18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viewing prior to the lecture.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Video:</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00:00-01:20 Introduction and CSB Investigation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01:21-02:35 Technical explanation – drilling, mud, kicks</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02:36-03:38 BOP Operation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03:39-04:57 The Kick initiates the incident</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04:58-05:24 Buckled Pipe and Effective Compression</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CBS News 60 Minutes Video, Part 1: </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02:03-03:04 Background</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02:18-03:04 Technical explanation - rate of penetration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03:05-04:36 “Tension” – push to do things safely but fast (competing priorities)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CBS News 60 Minutes Video, Part 2: </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02:40-7:15 Professor Bob Bea – discussion points akin to “The Engineer’s Survival Guide”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Documentary Videos – Viewed via </a:t>
            </a:r>
            <a:r>
              <a:rPr lang="en-US" altLang="en-US" sz="2400" b="0" dirty="0" err="1">
                <a:solidFill>
                  <a:schemeClr val="accent2"/>
                </a:solidFill>
                <a:latin typeface="Arial" panose="020B0604020202020204" pitchFamily="34" charset="0"/>
                <a:ea typeface="+mj-ea"/>
                <a:cs typeface="Arial" panose="020B0604020202020204" pitchFamily="34" charset="0"/>
              </a:rPr>
              <a:t>eClass</a:t>
            </a:r>
            <a:r>
              <a:rPr lang="en-US" altLang="en-US" sz="2400" b="0" dirty="0">
                <a:solidFill>
                  <a:schemeClr val="accent2"/>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1517996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7354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Rush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“get the job done”: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rate faster than specified for formation</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barrier (plug) not effectively installed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Premature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removal of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fluid / mud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 cement plugs were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completed (cured)</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Defective Blowout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Preventer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 – a “safety-critical device”:</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Damaged Annular on the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BOP </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Inoperative Control Pods on the BOP</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Damaged hydraulic line and weak battery on the BOP</a:t>
            </a: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Incorrect interpretation of well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data:</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 standards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inadequate compliance with standards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signals of a “kick” ignored (the lead-up prior to a blow-out)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integrity test did not give a clear “pass / fail</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i.e. pressure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test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failed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confirm mud and plug integrity (pressure should have remained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static / less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mud returned to surface)</a:t>
            </a: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Incident Causes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99385852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60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 effective safeguards were in place to eliminate or minimize the consequences of a process safety incident.  </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safeguards (the physical barriers such as drilling mud, steel casing, cement plugs, “kick” detection, cement barrier testing, and BOP) intended to prevent such a disaster were not properly constructed, tested, or maintained, or they had been removed. </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management systems intended to ensure functionality, availability, and reliability of these safety-critical safeguards were inadequate. </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safeguards meant to prevent, mitigate, or control a blowout failed on the day of the accident</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drilling column fluid (mud weight) barrier and the cement barrier both fail, and the well is still open (no plug installed), drilling crews depend on a blowout preventer (BOP) to control pore pressures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60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 Chemical Safety And Hazard Investigation Board; </a:t>
            </a:r>
            <a:b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Investigation Report, Volume 1; Explosion And Fire At </a:t>
            </a:r>
            <a:b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Well; Report No. 2010-10-I-OS;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5-June-2014</a:t>
            </a:r>
          </a:p>
          <a:p>
            <a:pPr marL="0" indent="0" algn="r" eaLnBrk="0" hangingPunct="0">
              <a:lnSpc>
                <a:spcPct val="100000"/>
              </a:lnSpc>
              <a:spcBef>
                <a:spcPts val="0"/>
              </a:spcBef>
              <a:spcAft>
                <a:spcPts val="600"/>
              </a:spcAft>
              <a:buClr>
                <a:srgbClr val="000000"/>
              </a:buClr>
              <a:buSzPct val="100000"/>
              <a:buNone/>
            </a:pPr>
            <a:r>
              <a:rPr lang="en-US" altLang="en-US" sz="16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Layers of Protection</a:t>
            </a:r>
            <a:endPar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Incident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
        <p:nvSpPr>
          <p:cNvPr id="2" name="Left Arrow 1"/>
          <p:cNvSpPr/>
          <p:nvPr/>
        </p:nvSpPr>
        <p:spPr>
          <a:xfrm rot="1087676">
            <a:off x="5845115" y="5013118"/>
            <a:ext cx="2675623" cy="745128"/>
          </a:xfrm>
          <a:prstGeom prst="lef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latin typeface="Arial" panose="020B0604020202020204" pitchFamily="34" charset="0"/>
                <a:cs typeface="Arial" panose="020B0604020202020204" pitchFamily="34" charset="0"/>
              </a:rPr>
              <a:t>Three </a:t>
            </a:r>
            <a:r>
              <a:rPr lang="en-US" sz="2000" dirty="0" err="1" smtClean="0">
                <a:solidFill>
                  <a:schemeClr val="bg1"/>
                </a:solidFill>
                <a:latin typeface="Arial" panose="020B0604020202020204" pitchFamily="34" charset="0"/>
                <a:cs typeface="Arial" panose="020B0604020202020204" pitchFamily="34" charset="0"/>
              </a:rPr>
              <a:t>LoP</a:t>
            </a:r>
            <a:r>
              <a:rPr lang="en-US" sz="2000" dirty="0" smtClean="0">
                <a:solidFill>
                  <a:schemeClr val="bg1"/>
                </a:solidFill>
                <a:latin typeface="Arial" panose="020B0604020202020204" pitchFamily="34" charset="0"/>
                <a:cs typeface="Arial" panose="020B0604020202020204" pitchFamily="34" charset="0"/>
              </a:rPr>
              <a:t>* </a:t>
            </a:r>
            <a:r>
              <a:rPr lang="en-US" sz="2000" dirty="0" smtClean="0">
                <a:solidFill>
                  <a:schemeClr val="bg1"/>
                </a:solidFill>
                <a:latin typeface="Arial" panose="020B0604020202020204" pitchFamily="34" charset="0"/>
                <a:cs typeface="Arial" panose="020B0604020202020204" pitchFamily="34" charset="0"/>
              </a:rPr>
              <a:t>failed!</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415447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Continue to Drill Down in the RCA:</a:t>
            </a: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preceding pages provide sufficient content for any ENGG404 team of students to generate an RCA chart and drill down to latent causes.</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what would we find? Given the magnitude of this event, would we expect to find latent causes categorized as “P” or “S” or “C”?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report: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intended to ensure the required functionality, availability, and reliability of these safety-critical safeguards were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inadequately implemented</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while BP and Transocean had </a:t>
            </a:r>
            <a:r>
              <a:rPr lang="en-US" altLang="en-US" sz="1800" b="0" i="1" u="sng"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rigourous</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corporate polices</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risk management,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neither</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company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ensured their implementation</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t>
            </a:r>
            <a:r>
              <a:rPr lang="en-US" altLang="en-US" sz="1800" b="0" i="1"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major hazards of drilling associated with process safety (containment of hydrocarbons under pressure)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lacked management oversight</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compared to occupational safety.”</a:t>
            </a: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Sounds like a “C” … but let’s read on</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Immediate and Basic Causes … Latent Causes? Culture?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34173639"/>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Letter to Tony Hayward, CEO, BP from U.S. House Committee on Energy and Commerce officials: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appears to have made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multiple decisions for economic reasons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increased the danger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 catastrophic well failure.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several instances, 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decisions appear to violate industry guidelines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were made despite warnings from BP’s own personnel and its contractors.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effect, it appears that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repeatedly chose risky procedures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order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reduce costs and save time</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made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minimal efforts to contain the added risks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Waxman, Henry, Committee Chair</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U.S. House Committee on Energy and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Commerce, and Bart Stupak, Chair of Subcommittee on Oversight and Investigation</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U.S. House Committee on Energy and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Commerce. 2010. Letter to Tony Hayward, Chief Executive Officer, BP PLC.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http://energycommerce.house.gov/documents/20100614/Hayward.BP.2010.6.14.pdf</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accessed 10-June-2010</a:t>
            </a: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47</a:t>
            </a: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Culture and Organizational Factors</a:t>
            </a:r>
            <a:r>
              <a:rPr lang="en-US" altLang="en-US" sz="2400" b="0" dirty="0" smtClean="0">
                <a:solidFill>
                  <a:schemeClr val="accent2"/>
                </a:solidFill>
                <a:latin typeface="Arial" panose="020B0604020202020204" pitchFamily="34" charset="0"/>
                <a:ea typeface="+mj-ea"/>
                <a:cs typeface="Arial" panose="020B0604020202020204" pitchFamily="34" charset="0"/>
              </a:rPr>
              <a:t>: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r>
              <a:rPr lang="en-US" altLang="en-US" sz="16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1372506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Davis to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Personal Communication:</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“My initial assessment of the MC252 (BP-</a:t>
            </a:r>
            <a:r>
              <a:rPr lang="en-US" altLang="en-US" sz="18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 is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 by BP management to manage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series of technical and operational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 to conduct a proper hazard analysis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on the first change was a secondary change.</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MC252 loss incident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an operator nor mechanic (i.e. technical) root cause but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corporate management root cause</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Davis, J. Frank. 2010. Personal communication, email to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8-July-2010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161</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064387714"/>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from </a:t>
            </a:r>
            <a:r>
              <a:rPr lang="en-US" altLang="en-US" sz="14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4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4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Personal Communication:</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has been much discussion of the immediate technical causes of the 2010 BP oil leaks, but the underlying or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root cause was a change in the culture of the company as a whole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particularly in the U.S. Back in the 1960s and 1970s, BP had a good safety record and safety culture. Why has it changed?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Every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manager</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chemical and oil industries (and no doubt many others)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knows</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many operators, maintenance workers, foremen, and shift managers …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will start taking short cuts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stop following instructions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they can get away with it</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Their attitude is a macho one, there their job is to make product, not fill in forms such as a permit –to-work. Professional staff, at all levels, should check details frequently or the procedures will corrode faster than the steelwork and soon vanish without trace. It is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enough for the professional staff (leadership) to take a helicopter view</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many, perhaps most, offshore rigs and platforms, the senior person in charge is usually someone who has risen form the ranks and would have been a foreman or shift manager if he had stayed onshore. While professional staff visit from time to time,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no day-to-day checking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(by someone at a higher level). When there is a problem, the attitude of the senior person on the rig or platform is often a macho one: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“Forget the rules. Let’s get stuck in a finish the job</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parlance is “</a:t>
            </a:r>
            <a:r>
              <a:rPr lang="en-US" altLang="en-US" sz="140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Git</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er</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done!”)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is easy to point the finger at the management and assume that a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cutting corners started at the top</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was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motivated by money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is worth remembering that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same culture can also originate at the bottom</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driven by the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 to get the job done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task of management is to know this and make sure it is done properly.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Trevor. 2010. Personal communication, email to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8-July-2010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161-162</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803106"/>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Journal of Drilling Engineering:</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majority of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factors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associated with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are provided to the drilling and workover personnel.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most often are those of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production and safety</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unique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drilling and workover operations in this industry or even to the oil and gas industry.”</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Bea, R.G. 1998. “Real-time Prevention of Drilling and Workover Blowouts: Management Rapidly Developing Crises.” Journal of Drilling Engineering, May:1-10.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162</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00567923"/>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Cultural Issues on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Competing objectives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(conflicting incentives) of costs, schedule, and production over safety!</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made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multiple decisions for economic reasons that increased the danger of a catastrophic well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BP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repeatedly chose risky procedures in order to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reduce costs and save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Normalization of Deviance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(Atrophy of Compliance):</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will start taking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short cuts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stop following instructions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they can get away with it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easy to point the finger at the management and assume that a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cutting corners started at the top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was motivated by money. It is worth remembering that 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 culture can also originate at the bottom, driven by the desire to get the job done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task of management is to know this and make sure it is done properly</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2010.</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Culture and Organizational Factors: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62749680"/>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More Cultural Issues about on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happened after drilling &amp; cement job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completed, and nearing well-completion! Rush to complete, our guard drops – we become complacent.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had a similar rig incident which demonstrated the need for well monitoring (lower consequences) in the UK just four months prior, but no transfer of lessons to Gulf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Mexico.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 hazards of drilling associated with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(containment of hydrocarbons under pressure)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lacked management oversight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compared to occupational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experienced a significant process safety-related loss at their Texas City refinery in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2005</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but a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shift of the risk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paradigm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more on process safety was lacking</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BP drilling organization in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2010</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 It takes time to change culture!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Culture and Organizational Factors: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05604074"/>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0"/>
          <p:cNvSpPr/>
          <p:nvPr/>
        </p:nvSpPr>
        <p:spPr>
          <a:xfrm>
            <a:off x="180000" y="828000"/>
            <a:ext cx="8640000" cy="5328000"/>
          </a:xfrm>
          <a:prstGeom prst="rect">
            <a:avLst/>
          </a:prstGeom>
          <a:solidFill>
            <a:srgbClr val="0000FF"/>
          </a:solidFill>
          <a:ln w="9525"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lvl="0">
              <a:spcBef>
                <a:spcPts val="0"/>
              </a:spcBef>
              <a:spcAft>
                <a:spcPts val="0"/>
              </a:spcAft>
            </a:pPr>
            <a:r>
              <a:rPr lang="en-US" sz="2000" b="0" i="1" u="none" strike="noStrike" cap="none" dirty="0">
                <a:solidFill>
                  <a:srgbClr val="FFFFFF"/>
                </a:solidFill>
                <a:latin typeface="Arial"/>
                <a:ea typeface="Arial"/>
                <a:cs typeface="Arial"/>
                <a:sym typeface="Arial"/>
              </a:rPr>
              <a:t>Please </a:t>
            </a:r>
            <a:r>
              <a:rPr lang="en-US" sz="2000" b="0" i="1" u="none" strike="noStrike" cap="none" dirty="0" smtClean="0">
                <a:solidFill>
                  <a:srgbClr val="FFFFFF"/>
                </a:solidFill>
                <a:latin typeface="Arial"/>
                <a:ea typeface="Arial"/>
                <a:cs typeface="Arial"/>
                <a:sym typeface="Arial"/>
              </a:rPr>
              <a:t>confer (</a:t>
            </a:r>
            <a:r>
              <a:rPr lang="en-US" sz="2000" b="0" i="1" dirty="0" smtClean="0">
                <a:solidFill>
                  <a:srgbClr val="FFFFFF"/>
                </a:solidFill>
                <a:latin typeface="Arial"/>
                <a:ea typeface="Arial"/>
                <a:cs typeface="Arial"/>
                <a:sym typeface="Arial"/>
              </a:rPr>
              <a:t>pen-to-paper, MM </a:t>
            </a:r>
            <a:r>
              <a:rPr lang="en-US" sz="2000" b="0" i="1" dirty="0">
                <a:solidFill>
                  <a:srgbClr val="FFFFFF"/>
                </a:solidFill>
                <a:latin typeface="Arial"/>
                <a:ea typeface="Arial"/>
                <a:cs typeface="Arial"/>
                <a:sym typeface="Arial"/>
              </a:rPr>
              <a:t>vote on your top 3</a:t>
            </a:r>
            <a:r>
              <a:rPr lang="en-US" sz="2000" b="0" i="1" dirty="0" smtClean="0">
                <a:solidFill>
                  <a:srgbClr val="FFFFFF"/>
                </a:solidFill>
                <a:latin typeface="Arial"/>
                <a:ea typeface="Arial"/>
                <a:cs typeface="Arial"/>
                <a:sym typeface="Arial"/>
              </a:rPr>
              <a:t>)! </a:t>
            </a:r>
            <a:endParaRPr lang="en-US" sz="2000" b="0" i="1" u="none" strike="noStrike" cap="none" dirty="0" smtClean="0">
              <a:solidFill>
                <a:srgbClr val="FFFFFF"/>
              </a:solidFill>
              <a:latin typeface="Arial"/>
              <a:ea typeface="Arial"/>
              <a:cs typeface="Arial"/>
              <a:sym typeface="Arial"/>
            </a:endParaRPr>
          </a:p>
          <a:p>
            <a:pPr>
              <a:spcBef>
                <a:spcPts val="0"/>
              </a:spcBef>
              <a:spcAft>
                <a:spcPts val="0"/>
              </a:spcAft>
            </a:pPr>
            <a:r>
              <a:rPr lang="en-US" sz="2000" b="0" i="1" dirty="0">
                <a:solidFill>
                  <a:srgbClr val="FFFFFF"/>
                </a:solidFill>
                <a:latin typeface="Arial"/>
                <a:ea typeface="Arial"/>
                <a:cs typeface="Arial"/>
                <a:sym typeface="Arial"/>
              </a:rPr>
              <a:t>Take a moment to think about this </a:t>
            </a:r>
            <a:r>
              <a:rPr lang="en-US" sz="2000" b="0" i="1" dirty="0" smtClean="0">
                <a:solidFill>
                  <a:srgbClr val="FFFFFF"/>
                </a:solidFill>
                <a:latin typeface="Arial"/>
                <a:ea typeface="Arial"/>
                <a:cs typeface="Arial"/>
                <a:sym typeface="Arial"/>
              </a:rPr>
              <a:t>question: </a:t>
            </a:r>
          </a:p>
          <a:p>
            <a:pPr marL="342900" indent="-342900">
              <a:spcBef>
                <a:spcPts val="0"/>
              </a:spcBef>
              <a:spcAft>
                <a:spcPts val="0"/>
              </a:spcAft>
              <a:buFont typeface="Wingdings" panose="05000000000000000000" pitchFamily="2" charset="2"/>
              <a:buChar char="Ø"/>
            </a:pPr>
            <a:r>
              <a:rPr lang="en-US" sz="2000" b="0" i="1" u="none" strike="noStrike" cap="none" dirty="0" smtClean="0">
                <a:solidFill>
                  <a:srgbClr val="FFFFFF"/>
                </a:solidFill>
                <a:latin typeface="Arial"/>
                <a:ea typeface="Arial"/>
                <a:cs typeface="Arial"/>
                <a:sym typeface="Arial"/>
              </a:rPr>
              <a:t>Besides </a:t>
            </a:r>
            <a:r>
              <a:rPr lang="en-US" sz="2000" b="0" i="1" u="none" strike="noStrike" cap="none" dirty="0">
                <a:solidFill>
                  <a:srgbClr val="FFFFFF"/>
                </a:solidFill>
                <a:latin typeface="Arial"/>
                <a:ea typeface="Arial"/>
                <a:cs typeface="Arial"/>
                <a:sym typeface="Arial"/>
              </a:rPr>
              <a:t>the obvious weakness in the first element (Management Leadership, Commitment and Accountability), what other elements of the risk management system were weak? </a:t>
            </a:r>
            <a:endParaRPr sz="2000" b="0" i="1" u="none" strike="noStrike" cap="none" dirty="0">
              <a:solidFill>
                <a:srgbClr val="FFFFFF"/>
              </a:solidFill>
              <a:latin typeface="Arial"/>
              <a:ea typeface="Arial"/>
              <a:cs typeface="Arial"/>
              <a:sym typeface="Arial"/>
            </a:endParaRPr>
          </a:p>
          <a:p>
            <a:pPr marL="457200" marR="0" lvl="0" indent="-457200" algn="l" rtl="0">
              <a:spcBef>
                <a:spcPts val="0"/>
              </a:spcBef>
              <a:spcAft>
                <a:spcPts val="0"/>
              </a:spcAft>
              <a:buClr>
                <a:srgbClr val="000000"/>
              </a:buClr>
              <a:buSzPts val="2000"/>
              <a:buFont typeface="Noto Sans Symbols"/>
              <a:buNone/>
            </a:pPr>
            <a:endParaRPr sz="2000" b="0" i="1" u="none" strike="noStrike" cap="none" dirty="0">
              <a:solidFill>
                <a:srgbClr val="FFFFFF"/>
              </a:solidFill>
              <a:latin typeface="Arial"/>
              <a:ea typeface="Arial"/>
              <a:cs typeface="Arial"/>
              <a:sym typeface="Arial"/>
            </a:endParaRPr>
          </a:p>
        </p:txBody>
      </p:sp>
      <p:sp>
        <p:nvSpPr>
          <p:cNvPr id="243" name="Google Shape;243;p10"/>
          <p:cNvSpPr/>
          <p:nvPr/>
        </p:nvSpPr>
        <p:spPr>
          <a:xfrm>
            <a:off x="1760561" y="2635501"/>
            <a:ext cx="5394278" cy="3460499"/>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algn="l" rtl="0">
              <a:lnSpc>
                <a:spcPct val="110000"/>
              </a:lnSpc>
              <a:spcBef>
                <a:spcPts val="0"/>
              </a:spcBef>
              <a:spcAft>
                <a:spcPts val="0"/>
              </a:spcAft>
              <a:buClr>
                <a:srgbClr val="000000"/>
              </a:buClr>
              <a:buSzPts val="1400"/>
              <a:buFont typeface="Noto Sans Symbols"/>
              <a:buNone/>
            </a:pPr>
            <a:r>
              <a:rPr lang="en-US" sz="1400" b="1" i="0" u="none" strike="noStrike" cap="none" dirty="0">
                <a:latin typeface="Arial"/>
                <a:ea typeface="Arial"/>
                <a:cs typeface="Arial"/>
                <a:sym typeface="Arial"/>
              </a:rPr>
              <a:t>Risk Management System (APEGA Model):</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Management Leadership, Commitment and Accountability.</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Risk Assessment and Management of Risks.</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Community Awareness and Emergency Preparedness.</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Management of Change.</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Incident Reporting, Investigation, Analysis and Actions.</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Program Evaluation and Continuous Improvement. </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Design, Construction and Start-up.</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Operations and Maintenance.</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Employee Competency and Training.</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Contractor Competency and Integration.</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Operations and Facilities Information and Documentation.</a:t>
            </a:r>
            <a:endParaRPr dirty="0"/>
          </a:p>
        </p:txBody>
      </p:sp>
      <p:sp>
        <p:nvSpPr>
          <p:cNvPr id="6"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Identify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Weaknesses in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RMS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09621915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lvl="0" indent="-609600" algn="l" rtl="0">
              <a:spcBef>
                <a:spcPts val="0"/>
              </a:spcBef>
              <a:spcAft>
                <a:spcPts val="0"/>
              </a:spcAft>
              <a:buClrTx/>
              <a:buSzPts val="2000"/>
              <a:buFont typeface="Noto Sans Symbols"/>
              <a:buChar char="⮚"/>
            </a:pPr>
            <a:r>
              <a:rPr lang="en-US" sz="2000" dirty="0">
                <a:solidFill>
                  <a:schemeClr val="tx1"/>
                </a:solidFill>
                <a:latin typeface="Arial"/>
                <a:ea typeface="Arial"/>
                <a:cs typeface="Arial"/>
                <a:sym typeface="Arial"/>
              </a:rPr>
              <a:t>The report stated that "whether purposeful or not, many of the </a:t>
            </a:r>
            <a:r>
              <a:rPr lang="en-US" sz="2000" u="sng" dirty="0">
                <a:solidFill>
                  <a:schemeClr val="tx1"/>
                </a:solidFill>
                <a:latin typeface="Arial"/>
                <a:ea typeface="Arial"/>
                <a:cs typeface="Arial"/>
                <a:sym typeface="Arial"/>
              </a:rPr>
              <a:t>decisions</a:t>
            </a:r>
            <a:r>
              <a:rPr lang="en-US" sz="2000" dirty="0">
                <a:solidFill>
                  <a:schemeClr val="tx1"/>
                </a:solidFill>
                <a:latin typeface="Arial"/>
                <a:ea typeface="Arial"/>
                <a:cs typeface="Arial"/>
                <a:sym typeface="Arial"/>
              </a:rPr>
              <a:t> that BP, Halliburton, and Transocean made that </a:t>
            </a:r>
            <a:r>
              <a:rPr lang="en-US" sz="2000" u="sng" dirty="0">
                <a:solidFill>
                  <a:schemeClr val="tx1"/>
                </a:solidFill>
                <a:latin typeface="Arial"/>
                <a:ea typeface="Arial"/>
                <a:cs typeface="Arial"/>
                <a:sym typeface="Arial"/>
              </a:rPr>
              <a:t>increased the risk </a:t>
            </a:r>
            <a:r>
              <a:rPr lang="en-US" sz="2000" dirty="0">
                <a:solidFill>
                  <a:schemeClr val="tx1"/>
                </a:solidFill>
                <a:latin typeface="Arial"/>
                <a:ea typeface="Arial"/>
                <a:cs typeface="Arial"/>
                <a:sym typeface="Arial"/>
              </a:rPr>
              <a:t>of the </a:t>
            </a:r>
            <a:r>
              <a:rPr lang="en-US" sz="2000" dirty="0" err="1">
                <a:solidFill>
                  <a:schemeClr val="tx1"/>
                </a:solidFill>
                <a:latin typeface="Arial"/>
                <a:ea typeface="Arial"/>
                <a:cs typeface="Arial"/>
                <a:sym typeface="Arial"/>
              </a:rPr>
              <a:t>Macondo</a:t>
            </a:r>
            <a:r>
              <a:rPr lang="en-US" sz="2000" dirty="0">
                <a:solidFill>
                  <a:schemeClr val="tx1"/>
                </a:solidFill>
                <a:latin typeface="Arial"/>
                <a:ea typeface="Arial"/>
                <a:cs typeface="Arial"/>
                <a:sym typeface="Arial"/>
              </a:rPr>
              <a:t> blowout clearly saved those companies significant time (and money).”</a:t>
            </a:r>
            <a:endParaRPr sz="2000" b="1" i="1" dirty="0">
              <a:solidFill>
                <a:schemeClr val="tx1"/>
              </a:solidFill>
              <a:latin typeface="Arial"/>
              <a:ea typeface="Arial"/>
              <a:cs typeface="Arial"/>
              <a:sym typeface="Arial"/>
            </a:endParaRPr>
          </a:p>
        </p:txBody>
      </p:sp>
      <p:sp>
        <p:nvSpPr>
          <p:cNvPr id="7" name="Google Shape;272;p12"/>
          <p:cNvSpPr txBox="1"/>
          <p:nvPr/>
        </p:nvSpPr>
        <p:spPr>
          <a:xfrm>
            <a:off x="180000" y="2124000"/>
            <a:ext cx="8640000" cy="40320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rgbClr val="FFFFFF"/>
                </a:solidFill>
                <a:latin typeface="Arial"/>
                <a:ea typeface="Arial"/>
                <a:cs typeface="Arial"/>
                <a:sym typeface="Arial"/>
              </a:rPr>
              <a:t>Q: What was the priority of management?</a:t>
            </a:r>
            <a:endParaRPr sz="200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In the weeks and days leading up to the loss incident, the priority was getting the well to completion (drilled to depth, and capped) in order to save time and money.</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Certainly, there was a priority and focus on occupational safety.</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But there was minimal focus on process safety. </a:t>
            </a:r>
            <a:endParaRPr sz="2000" b="0" dirty="0">
              <a:latin typeface="Arial"/>
              <a:ea typeface="Arial"/>
              <a:cs typeface="Arial"/>
              <a:sym typeface="Arial"/>
            </a:endParaRPr>
          </a:p>
          <a:p>
            <a:pPr marL="342900" marR="0" lvl="0" indent="-215900" algn="l" rtl="0">
              <a:spcBef>
                <a:spcPts val="0"/>
              </a:spcBef>
              <a:spcAft>
                <a:spcPts val="0"/>
              </a:spcAft>
              <a:buClr>
                <a:schemeClr val="dk1"/>
              </a:buClr>
              <a:buSzPts val="2000"/>
              <a:buFont typeface="Noto Sans Symbols"/>
              <a:buNone/>
            </a:pPr>
            <a:endParaRPr sz="2000" dirty="0">
              <a:latin typeface="Arial"/>
              <a:ea typeface="Arial"/>
              <a:cs typeface="Arial"/>
              <a:sym typeface="Arial"/>
            </a:endParaRPr>
          </a:p>
          <a:p>
            <a:pPr marL="0" marR="0" lvl="0" indent="0" algn="l" rtl="0">
              <a:spcBef>
                <a:spcPts val="0"/>
              </a:spcBef>
              <a:spcAft>
                <a:spcPts val="0"/>
              </a:spcAft>
              <a:buNone/>
            </a:pPr>
            <a:r>
              <a:rPr lang="en-US" sz="2000" dirty="0" smtClean="0">
                <a:solidFill>
                  <a:srgbClr val="FFFFFF"/>
                </a:solidFill>
                <a:latin typeface="Arial"/>
                <a:ea typeface="Arial"/>
                <a:cs typeface="Arial"/>
                <a:sym typeface="Arial"/>
              </a:rPr>
              <a:t>Q</a:t>
            </a:r>
            <a:r>
              <a:rPr lang="en-US" sz="2000" dirty="0">
                <a:solidFill>
                  <a:srgbClr val="FFFFFF"/>
                </a:solidFill>
                <a:latin typeface="Arial"/>
                <a:ea typeface="Arial"/>
                <a:cs typeface="Arial"/>
                <a:sym typeface="Arial"/>
              </a:rPr>
              <a:t>: What was the evidence for </a:t>
            </a:r>
            <a:r>
              <a:rPr lang="en-US" sz="2000" dirty="0" smtClean="0">
                <a:solidFill>
                  <a:srgbClr val="FFFFFF"/>
                </a:solidFill>
                <a:latin typeface="Arial"/>
                <a:ea typeface="Arial"/>
                <a:cs typeface="Arial"/>
                <a:sym typeface="Arial"/>
              </a:rPr>
              <a:t>this lack of focus on process safety?</a:t>
            </a:r>
            <a:endParaRPr sz="200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Rushing to complete the drilling work (over budget, behind schedule, focus on costs).</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Disregard for critical safety engineered systems for controlling down-hole pressures, detection of leakage, and blow-out prevention.</a:t>
            </a:r>
            <a:endParaRPr sz="2000" b="0" dirty="0">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RME #1 Management Commitment, Leadership &amp; Accountability</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1448142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lvl="0" indent="-609600" algn="l" rtl="0">
              <a:spcBef>
                <a:spcPts val="0"/>
              </a:spcBef>
              <a:spcAft>
                <a:spcPts val="0"/>
              </a:spcAft>
              <a:buClrTx/>
              <a:buSzPts val="2000"/>
              <a:buFont typeface="Noto Sans Symbols"/>
              <a:buChar char="⮚"/>
            </a:pPr>
            <a:r>
              <a:rPr lang="en-US" sz="2000" dirty="0">
                <a:solidFill>
                  <a:schemeClr val="tx1"/>
                </a:solidFill>
                <a:latin typeface="Arial"/>
                <a:ea typeface="Arial"/>
                <a:cs typeface="Arial"/>
                <a:sym typeface="Arial"/>
              </a:rPr>
              <a:t>The report stated that "whether purposeful or not, many of the </a:t>
            </a:r>
            <a:r>
              <a:rPr lang="en-US" sz="2000" u="sng" dirty="0">
                <a:solidFill>
                  <a:schemeClr val="tx1"/>
                </a:solidFill>
                <a:latin typeface="Arial"/>
                <a:ea typeface="Arial"/>
                <a:cs typeface="Arial"/>
                <a:sym typeface="Arial"/>
              </a:rPr>
              <a:t>decisions</a:t>
            </a:r>
            <a:r>
              <a:rPr lang="en-US" sz="2000" dirty="0">
                <a:solidFill>
                  <a:schemeClr val="tx1"/>
                </a:solidFill>
                <a:latin typeface="Arial"/>
                <a:ea typeface="Arial"/>
                <a:cs typeface="Arial"/>
                <a:sym typeface="Arial"/>
              </a:rPr>
              <a:t> that BP, Halliburton, and Transocean made that </a:t>
            </a:r>
            <a:r>
              <a:rPr lang="en-US" sz="2000" u="sng" dirty="0">
                <a:solidFill>
                  <a:schemeClr val="tx1"/>
                </a:solidFill>
                <a:latin typeface="Arial"/>
                <a:ea typeface="Arial"/>
                <a:cs typeface="Arial"/>
                <a:sym typeface="Arial"/>
              </a:rPr>
              <a:t>increased the risk </a:t>
            </a:r>
            <a:r>
              <a:rPr lang="en-US" sz="2000" dirty="0">
                <a:solidFill>
                  <a:schemeClr val="tx1"/>
                </a:solidFill>
                <a:latin typeface="Arial"/>
                <a:ea typeface="Arial"/>
                <a:cs typeface="Arial"/>
                <a:sym typeface="Arial"/>
              </a:rPr>
              <a:t>of the </a:t>
            </a:r>
            <a:r>
              <a:rPr lang="en-US" sz="2000" dirty="0" err="1">
                <a:solidFill>
                  <a:schemeClr val="tx1"/>
                </a:solidFill>
                <a:latin typeface="Arial"/>
                <a:ea typeface="Arial"/>
                <a:cs typeface="Arial"/>
                <a:sym typeface="Arial"/>
              </a:rPr>
              <a:t>Macondo</a:t>
            </a:r>
            <a:r>
              <a:rPr lang="en-US" sz="2000" dirty="0">
                <a:solidFill>
                  <a:schemeClr val="tx1"/>
                </a:solidFill>
                <a:latin typeface="Arial"/>
                <a:ea typeface="Arial"/>
                <a:cs typeface="Arial"/>
                <a:sym typeface="Arial"/>
              </a:rPr>
              <a:t> blowout clearly saved those companies significant time (and money).”</a:t>
            </a:r>
            <a:endParaRPr sz="2000" b="1" i="1" dirty="0">
              <a:solidFill>
                <a:schemeClr val="tx1"/>
              </a:solidFill>
              <a:latin typeface="Arial"/>
              <a:ea typeface="Arial"/>
              <a:cs typeface="Arial"/>
              <a:sym typeface="Arial"/>
            </a:endParaRPr>
          </a:p>
        </p:txBody>
      </p:sp>
      <p:sp>
        <p:nvSpPr>
          <p:cNvPr id="7" name="Google Shape;272;p12"/>
          <p:cNvSpPr txBox="1"/>
          <p:nvPr/>
        </p:nvSpPr>
        <p:spPr>
          <a:xfrm>
            <a:off x="180000" y="2124000"/>
            <a:ext cx="8640000" cy="40320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rgbClr val="FFFFFF"/>
                </a:solidFill>
                <a:latin typeface="Arial"/>
                <a:ea typeface="Arial"/>
                <a:cs typeface="Arial"/>
                <a:sym typeface="Arial"/>
              </a:rPr>
              <a:t>Q: What was the priority of management?</a:t>
            </a:r>
            <a:endParaRPr sz="200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In the weeks and days leading up to the loss incident, the priority was getting the well to completion (drilled to depth, and capped) in order to save time and money.</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Certainly, there was a priority and focus on occupational safety.</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But there was minimal focus on process safety. </a:t>
            </a:r>
            <a:endParaRPr sz="2000" b="0" dirty="0">
              <a:solidFill>
                <a:srgbClr val="FFFFFF"/>
              </a:solidFill>
              <a:latin typeface="Arial"/>
              <a:ea typeface="Arial"/>
              <a:cs typeface="Arial"/>
              <a:sym typeface="Arial"/>
            </a:endParaRPr>
          </a:p>
          <a:p>
            <a:pPr marL="342900" marR="0" lvl="0" indent="-215900" algn="l" rtl="0">
              <a:spcBef>
                <a:spcPts val="0"/>
              </a:spcBef>
              <a:spcAft>
                <a:spcPts val="0"/>
              </a:spcAft>
              <a:buClr>
                <a:schemeClr val="dk1"/>
              </a:buClr>
              <a:buSzPts val="2000"/>
              <a:buFont typeface="Noto Sans Symbols"/>
              <a:buNone/>
            </a:pPr>
            <a:endParaRPr sz="2000" dirty="0">
              <a:solidFill>
                <a:srgbClr val="FFFFFF"/>
              </a:solidFill>
              <a:latin typeface="Arial"/>
              <a:ea typeface="Arial"/>
              <a:cs typeface="Arial"/>
              <a:sym typeface="Arial"/>
            </a:endParaRPr>
          </a:p>
          <a:p>
            <a:pPr marL="0" marR="0" lvl="0" indent="0" algn="l" rtl="0">
              <a:spcBef>
                <a:spcPts val="0"/>
              </a:spcBef>
              <a:spcAft>
                <a:spcPts val="0"/>
              </a:spcAft>
              <a:buNone/>
            </a:pPr>
            <a:r>
              <a:rPr lang="en-US" sz="2000" dirty="0" smtClean="0">
                <a:solidFill>
                  <a:srgbClr val="FFFFFF"/>
                </a:solidFill>
                <a:latin typeface="Arial"/>
                <a:ea typeface="Arial"/>
                <a:cs typeface="Arial"/>
                <a:sym typeface="Arial"/>
              </a:rPr>
              <a:t>Q</a:t>
            </a:r>
            <a:r>
              <a:rPr lang="en-US" sz="2000" dirty="0">
                <a:solidFill>
                  <a:srgbClr val="FFFFFF"/>
                </a:solidFill>
                <a:latin typeface="Arial"/>
                <a:ea typeface="Arial"/>
                <a:cs typeface="Arial"/>
                <a:sym typeface="Arial"/>
              </a:rPr>
              <a:t>: What was the evidence for </a:t>
            </a:r>
            <a:r>
              <a:rPr lang="en-US" sz="2000" dirty="0" smtClean="0">
                <a:solidFill>
                  <a:srgbClr val="FFFFFF"/>
                </a:solidFill>
                <a:latin typeface="Arial"/>
                <a:ea typeface="Arial"/>
                <a:cs typeface="Arial"/>
                <a:sym typeface="Arial"/>
              </a:rPr>
              <a:t>this lack of focus on process safety?</a:t>
            </a:r>
            <a:endParaRPr sz="200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Rushing to complete the drilling work (over budget, behind schedule, focus on costs).</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Disregard for critical safety engineered systems for controlling down-hole pressures, detection of leakage, and blow-out prevention.</a:t>
            </a:r>
            <a:endParaRPr sz="2000" b="0" dirty="0">
              <a:solidFill>
                <a:srgbClr val="FFFFFF"/>
              </a:solidFill>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RME #1 Management Commitment, Leadership &amp; Accountability</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6092155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 safeguards were in place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eliminate the likelihood of or minimize the consequences of a blow-out, a process safety incident.</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mud, steel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casing,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plugs, “kick” detection, cement barrier testing, and BOP) intended to prevent such a disaster were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properly constructed, tested, or maintained, or they had been removed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intended to ensure the required functionality, availability, and reliability of these safety-critical safeguards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inadequate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the safeguards meant to prevent, mitigate, or control a blowout failed on the day of the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#2: Risk Assessment &amp; Management of Risk</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50207837"/>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BP, Transocean, and all other contractor / service companies recognized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Seven Years without an LTI</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remarkable achievement, yet there was a catastrophic incident with tragic losses.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focus (measurement, recognition, reward) was on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much less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process 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gets measured gets managed!</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Too often, the means to motivate managers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misdirected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well-meaning goals and targets, but the down-side: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NOT measured is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well-managed! </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 risks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associated with the drilling operations &amp; well status were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appropriately considered, evaluated, or managed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the pressure was on, process safety management lacked visibility and leadership attention.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#2: Risk Assessment &amp; Management of Risk</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87282722"/>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80000"/>
              </a:lnSpc>
              <a:spcBef>
                <a:spcPts val="0"/>
              </a:spcBef>
              <a:spcAft>
                <a:spcPct val="0"/>
              </a:spcAft>
              <a:buClr>
                <a:srgbClr val="000000"/>
              </a:buClr>
              <a:buSzPct val="100000"/>
              <a:buFont typeface="Arial" panose="020B0604020202020204" pitchFamily="34" charset="0"/>
              <a:buNone/>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“Mine the diamond</a:t>
            </a: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must allocate finite resources to make sure high-hazard operations (i.e.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facilities and operations with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significant process safety hazards) are sustainably managed to acceptable risk exposure levels.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need to understand our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major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risks to </a:t>
            </a:r>
            <a: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focus </a:t>
            </a:r>
            <a:b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limited resources </a:t>
            </a:r>
            <a:r>
              <a:rPr kumimoji="0" lang="en-US"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 the right areas</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major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hazards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the </a:t>
            </a:r>
            <a:r>
              <a:rPr kumimoji="0" lang="en-US" altLang="en-US" sz="1800" b="0" i="0" u="none" strike="noStrike" kern="1200" cap="none" spc="0" normalizeH="0" baseline="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incidents)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strategic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thinking</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a clear understanding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our major hazards,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are better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prepared to ask the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right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questions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them</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Pay attention to the critical “leading indicators” </a:t>
            </a:r>
            <a:b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e.g. SC’s and SP’s relating to process safety </a:t>
            </a:r>
            <a:b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i.e. </a:t>
            </a:r>
            <a:r>
              <a:rPr kumimoji="0" lang="en-US" altLang="en-US" sz="1800" b="1"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Incidents!</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Anomalies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resolve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themselves with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 immediate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negative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consequences are a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signal that something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wrong and needs to be investigated!</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BP and </a:t>
            </a:r>
            <a:r>
              <a:rPr kumimoji="0" lang="en-US" altLang="en-US" sz="18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TransOcean</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were certainly focused on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occupational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but what about process safety?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signals were available?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Management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System Did Not Focus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on Process Safety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Risks: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7: BP-</a:t>
            </a:r>
            <a:r>
              <a:rPr kumimoji="0" lang="en-US" sz="1200" b="1" i="1" u="none" strike="noStrike" kern="0" cap="none" spc="0" normalizeH="0" baseline="0" noProof="0" dirty="0" err="1" smtClean="0">
                <a:ln>
                  <a:noFill/>
                </a:ln>
                <a:solidFill>
                  <a:srgbClr val="000000"/>
                </a:solidFill>
                <a:effectLst/>
                <a:uLnTx/>
                <a:uFillTx/>
                <a:latin typeface="Arial" charset="0"/>
                <a:ea typeface="Times New Roman"/>
                <a:cs typeface="Arial" panose="020B0604020202020204" pitchFamily="34" charset="0"/>
                <a:sym typeface="Times New Roman"/>
              </a:rPr>
              <a:t>Macondo</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DWH 2010 </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6114793" y="1950958"/>
            <a:ext cx="2698607" cy="1650161"/>
          </a:xfrm>
          <a:prstGeom prst="rect">
            <a:avLst/>
          </a:prstGeom>
        </p:spPr>
      </p:pic>
      <p:pic>
        <p:nvPicPr>
          <p:cNvPr id="2" name="Picture 1"/>
          <p:cNvPicPr>
            <a:picLocks noChangeAspect="1"/>
          </p:cNvPicPr>
          <p:nvPr/>
        </p:nvPicPr>
        <p:blipFill>
          <a:blip r:embed="rId4"/>
          <a:stretch>
            <a:fillRect/>
          </a:stretch>
        </p:blipFill>
        <p:spPr>
          <a:xfrm>
            <a:off x="6114793" y="3709119"/>
            <a:ext cx="2698607" cy="1831981"/>
          </a:xfrm>
          <a:prstGeom prst="rect">
            <a:avLst/>
          </a:prstGeom>
          <a:ln>
            <a:solidFill>
              <a:schemeClr val="tx1"/>
            </a:solidFill>
          </a:ln>
        </p:spPr>
      </p:pic>
    </p:spTree>
    <p:extLst>
      <p:ext uri="{BB962C8B-B14F-4D97-AF65-F5344CB8AC3E}">
        <p14:creationId xmlns:p14="http://schemas.microsoft.com/office/powerpoint/2010/main" val="3982769917"/>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change – different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spec’ns</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seal the well – managed?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differences of opinion on how to seal the well …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Transocean Manager vs the BP Manager</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BP Manager wanted … because it expedites the process.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Well, my process is different. I think we are going to do it this way.”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became clear who was ultimately responsible and accountable.</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decision was made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despite knowing the deficiencies in the Blowout Preventer (BOP)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appropriate decision</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should have been to stop.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33400" lvl="2" indent="0" eaLnBrk="0" hangingPunct="0">
              <a:lnSpc>
                <a:spcPct val="100000"/>
              </a:lnSpc>
              <a:spcBef>
                <a:spcPts val="0"/>
              </a:spcBef>
              <a:buClr>
                <a:srgbClr val="000000"/>
              </a:buClr>
              <a:buSzPct val="100000"/>
              <a:buNone/>
            </a:pPr>
            <a: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20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Stop. Think. Don’t do something stupid.” </a:t>
            </a:r>
            <a:endPar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33400" lvl="2" indent="0" eaLnBrk="0" hangingPunct="0">
              <a:lnSpc>
                <a:spcPct val="100000"/>
              </a:lnSpc>
              <a:spcBef>
                <a:spcPts val="0"/>
              </a:spcBef>
              <a:buClr>
                <a:srgbClr val="000000"/>
              </a:buClr>
              <a:buSzPct val="100000"/>
              <a:buNone/>
            </a:pP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Professor </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Bob Bea</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#4: Management of </a:t>
            </a:r>
            <a:r>
              <a:rPr lang="en-US" altLang="en-US" sz="2400" b="0" dirty="0" smtClean="0">
                <a:solidFill>
                  <a:schemeClr val="accent2"/>
                </a:solidFill>
                <a:latin typeface="Arial" panose="020B0604020202020204" pitchFamily="34" charset="0"/>
                <a:ea typeface="+mj-ea"/>
                <a:cs typeface="Arial" panose="020B0604020202020204" pitchFamily="34" charset="0"/>
              </a:rPr>
              <a:t>Change: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020174879"/>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7"/>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60000" lvl="0" indent="-360000" algn="l" rtl="0">
              <a:spcBef>
                <a:spcPts val="0"/>
              </a:spcBef>
              <a:spcAft>
                <a:spcPts val="0"/>
              </a:spcAft>
              <a:buClrTx/>
              <a:buSzPts val="2000"/>
              <a:buFont typeface="Wingdings" panose="05000000000000000000" pitchFamily="2" charset="2"/>
              <a:buChar char="Ø"/>
            </a:pPr>
            <a:r>
              <a:rPr lang="en-US" sz="2000" dirty="0" smtClean="0">
                <a:solidFill>
                  <a:schemeClr val="tx1"/>
                </a:solidFill>
                <a:latin typeface="Arial" panose="020B0604020202020204" pitchFamily="34" charset="0"/>
                <a:ea typeface="Arial"/>
                <a:cs typeface="Arial" panose="020B0604020202020204" pitchFamily="34" charset="0"/>
                <a:sym typeface="Arial"/>
              </a:rPr>
              <a:t>“</a:t>
            </a:r>
            <a:r>
              <a:rPr lang="en-US" sz="2000" dirty="0">
                <a:solidFill>
                  <a:schemeClr val="tx1"/>
                </a:solidFill>
                <a:latin typeface="Arial" panose="020B0604020202020204" pitchFamily="34" charset="0"/>
                <a:ea typeface="Arial"/>
                <a:cs typeface="Arial" panose="020B0604020202020204" pitchFamily="34" charset="0"/>
                <a:sym typeface="Arial"/>
              </a:rPr>
              <a:t>In fact, post-incident CSB analyses of Transocean and BP risk management policies at the time of the blowout reveal that </a:t>
            </a:r>
            <a:r>
              <a:rPr lang="en-US" sz="2000" u="sng" dirty="0">
                <a:solidFill>
                  <a:schemeClr val="tx1"/>
                </a:solidFill>
                <a:latin typeface="Arial" panose="020B0604020202020204" pitchFamily="34" charset="0"/>
                <a:ea typeface="Arial"/>
                <a:cs typeface="Arial" panose="020B0604020202020204" pitchFamily="34" charset="0"/>
                <a:sym typeface="Arial"/>
              </a:rPr>
              <a:t>many of the policies would have satisfied current (legal)  requirements</a:t>
            </a:r>
            <a:r>
              <a:rPr lang="en-US" sz="2000" dirty="0">
                <a:solidFill>
                  <a:schemeClr val="tx1"/>
                </a:solidFill>
                <a:latin typeface="Arial" panose="020B0604020202020204" pitchFamily="34" charset="0"/>
                <a:ea typeface="Arial"/>
                <a:cs typeface="Arial" panose="020B0604020202020204" pitchFamily="34" charset="0"/>
                <a:sym typeface="Arial"/>
              </a:rPr>
              <a:t>. </a:t>
            </a:r>
            <a:endParaRPr sz="20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Tx/>
              <a:buSzPts val="2000"/>
              <a:buFont typeface="Wingdings" panose="05000000000000000000" pitchFamily="2" charset="2"/>
              <a:buChar char="Ø"/>
            </a:pPr>
            <a:endParaRPr sz="20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Tx/>
              <a:buSzPts val="2000"/>
              <a:buFont typeface="Wingdings" panose="05000000000000000000" pitchFamily="2" charset="2"/>
              <a:buChar char="Ø"/>
            </a:pPr>
            <a:r>
              <a:rPr lang="en-US" sz="2000" dirty="0">
                <a:solidFill>
                  <a:schemeClr val="tx1"/>
                </a:solidFill>
                <a:latin typeface="Arial" panose="020B0604020202020204" pitchFamily="34" charset="0"/>
                <a:ea typeface="Arial"/>
                <a:cs typeface="Arial" panose="020B0604020202020204" pitchFamily="34" charset="0"/>
                <a:sym typeface="Arial"/>
              </a:rPr>
              <a:t>Yet the companies </a:t>
            </a:r>
            <a:r>
              <a:rPr lang="en-US" sz="2000" u="sng" dirty="0">
                <a:solidFill>
                  <a:schemeClr val="tx1"/>
                </a:solidFill>
                <a:latin typeface="Arial" panose="020B0604020202020204" pitchFamily="34" charset="0"/>
                <a:ea typeface="Arial"/>
                <a:cs typeface="Arial" panose="020B0604020202020204" pitchFamily="34" charset="0"/>
                <a:sym typeface="Arial"/>
              </a:rPr>
              <a:t>did not effectively implement these policies to manage the major accident risks </a:t>
            </a:r>
            <a:r>
              <a:rPr lang="en-US" sz="2000" dirty="0">
                <a:solidFill>
                  <a:schemeClr val="tx1"/>
                </a:solidFill>
                <a:latin typeface="Arial" panose="020B0604020202020204" pitchFamily="34" charset="0"/>
                <a:ea typeface="Arial"/>
                <a:cs typeface="Arial" panose="020B0604020202020204" pitchFamily="34" charset="0"/>
                <a:sym typeface="Arial"/>
              </a:rPr>
              <a:t>of the </a:t>
            </a:r>
            <a:r>
              <a:rPr lang="en-US" sz="2000" dirty="0" err="1">
                <a:solidFill>
                  <a:schemeClr val="tx1"/>
                </a:solidFill>
                <a:latin typeface="Arial" panose="020B0604020202020204" pitchFamily="34" charset="0"/>
                <a:ea typeface="Arial"/>
                <a:cs typeface="Arial" panose="020B0604020202020204" pitchFamily="34" charset="0"/>
                <a:sym typeface="Arial"/>
              </a:rPr>
              <a:t>Macondo</a:t>
            </a:r>
            <a:r>
              <a:rPr lang="en-US" sz="2000" dirty="0">
                <a:solidFill>
                  <a:schemeClr val="tx1"/>
                </a:solidFill>
                <a:latin typeface="Arial" panose="020B0604020202020204" pitchFamily="34" charset="0"/>
                <a:ea typeface="Arial"/>
                <a:cs typeface="Arial" panose="020B0604020202020204" pitchFamily="34" charset="0"/>
                <a:sym typeface="Arial"/>
              </a:rPr>
              <a:t> well, and the companies were not held accountable by the regulator to ensure that they managed safety as their company policies stipulated.” </a:t>
            </a:r>
            <a:endParaRPr sz="2000" b="1" i="1" dirty="0">
              <a:solidFill>
                <a:schemeClr val="tx1"/>
              </a:solidFill>
              <a:latin typeface="Arial" panose="020B0604020202020204" pitchFamily="34" charset="0"/>
              <a:ea typeface="Arial"/>
              <a:cs typeface="Arial" panose="020B0604020202020204" pitchFamily="34" charset="0"/>
              <a:sym typeface="Arial"/>
            </a:endParaRPr>
          </a:p>
        </p:txBody>
      </p:sp>
      <p:sp>
        <p:nvSpPr>
          <p:cNvPr id="342" name="Google Shape;342;p17"/>
          <p:cNvSpPr txBox="1"/>
          <p:nvPr/>
        </p:nvSpPr>
        <p:spPr>
          <a:xfrm>
            <a:off x="180000" y="3429000"/>
            <a:ext cx="8640000" cy="2727000"/>
          </a:xfrm>
          <a:prstGeom prst="rect">
            <a:avLst/>
          </a:prstGeom>
          <a:solidFill>
            <a:srgbClr val="0000CC"/>
          </a:solidFill>
          <a:ln w="9525" cap="flat" cmpd="sng">
            <a:solidFill>
              <a:srgbClr val="0000C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1" dirty="0">
                <a:solidFill>
                  <a:srgbClr val="FFFFFF"/>
                </a:solidFill>
                <a:latin typeface="Arial"/>
                <a:ea typeface="Arial"/>
                <a:cs typeface="Arial"/>
                <a:sym typeface="Arial"/>
              </a:rPr>
              <a:t>Please confer and select the best response (</a:t>
            </a:r>
            <a:r>
              <a:rPr lang="en-US" sz="2000" b="0" i="1" dirty="0" smtClean="0">
                <a:solidFill>
                  <a:srgbClr val="FFFFFF"/>
                </a:solidFill>
                <a:latin typeface="Arial"/>
                <a:ea typeface="Arial"/>
                <a:cs typeface="Arial"/>
                <a:sym typeface="Arial"/>
              </a:rPr>
              <a:t>MM-Poll):</a:t>
            </a:r>
            <a:endParaRPr sz="2000" b="0" dirty="0"/>
          </a:p>
          <a:p>
            <a:pPr marL="360000" marR="0" lvl="0" indent="-360000" algn="l" rtl="0">
              <a:spcBef>
                <a:spcPts val="0"/>
              </a:spcBef>
              <a:spcAft>
                <a:spcPts val="0"/>
              </a:spcAft>
              <a:buClr>
                <a:srgbClr val="FFFFFF"/>
              </a:buClr>
              <a:buSzPts val="2000"/>
              <a:buFont typeface="Noto Sans Symbols"/>
              <a:buChar char="⮚"/>
            </a:pPr>
            <a:r>
              <a:rPr lang="en-US" sz="2000" b="0" i="1" dirty="0">
                <a:solidFill>
                  <a:srgbClr val="FFFFFF"/>
                </a:solidFill>
                <a:latin typeface="Arial"/>
                <a:ea typeface="Arial"/>
                <a:cs typeface="Arial"/>
                <a:sym typeface="Arial"/>
              </a:rPr>
              <a:t>What needed to change, much earlier in the operating life of BP-DWH, in order to prevent an incident? In other words, what could we do as leaders to push implementation? Hint: think PE&amp;CI.</a:t>
            </a:r>
            <a:endParaRPr sz="2000" b="0" dirty="0"/>
          </a:p>
        </p:txBody>
      </p:sp>
      <p:sp>
        <p:nvSpPr>
          <p:cNvPr id="6"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#2: Examine RME #6: PECI</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50401308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8"/>
          <p:cNvSpPr txBox="1">
            <a:spLocks noGrp="1"/>
          </p:cNvSpPr>
          <p:nvPr>
            <p:ph type="body" idx="4294967295"/>
          </p:nvPr>
        </p:nvSpPr>
        <p:spPr>
          <a:xfrm>
            <a:off x="179999"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60000" lvl="0" indent="-360000">
              <a:lnSpc>
                <a:spcPct val="80000"/>
              </a:lnSpc>
              <a:spcBef>
                <a:spcPts val="0"/>
              </a:spcBef>
              <a:spcAft>
                <a:spcPts val="0"/>
              </a:spcAft>
              <a:buClrTx/>
              <a:buSzPts val="2000"/>
              <a:buFont typeface="Wingdings" panose="05000000000000000000" pitchFamily="2" charset="2"/>
              <a:buChar char="Ø"/>
            </a:pPr>
            <a:r>
              <a:rPr lang="en-US" sz="1800" dirty="0">
                <a:solidFill>
                  <a:srgbClr val="000000"/>
                </a:solidFill>
                <a:latin typeface="Arial" panose="020B0604020202020204" pitchFamily="34" charset="0"/>
                <a:ea typeface="Arial"/>
                <a:cs typeface="Arial" panose="020B0604020202020204" pitchFamily="34" charset="0"/>
                <a:sym typeface="Arial"/>
              </a:rPr>
              <a:t>“In fact, post-incident CSB analyses of Transocean and BP risk management policies at the time of the blowout reveal that </a:t>
            </a:r>
            <a:r>
              <a:rPr lang="en-US" sz="1800" u="sng" dirty="0">
                <a:solidFill>
                  <a:srgbClr val="000000"/>
                </a:solidFill>
                <a:latin typeface="Arial" panose="020B0604020202020204" pitchFamily="34" charset="0"/>
                <a:ea typeface="Arial"/>
                <a:cs typeface="Arial" panose="020B0604020202020204" pitchFamily="34" charset="0"/>
                <a:sym typeface="Arial"/>
              </a:rPr>
              <a:t>many of the policies would have satisfied current (legal)  requirements</a:t>
            </a:r>
            <a:r>
              <a:rPr lang="en-US" sz="1800" dirty="0">
                <a:solidFill>
                  <a:srgbClr val="000000"/>
                </a:solidFill>
                <a:latin typeface="Arial" panose="020B0604020202020204" pitchFamily="34" charset="0"/>
                <a:ea typeface="Arial"/>
                <a:cs typeface="Arial" panose="020B0604020202020204" pitchFamily="34" charset="0"/>
                <a:sym typeface="Arial"/>
              </a:rPr>
              <a:t>. </a:t>
            </a:r>
          </a:p>
          <a:p>
            <a:pPr marL="360000" lvl="0" indent="-360000">
              <a:lnSpc>
                <a:spcPct val="80000"/>
              </a:lnSpc>
              <a:spcBef>
                <a:spcPts val="0"/>
              </a:spcBef>
              <a:spcAft>
                <a:spcPts val="0"/>
              </a:spcAft>
              <a:buClrTx/>
              <a:buSzPts val="2000"/>
              <a:buFont typeface="Wingdings" panose="05000000000000000000" pitchFamily="2" charset="2"/>
              <a:buChar char="Ø"/>
            </a:pPr>
            <a:endParaRPr lang="en-US" sz="1800" dirty="0">
              <a:solidFill>
                <a:srgbClr val="000000"/>
              </a:solidFill>
              <a:latin typeface="Arial" panose="020B0604020202020204" pitchFamily="34" charset="0"/>
              <a:ea typeface="Arial"/>
              <a:cs typeface="Arial" panose="020B0604020202020204" pitchFamily="34" charset="0"/>
              <a:sym typeface="Arial"/>
            </a:endParaRPr>
          </a:p>
          <a:p>
            <a:pPr marL="360000" lvl="0" indent="-360000">
              <a:lnSpc>
                <a:spcPct val="80000"/>
              </a:lnSpc>
              <a:spcBef>
                <a:spcPts val="0"/>
              </a:spcBef>
              <a:spcAft>
                <a:spcPts val="0"/>
              </a:spcAft>
              <a:buClrTx/>
              <a:buSzPts val="2000"/>
              <a:buFont typeface="Wingdings" panose="05000000000000000000" pitchFamily="2" charset="2"/>
              <a:buChar char="Ø"/>
            </a:pPr>
            <a:r>
              <a:rPr lang="en-US" sz="1800" dirty="0">
                <a:solidFill>
                  <a:srgbClr val="000000"/>
                </a:solidFill>
                <a:latin typeface="Arial" panose="020B0604020202020204" pitchFamily="34" charset="0"/>
                <a:ea typeface="Arial"/>
                <a:cs typeface="Arial" panose="020B0604020202020204" pitchFamily="34" charset="0"/>
                <a:sym typeface="Arial"/>
              </a:rPr>
              <a:t>Yet the companies </a:t>
            </a:r>
            <a:r>
              <a:rPr lang="en-US" sz="1800" u="sng" dirty="0">
                <a:solidFill>
                  <a:srgbClr val="000000"/>
                </a:solidFill>
                <a:latin typeface="Arial" panose="020B0604020202020204" pitchFamily="34" charset="0"/>
                <a:ea typeface="Arial"/>
                <a:cs typeface="Arial" panose="020B0604020202020204" pitchFamily="34" charset="0"/>
                <a:sym typeface="Arial"/>
              </a:rPr>
              <a:t>did not effectively implement these policies to manage the major accident risks </a:t>
            </a:r>
            <a:r>
              <a:rPr lang="en-US" sz="1800" dirty="0">
                <a:solidFill>
                  <a:srgbClr val="000000"/>
                </a:solidFill>
                <a:latin typeface="Arial" panose="020B0604020202020204" pitchFamily="34" charset="0"/>
                <a:ea typeface="Arial"/>
                <a:cs typeface="Arial" panose="020B0604020202020204" pitchFamily="34" charset="0"/>
                <a:sym typeface="Arial"/>
              </a:rPr>
              <a:t>of the </a:t>
            </a:r>
            <a:r>
              <a:rPr lang="en-US" sz="1800" dirty="0" err="1">
                <a:solidFill>
                  <a:srgbClr val="000000"/>
                </a:solidFill>
                <a:latin typeface="Arial" panose="020B0604020202020204" pitchFamily="34" charset="0"/>
                <a:ea typeface="Arial"/>
                <a:cs typeface="Arial" panose="020B0604020202020204" pitchFamily="34" charset="0"/>
                <a:sym typeface="Arial"/>
              </a:rPr>
              <a:t>Macondo</a:t>
            </a:r>
            <a:r>
              <a:rPr lang="en-US" sz="1800" dirty="0">
                <a:solidFill>
                  <a:srgbClr val="000000"/>
                </a:solidFill>
                <a:latin typeface="Arial" panose="020B0604020202020204" pitchFamily="34" charset="0"/>
                <a:ea typeface="Arial"/>
                <a:cs typeface="Arial" panose="020B0604020202020204" pitchFamily="34" charset="0"/>
                <a:sym typeface="Arial"/>
              </a:rPr>
              <a:t> well, and the companies were not held accountable by the regulator to ensure that they managed safety as their company policies stipulated.” </a:t>
            </a:r>
            <a:endParaRPr sz="1800" dirty="0">
              <a:solidFill>
                <a:schemeClr val="tx1"/>
              </a:solidFill>
              <a:latin typeface="Arial" panose="020B0604020202020204" pitchFamily="34" charset="0"/>
              <a:ea typeface="Arial"/>
              <a:cs typeface="Arial" panose="020B0604020202020204" pitchFamily="34" charset="0"/>
              <a:sym typeface="Arial"/>
            </a:endParaRPr>
          </a:p>
          <a:p>
            <a:pPr marL="609600" lvl="0" indent="-49530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609600" lvl="0" indent="-49530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114300" lvl="0" indent="0" algn="l" rtl="0">
              <a:lnSpc>
                <a:spcPct val="80000"/>
              </a:lnSpc>
              <a:spcBef>
                <a:spcPts val="0"/>
              </a:spcBef>
              <a:spcAft>
                <a:spcPts val="0"/>
              </a:spcAft>
              <a:buClrTx/>
              <a:buSzPts val="1800"/>
              <a:buNone/>
            </a:pPr>
            <a:endParaRPr sz="1800" dirty="0">
              <a:solidFill>
                <a:schemeClr val="tx1"/>
              </a:solidFill>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lnSpc>
                <a:spcPct val="80000"/>
              </a:lnSpc>
              <a:spcBef>
                <a:spcPts val="0"/>
              </a:spcBef>
              <a:spcAft>
                <a:spcPts val="0"/>
              </a:spcAft>
              <a:buClrTx/>
              <a:buSzPts val="1800"/>
              <a:buFont typeface="Wingdings" panose="05000000000000000000" pitchFamily="2" charset="2"/>
              <a:buChar char="Ø"/>
            </a:pPr>
            <a:r>
              <a:rPr lang="en-US" sz="1800" dirty="0">
                <a:solidFill>
                  <a:schemeClr val="tx1"/>
                </a:solidFill>
                <a:latin typeface="Arial" panose="020B0604020202020204" pitchFamily="34" charset="0"/>
                <a:ea typeface="Arial"/>
                <a:cs typeface="Arial" panose="020B0604020202020204" pitchFamily="34" charset="0"/>
                <a:sym typeface="Arial"/>
              </a:rPr>
              <a:t>Through Formal Audits, driven by a robust PE&amp;CI program and committed leadership, senior leadership would have discovered that:</a:t>
            </a:r>
            <a:endParaRPr sz="1800" dirty="0">
              <a:solidFill>
                <a:schemeClr val="tx1"/>
              </a:solidFill>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Critical changes were being made without adequate, thorough reviews, and </a:t>
            </a:r>
            <a:endParaRPr sz="1800" dirty="0">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Process safety risks were not being managed to any great degree, certainly not as thorough as were the risks for occupational activities.</a:t>
            </a:r>
            <a:endParaRPr sz="1800" dirty="0">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Process safety issues (SC’s, SP’s, NM’s, and lower-impact LI’s) were not being investigated nor addressed.  </a:t>
            </a:r>
            <a:endParaRPr sz="1800" dirty="0">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lnSpc>
                <a:spcPct val="80000"/>
              </a:lnSpc>
              <a:spcBef>
                <a:spcPts val="0"/>
              </a:spcBef>
              <a:spcAft>
                <a:spcPts val="0"/>
              </a:spcAft>
              <a:buClrTx/>
              <a:buSzPts val="1800"/>
              <a:buFont typeface="Wingdings" panose="05000000000000000000" pitchFamily="2" charset="2"/>
              <a:buChar char="Ø"/>
            </a:pPr>
            <a:r>
              <a:rPr lang="en-US" sz="1800" dirty="0">
                <a:solidFill>
                  <a:schemeClr val="tx1"/>
                </a:solidFill>
                <a:latin typeface="Arial" panose="020B0604020202020204" pitchFamily="34" charset="0"/>
                <a:ea typeface="Arial"/>
                <a:cs typeface="Arial" panose="020B0604020202020204" pitchFamily="34" charset="0"/>
                <a:sym typeface="Arial"/>
              </a:rPr>
              <a:t>Our management system will only be effective when it is developed, </a:t>
            </a:r>
            <a:br>
              <a:rPr lang="en-US" sz="1800" dirty="0">
                <a:solidFill>
                  <a:schemeClr val="tx1"/>
                </a:solidFill>
                <a:latin typeface="Arial" panose="020B0604020202020204" pitchFamily="34" charset="0"/>
                <a:ea typeface="Arial"/>
                <a:cs typeface="Arial" panose="020B0604020202020204" pitchFamily="34" charset="0"/>
                <a:sym typeface="Arial"/>
              </a:rPr>
            </a:br>
            <a:r>
              <a:rPr lang="en-US" sz="1800" dirty="0">
                <a:solidFill>
                  <a:schemeClr val="tx1"/>
                </a:solidFill>
                <a:latin typeface="Arial" panose="020B0604020202020204" pitchFamily="34" charset="0"/>
                <a:ea typeface="Arial"/>
                <a:cs typeface="Arial" panose="020B0604020202020204" pitchFamily="34" charset="0"/>
                <a:sym typeface="Arial"/>
              </a:rPr>
              <a:t>implemented, and maintained through </a:t>
            </a:r>
            <a:r>
              <a:rPr lang="en-US" sz="1800" u="sng" dirty="0">
                <a:solidFill>
                  <a:schemeClr val="tx1"/>
                </a:solidFill>
                <a:latin typeface="Arial" panose="020B0604020202020204" pitchFamily="34" charset="0"/>
                <a:ea typeface="Arial"/>
                <a:cs typeface="Arial" panose="020B0604020202020204" pitchFamily="34" charset="0"/>
                <a:sym typeface="Arial"/>
              </a:rPr>
              <a:t>active program evaluation and </a:t>
            </a:r>
            <a:br>
              <a:rPr lang="en-US" sz="1800" u="sng" dirty="0">
                <a:solidFill>
                  <a:schemeClr val="tx1"/>
                </a:solidFill>
                <a:latin typeface="Arial" panose="020B0604020202020204" pitchFamily="34" charset="0"/>
                <a:ea typeface="Arial"/>
                <a:cs typeface="Arial" panose="020B0604020202020204" pitchFamily="34" charset="0"/>
                <a:sym typeface="Arial"/>
              </a:rPr>
            </a:br>
            <a:r>
              <a:rPr lang="en-US" sz="1800" u="sng" dirty="0">
                <a:solidFill>
                  <a:schemeClr val="tx1"/>
                </a:solidFill>
                <a:latin typeface="Arial" panose="020B0604020202020204" pitchFamily="34" charset="0"/>
                <a:ea typeface="Arial"/>
                <a:cs typeface="Arial" panose="020B0604020202020204" pitchFamily="34" charset="0"/>
                <a:sym typeface="Arial"/>
              </a:rPr>
              <a:t>continuous improvement</a:t>
            </a:r>
            <a:r>
              <a:rPr lang="en-US" sz="1800" dirty="0">
                <a:solidFill>
                  <a:schemeClr val="tx1"/>
                </a:solidFill>
                <a:latin typeface="Arial" panose="020B0604020202020204" pitchFamily="34" charset="0"/>
                <a:ea typeface="Arial"/>
                <a:cs typeface="Arial" panose="020B0604020202020204" pitchFamily="34" charset="0"/>
                <a:sym typeface="Arial"/>
              </a:rPr>
              <a:t>.</a:t>
            </a:r>
            <a:endParaRPr sz="1800" dirty="0">
              <a:solidFill>
                <a:schemeClr val="tx1"/>
              </a:solidFill>
              <a:latin typeface="Arial" panose="020B0604020202020204" pitchFamily="34" charset="0"/>
              <a:cs typeface="Arial" panose="020B0604020202020204" pitchFamily="34" charset="0"/>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p:txBody>
      </p:sp>
      <p:sp>
        <p:nvSpPr>
          <p:cNvPr id="359" name="Google Shape;359;p18"/>
          <p:cNvSpPr txBox="1"/>
          <p:nvPr/>
        </p:nvSpPr>
        <p:spPr>
          <a:xfrm>
            <a:off x="186095" y="2667000"/>
            <a:ext cx="8640000" cy="914400"/>
          </a:xfrm>
          <a:prstGeom prst="rect">
            <a:avLst/>
          </a:prstGeom>
          <a:solidFill>
            <a:srgbClr val="0000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i="1" dirty="0">
                <a:solidFill>
                  <a:srgbClr val="FFFFFF"/>
                </a:solidFill>
                <a:latin typeface="Arial"/>
                <a:ea typeface="Arial"/>
                <a:cs typeface="Arial"/>
                <a:sym typeface="Arial"/>
              </a:rPr>
              <a:t>Q: What needed to change in order to prevent an incident</a:t>
            </a:r>
            <a:r>
              <a:rPr lang="en-US" i="1" dirty="0" smtClean="0">
                <a:solidFill>
                  <a:srgbClr val="FFFFFF"/>
                </a:solidFill>
                <a:latin typeface="Arial"/>
                <a:ea typeface="Arial"/>
                <a:cs typeface="Arial"/>
                <a:sym typeface="Arial"/>
              </a:rPr>
              <a:t>?</a:t>
            </a:r>
            <a:endParaRPr i="1" dirty="0">
              <a:solidFill>
                <a:srgbClr val="FFFFFF"/>
              </a:solidFill>
              <a:latin typeface="Arial"/>
              <a:ea typeface="Arial"/>
              <a:cs typeface="Arial"/>
              <a:sym typeface="Arial"/>
            </a:endParaRPr>
          </a:p>
          <a:p>
            <a:pPr marL="342900" marR="0" lvl="0" indent="-342900" algn="l" rtl="0">
              <a:spcBef>
                <a:spcPts val="0"/>
              </a:spcBef>
              <a:spcAft>
                <a:spcPts val="0"/>
              </a:spcAft>
              <a:buClr>
                <a:srgbClr val="FFFFFF"/>
              </a:buClr>
              <a:buSzPts val="2000"/>
              <a:buFont typeface="Noto Sans Symbols"/>
              <a:buChar char="⮚"/>
            </a:pPr>
            <a:r>
              <a:rPr lang="en-US" i="1" dirty="0">
                <a:solidFill>
                  <a:srgbClr val="FFFFFF"/>
                </a:solidFill>
                <a:latin typeface="Arial"/>
                <a:ea typeface="Arial"/>
                <a:cs typeface="Arial"/>
                <a:sym typeface="Arial"/>
              </a:rPr>
              <a:t>“Implement those ESRM policies” - far easier said than done. </a:t>
            </a:r>
            <a:endParaRPr dirty="0"/>
          </a:p>
          <a:p>
            <a:pPr marL="342900" marR="0" lvl="0" indent="-342900" algn="l" rtl="0">
              <a:spcBef>
                <a:spcPts val="0"/>
              </a:spcBef>
              <a:spcAft>
                <a:spcPts val="0"/>
              </a:spcAft>
              <a:buClr>
                <a:srgbClr val="FFFFFF"/>
              </a:buClr>
              <a:buSzPts val="2000"/>
              <a:buFont typeface="Noto Sans Symbols"/>
              <a:buChar char="⮚"/>
            </a:pPr>
            <a:r>
              <a:rPr lang="en-US" i="1" dirty="0" smtClean="0">
                <a:solidFill>
                  <a:srgbClr val="FFFFFF"/>
                </a:solidFill>
                <a:latin typeface="Arial"/>
                <a:ea typeface="Arial"/>
                <a:cs typeface="Arial"/>
                <a:sym typeface="Arial"/>
              </a:rPr>
              <a:t>What </a:t>
            </a:r>
            <a:r>
              <a:rPr lang="en-US" i="1" dirty="0">
                <a:solidFill>
                  <a:srgbClr val="FFFFFF"/>
                </a:solidFill>
                <a:latin typeface="Arial"/>
                <a:ea typeface="Arial"/>
                <a:cs typeface="Arial"/>
                <a:sym typeface="Arial"/>
              </a:rPr>
              <a:t>could we do as leaders to push implementation?</a:t>
            </a:r>
            <a:endParaRPr i="1" dirty="0">
              <a:solidFill>
                <a:srgbClr val="FFFFFF"/>
              </a:solidFill>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Examine RME #6: PECI</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5798378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report stated that "whether purposeful or not, many of the decisions that BP, Halliburton, and Transocean made that increased the risk of the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blowout clearly saved those companies significant time (and money).”</a:t>
            </a:r>
          </a:p>
          <a:p>
            <a:pPr mar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Understand company values!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Understand your program!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you make decisions, put safety ahead of any other objective!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Pay attention to failures in safety systems and take action!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Application of the Engineer’s Survival </a:t>
            </a:r>
            <a:r>
              <a:rPr lang="en-US" altLang="en-US" sz="2400" b="0" dirty="0" smtClean="0">
                <a:solidFill>
                  <a:schemeClr val="accent2"/>
                </a:solidFill>
                <a:latin typeface="Arial" panose="020B0604020202020204" pitchFamily="34" charset="0"/>
                <a:ea typeface="+mj-ea"/>
                <a:cs typeface="Arial" panose="020B0604020202020204" pitchFamily="34" charset="0"/>
              </a:rPr>
              <a:t>Guide: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
        <p:nvSpPr>
          <p:cNvPr id="6" name="Google Shape;359;p18"/>
          <p:cNvSpPr txBox="1"/>
          <p:nvPr/>
        </p:nvSpPr>
        <p:spPr>
          <a:xfrm>
            <a:off x="180000" y="4032000"/>
            <a:ext cx="8640000" cy="2160000"/>
          </a:xfrm>
          <a:prstGeom prst="rect">
            <a:avLst/>
          </a:prstGeom>
          <a:solidFill>
            <a:srgbClr val="0000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lvl="0"/>
            <a:r>
              <a:rPr lang="en-US" sz="2000" b="0" i="1" dirty="0" smtClean="0">
                <a:solidFill>
                  <a:srgbClr val="FFFFFF"/>
                </a:solidFill>
              </a:rPr>
              <a:t>An opportunity </a:t>
            </a:r>
            <a:r>
              <a:rPr lang="en-US" sz="2000" b="0" i="1" dirty="0">
                <a:solidFill>
                  <a:srgbClr val="FFFFFF"/>
                </a:solidFill>
              </a:rPr>
              <a:t>to apply the Engineer’s Survival Guide:</a:t>
            </a:r>
          </a:p>
          <a:p>
            <a:pPr marL="457200" lvl="0" indent="-457200">
              <a:buClrTx/>
              <a:buFont typeface="+mj-lt"/>
              <a:buAutoNum type="alphaLcParenR"/>
            </a:pPr>
            <a:r>
              <a:rPr lang="en-US" sz="2000" b="0" i="1" dirty="0">
                <a:solidFill>
                  <a:srgbClr val="FFFFFF"/>
                </a:solidFill>
              </a:rPr>
              <a:t>What was the situation?</a:t>
            </a:r>
          </a:p>
          <a:p>
            <a:pPr marL="457200" lvl="0" indent="-457200">
              <a:buClrTx/>
              <a:buFont typeface="+mj-lt"/>
              <a:buAutoNum type="alphaLcParenR"/>
            </a:pPr>
            <a:r>
              <a:rPr lang="en-US" sz="2000" b="0" i="1" dirty="0">
                <a:solidFill>
                  <a:srgbClr val="FFFFFF"/>
                </a:solidFill>
              </a:rPr>
              <a:t>What was the issue with that situation?</a:t>
            </a:r>
          </a:p>
          <a:p>
            <a:pPr marL="457200" lvl="0" indent="-457200">
              <a:buClrTx/>
              <a:buFont typeface="+mj-lt"/>
              <a:buAutoNum type="alphaLcParenR"/>
            </a:pPr>
            <a:r>
              <a:rPr lang="en-US" sz="2000" b="0" i="1" dirty="0">
                <a:solidFill>
                  <a:srgbClr val="FFFFFF"/>
                </a:solidFill>
              </a:rPr>
              <a:t>What Key Point was violated?</a:t>
            </a:r>
          </a:p>
          <a:p>
            <a:pPr marL="457200" lvl="0" indent="-457200">
              <a:buClrTx/>
              <a:buFont typeface="+mj-lt"/>
              <a:buAutoNum type="alphaLcParenR"/>
            </a:pPr>
            <a:r>
              <a:rPr lang="en-US" sz="2000" b="0" i="1" dirty="0">
                <a:solidFill>
                  <a:srgbClr val="FFFFFF"/>
                </a:solidFill>
              </a:rPr>
              <a:t>What would you have done in that situation?</a:t>
            </a:r>
          </a:p>
          <a:p>
            <a:pPr marL="457200" lvl="0" indent="-457200">
              <a:buClrTx/>
              <a:buFont typeface="+mj-lt"/>
              <a:buAutoNum type="alphaLcParenR"/>
            </a:pPr>
            <a:r>
              <a:rPr lang="en-US" sz="2000" b="0" i="1" dirty="0">
                <a:solidFill>
                  <a:srgbClr val="FFFFFF"/>
                </a:solidFill>
              </a:rPr>
              <a:t>What would have been the probable outcome had you done it?</a:t>
            </a:r>
          </a:p>
          <a:p>
            <a:pPr lvl="0"/>
            <a:endParaRPr lang="en-US" sz="2000" b="0" i="1" dirty="0">
              <a:solidFill>
                <a:srgbClr val="FFFFFF"/>
              </a:solidFill>
            </a:endParaRPr>
          </a:p>
          <a:p>
            <a:pPr marL="342900" marR="0" lvl="0" indent="-215900" algn="l" rtl="0">
              <a:spcBef>
                <a:spcPts val="0"/>
              </a:spcBef>
              <a:spcAft>
                <a:spcPts val="0"/>
              </a:spcAft>
              <a:buClr>
                <a:schemeClr val="dk1"/>
              </a:buClr>
              <a:buSzPts val="2000"/>
              <a:buFont typeface="Noto Sans Symbols"/>
              <a:buNone/>
            </a:pPr>
            <a:endParaRPr sz="2000" b="0" i="1" dirty="0">
              <a:solidFill>
                <a:srgbClr val="FFFFFF"/>
              </a:solidFill>
              <a:latin typeface="Arial"/>
              <a:ea typeface="Arial"/>
              <a:cs typeface="Arial"/>
              <a:sym typeface="Arial"/>
            </a:endParaRPr>
          </a:p>
        </p:txBody>
      </p:sp>
    </p:spTree>
    <p:extLst>
      <p:ext uri="{BB962C8B-B14F-4D97-AF65-F5344CB8AC3E}">
        <p14:creationId xmlns:p14="http://schemas.microsoft.com/office/powerpoint/2010/main" val="3841144538"/>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 the Diamond!</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must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smartly allocate finite resources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ensure high-hazard operations (i.e. with significant process safety hazards) are sustainably managed to acceptable risk exposure levels.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need to understand our major risks to focus limited resources on the right areas (major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a:t>
            </a:r>
            <a:r>
              <a:rPr lang="en-US" altLang="en-US" sz="20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strategic thinking!</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clear understanding of our major hazards, we are better prepared to ask the right questions to manage them.</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Anomalies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do resolve themselves with no immediate negative consequences are a signal.</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Pay attention to the critical “leading indicators”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e.g. SC’s and SP’s relating to process safety!</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management system will only be effective when it is developed,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implemented, and maintained through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active program evaluation and continuous improvement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&amp;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4766490"/>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auto" latinLnBrk="0" hangingPunct="0">
              <a:lnSpc>
                <a:spcPct val="100000"/>
              </a:lnSpc>
              <a:spcBef>
                <a:spcPts val="0"/>
              </a:spcBef>
              <a:spcAft>
                <a:spcPts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Complete Slide Deck</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follows with details.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70730057"/>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7: BP-</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Oilfield and </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DeepWater</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Horizon Rig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(2010)</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1522792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management has the responsibility for sound risk management systems covering both occupational safety and process safety.</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Demonstrate why leaders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smartly allocate finite resources to ensure high-hazard operations (i.e. with significant process safety hazards) are sustainably managed to acceptable risk exposure levels.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loss incident to identify the latent causes and associated management system improvement opportunities.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0754828"/>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Sub-sea Drilling: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low likelihood of something going wrong, but with extremely high consequence if it does</a:t>
            </a:r>
          </a:p>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 corporations:</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BP Energy: awarded the mineral rights to drill &amp; produce</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rig owner (contracted by BP to drill the well)</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Halliburton: well services (under contract to BP for mud &amp; cement)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Background: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pic>
        <p:nvPicPr>
          <p:cNvPr id="6" name="Google Shape;141;p3"/>
          <p:cNvPicPr preferRelativeResize="0">
            <a:picLocks noChangeAspect="1"/>
          </p:cNvPicPr>
          <p:nvPr/>
        </p:nvPicPr>
        <p:blipFill rotWithShape="1">
          <a:blip r:embed="rId3">
            <a:alphaModFix/>
          </a:blip>
          <a:srcRect t="26031"/>
          <a:stretch/>
        </p:blipFill>
        <p:spPr>
          <a:xfrm>
            <a:off x="5029197" y="3096000"/>
            <a:ext cx="3070154" cy="3060000"/>
          </a:xfrm>
          <a:prstGeom prst="rect">
            <a:avLst/>
          </a:prstGeom>
          <a:noFill/>
          <a:ln>
            <a:noFill/>
          </a:ln>
        </p:spPr>
      </p:pic>
      <p:pic>
        <p:nvPicPr>
          <p:cNvPr id="7" name="Google Shape;143;p3"/>
          <p:cNvPicPr preferRelativeResize="0">
            <a:picLocks noChangeAspect="1"/>
          </p:cNvPicPr>
          <p:nvPr/>
        </p:nvPicPr>
        <p:blipFill rotWithShape="1">
          <a:blip r:embed="rId4">
            <a:alphaModFix/>
          </a:blip>
          <a:srcRect/>
          <a:stretch/>
        </p:blipFill>
        <p:spPr>
          <a:xfrm>
            <a:off x="725489" y="3096000"/>
            <a:ext cx="3882833" cy="3060000"/>
          </a:xfrm>
          <a:prstGeom prst="rect">
            <a:avLst/>
          </a:prstGeom>
          <a:noFill/>
          <a:ln>
            <a:noFill/>
          </a:ln>
        </p:spPr>
      </p:pic>
    </p:spTree>
    <p:extLst>
      <p:ext uri="{BB962C8B-B14F-4D97-AF65-F5344CB8AC3E}">
        <p14:creationId xmlns:p14="http://schemas.microsoft.com/office/powerpoint/2010/main" val="3798629605"/>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Deepest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oil well in history - 35,000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ft</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(10,500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metres</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a Record!</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was a rush to get to production</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6 weeks normal versus 21 days target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Previous well into the </a:t>
            </a:r>
            <a:r>
              <a:rPr lang="en-US" altLang="en-US" sz="20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formation had to be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abandoned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because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was rushed.</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 had operated for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Seven (7)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years without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Lost-Time Injury</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great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achievement!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were on the rig that day to give the crew a safety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award.</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65350" lvl="1" indent="-432000" eaLnBrk="0" hangingPunct="0">
              <a:lnSpc>
                <a:spcPct val="9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BOP had been damaged 4 weeks before the incident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were told it wasn’t important, it wasn’t fixed, and </a:t>
            </a:r>
            <a:b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operations continued as though it was working properly</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Unclear chain of command for changes made to activities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was in charge? BP or </a:t>
            </a:r>
            <a:r>
              <a:rPr lang="en-US" altLang="en-US" sz="20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Background: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155877567"/>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0" name="Google Shape;187;p6"/>
          <p:cNvSpPr/>
          <p:nvPr/>
        </p:nvSpPr>
        <p:spPr>
          <a:xfrm>
            <a:off x="180000" y="828000"/>
            <a:ext cx="8640000" cy="5364000"/>
          </a:xfrm>
          <a:prstGeom prst="rect">
            <a:avLst/>
          </a:prstGeom>
          <a:noFill/>
          <a:ln w="9525" cap="flat" cmpd="sng">
            <a:solidFill>
              <a:schemeClr val="tx1"/>
            </a:solidFill>
            <a:prstDash val="solid"/>
            <a:miter lim="800000"/>
            <a:headEnd type="none" w="sm" len="sm"/>
            <a:tailEnd type="none" w="sm" len="sm"/>
          </a:ln>
        </p:spPr>
        <p:txBody>
          <a:bodyPr spcFirstLastPara="1" wrap="square" lIns="91425" tIns="45700" rIns="91425" bIns="45700" anchor="t" anchorCtr="0">
            <a:noAutofit/>
          </a:bodyPr>
          <a:lstStyle/>
          <a:p>
            <a:pPr marL="609600" marR="0" lvl="0" indent="-609600" rtl="0">
              <a:lnSpc>
                <a:spcPct val="80000"/>
              </a:lnSpc>
              <a:spcBef>
                <a:spcPts val="0"/>
              </a:spcBef>
              <a:spcAft>
                <a:spcPts val="0"/>
              </a:spcAft>
              <a:buClr>
                <a:srgbClr val="000000"/>
              </a:buClr>
              <a:buSzPts val="2000"/>
              <a:buFont typeface="Noto Sans Symbols"/>
              <a:buNone/>
            </a:pPr>
            <a:r>
              <a:rPr lang="en-US" sz="1600" b="0" i="0" u="none" strike="noStrike" cap="none" dirty="0" smtClean="0">
                <a:solidFill>
                  <a:srgbClr val="000000"/>
                </a:solidFill>
                <a:latin typeface="Arial"/>
                <a:ea typeface="Arial"/>
                <a:cs typeface="Arial"/>
                <a:sym typeface="Arial"/>
              </a:rPr>
              <a:t>Surface to sea-floor          BOP ~15 </a:t>
            </a:r>
            <a:r>
              <a:rPr lang="en-US" sz="1600" b="0" i="0" u="none" strike="noStrike" cap="none" dirty="0" err="1" smtClean="0">
                <a:solidFill>
                  <a:srgbClr val="000000"/>
                </a:solidFill>
                <a:latin typeface="Arial"/>
                <a:ea typeface="Arial"/>
                <a:cs typeface="Arial"/>
                <a:sym typeface="Arial"/>
              </a:rPr>
              <a:t>metres</a:t>
            </a:r>
            <a:r>
              <a:rPr lang="en-US" sz="1600" b="0" i="0" u="none" strike="noStrike" cap="none" dirty="0" smtClean="0">
                <a:solidFill>
                  <a:srgbClr val="000000"/>
                </a:solidFill>
                <a:latin typeface="Arial"/>
                <a:ea typeface="Arial"/>
                <a:cs typeface="Arial"/>
                <a:sym typeface="Arial"/>
              </a:rPr>
              <a:t>                           Drilling End ~ 3 </a:t>
            </a:r>
            <a:r>
              <a:rPr lang="en-US" sz="1600" b="0" i="0" u="none" strike="noStrike" cap="none" dirty="0" err="1" smtClean="0">
                <a:solidFill>
                  <a:srgbClr val="000000"/>
                </a:solidFill>
                <a:latin typeface="Arial"/>
                <a:ea typeface="Arial"/>
                <a:cs typeface="Arial"/>
                <a:sym typeface="Arial"/>
              </a:rPr>
              <a:t>metres</a:t>
            </a:r>
            <a:endParaRPr sz="1600" b="0" i="0" u="none" strike="noStrike" cap="none" dirty="0">
              <a:solidFill>
                <a:srgbClr val="000000"/>
              </a:solidFill>
              <a:latin typeface="Arial"/>
              <a:ea typeface="Arial"/>
              <a:cs typeface="Arial"/>
              <a:sym typeface="Arial"/>
            </a:endParaRPr>
          </a:p>
        </p:txBody>
      </p:sp>
      <p:pic>
        <p:nvPicPr>
          <p:cNvPr id="173" name="Google Shape;173;p5"/>
          <p:cNvPicPr preferRelativeResize="0"/>
          <p:nvPr/>
        </p:nvPicPr>
        <p:blipFill rotWithShape="1">
          <a:blip r:embed="rId3">
            <a:alphaModFix/>
          </a:blip>
          <a:srcRect/>
          <a:stretch/>
        </p:blipFill>
        <p:spPr>
          <a:xfrm>
            <a:off x="304800" y="1116000"/>
            <a:ext cx="1600200" cy="5040000"/>
          </a:xfrm>
          <a:prstGeom prst="rect">
            <a:avLst/>
          </a:prstGeom>
          <a:noFill/>
          <a:ln>
            <a:solidFill>
              <a:schemeClr val="tx1"/>
            </a:solidFill>
          </a:ln>
        </p:spPr>
      </p:pic>
      <p:pic>
        <p:nvPicPr>
          <p:cNvPr id="174" name="Google Shape;174;p5"/>
          <p:cNvPicPr preferRelativeResize="0"/>
          <p:nvPr/>
        </p:nvPicPr>
        <p:blipFill rotWithShape="1">
          <a:blip r:embed="rId4">
            <a:alphaModFix/>
          </a:blip>
          <a:srcRect/>
          <a:stretch/>
        </p:blipFill>
        <p:spPr>
          <a:xfrm>
            <a:off x="1983646" y="1116000"/>
            <a:ext cx="3121754" cy="5040000"/>
          </a:xfrm>
          <a:prstGeom prst="rect">
            <a:avLst/>
          </a:prstGeom>
          <a:noFill/>
          <a:ln>
            <a:solidFill>
              <a:schemeClr val="tx1"/>
            </a:solidFill>
          </a:ln>
        </p:spPr>
      </p:pic>
      <p:pic>
        <p:nvPicPr>
          <p:cNvPr id="175" name="Google Shape;175;p5"/>
          <p:cNvPicPr preferRelativeResize="0"/>
          <p:nvPr/>
        </p:nvPicPr>
        <p:blipFill rotWithShape="1">
          <a:blip r:embed="rId5">
            <a:alphaModFix/>
          </a:blip>
          <a:srcRect/>
          <a:stretch/>
        </p:blipFill>
        <p:spPr>
          <a:xfrm>
            <a:off x="5184046" y="1116000"/>
            <a:ext cx="3578954" cy="5040000"/>
          </a:xfrm>
          <a:prstGeom prst="rect">
            <a:avLst/>
          </a:prstGeom>
          <a:noFill/>
          <a:ln>
            <a:solidFill>
              <a:schemeClr val="tx1"/>
            </a:solidFill>
          </a:ln>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Basics Of Well </a:t>
            </a:r>
            <a:r>
              <a:rPr lang="en-US" altLang="en-US" sz="2400" b="0" dirty="0" smtClean="0">
                <a:solidFill>
                  <a:schemeClr val="accent2"/>
                </a:solidFill>
                <a:latin typeface="Arial" panose="020B0604020202020204" pitchFamily="34" charset="0"/>
                <a:ea typeface="+mj-ea"/>
                <a:cs typeface="Arial" panose="020B0604020202020204" pitchFamily="34" charset="0"/>
              </a:rPr>
              <a:t>Control: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7048769"/>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6"/>
          <p:cNvSpPr/>
          <p:nvPr/>
        </p:nvSpPr>
        <p:spPr>
          <a:xfrm>
            <a:off x="180000" y="828000"/>
            <a:ext cx="8640000" cy="5328000"/>
          </a:xfrm>
          <a:prstGeom prst="rect">
            <a:avLst/>
          </a:prstGeom>
          <a:solidFill>
            <a:schemeClr val="accent1">
              <a:alpha val="6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marR="0" lvl="0" indent="-609600" algn="l" rtl="0">
              <a:lnSpc>
                <a:spcPct val="8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p:txBody>
      </p:sp>
      <p:sp>
        <p:nvSpPr>
          <p:cNvPr id="189" name="Google Shape;189;p6"/>
          <p:cNvSpPr/>
          <p:nvPr/>
        </p:nvSpPr>
        <p:spPr>
          <a:xfrm>
            <a:off x="0" y="4659313"/>
            <a:ext cx="269875" cy="27463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b="0" i="0" u="none" strike="noStrike" cap="none">
                <a:solidFill>
                  <a:schemeClr val="dk1"/>
                </a:solidFill>
                <a:latin typeface="Times"/>
                <a:ea typeface="Times"/>
                <a:cs typeface="Times"/>
                <a:sym typeface="Times"/>
              </a:rPr>
              <a:t>  </a:t>
            </a:r>
            <a:endParaRPr sz="2400" b="0" i="0" u="none" strike="noStrike" cap="none">
              <a:solidFill>
                <a:schemeClr val="dk1"/>
              </a:solidFill>
              <a:latin typeface="Times New Roman"/>
              <a:ea typeface="Times New Roman"/>
              <a:cs typeface="Times New Roman"/>
              <a:sym typeface="Times New Roman"/>
            </a:endParaRPr>
          </a:p>
        </p:txBody>
      </p:sp>
      <p:pic>
        <p:nvPicPr>
          <p:cNvPr id="190" name="Google Shape;190;p6"/>
          <p:cNvPicPr preferRelativeResize="0"/>
          <p:nvPr/>
        </p:nvPicPr>
        <p:blipFill rotWithShape="1">
          <a:blip r:embed="rId3">
            <a:alphaModFix/>
          </a:blip>
          <a:srcRect/>
          <a:stretch/>
        </p:blipFill>
        <p:spPr>
          <a:xfrm>
            <a:off x="457200" y="873676"/>
            <a:ext cx="4495800" cy="2814638"/>
          </a:xfrm>
          <a:prstGeom prst="rect">
            <a:avLst/>
          </a:prstGeom>
          <a:noFill/>
          <a:ln>
            <a:solidFill>
              <a:schemeClr val="tx2"/>
            </a:solidFill>
          </a:ln>
        </p:spPr>
      </p:pic>
      <p:pic>
        <p:nvPicPr>
          <p:cNvPr id="191" name="Google Shape;191;p6"/>
          <p:cNvPicPr preferRelativeResize="0"/>
          <p:nvPr/>
        </p:nvPicPr>
        <p:blipFill rotWithShape="1">
          <a:blip r:embed="rId4">
            <a:alphaModFix/>
          </a:blip>
          <a:srcRect/>
          <a:stretch/>
        </p:blipFill>
        <p:spPr>
          <a:xfrm>
            <a:off x="4673601" y="3077638"/>
            <a:ext cx="3962400" cy="2971800"/>
          </a:xfrm>
          <a:prstGeom prst="rect">
            <a:avLst/>
          </a:prstGeom>
          <a:noFill/>
          <a:ln>
            <a:solidFill>
              <a:schemeClr val="tx2"/>
            </a:solidFill>
          </a:ln>
        </p:spPr>
      </p:pic>
      <p:sp>
        <p:nvSpPr>
          <p:cNvPr id="192" name="Google Shape;192;p6"/>
          <p:cNvSpPr txBox="1"/>
          <p:nvPr/>
        </p:nvSpPr>
        <p:spPr>
          <a:xfrm>
            <a:off x="4656398" y="1247014"/>
            <a:ext cx="3962400" cy="1492250"/>
          </a:xfrm>
          <a:prstGeom prst="rect">
            <a:avLst/>
          </a:prstGeom>
          <a:solidFill>
            <a:schemeClr val="tx1"/>
          </a:solidFill>
          <a:ln w="9525" cap="flat" cmpd="sng">
            <a:solidFill>
              <a:schemeClr val="tx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The Loss Incident: </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Date: 20-April-2010 to 15-July-2010</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Platform: Deepwater Horizon Drilling Rig </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Location: The </a:t>
            </a:r>
            <a:r>
              <a:rPr lang="en-US" sz="1300" b="0" i="0" u="none" strike="noStrike" cap="none" dirty="0" err="1">
                <a:solidFill>
                  <a:srgbClr val="FFFFFF"/>
                </a:solidFill>
                <a:latin typeface="Arial"/>
                <a:ea typeface="Arial"/>
                <a:cs typeface="Arial"/>
                <a:sym typeface="Arial"/>
              </a:rPr>
              <a:t>Macondo</a:t>
            </a:r>
            <a:r>
              <a:rPr lang="en-US" sz="1300" b="0" i="0" u="none" strike="noStrike" cap="none" dirty="0">
                <a:solidFill>
                  <a:srgbClr val="FFFFFF"/>
                </a:solidFill>
                <a:latin typeface="Arial"/>
                <a:ea typeface="Arial"/>
                <a:cs typeface="Arial"/>
                <a:sym typeface="Arial"/>
              </a:rPr>
              <a:t> Prospect, Gulf of Mexico</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Corporations: BP plc, </a:t>
            </a:r>
            <a:r>
              <a:rPr lang="en-US" sz="1300" b="0" i="0" u="none" strike="noStrike" cap="none" dirty="0" err="1">
                <a:solidFill>
                  <a:srgbClr val="FFFFFF"/>
                </a:solidFill>
                <a:latin typeface="Arial"/>
                <a:ea typeface="Arial"/>
                <a:cs typeface="Arial"/>
                <a:sym typeface="Arial"/>
              </a:rPr>
              <a:t>TransOcean</a:t>
            </a:r>
            <a:r>
              <a:rPr lang="en-US" sz="1300" b="0" i="0" u="none" strike="noStrike" cap="none" dirty="0">
                <a:solidFill>
                  <a:srgbClr val="FFFFFF"/>
                </a:solidFill>
                <a:latin typeface="Arial"/>
                <a:ea typeface="Arial"/>
                <a:cs typeface="Arial"/>
                <a:sym typeface="Arial"/>
              </a:rPr>
              <a:t>, Halliburton</a:t>
            </a:r>
            <a:endParaRPr dirty="0"/>
          </a:p>
        </p:txBody>
      </p:sp>
      <p:sp>
        <p:nvSpPr>
          <p:cNvPr id="193" name="Google Shape;193;p6"/>
          <p:cNvSpPr txBox="1"/>
          <p:nvPr/>
        </p:nvSpPr>
        <p:spPr>
          <a:xfrm>
            <a:off x="449875" y="3657600"/>
            <a:ext cx="4223725" cy="2392362"/>
          </a:xfrm>
          <a:prstGeom prst="rect">
            <a:avLst/>
          </a:prstGeom>
          <a:solidFill>
            <a:schemeClr val="tx1"/>
          </a:solidFill>
          <a:ln w="9525" cap="flat" cmpd="sng">
            <a:solidFill>
              <a:schemeClr val="tx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 Impact on PEAP:</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 11 killed, 16 seriously injured</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E: Inestimable impact</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A: </a:t>
            </a:r>
            <a:r>
              <a:rPr lang="en-US" sz="1300" b="1" i="0" u="none" strike="noStrike" cap="none" dirty="0">
                <a:solidFill>
                  <a:srgbClr val="FFFFFF"/>
                </a:solidFill>
                <a:latin typeface="Arial"/>
                <a:ea typeface="Arial"/>
                <a:cs typeface="Arial"/>
                <a:sym typeface="Arial"/>
              </a:rPr>
              <a:t>Tens of billions of dollars</a:t>
            </a:r>
            <a:endParaRPr dirty="0"/>
          </a:p>
          <a:p>
            <a:pPr marL="0" marR="0" lvl="0" indent="0" algn="l" rtl="0">
              <a:spcBef>
                <a:spcPts val="650"/>
              </a:spcBef>
              <a:spcAft>
                <a:spcPts val="0"/>
              </a:spcAft>
              <a:buClr>
                <a:srgbClr val="FFFFFF"/>
              </a:buClr>
              <a:buSzPts val="1300"/>
              <a:buFont typeface="Noto Sans Symbols"/>
              <a:buNone/>
            </a:pPr>
            <a:r>
              <a:rPr lang="en-US" sz="1300" b="0" i="0" u="none" strike="noStrike" cap="none" dirty="0">
                <a:solidFill>
                  <a:srgbClr val="FFFFFF"/>
                </a:solidFill>
                <a:latin typeface="Arial"/>
                <a:ea typeface="Arial"/>
                <a:cs typeface="Arial"/>
                <a:sym typeface="Arial"/>
              </a:rPr>
              <a:t>P: Broad interruptions for US Gulf of Mexico offshore drilling industry; and Significant regulator intervention with regulatory impact</a:t>
            </a:r>
            <a:endParaRPr dirty="0"/>
          </a:p>
          <a:p>
            <a:pPr marL="0" marR="0" lvl="0" indent="0" algn="l" rtl="0">
              <a:spcBef>
                <a:spcPts val="650"/>
              </a:spcBef>
              <a:spcAft>
                <a:spcPts val="0"/>
              </a:spcAft>
              <a:buClr>
                <a:srgbClr val="FFFFFF"/>
              </a:buClr>
              <a:buSzPts val="1300"/>
              <a:buFont typeface="Noto Sans Symbols"/>
              <a:buNone/>
            </a:pPr>
            <a:r>
              <a:rPr lang="en-US" sz="1300" b="1" i="0" u="none" strike="noStrike" cap="none" dirty="0">
                <a:solidFill>
                  <a:srgbClr val="FFFFFF"/>
                </a:solidFill>
                <a:latin typeface="Arial"/>
                <a:ea typeface="Arial"/>
                <a:cs typeface="Arial"/>
                <a:sym typeface="Arial"/>
              </a:rPr>
              <a:t>* </a:t>
            </a:r>
            <a:r>
              <a:rPr lang="en-US" sz="1300" b="1" i="0" u="sng" strike="noStrike" cap="none" dirty="0">
                <a:solidFill>
                  <a:srgbClr val="FFFFFF"/>
                </a:solidFill>
                <a:latin typeface="Arial"/>
                <a:ea typeface="Arial"/>
                <a:cs typeface="Arial"/>
                <a:sym typeface="Arial"/>
              </a:rPr>
              <a:t>Prolonged and extensive media coverage (reputational impact)</a:t>
            </a:r>
            <a:endParaRPr dirty="0"/>
          </a:p>
        </p:txBody>
      </p:sp>
      <p:sp>
        <p:nvSpPr>
          <p:cNvPr id="10"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 The Loss Incident &amp; Impacts on PEAP</a:t>
            </a: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40995985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Documentary Videos on the BP DWH Blowout, Gulf of Mexico,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 are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posted on </a:t>
            </a:r>
            <a:r>
              <a:rPr lang="en-US" altLang="en-US" sz="18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viewing prior to the lecture.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Video:</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00:00-01:20 Introduction and CSB Investigation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01:21-02:35 Technical explanation – drilling, mud, kicks</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02:36-03:38 BOP Operation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03:39-04:57 The Kick initiates the incident</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04:58-05:24 Buckled Pipe and Effective Compression</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CBS News 60 Minutes Video, Part 1: </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02:03-03:04 Background</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02:18-03:04 Technical explanation - rate of penetration</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03:05-04:36 “Tension” – push to do things safely but fast (competing priorities)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CBS News 60 Minutes Video, Part 2: </a:t>
            </a:r>
          </a:p>
          <a:p>
            <a:pPr marL="0" indent="0" eaLnBrk="0" hangingPunct="0">
              <a:lnSpc>
                <a:spcPct val="100000"/>
              </a:lnSpc>
              <a:spcBef>
                <a:spcPts val="0"/>
              </a:spcBef>
              <a:buClr>
                <a:srgbClr val="000000"/>
              </a:buClr>
              <a:buSzPct val="100000"/>
              <a:buNone/>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02:40-7:15 Professor Bob Bea – discussion points akin to “The Engineer’s Survival Guide”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Documentary Videos – Viewed via </a:t>
            </a:r>
            <a:r>
              <a:rPr lang="en-US" altLang="en-US" sz="2400" b="0" dirty="0" err="1">
                <a:solidFill>
                  <a:schemeClr val="accent2"/>
                </a:solidFill>
                <a:latin typeface="Arial" panose="020B0604020202020204" pitchFamily="34" charset="0"/>
                <a:ea typeface="+mj-ea"/>
                <a:cs typeface="Arial" panose="020B0604020202020204" pitchFamily="34" charset="0"/>
              </a:rPr>
              <a:t>eClass</a:t>
            </a:r>
            <a:r>
              <a:rPr lang="en-US" altLang="en-US" sz="2400" b="0" dirty="0">
                <a:solidFill>
                  <a:schemeClr val="accent2"/>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05898561"/>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7354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Rush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“get the job done”: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rate faster than specified for formation</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barrier (plug) not effectively installed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Premature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removal of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drilling fluid / mud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 cement plugs were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completed (cured)</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Defective Blowout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Preventer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 – a “safety-critical device”:</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Damaged Annular on the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BOP </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Inoperative Control Pods on the BOP</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Damaged hydraulic line and weak battery on the BOP</a:t>
            </a: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Incorrect interpretation of well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data:</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 standards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inadequate compliance with standards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signals of a “kick” ignored (the lead-up prior to a blow-out)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integrity test did not give a clear “pass / fail</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i.e. pressure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test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failed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confirm mud and plug integrity (pressure should have remained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static / less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mud returned to surface)</a:t>
            </a: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Incident Causes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252067997"/>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60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the day of the April 20 tragedy, no effective safeguards were in place to eliminate or minimize the consequences of a process safety incident.  </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safeguards (the physical barriers such as drilling mud, steel casing, cement plugs, “kick” detection, cement barrier testing, and BOP) intended to prevent such a disaster were not properly constructed, tested, or maintained, or they had been removed. </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management systems intended to ensure the required functionality, availability, and reliability of these safety-critical safeguards were inadequate. </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safeguards meant to prevent, mitigate, or control a blowout failed on the day of the accident</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60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drilling column fluid (mud weight) barrier and the cement barrier both fail, and the well is still open (no plug installed), drilling crews depend on a blowout preventer (BOP) to control pore pressures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600"/>
              </a:spcAft>
              <a:buClr>
                <a:srgbClr val="000000"/>
              </a:buClr>
              <a:buSzPct val="100000"/>
              <a:buNone/>
            </a:pP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 Chemical Safety And Hazard Investigation Board; </a:t>
            </a:r>
            <a:b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Investigation Report, Volume 1; Explosion And Fire At </a:t>
            </a:r>
            <a:b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600" b="0" i="1"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Well; Report No. 2010-10-I-OS; 5-June-2014</a:t>
            </a:r>
          </a:p>
          <a:p>
            <a:pPr marL="0" indent="0" algn="r" eaLnBrk="0" hangingPunct="0">
              <a:lnSpc>
                <a:spcPct val="100000"/>
              </a:lnSpc>
              <a:spcBef>
                <a:spcPts val="0"/>
              </a:spcBef>
              <a:spcAft>
                <a:spcPts val="600"/>
              </a:spcAft>
              <a:buClr>
                <a:srgbClr val="000000"/>
              </a:buClr>
              <a:buSzPct val="100000"/>
              <a:buNone/>
            </a:pP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Layers of Protection</a:t>
            </a:r>
            <a:endPar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Incident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
        <p:nvSpPr>
          <p:cNvPr id="6" name="Left Arrow 5"/>
          <p:cNvSpPr/>
          <p:nvPr/>
        </p:nvSpPr>
        <p:spPr>
          <a:xfrm rot="1087676">
            <a:off x="5845115" y="5013118"/>
            <a:ext cx="2675623" cy="745128"/>
          </a:xfrm>
          <a:prstGeom prst="lef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latin typeface="Arial" panose="020B0604020202020204" pitchFamily="34" charset="0"/>
                <a:cs typeface="Arial" panose="020B0604020202020204" pitchFamily="34" charset="0"/>
              </a:rPr>
              <a:t>Three </a:t>
            </a:r>
            <a:r>
              <a:rPr lang="en-US" sz="2000" dirty="0" err="1" smtClean="0">
                <a:solidFill>
                  <a:schemeClr val="bg1"/>
                </a:solidFill>
                <a:latin typeface="Arial" panose="020B0604020202020204" pitchFamily="34" charset="0"/>
                <a:cs typeface="Arial" panose="020B0604020202020204" pitchFamily="34" charset="0"/>
              </a:rPr>
              <a:t>LoP</a:t>
            </a:r>
            <a:r>
              <a:rPr lang="en-US" sz="2000" dirty="0" smtClean="0">
                <a:solidFill>
                  <a:schemeClr val="bg1"/>
                </a:solidFill>
                <a:latin typeface="Arial" panose="020B0604020202020204" pitchFamily="34" charset="0"/>
                <a:cs typeface="Arial" panose="020B0604020202020204" pitchFamily="34" charset="0"/>
              </a:rPr>
              <a:t>* </a:t>
            </a:r>
            <a:r>
              <a:rPr lang="en-US" sz="2000" dirty="0" smtClean="0">
                <a:solidFill>
                  <a:schemeClr val="bg1"/>
                </a:solidFill>
                <a:latin typeface="Arial" panose="020B0604020202020204" pitchFamily="34" charset="0"/>
                <a:cs typeface="Arial" panose="020B0604020202020204" pitchFamily="34" charset="0"/>
              </a:rPr>
              <a:t>failed!</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132367"/>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Continue to Drill Down in the RCA:</a:t>
            </a: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preceding pages provide sufficient content for any ENGG404 team of students to generate an RCA chart and drill down to latent causes.</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what would we find? Given the magnitude of this event, would we expect to find latent causes categorized as “P” or “S” or “C”?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US-CSB report: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intended to ensure the required functionality, availability, and reliability of these safety-critical safeguards were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inadequately implemented</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while BP and Transocean had </a:t>
            </a:r>
            <a:r>
              <a:rPr lang="en-US" altLang="en-US" sz="1800" b="0" i="1" u="sng"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rigourous</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corporate polices</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risk management,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neither</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company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ensured their implementation</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t>
            </a:r>
            <a:r>
              <a:rPr lang="en-US" altLang="en-US" sz="1800" b="0" i="1"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major hazards of drilling associated with process safety (containment of hydrocarbons under pressure) </a:t>
            </a:r>
            <a:r>
              <a:rPr lang="en-US" altLang="en-US" sz="18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lacked management oversight</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compared to occupational safety.”</a:t>
            </a: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Sounds like a “C” … but let’s read on</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Immediate and Basic Causes … Latent Causes? Culture?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87800948"/>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Letter to Tony Hayward, CEO, BP from U.S. House Committee on Energy and Commerce officials: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appears to have made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multiple decisions for economic reasons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increased the danger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 catastrophic well failure.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several instances, 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decisions appear to violate industry guidelines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were made despite warnings from BP’s own personnel and its contractors.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effect, it appears that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repeatedly chose risky procedures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order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reduce costs and save time</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made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minimal efforts to contain the added risks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Waxman, Henry, Committee Chair</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U.S. House Committee on Energy and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Commerce, and Bart Stupak, Chair of Subcommittee on Oversight and Investigation</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U.S. House Committee on Energy and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Commerce. 2010. Letter to Tony Hayward, Chief Executive Officer, BP PLC.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http://energycommerce.house.gov/documents/20100614/Hayward.BP.2010.6.14.pdf</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accessed 10-June-2010</a:t>
            </a: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47</a:t>
            </a: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Culture and Organizational Factors</a:t>
            </a:r>
            <a:r>
              <a:rPr lang="en-US" altLang="en-US" sz="2400" b="0" dirty="0" smtClean="0">
                <a:solidFill>
                  <a:schemeClr val="accent2"/>
                </a:solidFill>
                <a:latin typeface="Arial" panose="020B0604020202020204" pitchFamily="34" charset="0"/>
                <a:ea typeface="+mj-ea"/>
                <a:cs typeface="Arial" panose="020B0604020202020204" pitchFamily="34" charset="0"/>
              </a:rPr>
              <a:t>: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r>
              <a:rPr lang="en-US" altLang="en-US" sz="16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71524308"/>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Davis to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Personal Communication:</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“My initial assessment of the MC252 (BP-</a:t>
            </a:r>
            <a:r>
              <a:rPr lang="en-US" altLang="en-US" sz="18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 is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 by BP management to manage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series of technical and operational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 to conduct a proper hazard analysis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on the first change was a secondary change.</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MC252 loss incident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an operator nor mechanic (i.e. technical) root cause but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corporate management root cause</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Davis, J. Frank. 2010. Personal communication, email to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8-July-2010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161</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576179"/>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from </a:t>
            </a:r>
            <a:r>
              <a:rPr lang="en-US" altLang="en-US" sz="14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4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4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Personal Communication:</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has been much discussion of the immediate technical causes of the 2010 BP oil leaks, but the underlying or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root cause was a change in the culture of the company as a whole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particularly in the U.S. Back in the 1960s and 1970s, BP had a good safety record and safety culture. Why has it changed?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Every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manager</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chemical and oil industries (and no doubt many others)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knows</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many operators, maintenance workers, foremen, and shift managers …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will start taking short cuts </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stop following instructions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they can get away with it</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Their attitude is a macho one, there their job is to make product, not fill in forms such as a permit –to-work. Professional staff, at all levels, should check details frequently or the procedures will corrode faster than the steelwork and soon vanish without trace. It is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enough for the professional staff (leadership) to take a helicopter view</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many, perhaps most, offshore rigs and platforms, the senior person in charge is usually someone who has risen form the ranks and would have been a foreman or shift manager if he had stayed onshore. While professional staff visit from time to time,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no day-to-day checking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(by someone at a higher level). When there is a problem, the attitude of the senior person on the rig or platform is often a macho one: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“Forget the rules. Let’s get stuck in a finish the job</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parlance is “</a:t>
            </a:r>
            <a:r>
              <a:rPr lang="en-US" altLang="en-US" sz="140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Git</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er</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done!”)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is easy to point the finger at the management and assume that a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cutting corners started at the top</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was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motivated by money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is worth remembering that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same culture can also originate at the bottom</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driven by the </a:t>
            </a:r>
            <a:r>
              <a:rPr lang="en-US" altLang="en-US" sz="14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 to get the job done</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i="1"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task of management is to know this and make sure it is done properly.</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Trevor. 2010. Personal communication, email to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8-July-2010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161-162</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47067228"/>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spcAft>
                <a:spcPts val="0"/>
              </a:spcAft>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Excerpt from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Journal of Drilling Engineering:</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majority of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factors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associated with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are provided to the drilling and workover personnel.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most often are those of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production and safety</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spcAft>
                <a:spcPts val="0"/>
              </a:spcAft>
              <a:buClr>
                <a:srgbClr val="000000"/>
              </a:buClr>
              <a:buSzPct val="100000"/>
              <a:buFont typeface="Wingdings" panose="05000000000000000000" pitchFamily="2" charset="2"/>
              <a:buChar char="Ø"/>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conflicting incentives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unique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drilling and workover operations in this industry or even to the oil and gas industry.”</a:t>
            </a:r>
          </a:p>
          <a:p>
            <a:pPr marL="0" indent="0" eaLnBrk="0" hangingPunct="0">
              <a:lnSpc>
                <a:spcPct val="100000"/>
              </a:lnSpc>
              <a:spcBef>
                <a:spcPts val="0"/>
              </a:spcBef>
              <a:spcAft>
                <a:spcPts val="0"/>
              </a:spcAft>
              <a:buClr>
                <a:srgbClr val="000000"/>
              </a:buClr>
              <a:buSzPct val="100000"/>
              <a:buNone/>
            </a:pPr>
            <a:endPar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Bea, R.G. 1998. “Real-time Prevention of Drilling and Workover Blowouts: Management Rapidly Developing Crises.” Journal of Drilling Engineering, May:1-10.</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spcAft>
                <a:spcPts val="0"/>
              </a:spcAft>
              <a:buClr>
                <a:srgbClr val="000000"/>
              </a:buClr>
              <a:buSzPct val="100000"/>
              <a:buNone/>
            </a:pP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Freudenburg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William R., and Robert </a:t>
            </a:r>
            <a:r>
              <a:rPr lang="en-US" altLang="en-US" sz="1400" b="0" i="1"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Gramling</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2011. “Blowout in the Gulf: The BP Oil Spill Disaster and the Future of Energy in America”; Cambridge, Massachusetts. The MIT Press; page 162</a:t>
            </a:r>
            <a:endPar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Culture and Organizational Factors: </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the </a:t>
            </a:r>
            <a:r>
              <a:rPr lang="en-US" altLang="en-US" sz="16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bold text</a:t>
            </a:r>
            <a:r>
              <a:rPr lang="en-US" altLang="en-US" sz="16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phrases …)</a:t>
            </a:r>
            <a:endParaRPr lang="en-US" altLang="en-US" sz="2400" b="0" dirty="0">
              <a:solidFill>
                <a:schemeClr val="accent2"/>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501702538"/>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Cultural Issues on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Competing objectives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(conflicting incentives) of costs, schedule, and production over safety!</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made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multiple decisions for economic reasons that increased the danger of a catastrophic well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BP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repeatedly chose risky procedures in order to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reduce costs and save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Normalization of Deviance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(Atrophy of Compliance):</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will start taking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short cuts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stop following instructions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they can get away with it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easy to point the finger at the management and assume that a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cutting corners started at the top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was motivated by money. It is worth remembering that 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 culture can also originate at the bottom, driven by the desire to get the job done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task of management is to know this and make sure it is done properly</a:t>
            </a:r>
            <a:r>
              <a:rPr lang="en-US" altLang="en-US" sz="18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Kletz</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2010.</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Culture and Organizational Factors: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04691897"/>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More Cultural Issues about on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happened after drilling &amp; cement job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completed, and nearing well-completion!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Transocean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had a similar rig incident which demonstrated the need for well monitoring (lower consequences) in the UK just four months prior, but no transfer of lessons to Gulf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Mexico.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 hazards of drilling associated with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(containment of hydrocarbons under pressure)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lacked management oversight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compared to occupational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BP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experienced a significant process safety-related loss at their Texas City refinery in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2005</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but a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shift of the risk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paradigm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more on process safety was lacking</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BP drilling organization in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2010</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 It takes time to change culture!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Culture and Organizational Factors: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77066692"/>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0"/>
          <p:cNvSpPr/>
          <p:nvPr/>
        </p:nvSpPr>
        <p:spPr>
          <a:xfrm>
            <a:off x="180000" y="828000"/>
            <a:ext cx="8640000" cy="5328000"/>
          </a:xfrm>
          <a:prstGeom prst="rect">
            <a:avLst/>
          </a:prstGeom>
          <a:solidFill>
            <a:srgbClr val="0000FF"/>
          </a:solidFill>
          <a:ln w="9525"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lvl="0">
              <a:spcBef>
                <a:spcPts val="0"/>
              </a:spcBef>
              <a:spcAft>
                <a:spcPts val="0"/>
              </a:spcAft>
            </a:pPr>
            <a:r>
              <a:rPr lang="en-US" sz="2000" b="0" i="1" u="none" strike="noStrike" cap="none" dirty="0">
                <a:solidFill>
                  <a:srgbClr val="FFFFFF"/>
                </a:solidFill>
                <a:latin typeface="Arial"/>
                <a:ea typeface="Arial"/>
                <a:cs typeface="Arial"/>
                <a:sym typeface="Arial"/>
              </a:rPr>
              <a:t>Please </a:t>
            </a:r>
            <a:r>
              <a:rPr lang="en-US" sz="2000" b="0" i="1" u="none" strike="noStrike" cap="none" dirty="0" smtClean="0">
                <a:solidFill>
                  <a:srgbClr val="FFFFFF"/>
                </a:solidFill>
                <a:latin typeface="Arial"/>
                <a:ea typeface="Arial"/>
                <a:cs typeface="Arial"/>
                <a:sym typeface="Arial"/>
              </a:rPr>
              <a:t>confer (</a:t>
            </a:r>
            <a:r>
              <a:rPr lang="en-US" sz="2000" b="0" i="1" dirty="0" smtClean="0">
                <a:solidFill>
                  <a:srgbClr val="FFFFFF"/>
                </a:solidFill>
                <a:latin typeface="Arial"/>
                <a:ea typeface="Arial"/>
                <a:cs typeface="Arial"/>
                <a:sym typeface="Arial"/>
              </a:rPr>
              <a:t>pen-to-paper, MM </a:t>
            </a:r>
            <a:r>
              <a:rPr lang="en-US" sz="2000" b="0" i="1" dirty="0">
                <a:solidFill>
                  <a:srgbClr val="FFFFFF"/>
                </a:solidFill>
                <a:latin typeface="Arial"/>
                <a:ea typeface="Arial"/>
                <a:cs typeface="Arial"/>
                <a:sym typeface="Arial"/>
              </a:rPr>
              <a:t>vote on your top 3</a:t>
            </a:r>
            <a:r>
              <a:rPr lang="en-US" sz="2000" b="0" i="1" dirty="0" smtClean="0">
                <a:solidFill>
                  <a:srgbClr val="FFFFFF"/>
                </a:solidFill>
                <a:latin typeface="Arial"/>
                <a:ea typeface="Arial"/>
                <a:cs typeface="Arial"/>
                <a:sym typeface="Arial"/>
              </a:rPr>
              <a:t>)! </a:t>
            </a:r>
            <a:endParaRPr lang="en-US" sz="2000" b="0" i="1" u="none" strike="noStrike" cap="none" dirty="0" smtClean="0">
              <a:solidFill>
                <a:srgbClr val="FFFFFF"/>
              </a:solidFill>
              <a:latin typeface="Arial"/>
              <a:ea typeface="Arial"/>
              <a:cs typeface="Arial"/>
              <a:sym typeface="Arial"/>
            </a:endParaRPr>
          </a:p>
          <a:p>
            <a:pPr>
              <a:spcBef>
                <a:spcPts val="0"/>
              </a:spcBef>
              <a:spcAft>
                <a:spcPts val="0"/>
              </a:spcAft>
            </a:pPr>
            <a:r>
              <a:rPr lang="en-US" sz="2000" b="0" i="1" dirty="0">
                <a:solidFill>
                  <a:srgbClr val="FFFFFF"/>
                </a:solidFill>
                <a:latin typeface="Arial"/>
                <a:ea typeface="Arial"/>
                <a:cs typeface="Arial"/>
                <a:sym typeface="Arial"/>
              </a:rPr>
              <a:t>Take a moment to think about this </a:t>
            </a:r>
            <a:r>
              <a:rPr lang="en-US" sz="2000" b="0" i="1" dirty="0" smtClean="0">
                <a:solidFill>
                  <a:srgbClr val="FFFFFF"/>
                </a:solidFill>
                <a:latin typeface="Arial"/>
                <a:ea typeface="Arial"/>
                <a:cs typeface="Arial"/>
                <a:sym typeface="Arial"/>
              </a:rPr>
              <a:t>question: </a:t>
            </a:r>
          </a:p>
          <a:p>
            <a:pPr marL="342900" indent="-342900">
              <a:spcBef>
                <a:spcPts val="0"/>
              </a:spcBef>
              <a:spcAft>
                <a:spcPts val="0"/>
              </a:spcAft>
              <a:buFont typeface="Wingdings" panose="05000000000000000000" pitchFamily="2" charset="2"/>
              <a:buChar char="Ø"/>
            </a:pPr>
            <a:r>
              <a:rPr lang="en-US" sz="2000" b="0" i="1" u="none" strike="noStrike" cap="none" dirty="0" smtClean="0">
                <a:solidFill>
                  <a:srgbClr val="FFFFFF"/>
                </a:solidFill>
                <a:latin typeface="Arial"/>
                <a:ea typeface="Arial"/>
                <a:cs typeface="Arial"/>
                <a:sym typeface="Arial"/>
              </a:rPr>
              <a:t>Besides </a:t>
            </a:r>
            <a:r>
              <a:rPr lang="en-US" sz="2000" b="0" i="1" u="none" strike="noStrike" cap="none" dirty="0">
                <a:solidFill>
                  <a:srgbClr val="FFFFFF"/>
                </a:solidFill>
                <a:latin typeface="Arial"/>
                <a:ea typeface="Arial"/>
                <a:cs typeface="Arial"/>
                <a:sym typeface="Arial"/>
              </a:rPr>
              <a:t>the obvious weakness in the first element (Management Leadership, Commitment and Accountability), what other elements of the risk management system were weak? </a:t>
            </a:r>
            <a:endParaRPr sz="2000" b="0" i="1" u="none" strike="noStrike" cap="none" dirty="0">
              <a:solidFill>
                <a:srgbClr val="FFFFFF"/>
              </a:solidFill>
              <a:latin typeface="Arial"/>
              <a:ea typeface="Arial"/>
              <a:cs typeface="Arial"/>
              <a:sym typeface="Arial"/>
            </a:endParaRPr>
          </a:p>
          <a:p>
            <a:pPr marL="457200" marR="0" lvl="0" indent="-457200" algn="l" rtl="0">
              <a:spcBef>
                <a:spcPts val="0"/>
              </a:spcBef>
              <a:spcAft>
                <a:spcPts val="0"/>
              </a:spcAft>
              <a:buClr>
                <a:srgbClr val="000000"/>
              </a:buClr>
              <a:buSzPts val="2000"/>
              <a:buFont typeface="Noto Sans Symbols"/>
              <a:buNone/>
            </a:pPr>
            <a:endParaRPr sz="2000" b="0" i="1" u="none" strike="noStrike" cap="none" dirty="0">
              <a:solidFill>
                <a:srgbClr val="FFFFFF"/>
              </a:solidFill>
              <a:latin typeface="Arial"/>
              <a:ea typeface="Arial"/>
              <a:cs typeface="Arial"/>
              <a:sym typeface="Arial"/>
            </a:endParaRPr>
          </a:p>
        </p:txBody>
      </p:sp>
      <p:sp>
        <p:nvSpPr>
          <p:cNvPr id="243" name="Google Shape;243;p10"/>
          <p:cNvSpPr/>
          <p:nvPr/>
        </p:nvSpPr>
        <p:spPr>
          <a:xfrm>
            <a:off x="1760561" y="2635501"/>
            <a:ext cx="5394278" cy="3460499"/>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algn="l" rtl="0">
              <a:lnSpc>
                <a:spcPct val="110000"/>
              </a:lnSpc>
              <a:spcBef>
                <a:spcPts val="0"/>
              </a:spcBef>
              <a:spcAft>
                <a:spcPts val="0"/>
              </a:spcAft>
              <a:buClr>
                <a:srgbClr val="000000"/>
              </a:buClr>
              <a:buSzPts val="1400"/>
              <a:buFont typeface="Noto Sans Symbols"/>
              <a:buNone/>
            </a:pPr>
            <a:r>
              <a:rPr lang="en-US" sz="1400" b="1" i="0" u="none" strike="noStrike" cap="none" dirty="0">
                <a:latin typeface="Arial"/>
                <a:ea typeface="Arial"/>
                <a:cs typeface="Arial"/>
                <a:sym typeface="Arial"/>
              </a:rPr>
              <a:t>Risk Management System (APEGA Model):</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Management Leadership, Commitment and Accountability.</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Risk Assessment and Management of Risks.</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Community Awareness and Emergency Preparedness.</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Management of Change.</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Incident Reporting, Investigation, Analysis and Actions.</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Program Evaluation and Continuous Improvement. </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Design, Construction and Start-up.</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Operations and Maintenance.</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Employee Competency and Training.</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Contractor Competency and Integration.</a:t>
            </a:r>
            <a:endParaRPr dirty="0"/>
          </a:p>
          <a:p>
            <a:pPr marL="457200" marR="0" lvl="0" indent="-457200" algn="l" rtl="0">
              <a:lnSpc>
                <a:spcPct val="110000"/>
              </a:lnSpc>
              <a:spcBef>
                <a:spcPts val="280"/>
              </a:spcBef>
              <a:spcAft>
                <a:spcPts val="0"/>
              </a:spcAft>
              <a:buClr>
                <a:srgbClr val="000000"/>
              </a:buClr>
              <a:buSzPts val="1400"/>
              <a:buFont typeface="Times New Roman"/>
              <a:buAutoNum type="arabicParenR"/>
            </a:pPr>
            <a:r>
              <a:rPr lang="en-US" sz="1400" b="0" i="0" u="none" strike="noStrike" cap="none" dirty="0">
                <a:latin typeface="Arial"/>
                <a:ea typeface="Arial"/>
                <a:cs typeface="Arial"/>
                <a:sym typeface="Arial"/>
              </a:rPr>
              <a:t>Operations and Facilities Information and Documentation.</a:t>
            </a:r>
            <a:endParaRPr dirty="0"/>
          </a:p>
        </p:txBody>
      </p:sp>
      <p:sp>
        <p:nvSpPr>
          <p:cNvPr id="6"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Identify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Weaknesses in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RMS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09112758"/>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lvl="0" indent="-609600" algn="l" rtl="0">
              <a:spcBef>
                <a:spcPts val="0"/>
              </a:spcBef>
              <a:spcAft>
                <a:spcPts val="0"/>
              </a:spcAft>
              <a:buClrTx/>
              <a:buSzPts val="2000"/>
              <a:buFont typeface="Noto Sans Symbols"/>
              <a:buChar char="⮚"/>
            </a:pPr>
            <a:r>
              <a:rPr lang="en-US" sz="2000" dirty="0">
                <a:solidFill>
                  <a:schemeClr val="tx1"/>
                </a:solidFill>
                <a:latin typeface="Arial"/>
                <a:ea typeface="Arial"/>
                <a:cs typeface="Arial"/>
                <a:sym typeface="Arial"/>
              </a:rPr>
              <a:t>The report stated that "whether purposeful or not, many of the </a:t>
            </a:r>
            <a:r>
              <a:rPr lang="en-US" sz="2000" u="sng" dirty="0">
                <a:solidFill>
                  <a:schemeClr val="tx1"/>
                </a:solidFill>
                <a:latin typeface="Arial"/>
                <a:ea typeface="Arial"/>
                <a:cs typeface="Arial"/>
                <a:sym typeface="Arial"/>
              </a:rPr>
              <a:t>decisions</a:t>
            </a:r>
            <a:r>
              <a:rPr lang="en-US" sz="2000" dirty="0">
                <a:solidFill>
                  <a:schemeClr val="tx1"/>
                </a:solidFill>
                <a:latin typeface="Arial"/>
                <a:ea typeface="Arial"/>
                <a:cs typeface="Arial"/>
                <a:sym typeface="Arial"/>
              </a:rPr>
              <a:t> that BP, Halliburton, and Transocean made that </a:t>
            </a:r>
            <a:r>
              <a:rPr lang="en-US" sz="2000" u="sng" dirty="0">
                <a:solidFill>
                  <a:schemeClr val="tx1"/>
                </a:solidFill>
                <a:latin typeface="Arial"/>
                <a:ea typeface="Arial"/>
                <a:cs typeface="Arial"/>
                <a:sym typeface="Arial"/>
              </a:rPr>
              <a:t>increased the risk </a:t>
            </a:r>
            <a:r>
              <a:rPr lang="en-US" sz="2000" dirty="0">
                <a:solidFill>
                  <a:schemeClr val="tx1"/>
                </a:solidFill>
                <a:latin typeface="Arial"/>
                <a:ea typeface="Arial"/>
                <a:cs typeface="Arial"/>
                <a:sym typeface="Arial"/>
              </a:rPr>
              <a:t>of the </a:t>
            </a:r>
            <a:r>
              <a:rPr lang="en-US" sz="2000" dirty="0" err="1">
                <a:solidFill>
                  <a:schemeClr val="tx1"/>
                </a:solidFill>
                <a:latin typeface="Arial"/>
                <a:ea typeface="Arial"/>
                <a:cs typeface="Arial"/>
                <a:sym typeface="Arial"/>
              </a:rPr>
              <a:t>Macondo</a:t>
            </a:r>
            <a:r>
              <a:rPr lang="en-US" sz="2000" dirty="0">
                <a:solidFill>
                  <a:schemeClr val="tx1"/>
                </a:solidFill>
                <a:latin typeface="Arial"/>
                <a:ea typeface="Arial"/>
                <a:cs typeface="Arial"/>
                <a:sym typeface="Arial"/>
              </a:rPr>
              <a:t> blowout clearly saved those companies significant time (and money).”</a:t>
            </a:r>
            <a:endParaRPr sz="2000" b="1" i="1" dirty="0">
              <a:solidFill>
                <a:schemeClr val="tx1"/>
              </a:solidFill>
              <a:latin typeface="Arial"/>
              <a:ea typeface="Arial"/>
              <a:cs typeface="Arial"/>
              <a:sym typeface="Arial"/>
            </a:endParaRPr>
          </a:p>
        </p:txBody>
      </p:sp>
      <p:sp>
        <p:nvSpPr>
          <p:cNvPr id="7" name="Google Shape;272;p12"/>
          <p:cNvSpPr txBox="1"/>
          <p:nvPr/>
        </p:nvSpPr>
        <p:spPr>
          <a:xfrm>
            <a:off x="180000" y="2124000"/>
            <a:ext cx="8640000" cy="40320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rgbClr val="FFFFFF"/>
                </a:solidFill>
                <a:latin typeface="Arial"/>
                <a:ea typeface="Arial"/>
                <a:cs typeface="Arial"/>
                <a:sym typeface="Arial"/>
              </a:rPr>
              <a:t>Q: What was the priority of management?</a:t>
            </a:r>
            <a:endParaRPr sz="200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In the weeks and days leading up to the loss incident, the priority was getting the well to completion (drilled to depth, and capped) in order to save time and money.</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Certainly, there was a priority and focus on occupational safety.</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But there was minimal focus on process safety. </a:t>
            </a:r>
            <a:endParaRPr sz="2000" b="0" dirty="0">
              <a:latin typeface="Arial"/>
              <a:ea typeface="Arial"/>
              <a:cs typeface="Arial"/>
              <a:sym typeface="Arial"/>
            </a:endParaRPr>
          </a:p>
          <a:p>
            <a:pPr marL="342900" marR="0" lvl="0" indent="-215900" algn="l" rtl="0">
              <a:spcBef>
                <a:spcPts val="0"/>
              </a:spcBef>
              <a:spcAft>
                <a:spcPts val="0"/>
              </a:spcAft>
              <a:buClr>
                <a:schemeClr val="dk1"/>
              </a:buClr>
              <a:buSzPts val="2000"/>
              <a:buFont typeface="Noto Sans Symbols"/>
              <a:buNone/>
            </a:pPr>
            <a:endParaRPr sz="2000" dirty="0">
              <a:latin typeface="Arial"/>
              <a:ea typeface="Arial"/>
              <a:cs typeface="Arial"/>
              <a:sym typeface="Arial"/>
            </a:endParaRPr>
          </a:p>
          <a:p>
            <a:pPr marL="0" marR="0" lvl="0" indent="0" algn="l" rtl="0">
              <a:spcBef>
                <a:spcPts val="0"/>
              </a:spcBef>
              <a:spcAft>
                <a:spcPts val="0"/>
              </a:spcAft>
              <a:buNone/>
            </a:pPr>
            <a:r>
              <a:rPr lang="en-US" sz="2000" dirty="0" smtClean="0">
                <a:solidFill>
                  <a:srgbClr val="FFFFFF"/>
                </a:solidFill>
                <a:latin typeface="Arial"/>
                <a:ea typeface="Arial"/>
                <a:cs typeface="Arial"/>
                <a:sym typeface="Arial"/>
              </a:rPr>
              <a:t>Q</a:t>
            </a:r>
            <a:r>
              <a:rPr lang="en-US" sz="2000" dirty="0">
                <a:solidFill>
                  <a:srgbClr val="FFFFFF"/>
                </a:solidFill>
                <a:latin typeface="Arial"/>
                <a:ea typeface="Arial"/>
                <a:cs typeface="Arial"/>
                <a:sym typeface="Arial"/>
              </a:rPr>
              <a:t>: What was the evidence for </a:t>
            </a:r>
            <a:r>
              <a:rPr lang="en-US" sz="2000" dirty="0" smtClean="0">
                <a:solidFill>
                  <a:srgbClr val="FFFFFF"/>
                </a:solidFill>
                <a:latin typeface="Arial"/>
                <a:ea typeface="Arial"/>
                <a:cs typeface="Arial"/>
                <a:sym typeface="Arial"/>
              </a:rPr>
              <a:t>this lack of focus on process safety?</a:t>
            </a:r>
            <a:endParaRPr sz="200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Rushing to complete the drilling work (over budget, behind schedule, focus on costs).</a:t>
            </a:r>
            <a:endParaRPr sz="2000" b="0" dirty="0"/>
          </a:p>
          <a:p>
            <a:pPr marL="360000" marR="0" lvl="0" indent="-360000" algn="l" rtl="0">
              <a:spcBef>
                <a:spcPts val="0"/>
              </a:spcBef>
              <a:spcAft>
                <a:spcPts val="0"/>
              </a:spcAft>
              <a:buSzPts val="2000"/>
              <a:buFont typeface="Noto Sans Symbols"/>
              <a:buChar char="⮚"/>
            </a:pPr>
            <a:r>
              <a:rPr lang="en-US" sz="2000" b="0" dirty="0">
                <a:latin typeface="Arial"/>
                <a:ea typeface="Arial"/>
                <a:cs typeface="Arial"/>
                <a:sym typeface="Arial"/>
              </a:rPr>
              <a:t>Disregard for critical safety engineered systems for controlling down-hole pressures, detection of leakage, and blow-out prevention.</a:t>
            </a:r>
            <a:endParaRPr sz="2000" b="0" dirty="0">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RME #1 Management Commitment, Leadership &amp; Accountability</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10349925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609600" lvl="0" indent="-609600" algn="l" rtl="0">
              <a:spcBef>
                <a:spcPts val="0"/>
              </a:spcBef>
              <a:spcAft>
                <a:spcPts val="0"/>
              </a:spcAft>
              <a:buClrTx/>
              <a:buSzPts val="2000"/>
              <a:buFont typeface="Noto Sans Symbols"/>
              <a:buChar char="⮚"/>
            </a:pPr>
            <a:r>
              <a:rPr lang="en-US" sz="2000" dirty="0">
                <a:solidFill>
                  <a:schemeClr val="tx1"/>
                </a:solidFill>
                <a:latin typeface="Arial"/>
                <a:ea typeface="Arial"/>
                <a:cs typeface="Arial"/>
                <a:sym typeface="Arial"/>
              </a:rPr>
              <a:t>The report stated that "whether purposeful or not, many of the </a:t>
            </a:r>
            <a:r>
              <a:rPr lang="en-US" sz="2000" u="sng" dirty="0">
                <a:solidFill>
                  <a:schemeClr val="tx1"/>
                </a:solidFill>
                <a:latin typeface="Arial"/>
                <a:ea typeface="Arial"/>
                <a:cs typeface="Arial"/>
                <a:sym typeface="Arial"/>
              </a:rPr>
              <a:t>decisions</a:t>
            </a:r>
            <a:r>
              <a:rPr lang="en-US" sz="2000" dirty="0">
                <a:solidFill>
                  <a:schemeClr val="tx1"/>
                </a:solidFill>
                <a:latin typeface="Arial"/>
                <a:ea typeface="Arial"/>
                <a:cs typeface="Arial"/>
                <a:sym typeface="Arial"/>
              </a:rPr>
              <a:t> that BP, Halliburton, and Transocean made that </a:t>
            </a:r>
            <a:r>
              <a:rPr lang="en-US" sz="2000" u="sng" dirty="0">
                <a:solidFill>
                  <a:schemeClr val="tx1"/>
                </a:solidFill>
                <a:latin typeface="Arial"/>
                <a:ea typeface="Arial"/>
                <a:cs typeface="Arial"/>
                <a:sym typeface="Arial"/>
              </a:rPr>
              <a:t>increased the risk </a:t>
            </a:r>
            <a:r>
              <a:rPr lang="en-US" sz="2000" dirty="0">
                <a:solidFill>
                  <a:schemeClr val="tx1"/>
                </a:solidFill>
                <a:latin typeface="Arial"/>
                <a:ea typeface="Arial"/>
                <a:cs typeface="Arial"/>
                <a:sym typeface="Arial"/>
              </a:rPr>
              <a:t>of the </a:t>
            </a:r>
            <a:r>
              <a:rPr lang="en-US" sz="2000" dirty="0" err="1">
                <a:solidFill>
                  <a:schemeClr val="tx1"/>
                </a:solidFill>
                <a:latin typeface="Arial"/>
                <a:ea typeface="Arial"/>
                <a:cs typeface="Arial"/>
                <a:sym typeface="Arial"/>
              </a:rPr>
              <a:t>Macondo</a:t>
            </a:r>
            <a:r>
              <a:rPr lang="en-US" sz="2000" dirty="0">
                <a:solidFill>
                  <a:schemeClr val="tx1"/>
                </a:solidFill>
                <a:latin typeface="Arial"/>
                <a:ea typeface="Arial"/>
                <a:cs typeface="Arial"/>
                <a:sym typeface="Arial"/>
              </a:rPr>
              <a:t> blowout clearly saved those companies significant time (and money).”</a:t>
            </a:r>
            <a:endParaRPr sz="2000" b="1" i="1" dirty="0">
              <a:solidFill>
                <a:schemeClr val="tx1"/>
              </a:solidFill>
              <a:latin typeface="Arial"/>
              <a:ea typeface="Arial"/>
              <a:cs typeface="Arial"/>
              <a:sym typeface="Arial"/>
            </a:endParaRPr>
          </a:p>
        </p:txBody>
      </p:sp>
      <p:sp>
        <p:nvSpPr>
          <p:cNvPr id="7" name="Google Shape;272;p12"/>
          <p:cNvSpPr txBox="1"/>
          <p:nvPr/>
        </p:nvSpPr>
        <p:spPr>
          <a:xfrm>
            <a:off x="180000" y="2124000"/>
            <a:ext cx="8640000" cy="40320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rgbClr val="FFFFFF"/>
                </a:solidFill>
                <a:latin typeface="Arial"/>
                <a:ea typeface="Arial"/>
                <a:cs typeface="Arial"/>
                <a:sym typeface="Arial"/>
              </a:rPr>
              <a:t>Q: What was the priority of management?</a:t>
            </a:r>
            <a:endParaRPr sz="200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In the weeks and days leading up to the loss incident, the priority was getting the well to completion (drilled to depth, and capped) in order to save time and money.</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Certainly, there was a priority and focus on occupational safety.</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But there was minimal focus on process safety. </a:t>
            </a:r>
            <a:endParaRPr sz="2000" b="0" dirty="0">
              <a:solidFill>
                <a:srgbClr val="FFFFFF"/>
              </a:solidFill>
              <a:latin typeface="Arial"/>
              <a:ea typeface="Arial"/>
              <a:cs typeface="Arial"/>
              <a:sym typeface="Arial"/>
            </a:endParaRPr>
          </a:p>
          <a:p>
            <a:pPr marL="342900" marR="0" lvl="0" indent="-215900" algn="l" rtl="0">
              <a:spcBef>
                <a:spcPts val="0"/>
              </a:spcBef>
              <a:spcAft>
                <a:spcPts val="0"/>
              </a:spcAft>
              <a:buClr>
                <a:schemeClr val="dk1"/>
              </a:buClr>
              <a:buSzPts val="2000"/>
              <a:buFont typeface="Noto Sans Symbols"/>
              <a:buNone/>
            </a:pPr>
            <a:endParaRPr sz="2000" dirty="0">
              <a:solidFill>
                <a:srgbClr val="FFFFFF"/>
              </a:solidFill>
              <a:latin typeface="Arial"/>
              <a:ea typeface="Arial"/>
              <a:cs typeface="Arial"/>
              <a:sym typeface="Arial"/>
            </a:endParaRPr>
          </a:p>
          <a:p>
            <a:pPr marL="0" marR="0" lvl="0" indent="0" algn="l" rtl="0">
              <a:spcBef>
                <a:spcPts val="0"/>
              </a:spcBef>
              <a:spcAft>
                <a:spcPts val="0"/>
              </a:spcAft>
              <a:buNone/>
            </a:pPr>
            <a:r>
              <a:rPr lang="en-US" sz="2000" dirty="0" smtClean="0">
                <a:solidFill>
                  <a:srgbClr val="FFFFFF"/>
                </a:solidFill>
                <a:latin typeface="Arial"/>
                <a:ea typeface="Arial"/>
                <a:cs typeface="Arial"/>
                <a:sym typeface="Arial"/>
              </a:rPr>
              <a:t>Q</a:t>
            </a:r>
            <a:r>
              <a:rPr lang="en-US" sz="2000" dirty="0">
                <a:solidFill>
                  <a:srgbClr val="FFFFFF"/>
                </a:solidFill>
                <a:latin typeface="Arial"/>
                <a:ea typeface="Arial"/>
                <a:cs typeface="Arial"/>
                <a:sym typeface="Arial"/>
              </a:rPr>
              <a:t>: What was the evidence for </a:t>
            </a:r>
            <a:r>
              <a:rPr lang="en-US" sz="2000" dirty="0" smtClean="0">
                <a:solidFill>
                  <a:srgbClr val="FFFFFF"/>
                </a:solidFill>
                <a:latin typeface="Arial"/>
                <a:ea typeface="Arial"/>
                <a:cs typeface="Arial"/>
                <a:sym typeface="Arial"/>
              </a:rPr>
              <a:t>this lack of focus on process safety?</a:t>
            </a:r>
            <a:endParaRPr sz="200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Rushing to complete the drilling work (over budget, behind schedule, focus on costs).</a:t>
            </a:r>
            <a:endParaRPr sz="2000" b="0" dirty="0"/>
          </a:p>
          <a:p>
            <a:pPr marL="360000" marR="0" lvl="0" indent="-360000" algn="l" rtl="0">
              <a:spcBef>
                <a:spcPts val="0"/>
              </a:spcBef>
              <a:spcAft>
                <a:spcPts val="0"/>
              </a:spcAft>
              <a:buSzPts val="2000"/>
              <a:buFont typeface="Noto Sans Symbols"/>
              <a:buChar char="⮚"/>
            </a:pPr>
            <a:r>
              <a:rPr lang="en-US" sz="2000" b="0" dirty="0">
                <a:solidFill>
                  <a:srgbClr val="FFFFFF"/>
                </a:solidFill>
                <a:latin typeface="Arial"/>
                <a:ea typeface="Arial"/>
                <a:cs typeface="Arial"/>
                <a:sym typeface="Arial"/>
              </a:rPr>
              <a:t>Disregard for critical safety engineered systems for controlling down-hole pressures, detection of leakage, and blow-out prevention.</a:t>
            </a:r>
            <a:endParaRPr sz="2000" b="0" dirty="0">
              <a:solidFill>
                <a:srgbClr val="FFFFFF"/>
              </a:solidFill>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RME #1 Management Commitment, Leadership &amp; Accountability</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417722"/>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 safeguards were in place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eliminate the likelihood of or minimize the consequences of a blow-out, a process safety incident.</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mud, steel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casing,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cement plugs, “kick” detection, cement barrier testing, and BOP) intended to prevent such a disaster were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properly constructed, tested, or maintained, or they had been removed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intended to ensure the required functionality, availability, and reliability of these safety-critical safeguards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inadequate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the safeguards meant to prevent, mitigate, or control a blowout failed on the day of the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#2: Risk Assessment &amp; Management of Risk</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82249077"/>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BP, Transocean, and all other contractor / service companies recognized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Seven Years without an LTI</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remarkable achievement, yet there was a catastrophic incident with tragic losses.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focus (measurement, recognition, reward) was on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much less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process safety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gets measured gets managed!</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Too often, the means to motivate managers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misdirected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well-meaning goals and targets, but the down-side: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NOT measured is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well-managed! </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 risks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associated with the drilling operations &amp; well status were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appropriately considered, evaluated, or managed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the pressure was on, process safety management lacked visibility and leadership attention.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#2: Risk Assessment &amp; Management of Risk</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98335295"/>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80000"/>
              </a:lnSpc>
              <a:spcBef>
                <a:spcPts val="0"/>
              </a:spcBef>
              <a:spcAft>
                <a:spcPct val="0"/>
              </a:spcAft>
              <a:buClr>
                <a:srgbClr val="000000"/>
              </a:buClr>
              <a:buSzPct val="100000"/>
              <a:buFont typeface="Arial" panose="020B0604020202020204" pitchFamily="34" charset="0"/>
              <a:buNone/>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“Mine the diamond</a:t>
            </a: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must allocate finite resources to make sure high-hazard operations (i.e.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facilities and operations with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significant process safety hazards) are sustainably managed to acceptable risk exposure levels.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need to understand our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major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risks to </a:t>
            </a:r>
            <a: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focus </a:t>
            </a:r>
            <a:b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limited resources </a:t>
            </a:r>
            <a:r>
              <a:rPr kumimoji="0" lang="en-US"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 the right areas</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major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hazards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the </a:t>
            </a:r>
            <a:r>
              <a:rPr kumimoji="0" lang="en-US" altLang="en-US" sz="1800" b="0" i="0" u="none" strike="noStrike" kern="1200" cap="none" spc="0" normalizeH="0" baseline="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incidents)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strategic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thinking</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a clear understanding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our major hazards,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are better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prepared to ask the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right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questions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them</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Pay attention to the critical “leading indicators” </a:t>
            </a:r>
            <a:b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e.g. SC’s and SP’s relating to process safety </a:t>
            </a:r>
            <a:b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i.e. </a:t>
            </a:r>
            <a:r>
              <a:rPr kumimoji="0" lang="en-US" altLang="en-US" sz="1800" b="1"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Incidents!</a:t>
            </a: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Anomalies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resolve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themselves with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 immediate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negative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consequences are a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signal that something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wrong and needs to be investigated!</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BP and </a:t>
            </a:r>
            <a:r>
              <a:rPr kumimoji="0" lang="en-US" altLang="en-US" sz="18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TransOcean</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were certainly focused on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occupational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but what about process safety?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signals were available?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Management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System Did Not Focus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on Process Safety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Risks: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7: BP-</a:t>
            </a:r>
            <a:r>
              <a:rPr kumimoji="0" lang="en-US" sz="1200" b="1" i="1" u="none" strike="noStrike" kern="0" cap="none" spc="0" normalizeH="0" baseline="0" noProof="0" dirty="0" err="1" smtClean="0">
                <a:ln>
                  <a:noFill/>
                </a:ln>
                <a:solidFill>
                  <a:srgbClr val="000000"/>
                </a:solidFill>
                <a:effectLst/>
                <a:uLnTx/>
                <a:uFillTx/>
                <a:latin typeface="Arial" charset="0"/>
                <a:ea typeface="Times New Roman"/>
                <a:cs typeface="Arial" panose="020B0604020202020204" pitchFamily="34" charset="0"/>
                <a:sym typeface="Times New Roman"/>
              </a:rPr>
              <a:t>Macondo</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DWH 2010 </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6114793" y="1950958"/>
            <a:ext cx="2698607" cy="1650161"/>
          </a:xfrm>
          <a:prstGeom prst="rect">
            <a:avLst/>
          </a:prstGeom>
        </p:spPr>
      </p:pic>
      <p:pic>
        <p:nvPicPr>
          <p:cNvPr id="2" name="Picture 1"/>
          <p:cNvPicPr>
            <a:picLocks noChangeAspect="1"/>
          </p:cNvPicPr>
          <p:nvPr/>
        </p:nvPicPr>
        <p:blipFill>
          <a:blip r:embed="rId4"/>
          <a:stretch>
            <a:fillRect/>
          </a:stretch>
        </p:blipFill>
        <p:spPr>
          <a:xfrm>
            <a:off x="6114793" y="3709119"/>
            <a:ext cx="2698607" cy="1831981"/>
          </a:xfrm>
          <a:prstGeom prst="rect">
            <a:avLst/>
          </a:prstGeom>
          <a:ln>
            <a:solidFill>
              <a:schemeClr val="tx1"/>
            </a:solidFill>
          </a:ln>
        </p:spPr>
      </p:pic>
    </p:spTree>
    <p:extLst>
      <p:ext uri="{BB962C8B-B14F-4D97-AF65-F5344CB8AC3E}">
        <p14:creationId xmlns:p14="http://schemas.microsoft.com/office/powerpoint/2010/main" val="3252706150"/>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change – different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spec’ns</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seal the well – managed?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differences of opinion on how to seal the well …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Transocean Manager vs the BP Manager</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BP Manager wanted … because it expedites the process.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Well, my process is different. I think we are going to do it this way.”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became clear who was ultimately responsible and accountable.</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decision was made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despite knowing the deficiencies in the Blowout Preventer (BOP)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appropriate decision</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should have been to stop.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33400" lvl="2" indent="0" eaLnBrk="0" hangingPunct="0">
              <a:lnSpc>
                <a:spcPct val="100000"/>
              </a:lnSpc>
              <a:spcBef>
                <a:spcPts val="0"/>
              </a:spcBef>
              <a:buClr>
                <a:srgbClr val="000000"/>
              </a:buClr>
              <a:buSzPct val="100000"/>
              <a:buNone/>
            </a:pPr>
            <a: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20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Stop. Think. Don’t do something stupid.” </a:t>
            </a:r>
            <a:endPar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33400" lvl="2" indent="0" eaLnBrk="0" hangingPunct="0">
              <a:lnSpc>
                <a:spcPct val="100000"/>
              </a:lnSpc>
              <a:spcBef>
                <a:spcPts val="0"/>
              </a:spcBef>
              <a:buClr>
                <a:srgbClr val="000000"/>
              </a:buClr>
              <a:buSzPct val="100000"/>
              <a:buNone/>
            </a:pP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Professor </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Bob Bea</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#4: Management of </a:t>
            </a:r>
            <a:r>
              <a:rPr lang="en-US" altLang="en-US" sz="2400" b="0" dirty="0" smtClean="0">
                <a:solidFill>
                  <a:schemeClr val="accent2"/>
                </a:solidFill>
                <a:latin typeface="Arial" panose="020B0604020202020204" pitchFamily="34" charset="0"/>
                <a:ea typeface="+mj-ea"/>
                <a:cs typeface="Arial" panose="020B0604020202020204" pitchFamily="34" charset="0"/>
              </a:rPr>
              <a:t>Change: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80476548"/>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7"/>
          <p:cNvSpPr txBox="1">
            <a:spLocks noGrp="1"/>
          </p:cNvSpPr>
          <p:nvPr>
            <p:ph type="body" idx="4294967295"/>
          </p:nvPr>
        </p:nvSpPr>
        <p:spPr>
          <a:xfrm>
            <a:off x="180000"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60000" lvl="0" indent="-360000" algn="l" rtl="0">
              <a:spcBef>
                <a:spcPts val="0"/>
              </a:spcBef>
              <a:spcAft>
                <a:spcPts val="0"/>
              </a:spcAft>
              <a:buClrTx/>
              <a:buSzPts val="2000"/>
              <a:buFont typeface="Wingdings" panose="05000000000000000000" pitchFamily="2" charset="2"/>
              <a:buChar char="Ø"/>
            </a:pPr>
            <a:r>
              <a:rPr lang="en-US" sz="2000" dirty="0" smtClean="0">
                <a:solidFill>
                  <a:schemeClr val="tx1"/>
                </a:solidFill>
                <a:latin typeface="Arial" panose="020B0604020202020204" pitchFamily="34" charset="0"/>
                <a:ea typeface="Arial"/>
                <a:cs typeface="Arial" panose="020B0604020202020204" pitchFamily="34" charset="0"/>
                <a:sym typeface="Arial"/>
              </a:rPr>
              <a:t>“</a:t>
            </a:r>
            <a:r>
              <a:rPr lang="en-US" sz="2000" dirty="0">
                <a:solidFill>
                  <a:schemeClr val="tx1"/>
                </a:solidFill>
                <a:latin typeface="Arial" panose="020B0604020202020204" pitchFamily="34" charset="0"/>
                <a:ea typeface="Arial"/>
                <a:cs typeface="Arial" panose="020B0604020202020204" pitchFamily="34" charset="0"/>
                <a:sym typeface="Arial"/>
              </a:rPr>
              <a:t>In fact, post-incident CSB analyses of Transocean and BP risk management policies at the time of the blowout reveal that </a:t>
            </a:r>
            <a:r>
              <a:rPr lang="en-US" sz="2000" u="sng" dirty="0">
                <a:solidFill>
                  <a:schemeClr val="tx1"/>
                </a:solidFill>
                <a:latin typeface="Arial" panose="020B0604020202020204" pitchFamily="34" charset="0"/>
                <a:ea typeface="Arial"/>
                <a:cs typeface="Arial" panose="020B0604020202020204" pitchFamily="34" charset="0"/>
                <a:sym typeface="Arial"/>
              </a:rPr>
              <a:t>many of the policies would have satisfied current (legal)  requirements</a:t>
            </a:r>
            <a:r>
              <a:rPr lang="en-US" sz="2000" dirty="0">
                <a:solidFill>
                  <a:schemeClr val="tx1"/>
                </a:solidFill>
                <a:latin typeface="Arial" panose="020B0604020202020204" pitchFamily="34" charset="0"/>
                <a:ea typeface="Arial"/>
                <a:cs typeface="Arial" panose="020B0604020202020204" pitchFamily="34" charset="0"/>
                <a:sym typeface="Arial"/>
              </a:rPr>
              <a:t>. </a:t>
            </a:r>
            <a:endParaRPr sz="20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Tx/>
              <a:buSzPts val="2000"/>
              <a:buFont typeface="Wingdings" panose="05000000000000000000" pitchFamily="2" charset="2"/>
              <a:buChar char="Ø"/>
            </a:pPr>
            <a:endParaRPr sz="20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Tx/>
              <a:buSzPts val="2000"/>
              <a:buFont typeface="Wingdings" panose="05000000000000000000" pitchFamily="2" charset="2"/>
              <a:buChar char="Ø"/>
            </a:pPr>
            <a:r>
              <a:rPr lang="en-US" sz="2000" dirty="0">
                <a:solidFill>
                  <a:schemeClr val="tx1"/>
                </a:solidFill>
                <a:latin typeface="Arial" panose="020B0604020202020204" pitchFamily="34" charset="0"/>
                <a:ea typeface="Arial"/>
                <a:cs typeface="Arial" panose="020B0604020202020204" pitchFamily="34" charset="0"/>
                <a:sym typeface="Arial"/>
              </a:rPr>
              <a:t>Yet the companies </a:t>
            </a:r>
            <a:r>
              <a:rPr lang="en-US" sz="2000" u="sng" dirty="0">
                <a:solidFill>
                  <a:schemeClr val="tx1"/>
                </a:solidFill>
                <a:latin typeface="Arial" panose="020B0604020202020204" pitchFamily="34" charset="0"/>
                <a:ea typeface="Arial"/>
                <a:cs typeface="Arial" panose="020B0604020202020204" pitchFamily="34" charset="0"/>
                <a:sym typeface="Arial"/>
              </a:rPr>
              <a:t>did not effectively implement these policies to manage the major accident risks </a:t>
            </a:r>
            <a:r>
              <a:rPr lang="en-US" sz="2000" dirty="0">
                <a:solidFill>
                  <a:schemeClr val="tx1"/>
                </a:solidFill>
                <a:latin typeface="Arial" panose="020B0604020202020204" pitchFamily="34" charset="0"/>
                <a:ea typeface="Arial"/>
                <a:cs typeface="Arial" panose="020B0604020202020204" pitchFamily="34" charset="0"/>
                <a:sym typeface="Arial"/>
              </a:rPr>
              <a:t>of the </a:t>
            </a:r>
            <a:r>
              <a:rPr lang="en-US" sz="2000" dirty="0" err="1">
                <a:solidFill>
                  <a:schemeClr val="tx1"/>
                </a:solidFill>
                <a:latin typeface="Arial" panose="020B0604020202020204" pitchFamily="34" charset="0"/>
                <a:ea typeface="Arial"/>
                <a:cs typeface="Arial" panose="020B0604020202020204" pitchFamily="34" charset="0"/>
                <a:sym typeface="Arial"/>
              </a:rPr>
              <a:t>Macondo</a:t>
            </a:r>
            <a:r>
              <a:rPr lang="en-US" sz="2000" dirty="0">
                <a:solidFill>
                  <a:schemeClr val="tx1"/>
                </a:solidFill>
                <a:latin typeface="Arial" panose="020B0604020202020204" pitchFamily="34" charset="0"/>
                <a:ea typeface="Arial"/>
                <a:cs typeface="Arial" panose="020B0604020202020204" pitchFamily="34" charset="0"/>
                <a:sym typeface="Arial"/>
              </a:rPr>
              <a:t> well, and the companies were not held accountable by the regulator to ensure that they managed safety as their company policies stipulated.” </a:t>
            </a:r>
            <a:endParaRPr sz="2000" b="1" i="1" dirty="0">
              <a:solidFill>
                <a:schemeClr val="tx1"/>
              </a:solidFill>
              <a:latin typeface="Arial" panose="020B0604020202020204" pitchFamily="34" charset="0"/>
              <a:ea typeface="Arial"/>
              <a:cs typeface="Arial" panose="020B0604020202020204" pitchFamily="34" charset="0"/>
              <a:sym typeface="Arial"/>
            </a:endParaRPr>
          </a:p>
        </p:txBody>
      </p:sp>
      <p:sp>
        <p:nvSpPr>
          <p:cNvPr id="342" name="Google Shape;342;p17"/>
          <p:cNvSpPr txBox="1"/>
          <p:nvPr/>
        </p:nvSpPr>
        <p:spPr>
          <a:xfrm>
            <a:off x="180000" y="3429000"/>
            <a:ext cx="8640000" cy="2727000"/>
          </a:xfrm>
          <a:prstGeom prst="rect">
            <a:avLst/>
          </a:prstGeom>
          <a:solidFill>
            <a:srgbClr val="0000CC"/>
          </a:solidFill>
          <a:ln w="9525" cap="flat" cmpd="sng">
            <a:solidFill>
              <a:srgbClr val="0000C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1" dirty="0">
                <a:solidFill>
                  <a:srgbClr val="FFFFFF"/>
                </a:solidFill>
                <a:latin typeface="Arial"/>
                <a:ea typeface="Arial"/>
                <a:cs typeface="Arial"/>
                <a:sym typeface="Arial"/>
              </a:rPr>
              <a:t>Please confer and select the best response (</a:t>
            </a:r>
            <a:r>
              <a:rPr lang="en-US" sz="2000" b="0" i="1" dirty="0" smtClean="0">
                <a:solidFill>
                  <a:srgbClr val="FFFFFF"/>
                </a:solidFill>
                <a:latin typeface="Arial"/>
                <a:ea typeface="Arial"/>
                <a:cs typeface="Arial"/>
                <a:sym typeface="Arial"/>
              </a:rPr>
              <a:t>MM-Poll):</a:t>
            </a:r>
            <a:endParaRPr sz="2000" b="0" dirty="0"/>
          </a:p>
          <a:p>
            <a:pPr marL="360000" marR="0" lvl="0" indent="-360000" algn="l" rtl="0">
              <a:spcBef>
                <a:spcPts val="0"/>
              </a:spcBef>
              <a:spcAft>
                <a:spcPts val="0"/>
              </a:spcAft>
              <a:buClr>
                <a:srgbClr val="FFFFFF"/>
              </a:buClr>
              <a:buSzPts val="2000"/>
              <a:buFont typeface="Noto Sans Symbols"/>
              <a:buChar char="⮚"/>
            </a:pPr>
            <a:r>
              <a:rPr lang="en-US" sz="2000" b="0" i="1" dirty="0">
                <a:solidFill>
                  <a:srgbClr val="FFFFFF"/>
                </a:solidFill>
                <a:latin typeface="Arial"/>
                <a:ea typeface="Arial"/>
                <a:cs typeface="Arial"/>
                <a:sym typeface="Arial"/>
              </a:rPr>
              <a:t>What needed to change, much earlier in the operating life of BP-DWH, in order to prevent an incident? In other words, what could we do as leaders to push implementation? Hint: think PE&amp;CI.</a:t>
            </a:r>
            <a:endParaRPr sz="2000" b="0" dirty="0"/>
          </a:p>
        </p:txBody>
      </p:sp>
      <p:sp>
        <p:nvSpPr>
          <p:cNvPr id="6"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#2: Examine RME #6: PECI</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82100928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8"/>
          <p:cNvSpPr txBox="1">
            <a:spLocks noGrp="1"/>
          </p:cNvSpPr>
          <p:nvPr>
            <p:ph type="body" idx="4294967295"/>
          </p:nvPr>
        </p:nvSpPr>
        <p:spPr>
          <a:xfrm>
            <a:off x="179999" y="828000"/>
            <a:ext cx="8640000" cy="5328000"/>
          </a:xfrm>
          <a:prstGeom prst="rect">
            <a:avLst/>
          </a:prstGeom>
          <a:solidFill>
            <a:schemeClr val="accent1">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60000" lvl="0" indent="-360000">
              <a:lnSpc>
                <a:spcPct val="80000"/>
              </a:lnSpc>
              <a:spcBef>
                <a:spcPts val="0"/>
              </a:spcBef>
              <a:spcAft>
                <a:spcPts val="0"/>
              </a:spcAft>
              <a:buClrTx/>
              <a:buSzPts val="2000"/>
              <a:buFont typeface="Wingdings" panose="05000000000000000000" pitchFamily="2" charset="2"/>
              <a:buChar char="Ø"/>
            </a:pPr>
            <a:r>
              <a:rPr lang="en-US" sz="1800" dirty="0">
                <a:solidFill>
                  <a:srgbClr val="000000"/>
                </a:solidFill>
                <a:latin typeface="Arial" panose="020B0604020202020204" pitchFamily="34" charset="0"/>
                <a:ea typeface="Arial"/>
                <a:cs typeface="Arial" panose="020B0604020202020204" pitchFamily="34" charset="0"/>
                <a:sym typeface="Arial"/>
              </a:rPr>
              <a:t>“In fact, post-incident CSB analyses of Transocean and BP risk management policies at the time of the blowout reveal that </a:t>
            </a:r>
            <a:r>
              <a:rPr lang="en-US" sz="1800" u="sng" dirty="0">
                <a:solidFill>
                  <a:srgbClr val="000000"/>
                </a:solidFill>
                <a:latin typeface="Arial" panose="020B0604020202020204" pitchFamily="34" charset="0"/>
                <a:ea typeface="Arial"/>
                <a:cs typeface="Arial" panose="020B0604020202020204" pitchFamily="34" charset="0"/>
                <a:sym typeface="Arial"/>
              </a:rPr>
              <a:t>many of the policies would have satisfied current (legal)  requirements</a:t>
            </a:r>
            <a:r>
              <a:rPr lang="en-US" sz="1800" dirty="0">
                <a:solidFill>
                  <a:srgbClr val="000000"/>
                </a:solidFill>
                <a:latin typeface="Arial" panose="020B0604020202020204" pitchFamily="34" charset="0"/>
                <a:ea typeface="Arial"/>
                <a:cs typeface="Arial" panose="020B0604020202020204" pitchFamily="34" charset="0"/>
                <a:sym typeface="Arial"/>
              </a:rPr>
              <a:t>. </a:t>
            </a:r>
          </a:p>
          <a:p>
            <a:pPr marL="360000" lvl="0" indent="-360000">
              <a:lnSpc>
                <a:spcPct val="80000"/>
              </a:lnSpc>
              <a:spcBef>
                <a:spcPts val="0"/>
              </a:spcBef>
              <a:spcAft>
                <a:spcPts val="0"/>
              </a:spcAft>
              <a:buClrTx/>
              <a:buSzPts val="2000"/>
              <a:buFont typeface="Wingdings" panose="05000000000000000000" pitchFamily="2" charset="2"/>
              <a:buChar char="Ø"/>
            </a:pPr>
            <a:endParaRPr lang="en-US" sz="1800" dirty="0">
              <a:solidFill>
                <a:srgbClr val="000000"/>
              </a:solidFill>
              <a:latin typeface="Arial" panose="020B0604020202020204" pitchFamily="34" charset="0"/>
              <a:ea typeface="Arial"/>
              <a:cs typeface="Arial" panose="020B0604020202020204" pitchFamily="34" charset="0"/>
              <a:sym typeface="Arial"/>
            </a:endParaRPr>
          </a:p>
          <a:p>
            <a:pPr marL="360000" lvl="0" indent="-360000">
              <a:lnSpc>
                <a:spcPct val="80000"/>
              </a:lnSpc>
              <a:spcBef>
                <a:spcPts val="0"/>
              </a:spcBef>
              <a:spcAft>
                <a:spcPts val="0"/>
              </a:spcAft>
              <a:buClrTx/>
              <a:buSzPts val="2000"/>
              <a:buFont typeface="Wingdings" panose="05000000000000000000" pitchFamily="2" charset="2"/>
              <a:buChar char="Ø"/>
            </a:pPr>
            <a:r>
              <a:rPr lang="en-US" sz="1800" dirty="0">
                <a:solidFill>
                  <a:srgbClr val="000000"/>
                </a:solidFill>
                <a:latin typeface="Arial" panose="020B0604020202020204" pitchFamily="34" charset="0"/>
                <a:ea typeface="Arial"/>
                <a:cs typeface="Arial" panose="020B0604020202020204" pitchFamily="34" charset="0"/>
                <a:sym typeface="Arial"/>
              </a:rPr>
              <a:t>Yet the companies </a:t>
            </a:r>
            <a:r>
              <a:rPr lang="en-US" sz="1800" u="sng" dirty="0">
                <a:solidFill>
                  <a:srgbClr val="000000"/>
                </a:solidFill>
                <a:latin typeface="Arial" panose="020B0604020202020204" pitchFamily="34" charset="0"/>
                <a:ea typeface="Arial"/>
                <a:cs typeface="Arial" panose="020B0604020202020204" pitchFamily="34" charset="0"/>
                <a:sym typeface="Arial"/>
              </a:rPr>
              <a:t>did not effectively implement these policies to manage the major accident risks </a:t>
            </a:r>
            <a:r>
              <a:rPr lang="en-US" sz="1800" dirty="0">
                <a:solidFill>
                  <a:srgbClr val="000000"/>
                </a:solidFill>
                <a:latin typeface="Arial" panose="020B0604020202020204" pitchFamily="34" charset="0"/>
                <a:ea typeface="Arial"/>
                <a:cs typeface="Arial" panose="020B0604020202020204" pitchFamily="34" charset="0"/>
                <a:sym typeface="Arial"/>
              </a:rPr>
              <a:t>of the </a:t>
            </a:r>
            <a:r>
              <a:rPr lang="en-US" sz="1800" dirty="0" err="1">
                <a:solidFill>
                  <a:srgbClr val="000000"/>
                </a:solidFill>
                <a:latin typeface="Arial" panose="020B0604020202020204" pitchFamily="34" charset="0"/>
                <a:ea typeface="Arial"/>
                <a:cs typeface="Arial" panose="020B0604020202020204" pitchFamily="34" charset="0"/>
                <a:sym typeface="Arial"/>
              </a:rPr>
              <a:t>Macondo</a:t>
            </a:r>
            <a:r>
              <a:rPr lang="en-US" sz="1800" dirty="0">
                <a:solidFill>
                  <a:srgbClr val="000000"/>
                </a:solidFill>
                <a:latin typeface="Arial" panose="020B0604020202020204" pitchFamily="34" charset="0"/>
                <a:ea typeface="Arial"/>
                <a:cs typeface="Arial" panose="020B0604020202020204" pitchFamily="34" charset="0"/>
                <a:sym typeface="Arial"/>
              </a:rPr>
              <a:t> well, and the companies were not held accountable by the regulator to ensure that they managed safety as their company policies stipulated.” </a:t>
            </a:r>
            <a:endParaRPr sz="1800" dirty="0">
              <a:solidFill>
                <a:schemeClr val="tx1"/>
              </a:solidFill>
              <a:latin typeface="Arial" panose="020B0604020202020204" pitchFamily="34" charset="0"/>
              <a:ea typeface="Arial"/>
              <a:cs typeface="Arial" panose="020B0604020202020204" pitchFamily="34" charset="0"/>
              <a:sym typeface="Arial"/>
            </a:endParaRPr>
          </a:p>
          <a:p>
            <a:pPr marL="609600" lvl="0" indent="-49530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609600" lvl="0" indent="-49530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114300" lvl="0" indent="0" algn="l" rtl="0">
              <a:lnSpc>
                <a:spcPct val="80000"/>
              </a:lnSpc>
              <a:spcBef>
                <a:spcPts val="0"/>
              </a:spcBef>
              <a:spcAft>
                <a:spcPts val="0"/>
              </a:spcAft>
              <a:buClrTx/>
              <a:buSzPts val="1800"/>
              <a:buNone/>
            </a:pPr>
            <a:endParaRPr sz="1800" dirty="0">
              <a:solidFill>
                <a:schemeClr val="tx1"/>
              </a:solidFill>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lnSpc>
                <a:spcPct val="80000"/>
              </a:lnSpc>
              <a:spcBef>
                <a:spcPts val="0"/>
              </a:spcBef>
              <a:spcAft>
                <a:spcPts val="0"/>
              </a:spcAft>
              <a:buClrTx/>
              <a:buSzPts val="1800"/>
              <a:buFont typeface="Wingdings" panose="05000000000000000000" pitchFamily="2" charset="2"/>
              <a:buChar char="Ø"/>
            </a:pPr>
            <a:r>
              <a:rPr lang="en-US" sz="1800" dirty="0">
                <a:solidFill>
                  <a:schemeClr val="tx1"/>
                </a:solidFill>
                <a:latin typeface="Arial" panose="020B0604020202020204" pitchFamily="34" charset="0"/>
                <a:ea typeface="Arial"/>
                <a:cs typeface="Arial" panose="020B0604020202020204" pitchFamily="34" charset="0"/>
                <a:sym typeface="Arial"/>
              </a:rPr>
              <a:t>Through Formal Audits, driven by a robust PE&amp;CI program and committed leadership, senior leadership would have discovered that:</a:t>
            </a:r>
            <a:endParaRPr sz="1800" dirty="0">
              <a:solidFill>
                <a:schemeClr val="tx1"/>
              </a:solidFill>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Critical changes were being made without adequate, thorough reviews, and </a:t>
            </a:r>
            <a:endParaRPr sz="1800" dirty="0">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Process safety risks were not being managed to any great degree, certainly not as thorough as were the risks for occupational activities.</a:t>
            </a:r>
            <a:endParaRPr sz="1800" dirty="0">
              <a:latin typeface="Arial" panose="020B0604020202020204" pitchFamily="34" charset="0"/>
              <a:cs typeface="Arial" panose="020B0604020202020204" pitchFamily="34" charset="0"/>
            </a:endParaRPr>
          </a:p>
          <a:p>
            <a:pPr marL="720000" lvl="1" indent="-360000" algn="l" rtl="0">
              <a:lnSpc>
                <a:spcPct val="80000"/>
              </a:lnSpc>
              <a:spcBef>
                <a:spcPts val="0"/>
              </a:spcBef>
              <a:spcAft>
                <a:spcPts val="0"/>
              </a:spcAft>
              <a:buClrTx/>
              <a:buSzPts val="1800"/>
              <a:buFont typeface="Wingdings" panose="05000000000000000000" pitchFamily="2" charset="2"/>
              <a:buChar char="Ø"/>
            </a:pPr>
            <a:r>
              <a:rPr lang="en-US" sz="1800" dirty="0">
                <a:latin typeface="Arial" panose="020B0604020202020204" pitchFamily="34" charset="0"/>
                <a:ea typeface="Arial"/>
                <a:cs typeface="Arial" panose="020B0604020202020204" pitchFamily="34" charset="0"/>
                <a:sym typeface="Arial"/>
              </a:rPr>
              <a:t>Process safety issues (SC’s, SP’s, NM’s, and lower-impact LI’s) were not being investigated nor addressed.  </a:t>
            </a:r>
            <a:endParaRPr sz="1800" dirty="0">
              <a:latin typeface="Arial" panose="020B0604020202020204" pitchFamily="34" charset="0"/>
              <a:ea typeface="Arial"/>
              <a:cs typeface="Arial" panose="020B0604020202020204" pitchFamily="34" charset="0"/>
              <a:sym typeface="Arial"/>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lnSpc>
                <a:spcPct val="80000"/>
              </a:lnSpc>
              <a:spcBef>
                <a:spcPts val="0"/>
              </a:spcBef>
              <a:spcAft>
                <a:spcPts val="0"/>
              </a:spcAft>
              <a:buClrTx/>
              <a:buSzPts val="1800"/>
              <a:buFont typeface="Wingdings" panose="05000000000000000000" pitchFamily="2" charset="2"/>
              <a:buChar char="Ø"/>
            </a:pPr>
            <a:r>
              <a:rPr lang="en-US" sz="1800" dirty="0">
                <a:solidFill>
                  <a:schemeClr val="tx1"/>
                </a:solidFill>
                <a:latin typeface="Arial" panose="020B0604020202020204" pitchFamily="34" charset="0"/>
                <a:ea typeface="Arial"/>
                <a:cs typeface="Arial" panose="020B0604020202020204" pitchFamily="34" charset="0"/>
                <a:sym typeface="Arial"/>
              </a:rPr>
              <a:t>Our management system will only be effective when it is developed, </a:t>
            </a:r>
            <a:br>
              <a:rPr lang="en-US" sz="1800" dirty="0">
                <a:solidFill>
                  <a:schemeClr val="tx1"/>
                </a:solidFill>
                <a:latin typeface="Arial" panose="020B0604020202020204" pitchFamily="34" charset="0"/>
                <a:ea typeface="Arial"/>
                <a:cs typeface="Arial" panose="020B0604020202020204" pitchFamily="34" charset="0"/>
                <a:sym typeface="Arial"/>
              </a:rPr>
            </a:br>
            <a:r>
              <a:rPr lang="en-US" sz="1800" dirty="0">
                <a:solidFill>
                  <a:schemeClr val="tx1"/>
                </a:solidFill>
                <a:latin typeface="Arial" panose="020B0604020202020204" pitchFamily="34" charset="0"/>
                <a:ea typeface="Arial"/>
                <a:cs typeface="Arial" panose="020B0604020202020204" pitchFamily="34" charset="0"/>
                <a:sym typeface="Arial"/>
              </a:rPr>
              <a:t>implemented, and maintained through </a:t>
            </a:r>
            <a:r>
              <a:rPr lang="en-US" sz="1800" u="sng" dirty="0">
                <a:solidFill>
                  <a:schemeClr val="tx1"/>
                </a:solidFill>
                <a:latin typeface="Arial" panose="020B0604020202020204" pitchFamily="34" charset="0"/>
                <a:ea typeface="Arial"/>
                <a:cs typeface="Arial" panose="020B0604020202020204" pitchFamily="34" charset="0"/>
                <a:sym typeface="Arial"/>
              </a:rPr>
              <a:t>active program evaluation and </a:t>
            </a:r>
            <a:br>
              <a:rPr lang="en-US" sz="1800" u="sng" dirty="0">
                <a:solidFill>
                  <a:schemeClr val="tx1"/>
                </a:solidFill>
                <a:latin typeface="Arial" panose="020B0604020202020204" pitchFamily="34" charset="0"/>
                <a:ea typeface="Arial"/>
                <a:cs typeface="Arial" panose="020B0604020202020204" pitchFamily="34" charset="0"/>
                <a:sym typeface="Arial"/>
              </a:rPr>
            </a:br>
            <a:r>
              <a:rPr lang="en-US" sz="1800" u="sng" dirty="0">
                <a:solidFill>
                  <a:schemeClr val="tx1"/>
                </a:solidFill>
                <a:latin typeface="Arial" panose="020B0604020202020204" pitchFamily="34" charset="0"/>
                <a:ea typeface="Arial"/>
                <a:cs typeface="Arial" panose="020B0604020202020204" pitchFamily="34" charset="0"/>
                <a:sym typeface="Arial"/>
              </a:rPr>
              <a:t>continuous improvement</a:t>
            </a:r>
            <a:r>
              <a:rPr lang="en-US" sz="1800" dirty="0">
                <a:solidFill>
                  <a:schemeClr val="tx1"/>
                </a:solidFill>
                <a:latin typeface="Arial" panose="020B0604020202020204" pitchFamily="34" charset="0"/>
                <a:ea typeface="Arial"/>
                <a:cs typeface="Arial" panose="020B0604020202020204" pitchFamily="34" charset="0"/>
                <a:sym typeface="Arial"/>
              </a:rPr>
              <a:t>.</a:t>
            </a:r>
            <a:endParaRPr sz="1800" dirty="0">
              <a:solidFill>
                <a:schemeClr val="tx1"/>
              </a:solidFill>
              <a:latin typeface="Arial" panose="020B0604020202020204" pitchFamily="34" charset="0"/>
              <a:cs typeface="Arial" panose="020B0604020202020204" pitchFamily="34" charset="0"/>
            </a:endParaRPr>
          </a:p>
          <a:p>
            <a:pPr marL="400050" lvl="0" indent="-285750" algn="l" rtl="0">
              <a:lnSpc>
                <a:spcPct val="80000"/>
              </a:lnSpc>
              <a:spcBef>
                <a:spcPts val="0"/>
              </a:spcBef>
              <a:spcAft>
                <a:spcPts val="0"/>
              </a:spcAft>
              <a:buClrTx/>
              <a:buSzPts val="1800"/>
              <a:buFont typeface="Wingdings" panose="05000000000000000000" pitchFamily="2" charset="2"/>
              <a:buChar char="Ø"/>
            </a:pPr>
            <a:endParaRPr sz="1800" dirty="0">
              <a:solidFill>
                <a:schemeClr val="tx1"/>
              </a:solidFill>
              <a:latin typeface="Arial" panose="020B0604020202020204" pitchFamily="34" charset="0"/>
              <a:ea typeface="Arial"/>
              <a:cs typeface="Arial" panose="020B0604020202020204" pitchFamily="34" charset="0"/>
              <a:sym typeface="Arial"/>
            </a:endParaRPr>
          </a:p>
        </p:txBody>
      </p:sp>
      <p:sp>
        <p:nvSpPr>
          <p:cNvPr id="359" name="Google Shape;359;p18"/>
          <p:cNvSpPr txBox="1"/>
          <p:nvPr/>
        </p:nvSpPr>
        <p:spPr>
          <a:xfrm>
            <a:off x="186095" y="2667000"/>
            <a:ext cx="8640000" cy="914400"/>
          </a:xfrm>
          <a:prstGeom prst="rect">
            <a:avLst/>
          </a:prstGeom>
          <a:solidFill>
            <a:srgbClr val="0000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i="1" dirty="0">
                <a:solidFill>
                  <a:srgbClr val="FFFFFF"/>
                </a:solidFill>
                <a:latin typeface="Arial"/>
                <a:ea typeface="Arial"/>
                <a:cs typeface="Arial"/>
                <a:sym typeface="Arial"/>
              </a:rPr>
              <a:t>Q: What needed to change in order to prevent an incident</a:t>
            </a:r>
            <a:r>
              <a:rPr lang="en-US" i="1" dirty="0" smtClean="0">
                <a:solidFill>
                  <a:srgbClr val="FFFFFF"/>
                </a:solidFill>
                <a:latin typeface="Arial"/>
                <a:ea typeface="Arial"/>
                <a:cs typeface="Arial"/>
                <a:sym typeface="Arial"/>
              </a:rPr>
              <a:t>?</a:t>
            </a:r>
            <a:endParaRPr i="1" dirty="0">
              <a:solidFill>
                <a:srgbClr val="FFFFFF"/>
              </a:solidFill>
              <a:latin typeface="Arial"/>
              <a:ea typeface="Arial"/>
              <a:cs typeface="Arial"/>
              <a:sym typeface="Arial"/>
            </a:endParaRPr>
          </a:p>
          <a:p>
            <a:pPr marL="342900" marR="0" lvl="0" indent="-342900" algn="l" rtl="0">
              <a:spcBef>
                <a:spcPts val="0"/>
              </a:spcBef>
              <a:spcAft>
                <a:spcPts val="0"/>
              </a:spcAft>
              <a:buClr>
                <a:srgbClr val="FFFFFF"/>
              </a:buClr>
              <a:buSzPts val="2000"/>
              <a:buFont typeface="Noto Sans Symbols"/>
              <a:buChar char="⮚"/>
            </a:pPr>
            <a:r>
              <a:rPr lang="en-US" i="1" dirty="0">
                <a:solidFill>
                  <a:srgbClr val="FFFFFF"/>
                </a:solidFill>
                <a:latin typeface="Arial"/>
                <a:ea typeface="Arial"/>
                <a:cs typeface="Arial"/>
                <a:sym typeface="Arial"/>
              </a:rPr>
              <a:t>“Implement those ESRM policies” - far easier said than done. </a:t>
            </a:r>
            <a:endParaRPr dirty="0"/>
          </a:p>
          <a:p>
            <a:pPr marL="342900" marR="0" lvl="0" indent="-342900" algn="l" rtl="0">
              <a:spcBef>
                <a:spcPts val="0"/>
              </a:spcBef>
              <a:spcAft>
                <a:spcPts val="0"/>
              </a:spcAft>
              <a:buClr>
                <a:srgbClr val="FFFFFF"/>
              </a:buClr>
              <a:buSzPts val="2000"/>
              <a:buFont typeface="Noto Sans Symbols"/>
              <a:buChar char="⮚"/>
            </a:pPr>
            <a:r>
              <a:rPr lang="en-US" i="1" dirty="0" smtClean="0">
                <a:solidFill>
                  <a:srgbClr val="FFFFFF"/>
                </a:solidFill>
                <a:latin typeface="Arial"/>
                <a:ea typeface="Arial"/>
                <a:cs typeface="Arial"/>
                <a:sym typeface="Arial"/>
              </a:rPr>
              <a:t>What </a:t>
            </a:r>
            <a:r>
              <a:rPr lang="en-US" i="1" dirty="0">
                <a:solidFill>
                  <a:srgbClr val="FFFFFF"/>
                </a:solidFill>
                <a:latin typeface="Arial"/>
                <a:ea typeface="Arial"/>
                <a:cs typeface="Arial"/>
                <a:sym typeface="Arial"/>
              </a:rPr>
              <a:t>could we do as leaders to push implementation?</a:t>
            </a:r>
            <a:endParaRPr i="1" dirty="0">
              <a:solidFill>
                <a:srgbClr val="FFFFFF"/>
              </a:solidFill>
              <a:latin typeface="Arial"/>
              <a:ea typeface="Arial"/>
              <a:cs typeface="Arial"/>
              <a:sym typeface="Arial"/>
            </a:endParaRPr>
          </a:p>
        </p:txBody>
      </p:sp>
      <p:sp>
        <p:nvSpPr>
          <p:cNvPr id="6"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Examine RME #6: PECI</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0903926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report stated that "whether purposeful or not, many of the decisions that BP, Halliburton, and Transocean made that increased the risk of the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blowout clearly saved those companies significant time (and money).”</a:t>
            </a:r>
          </a:p>
          <a:p>
            <a:pPr mar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Understand company values!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Understand your program!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you make decisions, put safety ahead of any other objective! </a:t>
            </a:r>
          </a:p>
          <a:p>
            <a:pPr marL="457200" indent="-457200" eaLnBrk="0" hangingPunct="0">
              <a:lnSpc>
                <a:spcPct val="10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Pay attention to failures in safety systems and take action!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Application of the Engineer’s Survival </a:t>
            </a:r>
            <a:r>
              <a:rPr lang="en-US" altLang="en-US" sz="2400" b="0" dirty="0" smtClean="0">
                <a:solidFill>
                  <a:schemeClr val="accent2"/>
                </a:solidFill>
                <a:latin typeface="Arial" panose="020B0604020202020204" pitchFamily="34" charset="0"/>
                <a:ea typeface="+mj-ea"/>
                <a:cs typeface="Arial" panose="020B0604020202020204" pitchFamily="34" charset="0"/>
              </a:rPr>
              <a:t>Guide: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
        <p:nvSpPr>
          <p:cNvPr id="6" name="Google Shape;359;p18"/>
          <p:cNvSpPr txBox="1"/>
          <p:nvPr/>
        </p:nvSpPr>
        <p:spPr>
          <a:xfrm>
            <a:off x="180000" y="4032000"/>
            <a:ext cx="8640000" cy="2160000"/>
          </a:xfrm>
          <a:prstGeom prst="rect">
            <a:avLst/>
          </a:prstGeom>
          <a:solidFill>
            <a:srgbClr val="0000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lvl="0"/>
            <a:r>
              <a:rPr lang="en-US" sz="2000" b="0" i="1" dirty="0" smtClean="0">
                <a:solidFill>
                  <a:srgbClr val="FFFFFF"/>
                </a:solidFill>
              </a:rPr>
              <a:t>An opportunity </a:t>
            </a:r>
            <a:r>
              <a:rPr lang="en-US" sz="2000" b="0" i="1" dirty="0">
                <a:solidFill>
                  <a:srgbClr val="FFFFFF"/>
                </a:solidFill>
              </a:rPr>
              <a:t>to apply the Engineer’s Survival Guide:</a:t>
            </a:r>
          </a:p>
          <a:p>
            <a:pPr marL="457200" lvl="0" indent="-457200">
              <a:buClrTx/>
              <a:buFont typeface="+mj-lt"/>
              <a:buAutoNum type="alphaLcParenR"/>
            </a:pPr>
            <a:r>
              <a:rPr lang="en-US" sz="2000" b="0" i="1" dirty="0">
                <a:solidFill>
                  <a:srgbClr val="FFFFFF"/>
                </a:solidFill>
              </a:rPr>
              <a:t>What was the situation?</a:t>
            </a:r>
          </a:p>
          <a:p>
            <a:pPr marL="457200" lvl="0" indent="-457200">
              <a:buClrTx/>
              <a:buFont typeface="+mj-lt"/>
              <a:buAutoNum type="alphaLcParenR"/>
            </a:pPr>
            <a:r>
              <a:rPr lang="en-US" sz="2000" b="0" i="1" dirty="0">
                <a:solidFill>
                  <a:srgbClr val="FFFFFF"/>
                </a:solidFill>
              </a:rPr>
              <a:t>What was the issue with that situation?</a:t>
            </a:r>
          </a:p>
          <a:p>
            <a:pPr marL="457200" lvl="0" indent="-457200">
              <a:buClrTx/>
              <a:buFont typeface="+mj-lt"/>
              <a:buAutoNum type="alphaLcParenR"/>
            </a:pPr>
            <a:r>
              <a:rPr lang="en-US" sz="2000" b="0" i="1" dirty="0">
                <a:solidFill>
                  <a:srgbClr val="FFFFFF"/>
                </a:solidFill>
              </a:rPr>
              <a:t>What Key Point was violated?</a:t>
            </a:r>
          </a:p>
          <a:p>
            <a:pPr marL="457200" lvl="0" indent="-457200">
              <a:buClrTx/>
              <a:buFont typeface="+mj-lt"/>
              <a:buAutoNum type="alphaLcParenR"/>
            </a:pPr>
            <a:r>
              <a:rPr lang="en-US" sz="2000" b="0" i="1" dirty="0">
                <a:solidFill>
                  <a:srgbClr val="FFFFFF"/>
                </a:solidFill>
              </a:rPr>
              <a:t>What would you have done in that situation?</a:t>
            </a:r>
          </a:p>
          <a:p>
            <a:pPr marL="457200" lvl="0" indent="-457200">
              <a:buClrTx/>
              <a:buFont typeface="+mj-lt"/>
              <a:buAutoNum type="alphaLcParenR"/>
            </a:pPr>
            <a:r>
              <a:rPr lang="en-US" sz="2000" b="0" i="1" dirty="0">
                <a:solidFill>
                  <a:srgbClr val="FFFFFF"/>
                </a:solidFill>
              </a:rPr>
              <a:t>What would have been the probable outcome had you done it?</a:t>
            </a:r>
          </a:p>
          <a:p>
            <a:pPr lvl="0"/>
            <a:endParaRPr lang="en-US" sz="2000" b="0" i="1" dirty="0">
              <a:solidFill>
                <a:srgbClr val="FFFFFF"/>
              </a:solidFill>
            </a:endParaRPr>
          </a:p>
          <a:p>
            <a:pPr marL="342900" marR="0" lvl="0" indent="-215900" algn="l" rtl="0">
              <a:spcBef>
                <a:spcPts val="0"/>
              </a:spcBef>
              <a:spcAft>
                <a:spcPts val="0"/>
              </a:spcAft>
              <a:buClr>
                <a:schemeClr val="dk1"/>
              </a:buClr>
              <a:buSzPts val="2000"/>
              <a:buFont typeface="Noto Sans Symbols"/>
              <a:buNone/>
            </a:pPr>
            <a:endParaRPr sz="2000" b="0" i="1" dirty="0">
              <a:solidFill>
                <a:srgbClr val="FFFFFF"/>
              </a:solidFill>
              <a:latin typeface="Arial"/>
              <a:ea typeface="Arial"/>
              <a:cs typeface="Arial"/>
              <a:sym typeface="Arial"/>
            </a:endParaRPr>
          </a:p>
        </p:txBody>
      </p:sp>
    </p:spTree>
    <p:extLst>
      <p:ext uri="{BB962C8B-B14F-4D97-AF65-F5344CB8AC3E}">
        <p14:creationId xmlns:p14="http://schemas.microsoft.com/office/powerpoint/2010/main" val="870955376"/>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 the Diamond!</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must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smartly allocate finite resources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ensure high-hazard operations (i.e. with significant process safety hazards) are sustainably managed to acceptable risk exposure levels.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need to understand our major risks to focus limited resources on the right areas (major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a:t>
            </a:r>
            <a:r>
              <a:rPr lang="en-US" altLang="en-US" sz="20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strategic thinking!</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clear understanding of our major hazards, we are better prepared to ask the right questions to manage them.</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Anomalies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do resolve themselves with no immediate negative consequences are a signal.</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Pay attention to the critical “leading indicators”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e.g. SC’s and SP’s relating to process safety!</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management system will only be effective when it is developed,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implemented, and maintained through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active program evaluation and continuous improvement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&amp;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7: BP-</a:t>
            </a:r>
            <a:r>
              <a:rPr lang="en-US" sz="1200" i="1" kern="0" dirty="0" err="1" smtClean="0">
                <a:solidFill>
                  <a:srgbClr val="000000"/>
                </a:solidFill>
                <a:ea typeface="Times New Roman"/>
                <a:cs typeface="Arial" panose="020B0604020202020204" pitchFamily="34" charset="0"/>
                <a:sym typeface="Times New Roman"/>
              </a:rPr>
              <a:t>Macondo</a:t>
            </a:r>
            <a:r>
              <a:rPr lang="en-US" sz="1200" i="1" kern="0" dirty="0" smtClean="0">
                <a:solidFill>
                  <a:srgbClr val="000000"/>
                </a:solidFill>
                <a:ea typeface="Times New Roman"/>
                <a:cs typeface="Arial" panose="020B0604020202020204" pitchFamily="34" charset="0"/>
                <a:sym typeface="Times New Roman"/>
              </a:rPr>
              <a:t> DWH 2010 </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55057785"/>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70230</TotalTime>
  <Words>7811</Words>
  <Application>Microsoft Office PowerPoint</Application>
  <PresentationFormat>On-screen Show (4:3)</PresentationFormat>
  <Paragraphs>867</Paragraphs>
  <Slides>56</Slides>
  <Notes>56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ＭＳ Ｐゴシック</vt:lpstr>
      <vt:lpstr>Arial</vt:lpstr>
      <vt:lpstr>Calibri</vt:lpstr>
      <vt:lpstr>Noto Sans Symbols</vt:lpstr>
      <vt:lpstr>Times</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1958</cp:revision>
  <cp:lastPrinted>2018-12-17T22:21:47Z</cp:lastPrinted>
  <dcterms:created xsi:type="dcterms:W3CDTF">2007-03-28T16:18:47Z</dcterms:created>
  <dcterms:modified xsi:type="dcterms:W3CDTF">2021-10-21T16:20:39Z</dcterms:modified>
</cp:coreProperties>
</file>