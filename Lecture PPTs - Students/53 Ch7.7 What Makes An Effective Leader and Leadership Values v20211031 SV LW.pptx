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5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y="6858000" cx="9144000"/>
  <p:notesSz cx="7010400" cy="9296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76">
          <p15:clr>
            <a:srgbClr val="A4A3A4"/>
          </p15:clr>
        </p15:guide>
        <p15:guide id="2" pos="3792">
          <p15:clr>
            <a:srgbClr val="A4A3A4"/>
          </p15:clr>
        </p15:guide>
      </p15:sldGuideLst>
    </p:ext>
    <p:ext uri="{2D200454-40CA-4A62-9FC3-DE9A4176ACB9}">
      <p15:notesGuideLst>
        <p15:guide id="1" orient="horz" pos="2928">
          <p15:clr>
            <a:srgbClr val="A4A3A4"/>
          </p15:clr>
        </p15:guide>
        <p15:guide id="2" pos="2209">
          <p15:clr>
            <a:srgbClr val="A4A3A4"/>
          </p15:clr>
        </p15:guide>
      </p15:notesGuideLst>
    </p:ext>
    <p:ext uri="http://customooxmlschemas.google.com/">
      <go:slidesCustomData xmlns:go="http://customooxmlschemas.google.com/" r:id="rId29" roundtripDataSignature="AMtx7mjT35EF3kP0ZtcsWOg45Y6H9uIGl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6DD65D9-105A-4975-98CF-511A05119F41}">
  <a:tblStyle styleId="{D6DD65D9-105A-4975-98CF-511A05119F4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DA0EF662-821D-41FA-896E-5F1C9A2BD29A}"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3F9FA"/>
          </a:solidFill>
        </a:fill>
      </a:tcStyle>
    </a:wholeTbl>
    <a:band1H>
      <a:tcTxStyle/>
      <a:tcStyle>
        <a:fill>
          <a:solidFill>
            <a:srgbClr val="E7F3F4"/>
          </a:solidFill>
        </a:fill>
      </a:tcStyle>
    </a:band1H>
    <a:band2H>
      <a:tcTxStyle/>
    </a:band2H>
    <a:band1V>
      <a:tcTxStyle/>
      <a:tcStyle>
        <a:fill>
          <a:solidFill>
            <a:srgbClr val="E7F3F4"/>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76" orient="horz"/>
        <p:guide pos="3792"/>
      </p:guideLst>
    </p:cSldViewPr>
  </p:slideViewPr>
  <p:notesViewPr>
    <p:cSldViewPr snapToGrid="0">
      <p:cViewPr varScale="1">
        <p:scale>
          <a:sx n="100" d="100"/>
          <a:sy n="100" d="100"/>
        </p:scale>
        <p:origin x="0" y="0"/>
      </p:cViewPr>
      <p:guideLst>
        <p:guide pos="2928" orient="horz"/>
        <p:guide pos="2209"/>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customschemas.google.com/relationships/presentationmetadata" Target="metadata"/><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971654" y="1"/>
            <a:ext cx="3037146" cy="464504"/>
          </a:xfrm>
          <a:prstGeom prst="rect">
            <a:avLst/>
          </a:prstGeom>
          <a:noFill/>
          <a:ln>
            <a:noFill/>
          </a:ln>
        </p:spPr>
        <p:txBody>
          <a:bodyPr anchorCtr="0" anchor="t" bIns="46550" lIns="93125" spcFirstLastPara="1" rIns="93125" wrap="square" tIns="4655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lvl1pPr indent="-228600" lvl="0" marL="4572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1pPr>
            <a:lvl2pPr indent="-228600" lvl="1" marL="9144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2pPr>
            <a:lvl3pPr indent="-228600" lvl="2" marL="13716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3pPr>
            <a:lvl4pPr indent="-228600" lvl="3" marL="18288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4pPr>
            <a:lvl5pPr indent="-228600" lvl="4" marL="22860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9" name="Google Shape;49;p1: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2: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72" name="Google Shape;72;p2: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2: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81" name="Google Shape;81;p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3: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txBox="1"/>
          <p:nvPr>
            <p:ph idx="2" type="hdr"/>
          </p:nvPr>
        </p:nvSpPr>
        <p:spPr>
          <a:xfrm>
            <a:off x="0" y="1"/>
            <a:ext cx="3015122" cy="464901"/>
          </a:xfrm>
          <a:prstGeom prst="rect">
            <a:avLst/>
          </a:prstGeom>
          <a:noFill/>
          <a:ln>
            <a:noFill/>
          </a:ln>
        </p:spPr>
        <p:txBody>
          <a:bodyPr anchorCtr="0" anchor="t" bIns="46450" lIns="92900" spcFirstLastPara="1" rIns="92900" wrap="square" tIns="4645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2015-2016</a:t>
            </a:r>
            <a:endParaRPr b="0" i="0" sz="1200" u="none" cap="none" strike="noStrike">
              <a:solidFill>
                <a:srgbClr val="000000"/>
              </a:solidFill>
              <a:latin typeface="Calibri"/>
              <a:ea typeface="Calibri"/>
              <a:cs typeface="Calibri"/>
              <a:sym typeface="Calibri"/>
            </a:endParaRPr>
          </a:p>
        </p:txBody>
      </p:sp>
      <p:sp>
        <p:nvSpPr>
          <p:cNvPr id="90" name="Google Shape;90;p4:notes"/>
          <p:cNvSpPr txBox="1"/>
          <p:nvPr>
            <p:ph idx="12" type="sldNum"/>
          </p:nvPr>
        </p:nvSpPr>
        <p:spPr>
          <a:xfrm>
            <a:off x="3939717" y="8844199"/>
            <a:ext cx="3015122" cy="464901"/>
          </a:xfrm>
          <a:prstGeom prst="rect">
            <a:avLst/>
          </a:prstGeom>
          <a:noFill/>
          <a:ln>
            <a:noFill/>
          </a:ln>
        </p:spPr>
        <p:txBody>
          <a:bodyPr anchorCtr="0" anchor="b" bIns="46450" lIns="92900" spcFirstLastPara="1" rIns="92900" wrap="square" tIns="464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91" name="Google Shape;91;p4:notes"/>
          <p:cNvSpPr txBox="1"/>
          <p:nvPr/>
        </p:nvSpPr>
        <p:spPr>
          <a:xfrm>
            <a:off x="3939717" y="8844199"/>
            <a:ext cx="3015122" cy="464901"/>
          </a:xfrm>
          <a:prstGeom prst="rect">
            <a:avLst/>
          </a:prstGeom>
          <a:noFill/>
          <a:ln>
            <a:noFill/>
          </a:ln>
        </p:spPr>
        <p:txBody>
          <a:bodyPr anchorCtr="0" anchor="b" bIns="46450" lIns="92900" spcFirstLastPara="1" rIns="92900" wrap="square" tIns="464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92" name="Google Shape;92;p4:notes"/>
          <p:cNvSpPr/>
          <p:nvPr>
            <p:ph idx="3" type="sldImg"/>
          </p:nvPr>
        </p:nvSpPr>
        <p:spPr>
          <a:xfrm>
            <a:off x="1150938" y="696913"/>
            <a:ext cx="4652962" cy="34909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 name="Google Shape;93;p4:notes"/>
          <p:cNvSpPr txBox="1"/>
          <p:nvPr>
            <p:ph idx="1" type="body"/>
          </p:nvPr>
        </p:nvSpPr>
        <p:spPr>
          <a:xfrm>
            <a:off x="927730" y="4424471"/>
            <a:ext cx="5099378" cy="4188858"/>
          </a:xfrm>
          <a:prstGeom prst="rect">
            <a:avLst/>
          </a:prstGeom>
          <a:noFill/>
          <a:ln>
            <a:noFill/>
          </a:ln>
        </p:spPr>
        <p:txBody>
          <a:bodyPr anchorCtr="0" anchor="t" bIns="46450" lIns="92900" spcFirstLastPara="1" rIns="92900" wrap="square" tIns="46450">
            <a:noAutofit/>
          </a:bodyPr>
          <a:lstStyle/>
          <a:p>
            <a:pPr indent="0" lvl="0" marL="0" rtl="0" algn="l">
              <a:spcBef>
                <a:spcPts val="0"/>
              </a:spcBef>
              <a:spcAft>
                <a:spcPts val="0"/>
              </a:spcAft>
              <a:buClr>
                <a:schemeClr val="dk1"/>
              </a:buClr>
              <a:buSzPts val="1000"/>
              <a:buFont typeface="Calibri"/>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02" name="Google Shape;102;p5: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 name="Google Shape;103;p5: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15" name="Google Shape;115;p6: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p6: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p>
            <a:pPr indent="0" lvl="0" marL="0" rtl="0" algn="l">
              <a:spcBef>
                <a:spcPts val="0"/>
              </a:spcBef>
              <a:spcAft>
                <a:spcPts val="0"/>
              </a:spcAft>
              <a:buNone/>
            </a:pPr>
            <a:r>
              <a:rPr b="0" i="0" lang="en-US" sz="1200" u="none" cap="none" strike="noStrike">
                <a:solidFill>
                  <a:schemeClr val="dk1"/>
                </a:solidFill>
                <a:latin typeface="Times New Roman"/>
                <a:ea typeface="Times New Roman"/>
                <a:cs typeface="Times New Roman"/>
                <a:sym typeface="Times New Roman"/>
              </a:rPr>
              <a:t>ENGG406 2015W</a:t>
            </a:r>
            <a:endParaRPr/>
          </a:p>
        </p:txBody>
      </p:sp>
      <p:sp>
        <p:nvSpPr>
          <p:cNvPr id="137" name="Google Shape;137;p7:notes"/>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p>
            <a:pPr indent="0" lvl="0" marL="0" rtl="0" algn="l">
              <a:spcBef>
                <a:spcPts val="0"/>
              </a:spcBef>
              <a:spcAft>
                <a:spcPts val="0"/>
              </a:spcAft>
              <a:buNone/>
            </a:pPr>
            <a:r>
              <a:rPr b="0" i="0" lang="en-US" sz="1200" u="none" cap="none" strike="noStrike">
                <a:solidFill>
                  <a:schemeClr val="dk1"/>
                </a:solidFill>
                <a:latin typeface="Times New Roman"/>
                <a:ea typeface="Times New Roman"/>
                <a:cs typeface="Times New Roman"/>
                <a:sym typeface="Times New Roman"/>
              </a:rPr>
              <a:t>3-March-2015</a:t>
            </a:r>
            <a:endParaRPr/>
          </a:p>
        </p:txBody>
      </p:sp>
      <p:sp>
        <p:nvSpPr>
          <p:cNvPr id="138" name="Google Shape;138;p7:notes"/>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39" name="Google Shape;139;p7: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140" name="Google Shape;140;p7:notes"/>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7: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txBox="1"/>
          <p:nvPr/>
        </p:nvSpPr>
        <p:spPr>
          <a:xfrm>
            <a:off x="4048940" y="9039201"/>
            <a:ext cx="3095868" cy="475152"/>
          </a:xfrm>
          <a:prstGeom prst="rect">
            <a:avLst/>
          </a:prstGeom>
          <a:noFill/>
          <a:ln>
            <a:noFill/>
          </a:ln>
        </p:spPr>
        <p:txBody>
          <a:bodyPr anchorCtr="0" anchor="b" bIns="47750" lIns="95525" spcFirstLastPara="1" rIns="95525" wrap="square" tIns="477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149" name="Google Shape;149;p8: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8: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lnSpc>
                <a:spcPct val="150000"/>
              </a:lnSpc>
              <a:spcBef>
                <a:spcPts val="0"/>
              </a:spcBef>
              <a:spcAft>
                <a:spcPts val="0"/>
              </a:spcAft>
              <a:buNone/>
            </a:pPr>
            <a:r>
              <a:rPr lang="en-US"/>
              <a:t>People – your superiors, your peers, and your subordinates – see your actions and your behaviours. </a:t>
            </a:r>
            <a:endParaRPr/>
          </a:p>
          <a:p>
            <a:pPr indent="0" lvl="0" marL="0" rtl="0" algn="l">
              <a:lnSpc>
                <a:spcPct val="150000"/>
              </a:lnSpc>
              <a:spcBef>
                <a:spcPts val="300"/>
              </a:spcBef>
              <a:spcAft>
                <a:spcPts val="0"/>
              </a:spcAft>
              <a:buNone/>
            </a:pPr>
            <a:r>
              <a:t/>
            </a:r>
            <a:endParaRPr/>
          </a:p>
          <a:p>
            <a:pPr indent="0" lvl="0" marL="0" rtl="0" algn="l">
              <a:lnSpc>
                <a:spcPct val="150000"/>
              </a:lnSpc>
              <a:spcBef>
                <a:spcPts val="300"/>
              </a:spcBef>
              <a:spcAft>
                <a:spcPts val="0"/>
              </a:spcAft>
              <a:buNone/>
            </a:pPr>
            <a:r>
              <a:rPr lang="en-US"/>
              <a:t>They cannot know what you are thinking, or know any of the underlying opinions, goals, needs and wants, attitudes, values and principles, and core strengths – unless you explicitly inform them! And that would take a lot of time and effort, not only because there is a lot to communicate in a clear and succinct terms, but also because we have a difficult time determining, defining, refining, and articulating the same list!</a:t>
            </a:r>
            <a:endParaRPr/>
          </a:p>
          <a:p>
            <a:pPr indent="0" lvl="0" marL="0" rtl="0" algn="l">
              <a:lnSpc>
                <a:spcPct val="150000"/>
              </a:lnSpc>
              <a:spcBef>
                <a:spcPts val="300"/>
              </a:spcBef>
              <a:spcAft>
                <a:spcPts val="0"/>
              </a:spcAft>
              <a:buNone/>
            </a:pPr>
            <a:r>
              <a:t/>
            </a:r>
            <a:endParaRPr/>
          </a:p>
          <a:p>
            <a:pPr indent="0" lvl="0" marL="0" rtl="0" algn="l">
              <a:lnSpc>
                <a:spcPct val="150000"/>
              </a:lnSpc>
              <a:spcBef>
                <a:spcPts val="300"/>
              </a:spcBef>
              <a:spcAft>
                <a:spcPts val="0"/>
              </a:spcAft>
              <a:buNone/>
            </a:pPr>
            <a:r>
              <a:rPr lang="en-US"/>
              <a:t>Because they cannot know, it is critically important for us in our leadership role to ensure that our actions and behaviours are exactly aligned with our intentions.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165" name="Google Shape;165;p9: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p9: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4:notes"/>
          <p:cNvSpPr txBox="1"/>
          <p:nvPr/>
        </p:nvSpPr>
        <p:spPr>
          <a:xfrm>
            <a:off x="5349753" y="6726472"/>
            <a:ext cx="4090797" cy="353940"/>
          </a:xfrm>
          <a:prstGeom prst="rect">
            <a:avLst/>
          </a:prstGeom>
          <a:noFill/>
          <a:ln>
            <a:noFill/>
          </a:ln>
        </p:spPr>
        <p:txBody>
          <a:bodyPr anchorCtr="0" anchor="b" bIns="47375" lIns="94775" spcFirstLastPara="1" rIns="94775" wrap="square" tIns="47375">
            <a:noAutofit/>
          </a:bodyPr>
          <a:lstStyle/>
          <a:p>
            <a:pPr indent="0" lvl="0" marL="0" marR="0" rtl="0" algn="r">
              <a:spcBef>
                <a:spcPts val="0"/>
              </a:spcBef>
              <a:spcAft>
                <a:spcPts val="0"/>
              </a:spcAft>
              <a:buNone/>
            </a:pPr>
            <a:fld id="{00000000-1234-1234-1234-123412341234}" type="slidenum">
              <a:rPr b="1" lang="en-US" sz="1200">
                <a:solidFill>
                  <a:schemeClr val="dk1"/>
                </a:solidFill>
                <a:latin typeface="Times New Roman"/>
                <a:ea typeface="Times New Roman"/>
                <a:cs typeface="Times New Roman"/>
                <a:sym typeface="Times New Roman"/>
              </a:rPr>
              <a:t>‹#›</a:t>
            </a:fld>
            <a:endParaRPr b="1" sz="1200">
              <a:solidFill>
                <a:schemeClr val="dk1"/>
              </a:solidFill>
              <a:latin typeface="Times New Roman"/>
              <a:ea typeface="Times New Roman"/>
              <a:cs typeface="Times New Roman"/>
              <a:sym typeface="Times New Roman"/>
            </a:endParaRPr>
          </a:p>
        </p:txBody>
      </p:sp>
      <p:sp>
        <p:nvSpPr>
          <p:cNvPr id="175" name="Google Shape;175;p14:notes"/>
          <p:cNvSpPr/>
          <p:nvPr>
            <p:ph idx="2" type="sldImg"/>
          </p:nvPr>
        </p:nvSpPr>
        <p:spPr>
          <a:xfrm>
            <a:off x="2952750" y="531813"/>
            <a:ext cx="3536950" cy="26527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p14:notes"/>
          <p:cNvSpPr txBox="1"/>
          <p:nvPr>
            <p:ph idx="1" type="body"/>
          </p:nvPr>
        </p:nvSpPr>
        <p:spPr>
          <a:xfrm>
            <a:off x="1258955" y="3363236"/>
            <a:ext cx="6922640" cy="3187074"/>
          </a:xfrm>
          <a:prstGeom prst="rect">
            <a:avLst/>
          </a:prstGeom>
          <a:noFill/>
          <a:ln>
            <a:noFill/>
          </a:ln>
        </p:spPr>
        <p:txBody>
          <a:bodyPr anchorCtr="0" anchor="t" bIns="47375" lIns="94775" spcFirstLastPara="1" rIns="94775" wrap="square" tIns="47375">
            <a:norm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5: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lang="en-US" sz="1200">
                <a:solidFill>
                  <a:schemeClr val="dk1"/>
                </a:solidFill>
                <a:latin typeface="Arial"/>
                <a:ea typeface="Arial"/>
                <a:cs typeface="Arial"/>
                <a:sym typeface="Arial"/>
              </a:rPr>
              <a:t>‹#›</a:t>
            </a:fld>
            <a:endParaRPr b="1" sz="1200">
              <a:solidFill>
                <a:schemeClr val="dk1"/>
              </a:solidFill>
              <a:latin typeface="Arial"/>
              <a:ea typeface="Arial"/>
              <a:cs typeface="Arial"/>
              <a:sym typeface="Arial"/>
            </a:endParaRPr>
          </a:p>
        </p:txBody>
      </p:sp>
      <p:sp>
        <p:nvSpPr>
          <p:cNvPr id="187" name="Google Shape;187;p15: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15: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7:notes"/>
          <p:cNvSpPr txBox="1"/>
          <p:nvPr/>
        </p:nvSpPr>
        <p:spPr>
          <a:xfrm>
            <a:off x="5348141" y="6724857"/>
            <a:ext cx="4090798" cy="353939"/>
          </a:xfrm>
          <a:prstGeom prst="rect">
            <a:avLst/>
          </a:prstGeom>
          <a:noFill/>
          <a:ln>
            <a:noFill/>
          </a:ln>
        </p:spPr>
        <p:txBody>
          <a:bodyPr anchorCtr="0" anchor="b" bIns="47400" lIns="94800" spcFirstLastPara="1" rIns="94800" wrap="square" tIns="47400">
            <a:noAutofit/>
          </a:bodyPr>
          <a:lstStyle/>
          <a:p>
            <a:pPr indent="0" lvl="0" marL="0" marR="0" rtl="0" algn="r">
              <a:spcBef>
                <a:spcPts val="0"/>
              </a:spcBef>
              <a:spcAft>
                <a:spcPts val="0"/>
              </a:spcAft>
              <a:buNone/>
            </a:pPr>
            <a:fld id="{00000000-1234-1234-1234-123412341234}" type="slidenum">
              <a:rPr b="1" lang="en-US" sz="1200">
                <a:solidFill>
                  <a:schemeClr val="dk1"/>
                </a:solidFill>
                <a:latin typeface="Times New Roman"/>
                <a:ea typeface="Times New Roman"/>
                <a:cs typeface="Times New Roman"/>
                <a:sym typeface="Times New Roman"/>
              </a:rPr>
              <a:t>‹#›</a:t>
            </a:fld>
            <a:endParaRPr b="1" sz="1200">
              <a:solidFill>
                <a:schemeClr val="dk1"/>
              </a:solidFill>
              <a:latin typeface="Times New Roman"/>
              <a:ea typeface="Times New Roman"/>
              <a:cs typeface="Times New Roman"/>
              <a:sym typeface="Times New Roman"/>
            </a:endParaRPr>
          </a:p>
        </p:txBody>
      </p:sp>
      <p:sp>
        <p:nvSpPr>
          <p:cNvPr id="196" name="Google Shape;196;p17: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p17:notes"/>
          <p:cNvSpPr txBox="1"/>
          <p:nvPr>
            <p:ph idx="1" type="body"/>
          </p:nvPr>
        </p:nvSpPr>
        <p:spPr>
          <a:xfrm>
            <a:off x="1258955" y="3363236"/>
            <a:ext cx="6922640" cy="318707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rPr lang="en-US">
                <a:latin typeface="Times New Roman"/>
                <a:ea typeface="Times New Roman"/>
                <a:cs typeface="Times New Roman"/>
                <a:sym typeface="Times New Roman"/>
              </a:rPr>
              <a:t>The discussion about the $5 bill and two scenarios:</a:t>
            </a:r>
            <a:endParaRPr/>
          </a:p>
          <a:p>
            <a:pPr indent="0" lvl="0" marL="0" rtl="0" algn="l">
              <a:spcBef>
                <a:spcPts val="300"/>
              </a:spcBef>
              <a:spcAft>
                <a:spcPts val="0"/>
              </a:spcAft>
              <a:buNone/>
            </a:pPr>
            <a:r>
              <a:t/>
            </a:r>
            <a:endParaRPr>
              <a:latin typeface="Times New Roman"/>
              <a:ea typeface="Times New Roman"/>
              <a:cs typeface="Times New Roman"/>
              <a:sym typeface="Times New Roman"/>
            </a:endParaRPr>
          </a:p>
          <a:p>
            <a:pPr indent="0" lvl="0" marL="0" rtl="0" algn="l">
              <a:spcBef>
                <a:spcPts val="300"/>
              </a:spcBef>
              <a:spcAft>
                <a:spcPts val="0"/>
              </a:spcAft>
              <a:buNone/>
            </a:pPr>
            <a:r>
              <a:rPr lang="en-US">
                <a:latin typeface="Times New Roman"/>
                <a:ea typeface="Times New Roman"/>
                <a:cs typeface="Times New Roman"/>
                <a:sym typeface="Times New Roman"/>
              </a:rPr>
              <a:t>Scenario 1) The professor is walking through the empty Food Court early in the morning and sees a $5 on the floor. What does the professor do? The professor actively looks for someone, but seeing as no one is around and there is not even a remote possibility of looking the rightful owner of the $5, the professor pockets the money … and likely with the intention of donating it to one of the campus charities. What value(s) did the professor exhibit? Values: Rightful ownership, generosity, charity. </a:t>
            </a:r>
            <a:endParaRPr/>
          </a:p>
          <a:p>
            <a:pPr indent="0" lvl="0" marL="0" rtl="0" algn="l">
              <a:spcBef>
                <a:spcPts val="300"/>
              </a:spcBef>
              <a:spcAft>
                <a:spcPts val="0"/>
              </a:spcAft>
              <a:buNone/>
            </a:pPr>
            <a:r>
              <a:t/>
            </a:r>
            <a:endParaRPr>
              <a:latin typeface="Times New Roman"/>
              <a:ea typeface="Times New Roman"/>
              <a:cs typeface="Times New Roman"/>
              <a:sym typeface="Times New Roman"/>
            </a:endParaRPr>
          </a:p>
          <a:p>
            <a:pPr indent="0" lvl="0" marL="0" rtl="0" algn="l">
              <a:spcBef>
                <a:spcPts val="300"/>
              </a:spcBef>
              <a:spcAft>
                <a:spcPts val="0"/>
              </a:spcAft>
              <a:buNone/>
            </a:pPr>
            <a:r>
              <a:rPr lang="en-US">
                <a:latin typeface="Times New Roman"/>
                <a:ea typeface="Times New Roman"/>
                <a:cs typeface="Times New Roman"/>
                <a:sym typeface="Times New Roman"/>
              </a:rPr>
              <a:t>Scenario 2) The professor is walking through the busy Food Court. The professor observes a student pull out their cell-phone from their pocket, and unbeknownst to the student, a $5 bill falls onto the floor. What does the professor do? What choices does the professor have? 1) Quietly and quickly scope up and keep the $5. 2) Pick it up and contact the student to return the $5. On what values are each of these choices based? 1) Greed. Lack of ethics. “Finders keepers, losers weepers.” Lack of integrity – if the professor claims to be honest, but does not demonstrate it. 2) Honesty.  Rightful ownership of property.  Integrity – living by their good values. </a:t>
            </a:r>
            <a:endParaRPr>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8:notes"/>
          <p:cNvSpPr txBox="1"/>
          <p:nvPr/>
        </p:nvSpPr>
        <p:spPr>
          <a:xfrm>
            <a:off x="5348141" y="6724857"/>
            <a:ext cx="4090798" cy="353939"/>
          </a:xfrm>
          <a:prstGeom prst="rect">
            <a:avLst/>
          </a:prstGeom>
          <a:noFill/>
          <a:ln>
            <a:noFill/>
          </a:ln>
        </p:spPr>
        <p:txBody>
          <a:bodyPr anchorCtr="0" anchor="b" bIns="47400" lIns="94800" spcFirstLastPara="1" rIns="94800" wrap="square" tIns="47400">
            <a:noAutofit/>
          </a:bodyPr>
          <a:lstStyle/>
          <a:p>
            <a:pPr indent="0" lvl="0" marL="0" marR="0" rtl="0" algn="r">
              <a:spcBef>
                <a:spcPts val="0"/>
              </a:spcBef>
              <a:spcAft>
                <a:spcPts val="0"/>
              </a:spcAft>
              <a:buNone/>
            </a:pPr>
            <a:fld id="{00000000-1234-1234-1234-123412341234}" type="slidenum">
              <a:rPr b="1" lang="en-US" sz="1200">
                <a:solidFill>
                  <a:schemeClr val="dk1"/>
                </a:solidFill>
                <a:latin typeface="Times New Roman"/>
                <a:ea typeface="Times New Roman"/>
                <a:cs typeface="Times New Roman"/>
                <a:sym typeface="Times New Roman"/>
              </a:rPr>
              <a:t>‹#›</a:t>
            </a:fld>
            <a:endParaRPr b="1" sz="1200">
              <a:solidFill>
                <a:schemeClr val="dk1"/>
              </a:solidFill>
              <a:latin typeface="Times New Roman"/>
              <a:ea typeface="Times New Roman"/>
              <a:cs typeface="Times New Roman"/>
              <a:sym typeface="Times New Roman"/>
            </a:endParaRPr>
          </a:p>
        </p:txBody>
      </p:sp>
      <p:sp>
        <p:nvSpPr>
          <p:cNvPr id="206" name="Google Shape;206;p18: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18:notes"/>
          <p:cNvSpPr txBox="1"/>
          <p:nvPr>
            <p:ph idx="1" type="body"/>
          </p:nvPr>
        </p:nvSpPr>
        <p:spPr>
          <a:xfrm>
            <a:off x="1258955" y="3363236"/>
            <a:ext cx="6922640" cy="318707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rPr lang="en-US">
                <a:latin typeface="Times New Roman"/>
                <a:ea typeface="Times New Roman"/>
                <a:cs typeface="Times New Roman"/>
                <a:sym typeface="Times New Roman"/>
              </a:rPr>
              <a:t>The discussion about the $5 bill and two scenarios:</a:t>
            </a:r>
            <a:endParaRPr/>
          </a:p>
          <a:p>
            <a:pPr indent="0" lvl="0" marL="0" rtl="0" algn="l">
              <a:spcBef>
                <a:spcPts val="300"/>
              </a:spcBef>
              <a:spcAft>
                <a:spcPts val="0"/>
              </a:spcAft>
              <a:buNone/>
            </a:pPr>
            <a:r>
              <a:t/>
            </a:r>
            <a:endParaRPr>
              <a:latin typeface="Times New Roman"/>
              <a:ea typeface="Times New Roman"/>
              <a:cs typeface="Times New Roman"/>
              <a:sym typeface="Times New Roman"/>
            </a:endParaRPr>
          </a:p>
          <a:p>
            <a:pPr indent="0" lvl="0" marL="0" rtl="0" algn="l">
              <a:spcBef>
                <a:spcPts val="300"/>
              </a:spcBef>
              <a:spcAft>
                <a:spcPts val="0"/>
              </a:spcAft>
              <a:buNone/>
            </a:pPr>
            <a:r>
              <a:rPr lang="en-US">
                <a:latin typeface="Times New Roman"/>
                <a:ea typeface="Times New Roman"/>
                <a:cs typeface="Times New Roman"/>
                <a:sym typeface="Times New Roman"/>
              </a:rPr>
              <a:t>Scenario 1) The professor is walking through the empty Food Court early in the morning and sees a $5 on the floor. What does the professor do? The professor actively looks for someone, but seeing as no one is around and there is not even a remote possibility of looking the rightful owner of the $5, the professor pockets the money … and likely with the intention of donating it to one of the campus charities. What value(s) did the professor exhibit? Values: Rightful ownership, generosity, charity. </a:t>
            </a:r>
            <a:endParaRPr/>
          </a:p>
          <a:p>
            <a:pPr indent="0" lvl="0" marL="0" rtl="0" algn="l">
              <a:spcBef>
                <a:spcPts val="300"/>
              </a:spcBef>
              <a:spcAft>
                <a:spcPts val="0"/>
              </a:spcAft>
              <a:buNone/>
            </a:pPr>
            <a:r>
              <a:t/>
            </a:r>
            <a:endParaRPr>
              <a:latin typeface="Times New Roman"/>
              <a:ea typeface="Times New Roman"/>
              <a:cs typeface="Times New Roman"/>
              <a:sym typeface="Times New Roman"/>
            </a:endParaRPr>
          </a:p>
          <a:p>
            <a:pPr indent="0" lvl="0" marL="0" rtl="0" algn="l">
              <a:spcBef>
                <a:spcPts val="300"/>
              </a:spcBef>
              <a:spcAft>
                <a:spcPts val="0"/>
              </a:spcAft>
              <a:buNone/>
            </a:pPr>
            <a:r>
              <a:rPr lang="en-US">
                <a:latin typeface="Times New Roman"/>
                <a:ea typeface="Times New Roman"/>
                <a:cs typeface="Times New Roman"/>
                <a:sym typeface="Times New Roman"/>
              </a:rPr>
              <a:t>Scenario 2) The professor is walking through the busy Food Court. The professor observes a student pull out their cell-phone from their pocket, and unbeknownst to the student, a $5 bill falls onto the floor. What does the professor do? What choices does the professor have? 1) Quietly and quickly scope up and keep the $5. 2) Pick it up and contact the student to return the $5. On what values are each of these choices based? 1) Greed. Dishonest. “Finders keepers, losers weepers.” Lack of integrity – if the professor claims to be honest, but does not demonstrate it. 2) Honesty.  Rightful ownership of property.  Integrity – living by their good values. </a:t>
            </a:r>
            <a:endParaRPr>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9:notes"/>
          <p:cNvSpPr txBox="1"/>
          <p:nvPr/>
        </p:nvSpPr>
        <p:spPr>
          <a:xfrm>
            <a:off x="5348141" y="6724857"/>
            <a:ext cx="4090798" cy="353939"/>
          </a:xfrm>
          <a:prstGeom prst="rect">
            <a:avLst/>
          </a:prstGeom>
          <a:noFill/>
          <a:ln>
            <a:noFill/>
          </a:ln>
        </p:spPr>
        <p:txBody>
          <a:bodyPr anchorCtr="0" anchor="b" bIns="47400" lIns="94800" spcFirstLastPara="1" rIns="94800" wrap="square" tIns="47400">
            <a:noAutofit/>
          </a:bodyPr>
          <a:lstStyle/>
          <a:p>
            <a:pPr indent="0" lvl="0" marL="0" marR="0" rtl="0" algn="r">
              <a:spcBef>
                <a:spcPts val="0"/>
              </a:spcBef>
              <a:spcAft>
                <a:spcPts val="0"/>
              </a:spcAft>
              <a:buNone/>
            </a:pPr>
            <a:fld id="{00000000-1234-1234-1234-123412341234}" type="slidenum">
              <a:rPr b="1" lang="en-US" sz="1200">
                <a:solidFill>
                  <a:schemeClr val="dk1"/>
                </a:solidFill>
                <a:latin typeface="Times New Roman"/>
                <a:ea typeface="Times New Roman"/>
                <a:cs typeface="Times New Roman"/>
                <a:sym typeface="Times New Roman"/>
              </a:rPr>
              <a:t>‹#›</a:t>
            </a:fld>
            <a:endParaRPr b="1" sz="1200">
              <a:solidFill>
                <a:schemeClr val="dk1"/>
              </a:solidFill>
              <a:latin typeface="Times New Roman"/>
              <a:ea typeface="Times New Roman"/>
              <a:cs typeface="Times New Roman"/>
              <a:sym typeface="Times New Roman"/>
            </a:endParaRPr>
          </a:p>
        </p:txBody>
      </p:sp>
      <p:sp>
        <p:nvSpPr>
          <p:cNvPr id="217" name="Google Shape;217;p19: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19:notes"/>
          <p:cNvSpPr txBox="1"/>
          <p:nvPr>
            <p:ph idx="1" type="body"/>
          </p:nvPr>
        </p:nvSpPr>
        <p:spPr>
          <a:xfrm>
            <a:off x="1258955" y="3363236"/>
            <a:ext cx="6922640" cy="318707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rPr lang="en-US">
                <a:latin typeface="Times New Roman"/>
                <a:ea typeface="Times New Roman"/>
                <a:cs typeface="Times New Roman"/>
                <a:sym typeface="Times New Roman"/>
              </a:rPr>
              <a:t>A professor who teaches ethics should know the right action to take, the right thing to do, and their credibility is based not on what they say or teach, but what their actions “say”. </a:t>
            </a:r>
            <a:endParaRPr>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0: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lang="en-US" sz="1200">
                <a:solidFill>
                  <a:schemeClr val="dk1"/>
                </a:solidFill>
                <a:latin typeface="Arial"/>
                <a:ea typeface="Arial"/>
                <a:cs typeface="Arial"/>
                <a:sym typeface="Arial"/>
              </a:rPr>
              <a:t>‹#›</a:t>
            </a:fld>
            <a:endParaRPr b="1" sz="1200">
              <a:solidFill>
                <a:schemeClr val="dk1"/>
              </a:solidFill>
              <a:latin typeface="Arial"/>
              <a:ea typeface="Arial"/>
              <a:cs typeface="Arial"/>
              <a:sym typeface="Arial"/>
            </a:endParaRPr>
          </a:p>
        </p:txBody>
      </p:sp>
      <p:sp>
        <p:nvSpPr>
          <p:cNvPr id="229" name="Google Shape;229;p20: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p20: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1: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39" name="Google Shape;239;p2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 name="Google Shape;240;p21: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2: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lang="en-US" sz="1200">
                <a:solidFill>
                  <a:schemeClr val="dk1"/>
                </a:solidFill>
                <a:latin typeface="Arial"/>
                <a:ea typeface="Arial"/>
                <a:cs typeface="Arial"/>
                <a:sym typeface="Arial"/>
              </a:rPr>
              <a:t>‹#›</a:t>
            </a:fld>
            <a:endParaRPr b="1" sz="1200">
              <a:solidFill>
                <a:schemeClr val="dk1"/>
              </a:solidFill>
              <a:latin typeface="Arial"/>
              <a:ea typeface="Arial"/>
              <a:cs typeface="Arial"/>
              <a:sym typeface="Arial"/>
            </a:endParaRPr>
          </a:p>
        </p:txBody>
      </p:sp>
      <p:sp>
        <p:nvSpPr>
          <p:cNvPr id="250" name="Google Shape;250;p22: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22: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77" name="Google Shape;277;p2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8" name="Google Shape;278;p23: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4: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86" name="Google Shape;286;p24: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24: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5: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95" name="Google Shape;295;p25: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6" name="Google Shape;296;p25: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marR="0" rtl="0" algn="l">
              <a:lnSpc>
                <a:spcPct val="100000"/>
              </a:lnSpc>
              <a:spcBef>
                <a:spcPts val="0"/>
              </a:spcBef>
              <a:spcAft>
                <a:spcPts val="0"/>
              </a:spcAft>
              <a:buClr>
                <a:schemeClr val="dk1"/>
              </a:buClr>
              <a:buSzPts val="1200"/>
              <a:buFont typeface="Calibri"/>
              <a:buNone/>
            </a:pPr>
            <a:r>
              <a:t/>
            </a:r>
            <a:endParaRPr b="0" i="1"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6: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lang="en-US" sz="1200">
                <a:solidFill>
                  <a:schemeClr val="dk1"/>
                </a:solidFill>
                <a:latin typeface="Arial"/>
                <a:ea typeface="Arial"/>
                <a:cs typeface="Arial"/>
                <a:sym typeface="Arial"/>
              </a:rPr>
              <a:t>‹#›</a:t>
            </a:fld>
            <a:endParaRPr b="1" sz="1200">
              <a:solidFill>
                <a:schemeClr val="dk1"/>
              </a:solidFill>
              <a:latin typeface="Arial"/>
              <a:ea typeface="Arial"/>
              <a:cs typeface="Arial"/>
              <a:sym typeface="Arial"/>
            </a:endParaRPr>
          </a:p>
        </p:txBody>
      </p:sp>
      <p:sp>
        <p:nvSpPr>
          <p:cNvPr id="314" name="Google Shape;314;p26: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26: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28"/>
          <p:cNvSpPr txBox="1"/>
          <p:nvPr>
            <p:ph type="ctrTitle"/>
          </p:nvPr>
        </p:nvSpPr>
        <p:spPr>
          <a:xfrm>
            <a:off x="685800" y="1905000"/>
            <a:ext cx="7772400" cy="1470025"/>
          </a:xfrm>
          <a:prstGeom prst="rect">
            <a:avLst/>
          </a:prstGeom>
          <a:noFill/>
          <a:ln>
            <a:noFill/>
          </a:ln>
        </p:spPr>
        <p:txBody>
          <a:bodyPr anchorCtr="0" anchor="ctr" bIns="45700" lIns="91425" spcFirstLastPara="1" rIns="91425" wrap="square" tIns="45700">
            <a:noAutofit/>
          </a:bodyPr>
          <a:lstStyle>
            <a:lvl1pPr lvl="0" algn="ctr">
              <a:spcBef>
                <a:spcPts val="720"/>
              </a:spcBef>
              <a:spcAft>
                <a:spcPts val="0"/>
              </a:spcAft>
              <a:buSzPts val="1400"/>
              <a:buNone/>
              <a:defRPr sz="36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 name="Google Shape;16;p28"/>
          <p:cNvSpPr txBox="1"/>
          <p:nvPr>
            <p:ph idx="1" type="subTitle"/>
          </p:nvPr>
        </p:nvSpPr>
        <p:spPr>
          <a:xfrm>
            <a:off x="1371600" y="41148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560"/>
              </a:spcBef>
              <a:spcAft>
                <a:spcPts val="0"/>
              </a:spcAft>
              <a:buClr>
                <a:srgbClr val="AA9C8F"/>
              </a:buClr>
              <a:buSzPts val="2800"/>
              <a:buFont typeface="Noto Sans Symbols"/>
              <a:buNone/>
              <a:defRPr b="0" i="0" sz="2800" u="none" cap="none" strike="noStrike">
                <a:solidFill>
                  <a:srgbClr val="4D4D4D"/>
                </a:solidFill>
                <a:latin typeface="Calibri"/>
                <a:ea typeface="Calibri"/>
                <a:cs typeface="Calibri"/>
                <a:sym typeface="Calibri"/>
              </a:defRPr>
            </a:lvl1pPr>
            <a:lvl2pPr lvl="1"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lvl="2"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29"/>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19" name="Google Shape;19;p29"/>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20" name="Google Shape;20;p2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b="1" i="0" sz="1800" u="none" cap="none" strike="noStrike">
                <a:solidFill>
                  <a:schemeClr val="dk1"/>
                </a:solidFill>
                <a:latin typeface="Arial"/>
                <a:ea typeface="Arial"/>
                <a:cs typeface="Arial"/>
                <a:sym typeface="Arial"/>
              </a:defRPr>
            </a:lvl1pPr>
            <a:lvl2pPr indent="0" lvl="1" marL="0" marR="0" rtl="0" algn="l">
              <a:spcBef>
                <a:spcPts val="0"/>
              </a:spcBef>
              <a:spcAft>
                <a:spcPts val="0"/>
              </a:spcAft>
              <a:buNone/>
              <a:defRPr b="1" i="0" sz="1800" u="none" cap="none" strike="noStrike">
                <a:solidFill>
                  <a:schemeClr val="dk1"/>
                </a:solidFill>
                <a:latin typeface="Arial"/>
                <a:ea typeface="Arial"/>
                <a:cs typeface="Arial"/>
                <a:sym typeface="Arial"/>
              </a:defRPr>
            </a:lvl2pPr>
            <a:lvl3pPr indent="0" lvl="2" marL="0" marR="0" rtl="0" algn="l">
              <a:spcBef>
                <a:spcPts val="0"/>
              </a:spcBef>
              <a:spcAft>
                <a:spcPts val="0"/>
              </a:spcAft>
              <a:buNone/>
              <a:defRPr b="1" i="0" sz="1800" u="none" cap="none" strike="noStrike">
                <a:solidFill>
                  <a:schemeClr val="dk1"/>
                </a:solidFill>
                <a:latin typeface="Arial"/>
                <a:ea typeface="Arial"/>
                <a:cs typeface="Arial"/>
                <a:sym typeface="Arial"/>
              </a:defRPr>
            </a:lvl3pPr>
            <a:lvl4pPr indent="0" lvl="3" marL="0" marR="0" rtl="0" algn="l">
              <a:spcBef>
                <a:spcPts val="0"/>
              </a:spcBef>
              <a:spcAft>
                <a:spcPts val="0"/>
              </a:spcAft>
              <a:buNone/>
              <a:defRPr b="1" i="0" sz="1800" u="none" cap="none" strike="noStrike">
                <a:solidFill>
                  <a:schemeClr val="dk1"/>
                </a:solidFill>
                <a:latin typeface="Arial"/>
                <a:ea typeface="Arial"/>
                <a:cs typeface="Arial"/>
                <a:sym typeface="Arial"/>
              </a:defRPr>
            </a:lvl4pPr>
            <a:lvl5pPr indent="0" lvl="4" marL="0" marR="0" rtl="0" algn="l">
              <a:spcBef>
                <a:spcPts val="0"/>
              </a:spcBef>
              <a:spcAft>
                <a:spcPts val="0"/>
              </a:spcAft>
              <a:buNone/>
              <a:defRPr b="1" i="0" sz="1800" u="none" cap="none" strike="noStrike">
                <a:solidFill>
                  <a:schemeClr val="dk1"/>
                </a:solidFill>
                <a:latin typeface="Arial"/>
                <a:ea typeface="Arial"/>
                <a:cs typeface="Arial"/>
                <a:sym typeface="Arial"/>
              </a:defRPr>
            </a:lvl5pPr>
            <a:lvl6pPr indent="0" lvl="5" marL="0" marR="0" rtl="0" algn="l">
              <a:spcBef>
                <a:spcPts val="0"/>
              </a:spcBef>
              <a:spcAft>
                <a:spcPts val="0"/>
              </a:spcAft>
              <a:buNone/>
              <a:defRPr b="1" i="0" sz="1800" u="none" cap="none" strike="noStrike">
                <a:solidFill>
                  <a:schemeClr val="dk1"/>
                </a:solidFill>
                <a:latin typeface="Arial"/>
                <a:ea typeface="Arial"/>
                <a:cs typeface="Arial"/>
                <a:sym typeface="Arial"/>
              </a:defRPr>
            </a:lvl6pPr>
            <a:lvl7pPr indent="0" lvl="6" marL="0" marR="0" rtl="0" algn="l">
              <a:spcBef>
                <a:spcPts val="0"/>
              </a:spcBef>
              <a:spcAft>
                <a:spcPts val="0"/>
              </a:spcAft>
              <a:buNone/>
              <a:defRPr b="1" i="0" sz="1800" u="none" cap="none" strike="noStrike">
                <a:solidFill>
                  <a:schemeClr val="dk1"/>
                </a:solidFill>
                <a:latin typeface="Arial"/>
                <a:ea typeface="Arial"/>
                <a:cs typeface="Arial"/>
                <a:sym typeface="Arial"/>
              </a:defRPr>
            </a:lvl7pPr>
            <a:lvl8pPr indent="0" lvl="7" marL="0" marR="0" rtl="0" algn="l">
              <a:spcBef>
                <a:spcPts val="0"/>
              </a:spcBef>
              <a:spcAft>
                <a:spcPts val="0"/>
              </a:spcAft>
              <a:buNone/>
              <a:defRPr b="1" i="0" sz="1800" u="none" cap="none" strike="noStrike">
                <a:solidFill>
                  <a:schemeClr val="dk1"/>
                </a:solidFill>
                <a:latin typeface="Arial"/>
                <a:ea typeface="Arial"/>
                <a:cs typeface="Arial"/>
                <a:sym typeface="Arial"/>
              </a:defRPr>
            </a:lvl8pPr>
            <a:lvl9pPr indent="0" lvl="8" marL="0" marR="0" rtl="0" algn="l">
              <a:spcBef>
                <a:spcPts val="0"/>
              </a:spcBef>
              <a:spcAft>
                <a:spcPts val="0"/>
              </a:spcAft>
              <a:buNone/>
              <a:defRPr b="1"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2"/>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32"/>
          <p:cNvSpPr txBox="1"/>
          <p:nvPr>
            <p:ph idx="1" type="body"/>
          </p:nvPr>
        </p:nvSpPr>
        <p:spPr>
          <a:xfrm>
            <a:off x="663389" y="1120588"/>
            <a:ext cx="8153400" cy="51054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1pPr>
            <a:lvl2pPr indent="-368300" lvl="1" marL="914400" marR="0" rtl="0" algn="l">
              <a:spcBef>
                <a:spcPts val="44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4" name="Shape 24"/>
        <p:cNvGrpSpPr/>
        <p:nvPr/>
      </p:nvGrpSpPr>
      <p:grpSpPr>
        <a:xfrm>
          <a:off x="0" y="0"/>
          <a:ext cx="0" cy="0"/>
          <a:chOff x="0" y="0"/>
          <a:chExt cx="0" cy="0"/>
        </a:xfrm>
      </p:grpSpPr>
      <p:sp>
        <p:nvSpPr>
          <p:cNvPr id="25" name="Google Shape;25;p33"/>
          <p:cNvSpPr txBox="1"/>
          <p:nvPr>
            <p:ph type="title"/>
          </p:nvPr>
        </p:nvSpPr>
        <p:spPr>
          <a:xfrm>
            <a:off x="577850" y="168275"/>
            <a:ext cx="82296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 name="Google Shape;26;p33"/>
          <p:cNvSpPr txBox="1"/>
          <p:nvPr>
            <p:ph idx="1" type="body"/>
          </p:nvPr>
        </p:nvSpPr>
        <p:spPr>
          <a:xfrm>
            <a:off x="577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27" name="Google Shape;27;p33"/>
          <p:cNvSpPr txBox="1"/>
          <p:nvPr>
            <p:ph idx="2" type="body"/>
          </p:nvPr>
        </p:nvSpPr>
        <p:spPr>
          <a:xfrm>
            <a:off x="4768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
        <p:nvSpPr>
          <p:cNvPr id="34" name="Google Shape;34;p3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35" name="Google Shape;35;p3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36" name="Google Shape;36;p3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7" name="Shape 37"/>
        <p:cNvGrpSpPr/>
        <p:nvPr/>
      </p:nvGrpSpPr>
      <p:grpSpPr>
        <a:xfrm>
          <a:off x="0" y="0"/>
          <a:ext cx="0" cy="0"/>
          <a:chOff x="0" y="0"/>
          <a:chExt cx="0" cy="0"/>
        </a:xfrm>
      </p:grpSpPr>
      <p:sp>
        <p:nvSpPr>
          <p:cNvPr id="38" name="Google Shape;38;p34"/>
          <p:cNvSpPr txBox="1"/>
          <p:nvPr>
            <p:ph type="ctrTitle"/>
          </p:nvPr>
        </p:nvSpPr>
        <p:spPr>
          <a:xfrm>
            <a:off x="685800" y="1905000"/>
            <a:ext cx="7772400" cy="1470025"/>
          </a:xfrm>
          <a:prstGeom prst="rect">
            <a:avLst/>
          </a:prstGeom>
          <a:noFill/>
          <a:ln>
            <a:noFill/>
          </a:ln>
        </p:spPr>
        <p:txBody>
          <a:bodyPr anchorCtr="0" anchor="ctr" bIns="45700" lIns="91425" spcFirstLastPara="1" rIns="91425" wrap="square" tIns="45700">
            <a:noAutofit/>
          </a:bodyPr>
          <a:lstStyle>
            <a:lvl1pPr lvl="0" algn="ctr">
              <a:spcBef>
                <a:spcPts val="720"/>
              </a:spcBef>
              <a:spcAft>
                <a:spcPts val="0"/>
              </a:spcAft>
              <a:buSzPts val="1400"/>
              <a:buNone/>
              <a:defRPr sz="36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 name="Google Shape;39;p34"/>
          <p:cNvSpPr txBox="1"/>
          <p:nvPr>
            <p:ph idx="1" type="subTitle"/>
          </p:nvPr>
        </p:nvSpPr>
        <p:spPr>
          <a:xfrm>
            <a:off x="1371600" y="41148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560"/>
              </a:spcBef>
              <a:spcAft>
                <a:spcPts val="0"/>
              </a:spcAft>
              <a:buClr>
                <a:srgbClr val="AA9C8F"/>
              </a:buClr>
              <a:buSzPts val="2800"/>
              <a:buFont typeface="Noto Sans Symbols"/>
              <a:buNone/>
              <a:defRPr b="0" i="0" sz="2800" u="none" cap="none" strike="noStrike">
                <a:solidFill>
                  <a:srgbClr val="4D4D4D"/>
                </a:solidFill>
                <a:latin typeface="Calibri"/>
                <a:ea typeface="Calibri"/>
                <a:cs typeface="Calibri"/>
                <a:sym typeface="Calibri"/>
              </a:defRPr>
            </a:lvl1pPr>
            <a:lvl2pPr lvl="1"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lvl="2"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0" name="Shape 40"/>
        <p:cNvGrpSpPr/>
        <p:nvPr/>
      </p:nvGrpSpPr>
      <p:grpSpPr>
        <a:xfrm>
          <a:off x="0" y="0"/>
          <a:ext cx="0" cy="0"/>
          <a:chOff x="0" y="0"/>
          <a:chExt cx="0" cy="0"/>
        </a:xfrm>
      </p:grpSpPr>
      <p:sp>
        <p:nvSpPr>
          <p:cNvPr id="41" name="Google Shape;41;p35"/>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35"/>
          <p:cNvSpPr txBox="1"/>
          <p:nvPr>
            <p:ph idx="1" type="body"/>
          </p:nvPr>
        </p:nvSpPr>
        <p:spPr>
          <a:xfrm>
            <a:off x="663389" y="1120588"/>
            <a:ext cx="8153400" cy="51054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1pPr>
            <a:lvl2pPr indent="-368300" lvl="1" marL="914400" marR="0" rtl="0" algn="l">
              <a:spcBef>
                <a:spcPts val="44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43" name="Shape 43"/>
        <p:cNvGrpSpPr/>
        <p:nvPr/>
      </p:nvGrpSpPr>
      <p:grpSpPr>
        <a:xfrm>
          <a:off x="0" y="0"/>
          <a:ext cx="0" cy="0"/>
          <a:chOff x="0" y="0"/>
          <a:chExt cx="0" cy="0"/>
        </a:xfrm>
      </p:grpSpPr>
      <p:sp>
        <p:nvSpPr>
          <p:cNvPr id="44" name="Google Shape;44;p36"/>
          <p:cNvSpPr txBox="1"/>
          <p:nvPr>
            <p:ph type="title"/>
          </p:nvPr>
        </p:nvSpPr>
        <p:spPr>
          <a:xfrm>
            <a:off x="577850" y="168275"/>
            <a:ext cx="82296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36"/>
          <p:cNvSpPr txBox="1"/>
          <p:nvPr>
            <p:ph idx="1" type="body"/>
          </p:nvPr>
        </p:nvSpPr>
        <p:spPr>
          <a:xfrm>
            <a:off x="577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46" name="Google Shape;46;p36"/>
          <p:cNvSpPr txBox="1"/>
          <p:nvPr>
            <p:ph idx="2" type="body"/>
          </p:nvPr>
        </p:nvSpPr>
        <p:spPr>
          <a:xfrm>
            <a:off x="4768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8.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3.jpg"/><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slideLayout" Target="../slideLayouts/slideLayout8.xml"/><Relationship Id="rId6"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7"/>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chemeClr val="accent2"/>
                </a:solidFill>
                <a:latin typeface="Calibri"/>
                <a:ea typeface="Calibri"/>
                <a:cs typeface="Calibri"/>
                <a:sym typeface="Calibri"/>
              </a:defRPr>
            </a:lvl1pPr>
            <a:lvl2pPr lvl="1"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2pPr>
            <a:lvl3pPr lvl="2"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3pPr>
            <a:lvl4pPr lvl="3"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4pPr>
            <a:lvl5pPr lvl="4"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5pPr>
            <a:lvl6pPr lvl="5"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6pPr>
            <a:lvl7pPr lvl="6"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7pPr>
            <a:lvl8pPr lvl="7"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8pPr>
            <a:lvl9pPr lvl="8"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9pPr>
          </a:lstStyle>
          <a:p/>
        </p:txBody>
      </p:sp>
      <p:cxnSp>
        <p:nvCxnSpPr>
          <p:cNvPr id="11" name="Google Shape;11;p27"/>
          <p:cNvCxnSpPr/>
          <p:nvPr/>
        </p:nvCxnSpPr>
        <p:spPr>
          <a:xfrm>
            <a:off x="76200" y="762000"/>
            <a:ext cx="8763000" cy="1588"/>
          </a:xfrm>
          <a:prstGeom prst="straightConnector1">
            <a:avLst/>
          </a:prstGeom>
          <a:noFill/>
          <a:ln cap="flat" cmpd="sng" w="9525">
            <a:solidFill>
              <a:srgbClr val="AA9C8F"/>
            </a:solidFill>
            <a:prstDash val="solid"/>
            <a:round/>
            <a:headEnd len="sm" w="sm" type="none"/>
            <a:tailEnd len="sm" w="sm" type="none"/>
          </a:ln>
        </p:spPr>
      </p:cxnSp>
      <p:cxnSp>
        <p:nvCxnSpPr>
          <p:cNvPr id="12" name="Google Shape;12;p27"/>
          <p:cNvCxnSpPr/>
          <p:nvPr/>
        </p:nvCxnSpPr>
        <p:spPr>
          <a:xfrm>
            <a:off x="76200" y="6248400"/>
            <a:ext cx="8763000" cy="1588"/>
          </a:xfrm>
          <a:prstGeom prst="straightConnector1">
            <a:avLst/>
          </a:prstGeom>
          <a:noFill/>
          <a:ln cap="flat" cmpd="sng" w="9525">
            <a:solidFill>
              <a:srgbClr val="AA9C8F"/>
            </a:solidFill>
            <a:prstDash val="solid"/>
            <a:round/>
            <a:headEnd len="sm" w="sm" type="none"/>
            <a:tailEnd len="sm" w="sm" type="none"/>
          </a:ln>
        </p:spPr>
      </p:cxnSp>
      <p:pic>
        <p:nvPicPr>
          <p:cNvPr descr="http://www.nanobridge.ca/Portals/0/Images/eng-logo.jpg" id="13" name="Google Shape;13;p27"/>
          <p:cNvPicPr preferRelativeResize="0"/>
          <p:nvPr/>
        </p:nvPicPr>
        <p:blipFill rotWithShape="1">
          <a:blip r:embed="rId1">
            <a:alphaModFix/>
          </a:blip>
          <a:srcRect b="0" l="0" r="0" t="0"/>
          <a:stretch/>
        </p:blipFill>
        <p:spPr>
          <a:xfrm>
            <a:off x="761999" y="6307038"/>
            <a:ext cx="1838325" cy="55245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 name="Shape 28"/>
        <p:cNvGrpSpPr/>
        <p:nvPr/>
      </p:nvGrpSpPr>
      <p:grpSpPr>
        <a:xfrm>
          <a:off x="0" y="0"/>
          <a:ext cx="0" cy="0"/>
          <a:chOff x="0" y="0"/>
          <a:chExt cx="0" cy="0"/>
        </a:xfrm>
      </p:grpSpPr>
      <p:sp>
        <p:nvSpPr>
          <p:cNvPr id="29" name="Google Shape;29;p30"/>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chemeClr val="accent2"/>
                </a:solidFill>
                <a:latin typeface="Calibri"/>
                <a:ea typeface="Calibri"/>
                <a:cs typeface="Calibri"/>
                <a:sym typeface="Calibri"/>
              </a:defRPr>
            </a:lvl1pPr>
            <a:lvl2pPr lvl="1"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2pPr>
            <a:lvl3pPr lvl="2"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3pPr>
            <a:lvl4pPr lvl="3"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4pPr>
            <a:lvl5pPr lvl="4"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5pPr>
            <a:lvl6pPr lvl="5"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6pPr>
            <a:lvl7pPr lvl="6"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7pPr>
            <a:lvl8pPr lvl="7"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8pPr>
            <a:lvl9pPr lvl="8"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9pPr>
          </a:lstStyle>
          <a:p/>
        </p:txBody>
      </p:sp>
      <p:cxnSp>
        <p:nvCxnSpPr>
          <p:cNvPr id="30" name="Google Shape;30;p30"/>
          <p:cNvCxnSpPr/>
          <p:nvPr/>
        </p:nvCxnSpPr>
        <p:spPr>
          <a:xfrm>
            <a:off x="76200" y="762000"/>
            <a:ext cx="8763000" cy="1588"/>
          </a:xfrm>
          <a:prstGeom prst="straightConnector1">
            <a:avLst/>
          </a:prstGeom>
          <a:noFill/>
          <a:ln cap="flat" cmpd="sng" w="9525">
            <a:solidFill>
              <a:srgbClr val="AA9C8F"/>
            </a:solidFill>
            <a:prstDash val="solid"/>
            <a:round/>
            <a:headEnd len="sm" w="sm" type="none"/>
            <a:tailEnd len="sm" w="sm" type="none"/>
          </a:ln>
        </p:spPr>
      </p:cxnSp>
      <p:cxnSp>
        <p:nvCxnSpPr>
          <p:cNvPr id="31" name="Google Shape;31;p30"/>
          <p:cNvCxnSpPr/>
          <p:nvPr/>
        </p:nvCxnSpPr>
        <p:spPr>
          <a:xfrm>
            <a:off x="76200" y="6248400"/>
            <a:ext cx="8763000" cy="1588"/>
          </a:xfrm>
          <a:prstGeom prst="straightConnector1">
            <a:avLst/>
          </a:prstGeom>
          <a:noFill/>
          <a:ln cap="flat" cmpd="sng" w="9525">
            <a:solidFill>
              <a:srgbClr val="AA9C8F"/>
            </a:solidFill>
            <a:prstDash val="solid"/>
            <a:round/>
            <a:headEnd len="sm" w="sm" type="none"/>
            <a:tailEnd len="sm" w="sm" type="none"/>
          </a:ln>
        </p:spPr>
      </p:cxnSp>
      <p:pic>
        <p:nvPicPr>
          <p:cNvPr descr="http://www.nanobridge.ca/Portals/0/Images/eng-logo.jpg" id="32" name="Google Shape;32;p30"/>
          <p:cNvPicPr preferRelativeResize="0"/>
          <p:nvPr/>
        </p:nvPicPr>
        <p:blipFill rotWithShape="1">
          <a:blip r:embed="rId1">
            <a:alphaModFix/>
          </a:blip>
          <a:srcRect b="0" l="0" r="0" t="0"/>
          <a:stretch/>
        </p:blipFill>
        <p:spPr>
          <a:xfrm>
            <a:off x="761999" y="6307038"/>
            <a:ext cx="1838325" cy="55245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4" r:id="rId2"/>
    <p:sldLayoutId id="2147483655" r:id="rId3"/>
    <p:sldLayoutId id="2147483656" r:id="rId4"/>
    <p:sldLayoutId id="2147483657"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1.jpg"/><Relationship Id="rId4" Type="http://schemas.openxmlformats.org/officeDocument/2006/relationships/image" Target="../media/image7.jpg"/><Relationship Id="rId5" Type="http://schemas.openxmlformats.org/officeDocument/2006/relationships/image" Target="../media/image1.png"/><Relationship Id="rId6"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careermetis.com/organization-core-value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
          <p:cNvSpPr txBox="1"/>
          <p:nvPr/>
        </p:nvSpPr>
        <p:spPr>
          <a:xfrm>
            <a:off x="228600" y="838200"/>
            <a:ext cx="8610600" cy="137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3600" u="none" cap="none" strike="noStrike">
                <a:solidFill>
                  <a:srgbClr val="000099"/>
                </a:solidFill>
                <a:latin typeface="Calibri"/>
                <a:ea typeface="Calibri"/>
                <a:cs typeface="Calibri"/>
                <a:sym typeface="Calibri"/>
              </a:rPr>
              <a:t>On Becoming a </a:t>
            </a:r>
            <a:br>
              <a:rPr b="1" i="1" lang="en-US" sz="3600" u="none" cap="none" strike="noStrike">
                <a:solidFill>
                  <a:srgbClr val="000099"/>
                </a:solidFill>
                <a:latin typeface="Calibri"/>
                <a:ea typeface="Calibri"/>
                <a:cs typeface="Calibri"/>
                <a:sym typeface="Calibri"/>
              </a:rPr>
            </a:br>
            <a:r>
              <a:rPr b="1" i="1" lang="en-US" sz="3600" u="none" cap="none" strike="noStrike">
                <a:solidFill>
                  <a:srgbClr val="000099"/>
                </a:solidFill>
                <a:latin typeface="Calibri"/>
                <a:ea typeface="Calibri"/>
                <a:cs typeface="Calibri"/>
                <a:sym typeface="Calibri"/>
              </a:rPr>
              <a:t>Leader in Risk Management</a:t>
            </a:r>
            <a:endParaRPr b="1" i="1" sz="3600" u="none" cap="none" strike="noStrike">
              <a:solidFill>
                <a:srgbClr val="000099"/>
              </a:solidFill>
              <a:latin typeface="Calibri"/>
              <a:ea typeface="Calibri"/>
              <a:cs typeface="Calibri"/>
              <a:sym typeface="Calibri"/>
            </a:endParaRPr>
          </a:p>
        </p:txBody>
      </p:sp>
      <p:sp>
        <p:nvSpPr>
          <p:cNvPr id="52" name="Google Shape;52;p1"/>
          <p:cNvSpPr txBox="1"/>
          <p:nvPr>
            <p:ph idx="1" type="subTitle"/>
          </p:nvPr>
        </p:nvSpPr>
        <p:spPr>
          <a:xfrm>
            <a:off x="838200" y="2105520"/>
            <a:ext cx="7315201" cy="2161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A9C8F"/>
              </a:buClr>
              <a:buSzPts val="3200"/>
              <a:buFont typeface="Noto Sans Symbols"/>
              <a:buNone/>
            </a:pPr>
            <a:r>
              <a:rPr b="1" i="0" lang="en-US" sz="3200" u="none" cap="none" strike="noStrike">
                <a:solidFill>
                  <a:schemeClr val="dk2"/>
                </a:solidFill>
                <a:latin typeface="Arial"/>
                <a:ea typeface="Arial"/>
                <a:cs typeface="Arial"/>
                <a:sym typeface="Arial"/>
              </a:rPr>
              <a:t>ENGG404 - Lecture</a:t>
            </a:r>
            <a:endParaRPr/>
          </a:p>
          <a:p>
            <a:pPr indent="0" lvl="0" marL="0" marR="0" rtl="0" algn="ctr">
              <a:spcBef>
                <a:spcPts val="0"/>
              </a:spcBef>
              <a:spcAft>
                <a:spcPts val="0"/>
              </a:spcAft>
              <a:buClr>
                <a:srgbClr val="AA9C8F"/>
              </a:buClr>
              <a:buSzPts val="3200"/>
              <a:buFont typeface="Noto Sans Symbols"/>
              <a:buNone/>
            </a:pPr>
            <a:r>
              <a:rPr b="1" i="0" lang="en-US" sz="3200" u="none" cap="none" strike="noStrike">
                <a:solidFill>
                  <a:schemeClr val="dk2"/>
                </a:solidFill>
                <a:latin typeface="Arial"/>
                <a:ea typeface="Arial"/>
                <a:cs typeface="Arial"/>
                <a:sym typeface="Arial"/>
              </a:rPr>
              <a:t>Chapter 7.7: Leadership – </a:t>
            </a:r>
            <a:br>
              <a:rPr b="1" i="0" lang="en-US" sz="3200" u="none" cap="none" strike="noStrike">
                <a:solidFill>
                  <a:schemeClr val="dk2"/>
                </a:solidFill>
                <a:latin typeface="Arial"/>
                <a:ea typeface="Arial"/>
                <a:cs typeface="Arial"/>
                <a:sym typeface="Arial"/>
              </a:rPr>
            </a:br>
            <a:r>
              <a:rPr b="1" i="0" lang="en-US" sz="3200" u="none" cap="none" strike="noStrike">
                <a:solidFill>
                  <a:schemeClr val="dk2"/>
                </a:solidFill>
                <a:latin typeface="Arial"/>
                <a:ea typeface="Arial"/>
                <a:cs typeface="Arial"/>
                <a:sym typeface="Arial"/>
              </a:rPr>
              <a:t>What Makes an Effective Leader?</a:t>
            </a:r>
            <a:endParaRPr b="1" i="0" sz="3200" u="none" cap="none" strike="noStrike">
              <a:solidFill>
                <a:schemeClr val="dk2"/>
              </a:solidFill>
              <a:latin typeface="Arial"/>
              <a:ea typeface="Arial"/>
              <a:cs typeface="Arial"/>
              <a:sym typeface="Arial"/>
            </a:endParaRPr>
          </a:p>
        </p:txBody>
      </p:sp>
      <p:sp>
        <p:nvSpPr>
          <p:cNvPr id="53" name="Google Shape;53;p1"/>
          <p:cNvSpPr txBox="1"/>
          <p:nvPr/>
        </p:nvSpPr>
        <p:spPr>
          <a:xfrm>
            <a:off x="152402" y="176015"/>
            <a:ext cx="1176817"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Fundamentals of RM</a:t>
            </a:r>
            <a:endParaRPr/>
          </a:p>
        </p:txBody>
      </p:sp>
      <p:sp>
        <p:nvSpPr>
          <p:cNvPr id="54" name="Google Shape;54;p1"/>
          <p:cNvSpPr txBox="1"/>
          <p:nvPr/>
        </p:nvSpPr>
        <p:spPr>
          <a:xfrm>
            <a:off x="1481037" y="169908"/>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RM System and Process</a:t>
            </a:r>
            <a:endParaRPr/>
          </a:p>
        </p:txBody>
      </p:sp>
      <p:sp>
        <p:nvSpPr>
          <p:cNvPr id="55" name="Google Shape;55;p1"/>
          <p:cNvSpPr txBox="1"/>
          <p:nvPr/>
        </p:nvSpPr>
        <p:spPr>
          <a:xfrm>
            <a:off x="7874130" y="169908"/>
            <a:ext cx="1155550"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Application and Perspectives</a:t>
            </a:r>
            <a:endParaRPr/>
          </a:p>
        </p:txBody>
      </p:sp>
      <p:sp>
        <p:nvSpPr>
          <p:cNvPr id="56" name="Google Shape;56;p1"/>
          <p:cNvSpPr txBox="1"/>
          <p:nvPr/>
        </p:nvSpPr>
        <p:spPr>
          <a:xfrm>
            <a:off x="7051217" y="169908"/>
            <a:ext cx="671096" cy="461665"/>
          </a:xfrm>
          <a:prstGeom prst="rect">
            <a:avLst/>
          </a:prstGeom>
          <a:solidFill>
            <a:srgbClr val="FFFF00"/>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People &amp; Org.</a:t>
            </a:r>
            <a:endParaRPr/>
          </a:p>
        </p:txBody>
      </p:sp>
      <p:sp>
        <p:nvSpPr>
          <p:cNvPr id="57" name="Google Shape;57;p1"/>
          <p:cNvSpPr txBox="1"/>
          <p:nvPr/>
        </p:nvSpPr>
        <p:spPr>
          <a:xfrm>
            <a:off x="3834670" y="169908"/>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Incident Investigation</a:t>
            </a:r>
            <a:endParaRPr/>
          </a:p>
        </p:txBody>
      </p:sp>
      <p:sp>
        <p:nvSpPr>
          <p:cNvPr id="58" name="Google Shape;58;p1"/>
          <p:cNvSpPr txBox="1"/>
          <p:nvPr/>
        </p:nvSpPr>
        <p:spPr>
          <a:xfrm>
            <a:off x="5011486" y="169908"/>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RM Tools &amp; Challenges</a:t>
            </a:r>
            <a:endParaRPr/>
          </a:p>
        </p:txBody>
      </p:sp>
      <p:sp>
        <p:nvSpPr>
          <p:cNvPr id="59" name="Google Shape;59;p1"/>
          <p:cNvSpPr txBox="1"/>
          <p:nvPr/>
        </p:nvSpPr>
        <p:spPr>
          <a:xfrm>
            <a:off x="2657853" y="170432"/>
            <a:ext cx="1024999" cy="461665"/>
          </a:xfrm>
          <a:prstGeom prst="rect">
            <a:avLst/>
          </a:prstGeom>
          <a:solidFill>
            <a:srgbClr val="FFFF00"/>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Leadership in RM</a:t>
            </a:r>
            <a:endParaRPr/>
          </a:p>
        </p:txBody>
      </p:sp>
      <p:cxnSp>
        <p:nvCxnSpPr>
          <p:cNvPr id="60" name="Google Shape;60;p1"/>
          <p:cNvCxnSpPr>
            <a:stCxn id="53" idx="3"/>
            <a:endCxn id="54" idx="1"/>
          </p:cNvCxnSpPr>
          <p:nvPr/>
        </p:nvCxnSpPr>
        <p:spPr>
          <a:xfrm flipH="1" rot="10800000">
            <a:off x="1329219" y="400847"/>
            <a:ext cx="151800" cy="6000"/>
          </a:xfrm>
          <a:prstGeom prst="straightConnector1">
            <a:avLst/>
          </a:prstGeom>
          <a:noFill/>
          <a:ln cap="flat" cmpd="sng" w="9525">
            <a:solidFill>
              <a:schemeClr val="dk1"/>
            </a:solidFill>
            <a:prstDash val="solid"/>
            <a:miter lim="800000"/>
            <a:headEnd len="sm" w="sm" type="none"/>
            <a:tailEnd len="med" w="med" type="triangle"/>
          </a:ln>
        </p:spPr>
      </p:cxnSp>
      <p:cxnSp>
        <p:nvCxnSpPr>
          <p:cNvPr id="61" name="Google Shape;61;p1"/>
          <p:cNvCxnSpPr>
            <a:stCxn id="54" idx="3"/>
            <a:endCxn id="59" idx="1"/>
          </p:cNvCxnSpPr>
          <p:nvPr/>
        </p:nvCxnSpPr>
        <p:spPr>
          <a:xfrm>
            <a:off x="2506036" y="400740"/>
            <a:ext cx="151800" cy="600"/>
          </a:xfrm>
          <a:prstGeom prst="straightConnector1">
            <a:avLst/>
          </a:prstGeom>
          <a:noFill/>
          <a:ln cap="flat" cmpd="sng" w="9525">
            <a:solidFill>
              <a:schemeClr val="dk1"/>
            </a:solidFill>
            <a:prstDash val="solid"/>
            <a:miter lim="800000"/>
            <a:headEnd len="sm" w="sm" type="none"/>
            <a:tailEnd len="med" w="med" type="triangle"/>
          </a:ln>
        </p:spPr>
      </p:cxnSp>
      <p:cxnSp>
        <p:nvCxnSpPr>
          <p:cNvPr id="62" name="Google Shape;62;p1"/>
          <p:cNvCxnSpPr>
            <a:stCxn id="59" idx="3"/>
            <a:endCxn id="57" idx="1"/>
          </p:cNvCxnSpPr>
          <p:nvPr/>
        </p:nvCxnSpPr>
        <p:spPr>
          <a:xfrm flipH="1" rot="10800000">
            <a:off x="3682852" y="400664"/>
            <a:ext cx="151800" cy="600"/>
          </a:xfrm>
          <a:prstGeom prst="straightConnector1">
            <a:avLst/>
          </a:prstGeom>
          <a:noFill/>
          <a:ln cap="flat" cmpd="sng" w="9525">
            <a:solidFill>
              <a:schemeClr val="dk1"/>
            </a:solidFill>
            <a:prstDash val="solid"/>
            <a:miter lim="800000"/>
            <a:headEnd len="sm" w="sm" type="none"/>
            <a:tailEnd len="med" w="med" type="triangle"/>
          </a:ln>
        </p:spPr>
      </p:cxnSp>
      <p:cxnSp>
        <p:nvCxnSpPr>
          <p:cNvPr id="63" name="Google Shape;63;p1"/>
          <p:cNvCxnSpPr>
            <a:stCxn id="57" idx="3"/>
            <a:endCxn id="58" idx="1"/>
          </p:cNvCxnSpPr>
          <p:nvPr/>
        </p:nvCxnSpPr>
        <p:spPr>
          <a:xfrm>
            <a:off x="4859669" y="400740"/>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64" name="Google Shape;64;p1"/>
          <p:cNvCxnSpPr>
            <a:stCxn id="58" idx="3"/>
          </p:cNvCxnSpPr>
          <p:nvPr/>
        </p:nvCxnSpPr>
        <p:spPr>
          <a:xfrm>
            <a:off x="6036485" y="400740"/>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65" name="Google Shape;65;p1"/>
          <p:cNvCxnSpPr>
            <a:endCxn id="56" idx="1"/>
          </p:cNvCxnSpPr>
          <p:nvPr/>
        </p:nvCxnSpPr>
        <p:spPr>
          <a:xfrm>
            <a:off x="6899417" y="400740"/>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66" name="Google Shape;66;p1"/>
          <p:cNvCxnSpPr>
            <a:stCxn id="56" idx="3"/>
            <a:endCxn id="55" idx="1"/>
          </p:cNvCxnSpPr>
          <p:nvPr/>
        </p:nvCxnSpPr>
        <p:spPr>
          <a:xfrm>
            <a:off x="7722313" y="400740"/>
            <a:ext cx="151800" cy="0"/>
          </a:xfrm>
          <a:prstGeom prst="straightConnector1">
            <a:avLst/>
          </a:prstGeom>
          <a:noFill/>
          <a:ln cap="flat" cmpd="sng" w="9525">
            <a:solidFill>
              <a:schemeClr val="dk1"/>
            </a:solidFill>
            <a:prstDash val="solid"/>
            <a:miter lim="800000"/>
            <a:headEnd len="sm" w="sm" type="none"/>
            <a:tailEnd len="med" w="med" type="triangle"/>
          </a:ln>
        </p:spPr>
      </p:cxnSp>
      <p:sp>
        <p:nvSpPr>
          <p:cNvPr id="67" name="Google Shape;67;p1"/>
          <p:cNvSpPr txBox="1"/>
          <p:nvPr/>
        </p:nvSpPr>
        <p:spPr>
          <a:xfrm>
            <a:off x="6188301" y="169907"/>
            <a:ext cx="692362"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RM in Industry</a:t>
            </a:r>
            <a:endParaRPr/>
          </a:p>
        </p:txBody>
      </p:sp>
      <p:pic>
        <p:nvPicPr>
          <p:cNvPr id="68" name="Google Shape;68;p1"/>
          <p:cNvPicPr preferRelativeResize="0"/>
          <p:nvPr/>
        </p:nvPicPr>
        <p:blipFill rotWithShape="1">
          <a:blip r:embed="rId3">
            <a:alphaModFix/>
          </a:blip>
          <a:srcRect b="0" l="0" r="0" t="0"/>
          <a:stretch/>
        </p:blipFill>
        <p:spPr>
          <a:xfrm>
            <a:off x="891182" y="4114800"/>
            <a:ext cx="1766671" cy="1766671"/>
          </a:xfrm>
          <a:prstGeom prst="rect">
            <a:avLst/>
          </a:prstGeom>
          <a:noFill/>
          <a:ln>
            <a:noFill/>
          </a:ln>
        </p:spPr>
      </p:pic>
      <p:pic>
        <p:nvPicPr>
          <p:cNvPr descr="Introduction to Sociology - 2013 - The Collaboratory" id="69" name="Google Shape;69;p1"/>
          <p:cNvPicPr preferRelativeResize="0"/>
          <p:nvPr/>
        </p:nvPicPr>
        <p:blipFill rotWithShape="1">
          <a:blip r:embed="rId4">
            <a:alphaModFix/>
          </a:blip>
          <a:srcRect b="0" l="0" r="0" t="0"/>
          <a:stretch/>
        </p:blipFill>
        <p:spPr>
          <a:xfrm>
            <a:off x="6096500" y="4114613"/>
            <a:ext cx="2590300" cy="176685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2"/>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Explain the difference between “managers and leaders”. </a:t>
            </a:r>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Explain the concept of “Leadership” in the context of risk management. </a:t>
            </a:r>
            <a:endParaRPr b="0" i="0" sz="20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Explain and diagram “Our Personal Iceberg” Model, and why it is critically important that our actions are consistent with our intentions.</a:t>
            </a:r>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Begin a process to determine your personal values. </a:t>
            </a:r>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Analyse a basic scenario with alternative choices, and determine the values on which those choices are based. </a:t>
            </a:r>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Explain that good and effective leadership is founded on good values:</a:t>
            </a:r>
            <a:endParaRPr/>
          </a:p>
          <a:p>
            <a:pPr indent="-359999" lvl="0" marL="72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Explain how good characteristics and actions of leaders can positively influence the culture of an organization;</a:t>
            </a:r>
            <a:endParaRPr/>
          </a:p>
          <a:p>
            <a:pPr indent="-359999" lvl="0" marL="72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Explain the importance of the organization’s values, the leader’s values, the leader’s intentions, and the leader’s actions;</a:t>
            </a:r>
            <a:endParaRPr/>
          </a:p>
          <a:p>
            <a:pPr indent="-359999" lvl="0" marL="72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Explain that the leader’s actions must be consistent with their intention and values;</a:t>
            </a:r>
            <a:endParaRPr/>
          </a:p>
          <a:p>
            <a:pPr indent="-359999" lvl="0" marL="72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Explain the importance that the values of the leader must be congruent with the values of the organization. </a:t>
            </a:r>
            <a:endParaRPr b="0" i="0" sz="2000" u="none" cap="none" strike="noStrike">
              <a:solidFill>
                <a:srgbClr val="000000"/>
              </a:solidFill>
              <a:latin typeface="Arial"/>
              <a:ea typeface="Arial"/>
              <a:cs typeface="Arial"/>
              <a:sym typeface="Arial"/>
            </a:endParaRPr>
          </a:p>
          <a:p>
            <a:pPr indent="-233000" lvl="0" marL="360000" marR="0" rtl="0" algn="l">
              <a:lnSpc>
                <a:spcPct val="9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1" i="0" lang="en-US" sz="2000" u="none" cap="none" strike="noStrike">
                <a:solidFill>
                  <a:srgbClr val="000000"/>
                </a:solidFill>
                <a:latin typeface="Arial"/>
                <a:ea typeface="Arial"/>
                <a:cs typeface="Arial"/>
                <a:sym typeface="Arial"/>
              </a:rPr>
              <a:t>Key Lesson: Leaders make positive things happen (in a principled manner) that would not have otherwise happened.</a:t>
            </a:r>
            <a:endParaRPr/>
          </a:p>
        </p:txBody>
      </p:sp>
      <p:sp>
        <p:nvSpPr>
          <p:cNvPr id="76" name="Google Shape;76;p2"/>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Learning Outcomes:</a:t>
            </a:r>
            <a:endParaRPr/>
          </a:p>
        </p:txBody>
      </p:sp>
      <p:sp>
        <p:nvSpPr>
          <p:cNvPr id="77" name="Google Shape;77;p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78" name="Google Shape;78;p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7.7: Leadership – What Makes an Effective Leader?</a:t>
            </a:r>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Significant study and experience condensed the vast topic of leadership:</a:t>
            </a:r>
            <a:endParaRPr/>
          </a:p>
          <a:p>
            <a:pPr indent="-305000" lvl="0" marL="432000" marR="0" rtl="0" algn="l">
              <a:lnSpc>
                <a:spcPct val="9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0" lvl="1" marL="133350" marR="0" rtl="0" algn="l">
              <a:lnSpc>
                <a:spcPct val="90000"/>
              </a:lnSpc>
              <a:spcBef>
                <a:spcPts val="0"/>
              </a:spcBef>
              <a:spcAft>
                <a:spcPts val="0"/>
              </a:spcAft>
              <a:buClr>
                <a:srgbClr val="000000"/>
              </a:buClr>
              <a:buSzPts val="2000"/>
              <a:buFont typeface="Arial"/>
              <a:buNone/>
            </a:pPr>
            <a:r>
              <a:rPr b="0" i="1" lang="en-US" sz="2000" u="none" cap="none" strike="noStrike">
                <a:solidFill>
                  <a:srgbClr val="000000"/>
                </a:solidFill>
                <a:latin typeface="Arial"/>
                <a:ea typeface="Arial"/>
                <a:cs typeface="Arial"/>
                <a:sym typeface="Arial"/>
              </a:rPr>
              <a:t>“</a:t>
            </a:r>
            <a:r>
              <a:rPr b="0" i="1" lang="en-US" sz="2000" u="sng" cap="none" strike="noStrike">
                <a:solidFill>
                  <a:srgbClr val="000000"/>
                </a:solidFill>
                <a:latin typeface="Arial"/>
                <a:ea typeface="Arial"/>
                <a:cs typeface="Arial"/>
                <a:sym typeface="Arial"/>
              </a:rPr>
              <a:t>Leadership</a:t>
            </a:r>
            <a:r>
              <a:rPr b="0" i="1" lang="en-US" sz="2000" u="none" cap="none" strike="noStrike">
                <a:solidFill>
                  <a:srgbClr val="000000"/>
                </a:solidFill>
                <a:latin typeface="Arial"/>
                <a:ea typeface="Arial"/>
                <a:cs typeface="Arial"/>
                <a:sym typeface="Arial"/>
              </a:rPr>
              <a:t> is the use of </a:t>
            </a:r>
            <a:r>
              <a:rPr b="0" i="1" lang="en-US" sz="2000" u="sng" cap="none" strike="noStrike">
                <a:solidFill>
                  <a:srgbClr val="000000"/>
                </a:solidFill>
                <a:latin typeface="Arial"/>
                <a:ea typeface="Arial"/>
                <a:cs typeface="Arial"/>
                <a:sym typeface="Arial"/>
              </a:rPr>
              <a:t>power and influence</a:t>
            </a:r>
            <a:r>
              <a:rPr b="0" i="1" lang="en-US" sz="2000" u="none" cap="none" strike="noStrike">
                <a:solidFill>
                  <a:srgbClr val="000000"/>
                </a:solidFill>
                <a:latin typeface="Arial"/>
                <a:ea typeface="Arial"/>
                <a:cs typeface="Arial"/>
                <a:sym typeface="Arial"/>
              </a:rPr>
              <a:t> to direct the activities of followers </a:t>
            </a:r>
            <a:r>
              <a:rPr b="0" i="1" lang="en-US" sz="2000" u="sng" cap="none" strike="noStrike">
                <a:solidFill>
                  <a:srgbClr val="000000"/>
                </a:solidFill>
                <a:latin typeface="Arial"/>
                <a:ea typeface="Arial"/>
                <a:cs typeface="Arial"/>
                <a:sym typeface="Arial"/>
              </a:rPr>
              <a:t>toward goal achievement</a:t>
            </a:r>
            <a:r>
              <a:rPr b="0" i="1" lang="en-US" sz="2000" u="none" cap="none" strike="noStrike">
                <a:solidFill>
                  <a:srgbClr val="000000"/>
                </a:solidFill>
                <a:latin typeface="Arial"/>
                <a:ea typeface="Arial"/>
                <a:cs typeface="Arial"/>
                <a:sym typeface="Arial"/>
              </a:rPr>
              <a:t>. </a:t>
            </a:r>
            <a:endParaRPr/>
          </a:p>
          <a:p>
            <a:pPr indent="0" lvl="1" marL="133350" marR="0" rtl="0" algn="l">
              <a:lnSpc>
                <a:spcPct val="90000"/>
              </a:lnSpc>
              <a:spcBef>
                <a:spcPts val="0"/>
              </a:spcBef>
              <a:spcAft>
                <a:spcPts val="0"/>
              </a:spcAft>
              <a:buClr>
                <a:srgbClr val="000000"/>
              </a:buClr>
              <a:buSzPts val="2000"/>
              <a:buFont typeface="Arial"/>
              <a:buNone/>
            </a:pPr>
            <a:r>
              <a:t/>
            </a:r>
            <a:endParaRPr b="0" i="1" sz="2000" u="none" cap="none" strike="noStrike">
              <a:solidFill>
                <a:srgbClr val="000000"/>
              </a:solidFill>
              <a:latin typeface="Arial"/>
              <a:ea typeface="Arial"/>
              <a:cs typeface="Arial"/>
              <a:sym typeface="Arial"/>
            </a:endParaRPr>
          </a:p>
          <a:p>
            <a:pPr indent="0" lvl="1" marL="133350" marR="0" rtl="0" algn="l">
              <a:lnSpc>
                <a:spcPct val="90000"/>
              </a:lnSpc>
              <a:spcBef>
                <a:spcPts val="0"/>
              </a:spcBef>
              <a:spcAft>
                <a:spcPts val="0"/>
              </a:spcAft>
              <a:buClr>
                <a:srgbClr val="000000"/>
              </a:buClr>
              <a:buSzPts val="2000"/>
              <a:buFont typeface="Arial"/>
              <a:buNone/>
            </a:pPr>
            <a:r>
              <a:rPr b="0" i="1" lang="en-US" sz="2000" u="none" cap="none" strike="noStrike">
                <a:solidFill>
                  <a:srgbClr val="000000"/>
                </a:solidFill>
                <a:latin typeface="Arial"/>
                <a:ea typeface="Arial"/>
                <a:cs typeface="Arial"/>
                <a:sym typeface="Arial"/>
              </a:rPr>
              <a:t>To accomplish this, a leader is </a:t>
            </a:r>
            <a:r>
              <a:rPr b="0" i="1" lang="en-US" sz="2000" u="sng" cap="none" strike="noStrike">
                <a:solidFill>
                  <a:srgbClr val="000000"/>
                </a:solidFill>
                <a:latin typeface="Arial"/>
                <a:ea typeface="Arial"/>
                <a:cs typeface="Arial"/>
                <a:sym typeface="Arial"/>
              </a:rPr>
              <a:t>entrusted with people and resources</a:t>
            </a:r>
            <a:r>
              <a:rPr b="0" i="1" lang="en-US" sz="2000" u="none" cap="none" strike="noStrike">
                <a:solidFill>
                  <a:srgbClr val="000000"/>
                </a:solidFill>
                <a:latin typeface="Arial"/>
                <a:ea typeface="Arial"/>
                <a:cs typeface="Arial"/>
                <a:sym typeface="Arial"/>
              </a:rPr>
              <a:t> to </a:t>
            </a:r>
            <a:r>
              <a:rPr b="0" i="1" lang="en-US" sz="2000" u="sng" cap="none" strike="noStrike">
                <a:solidFill>
                  <a:srgbClr val="000000"/>
                </a:solidFill>
                <a:latin typeface="Arial"/>
                <a:ea typeface="Arial"/>
                <a:cs typeface="Arial"/>
                <a:sym typeface="Arial"/>
              </a:rPr>
              <a:t>add value</a:t>
            </a:r>
            <a:r>
              <a:rPr b="0" i="1" lang="en-US" sz="2000" u="none" cap="none" strike="noStrike">
                <a:solidFill>
                  <a:srgbClr val="000000"/>
                </a:solidFill>
                <a:latin typeface="Arial"/>
                <a:ea typeface="Arial"/>
                <a:cs typeface="Arial"/>
                <a:sym typeface="Arial"/>
              </a:rPr>
              <a:t> to the business in a </a:t>
            </a:r>
            <a:r>
              <a:rPr b="0" i="1" lang="en-US" sz="2000" u="sng" cap="none" strike="noStrike">
                <a:solidFill>
                  <a:srgbClr val="000000"/>
                </a:solidFill>
                <a:latin typeface="Arial"/>
                <a:ea typeface="Arial"/>
                <a:cs typeface="Arial"/>
                <a:sym typeface="Arial"/>
              </a:rPr>
              <a:t>principled</a:t>
            </a:r>
            <a:r>
              <a:rPr b="0" i="1" lang="en-US" sz="2000" u="none" cap="none" strike="noStrike">
                <a:solidFill>
                  <a:srgbClr val="000000"/>
                </a:solidFill>
                <a:latin typeface="Arial"/>
                <a:ea typeface="Arial"/>
                <a:cs typeface="Arial"/>
                <a:sym typeface="Arial"/>
              </a:rPr>
              <a:t> (legal, ethical, moral) </a:t>
            </a:r>
            <a:r>
              <a:rPr b="0" i="1" lang="en-US" sz="2000" u="sng" cap="none" strike="noStrike">
                <a:solidFill>
                  <a:srgbClr val="000000"/>
                </a:solidFill>
                <a:latin typeface="Arial"/>
                <a:ea typeface="Arial"/>
                <a:cs typeface="Arial"/>
                <a:sym typeface="Arial"/>
              </a:rPr>
              <a:t>way</a:t>
            </a:r>
            <a:r>
              <a:rPr b="0" i="1" lang="en-US" sz="2000" u="none" cap="none" strike="noStrike">
                <a:solidFill>
                  <a:srgbClr val="000000"/>
                </a:solidFill>
                <a:latin typeface="Arial"/>
                <a:ea typeface="Arial"/>
                <a:cs typeface="Arial"/>
                <a:sym typeface="Arial"/>
              </a:rPr>
              <a:t>. </a:t>
            </a:r>
            <a:endParaRPr/>
          </a:p>
          <a:p>
            <a:pPr indent="0" lvl="1" marL="133350" marR="0" rtl="0" algn="l">
              <a:lnSpc>
                <a:spcPct val="90000"/>
              </a:lnSpc>
              <a:spcBef>
                <a:spcPts val="0"/>
              </a:spcBef>
              <a:spcAft>
                <a:spcPts val="0"/>
              </a:spcAft>
              <a:buClr>
                <a:srgbClr val="000000"/>
              </a:buClr>
              <a:buSzPts val="2000"/>
              <a:buFont typeface="Arial"/>
              <a:buNone/>
            </a:pPr>
            <a:r>
              <a:t/>
            </a:r>
            <a:endParaRPr b="0" i="1" sz="2000" u="none" cap="none" strike="noStrike">
              <a:solidFill>
                <a:srgbClr val="000000"/>
              </a:solidFill>
              <a:latin typeface="Arial"/>
              <a:ea typeface="Arial"/>
              <a:cs typeface="Arial"/>
              <a:sym typeface="Arial"/>
            </a:endParaRPr>
          </a:p>
          <a:p>
            <a:pPr indent="0" lvl="1" marL="133350" marR="0" rtl="0" algn="l">
              <a:lnSpc>
                <a:spcPct val="90000"/>
              </a:lnSpc>
              <a:spcBef>
                <a:spcPts val="0"/>
              </a:spcBef>
              <a:spcAft>
                <a:spcPts val="0"/>
              </a:spcAft>
              <a:buClr>
                <a:srgbClr val="000000"/>
              </a:buClr>
              <a:buSzPts val="2000"/>
              <a:buFont typeface="Arial"/>
              <a:buNone/>
            </a:pPr>
            <a:r>
              <a:rPr b="0" i="1" lang="en-US" sz="2000" u="none" cap="none" strike="noStrike">
                <a:solidFill>
                  <a:srgbClr val="000000"/>
                </a:solidFill>
                <a:latin typeface="Arial"/>
                <a:ea typeface="Arial"/>
                <a:cs typeface="Arial"/>
                <a:sym typeface="Arial"/>
              </a:rPr>
              <a:t>A </a:t>
            </a:r>
            <a:r>
              <a:rPr b="0" i="1" lang="en-US" sz="2000" u="sng" cap="none" strike="noStrike">
                <a:solidFill>
                  <a:srgbClr val="000000"/>
                </a:solidFill>
                <a:latin typeface="Arial"/>
                <a:ea typeface="Arial"/>
                <a:cs typeface="Arial"/>
                <a:sym typeface="Arial"/>
              </a:rPr>
              <a:t>leader adds value by supporting their employees</a:t>
            </a:r>
            <a:r>
              <a:rPr b="0" i="1" lang="en-US" sz="2000" u="none" cap="none" strike="noStrike">
                <a:solidFill>
                  <a:srgbClr val="000000"/>
                </a:solidFill>
                <a:latin typeface="Arial"/>
                <a:ea typeface="Arial"/>
                <a:cs typeface="Arial"/>
                <a:sym typeface="Arial"/>
              </a:rPr>
              <a:t> in a team or business unit so that they can do their jobs better.” </a:t>
            </a:r>
            <a:endParaRPr/>
          </a:p>
          <a:p>
            <a:pPr indent="0" lvl="1" marL="133350" marR="0" rtl="0" algn="l">
              <a:lnSpc>
                <a:spcPct val="90000"/>
              </a:lnSpc>
              <a:spcBef>
                <a:spcPts val="0"/>
              </a:spcBef>
              <a:spcAft>
                <a:spcPts val="0"/>
              </a:spcAft>
              <a:buClr>
                <a:srgbClr val="000000"/>
              </a:buClr>
              <a:buSzPts val="2000"/>
              <a:buFont typeface="Arial"/>
              <a:buNone/>
            </a:pPr>
            <a:r>
              <a:t/>
            </a:r>
            <a:endParaRPr b="0" i="1" sz="2000" u="none" cap="none" strike="noStrike">
              <a:solidFill>
                <a:srgbClr val="000000"/>
              </a:solidFill>
              <a:latin typeface="Arial"/>
              <a:ea typeface="Arial"/>
              <a:cs typeface="Arial"/>
              <a:sym typeface="Arial"/>
            </a:endParaRPr>
          </a:p>
          <a:p>
            <a:pPr indent="0" lvl="1" marL="133350" marR="0" rtl="0" algn="l">
              <a:lnSpc>
                <a:spcPct val="90000"/>
              </a:lnSpc>
              <a:spcBef>
                <a:spcPts val="0"/>
              </a:spcBef>
              <a:spcAft>
                <a:spcPts val="0"/>
              </a:spcAft>
              <a:buClr>
                <a:srgbClr val="000000"/>
              </a:buClr>
              <a:buSzPts val="2000"/>
              <a:buFont typeface="Arial"/>
              <a:buNone/>
            </a:pPr>
            <a:r>
              <a:rPr b="0" i="1" lang="en-US" sz="2000" u="none" cap="none" strike="noStrike">
                <a:solidFill>
                  <a:srgbClr val="000000"/>
                </a:solidFill>
                <a:latin typeface="Arial"/>
                <a:ea typeface="Arial"/>
                <a:cs typeface="Arial"/>
                <a:sym typeface="Arial"/>
              </a:rPr>
              <a:t>Gord Winkel, 2013.</a:t>
            </a:r>
            <a:endParaRPr/>
          </a:p>
          <a:p>
            <a:pPr indent="-305000" lvl="0" marL="432000" marR="0" rtl="0" algn="l">
              <a:lnSpc>
                <a:spcPct val="9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It could be further condensed as: </a:t>
            </a:r>
            <a:endParaRPr b="1" i="0" sz="2000" u="none" cap="none" strike="noStrike">
              <a:solidFill>
                <a:srgbClr val="000000"/>
              </a:solidFill>
              <a:latin typeface="Arial"/>
              <a:ea typeface="Arial"/>
              <a:cs typeface="Arial"/>
              <a:sym typeface="Arial"/>
            </a:endParaRPr>
          </a:p>
          <a:p>
            <a:pPr indent="0" lvl="1" marL="0" marR="0" rtl="0" algn="ctr">
              <a:lnSpc>
                <a:spcPct val="90000"/>
              </a:lnSpc>
              <a:spcBef>
                <a:spcPts val="0"/>
              </a:spcBef>
              <a:spcAft>
                <a:spcPts val="0"/>
              </a:spcAft>
              <a:buClr>
                <a:srgbClr val="000000"/>
              </a:buClr>
              <a:buSzPts val="2000"/>
              <a:buFont typeface="Arial"/>
              <a:buNone/>
            </a:pPr>
            <a:r>
              <a:rPr b="1" i="1" lang="en-US" sz="2000" u="none" cap="none" strike="noStrike">
                <a:solidFill>
                  <a:srgbClr val="000000"/>
                </a:solidFill>
                <a:latin typeface="Arial"/>
                <a:ea typeface="Arial"/>
                <a:cs typeface="Arial"/>
                <a:sym typeface="Arial"/>
              </a:rPr>
              <a:t>“Leaders make positive things happen in a principled </a:t>
            </a:r>
            <a:br>
              <a:rPr b="1" i="1" lang="en-US" sz="2000" u="none" cap="none" strike="noStrike">
                <a:solidFill>
                  <a:srgbClr val="000000"/>
                </a:solidFill>
                <a:latin typeface="Arial"/>
                <a:ea typeface="Arial"/>
                <a:cs typeface="Arial"/>
                <a:sym typeface="Arial"/>
              </a:rPr>
            </a:br>
            <a:r>
              <a:rPr b="1" i="1" lang="en-US" sz="2000" u="none" cap="none" strike="noStrike">
                <a:solidFill>
                  <a:srgbClr val="000000"/>
                </a:solidFill>
                <a:latin typeface="Arial"/>
                <a:ea typeface="Arial"/>
                <a:cs typeface="Arial"/>
                <a:sym typeface="Arial"/>
              </a:rPr>
              <a:t>manner that would not have otherwise happened.”</a:t>
            </a:r>
            <a:endParaRPr b="1" i="1" sz="2000" u="none" cap="none" strike="noStrike">
              <a:solidFill>
                <a:srgbClr val="000000"/>
              </a:solidFill>
              <a:latin typeface="Arial"/>
              <a:ea typeface="Arial"/>
              <a:cs typeface="Arial"/>
              <a:sym typeface="Arial"/>
            </a:endParaRPr>
          </a:p>
        </p:txBody>
      </p:sp>
      <p:sp>
        <p:nvSpPr>
          <p:cNvPr id="85" name="Google Shape;85;p3"/>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Q: What is Effective Leadership? </a:t>
            </a:r>
            <a:endParaRPr/>
          </a:p>
        </p:txBody>
      </p:sp>
      <p:sp>
        <p:nvSpPr>
          <p:cNvPr id="86" name="Google Shape;86;p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87" name="Google Shape;87;p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7.7: Leadership – What Makes an Effective Leader?</a:t>
            </a:r>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4"/>
          <p:cNvSpPr txBox="1"/>
          <p:nvPr/>
        </p:nvSpPr>
        <p:spPr>
          <a:xfrm>
            <a:off x="180000" y="828000"/>
            <a:ext cx="8640000" cy="53280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1800" u="none" cap="none" strike="noStrike">
                <a:solidFill>
                  <a:schemeClr val="lt1"/>
                </a:solidFill>
                <a:latin typeface="Arial"/>
                <a:ea typeface="Arial"/>
                <a:cs typeface="Arial"/>
                <a:sym typeface="Arial"/>
              </a:rPr>
              <a:t>Managing safety provides a solid basis for an organization to achieve compliance, but an emphasis on leadership is needed to achieve significantly higher levels of safety &amp; business performance. </a:t>
            </a:r>
            <a:endParaRPr/>
          </a:p>
          <a:p>
            <a:pPr indent="-482600" lvl="0" marL="609600" marR="0" rtl="0" algn="l">
              <a:lnSpc>
                <a:spcPct val="100000"/>
              </a:lnSpc>
              <a:spcBef>
                <a:spcPts val="0"/>
              </a:spcBef>
              <a:spcAft>
                <a:spcPts val="0"/>
              </a:spcAft>
              <a:buClr>
                <a:srgbClr val="000000"/>
              </a:buClr>
              <a:buSzPts val="2000"/>
              <a:buFont typeface="Noto Sans Symbols"/>
              <a:buNone/>
            </a:pPr>
            <a:r>
              <a:t/>
            </a:r>
            <a:endParaRPr b="0" i="0" sz="1800" u="none" cap="none" strike="noStrike">
              <a:solidFill>
                <a:schemeClr val="lt1"/>
              </a:solidFill>
              <a:latin typeface="Arial"/>
              <a:ea typeface="Arial"/>
              <a:cs typeface="Arial"/>
              <a:sym typeface="Arial"/>
            </a:endParaRPr>
          </a:p>
        </p:txBody>
      </p:sp>
      <p:sp>
        <p:nvSpPr>
          <p:cNvPr id="96" name="Google Shape;96;p4"/>
          <p:cNvSpPr/>
          <p:nvPr/>
        </p:nvSpPr>
        <p:spPr>
          <a:xfrm>
            <a:off x="180000" y="180000"/>
            <a:ext cx="8640000" cy="504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Comparison of Managers and Leaders – Risk Management:</a:t>
            </a:r>
            <a:endParaRPr b="0" i="0" sz="2400" u="none" cap="none" strike="noStrike">
              <a:solidFill>
                <a:schemeClr val="lt1"/>
              </a:solidFill>
              <a:latin typeface="Arial"/>
              <a:ea typeface="Arial"/>
              <a:cs typeface="Arial"/>
              <a:sym typeface="Arial"/>
            </a:endParaRPr>
          </a:p>
        </p:txBody>
      </p:sp>
      <p:graphicFrame>
        <p:nvGraphicFramePr>
          <p:cNvPr id="97" name="Google Shape;97;p4"/>
          <p:cNvGraphicFramePr/>
          <p:nvPr/>
        </p:nvGraphicFramePr>
        <p:xfrm>
          <a:off x="362309" y="1811528"/>
          <a:ext cx="3000000" cy="3000000"/>
        </p:xfrm>
        <a:graphic>
          <a:graphicData uri="http://schemas.openxmlformats.org/drawingml/2006/table">
            <a:tbl>
              <a:tblPr>
                <a:noFill/>
                <a:tableStyleId>{D6DD65D9-105A-4975-98CF-511A05119F41}</a:tableStyleId>
              </a:tblPr>
              <a:tblGrid>
                <a:gridCol w="3726125"/>
                <a:gridCol w="4607000"/>
              </a:tblGrid>
              <a:tr h="370850">
                <a:tc>
                  <a:txBody>
                    <a:bodyPr/>
                    <a:lstStyle/>
                    <a:p>
                      <a:pPr indent="0" lvl="0" marL="0" marR="0" rtl="0" algn="ctr">
                        <a:lnSpc>
                          <a:spcPct val="90000"/>
                        </a:lnSpc>
                        <a:spcBef>
                          <a:spcPts val="0"/>
                        </a:spcBef>
                        <a:spcAft>
                          <a:spcPts val="0"/>
                        </a:spcAft>
                        <a:buNone/>
                      </a:pPr>
                      <a:r>
                        <a:rPr b="1" i="0" lang="en-US" sz="1800" u="none" cap="none" strike="noStrike">
                          <a:solidFill>
                            <a:srgbClr val="000000"/>
                          </a:solidFill>
                          <a:latin typeface="Arial"/>
                          <a:ea typeface="Arial"/>
                          <a:cs typeface="Arial"/>
                          <a:sym typeface="Arial"/>
                        </a:rPr>
                        <a:t>Managers</a:t>
                      </a:r>
                      <a:endParaRPr b="1" i="0" sz="1800" u="none" cap="none" strike="noStrike">
                        <a:solidFill>
                          <a:srgbClr val="000000"/>
                        </a:solidFill>
                        <a:latin typeface="Arial"/>
                        <a:ea typeface="Arial"/>
                        <a:cs typeface="Arial"/>
                        <a:sym typeface="Arial"/>
                      </a:endParaRPr>
                    </a:p>
                  </a:txBody>
                  <a:tcPr marT="45725" marB="45725" marR="45725" marL="457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FF"/>
                    </a:solidFill>
                  </a:tcPr>
                </a:tc>
                <a:tc>
                  <a:txBody>
                    <a:bodyPr/>
                    <a:lstStyle/>
                    <a:p>
                      <a:pPr indent="0" lvl="0" marL="0" marR="0" rtl="0" algn="ctr">
                        <a:lnSpc>
                          <a:spcPct val="90000"/>
                        </a:lnSpc>
                        <a:spcBef>
                          <a:spcPts val="0"/>
                        </a:spcBef>
                        <a:spcAft>
                          <a:spcPts val="0"/>
                        </a:spcAft>
                        <a:buNone/>
                      </a:pPr>
                      <a:r>
                        <a:rPr b="1" i="0" lang="en-US" sz="1800" u="none" cap="none" strike="noStrike">
                          <a:solidFill>
                            <a:srgbClr val="000000"/>
                          </a:solidFill>
                          <a:latin typeface="Arial"/>
                          <a:ea typeface="Arial"/>
                          <a:cs typeface="Arial"/>
                          <a:sym typeface="Arial"/>
                        </a:rPr>
                        <a:t>Leaders</a:t>
                      </a:r>
                      <a:endParaRPr b="1" i="0" sz="1800" u="none" cap="none" strike="noStrike">
                        <a:solidFill>
                          <a:srgbClr val="000000"/>
                        </a:solidFill>
                        <a:latin typeface="Arial"/>
                        <a:ea typeface="Arial"/>
                        <a:cs typeface="Arial"/>
                        <a:sym typeface="Arial"/>
                      </a:endParaRPr>
                    </a:p>
                  </a:txBody>
                  <a:tcPr marT="45725" marB="45725" marR="45725" marL="457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FF"/>
                    </a:solidFill>
                  </a:tcPr>
                </a:tc>
              </a:tr>
              <a:tr h="370850">
                <a:tc>
                  <a:txBody>
                    <a:bodyPr/>
                    <a:lstStyle/>
                    <a:p>
                      <a:pPr indent="0" lvl="0" marL="0" marR="0" rtl="0" algn="l">
                        <a:lnSpc>
                          <a:spcPct val="90000"/>
                        </a:lnSpc>
                        <a:spcBef>
                          <a:spcPts val="0"/>
                        </a:spcBef>
                        <a:spcAft>
                          <a:spcPts val="0"/>
                        </a:spcAft>
                        <a:buClr>
                          <a:srgbClr val="000000"/>
                        </a:buClr>
                        <a:buSzPts val="2000"/>
                        <a:buFont typeface="Arial"/>
                        <a:buNone/>
                      </a:pPr>
                      <a:r>
                        <a:rPr b="0" i="0" lang="en-US" sz="1800" u="none" cap="none" strike="noStrike">
                          <a:solidFill>
                            <a:srgbClr val="000000"/>
                          </a:solidFill>
                          <a:latin typeface="Arial"/>
                          <a:ea typeface="Arial"/>
                          <a:cs typeface="Arial"/>
                          <a:sym typeface="Arial"/>
                        </a:rPr>
                        <a:t>Focus on systems, processes, programs, and the “status quo” (maintain performance)</a:t>
                      </a:r>
                      <a:endParaRPr b="0" i="0" sz="1800" u="none" cap="none" strike="noStrike">
                        <a:solidFill>
                          <a:srgbClr val="000000"/>
                        </a:solidFill>
                        <a:latin typeface="Arial"/>
                        <a:ea typeface="Arial"/>
                        <a:cs typeface="Arial"/>
                        <a:sym typeface="Arial"/>
                      </a:endParaRPr>
                    </a:p>
                  </a:txBody>
                  <a:tcPr marT="45725" marB="45725" marR="45725" marL="457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FF"/>
                    </a:solidFill>
                  </a:tcPr>
                </a:tc>
                <a:tc>
                  <a:txBody>
                    <a:bodyPr/>
                    <a:lstStyle/>
                    <a:p>
                      <a:pPr indent="0" lvl="0" marL="0" marR="0" rtl="0" algn="l">
                        <a:lnSpc>
                          <a:spcPct val="90000"/>
                        </a:lnSpc>
                        <a:spcBef>
                          <a:spcPts val="0"/>
                        </a:spcBef>
                        <a:spcAft>
                          <a:spcPts val="0"/>
                        </a:spcAft>
                        <a:buClr>
                          <a:srgbClr val="000000"/>
                        </a:buClr>
                        <a:buSzPts val="2000"/>
                        <a:buFont typeface="Arial"/>
                        <a:buNone/>
                      </a:pPr>
                      <a:r>
                        <a:rPr b="0" i="0" lang="en-US" sz="1800" u="none" cap="none" strike="noStrike">
                          <a:solidFill>
                            <a:srgbClr val="000000"/>
                          </a:solidFill>
                          <a:latin typeface="Arial"/>
                          <a:ea typeface="Arial"/>
                          <a:cs typeface="Arial"/>
                          <a:sym typeface="Arial"/>
                        </a:rPr>
                        <a:t>Focus on people, change for the good of the organization, and the future </a:t>
                      </a:r>
                      <a:endParaRPr b="0" i="0" sz="1800" u="none" cap="none" strike="noStrike">
                        <a:solidFill>
                          <a:srgbClr val="000000"/>
                        </a:solidFill>
                        <a:latin typeface="Arial"/>
                        <a:ea typeface="Arial"/>
                        <a:cs typeface="Arial"/>
                        <a:sym typeface="Arial"/>
                      </a:endParaRPr>
                    </a:p>
                  </a:txBody>
                  <a:tcPr marT="45725" marB="45725" marR="45725" marL="457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FF"/>
                    </a:solidFill>
                  </a:tcPr>
                </a:tc>
              </a:tr>
              <a:tr h="370850">
                <a:tc>
                  <a:txBody>
                    <a:bodyPr/>
                    <a:lstStyle/>
                    <a:p>
                      <a:pPr indent="0" lvl="0" marL="0" marR="0" rtl="0" algn="l">
                        <a:lnSpc>
                          <a:spcPct val="90000"/>
                        </a:lnSpc>
                        <a:spcBef>
                          <a:spcPts val="0"/>
                        </a:spcBef>
                        <a:spcAft>
                          <a:spcPts val="0"/>
                        </a:spcAft>
                        <a:buClr>
                          <a:srgbClr val="000000"/>
                        </a:buClr>
                        <a:buSzPts val="2000"/>
                        <a:buFont typeface="Arial"/>
                        <a:buNone/>
                      </a:pPr>
                      <a:r>
                        <a:rPr b="0" i="0" lang="en-US" sz="1800" u="none" cap="none" strike="noStrike">
                          <a:solidFill>
                            <a:srgbClr val="000000"/>
                          </a:solidFill>
                          <a:latin typeface="Arial"/>
                          <a:ea typeface="Arial"/>
                          <a:cs typeface="Arial"/>
                          <a:sym typeface="Arial"/>
                        </a:rPr>
                        <a:t>Organizations seen as machines</a:t>
                      </a:r>
                      <a:endParaRPr b="0" i="0" sz="1800" u="none" cap="none" strike="noStrike">
                        <a:solidFill>
                          <a:srgbClr val="000000"/>
                        </a:solidFill>
                        <a:latin typeface="Arial"/>
                        <a:ea typeface="Arial"/>
                        <a:cs typeface="Arial"/>
                        <a:sym typeface="Arial"/>
                      </a:endParaRPr>
                    </a:p>
                  </a:txBody>
                  <a:tcPr marT="45725" marB="45725" marR="45725" marL="457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FF"/>
                    </a:solidFill>
                  </a:tcPr>
                </a:tc>
                <a:tc>
                  <a:txBody>
                    <a:bodyPr/>
                    <a:lstStyle/>
                    <a:p>
                      <a:pPr indent="0" lvl="0" marL="0" marR="0" rtl="0" algn="l">
                        <a:lnSpc>
                          <a:spcPct val="90000"/>
                        </a:lnSpc>
                        <a:spcBef>
                          <a:spcPts val="0"/>
                        </a:spcBef>
                        <a:spcAft>
                          <a:spcPts val="0"/>
                        </a:spcAft>
                        <a:buClr>
                          <a:srgbClr val="000000"/>
                        </a:buClr>
                        <a:buSzPts val="2000"/>
                        <a:buFont typeface="Arial"/>
                        <a:buNone/>
                      </a:pPr>
                      <a:r>
                        <a:rPr b="0" i="0" lang="en-US" sz="1800" u="none" cap="none" strike="noStrike">
                          <a:solidFill>
                            <a:srgbClr val="000000"/>
                          </a:solidFill>
                          <a:latin typeface="Arial"/>
                          <a:ea typeface="Arial"/>
                          <a:cs typeface="Arial"/>
                          <a:sym typeface="Arial"/>
                        </a:rPr>
                        <a:t>Organizations seen as living systems: complex, adapting, self-organizing networks of people</a:t>
                      </a:r>
                      <a:endParaRPr b="0" i="0" sz="1800" u="none" cap="none" strike="noStrike">
                        <a:solidFill>
                          <a:srgbClr val="000000"/>
                        </a:solidFill>
                        <a:latin typeface="Arial"/>
                        <a:ea typeface="Arial"/>
                        <a:cs typeface="Arial"/>
                        <a:sym typeface="Arial"/>
                      </a:endParaRPr>
                    </a:p>
                  </a:txBody>
                  <a:tcPr marT="45725" marB="45725" marR="45725" marL="457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FF"/>
                    </a:solidFill>
                  </a:tcPr>
                </a:tc>
              </a:tr>
              <a:tr h="370850">
                <a:tc>
                  <a:txBody>
                    <a:bodyPr/>
                    <a:lstStyle/>
                    <a:p>
                      <a:pPr indent="0" lvl="0" marL="0" marR="0" rtl="0" algn="l">
                        <a:lnSpc>
                          <a:spcPct val="90000"/>
                        </a:lnSpc>
                        <a:spcBef>
                          <a:spcPts val="0"/>
                        </a:spcBef>
                        <a:spcAft>
                          <a:spcPts val="0"/>
                        </a:spcAft>
                        <a:buClr>
                          <a:srgbClr val="000000"/>
                        </a:buClr>
                        <a:buSzPts val="2000"/>
                        <a:buFont typeface="Arial"/>
                        <a:buNone/>
                      </a:pPr>
                      <a:r>
                        <a:rPr b="0" i="0" lang="en-US" sz="1800" u="none" cap="none" strike="noStrike">
                          <a:solidFill>
                            <a:srgbClr val="000000"/>
                          </a:solidFill>
                          <a:latin typeface="Arial"/>
                          <a:ea typeface="Arial"/>
                          <a:cs typeface="Arial"/>
                          <a:sym typeface="Arial"/>
                        </a:rPr>
                        <a:t>Value reliability, stability, predictability, and control</a:t>
                      </a:r>
                      <a:endParaRPr b="0" i="0" sz="1800" u="none" cap="none" strike="noStrike">
                        <a:solidFill>
                          <a:srgbClr val="000000"/>
                        </a:solidFill>
                        <a:latin typeface="Arial"/>
                        <a:ea typeface="Arial"/>
                        <a:cs typeface="Arial"/>
                        <a:sym typeface="Arial"/>
                      </a:endParaRPr>
                    </a:p>
                  </a:txBody>
                  <a:tcPr marT="45725" marB="45725" marR="45725" marL="457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FF"/>
                    </a:solidFill>
                  </a:tcPr>
                </a:tc>
                <a:tc>
                  <a:txBody>
                    <a:bodyPr/>
                    <a:lstStyle/>
                    <a:p>
                      <a:pPr indent="0" lvl="0" marL="0" marR="0" rtl="0" algn="l">
                        <a:lnSpc>
                          <a:spcPct val="90000"/>
                        </a:lnSpc>
                        <a:spcBef>
                          <a:spcPts val="0"/>
                        </a:spcBef>
                        <a:spcAft>
                          <a:spcPts val="0"/>
                        </a:spcAft>
                        <a:buClr>
                          <a:srgbClr val="000000"/>
                        </a:buClr>
                        <a:buSzPts val="2000"/>
                        <a:buFont typeface="Arial"/>
                        <a:buNone/>
                      </a:pPr>
                      <a:r>
                        <a:rPr b="0" i="0" lang="en-US" sz="1800" u="none" cap="none" strike="noStrike">
                          <a:solidFill>
                            <a:srgbClr val="000000"/>
                          </a:solidFill>
                          <a:latin typeface="Arial"/>
                          <a:ea typeface="Arial"/>
                          <a:cs typeface="Arial"/>
                          <a:sym typeface="Arial"/>
                        </a:rPr>
                        <a:t>Value the open flow of information, building trust, and sense of belonging (meaning), </a:t>
                      </a:r>
                      <a:endParaRPr b="0" i="0" sz="1800" u="none" cap="none" strike="noStrike">
                        <a:solidFill>
                          <a:srgbClr val="000000"/>
                        </a:solidFill>
                        <a:latin typeface="Arial"/>
                        <a:ea typeface="Arial"/>
                        <a:cs typeface="Arial"/>
                        <a:sym typeface="Arial"/>
                      </a:endParaRPr>
                    </a:p>
                  </a:txBody>
                  <a:tcPr marT="45725" marB="45725" marR="45725" marL="457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FF"/>
                    </a:solidFill>
                  </a:tcPr>
                </a:tc>
              </a:tr>
              <a:tr h="370850">
                <a:tc>
                  <a:txBody>
                    <a:bodyPr/>
                    <a:lstStyle/>
                    <a:p>
                      <a:pPr indent="0" lvl="0" marL="0" marR="0" rtl="0" algn="l">
                        <a:lnSpc>
                          <a:spcPct val="90000"/>
                        </a:lnSpc>
                        <a:spcBef>
                          <a:spcPts val="0"/>
                        </a:spcBef>
                        <a:spcAft>
                          <a:spcPts val="0"/>
                        </a:spcAft>
                        <a:buClr>
                          <a:srgbClr val="000000"/>
                        </a:buClr>
                        <a:buSzPts val="2000"/>
                        <a:buFont typeface="Arial"/>
                        <a:buNone/>
                      </a:pPr>
                      <a:r>
                        <a:rPr b="0" i="0" lang="en-US" sz="1800" u="none" cap="none" strike="noStrike">
                          <a:solidFill>
                            <a:srgbClr val="000000"/>
                          </a:solidFill>
                          <a:latin typeface="Arial"/>
                          <a:ea typeface="Arial"/>
                          <a:cs typeface="Arial"/>
                          <a:sym typeface="Arial"/>
                        </a:rPr>
                        <a:t>Needed for linear, step-by-step processes (e.g. payroll, production schedules, human resources procedures) to keep things running</a:t>
                      </a:r>
                      <a:endParaRPr b="0" i="0" sz="1800" u="none" cap="none" strike="noStrike">
                        <a:solidFill>
                          <a:srgbClr val="000000"/>
                        </a:solidFill>
                        <a:latin typeface="Arial"/>
                        <a:ea typeface="Arial"/>
                        <a:cs typeface="Arial"/>
                        <a:sym typeface="Arial"/>
                      </a:endParaRPr>
                    </a:p>
                  </a:txBody>
                  <a:tcPr marT="45725" marB="45725" marR="45725" marL="457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FF"/>
                    </a:solidFill>
                  </a:tcPr>
                </a:tc>
                <a:tc>
                  <a:txBody>
                    <a:bodyPr/>
                    <a:lstStyle/>
                    <a:p>
                      <a:pPr indent="0" lvl="0" marL="0" marR="0" rtl="0" algn="l">
                        <a:lnSpc>
                          <a:spcPct val="90000"/>
                        </a:lnSpc>
                        <a:spcBef>
                          <a:spcPts val="0"/>
                        </a:spcBef>
                        <a:spcAft>
                          <a:spcPts val="0"/>
                        </a:spcAft>
                        <a:buClr>
                          <a:srgbClr val="000000"/>
                        </a:buClr>
                        <a:buSzPts val="2000"/>
                        <a:buFont typeface="Arial"/>
                        <a:buNone/>
                      </a:pPr>
                      <a:r>
                        <a:rPr b="0" i="0" lang="en-US" sz="1800" u="none" cap="none" strike="noStrike">
                          <a:solidFill>
                            <a:srgbClr val="000000"/>
                          </a:solidFill>
                          <a:latin typeface="Arial"/>
                          <a:ea typeface="Arial"/>
                          <a:cs typeface="Arial"/>
                          <a:sym typeface="Arial"/>
                        </a:rPr>
                        <a:t>Takes on new challenges; sees continuous improvement as a core function.</a:t>
                      </a:r>
                      <a:endParaRPr/>
                    </a:p>
                    <a:p>
                      <a:pPr indent="0" lvl="0" marL="0" marR="0" rtl="0" algn="l">
                        <a:lnSpc>
                          <a:spcPct val="90000"/>
                        </a:lnSpc>
                        <a:spcBef>
                          <a:spcPts val="0"/>
                        </a:spcBef>
                        <a:spcAft>
                          <a:spcPts val="0"/>
                        </a:spcAft>
                        <a:buClr>
                          <a:srgbClr val="000000"/>
                        </a:buClr>
                        <a:buSzPts val="2000"/>
                        <a:buFont typeface="Arial"/>
                        <a:buNone/>
                      </a:pPr>
                      <a:r>
                        <a:rPr b="0" i="0" lang="en-US" sz="1800" u="none" cap="none" strike="noStrike">
                          <a:solidFill>
                            <a:srgbClr val="000000"/>
                          </a:solidFill>
                          <a:latin typeface="Arial"/>
                          <a:ea typeface="Arial"/>
                          <a:cs typeface="Arial"/>
                          <a:sym typeface="Arial"/>
                        </a:rPr>
                        <a:t>Require courage, care, concern, &amp; commitment.</a:t>
                      </a:r>
                      <a:endParaRPr b="0" i="0" sz="1800" u="none" cap="none" strike="noStrike">
                        <a:solidFill>
                          <a:srgbClr val="000000"/>
                        </a:solidFill>
                        <a:latin typeface="Arial"/>
                        <a:ea typeface="Arial"/>
                        <a:cs typeface="Arial"/>
                        <a:sym typeface="Arial"/>
                      </a:endParaRPr>
                    </a:p>
                  </a:txBody>
                  <a:tcPr marT="45725" marB="45725" marR="45725" marL="457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FF"/>
                    </a:solidFill>
                  </a:tcPr>
                </a:tc>
              </a:tr>
              <a:tr h="370850">
                <a:tc>
                  <a:txBody>
                    <a:bodyPr/>
                    <a:lstStyle/>
                    <a:p>
                      <a:pPr indent="0" lvl="0" marL="0" marR="0" rtl="0" algn="l">
                        <a:lnSpc>
                          <a:spcPct val="90000"/>
                        </a:lnSpc>
                        <a:spcBef>
                          <a:spcPts val="0"/>
                        </a:spcBef>
                        <a:spcAft>
                          <a:spcPts val="0"/>
                        </a:spcAft>
                        <a:buClr>
                          <a:srgbClr val="000000"/>
                        </a:buClr>
                        <a:buSzPts val="2000"/>
                        <a:buFont typeface="Arial"/>
                        <a:buNone/>
                      </a:pPr>
                      <a:r>
                        <a:rPr b="0" i="0" lang="en-US" sz="1800" u="none" cap="none" strike="noStrike">
                          <a:solidFill>
                            <a:srgbClr val="000000"/>
                          </a:solidFill>
                          <a:latin typeface="Arial"/>
                          <a:ea typeface="Arial"/>
                          <a:cs typeface="Arial"/>
                          <a:sym typeface="Arial"/>
                        </a:rPr>
                        <a:t>Supervising, directing, problem solving, leader-directed teams</a:t>
                      </a:r>
                      <a:endParaRPr b="0" i="0" sz="1800" u="none" cap="none" strike="noStrike">
                        <a:solidFill>
                          <a:srgbClr val="000000"/>
                        </a:solidFill>
                        <a:latin typeface="Arial"/>
                        <a:ea typeface="Arial"/>
                        <a:cs typeface="Arial"/>
                        <a:sym typeface="Arial"/>
                      </a:endParaRPr>
                    </a:p>
                  </a:txBody>
                  <a:tcPr marT="45725" marB="45725" marR="45725" marL="457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FF"/>
                    </a:solidFill>
                  </a:tcPr>
                </a:tc>
                <a:tc>
                  <a:txBody>
                    <a:bodyPr/>
                    <a:lstStyle/>
                    <a:p>
                      <a:pPr indent="0" lvl="0" marL="0" marR="0" rtl="0" algn="l">
                        <a:lnSpc>
                          <a:spcPct val="90000"/>
                        </a:lnSpc>
                        <a:spcBef>
                          <a:spcPts val="0"/>
                        </a:spcBef>
                        <a:spcAft>
                          <a:spcPts val="0"/>
                        </a:spcAft>
                        <a:buClr>
                          <a:srgbClr val="000000"/>
                        </a:buClr>
                        <a:buSzPts val="2000"/>
                        <a:buFont typeface="Arial"/>
                        <a:buNone/>
                      </a:pPr>
                      <a:r>
                        <a:rPr b="0" i="0" lang="en-US" sz="1800" u="none" cap="none" strike="noStrike">
                          <a:solidFill>
                            <a:srgbClr val="000000"/>
                          </a:solidFill>
                          <a:latin typeface="Arial"/>
                          <a:ea typeface="Arial"/>
                          <a:cs typeface="Arial"/>
                          <a:sym typeface="Arial"/>
                        </a:rPr>
                        <a:t>Engages and empowers people; enables and promotes self-directed teams</a:t>
                      </a:r>
                      <a:endParaRPr b="0" i="0" sz="1800" u="none" cap="none" strike="noStrike">
                        <a:solidFill>
                          <a:srgbClr val="000000"/>
                        </a:solidFill>
                        <a:latin typeface="Arial"/>
                        <a:ea typeface="Arial"/>
                        <a:cs typeface="Arial"/>
                        <a:sym typeface="Arial"/>
                      </a:endParaRPr>
                    </a:p>
                  </a:txBody>
                  <a:tcPr marT="45725" marB="45725" marR="45725" marL="457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FF"/>
                    </a:solidFill>
                  </a:tcPr>
                </a:tc>
              </a:tr>
            </a:tbl>
          </a:graphicData>
        </a:graphic>
      </p:graphicFrame>
      <p:sp>
        <p:nvSpPr>
          <p:cNvPr id="98" name="Google Shape;98;p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99" name="Google Shape;99;p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7.7: Leadership – What Makes an Effective Leader?</a:t>
            </a:r>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p5"/>
          <p:cNvPicPr preferRelativeResize="0"/>
          <p:nvPr/>
        </p:nvPicPr>
        <p:blipFill rotWithShape="1">
          <a:blip r:embed="rId3">
            <a:alphaModFix/>
          </a:blip>
          <a:srcRect b="0" l="0" r="0" t="0"/>
          <a:stretch/>
        </p:blipFill>
        <p:spPr>
          <a:xfrm>
            <a:off x="5181600" y="1600200"/>
            <a:ext cx="3445730" cy="2587237"/>
          </a:xfrm>
          <a:prstGeom prst="rect">
            <a:avLst/>
          </a:prstGeom>
          <a:noFill/>
          <a:ln cap="flat" cmpd="sng" w="9525">
            <a:solidFill>
              <a:srgbClr val="000000"/>
            </a:solidFill>
            <a:prstDash val="solid"/>
            <a:round/>
            <a:headEnd len="sm" w="sm" type="none"/>
            <a:tailEnd len="sm" w="sm" type="none"/>
          </a:ln>
        </p:spPr>
      </p:pic>
      <p:sp>
        <p:nvSpPr>
          <p:cNvPr id="106" name="Google Shape;106;p5"/>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Leaders shape and influence the culture of their organization for optimum performance and benefit of the organization. </a:t>
            </a:r>
            <a:endParaRPr/>
          </a:p>
        </p:txBody>
      </p:sp>
      <p:sp>
        <p:nvSpPr>
          <p:cNvPr id="107" name="Google Shape;107;p5"/>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The Characteristics of Good Leaders:</a:t>
            </a:r>
            <a:endParaRPr b="0" i="0" sz="2400" u="none" cap="none" strike="noStrike">
              <a:solidFill>
                <a:srgbClr val="333399"/>
              </a:solidFill>
              <a:latin typeface="Arial"/>
              <a:ea typeface="Arial"/>
              <a:cs typeface="Arial"/>
              <a:sym typeface="Arial"/>
            </a:endParaRPr>
          </a:p>
        </p:txBody>
      </p:sp>
      <p:sp>
        <p:nvSpPr>
          <p:cNvPr id="108" name="Google Shape;108;p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pic>
        <p:nvPicPr>
          <p:cNvPr id="109" name="Google Shape;109;p5"/>
          <p:cNvPicPr preferRelativeResize="0"/>
          <p:nvPr/>
        </p:nvPicPr>
        <p:blipFill rotWithShape="1">
          <a:blip r:embed="rId4">
            <a:alphaModFix/>
          </a:blip>
          <a:srcRect b="0" l="0" r="0" t="0"/>
          <a:stretch/>
        </p:blipFill>
        <p:spPr>
          <a:xfrm>
            <a:off x="2518504" y="3593761"/>
            <a:ext cx="2881496" cy="2562239"/>
          </a:xfrm>
          <a:prstGeom prst="rect">
            <a:avLst/>
          </a:prstGeom>
          <a:noFill/>
          <a:ln cap="flat" cmpd="sng" w="9525">
            <a:solidFill>
              <a:srgbClr val="000000"/>
            </a:solidFill>
            <a:prstDash val="solid"/>
            <a:round/>
            <a:headEnd len="sm" w="sm" type="none"/>
            <a:tailEnd len="sm" w="sm" type="none"/>
          </a:ln>
        </p:spPr>
      </p:pic>
      <p:pic>
        <p:nvPicPr>
          <p:cNvPr id="110" name="Google Shape;110;p5"/>
          <p:cNvPicPr preferRelativeResize="0"/>
          <p:nvPr/>
        </p:nvPicPr>
        <p:blipFill rotWithShape="1">
          <a:blip r:embed="rId5">
            <a:alphaModFix/>
          </a:blip>
          <a:srcRect b="0" l="0" r="0" t="0"/>
          <a:stretch/>
        </p:blipFill>
        <p:spPr>
          <a:xfrm>
            <a:off x="5577496" y="4435574"/>
            <a:ext cx="3079184" cy="1472288"/>
          </a:xfrm>
          <a:prstGeom prst="rect">
            <a:avLst/>
          </a:prstGeom>
          <a:noFill/>
          <a:ln cap="flat" cmpd="sng" w="9525">
            <a:solidFill>
              <a:schemeClr val="dk1"/>
            </a:solidFill>
            <a:prstDash val="solid"/>
            <a:round/>
            <a:headEnd len="sm" w="sm" type="none"/>
            <a:tailEnd len="sm" w="sm" type="none"/>
          </a:ln>
        </p:spPr>
      </p:pic>
      <p:sp>
        <p:nvSpPr>
          <p:cNvPr id="111" name="Google Shape;111;p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7.7: Leadership – What Makes an Effective Leader?</a:t>
            </a:r>
            <a:endParaRPr/>
          </a:p>
        </p:txBody>
      </p:sp>
      <p:pic>
        <p:nvPicPr>
          <p:cNvPr id="112" name="Google Shape;112;p5"/>
          <p:cNvPicPr preferRelativeResize="0"/>
          <p:nvPr/>
        </p:nvPicPr>
        <p:blipFill rotWithShape="1">
          <a:blip r:embed="rId6">
            <a:alphaModFix/>
          </a:blip>
          <a:srcRect b="0" l="0" r="0" t="0"/>
          <a:stretch/>
        </p:blipFill>
        <p:spPr>
          <a:xfrm>
            <a:off x="180000" y="1600200"/>
            <a:ext cx="3588735" cy="2691552"/>
          </a:xfrm>
          <a:prstGeom prst="rect">
            <a:avLst/>
          </a:prstGeom>
          <a:noFill/>
          <a:ln cap="flat" cmpd="sng" w="9525">
            <a:solidFill>
              <a:schemeClr val="dk1"/>
            </a:solidFill>
            <a:prstDash val="solid"/>
            <a:round/>
            <a:headEnd len="sm" w="sm" type="none"/>
            <a:tailEnd len="sm" w="sm" type="none"/>
          </a:ln>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6"/>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05000" lvl="0" marL="432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119" name="Google Shape;119;p6"/>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The Characteristics of Good Leaders:</a:t>
            </a:r>
            <a:endParaRPr b="0" i="0" sz="2400" u="none" cap="none" strike="noStrike">
              <a:solidFill>
                <a:srgbClr val="333399"/>
              </a:solidFill>
              <a:latin typeface="Arial"/>
              <a:ea typeface="Arial"/>
              <a:cs typeface="Arial"/>
              <a:sym typeface="Arial"/>
            </a:endParaRPr>
          </a:p>
        </p:txBody>
      </p:sp>
      <p:sp>
        <p:nvSpPr>
          <p:cNvPr id="120" name="Google Shape;120;p6"/>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21" name="Google Shape;121;p6"/>
          <p:cNvSpPr/>
          <p:nvPr/>
        </p:nvSpPr>
        <p:spPr>
          <a:xfrm>
            <a:off x="1799304" y="1540919"/>
            <a:ext cx="2694038" cy="678759"/>
          </a:xfrm>
          <a:custGeom>
            <a:rect b="b" l="l" r="r" t="t"/>
            <a:pathLst>
              <a:path extrusionOk="0" h="1040882" w="1873587">
                <a:moveTo>
                  <a:pt x="0" y="104088"/>
                </a:moveTo>
                <a:cubicBezTo>
                  <a:pt x="0" y="46602"/>
                  <a:pt x="46602" y="0"/>
                  <a:pt x="104088" y="0"/>
                </a:cubicBezTo>
                <a:lnTo>
                  <a:pt x="1769499" y="0"/>
                </a:lnTo>
                <a:cubicBezTo>
                  <a:pt x="1826985" y="0"/>
                  <a:pt x="1873587" y="46602"/>
                  <a:pt x="1873587" y="104088"/>
                </a:cubicBezTo>
                <a:lnTo>
                  <a:pt x="1873587" y="936794"/>
                </a:lnTo>
                <a:cubicBezTo>
                  <a:pt x="1873587" y="994280"/>
                  <a:pt x="1826985" y="1040882"/>
                  <a:pt x="1769499" y="1040882"/>
                </a:cubicBezTo>
                <a:lnTo>
                  <a:pt x="104088" y="1040882"/>
                </a:lnTo>
                <a:cubicBezTo>
                  <a:pt x="46602" y="1040882"/>
                  <a:pt x="0" y="994280"/>
                  <a:pt x="0" y="936794"/>
                </a:cubicBezTo>
                <a:lnTo>
                  <a:pt x="0" y="104088"/>
                </a:lnTo>
                <a:close/>
              </a:path>
            </a:pathLst>
          </a:custGeom>
          <a:solidFill>
            <a:srgbClr val="CBE0F7">
              <a:alpha val="89803"/>
            </a:srgbClr>
          </a:solidFill>
          <a:ln>
            <a:noFill/>
          </a:ln>
        </p:spPr>
        <p:txBody>
          <a:bodyPr anchorCtr="0" anchor="ctr" bIns="110475" lIns="110475" spcFirstLastPara="1" rIns="110475" wrap="square" tIns="110475">
            <a:noAutofit/>
          </a:bodyPr>
          <a:lstStyle/>
          <a:p>
            <a:pPr indent="0" lvl="0" marL="0" marR="0" rtl="0" algn="ctr">
              <a:lnSpc>
                <a:spcPct val="90000"/>
              </a:lnSpc>
              <a:spcBef>
                <a:spcPts val="0"/>
              </a:spcBef>
              <a:spcAft>
                <a:spcPts val="0"/>
              </a:spcAft>
              <a:buClr>
                <a:srgbClr val="000000"/>
              </a:buClr>
              <a:buSzPts val="2100"/>
              <a:buFont typeface="Twentieth Century"/>
              <a:buNone/>
            </a:pPr>
            <a:r>
              <a:rPr b="0" i="0" lang="en-US" sz="2100" u="none" cap="none" strike="noStrike">
                <a:solidFill>
                  <a:srgbClr val="000000"/>
                </a:solidFill>
                <a:latin typeface="Twentieth Century"/>
                <a:ea typeface="Twentieth Century"/>
                <a:cs typeface="Twentieth Century"/>
                <a:sym typeface="Twentieth Century"/>
              </a:rPr>
              <a:t>Commits to the RMP</a:t>
            </a:r>
            <a:endParaRPr/>
          </a:p>
        </p:txBody>
      </p:sp>
      <p:sp>
        <p:nvSpPr>
          <p:cNvPr id="122" name="Google Shape;122;p6"/>
          <p:cNvSpPr/>
          <p:nvPr/>
        </p:nvSpPr>
        <p:spPr>
          <a:xfrm>
            <a:off x="4650657" y="1540919"/>
            <a:ext cx="2682769" cy="678759"/>
          </a:xfrm>
          <a:custGeom>
            <a:rect b="b" l="l" r="r" t="t"/>
            <a:pathLst>
              <a:path extrusionOk="0" h="1040882" w="1873587">
                <a:moveTo>
                  <a:pt x="0" y="104088"/>
                </a:moveTo>
                <a:cubicBezTo>
                  <a:pt x="0" y="46602"/>
                  <a:pt x="46602" y="0"/>
                  <a:pt x="104088" y="0"/>
                </a:cubicBezTo>
                <a:lnTo>
                  <a:pt x="1769499" y="0"/>
                </a:lnTo>
                <a:cubicBezTo>
                  <a:pt x="1826985" y="0"/>
                  <a:pt x="1873587" y="46602"/>
                  <a:pt x="1873587" y="104088"/>
                </a:cubicBezTo>
                <a:lnTo>
                  <a:pt x="1873587" y="936794"/>
                </a:lnTo>
                <a:cubicBezTo>
                  <a:pt x="1873587" y="994280"/>
                  <a:pt x="1826985" y="1040882"/>
                  <a:pt x="1769499" y="1040882"/>
                </a:cubicBezTo>
                <a:lnTo>
                  <a:pt x="104088" y="1040882"/>
                </a:lnTo>
                <a:cubicBezTo>
                  <a:pt x="46602" y="1040882"/>
                  <a:pt x="0" y="994280"/>
                  <a:pt x="0" y="936794"/>
                </a:cubicBezTo>
                <a:lnTo>
                  <a:pt x="0" y="104088"/>
                </a:lnTo>
                <a:close/>
              </a:path>
            </a:pathLst>
          </a:custGeom>
          <a:solidFill>
            <a:srgbClr val="CBE0F7">
              <a:alpha val="89803"/>
            </a:srgbClr>
          </a:solidFill>
          <a:ln>
            <a:noFill/>
          </a:ln>
        </p:spPr>
        <p:txBody>
          <a:bodyPr anchorCtr="0" anchor="ctr" bIns="110475" lIns="110475" spcFirstLastPara="1" rIns="110475" wrap="square" tIns="110475">
            <a:noAutofit/>
          </a:bodyPr>
          <a:lstStyle/>
          <a:p>
            <a:pPr indent="0" lvl="0" marL="0" marR="0" rtl="0" algn="ctr">
              <a:lnSpc>
                <a:spcPct val="90000"/>
              </a:lnSpc>
              <a:spcBef>
                <a:spcPts val="0"/>
              </a:spcBef>
              <a:spcAft>
                <a:spcPts val="0"/>
              </a:spcAft>
              <a:buClr>
                <a:srgbClr val="000000"/>
              </a:buClr>
              <a:buSzPts val="2100"/>
              <a:buFont typeface="Twentieth Century"/>
              <a:buNone/>
            </a:pPr>
            <a:r>
              <a:rPr b="0" i="0" lang="en-US" sz="2100" u="none" cap="none" strike="noStrike">
                <a:solidFill>
                  <a:srgbClr val="000000"/>
                </a:solidFill>
                <a:latin typeface="Twentieth Century"/>
                <a:ea typeface="Twentieth Century"/>
                <a:cs typeface="Twentieth Century"/>
                <a:sym typeface="Twentieth Century"/>
              </a:rPr>
              <a:t>Effectively implements the RMP</a:t>
            </a:r>
            <a:endParaRPr/>
          </a:p>
        </p:txBody>
      </p:sp>
      <p:sp>
        <p:nvSpPr>
          <p:cNvPr id="123" name="Google Shape;123;p6"/>
          <p:cNvSpPr/>
          <p:nvPr/>
        </p:nvSpPr>
        <p:spPr>
          <a:xfrm>
            <a:off x="4176034" y="5478250"/>
            <a:ext cx="780661" cy="535464"/>
          </a:xfrm>
          <a:prstGeom prst="triangle">
            <a:avLst>
              <a:gd fmla="val 50000" name="adj"/>
            </a:avLst>
          </a:prstGeom>
          <a:solidFill>
            <a:srgbClr val="CBE0F7">
              <a:alpha val="8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6"/>
          <p:cNvSpPr/>
          <p:nvPr/>
        </p:nvSpPr>
        <p:spPr>
          <a:xfrm>
            <a:off x="1799303" y="5199026"/>
            <a:ext cx="5534124" cy="279223"/>
          </a:xfrm>
          <a:prstGeom prst="rect">
            <a:avLst/>
          </a:prstGeom>
          <a:solidFill>
            <a:srgbClr val="CBE0F7">
              <a:alpha val="8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6"/>
          <p:cNvSpPr/>
          <p:nvPr/>
        </p:nvSpPr>
        <p:spPr>
          <a:xfrm>
            <a:off x="4650657" y="3015815"/>
            <a:ext cx="2682769" cy="649264"/>
          </a:xfrm>
          <a:custGeom>
            <a:rect b="b" l="l" r="r" t="t"/>
            <a:pathLst>
              <a:path extrusionOk="0" h="874340" w="1873587">
                <a:moveTo>
                  <a:pt x="0" y="145726"/>
                </a:moveTo>
                <a:cubicBezTo>
                  <a:pt x="0" y="65244"/>
                  <a:pt x="65244" y="0"/>
                  <a:pt x="145726" y="0"/>
                </a:cubicBezTo>
                <a:lnTo>
                  <a:pt x="1727861" y="0"/>
                </a:lnTo>
                <a:cubicBezTo>
                  <a:pt x="1808343" y="0"/>
                  <a:pt x="1873587" y="65244"/>
                  <a:pt x="1873587" y="145726"/>
                </a:cubicBezTo>
                <a:lnTo>
                  <a:pt x="1873587" y="728614"/>
                </a:lnTo>
                <a:cubicBezTo>
                  <a:pt x="1873587" y="809096"/>
                  <a:pt x="1808343" y="874340"/>
                  <a:pt x="1727861" y="874340"/>
                </a:cubicBezTo>
                <a:lnTo>
                  <a:pt x="145726" y="874340"/>
                </a:lnTo>
                <a:cubicBezTo>
                  <a:pt x="65244" y="874340"/>
                  <a:pt x="0" y="809096"/>
                  <a:pt x="0" y="728614"/>
                </a:cubicBezTo>
                <a:lnTo>
                  <a:pt x="0" y="145726"/>
                </a:lnTo>
                <a:close/>
              </a:path>
            </a:pathLst>
          </a:custGeom>
          <a:solidFill>
            <a:srgbClr val="2CA3EE"/>
          </a:solidFill>
          <a:ln>
            <a:noFill/>
          </a:ln>
          <a:effectLst>
            <a:outerShdw blurRad="50800" rotWithShape="0" dir="5400000" dist="25400">
              <a:srgbClr val="000000">
                <a:alpha val="27843"/>
              </a:srgbClr>
            </a:outerShdw>
          </a:effectLst>
        </p:spPr>
        <p:txBody>
          <a:bodyPr anchorCtr="0" anchor="ctr" bIns="107450" lIns="107450" spcFirstLastPara="1" rIns="107450" wrap="square" tIns="107450">
            <a:noAutofit/>
          </a:bodyPr>
          <a:lstStyle/>
          <a:p>
            <a:pPr indent="0" lvl="0" marL="0" marR="0" rtl="0" algn="ctr">
              <a:lnSpc>
                <a:spcPct val="90000"/>
              </a:lnSpc>
              <a:spcBef>
                <a:spcPts val="0"/>
              </a:spcBef>
              <a:spcAft>
                <a:spcPts val="0"/>
              </a:spcAft>
              <a:buClr>
                <a:srgbClr val="FFFFFF"/>
              </a:buClr>
              <a:buSzPts val="1700"/>
              <a:buFont typeface="Twentieth Century"/>
              <a:buNone/>
            </a:pPr>
            <a:r>
              <a:rPr b="0" i="0" lang="en-US" sz="1700" u="none" cap="none" strike="noStrike">
                <a:solidFill>
                  <a:srgbClr val="FFFFFF"/>
                </a:solidFill>
                <a:latin typeface="Twentieth Century"/>
                <a:ea typeface="Twentieth Century"/>
                <a:cs typeface="Twentieth Century"/>
                <a:sym typeface="Twentieth Century"/>
              </a:rPr>
              <a:t>Critiques performance effectively</a:t>
            </a:r>
            <a:endParaRPr/>
          </a:p>
        </p:txBody>
      </p:sp>
      <p:sp>
        <p:nvSpPr>
          <p:cNvPr id="126" name="Google Shape;126;p6"/>
          <p:cNvSpPr/>
          <p:nvPr/>
        </p:nvSpPr>
        <p:spPr>
          <a:xfrm>
            <a:off x="4650657" y="4458420"/>
            <a:ext cx="2682769" cy="649264"/>
          </a:xfrm>
          <a:custGeom>
            <a:rect b="b" l="l" r="r" t="t"/>
            <a:pathLst>
              <a:path extrusionOk="0" h="874340" w="1873587">
                <a:moveTo>
                  <a:pt x="0" y="145726"/>
                </a:moveTo>
                <a:cubicBezTo>
                  <a:pt x="0" y="65244"/>
                  <a:pt x="65244" y="0"/>
                  <a:pt x="145726" y="0"/>
                </a:cubicBezTo>
                <a:lnTo>
                  <a:pt x="1727861" y="0"/>
                </a:lnTo>
                <a:cubicBezTo>
                  <a:pt x="1808343" y="0"/>
                  <a:pt x="1873587" y="65244"/>
                  <a:pt x="1873587" y="145726"/>
                </a:cubicBezTo>
                <a:lnTo>
                  <a:pt x="1873587" y="728614"/>
                </a:lnTo>
                <a:cubicBezTo>
                  <a:pt x="1873587" y="809096"/>
                  <a:pt x="1808343" y="874340"/>
                  <a:pt x="1727861" y="874340"/>
                </a:cubicBezTo>
                <a:lnTo>
                  <a:pt x="145726" y="874340"/>
                </a:lnTo>
                <a:cubicBezTo>
                  <a:pt x="65244" y="874340"/>
                  <a:pt x="0" y="809096"/>
                  <a:pt x="0" y="728614"/>
                </a:cubicBezTo>
                <a:lnTo>
                  <a:pt x="0" y="145726"/>
                </a:lnTo>
                <a:close/>
              </a:path>
            </a:pathLst>
          </a:custGeom>
          <a:solidFill>
            <a:srgbClr val="2CA3EE"/>
          </a:solidFill>
          <a:ln>
            <a:noFill/>
          </a:ln>
          <a:effectLst>
            <a:outerShdw blurRad="50800" rotWithShape="0" dir="5400000" dist="25400">
              <a:srgbClr val="000000">
                <a:alpha val="27843"/>
              </a:srgbClr>
            </a:outerShdw>
          </a:effectLst>
        </p:spPr>
        <p:txBody>
          <a:bodyPr anchorCtr="0" anchor="ctr" bIns="107450" lIns="107450" spcFirstLastPara="1" rIns="107450" wrap="square" tIns="107450">
            <a:noAutofit/>
          </a:bodyPr>
          <a:lstStyle/>
          <a:p>
            <a:pPr indent="0" lvl="0" marL="0" marR="0" rtl="0" algn="ctr">
              <a:lnSpc>
                <a:spcPct val="90000"/>
              </a:lnSpc>
              <a:spcBef>
                <a:spcPts val="0"/>
              </a:spcBef>
              <a:spcAft>
                <a:spcPts val="0"/>
              </a:spcAft>
              <a:buClr>
                <a:srgbClr val="FFFFFF"/>
              </a:buClr>
              <a:buSzPts val="1700"/>
              <a:buFont typeface="Twentieth Century"/>
              <a:buNone/>
            </a:pPr>
            <a:r>
              <a:rPr b="0" i="0" lang="en-US" sz="1700" u="none" cap="none" strike="noStrike">
                <a:solidFill>
                  <a:srgbClr val="FFFFFF"/>
                </a:solidFill>
                <a:latin typeface="Twentieth Century"/>
                <a:ea typeface="Twentieth Century"/>
                <a:cs typeface="Twentieth Century"/>
                <a:sym typeface="Twentieth Century"/>
              </a:rPr>
              <a:t>Has a working knowledge of tasks and activities</a:t>
            </a:r>
            <a:endParaRPr/>
          </a:p>
        </p:txBody>
      </p:sp>
      <p:sp>
        <p:nvSpPr>
          <p:cNvPr id="127" name="Google Shape;127;p6"/>
          <p:cNvSpPr/>
          <p:nvPr/>
        </p:nvSpPr>
        <p:spPr>
          <a:xfrm>
            <a:off x="4650657" y="3737930"/>
            <a:ext cx="2682769" cy="649264"/>
          </a:xfrm>
          <a:custGeom>
            <a:rect b="b" l="l" r="r" t="t"/>
            <a:pathLst>
              <a:path extrusionOk="0" h="874340" w="1873587">
                <a:moveTo>
                  <a:pt x="0" y="145726"/>
                </a:moveTo>
                <a:cubicBezTo>
                  <a:pt x="0" y="65244"/>
                  <a:pt x="65244" y="0"/>
                  <a:pt x="145726" y="0"/>
                </a:cubicBezTo>
                <a:lnTo>
                  <a:pt x="1727861" y="0"/>
                </a:lnTo>
                <a:cubicBezTo>
                  <a:pt x="1808343" y="0"/>
                  <a:pt x="1873587" y="65244"/>
                  <a:pt x="1873587" y="145726"/>
                </a:cubicBezTo>
                <a:lnTo>
                  <a:pt x="1873587" y="728614"/>
                </a:lnTo>
                <a:cubicBezTo>
                  <a:pt x="1873587" y="809096"/>
                  <a:pt x="1808343" y="874340"/>
                  <a:pt x="1727861" y="874340"/>
                </a:cubicBezTo>
                <a:lnTo>
                  <a:pt x="145726" y="874340"/>
                </a:lnTo>
                <a:cubicBezTo>
                  <a:pt x="65244" y="874340"/>
                  <a:pt x="0" y="809096"/>
                  <a:pt x="0" y="728614"/>
                </a:cubicBezTo>
                <a:lnTo>
                  <a:pt x="0" y="145726"/>
                </a:lnTo>
                <a:close/>
              </a:path>
            </a:pathLst>
          </a:custGeom>
          <a:solidFill>
            <a:srgbClr val="2CA3EE"/>
          </a:solidFill>
          <a:ln>
            <a:noFill/>
          </a:ln>
          <a:effectLst>
            <a:outerShdw blurRad="50800" rotWithShape="0" dir="5400000" dist="25400">
              <a:srgbClr val="000000">
                <a:alpha val="27843"/>
              </a:srgbClr>
            </a:outerShdw>
          </a:effectLst>
        </p:spPr>
        <p:txBody>
          <a:bodyPr anchorCtr="0" anchor="ctr" bIns="107450" lIns="107450" spcFirstLastPara="1" rIns="107450" wrap="square" tIns="107450">
            <a:noAutofit/>
          </a:bodyPr>
          <a:lstStyle/>
          <a:p>
            <a:pPr indent="0" lvl="0" marL="0" marR="0" rtl="0" algn="ctr">
              <a:lnSpc>
                <a:spcPct val="90000"/>
              </a:lnSpc>
              <a:spcBef>
                <a:spcPts val="0"/>
              </a:spcBef>
              <a:spcAft>
                <a:spcPts val="0"/>
              </a:spcAft>
              <a:buClr>
                <a:srgbClr val="FFFFFF"/>
              </a:buClr>
              <a:buSzPts val="1700"/>
              <a:buFont typeface="Twentieth Century"/>
              <a:buNone/>
            </a:pPr>
            <a:r>
              <a:rPr b="0" i="0" lang="en-US" sz="1700" u="none" cap="none" strike="noStrike">
                <a:solidFill>
                  <a:srgbClr val="FFFFFF"/>
                </a:solidFill>
                <a:latin typeface="Twentieth Century"/>
                <a:ea typeface="Twentieth Century"/>
                <a:cs typeface="Twentieth Century"/>
                <a:sym typeface="Twentieth Century"/>
              </a:rPr>
              <a:t>Holds people accountable</a:t>
            </a:r>
            <a:endParaRPr/>
          </a:p>
        </p:txBody>
      </p:sp>
      <p:sp>
        <p:nvSpPr>
          <p:cNvPr id="128" name="Google Shape;128;p6"/>
          <p:cNvSpPr/>
          <p:nvPr/>
        </p:nvSpPr>
        <p:spPr>
          <a:xfrm>
            <a:off x="1799304" y="3015815"/>
            <a:ext cx="2694038" cy="649264"/>
          </a:xfrm>
          <a:custGeom>
            <a:rect b="b" l="l" r="r" t="t"/>
            <a:pathLst>
              <a:path extrusionOk="0" h="874340" w="1873587">
                <a:moveTo>
                  <a:pt x="0" y="145726"/>
                </a:moveTo>
                <a:cubicBezTo>
                  <a:pt x="0" y="65244"/>
                  <a:pt x="65244" y="0"/>
                  <a:pt x="145726" y="0"/>
                </a:cubicBezTo>
                <a:lnTo>
                  <a:pt x="1727861" y="0"/>
                </a:lnTo>
                <a:cubicBezTo>
                  <a:pt x="1808343" y="0"/>
                  <a:pt x="1873587" y="65244"/>
                  <a:pt x="1873587" y="145726"/>
                </a:cubicBezTo>
                <a:lnTo>
                  <a:pt x="1873587" y="728614"/>
                </a:lnTo>
                <a:cubicBezTo>
                  <a:pt x="1873587" y="809096"/>
                  <a:pt x="1808343" y="874340"/>
                  <a:pt x="1727861" y="874340"/>
                </a:cubicBezTo>
                <a:lnTo>
                  <a:pt x="145726" y="874340"/>
                </a:lnTo>
                <a:cubicBezTo>
                  <a:pt x="65244" y="874340"/>
                  <a:pt x="0" y="809096"/>
                  <a:pt x="0" y="728614"/>
                </a:cubicBezTo>
                <a:lnTo>
                  <a:pt x="0" y="145726"/>
                </a:lnTo>
                <a:close/>
              </a:path>
            </a:pathLst>
          </a:custGeom>
          <a:solidFill>
            <a:srgbClr val="2CA3EE"/>
          </a:solidFill>
          <a:ln>
            <a:noFill/>
          </a:ln>
          <a:effectLst>
            <a:outerShdw blurRad="50800" rotWithShape="0" dir="5400000" dist="25400">
              <a:srgbClr val="000000">
                <a:alpha val="27843"/>
              </a:srgbClr>
            </a:outerShdw>
          </a:effectLst>
        </p:spPr>
        <p:txBody>
          <a:bodyPr anchorCtr="0" anchor="ctr" bIns="107450" lIns="107450" spcFirstLastPara="1" rIns="107450" wrap="square" tIns="107450">
            <a:noAutofit/>
          </a:bodyPr>
          <a:lstStyle/>
          <a:p>
            <a:pPr indent="0" lvl="0" marL="0" marR="0" rtl="0" algn="ctr">
              <a:lnSpc>
                <a:spcPct val="90000"/>
              </a:lnSpc>
              <a:spcBef>
                <a:spcPts val="0"/>
              </a:spcBef>
              <a:spcAft>
                <a:spcPts val="0"/>
              </a:spcAft>
              <a:buClr>
                <a:srgbClr val="FFFFFF"/>
              </a:buClr>
              <a:buSzPts val="1700"/>
              <a:buFont typeface="Twentieth Century"/>
              <a:buNone/>
            </a:pPr>
            <a:r>
              <a:rPr b="0" i="0" lang="en-US" sz="1700" u="none" cap="none" strike="noStrike">
                <a:solidFill>
                  <a:srgbClr val="FFFFFF"/>
                </a:solidFill>
                <a:latin typeface="Twentieth Century"/>
                <a:ea typeface="Twentieth Century"/>
                <a:cs typeface="Twentieth Century"/>
                <a:sym typeface="Twentieth Century"/>
              </a:rPr>
              <a:t>Sets expectations for performance</a:t>
            </a:r>
            <a:endParaRPr/>
          </a:p>
        </p:txBody>
      </p:sp>
      <p:sp>
        <p:nvSpPr>
          <p:cNvPr id="129" name="Google Shape;129;p6"/>
          <p:cNvSpPr/>
          <p:nvPr/>
        </p:nvSpPr>
        <p:spPr>
          <a:xfrm>
            <a:off x="1799304" y="4458420"/>
            <a:ext cx="2694038" cy="649264"/>
          </a:xfrm>
          <a:custGeom>
            <a:rect b="b" l="l" r="r" t="t"/>
            <a:pathLst>
              <a:path extrusionOk="0" h="874340" w="1873587">
                <a:moveTo>
                  <a:pt x="0" y="145726"/>
                </a:moveTo>
                <a:cubicBezTo>
                  <a:pt x="0" y="65244"/>
                  <a:pt x="65244" y="0"/>
                  <a:pt x="145726" y="0"/>
                </a:cubicBezTo>
                <a:lnTo>
                  <a:pt x="1727861" y="0"/>
                </a:lnTo>
                <a:cubicBezTo>
                  <a:pt x="1808343" y="0"/>
                  <a:pt x="1873587" y="65244"/>
                  <a:pt x="1873587" y="145726"/>
                </a:cubicBezTo>
                <a:lnTo>
                  <a:pt x="1873587" y="728614"/>
                </a:lnTo>
                <a:cubicBezTo>
                  <a:pt x="1873587" y="809096"/>
                  <a:pt x="1808343" y="874340"/>
                  <a:pt x="1727861" y="874340"/>
                </a:cubicBezTo>
                <a:lnTo>
                  <a:pt x="145726" y="874340"/>
                </a:lnTo>
                <a:cubicBezTo>
                  <a:pt x="65244" y="874340"/>
                  <a:pt x="0" y="809096"/>
                  <a:pt x="0" y="728614"/>
                </a:cubicBezTo>
                <a:lnTo>
                  <a:pt x="0" y="145726"/>
                </a:lnTo>
                <a:close/>
              </a:path>
            </a:pathLst>
          </a:custGeom>
          <a:solidFill>
            <a:srgbClr val="2CA3EE"/>
          </a:solidFill>
          <a:ln>
            <a:noFill/>
          </a:ln>
          <a:effectLst>
            <a:outerShdw blurRad="50800" rotWithShape="0" dir="5400000" dist="25400">
              <a:srgbClr val="000000">
                <a:alpha val="27843"/>
              </a:srgbClr>
            </a:outerShdw>
          </a:effectLst>
        </p:spPr>
        <p:txBody>
          <a:bodyPr anchorCtr="0" anchor="ctr" bIns="107450" lIns="107450" spcFirstLastPara="1" rIns="107450" wrap="square" tIns="107450">
            <a:noAutofit/>
          </a:bodyPr>
          <a:lstStyle/>
          <a:p>
            <a:pPr indent="0" lvl="0" marL="0" marR="0" rtl="0" algn="ctr">
              <a:lnSpc>
                <a:spcPct val="90000"/>
              </a:lnSpc>
              <a:spcBef>
                <a:spcPts val="0"/>
              </a:spcBef>
              <a:spcAft>
                <a:spcPts val="0"/>
              </a:spcAft>
              <a:buClr>
                <a:srgbClr val="FFFFFF"/>
              </a:buClr>
              <a:buSzPts val="1700"/>
              <a:buFont typeface="Twentieth Century"/>
              <a:buNone/>
            </a:pPr>
            <a:r>
              <a:rPr b="0" i="0" lang="en-US" sz="1700" u="none" cap="none" strike="noStrike">
                <a:solidFill>
                  <a:srgbClr val="FFFFFF"/>
                </a:solidFill>
                <a:latin typeface="Twentieth Century"/>
                <a:ea typeface="Twentieth Century"/>
                <a:cs typeface="Twentieth Century"/>
                <a:sym typeface="Twentieth Century"/>
              </a:rPr>
              <a:t>Translates the vision into culture</a:t>
            </a:r>
            <a:endParaRPr/>
          </a:p>
        </p:txBody>
      </p:sp>
      <p:sp>
        <p:nvSpPr>
          <p:cNvPr id="130" name="Google Shape;130;p6"/>
          <p:cNvSpPr/>
          <p:nvPr/>
        </p:nvSpPr>
        <p:spPr>
          <a:xfrm>
            <a:off x="1799304" y="3737930"/>
            <a:ext cx="2694038" cy="649264"/>
          </a:xfrm>
          <a:custGeom>
            <a:rect b="b" l="l" r="r" t="t"/>
            <a:pathLst>
              <a:path extrusionOk="0" h="874340" w="1873587">
                <a:moveTo>
                  <a:pt x="0" y="145726"/>
                </a:moveTo>
                <a:cubicBezTo>
                  <a:pt x="0" y="65244"/>
                  <a:pt x="65244" y="0"/>
                  <a:pt x="145726" y="0"/>
                </a:cubicBezTo>
                <a:lnTo>
                  <a:pt x="1727861" y="0"/>
                </a:lnTo>
                <a:cubicBezTo>
                  <a:pt x="1808343" y="0"/>
                  <a:pt x="1873587" y="65244"/>
                  <a:pt x="1873587" y="145726"/>
                </a:cubicBezTo>
                <a:lnTo>
                  <a:pt x="1873587" y="728614"/>
                </a:lnTo>
                <a:cubicBezTo>
                  <a:pt x="1873587" y="809096"/>
                  <a:pt x="1808343" y="874340"/>
                  <a:pt x="1727861" y="874340"/>
                </a:cubicBezTo>
                <a:lnTo>
                  <a:pt x="145726" y="874340"/>
                </a:lnTo>
                <a:cubicBezTo>
                  <a:pt x="65244" y="874340"/>
                  <a:pt x="0" y="809096"/>
                  <a:pt x="0" y="728614"/>
                </a:cubicBezTo>
                <a:lnTo>
                  <a:pt x="0" y="145726"/>
                </a:lnTo>
                <a:close/>
              </a:path>
            </a:pathLst>
          </a:custGeom>
          <a:solidFill>
            <a:srgbClr val="2CA3EE"/>
          </a:solidFill>
          <a:ln>
            <a:noFill/>
          </a:ln>
          <a:effectLst>
            <a:outerShdw blurRad="50800" rotWithShape="0" dir="5400000" dist="25400">
              <a:srgbClr val="000000">
                <a:alpha val="27843"/>
              </a:srgbClr>
            </a:outerShdw>
          </a:effectLst>
        </p:spPr>
        <p:txBody>
          <a:bodyPr anchorCtr="0" anchor="ctr" bIns="107450" lIns="107450" spcFirstLastPara="1" rIns="107450" wrap="square" tIns="107450">
            <a:noAutofit/>
          </a:bodyPr>
          <a:lstStyle/>
          <a:p>
            <a:pPr indent="0" lvl="0" marL="0" marR="0" rtl="0" algn="ctr">
              <a:lnSpc>
                <a:spcPct val="90000"/>
              </a:lnSpc>
              <a:spcBef>
                <a:spcPts val="0"/>
              </a:spcBef>
              <a:spcAft>
                <a:spcPts val="0"/>
              </a:spcAft>
              <a:buClr>
                <a:srgbClr val="FFFFFF"/>
              </a:buClr>
              <a:buSzPts val="1700"/>
              <a:buFont typeface="Twentieth Century"/>
              <a:buNone/>
            </a:pPr>
            <a:r>
              <a:rPr b="0" i="0" lang="en-US" sz="1700" u="none" cap="none" strike="noStrike">
                <a:solidFill>
                  <a:srgbClr val="FFFFFF"/>
                </a:solidFill>
                <a:latin typeface="Twentieth Century"/>
                <a:ea typeface="Twentieth Century"/>
                <a:cs typeface="Twentieth Century"/>
                <a:sym typeface="Twentieth Century"/>
              </a:rPr>
              <a:t>Provides recognition for good work</a:t>
            </a:r>
            <a:endParaRPr/>
          </a:p>
        </p:txBody>
      </p:sp>
      <p:sp>
        <p:nvSpPr>
          <p:cNvPr id="131" name="Google Shape;131;p6"/>
          <p:cNvSpPr/>
          <p:nvPr/>
        </p:nvSpPr>
        <p:spPr>
          <a:xfrm>
            <a:off x="4650657" y="2293709"/>
            <a:ext cx="2682769" cy="649264"/>
          </a:xfrm>
          <a:custGeom>
            <a:rect b="b" l="l" r="r" t="t"/>
            <a:pathLst>
              <a:path extrusionOk="0" h="874340" w="1873587">
                <a:moveTo>
                  <a:pt x="0" y="145726"/>
                </a:moveTo>
                <a:cubicBezTo>
                  <a:pt x="0" y="65244"/>
                  <a:pt x="65244" y="0"/>
                  <a:pt x="145726" y="0"/>
                </a:cubicBezTo>
                <a:lnTo>
                  <a:pt x="1727861" y="0"/>
                </a:lnTo>
                <a:cubicBezTo>
                  <a:pt x="1808343" y="0"/>
                  <a:pt x="1873587" y="65244"/>
                  <a:pt x="1873587" y="145726"/>
                </a:cubicBezTo>
                <a:lnTo>
                  <a:pt x="1873587" y="728614"/>
                </a:lnTo>
                <a:cubicBezTo>
                  <a:pt x="1873587" y="809096"/>
                  <a:pt x="1808343" y="874340"/>
                  <a:pt x="1727861" y="874340"/>
                </a:cubicBezTo>
                <a:lnTo>
                  <a:pt x="145726" y="874340"/>
                </a:lnTo>
                <a:cubicBezTo>
                  <a:pt x="65244" y="874340"/>
                  <a:pt x="0" y="809096"/>
                  <a:pt x="0" y="728614"/>
                </a:cubicBezTo>
                <a:lnTo>
                  <a:pt x="0" y="145726"/>
                </a:lnTo>
                <a:close/>
              </a:path>
            </a:pathLst>
          </a:custGeom>
          <a:solidFill>
            <a:srgbClr val="2CA3EE"/>
          </a:solidFill>
          <a:ln>
            <a:noFill/>
          </a:ln>
          <a:effectLst>
            <a:outerShdw blurRad="50800" rotWithShape="0" dir="5400000" dist="25400">
              <a:srgbClr val="000000">
                <a:alpha val="27843"/>
              </a:srgbClr>
            </a:outerShdw>
          </a:effectLst>
        </p:spPr>
        <p:txBody>
          <a:bodyPr anchorCtr="0" anchor="ctr" bIns="107450" lIns="107450" spcFirstLastPara="1" rIns="107450" wrap="square" tIns="107450">
            <a:noAutofit/>
          </a:bodyPr>
          <a:lstStyle/>
          <a:p>
            <a:pPr indent="0" lvl="0" marL="0" marR="0" rtl="0" algn="ctr">
              <a:lnSpc>
                <a:spcPct val="90000"/>
              </a:lnSpc>
              <a:spcBef>
                <a:spcPts val="0"/>
              </a:spcBef>
              <a:spcAft>
                <a:spcPts val="0"/>
              </a:spcAft>
              <a:buClr>
                <a:srgbClr val="FFFFFF"/>
              </a:buClr>
              <a:buSzPts val="1700"/>
              <a:buFont typeface="Twentieth Century"/>
              <a:buNone/>
            </a:pPr>
            <a:r>
              <a:rPr b="0" i="0" lang="en-US" sz="1700" u="none" cap="none" strike="noStrike">
                <a:solidFill>
                  <a:srgbClr val="FFFFFF"/>
                </a:solidFill>
                <a:latin typeface="Twentieth Century"/>
                <a:ea typeface="Twentieth Century"/>
                <a:cs typeface="Twentieth Century"/>
                <a:sym typeface="Twentieth Century"/>
              </a:rPr>
              <a:t>Effectively allocates resources – people &amp; funds </a:t>
            </a:r>
            <a:endParaRPr/>
          </a:p>
        </p:txBody>
      </p:sp>
      <p:sp>
        <p:nvSpPr>
          <p:cNvPr id="132" name="Google Shape;132;p6"/>
          <p:cNvSpPr/>
          <p:nvPr/>
        </p:nvSpPr>
        <p:spPr>
          <a:xfrm>
            <a:off x="1799304" y="2293709"/>
            <a:ext cx="2694038" cy="649264"/>
          </a:xfrm>
          <a:custGeom>
            <a:rect b="b" l="l" r="r" t="t"/>
            <a:pathLst>
              <a:path extrusionOk="0" h="874340" w="1873587">
                <a:moveTo>
                  <a:pt x="0" y="145726"/>
                </a:moveTo>
                <a:cubicBezTo>
                  <a:pt x="0" y="65244"/>
                  <a:pt x="65244" y="0"/>
                  <a:pt x="145726" y="0"/>
                </a:cubicBezTo>
                <a:lnTo>
                  <a:pt x="1727861" y="0"/>
                </a:lnTo>
                <a:cubicBezTo>
                  <a:pt x="1808343" y="0"/>
                  <a:pt x="1873587" y="65244"/>
                  <a:pt x="1873587" y="145726"/>
                </a:cubicBezTo>
                <a:lnTo>
                  <a:pt x="1873587" y="728614"/>
                </a:lnTo>
                <a:cubicBezTo>
                  <a:pt x="1873587" y="809096"/>
                  <a:pt x="1808343" y="874340"/>
                  <a:pt x="1727861" y="874340"/>
                </a:cubicBezTo>
                <a:lnTo>
                  <a:pt x="145726" y="874340"/>
                </a:lnTo>
                <a:cubicBezTo>
                  <a:pt x="65244" y="874340"/>
                  <a:pt x="0" y="809096"/>
                  <a:pt x="0" y="728614"/>
                </a:cubicBezTo>
                <a:lnTo>
                  <a:pt x="0" y="145726"/>
                </a:lnTo>
                <a:close/>
              </a:path>
            </a:pathLst>
          </a:custGeom>
          <a:solidFill>
            <a:srgbClr val="2CA3EE"/>
          </a:solidFill>
          <a:ln>
            <a:noFill/>
          </a:ln>
          <a:effectLst>
            <a:outerShdw blurRad="50800" rotWithShape="0" dir="5400000" dist="25400">
              <a:srgbClr val="000000">
                <a:alpha val="27843"/>
              </a:srgbClr>
            </a:outerShdw>
          </a:effectLst>
        </p:spPr>
        <p:txBody>
          <a:bodyPr anchorCtr="0" anchor="ctr" bIns="107450" lIns="107450" spcFirstLastPara="1" rIns="107450" wrap="square" tIns="107450">
            <a:noAutofit/>
          </a:bodyPr>
          <a:lstStyle/>
          <a:p>
            <a:pPr indent="0" lvl="0" marL="0" marR="0" rtl="0" algn="ctr">
              <a:lnSpc>
                <a:spcPct val="90000"/>
              </a:lnSpc>
              <a:spcBef>
                <a:spcPts val="0"/>
              </a:spcBef>
              <a:spcAft>
                <a:spcPts val="0"/>
              </a:spcAft>
              <a:buClr>
                <a:srgbClr val="FFFFFF"/>
              </a:buClr>
              <a:buSzPts val="1700"/>
              <a:buFont typeface="Twentieth Century"/>
              <a:buNone/>
            </a:pPr>
            <a:r>
              <a:rPr b="0" i="0" lang="en-US" sz="1700" u="none" cap="none" strike="noStrike">
                <a:solidFill>
                  <a:srgbClr val="FFFFFF"/>
                </a:solidFill>
                <a:latin typeface="Twentieth Century"/>
                <a:ea typeface="Twentieth Century"/>
                <a:cs typeface="Twentieth Century"/>
                <a:sym typeface="Twentieth Century"/>
              </a:rPr>
              <a:t>Clearly defines responsibilities</a:t>
            </a:r>
            <a:endParaRPr/>
          </a:p>
        </p:txBody>
      </p:sp>
      <p:sp>
        <p:nvSpPr>
          <p:cNvPr id="133" name="Google Shape;133;p6"/>
          <p:cNvSpPr/>
          <p:nvPr/>
        </p:nvSpPr>
        <p:spPr>
          <a:xfrm>
            <a:off x="1799303" y="1004570"/>
            <a:ext cx="5534124" cy="395062"/>
          </a:xfrm>
          <a:custGeom>
            <a:rect b="b" l="l" r="r" t="t"/>
            <a:pathLst>
              <a:path extrusionOk="0" h="1040882" w="1873587">
                <a:moveTo>
                  <a:pt x="0" y="104088"/>
                </a:moveTo>
                <a:cubicBezTo>
                  <a:pt x="0" y="46602"/>
                  <a:pt x="46602" y="0"/>
                  <a:pt x="104088" y="0"/>
                </a:cubicBezTo>
                <a:lnTo>
                  <a:pt x="1769499" y="0"/>
                </a:lnTo>
                <a:cubicBezTo>
                  <a:pt x="1826985" y="0"/>
                  <a:pt x="1873587" y="46602"/>
                  <a:pt x="1873587" y="104088"/>
                </a:cubicBezTo>
                <a:lnTo>
                  <a:pt x="1873587" y="936794"/>
                </a:lnTo>
                <a:cubicBezTo>
                  <a:pt x="1873587" y="994280"/>
                  <a:pt x="1826985" y="1040882"/>
                  <a:pt x="1769499" y="1040882"/>
                </a:cubicBezTo>
                <a:lnTo>
                  <a:pt x="104088" y="1040882"/>
                </a:lnTo>
                <a:cubicBezTo>
                  <a:pt x="46602" y="1040882"/>
                  <a:pt x="0" y="994280"/>
                  <a:pt x="0" y="936794"/>
                </a:cubicBezTo>
                <a:lnTo>
                  <a:pt x="0" y="104088"/>
                </a:lnTo>
                <a:close/>
              </a:path>
            </a:pathLst>
          </a:custGeom>
          <a:solidFill>
            <a:srgbClr val="CBE0F7">
              <a:alpha val="89803"/>
            </a:srgbClr>
          </a:solidFill>
          <a:ln>
            <a:noFill/>
          </a:ln>
        </p:spPr>
        <p:txBody>
          <a:bodyPr anchorCtr="0" anchor="ctr" bIns="110475" lIns="110475" spcFirstLastPara="1" rIns="110475" wrap="square" tIns="110475">
            <a:noAutofit/>
          </a:bodyPr>
          <a:lstStyle/>
          <a:p>
            <a:pPr indent="0" lvl="0" marL="0" marR="0" rtl="0" algn="ctr">
              <a:lnSpc>
                <a:spcPct val="90000"/>
              </a:lnSpc>
              <a:spcBef>
                <a:spcPts val="0"/>
              </a:spcBef>
              <a:spcAft>
                <a:spcPts val="0"/>
              </a:spcAft>
              <a:buClr>
                <a:srgbClr val="000000"/>
              </a:buClr>
              <a:buSzPts val="2100"/>
              <a:buFont typeface="Twentieth Century"/>
              <a:buNone/>
            </a:pPr>
            <a:r>
              <a:rPr b="0" i="0" lang="en-US" sz="2100" u="none" cap="none" strike="noStrike">
                <a:solidFill>
                  <a:srgbClr val="000000"/>
                </a:solidFill>
                <a:latin typeface="Twentieth Century"/>
                <a:ea typeface="Twentieth Century"/>
                <a:cs typeface="Twentieth Century"/>
                <a:sym typeface="Twentieth Century"/>
              </a:rPr>
              <a:t>Provides leadership</a:t>
            </a:r>
            <a:endParaRPr/>
          </a:p>
        </p:txBody>
      </p:sp>
      <p:sp>
        <p:nvSpPr>
          <p:cNvPr id="134" name="Google Shape;134;p6"/>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7.7: Leadership – What Makes an Effective Leader?</a:t>
            </a:r>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7"/>
          <p:cNvSpPr/>
          <p:nvPr/>
        </p:nvSpPr>
        <p:spPr>
          <a:xfrm>
            <a:off x="180000" y="180000"/>
            <a:ext cx="8640000" cy="50400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2400" u="none" cap="none" strike="noStrike">
                <a:solidFill>
                  <a:srgbClr val="F8F8F8"/>
                </a:solidFill>
                <a:latin typeface="Arial"/>
                <a:ea typeface="Arial"/>
                <a:cs typeface="Arial"/>
                <a:sym typeface="Arial"/>
              </a:rPr>
              <a:t>Consider: Are Leaders “Born” or “Made”?</a:t>
            </a:r>
            <a:endParaRPr/>
          </a:p>
        </p:txBody>
      </p:sp>
      <p:sp>
        <p:nvSpPr>
          <p:cNvPr id="144" name="Google Shape;144;p7"/>
          <p:cNvSpPr/>
          <p:nvPr/>
        </p:nvSpPr>
        <p:spPr>
          <a:xfrm>
            <a:off x="180000" y="828000"/>
            <a:ext cx="8640000" cy="532800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b="0" i="0" lang="en-US" sz="2000" u="none" cap="none" strike="noStrike">
                <a:solidFill>
                  <a:srgbClr val="F8F8F8"/>
                </a:solidFill>
                <a:latin typeface="Arial"/>
                <a:ea typeface="Arial"/>
                <a:cs typeface="Arial"/>
                <a:sym typeface="Arial"/>
              </a:rPr>
              <a:t>Recall: </a:t>
            </a:r>
            <a:endParaRPr/>
          </a:p>
          <a:p>
            <a:pPr indent="-360000" lvl="0" marL="360000" marR="0" rtl="0" algn="l">
              <a:lnSpc>
                <a:spcPct val="90000"/>
              </a:lnSpc>
              <a:spcBef>
                <a:spcPts val="0"/>
              </a:spcBef>
              <a:spcAft>
                <a:spcPts val="0"/>
              </a:spcAft>
              <a:buClr>
                <a:srgbClr val="F8F8F8"/>
              </a:buClr>
              <a:buSzPts val="2000"/>
              <a:buFont typeface="Noto Sans Symbols"/>
              <a:buChar char="⮚"/>
            </a:pPr>
            <a:r>
              <a:rPr b="0" i="0" lang="en-US" sz="2000" u="none" cap="none" strike="noStrike">
                <a:solidFill>
                  <a:srgbClr val="F8F8F8"/>
                </a:solidFill>
                <a:latin typeface="Arial"/>
                <a:ea typeface="Arial"/>
                <a:cs typeface="Arial"/>
                <a:sym typeface="Arial"/>
              </a:rPr>
              <a:t>Safety culture is determined by the actions of leaders!</a:t>
            </a:r>
            <a:endParaRPr/>
          </a:p>
          <a:p>
            <a:pPr indent="-360000" lvl="0" marL="360000" marR="0" rtl="0" algn="l">
              <a:lnSpc>
                <a:spcPct val="90000"/>
              </a:lnSpc>
              <a:spcBef>
                <a:spcPts val="0"/>
              </a:spcBef>
              <a:spcAft>
                <a:spcPts val="0"/>
              </a:spcAft>
              <a:buClr>
                <a:srgbClr val="F8F8F8"/>
              </a:buClr>
              <a:buSzPts val="2000"/>
              <a:buFont typeface="Noto Sans Symbols"/>
              <a:buChar char="⮚"/>
            </a:pPr>
            <a:r>
              <a:rPr b="0" i="0" lang="en-US" sz="2000" u="none" cap="none" strike="noStrike">
                <a:solidFill>
                  <a:srgbClr val="F8F8F8"/>
                </a:solidFill>
                <a:latin typeface="Arial"/>
                <a:ea typeface="Arial"/>
                <a:cs typeface="Arial"/>
                <a:sym typeface="Arial"/>
              </a:rPr>
              <a:t>The leaders actions (practices, behaviours) are the strongest form of messaging.</a:t>
            </a:r>
            <a:endParaRPr/>
          </a:p>
          <a:p>
            <a:pPr indent="0" lvl="0" marL="0" marR="0" rtl="0" algn="l">
              <a:lnSpc>
                <a:spcPct val="90000"/>
              </a:lnSpc>
              <a:spcBef>
                <a:spcPts val="0"/>
              </a:spcBef>
              <a:spcAft>
                <a:spcPts val="0"/>
              </a:spcAft>
              <a:buNone/>
            </a:pPr>
            <a:r>
              <a:t/>
            </a:r>
            <a:endParaRPr b="0" i="0" sz="2000" u="none" cap="none" strike="noStrike">
              <a:solidFill>
                <a:srgbClr val="F8F8F8"/>
              </a:solidFill>
              <a:latin typeface="Arial"/>
              <a:ea typeface="Arial"/>
              <a:cs typeface="Arial"/>
              <a:sym typeface="Arial"/>
            </a:endParaRPr>
          </a:p>
          <a:p>
            <a:pPr indent="0" lvl="0" marL="0" marR="0" rtl="0" algn="l">
              <a:lnSpc>
                <a:spcPct val="90000"/>
              </a:lnSpc>
              <a:spcBef>
                <a:spcPts val="0"/>
              </a:spcBef>
              <a:spcAft>
                <a:spcPts val="0"/>
              </a:spcAft>
              <a:buNone/>
            </a:pPr>
            <a:r>
              <a:rPr b="0" i="0" lang="en-US" sz="2000" u="none" cap="none" strike="noStrike">
                <a:solidFill>
                  <a:srgbClr val="F8F8F8"/>
                </a:solidFill>
                <a:latin typeface="Arial"/>
                <a:ea typeface="Arial"/>
                <a:cs typeface="Arial"/>
                <a:sym typeface="Arial"/>
              </a:rPr>
              <a:t>Two theories of the “making” of effective leaders have evolved:</a:t>
            </a:r>
            <a:endParaRPr/>
          </a:p>
          <a:p>
            <a:pPr indent="-360000" lvl="0" marL="360000" marR="0" rtl="0" algn="l">
              <a:lnSpc>
                <a:spcPct val="90000"/>
              </a:lnSpc>
              <a:spcBef>
                <a:spcPts val="0"/>
              </a:spcBef>
              <a:spcAft>
                <a:spcPts val="0"/>
              </a:spcAft>
              <a:buClr>
                <a:srgbClr val="F8F8F8"/>
              </a:buClr>
              <a:buSzPts val="2000"/>
              <a:buFont typeface="Arial"/>
              <a:buAutoNum type="arabicParenR"/>
            </a:pPr>
            <a:r>
              <a:rPr b="0" i="0" lang="en-US" sz="2000" u="none" cap="none" strike="noStrike">
                <a:solidFill>
                  <a:srgbClr val="F8F8F8"/>
                </a:solidFill>
                <a:latin typeface="Arial"/>
                <a:ea typeface="Arial"/>
                <a:cs typeface="Arial"/>
                <a:sym typeface="Arial"/>
              </a:rPr>
              <a:t>Trait-based models – “leaders are born”.</a:t>
            </a:r>
            <a:endParaRPr/>
          </a:p>
          <a:p>
            <a:pPr indent="-360000" lvl="0" marL="360000" marR="0" rtl="0" algn="l">
              <a:lnSpc>
                <a:spcPct val="90000"/>
              </a:lnSpc>
              <a:spcBef>
                <a:spcPts val="0"/>
              </a:spcBef>
              <a:spcAft>
                <a:spcPts val="0"/>
              </a:spcAft>
              <a:buClr>
                <a:srgbClr val="F8F8F8"/>
              </a:buClr>
              <a:buSzPts val="2000"/>
              <a:buFont typeface="Arial"/>
              <a:buAutoNum type="arabicParenR"/>
            </a:pPr>
            <a:r>
              <a:rPr b="0" i="0" lang="en-US" sz="2000" u="none" cap="none" strike="noStrike">
                <a:solidFill>
                  <a:srgbClr val="F8F8F8"/>
                </a:solidFill>
                <a:latin typeface="Arial"/>
                <a:ea typeface="Arial"/>
                <a:cs typeface="Arial"/>
                <a:sym typeface="Arial"/>
              </a:rPr>
              <a:t>Behaviour-based models – “people can be trained to be good leaders”.</a:t>
            </a:r>
            <a:endParaRPr b="0" i="0" sz="2000" u="none" cap="none" strike="noStrike">
              <a:solidFill>
                <a:srgbClr val="F8F8F8"/>
              </a:solidFill>
              <a:latin typeface="Arial"/>
              <a:ea typeface="Arial"/>
              <a:cs typeface="Arial"/>
              <a:sym typeface="Arial"/>
            </a:endParaRPr>
          </a:p>
          <a:p>
            <a:pPr indent="-233000" lvl="0" marL="360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rgbClr val="F8F8F8"/>
              </a:solidFill>
              <a:latin typeface="Arial"/>
              <a:ea typeface="Arial"/>
              <a:cs typeface="Arial"/>
              <a:sym typeface="Arial"/>
            </a:endParaRPr>
          </a:p>
          <a:p>
            <a:pPr indent="-360000" lvl="0" marL="360000" marR="0" rtl="0" algn="l">
              <a:lnSpc>
                <a:spcPct val="90000"/>
              </a:lnSpc>
              <a:spcBef>
                <a:spcPts val="0"/>
              </a:spcBef>
              <a:spcAft>
                <a:spcPts val="0"/>
              </a:spcAft>
              <a:buClr>
                <a:srgbClr val="F8F8F8"/>
              </a:buClr>
              <a:buSzPts val="2000"/>
              <a:buFont typeface="Noto Sans Symbols"/>
              <a:buChar char="⮚"/>
            </a:pPr>
            <a:r>
              <a:rPr b="0" i="0" lang="en-US" sz="2000" u="none" cap="none" strike="noStrike">
                <a:solidFill>
                  <a:srgbClr val="F8F8F8"/>
                </a:solidFill>
                <a:latin typeface="Arial"/>
                <a:ea typeface="Arial"/>
                <a:cs typeface="Arial"/>
                <a:sym typeface="Arial"/>
              </a:rPr>
              <a:t>Think of any “leaders” you know or for whom you worked in your work terms.  What was your perspective of those leaders? Were they: </a:t>
            </a:r>
            <a:endParaRPr b="0" i="0" sz="2000" u="none" cap="none" strike="noStrike">
              <a:solidFill>
                <a:srgbClr val="F8F8F8"/>
              </a:solidFill>
              <a:latin typeface="Arial"/>
              <a:ea typeface="Arial"/>
              <a:cs typeface="Arial"/>
              <a:sym typeface="Arial"/>
            </a:endParaRPr>
          </a:p>
          <a:p>
            <a:pPr indent="-359999" lvl="1" marL="720000" marR="0" rtl="0" algn="l">
              <a:lnSpc>
                <a:spcPct val="90000"/>
              </a:lnSpc>
              <a:spcBef>
                <a:spcPts val="0"/>
              </a:spcBef>
              <a:spcAft>
                <a:spcPts val="0"/>
              </a:spcAft>
              <a:buClr>
                <a:srgbClr val="F8F8F8"/>
              </a:buClr>
              <a:buSzPts val="2000"/>
              <a:buFont typeface="Noto Sans Symbols"/>
              <a:buChar char="⮚"/>
            </a:pPr>
            <a:r>
              <a:rPr b="0" i="0" lang="en-US" sz="2000" u="none" cap="none" strike="noStrike">
                <a:solidFill>
                  <a:srgbClr val="F8F8F8"/>
                </a:solidFill>
                <a:latin typeface="Arial"/>
                <a:ea typeface="Arial"/>
                <a:cs typeface="Arial"/>
                <a:sym typeface="Arial"/>
              </a:rPr>
              <a:t>“Born leaders?” </a:t>
            </a:r>
            <a:endParaRPr/>
          </a:p>
          <a:p>
            <a:pPr indent="-359999" lvl="1" marL="720000" marR="0" rtl="0" algn="l">
              <a:lnSpc>
                <a:spcPct val="90000"/>
              </a:lnSpc>
              <a:spcBef>
                <a:spcPts val="0"/>
              </a:spcBef>
              <a:spcAft>
                <a:spcPts val="0"/>
              </a:spcAft>
              <a:buClr>
                <a:srgbClr val="F8F8F8"/>
              </a:buClr>
              <a:buSzPts val="2000"/>
              <a:buFont typeface="Noto Sans Symbols"/>
              <a:buChar char="⮚"/>
            </a:pPr>
            <a:r>
              <a:rPr b="0" i="0" lang="en-US" sz="2000" u="none" cap="none" strike="noStrike">
                <a:solidFill>
                  <a:srgbClr val="F8F8F8"/>
                </a:solidFill>
                <a:latin typeface="Arial"/>
                <a:ea typeface="Arial"/>
                <a:cs typeface="Arial"/>
                <a:sym typeface="Arial"/>
              </a:rPr>
              <a:t>“Trained leaders?”</a:t>
            </a:r>
            <a:endParaRPr/>
          </a:p>
          <a:p>
            <a:pPr indent="-305000" lvl="0" marL="432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rgbClr val="F8F8F8"/>
              </a:solidFill>
              <a:latin typeface="Arial"/>
              <a:ea typeface="Arial"/>
              <a:cs typeface="Arial"/>
              <a:sym typeface="Arial"/>
            </a:endParaRPr>
          </a:p>
          <a:p>
            <a:pPr indent="-360000" lvl="0" marL="360000" marR="0" rtl="0" algn="l">
              <a:lnSpc>
                <a:spcPct val="90000"/>
              </a:lnSpc>
              <a:spcBef>
                <a:spcPts val="0"/>
              </a:spcBef>
              <a:spcAft>
                <a:spcPts val="0"/>
              </a:spcAft>
              <a:buClr>
                <a:srgbClr val="F8F8F8"/>
              </a:buClr>
              <a:buSzPts val="2000"/>
              <a:buFont typeface="Noto Sans Symbols"/>
              <a:buChar char="⮚"/>
            </a:pPr>
            <a:r>
              <a:rPr b="0" i="0" lang="en-US" sz="2000" u="none" cap="none" strike="noStrike">
                <a:solidFill>
                  <a:srgbClr val="F8F8F8"/>
                </a:solidFill>
                <a:latin typeface="Arial"/>
                <a:ea typeface="Arial"/>
                <a:cs typeface="Arial"/>
                <a:sym typeface="Arial"/>
              </a:rPr>
              <a:t>Research, beginning well over 50 years ago, supports that leaders can be trained. This lecture aims to explore these universal questions:</a:t>
            </a:r>
            <a:endParaRPr/>
          </a:p>
          <a:p>
            <a:pPr indent="-359999" lvl="1" marL="720000" marR="0" rtl="0" algn="l">
              <a:lnSpc>
                <a:spcPct val="90000"/>
              </a:lnSpc>
              <a:spcBef>
                <a:spcPts val="0"/>
              </a:spcBef>
              <a:spcAft>
                <a:spcPts val="0"/>
              </a:spcAft>
              <a:buClr>
                <a:srgbClr val="F8F8F8"/>
              </a:buClr>
              <a:buSzPts val="2000"/>
              <a:buFont typeface="Noto Sans Symbols"/>
              <a:buChar char="⮚"/>
            </a:pPr>
            <a:r>
              <a:rPr b="0" i="0" lang="en-US" sz="2000" u="none" cap="none" strike="noStrike">
                <a:solidFill>
                  <a:srgbClr val="F8F8F8"/>
                </a:solidFill>
                <a:latin typeface="Arial"/>
                <a:ea typeface="Arial"/>
                <a:cs typeface="Arial"/>
                <a:sym typeface="Arial"/>
              </a:rPr>
              <a:t>What is leadership? Effective leadership?</a:t>
            </a:r>
            <a:endParaRPr/>
          </a:p>
          <a:p>
            <a:pPr indent="-359999" lvl="1" marL="720000" marR="0" rtl="0" algn="l">
              <a:lnSpc>
                <a:spcPct val="90000"/>
              </a:lnSpc>
              <a:spcBef>
                <a:spcPts val="0"/>
              </a:spcBef>
              <a:spcAft>
                <a:spcPts val="0"/>
              </a:spcAft>
              <a:buClr>
                <a:srgbClr val="F8F8F8"/>
              </a:buClr>
              <a:buSzPts val="2000"/>
              <a:buFont typeface="Noto Sans Symbols"/>
              <a:buChar char="⮚"/>
            </a:pPr>
            <a:r>
              <a:rPr b="0" i="0" lang="en-US" sz="2000" u="none" cap="none" strike="noStrike">
                <a:solidFill>
                  <a:srgbClr val="F8F8F8"/>
                </a:solidFill>
                <a:latin typeface="Arial"/>
                <a:ea typeface="Arial"/>
                <a:cs typeface="Arial"/>
                <a:sym typeface="Arial"/>
              </a:rPr>
              <a:t>What makes a great leader?</a:t>
            </a:r>
            <a:endParaRPr/>
          </a:p>
          <a:p>
            <a:pPr indent="-359999" lvl="1" marL="720000" marR="0" rtl="0" algn="l">
              <a:lnSpc>
                <a:spcPct val="90000"/>
              </a:lnSpc>
              <a:spcBef>
                <a:spcPts val="0"/>
              </a:spcBef>
              <a:spcAft>
                <a:spcPts val="0"/>
              </a:spcAft>
              <a:buClr>
                <a:srgbClr val="F8F8F8"/>
              </a:buClr>
              <a:buSzPts val="2000"/>
              <a:buFont typeface="Noto Sans Symbols"/>
              <a:buChar char="⮚"/>
            </a:pPr>
            <a:r>
              <a:rPr b="0" i="0" lang="en-US" sz="2000" u="none" cap="none" strike="noStrike">
                <a:solidFill>
                  <a:srgbClr val="F8F8F8"/>
                </a:solidFill>
                <a:latin typeface="Arial"/>
                <a:ea typeface="Arial"/>
                <a:cs typeface="Arial"/>
                <a:sym typeface="Arial"/>
              </a:rPr>
              <a:t>Why does it matter?</a:t>
            </a:r>
            <a:endParaRPr b="0" i="0" sz="2000" u="none" cap="none" strike="noStrike">
              <a:solidFill>
                <a:srgbClr val="F8F8F8"/>
              </a:solidFill>
              <a:latin typeface="Arial"/>
              <a:ea typeface="Arial"/>
              <a:cs typeface="Arial"/>
              <a:sym typeface="Arial"/>
            </a:endParaRPr>
          </a:p>
        </p:txBody>
      </p:sp>
      <p:sp>
        <p:nvSpPr>
          <p:cNvPr id="145" name="Google Shape;145;p7"/>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46" name="Google Shape;146;p7"/>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7.7: Leadership – What Makes an Effective Leader?</a:t>
            </a:r>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8"/>
          <p:cNvSpPr txBox="1"/>
          <p:nvPr>
            <p:ph idx="1" type="body"/>
          </p:nvPr>
        </p:nvSpPr>
        <p:spPr>
          <a:xfrm>
            <a:off x="455613" y="822960"/>
            <a:ext cx="8226425" cy="5577840"/>
          </a:xfrm>
          <a:prstGeom prst="rect">
            <a:avLst/>
          </a:prstGeom>
          <a:solidFill>
            <a:schemeClr val="lt1">
              <a:alpha val="49803"/>
            </a:schemeClr>
          </a:solidFill>
          <a:ln cap="flat" cmpd="sng" w="9525">
            <a:solidFill>
              <a:schemeClr val="dk2"/>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AA9C8F"/>
              </a:buClr>
              <a:buSzPts val="2800"/>
              <a:buFont typeface="Noto Sans Symbols"/>
              <a:buNone/>
            </a:pPr>
            <a:r>
              <a:rPr b="0" i="0" lang="en-US" sz="2800" u="none" cap="none" strike="noStrike">
                <a:solidFill>
                  <a:srgbClr val="4D4D4D"/>
                </a:solidFill>
                <a:latin typeface="Arial"/>
                <a:ea typeface="Arial"/>
                <a:cs typeface="Arial"/>
                <a:sym typeface="Arial"/>
              </a:rPr>
              <a:t> </a:t>
            </a:r>
            <a:endParaRPr b="0" i="0" sz="2800" u="none" cap="none" strike="noStrike">
              <a:solidFill>
                <a:srgbClr val="4D4D4D"/>
              </a:solidFill>
              <a:latin typeface="Arial"/>
              <a:ea typeface="Arial"/>
              <a:cs typeface="Arial"/>
              <a:sym typeface="Arial"/>
            </a:endParaRPr>
          </a:p>
        </p:txBody>
      </p:sp>
      <p:sp>
        <p:nvSpPr>
          <p:cNvPr id="153" name="Google Shape;153;p8"/>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Our Personal Iceberg: </a:t>
            </a:r>
            <a:endParaRPr b="0" i="0" sz="2400" u="none" cap="none" strike="noStrike">
              <a:solidFill>
                <a:schemeClr val="accent2"/>
              </a:solidFill>
              <a:latin typeface="Arial"/>
              <a:ea typeface="Arial"/>
              <a:cs typeface="Arial"/>
              <a:sym typeface="Arial"/>
            </a:endParaRPr>
          </a:p>
        </p:txBody>
      </p:sp>
      <p:sp>
        <p:nvSpPr>
          <p:cNvPr id="154" name="Google Shape;154;p8"/>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55" name="Google Shape;155;p8"/>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7.7: Leadership – What Makes an Effective Leader?</a:t>
            </a:r>
            <a:endParaRPr/>
          </a:p>
        </p:txBody>
      </p:sp>
      <p:grpSp>
        <p:nvGrpSpPr>
          <p:cNvPr id="156" name="Google Shape;156;p8"/>
          <p:cNvGrpSpPr/>
          <p:nvPr/>
        </p:nvGrpSpPr>
        <p:grpSpPr>
          <a:xfrm>
            <a:off x="351852" y="914400"/>
            <a:ext cx="8182548" cy="5277127"/>
            <a:chOff x="161872" y="990600"/>
            <a:chExt cx="8182548" cy="5277127"/>
          </a:xfrm>
        </p:grpSpPr>
        <p:pic>
          <p:nvPicPr>
            <p:cNvPr id="157" name="Google Shape;157;p8"/>
            <p:cNvPicPr preferRelativeResize="0"/>
            <p:nvPr/>
          </p:nvPicPr>
          <p:blipFill rotWithShape="1">
            <a:blip r:embed="rId3">
              <a:alphaModFix/>
            </a:blip>
            <a:srcRect b="0" l="0" r="0" t="0"/>
            <a:stretch/>
          </p:blipFill>
          <p:spPr>
            <a:xfrm>
              <a:off x="891705" y="990600"/>
              <a:ext cx="7096826" cy="5277127"/>
            </a:xfrm>
            <a:prstGeom prst="rect">
              <a:avLst/>
            </a:prstGeom>
            <a:noFill/>
            <a:ln>
              <a:noFill/>
            </a:ln>
          </p:spPr>
        </p:pic>
        <p:sp>
          <p:nvSpPr>
            <p:cNvPr id="158" name="Google Shape;158;p8"/>
            <p:cNvSpPr/>
            <p:nvPr/>
          </p:nvSpPr>
          <p:spPr>
            <a:xfrm>
              <a:off x="3088376" y="2219429"/>
              <a:ext cx="2098766" cy="348343"/>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800" u="none" cap="none" strike="noStrike">
                <a:solidFill>
                  <a:schemeClr val="lt1"/>
                </a:solidFill>
                <a:latin typeface="Arial"/>
                <a:ea typeface="Arial"/>
                <a:cs typeface="Arial"/>
                <a:sym typeface="Arial"/>
              </a:endParaRPr>
            </a:p>
          </p:txBody>
        </p:sp>
        <p:sp>
          <p:nvSpPr>
            <p:cNvPr id="159" name="Google Shape;159;p8"/>
            <p:cNvSpPr/>
            <p:nvPr/>
          </p:nvSpPr>
          <p:spPr>
            <a:xfrm>
              <a:off x="2593571" y="3045556"/>
              <a:ext cx="3150524" cy="2856015"/>
            </a:xfrm>
            <a:prstGeom prst="upArrowCallout">
              <a:avLst>
                <a:gd fmla="val 38530" name="adj1"/>
                <a:gd fmla="val 25000" name="adj2"/>
                <a:gd fmla="val 10305" name="adj3"/>
                <a:gd fmla="val 79660" name="adj4"/>
              </a:avLst>
            </a:prstGeom>
            <a:noFill/>
            <a:ln cap="flat" cmpd="sng" w="57150">
              <a:solidFill>
                <a:srgbClr val="0033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800" u="none" cap="none" strike="noStrike">
                <a:solidFill>
                  <a:schemeClr val="lt1"/>
                </a:solidFill>
                <a:latin typeface="Arial"/>
                <a:ea typeface="Arial"/>
                <a:cs typeface="Arial"/>
                <a:sym typeface="Arial"/>
              </a:endParaRPr>
            </a:p>
          </p:txBody>
        </p:sp>
        <p:sp>
          <p:nvSpPr>
            <p:cNvPr id="160" name="Google Shape;160;p8"/>
            <p:cNvSpPr/>
            <p:nvPr/>
          </p:nvSpPr>
          <p:spPr>
            <a:xfrm>
              <a:off x="1105592" y="1507701"/>
              <a:ext cx="1221971" cy="3732415"/>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800" u="none" cap="none" strike="noStrike">
                <a:solidFill>
                  <a:schemeClr val="lt1"/>
                </a:solidFill>
                <a:latin typeface="Arial"/>
                <a:ea typeface="Arial"/>
                <a:cs typeface="Arial"/>
                <a:sym typeface="Arial"/>
              </a:endParaRPr>
            </a:p>
          </p:txBody>
        </p:sp>
        <p:sp>
          <p:nvSpPr>
            <p:cNvPr id="161" name="Google Shape;161;p8"/>
            <p:cNvSpPr/>
            <p:nvPr/>
          </p:nvSpPr>
          <p:spPr>
            <a:xfrm>
              <a:off x="161872" y="1431777"/>
              <a:ext cx="2306584" cy="628387"/>
            </a:xfrm>
            <a:prstGeom prst="wedgeRoundRectCallout">
              <a:avLst>
                <a:gd fmla="val 78062" name="adj1"/>
                <a:gd fmla="val 107131" name="adj2"/>
                <a:gd fmla="val 16667" name="adj3"/>
              </a:avLst>
            </a:prstGeom>
            <a:solidFill>
              <a:srgbClr val="FFFF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chemeClr val="dk1"/>
                  </a:solidFill>
                  <a:latin typeface="Arial"/>
                  <a:ea typeface="Arial"/>
                  <a:cs typeface="Arial"/>
                  <a:sym typeface="Arial"/>
                </a:rPr>
                <a:t>1) This is what people “see about you”.</a:t>
              </a:r>
              <a:endParaRPr b="1" i="0" sz="1400" u="none" cap="none" strike="noStrike">
                <a:solidFill>
                  <a:schemeClr val="dk1"/>
                </a:solidFill>
                <a:latin typeface="Arial"/>
                <a:ea typeface="Arial"/>
                <a:cs typeface="Arial"/>
                <a:sym typeface="Arial"/>
              </a:endParaRPr>
            </a:p>
          </p:txBody>
        </p:sp>
        <p:sp>
          <p:nvSpPr>
            <p:cNvPr id="162" name="Google Shape;162;p8"/>
            <p:cNvSpPr/>
            <p:nvPr/>
          </p:nvSpPr>
          <p:spPr>
            <a:xfrm>
              <a:off x="6037836" y="2417169"/>
              <a:ext cx="2306584" cy="628387"/>
            </a:xfrm>
            <a:prstGeom prst="wedgeRoundRectCallout">
              <a:avLst>
                <a:gd fmla="val -92581" name="adj1"/>
                <a:gd fmla="val -112564" name="adj2"/>
                <a:gd fmla="val 16667" name="adj3"/>
              </a:avLst>
            </a:prstGeom>
            <a:solidFill>
              <a:srgbClr val="FFFF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chemeClr val="dk1"/>
                  </a:solidFill>
                  <a:latin typeface="Arial"/>
                  <a:ea typeface="Arial"/>
                  <a:cs typeface="Arial"/>
                  <a:sym typeface="Arial"/>
                </a:rPr>
                <a:t>2) People “form perceptions about you”.</a:t>
              </a:r>
              <a:endParaRPr b="1" i="0" sz="1400" u="none" cap="none" strike="noStrike">
                <a:solidFill>
                  <a:schemeClr val="dk1"/>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9"/>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People – your superiors, your peers, and your subordinates – see your actions and your behaviours. </a:t>
            </a:r>
            <a:endParaRPr/>
          </a:p>
          <a:p>
            <a:pPr indent="-359999" lvl="1" marL="720000" marR="0" rtl="0" algn="l">
              <a:lnSpc>
                <a:spcPct val="90000"/>
              </a:lnSpc>
              <a:spcBef>
                <a:spcPts val="0"/>
              </a:spcBef>
              <a:spcAft>
                <a:spcPts val="0"/>
              </a:spcAft>
              <a:buClr>
                <a:srgbClr val="000000"/>
              </a:buClr>
              <a:buSzPts val="2000"/>
              <a:buFont typeface="Noto Sans Symbols"/>
              <a:buChar char="⮚"/>
            </a:pPr>
            <a:r>
              <a:rPr b="1" i="0" lang="en-US" sz="2000" u="none" cap="none" strike="noStrike">
                <a:solidFill>
                  <a:srgbClr val="000000"/>
                </a:solidFill>
                <a:latin typeface="Arial"/>
                <a:ea typeface="Arial"/>
                <a:cs typeface="Arial"/>
                <a:sym typeface="Arial"/>
              </a:rPr>
              <a:t>This is “their perception of you” or “how they perceive you”.</a:t>
            </a:r>
            <a:endParaRPr/>
          </a:p>
          <a:p>
            <a:pPr indent="-305000" lvl="0" marL="432000" marR="0" rtl="0" algn="l">
              <a:lnSpc>
                <a:spcPct val="9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They </a:t>
            </a:r>
            <a:r>
              <a:rPr b="0" i="0" lang="en-US" sz="2000" u="sng" cap="none" strike="noStrike">
                <a:solidFill>
                  <a:srgbClr val="000000"/>
                </a:solidFill>
                <a:latin typeface="Arial"/>
                <a:ea typeface="Arial"/>
                <a:cs typeface="Arial"/>
                <a:sym typeface="Arial"/>
              </a:rPr>
              <a:t>cannot know what you are thinking</a:t>
            </a:r>
            <a:r>
              <a:rPr b="0" i="0" lang="en-US" sz="2000" u="none" cap="none" strike="noStrike">
                <a:solidFill>
                  <a:srgbClr val="000000"/>
                </a:solidFill>
                <a:latin typeface="Arial"/>
                <a:ea typeface="Arial"/>
                <a:cs typeface="Arial"/>
                <a:sym typeface="Arial"/>
              </a:rPr>
              <a:t>, </a:t>
            </a:r>
            <a:r>
              <a:rPr b="0" i="0" lang="en-US" sz="2000" u="sng" cap="none" strike="noStrike">
                <a:solidFill>
                  <a:srgbClr val="000000"/>
                </a:solidFill>
                <a:latin typeface="Arial"/>
                <a:ea typeface="Arial"/>
                <a:cs typeface="Arial"/>
                <a:sym typeface="Arial"/>
              </a:rPr>
              <a:t>nor do they know any of your underlying</a:t>
            </a:r>
            <a:r>
              <a:rPr b="0" i="0" lang="en-US" sz="2000" u="none" cap="none" strike="noStrike">
                <a:solidFill>
                  <a:srgbClr val="000000"/>
                </a:solidFill>
                <a:latin typeface="Arial"/>
                <a:ea typeface="Arial"/>
                <a:cs typeface="Arial"/>
                <a:sym typeface="Arial"/>
              </a:rPr>
              <a:t> opinions, goals, needs and wants, attitudes, values and principles, and core strengths – unless you explicitly inform them!</a:t>
            </a:r>
            <a:endParaRPr/>
          </a:p>
          <a:p>
            <a:pPr indent="-359999" lvl="1" marL="720000" marR="0" rtl="0" algn="l">
              <a:lnSpc>
                <a:spcPct val="90000"/>
              </a:lnSpc>
              <a:spcBef>
                <a:spcPts val="0"/>
              </a:spcBef>
              <a:spcAft>
                <a:spcPts val="0"/>
              </a:spcAft>
              <a:buClr>
                <a:srgbClr val="000000"/>
              </a:buClr>
              <a:buSzPts val="2000"/>
              <a:buFont typeface="Noto Sans Symbols"/>
              <a:buChar char="⮚"/>
            </a:pPr>
            <a:r>
              <a:rPr b="0" i="1" lang="en-US" sz="2000" u="none" cap="none" strike="noStrike">
                <a:solidFill>
                  <a:srgbClr val="000000"/>
                </a:solidFill>
                <a:latin typeface="Arial"/>
                <a:ea typeface="Arial"/>
                <a:cs typeface="Arial"/>
                <a:sym typeface="Arial"/>
              </a:rPr>
              <a:t>And that would take a lot of time and effort, not only because there is a lot to communicate in clear and succinct terms, but also because we have a difficult time determining,</a:t>
            </a:r>
            <a:br>
              <a:rPr b="0" i="1" lang="en-US" sz="2000" u="none" cap="none" strike="noStrike">
                <a:solidFill>
                  <a:srgbClr val="000000"/>
                </a:solidFill>
                <a:latin typeface="Arial"/>
                <a:ea typeface="Arial"/>
                <a:cs typeface="Arial"/>
                <a:sym typeface="Arial"/>
              </a:rPr>
            </a:br>
            <a:r>
              <a:rPr b="0" i="1" lang="en-US" sz="2000" u="none" cap="none" strike="noStrike">
                <a:solidFill>
                  <a:srgbClr val="000000"/>
                </a:solidFill>
                <a:latin typeface="Arial"/>
                <a:ea typeface="Arial"/>
                <a:cs typeface="Arial"/>
                <a:sym typeface="Arial"/>
              </a:rPr>
              <a:t>defining, refining, and articulating </a:t>
            </a:r>
            <a:br>
              <a:rPr b="0" i="1" lang="en-US" sz="2000" u="none" cap="none" strike="noStrike">
                <a:solidFill>
                  <a:srgbClr val="000000"/>
                </a:solidFill>
                <a:latin typeface="Arial"/>
                <a:ea typeface="Arial"/>
                <a:cs typeface="Arial"/>
                <a:sym typeface="Arial"/>
              </a:rPr>
            </a:br>
            <a:r>
              <a:rPr b="0" i="1" lang="en-US" sz="2000" u="none" cap="none" strike="noStrike">
                <a:solidFill>
                  <a:srgbClr val="000000"/>
                </a:solidFill>
                <a:latin typeface="Arial"/>
                <a:ea typeface="Arial"/>
                <a:cs typeface="Arial"/>
                <a:sym typeface="Arial"/>
              </a:rPr>
              <a:t>the same list about ourselves!</a:t>
            </a:r>
            <a:endParaRPr b="0" i="1" sz="2000" u="none" cap="none" strike="noStrike">
              <a:solidFill>
                <a:srgbClr val="000000"/>
              </a:solidFill>
              <a:latin typeface="Arial"/>
              <a:ea typeface="Arial"/>
              <a:cs typeface="Arial"/>
              <a:sym typeface="Arial"/>
            </a:endParaRPr>
          </a:p>
          <a:p>
            <a:pPr indent="-305000" lvl="0" marL="432000" marR="0" rtl="0" algn="l">
              <a:lnSpc>
                <a:spcPct val="9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Because they cannot know, it is </a:t>
            </a:r>
            <a:br>
              <a:rPr b="0" i="0" lang="en-US" sz="2000" u="none" cap="none" strike="noStrike">
                <a:solidFill>
                  <a:srgbClr val="000000"/>
                </a:solidFill>
                <a:latin typeface="Arial"/>
                <a:ea typeface="Arial"/>
                <a:cs typeface="Arial"/>
                <a:sym typeface="Arial"/>
              </a:rPr>
            </a:br>
            <a:r>
              <a:rPr b="0" i="0" lang="en-US" sz="2000" u="sng" cap="none" strike="noStrike">
                <a:solidFill>
                  <a:srgbClr val="000000"/>
                </a:solidFill>
                <a:latin typeface="Arial"/>
                <a:ea typeface="Arial"/>
                <a:cs typeface="Arial"/>
                <a:sym typeface="Arial"/>
              </a:rPr>
              <a:t>critically important for us</a:t>
            </a:r>
            <a:r>
              <a:rPr b="0" i="0" lang="en-US" sz="2000" u="none" cap="none" strike="noStrike">
                <a:solidFill>
                  <a:srgbClr val="000000"/>
                </a:solidFill>
                <a:latin typeface="Arial"/>
                <a:ea typeface="Arial"/>
                <a:cs typeface="Arial"/>
                <a:sym typeface="Arial"/>
              </a:rPr>
              <a:t> in our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leadership role </a:t>
            </a:r>
            <a:r>
              <a:rPr b="0" i="0" lang="en-US" sz="2000" u="sng" cap="none" strike="noStrike">
                <a:solidFill>
                  <a:srgbClr val="000000"/>
                </a:solidFill>
                <a:latin typeface="Arial"/>
                <a:ea typeface="Arial"/>
                <a:cs typeface="Arial"/>
                <a:sym typeface="Arial"/>
              </a:rPr>
              <a:t>to ensure that our </a:t>
            </a:r>
            <a:br>
              <a:rPr b="0" i="0" lang="en-US" sz="2000" u="sng" cap="none" strike="noStrike">
                <a:solidFill>
                  <a:srgbClr val="000000"/>
                </a:solidFill>
                <a:latin typeface="Arial"/>
                <a:ea typeface="Arial"/>
                <a:cs typeface="Arial"/>
                <a:sym typeface="Arial"/>
              </a:rPr>
            </a:br>
            <a:r>
              <a:rPr b="0" i="0" lang="en-US" sz="2000" u="sng" cap="none" strike="noStrike">
                <a:solidFill>
                  <a:srgbClr val="000000"/>
                </a:solidFill>
                <a:latin typeface="Arial"/>
                <a:ea typeface="Arial"/>
                <a:cs typeface="Arial"/>
                <a:sym typeface="Arial"/>
              </a:rPr>
              <a:t>actions and behaviours are exactly </a:t>
            </a:r>
            <a:br>
              <a:rPr b="0" i="0" lang="en-US" sz="2000" u="sng" cap="none" strike="noStrike">
                <a:solidFill>
                  <a:srgbClr val="000000"/>
                </a:solidFill>
                <a:latin typeface="Arial"/>
                <a:ea typeface="Arial"/>
                <a:cs typeface="Arial"/>
                <a:sym typeface="Arial"/>
              </a:rPr>
            </a:br>
            <a:r>
              <a:rPr b="0" i="0" lang="en-US" sz="2000" u="sng" cap="none" strike="noStrike">
                <a:solidFill>
                  <a:srgbClr val="000000"/>
                </a:solidFill>
                <a:latin typeface="Arial"/>
                <a:ea typeface="Arial"/>
                <a:cs typeface="Arial"/>
                <a:sym typeface="Arial"/>
              </a:rPr>
              <a:t>aligned and consistent with our </a:t>
            </a:r>
            <a:br>
              <a:rPr b="0" i="0" lang="en-US" sz="2000" u="sng" cap="none" strike="noStrike">
                <a:solidFill>
                  <a:srgbClr val="000000"/>
                </a:solidFill>
                <a:latin typeface="Arial"/>
                <a:ea typeface="Arial"/>
                <a:cs typeface="Arial"/>
                <a:sym typeface="Arial"/>
              </a:rPr>
            </a:br>
            <a:r>
              <a:rPr b="0" i="0" lang="en-US" sz="2000" u="sng" cap="none" strike="noStrike">
                <a:solidFill>
                  <a:srgbClr val="000000"/>
                </a:solidFill>
                <a:latin typeface="Arial"/>
                <a:ea typeface="Arial"/>
                <a:cs typeface="Arial"/>
                <a:sym typeface="Arial"/>
              </a:rPr>
              <a:t>good intentions</a:t>
            </a:r>
            <a:r>
              <a:rPr b="0" i="0" lang="en-US" sz="2000" u="none" cap="none" strike="noStrike">
                <a:solidFill>
                  <a:srgbClr val="000000"/>
                </a:solidFill>
                <a:latin typeface="Arial"/>
                <a:ea typeface="Arial"/>
                <a:cs typeface="Arial"/>
                <a:sym typeface="Arial"/>
              </a:rPr>
              <a:t>. </a:t>
            </a:r>
            <a:endParaRPr/>
          </a:p>
        </p:txBody>
      </p:sp>
      <p:sp>
        <p:nvSpPr>
          <p:cNvPr id="169" name="Google Shape;169;p9"/>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Our “Personal Iceberg Model” and Effective Leadership: </a:t>
            </a:r>
            <a:endParaRPr/>
          </a:p>
        </p:txBody>
      </p:sp>
      <p:sp>
        <p:nvSpPr>
          <p:cNvPr id="170" name="Google Shape;170;p9"/>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71" name="Google Shape;171;p9"/>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7.7: Leadership – What Makes an Effective Leader?</a:t>
            </a:r>
            <a:endParaRPr/>
          </a:p>
        </p:txBody>
      </p:sp>
      <p:pic>
        <p:nvPicPr>
          <p:cNvPr id="172" name="Google Shape;172;p9"/>
          <p:cNvPicPr preferRelativeResize="0"/>
          <p:nvPr/>
        </p:nvPicPr>
        <p:blipFill rotWithShape="1">
          <a:blip r:embed="rId3">
            <a:alphaModFix/>
          </a:blip>
          <a:srcRect b="0" l="0" r="0" t="0"/>
          <a:stretch/>
        </p:blipFill>
        <p:spPr>
          <a:xfrm>
            <a:off x="4944169" y="3505200"/>
            <a:ext cx="4120066" cy="2650800"/>
          </a:xfrm>
          <a:prstGeom prst="rect">
            <a:avLst/>
          </a:prstGeom>
          <a:noFill/>
          <a:ln>
            <a:noFill/>
          </a:ln>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14"/>
          <p:cNvPicPr preferRelativeResize="0"/>
          <p:nvPr/>
        </p:nvPicPr>
        <p:blipFill rotWithShape="1">
          <a:blip r:embed="rId3">
            <a:alphaModFix/>
          </a:blip>
          <a:srcRect b="0" l="0" r="0" t="0"/>
          <a:stretch/>
        </p:blipFill>
        <p:spPr>
          <a:xfrm>
            <a:off x="4494834" y="2948209"/>
            <a:ext cx="4242217" cy="3151499"/>
          </a:xfrm>
          <a:prstGeom prst="rect">
            <a:avLst/>
          </a:prstGeom>
          <a:noFill/>
          <a:ln>
            <a:noFill/>
          </a:ln>
        </p:spPr>
      </p:pic>
      <p:sp>
        <p:nvSpPr>
          <p:cNvPr id="179" name="Google Shape;179;p14"/>
          <p:cNvSpPr/>
          <p:nvPr/>
        </p:nvSpPr>
        <p:spPr>
          <a:xfrm>
            <a:off x="216000" y="2052000"/>
            <a:ext cx="8568000" cy="863166"/>
          </a:xfrm>
          <a:prstGeom prst="horizontalScroll">
            <a:avLst>
              <a:gd fmla="val 12500" name="adj"/>
            </a:avLst>
          </a:prstGeom>
          <a:solidFill>
            <a:srgbClr val="FFFF00"/>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spcBef>
                <a:spcPts val="0"/>
              </a:spcBef>
              <a:spcAft>
                <a:spcPts val="0"/>
              </a:spcAft>
              <a:buNone/>
            </a:pPr>
            <a:r>
              <a:rPr b="1" lang="en-US" sz="2000" u="sng">
                <a:solidFill>
                  <a:srgbClr val="000000"/>
                </a:solidFill>
                <a:latin typeface="Arial"/>
                <a:ea typeface="Arial"/>
                <a:cs typeface="Arial"/>
                <a:sym typeface="Arial"/>
              </a:rPr>
              <a:t>“Treat others like you want to be treated.”</a:t>
            </a:r>
            <a:endParaRPr b="1" sz="2000">
              <a:solidFill>
                <a:schemeClr val="lt1"/>
              </a:solidFill>
              <a:latin typeface="Arial"/>
              <a:ea typeface="Arial"/>
              <a:cs typeface="Arial"/>
              <a:sym typeface="Arial"/>
            </a:endParaRPr>
          </a:p>
        </p:txBody>
      </p:sp>
      <p:sp>
        <p:nvSpPr>
          <p:cNvPr id="180" name="Google Shape;180;p14"/>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lang="en-US" sz="2400">
                <a:solidFill>
                  <a:schemeClr val="accent2"/>
                </a:solidFill>
                <a:latin typeface="Arial"/>
                <a:ea typeface="Arial"/>
                <a:cs typeface="Arial"/>
                <a:sym typeface="Arial"/>
              </a:rPr>
              <a:t>Our “Personal Iceberg Model” and Effective Leadership: </a:t>
            </a:r>
            <a:endParaRPr/>
          </a:p>
        </p:txBody>
      </p:sp>
      <p:sp>
        <p:nvSpPr>
          <p:cNvPr id="181" name="Google Shape;181;p14"/>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lang="en-US" sz="2000" u="sng">
                <a:solidFill>
                  <a:srgbClr val="000000"/>
                </a:solidFill>
                <a:latin typeface="Arial"/>
                <a:ea typeface="Arial"/>
                <a:cs typeface="Arial"/>
                <a:sym typeface="Arial"/>
              </a:rPr>
              <a:t>The Golden Rule</a:t>
            </a:r>
            <a:r>
              <a:rPr b="1" lang="en-US" sz="2000">
                <a:solidFill>
                  <a:srgbClr val="000000"/>
                </a:solidFill>
                <a:latin typeface="Arial"/>
                <a:ea typeface="Arial"/>
                <a:cs typeface="Arial"/>
                <a:sym typeface="Arial"/>
              </a:rPr>
              <a:t> for all relationships:</a:t>
            </a:r>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Dignity, respect, and integrity in your interactions with your </a:t>
            </a:r>
            <a:r>
              <a:rPr b="0" lang="en-US" sz="2000" u="sng">
                <a:solidFill>
                  <a:srgbClr val="000000"/>
                </a:solidFill>
                <a:latin typeface="Arial"/>
                <a:ea typeface="Arial"/>
                <a:cs typeface="Arial"/>
                <a:sym typeface="Arial"/>
              </a:rPr>
              <a:t>supervisors</a:t>
            </a:r>
            <a:r>
              <a:rPr b="0" lang="en-US" sz="2000">
                <a:solidFill>
                  <a:srgbClr val="000000"/>
                </a:solidFill>
                <a:latin typeface="Arial"/>
                <a:ea typeface="Arial"/>
                <a:cs typeface="Arial"/>
                <a:sym typeface="Arial"/>
              </a:rPr>
              <a:t>, </a:t>
            </a:r>
            <a:r>
              <a:rPr b="0" lang="en-US" sz="2000" u="sng">
                <a:solidFill>
                  <a:srgbClr val="000000"/>
                </a:solidFill>
                <a:latin typeface="Arial"/>
                <a:ea typeface="Arial"/>
                <a:cs typeface="Arial"/>
                <a:sym typeface="Arial"/>
              </a:rPr>
              <a:t>peers</a:t>
            </a:r>
            <a:r>
              <a:rPr b="0" lang="en-US" sz="2000">
                <a:solidFill>
                  <a:srgbClr val="000000"/>
                </a:solidFill>
                <a:latin typeface="Arial"/>
                <a:ea typeface="Arial"/>
                <a:cs typeface="Arial"/>
                <a:sym typeface="Arial"/>
              </a:rPr>
              <a:t>, and </a:t>
            </a:r>
            <a:r>
              <a:rPr b="0" lang="en-US" sz="2000" u="sng">
                <a:solidFill>
                  <a:srgbClr val="000000"/>
                </a:solidFill>
                <a:latin typeface="Arial"/>
                <a:ea typeface="Arial"/>
                <a:cs typeface="Arial"/>
                <a:sym typeface="Arial"/>
              </a:rPr>
              <a:t>subordinates</a:t>
            </a:r>
            <a:r>
              <a:rPr b="0" lang="en-US" sz="2000">
                <a:solidFill>
                  <a:srgbClr val="000000"/>
                </a:solidFill>
                <a:latin typeface="Arial"/>
                <a:ea typeface="Arial"/>
                <a:cs typeface="Arial"/>
                <a:sym typeface="Arial"/>
              </a:rPr>
              <a:t> are essential for building and maintaining effective relationships. </a:t>
            </a:r>
            <a:endParaRPr/>
          </a:p>
        </p:txBody>
      </p:sp>
      <p:sp>
        <p:nvSpPr>
          <p:cNvPr id="182" name="Google Shape;182;p1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a:solidFill>
                  <a:srgbClr val="000000"/>
                </a:solidFill>
                <a:latin typeface="Arial"/>
                <a:ea typeface="Arial"/>
                <a:cs typeface="Arial"/>
                <a:sym typeface="Arial"/>
              </a:rPr>
              <a:t>‹#›</a:t>
            </a:fld>
            <a:endParaRPr b="1" i="1" sz="1200">
              <a:solidFill>
                <a:srgbClr val="000000"/>
              </a:solidFill>
              <a:latin typeface="Arial"/>
              <a:ea typeface="Arial"/>
              <a:cs typeface="Arial"/>
              <a:sym typeface="Arial"/>
            </a:endParaRPr>
          </a:p>
        </p:txBody>
      </p:sp>
      <p:sp>
        <p:nvSpPr>
          <p:cNvPr id="183" name="Google Shape;183;p1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a:solidFill>
                  <a:srgbClr val="000000"/>
                </a:solidFill>
                <a:latin typeface="Arial"/>
                <a:ea typeface="Arial"/>
                <a:cs typeface="Arial"/>
                <a:sym typeface="Arial"/>
              </a:rPr>
              <a:t>Chapter 7.7: Leadership – What Makes an Effective Leader?</a:t>
            </a:r>
            <a:endParaRPr/>
          </a:p>
        </p:txBody>
      </p:sp>
      <p:pic>
        <p:nvPicPr>
          <p:cNvPr id="184" name="Google Shape;184;p14"/>
          <p:cNvPicPr preferRelativeResize="0"/>
          <p:nvPr/>
        </p:nvPicPr>
        <p:blipFill rotWithShape="1">
          <a:blip r:embed="rId4">
            <a:alphaModFix/>
          </a:blip>
          <a:srcRect b="0" l="0" r="0" t="0"/>
          <a:stretch/>
        </p:blipFill>
        <p:spPr>
          <a:xfrm>
            <a:off x="457200" y="3437549"/>
            <a:ext cx="3423141" cy="217281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5"/>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From Our Personal Iceberg discussions, “</a:t>
            </a:r>
            <a:r>
              <a:rPr b="0" lang="en-US" sz="2000" u="sng">
                <a:solidFill>
                  <a:srgbClr val="000000"/>
                </a:solidFill>
                <a:latin typeface="Arial"/>
                <a:ea typeface="Arial"/>
                <a:cs typeface="Arial"/>
                <a:sym typeface="Arial"/>
              </a:rPr>
              <a:t>We are who we are</a:t>
            </a:r>
            <a:r>
              <a:rPr b="0" lang="en-US" sz="2000">
                <a:solidFill>
                  <a:srgbClr val="000000"/>
                </a:solidFill>
                <a:latin typeface="Arial"/>
                <a:ea typeface="Arial"/>
                <a:cs typeface="Arial"/>
                <a:sym typeface="Arial"/>
              </a:rPr>
              <a:t>” is a result of the values (and attitudes, and so on) that we have developed early in our lives, and as we purposefully change our values as we grow, adapt, and mature. </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These </a:t>
            </a:r>
            <a:r>
              <a:rPr b="0" lang="en-US" sz="2000" u="sng">
                <a:solidFill>
                  <a:srgbClr val="000000"/>
                </a:solidFill>
                <a:latin typeface="Arial"/>
                <a:ea typeface="Arial"/>
                <a:cs typeface="Arial"/>
                <a:sym typeface="Arial"/>
              </a:rPr>
              <a:t>values</a:t>
            </a:r>
            <a:r>
              <a:rPr b="0" lang="en-US" sz="2000">
                <a:solidFill>
                  <a:srgbClr val="000000"/>
                </a:solidFill>
                <a:latin typeface="Arial"/>
                <a:ea typeface="Arial"/>
                <a:cs typeface="Arial"/>
                <a:sym typeface="Arial"/>
              </a:rPr>
              <a:t> become the basis for how we </a:t>
            </a:r>
            <a:r>
              <a:rPr b="0" lang="en-US" sz="2000" u="sng">
                <a:solidFill>
                  <a:srgbClr val="000000"/>
                </a:solidFill>
                <a:latin typeface="Arial"/>
                <a:ea typeface="Arial"/>
                <a:cs typeface="Arial"/>
                <a:sym typeface="Arial"/>
              </a:rPr>
              <a:t>prioritize</a:t>
            </a:r>
            <a:r>
              <a:rPr b="0" lang="en-US" sz="2000">
                <a:solidFill>
                  <a:srgbClr val="000000"/>
                </a:solidFill>
                <a:latin typeface="Arial"/>
                <a:ea typeface="Arial"/>
                <a:cs typeface="Arial"/>
                <a:sym typeface="Arial"/>
              </a:rPr>
              <a:t>, for how we </a:t>
            </a:r>
            <a:br>
              <a:rPr b="0" lang="en-US" sz="2000">
                <a:solidFill>
                  <a:srgbClr val="000000"/>
                </a:solidFill>
                <a:latin typeface="Arial"/>
                <a:ea typeface="Arial"/>
                <a:cs typeface="Arial"/>
                <a:sym typeface="Arial"/>
              </a:rPr>
            </a:br>
            <a:r>
              <a:rPr b="0" lang="en-US" sz="2000">
                <a:solidFill>
                  <a:srgbClr val="000000"/>
                </a:solidFill>
                <a:latin typeface="Arial"/>
                <a:ea typeface="Arial"/>
                <a:cs typeface="Arial"/>
                <a:sym typeface="Arial"/>
              </a:rPr>
              <a:t>make </a:t>
            </a:r>
            <a:r>
              <a:rPr b="0" lang="en-US" sz="2000" u="sng">
                <a:solidFill>
                  <a:srgbClr val="000000"/>
                </a:solidFill>
                <a:latin typeface="Arial"/>
                <a:ea typeface="Arial"/>
                <a:cs typeface="Arial"/>
                <a:sym typeface="Arial"/>
              </a:rPr>
              <a:t>decisions</a:t>
            </a:r>
            <a:r>
              <a:rPr b="0" lang="en-US" sz="2000">
                <a:solidFill>
                  <a:srgbClr val="000000"/>
                </a:solidFill>
                <a:latin typeface="Arial"/>
                <a:ea typeface="Arial"/>
                <a:cs typeface="Arial"/>
                <a:sym typeface="Arial"/>
              </a:rPr>
              <a:t>, for “</a:t>
            </a:r>
            <a:r>
              <a:rPr b="0" lang="en-US" sz="2000" u="sng">
                <a:solidFill>
                  <a:srgbClr val="000000"/>
                </a:solidFill>
                <a:latin typeface="Arial"/>
                <a:ea typeface="Arial"/>
                <a:cs typeface="Arial"/>
                <a:sym typeface="Arial"/>
              </a:rPr>
              <a:t>how we do work around here</a:t>
            </a:r>
            <a:r>
              <a:rPr b="0" lang="en-US" sz="2000">
                <a:solidFill>
                  <a:srgbClr val="000000"/>
                </a:solidFill>
                <a:latin typeface="Arial"/>
                <a:ea typeface="Arial"/>
                <a:cs typeface="Arial"/>
                <a:sym typeface="Arial"/>
              </a:rPr>
              <a:t>”. </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Depending on our period of life experience, these values (and other  dimensions) may be influenced very differently, and they share prevailing paradigms in society and the workplace. </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p:txBody>
      </p:sp>
      <p:sp>
        <p:nvSpPr>
          <p:cNvPr id="191" name="Google Shape;191;p15"/>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lang="en-US" sz="2400">
                <a:solidFill>
                  <a:schemeClr val="accent2"/>
                </a:solidFill>
                <a:latin typeface="Arial"/>
                <a:ea typeface="Arial"/>
                <a:cs typeface="Arial"/>
                <a:sym typeface="Arial"/>
              </a:rPr>
              <a:t>What are Values? What are Your Values?</a:t>
            </a:r>
            <a:endParaRPr/>
          </a:p>
        </p:txBody>
      </p:sp>
      <p:sp>
        <p:nvSpPr>
          <p:cNvPr id="192" name="Google Shape;192;p1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a:solidFill>
                  <a:srgbClr val="000000"/>
                </a:solidFill>
                <a:latin typeface="Arial"/>
                <a:ea typeface="Arial"/>
                <a:cs typeface="Arial"/>
                <a:sym typeface="Arial"/>
              </a:rPr>
              <a:t>‹#›</a:t>
            </a:fld>
            <a:endParaRPr b="1" i="1" sz="1200">
              <a:solidFill>
                <a:srgbClr val="000000"/>
              </a:solidFill>
              <a:latin typeface="Arial"/>
              <a:ea typeface="Arial"/>
              <a:cs typeface="Arial"/>
              <a:sym typeface="Arial"/>
            </a:endParaRPr>
          </a:p>
        </p:txBody>
      </p:sp>
      <p:sp>
        <p:nvSpPr>
          <p:cNvPr id="193" name="Google Shape;193;p1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a:solidFill>
                  <a:srgbClr val="000000"/>
                </a:solidFill>
                <a:latin typeface="Arial"/>
                <a:ea typeface="Arial"/>
                <a:cs typeface="Arial"/>
                <a:sym typeface="Arial"/>
              </a:rPr>
              <a:t>Chapter 7.7: Leadership – What Makes an Effective Leader?</a:t>
            </a:r>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7"/>
          <p:cNvSpPr/>
          <p:nvPr/>
        </p:nvSpPr>
        <p:spPr>
          <a:xfrm>
            <a:off x="180000" y="828000"/>
            <a:ext cx="8640000" cy="5328000"/>
          </a:xfrm>
          <a:prstGeom prst="rect">
            <a:avLst/>
          </a:prstGeom>
          <a:solidFill>
            <a:srgbClr val="000000"/>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800"/>
              <a:buFont typeface="Noto Sans Symbols"/>
              <a:buNone/>
            </a:pPr>
            <a:r>
              <a:t/>
            </a:r>
            <a:endParaRPr b="1" sz="1800">
              <a:solidFill>
                <a:schemeClr val="lt1"/>
              </a:solidFill>
              <a:latin typeface="Arial"/>
              <a:ea typeface="Arial"/>
              <a:cs typeface="Arial"/>
              <a:sym typeface="Arial"/>
            </a:endParaRPr>
          </a:p>
          <a:p>
            <a:pPr indent="0" lvl="0" marL="0" marR="0" rtl="0" algn="l">
              <a:spcBef>
                <a:spcPts val="0"/>
              </a:spcBef>
              <a:spcAft>
                <a:spcPts val="0"/>
              </a:spcAft>
              <a:buClr>
                <a:srgbClr val="000000"/>
              </a:buClr>
              <a:buSzPts val="1800"/>
              <a:buFont typeface="Noto Sans Symbols"/>
              <a:buNone/>
            </a:pPr>
            <a:r>
              <a:rPr b="1" lang="en-US" sz="1800">
                <a:solidFill>
                  <a:schemeClr val="lt1"/>
                </a:solidFill>
                <a:latin typeface="Arial"/>
                <a:ea typeface="Arial"/>
                <a:cs typeface="Arial"/>
                <a:sym typeface="Arial"/>
              </a:rPr>
              <a:t>Discussion: The $5 bill and two scenarios:</a:t>
            </a:r>
            <a:endParaRPr/>
          </a:p>
          <a:p>
            <a:pPr indent="0" lvl="0" marL="0" marR="0" rtl="0" algn="l">
              <a:spcBef>
                <a:spcPts val="0"/>
              </a:spcBef>
              <a:spcAft>
                <a:spcPts val="0"/>
              </a:spcAft>
              <a:buClr>
                <a:srgbClr val="000000"/>
              </a:buClr>
              <a:buSzPts val="1800"/>
              <a:buFont typeface="Noto Sans Symbols"/>
              <a:buNone/>
            </a:pPr>
            <a:r>
              <a:t/>
            </a:r>
            <a:endParaRPr b="1" sz="1800">
              <a:solidFill>
                <a:schemeClr val="lt1"/>
              </a:solidFill>
              <a:latin typeface="Arial"/>
              <a:ea typeface="Arial"/>
              <a:cs typeface="Arial"/>
              <a:sym typeface="Arial"/>
            </a:endParaRPr>
          </a:p>
          <a:p>
            <a:pPr indent="0" lvl="0" marL="0" marR="0" rtl="0" algn="l">
              <a:spcBef>
                <a:spcPts val="0"/>
              </a:spcBef>
              <a:spcAft>
                <a:spcPts val="0"/>
              </a:spcAft>
              <a:buClr>
                <a:srgbClr val="000000"/>
              </a:buClr>
              <a:buSzPts val="1800"/>
              <a:buFont typeface="Noto Sans Symbols"/>
              <a:buNone/>
            </a:pPr>
            <a:r>
              <a:rPr b="1" lang="en-US" sz="1800">
                <a:solidFill>
                  <a:schemeClr val="lt1"/>
                </a:solidFill>
                <a:latin typeface="Arial"/>
                <a:ea typeface="Arial"/>
                <a:cs typeface="Arial"/>
                <a:sym typeface="Arial"/>
              </a:rPr>
              <a:t>Scenario 1) </a:t>
            </a:r>
            <a:r>
              <a:rPr b="0" lang="en-US" sz="1800">
                <a:solidFill>
                  <a:schemeClr val="lt1"/>
                </a:solidFill>
                <a:latin typeface="Arial"/>
                <a:ea typeface="Arial"/>
                <a:cs typeface="Arial"/>
                <a:sym typeface="Arial"/>
              </a:rPr>
              <a:t>The professor is walking through the empty Food Court early in the morning and sees a $5 on the floor. What does the professor do? On what value(s) are each of these choices based? </a:t>
            </a:r>
            <a:endParaRPr/>
          </a:p>
          <a:p>
            <a:pPr indent="0" lvl="0" marL="0" marR="0" rtl="0" algn="l">
              <a:spcBef>
                <a:spcPts val="0"/>
              </a:spcBef>
              <a:spcAft>
                <a:spcPts val="0"/>
              </a:spcAft>
              <a:buClr>
                <a:srgbClr val="000000"/>
              </a:buClr>
              <a:buSzPts val="1800"/>
              <a:buFont typeface="Noto Sans Symbols"/>
              <a:buNone/>
            </a:pPr>
            <a:r>
              <a:rPr b="1" i="1" lang="en-US" sz="1800">
                <a:solidFill>
                  <a:srgbClr val="FFFF00"/>
                </a:solidFill>
                <a:latin typeface="Arial"/>
                <a:ea typeface="Arial"/>
                <a:cs typeface="Arial"/>
                <a:sym typeface="Arial"/>
              </a:rPr>
              <a:t>The professor actively looks for someone, but seeing as no one is around and there is not even a remote possibility of finding the rightful owner of the $5, the professor pockets the money for either 1) a fresh coffee, or 2) donate to a campus charity.</a:t>
            </a:r>
            <a:endParaRPr/>
          </a:p>
          <a:p>
            <a:pPr indent="0" lvl="0" marL="0" marR="0" rtl="0" algn="l">
              <a:spcBef>
                <a:spcPts val="0"/>
              </a:spcBef>
              <a:spcAft>
                <a:spcPts val="0"/>
              </a:spcAft>
              <a:buClr>
                <a:srgbClr val="000000"/>
              </a:buClr>
              <a:buSzPts val="1800"/>
              <a:buFont typeface="Noto Sans Symbols"/>
              <a:buNone/>
            </a:pPr>
            <a:r>
              <a:t/>
            </a:r>
            <a:endParaRPr b="1" sz="1800">
              <a:solidFill>
                <a:schemeClr val="lt1"/>
              </a:solidFill>
              <a:latin typeface="Arial"/>
              <a:ea typeface="Arial"/>
              <a:cs typeface="Arial"/>
              <a:sym typeface="Arial"/>
            </a:endParaRPr>
          </a:p>
          <a:p>
            <a:pPr indent="0" lvl="0" marL="0" marR="0" rtl="0" algn="l">
              <a:spcBef>
                <a:spcPts val="0"/>
              </a:spcBef>
              <a:spcAft>
                <a:spcPts val="0"/>
              </a:spcAft>
              <a:buClr>
                <a:srgbClr val="000000"/>
              </a:buClr>
              <a:buSzPts val="1800"/>
              <a:buFont typeface="Noto Sans Symbols"/>
              <a:buNone/>
            </a:pPr>
            <a:r>
              <a:rPr b="1" lang="en-US" sz="1800">
                <a:solidFill>
                  <a:schemeClr val="lt1"/>
                </a:solidFill>
                <a:latin typeface="Arial"/>
                <a:ea typeface="Arial"/>
                <a:cs typeface="Arial"/>
                <a:sym typeface="Arial"/>
              </a:rPr>
              <a:t>Scenario 2) </a:t>
            </a:r>
            <a:r>
              <a:rPr b="0" lang="en-US" sz="1800">
                <a:solidFill>
                  <a:schemeClr val="lt1"/>
                </a:solidFill>
                <a:latin typeface="Arial"/>
                <a:ea typeface="Arial"/>
                <a:cs typeface="Arial"/>
                <a:sym typeface="Arial"/>
              </a:rPr>
              <a:t>The professor is walking through the busy Food Court. The professor observes a student pull out their cell-phone from their pocket, and unbeknownst to the student, a $5 bill falls onto the floor. What does the professor do? What choices does the professor have? On what values are each of these choices based? </a:t>
            </a:r>
            <a:endParaRPr b="0" sz="1800">
              <a:solidFill>
                <a:schemeClr val="lt1"/>
              </a:solidFill>
              <a:latin typeface="Arial"/>
              <a:ea typeface="Arial"/>
              <a:cs typeface="Arial"/>
              <a:sym typeface="Arial"/>
            </a:endParaRPr>
          </a:p>
          <a:p>
            <a:pPr indent="-342900" lvl="0" marL="342900" marR="0" rtl="0" algn="l">
              <a:spcBef>
                <a:spcPts val="0"/>
              </a:spcBef>
              <a:spcAft>
                <a:spcPts val="0"/>
              </a:spcAft>
              <a:buClr>
                <a:srgbClr val="FFFF00"/>
              </a:buClr>
              <a:buSzPts val="1800"/>
              <a:buFont typeface="Noto Sans Symbols"/>
              <a:buAutoNum type="arabicParenR"/>
            </a:pPr>
            <a:r>
              <a:rPr b="1" i="1" lang="en-US" sz="1800">
                <a:solidFill>
                  <a:srgbClr val="FFFF00"/>
                </a:solidFill>
                <a:latin typeface="Arial"/>
                <a:ea typeface="Arial"/>
                <a:cs typeface="Arial"/>
                <a:sym typeface="Arial"/>
              </a:rPr>
              <a:t>The professor quickly scoops up and keeps the $5. </a:t>
            </a:r>
            <a:endParaRPr b="1" i="1" sz="1800">
              <a:solidFill>
                <a:srgbClr val="FFFF00"/>
              </a:solidFill>
              <a:latin typeface="Arial"/>
              <a:ea typeface="Arial"/>
              <a:cs typeface="Arial"/>
              <a:sym typeface="Arial"/>
            </a:endParaRPr>
          </a:p>
          <a:p>
            <a:pPr indent="-342900" lvl="0" marL="342900" marR="0" rtl="0" algn="l">
              <a:spcBef>
                <a:spcPts val="0"/>
              </a:spcBef>
              <a:spcAft>
                <a:spcPts val="0"/>
              </a:spcAft>
              <a:buClr>
                <a:srgbClr val="FFFF00"/>
              </a:buClr>
              <a:buSzPts val="1800"/>
              <a:buFont typeface="Noto Sans Symbols"/>
              <a:buAutoNum type="arabicParenR"/>
            </a:pPr>
            <a:r>
              <a:rPr b="1" i="1" lang="en-US" sz="1800">
                <a:solidFill>
                  <a:srgbClr val="FFFF00"/>
                </a:solidFill>
                <a:latin typeface="Arial"/>
                <a:ea typeface="Arial"/>
                <a:cs typeface="Arial"/>
                <a:sym typeface="Arial"/>
              </a:rPr>
              <a:t>The professor picks it up and contacts the student to return the $5. </a:t>
            </a:r>
            <a:endParaRPr/>
          </a:p>
          <a:p>
            <a:pPr indent="0" lvl="0" marL="0" marR="0" rtl="0" algn="l">
              <a:spcBef>
                <a:spcPts val="0"/>
              </a:spcBef>
              <a:spcAft>
                <a:spcPts val="0"/>
              </a:spcAft>
              <a:buClr>
                <a:srgbClr val="000000"/>
              </a:buClr>
              <a:buSzPts val="1800"/>
              <a:buFont typeface="Noto Sans Symbols"/>
              <a:buNone/>
            </a:pPr>
            <a:r>
              <a:t/>
            </a:r>
            <a:endParaRPr b="1" i="1" sz="1800">
              <a:solidFill>
                <a:schemeClr val="lt1"/>
              </a:solidFill>
              <a:latin typeface="Arial"/>
              <a:ea typeface="Arial"/>
              <a:cs typeface="Arial"/>
              <a:sym typeface="Arial"/>
            </a:endParaRPr>
          </a:p>
        </p:txBody>
      </p:sp>
      <p:sp>
        <p:nvSpPr>
          <p:cNvPr id="200" name="Google Shape;200;p17"/>
          <p:cNvSpPr/>
          <p:nvPr/>
        </p:nvSpPr>
        <p:spPr>
          <a:xfrm>
            <a:off x="180000" y="180000"/>
            <a:ext cx="8640000" cy="50400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2400">
                <a:solidFill>
                  <a:srgbClr val="F8F8F8"/>
                </a:solidFill>
                <a:latin typeface="Arial"/>
                <a:ea typeface="Arial"/>
                <a:cs typeface="Arial"/>
                <a:sym typeface="Arial"/>
              </a:rPr>
              <a:t>What are Values? What are Your Values?</a:t>
            </a:r>
            <a:endParaRPr b="0" sz="2400">
              <a:solidFill>
                <a:srgbClr val="F8F8F8"/>
              </a:solidFill>
              <a:latin typeface="Arial"/>
              <a:ea typeface="Arial"/>
              <a:cs typeface="Arial"/>
              <a:sym typeface="Arial"/>
            </a:endParaRPr>
          </a:p>
        </p:txBody>
      </p:sp>
      <p:pic>
        <p:nvPicPr>
          <p:cNvPr descr="New Canadian $5 celebrates the space programme - Boing Boing" id="201" name="Google Shape;201;p17"/>
          <p:cNvPicPr preferRelativeResize="0"/>
          <p:nvPr/>
        </p:nvPicPr>
        <p:blipFill rotWithShape="1">
          <a:blip r:embed="rId3">
            <a:alphaModFix/>
          </a:blip>
          <a:srcRect b="0" l="0" r="0" t="0"/>
          <a:stretch/>
        </p:blipFill>
        <p:spPr>
          <a:xfrm>
            <a:off x="5908964" y="76201"/>
            <a:ext cx="3158836" cy="1447800"/>
          </a:xfrm>
          <a:prstGeom prst="rect">
            <a:avLst/>
          </a:prstGeom>
          <a:noFill/>
          <a:ln>
            <a:noFill/>
          </a:ln>
        </p:spPr>
      </p:pic>
      <p:sp>
        <p:nvSpPr>
          <p:cNvPr id="202" name="Google Shape;202;p17"/>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a:solidFill>
                  <a:srgbClr val="000000"/>
                </a:solidFill>
                <a:latin typeface="Arial"/>
                <a:ea typeface="Arial"/>
                <a:cs typeface="Arial"/>
                <a:sym typeface="Arial"/>
              </a:rPr>
              <a:t>‹#›</a:t>
            </a:fld>
            <a:endParaRPr b="1" i="1" sz="1200">
              <a:solidFill>
                <a:srgbClr val="000000"/>
              </a:solidFill>
              <a:latin typeface="Arial"/>
              <a:ea typeface="Arial"/>
              <a:cs typeface="Arial"/>
              <a:sym typeface="Arial"/>
            </a:endParaRPr>
          </a:p>
        </p:txBody>
      </p:sp>
      <p:sp>
        <p:nvSpPr>
          <p:cNvPr id="203" name="Google Shape;203;p17"/>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a:solidFill>
                  <a:srgbClr val="000000"/>
                </a:solidFill>
                <a:latin typeface="Arial"/>
                <a:ea typeface="Arial"/>
                <a:cs typeface="Arial"/>
                <a:sym typeface="Arial"/>
              </a:rPr>
              <a:t>Chapter 7.7: Leadership – What Makes an Effective Leader?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graphicFrame>
        <p:nvGraphicFramePr>
          <p:cNvPr id="209" name="Google Shape;209;p18"/>
          <p:cNvGraphicFramePr/>
          <p:nvPr/>
        </p:nvGraphicFramePr>
        <p:xfrm>
          <a:off x="180000" y="1600200"/>
          <a:ext cx="3000000" cy="3000000"/>
        </p:xfrm>
        <a:graphic>
          <a:graphicData uri="http://schemas.openxmlformats.org/drawingml/2006/table">
            <a:tbl>
              <a:tblPr bandRow="1" firstRow="1">
                <a:noFill/>
                <a:tableStyleId>{DA0EF662-821D-41FA-896E-5F1C9A2BD29A}</a:tableStyleId>
              </a:tblPr>
              <a:tblGrid>
                <a:gridCol w="2639400"/>
                <a:gridCol w="6000600"/>
              </a:tblGrid>
              <a:tr h="500325">
                <a:tc>
                  <a:txBody>
                    <a:bodyPr/>
                    <a:lstStyle/>
                    <a:p>
                      <a:pPr indent="0" lvl="0" marL="0" marR="0" rtl="0" algn="l">
                        <a:lnSpc>
                          <a:spcPct val="90000"/>
                        </a:lnSpc>
                        <a:spcBef>
                          <a:spcPts val="0"/>
                        </a:spcBef>
                        <a:spcAft>
                          <a:spcPts val="0"/>
                        </a:spcAft>
                        <a:buNone/>
                      </a:pPr>
                      <a:r>
                        <a:rPr lang="en-US" sz="2000" u="none" cap="none" strike="noStrike">
                          <a:solidFill>
                            <a:schemeClr val="dk1"/>
                          </a:solidFill>
                          <a:latin typeface="Arial"/>
                          <a:ea typeface="Arial"/>
                          <a:cs typeface="Arial"/>
                          <a:sym typeface="Arial"/>
                        </a:rPr>
                        <a:t>Scenario 1 Options</a:t>
                      </a:r>
                      <a:endParaRPr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None/>
                      </a:pPr>
                      <a:r>
                        <a:rPr lang="en-US" sz="2000" u="none" cap="none" strike="noStrike">
                          <a:solidFill>
                            <a:schemeClr val="dk1"/>
                          </a:solidFill>
                          <a:latin typeface="Arial"/>
                          <a:ea typeface="Arial"/>
                          <a:cs typeface="Arial"/>
                          <a:sym typeface="Arial"/>
                        </a:rPr>
                        <a:t>Scenario 2 Options</a:t>
                      </a:r>
                      <a:endParaRPr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0325">
                <a:tc>
                  <a:txBody>
                    <a:bodyPr/>
                    <a:lstStyle/>
                    <a:p>
                      <a:pPr indent="0" lvl="0" marL="0" marR="0" rtl="0" algn="l">
                        <a:lnSpc>
                          <a:spcPct val="90000"/>
                        </a:lnSpc>
                        <a:spcBef>
                          <a:spcPts val="0"/>
                        </a:spcBef>
                        <a:spcAft>
                          <a:spcPts val="0"/>
                        </a:spcAft>
                        <a:buNone/>
                      </a:pPr>
                      <a:r>
                        <a:rPr lang="en-US" sz="2000" u="none" cap="none" strike="noStrike">
                          <a:latin typeface="Arial"/>
                          <a:ea typeface="Arial"/>
                          <a:cs typeface="Arial"/>
                          <a:sym typeface="Arial"/>
                        </a:rPr>
                        <a:t>Buy fresh coffee:</a:t>
                      </a:r>
                      <a:endParaRPr/>
                    </a:p>
                    <a:p>
                      <a:pPr indent="-285750" lvl="0" marL="28575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Rightful ownership (attempt)</a:t>
                      </a:r>
                      <a:endParaRPr/>
                    </a:p>
                    <a:p>
                      <a:pPr indent="0" lvl="0" marL="0" marR="0" rtl="0" algn="l">
                        <a:lnSpc>
                          <a:spcPct val="90000"/>
                        </a:lnSpc>
                        <a:spcBef>
                          <a:spcPts val="0"/>
                        </a:spcBef>
                        <a:spcAft>
                          <a:spcPts val="0"/>
                        </a:spcAft>
                        <a:buNone/>
                      </a:pPr>
                      <a:r>
                        <a:t/>
                      </a:r>
                      <a:endParaRPr sz="20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None/>
                      </a:pPr>
                      <a:r>
                        <a:rPr lang="en-US" sz="2000" u="none" cap="none" strike="noStrike">
                          <a:latin typeface="Arial"/>
                          <a:ea typeface="Arial"/>
                          <a:cs typeface="Arial"/>
                          <a:sym typeface="Arial"/>
                        </a:rPr>
                        <a:t>Pocket the $5:</a:t>
                      </a:r>
                      <a:endParaRPr/>
                    </a:p>
                    <a:p>
                      <a:pPr indent="-285750" lvl="0" marL="28575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Greed. </a:t>
                      </a:r>
                      <a:endParaRPr/>
                    </a:p>
                    <a:p>
                      <a:pPr indent="-285750" lvl="0" marL="28575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Dishonest. </a:t>
                      </a:r>
                      <a:endParaRPr/>
                    </a:p>
                    <a:p>
                      <a:pPr indent="-285750" lvl="0" marL="28575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Lack of integrity</a:t>
                      </a:r>
                      <a:endParaRPr i="1" sz="20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94075">
                <a:tc>
                  <a:txBody>
                    <a:bodyPr/>
                    <a:lstStyle/>
                    <a:p>
                      <a:pPr indent="0" lvl="0" marL="0" marR="0" rtl="0" algn="l">
                        <a:lnSpc>
                          <a:spcPct val="90000"/>
                        </a:lnSpc>
                        <a:spcBef>
                          <a:spcPts val="0"/>
                        </a:spcBef>
                        <a:spcAft>
                          <a:spcPts val="0"/>
                        </a:spcAft>
                        <a:buClr>
                          <a:schemeClr val="dk1"/>
                        </a:buClr>
                        <a:buSzPts val="2000"/>
                        <a:buFont typeface="Noto Sans Symbols"/>
                        <a:buNone/>
                      </a:pPr>
                      <a:r>
                        <a:rPr lang="en-US" sz="2000" u="none" cap="none" strike="noStrike">
                          <a:latin typeface="Arial"/>
                          <a:ea typeface="Arial"/>
                          <a:cs typeface="Arial"/>
                          <a:sym typeface="Arial"/>
                        </a:rPr>
                        <a:t>Buy their colleague a coffee</a:t>
                      </a:r>
                      <a:endParaRPr/>
                    </a:p>
                    <a:p>
                      <a:pPr indent="-285750" lvl="0" marL="28575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Generosity</a:t>
                      </a:r>
                      <a:endParaRPr sz="20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Clr>
                          <a:schemeClr val="dk1"/>
                        </a:buClr>
                        <a:buSzPts val="2000"/>
                        <a:buFont typeface="Noto Sans Symbols"/>
                        <a:buNone/>
                      </a:pPr>
                      <a:r>
                        <a:rPr lang="en-US" sz="2000" u="none" cap="none" strike="noStrike">
                          <a:solidFill>
                            <a:schemeClr val="dk1"/>
                          </a:solidFill>
                          <a:latin typeface="Arial"/>
                          <a:ea typeface="Arial"/>
                          <a:cs typeface="Arial"/>
                          <a:sym typeface="Arial"/>
                        </a:rPr>
                        <a:t>Return the $5 to the student:</a:t>
                      </a:r>
                      <a:endParaRPr/>
                    </a:p>
                    <a:p>
                      <a:pPr indent="-285750" lvl="0" marL="28575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Honesty. </a:t>
                      </a:r>
                      <a:endParaRPr/>
                    </a:p>
                    <a:p>
                      <a:pPr indent="-285750" lvl="0" marL="28575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Rightful ownership of property. </a:t>
                      </a:r>
                      <a:endParaRPr/>
                    </a:p>
                    <a:p>
                      <a:pPr indent="-285750" lvl="0" marL="28575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Integrity – living by their values.</a:t>
                      </a:r>
                      <a:endParaRPr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00600">
                <a:tc>
                  <a:txBody>
                    <a:bodyPr/>
                    <a:lstStyle/>
                    <a:p>
                      <a:pPr indent="0" lvl="0" marL="0" marR="0" rtl="0" algn="l">
                        <a:lnSpc>
                          <a:spcPct val="9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Arial"/>
                          <a:ea typeface="Arial"/>
                          <a:cs typeface="Arial"/>
                          <a:sym typeface="Arial"/>
                        </a:rPr>
                        <a:t>Donate to Charity</a:t>
                      </a:r>
                      <a:endParaRPr/>
                    </a:p>
                    <a:p>
                      <a:pPr indent="-285750" lvl="0" marL="28575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Charity</a:t>
                      </a:r>
                      <a:endParaRPr sz="20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None/>
                      </a:pPr>
                      <a:r>
                        <a:rPr lang="en-US" sz="2000" u="none" cap="none" strike="noStrike">
                          <a:latin typeface="Arial"/>
                          <a:ea typeface="Arial"/>
                          <a:cs typeface="Arial"/>
                          <a:sym typeface="Arial"/>
                        </a:rPr>
                        <a:t>Other choice:</a:t>
                      </a:r>
                      <a:endParaRPr/>
                    </a:p>
                    <a:p>
                      <a:pPr indent="-285750" lvl="0" marL="28575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Keep the money and then give to charity. This example explores the phase “Does the ends justify the means?” Delivered on a positive value, </a:t>
                      </a:r>
                      <a:r>
                        <a:rPr b="0" i="0" lang="en-US" sz="2000" u="sng" cap="none" strike="noStrike">
                          <a:solidFill>
                            <a:srgbClr val="000000"/>
                          </a:solidFill>
                          <a:latin typeface="Arial"/>
                          <a:ea typeface="Arial"/>
                          <a:cs typeface="Arial"/>
                          <a:sym typeface="Arial"/>
                        </a:rPr>
                        <a:t>charity</a:t>
                      </a:r>
                      <a:r>
                        <a:rPr b="0" i="0" lang="en-US" sz="2000" u="none" cap="none" strike="noStrike">
                          <a:solidFill>
                            <a:srgbClr val="000000"/>
                          </a:solidFill>
                          <a:latin typeface="Arial"/>
                          <a:ea typeface="Arial"/>
                          <a:cs typeface="Arial"/>
                          <a:sym typeface="Arial"/>
                        </a:rPr>
                        <a:t>, but based on a negative value, </a:t>
                      </a:r>
                      <a:r>
                        <a:rPr b="0" i="0" lang="en-US" sz="2000" u="sng" cap="none" strike="noStrike">
                          <a:solidFill>
                            <a:srgbClr val="000000"/>
                          </a:solidFill>
                          <a:latin typeface="Arial"/>
                          <a:ea typeface="Arial"/>
                          <a:cs typeface="Arial"/>
                          <a:sym typeface="Arial"/>
                        </a:rPr>
                        <a:t>dishonesty</a:t>
                      </a:r>
                      <a:r>
                        <a:rPr b="0" i="0" lang="en-US" sz="2000" u="none" cap="none" strike="noStrike">
                          <a:solidFill>
                            <a:srgbClr val="000000"/>
                          </a:solidFill>
                          <a:latin typeface="Arial"/>
                          <a:ea typeface="Arial"/>
                          <a:cs typeface="Arial"/>
                          <a:sym typeface="Arial"/>
                        </a:rPr>
                        <a:t>. </a:t>
                      </a:r>
                      <a:endParaRPr b="0" i="0" sz="2000" u="none" cap="none" strike="noStrike">
                        <a:solidFill>
                          <a:srgbClr val="000000"/>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10" name="Google Shape;210;p18"/>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lang="en-US" sz="2400">
                <a:solidFill>
                  <a:schemeClr val="accent2"/>
                </a:solidFill>
                <a:latin typeface="Arial"/>
                <a:ea typeface="Arial"/>
                <a:cs typeface="Arial"/>
                <a:sym typeface="Arial"/>
              </a:rPr>
              <a:t>What are Values? What are Your Values?</a:t>
            </a:r>
            <a:endParaRPr/>
          </a:p>
        </p:txBody>
      </p:sp>
      <p:pic>
        <p:nvPicPr>
          <p:cNvPr descr="New Canadian $5 celebrates the space programme - Boing Boing" id="211" name="Google Shape;211;p18"/>
          <p:cNvPicPr preferRelativeResize="0"/>
          <p:nvPr/>
        </p:nvPicPr>
        <p:blipFill rotWithShape="1">
          <a:blip r:embed="rId3">
            <a:alphaModFix/>
          </a:blip>
          <a:srcRect b="0" l="0" r="0" t="0"/>
          <a:stretch/>
        </p:blipFill>
        <p:spPr>
          <a:xfrm>
            <a:off x="5908964" y="76201"/>
            <a:ext cx="3158836" cy="1447800"/>
          </a:xfrm>
          <a:prstGeom prst="rect">
            <a:avLst/>
          </a:prstGeom>
          <a:noFill/>
          <a:ln>
            <a:noFill/>
          </a:ln>
        </p:spPr>
      </p:pic>
      <p:sp>
        <p:nvSpPr>
          <p:cNvPr id="212" name="Google Shape;212;p18"/>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lang="en-US" sz="2000">
                <a:solidFill>
                  <a:srgbClr val="000000"/>
                </a:solidFill>
                <a:latin typeface="Arial"/>
                <a:ea typeface="Arial"/>
                <a:cs typeface="Arial"/>
                <a:sym typeface="Arial"/>
              </a:rPr>
              <a:t>Summary of Choices Based on Values:</a:t>
            </a:r>
            <a:endParaRPr/>
          </a:p>
        </p:txBody>
      </p:sp>
      <p:sp>
        <p:nvSpPr>
          <p:cNvPr id="213" name="Google Shape;213;p18"/>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a:solidFill>
                  <a:srgbClr val="000000"/>
                </a:solidFill>
                <a:latin typeface="Arial"/>
                <a:ea typeface="Arial"/>
                <a:cs typeface="Arial"/>
                <a:sym typeface="Arial"/>
              </a:rPr>
              <a:t>‹#›</a:t>
            </a:fld>
            <a:endParaRPr b="1" i="1" sz="1200">
              <a:solidFill>
                <a:srgbClr val="000000"/>
              </a:solidFill>
              <a:latin typeface="Arial"/>
              <a:ea typeface="Arial"/>
              <a:cs typeface="Arial"/>
              <a:sym typeface="Arial"/>
            </a:endParaRPr>
          </a:p>
        </p:txBody>
      </p:sp>
      <p:sp>
        <p:nvSpPr>
          <p:cNvPr id="214" name="Google Shape;214;p18"/>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a:solidFill>
                  <a:srgbClr val="000000"/>
                </a:solidFill>
                <a:latin typeface="Arial"/>
                <a:ea typeface="Arial"/>
                <a:cs typeface="Arial"/>
                <a:sym typeface="Arial"/>
              </a:rPr>
              <a:t>Chapter 7.7: Leadership – What Makes an Effective Leader?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graphicFrame>
        <p:nvGraphicFramePr>
          <p:cNvPr id="220" name="Google Shape;220;p19"/>
          <p:cNvGraphicFramePr/>
          <p:nvPr/>
        </p:nvGraphicFramePr>
        <p:xfrm>
          <a:off x="180000" y="1600200"/>
          <a:ext cx="3000000" cy="3000000"/>
        </p:xfrm>
        <a:graphic>
          <a:graphicData uri="http://schemas.openxmlformats.org/drawingml/2006/table">
            <a:tbl>
              <a:tblPr bandRow="1" firstRow="1">
                <a:noFill/>
                <a:tableStyleId>{DA0EF662-821D-41FA-896E-5F1C9A2BD29A}</a:tableStyleId>
              </a:tblPr>
              <a:tblGrid>
                <a:gridCol w="2639400"/>
                <a:gridCol w="6000600"/>
              </a:tblGrid>
              <a:tr h="500325">
                <a:tc>
                  <a:txBody>
                    <a:bodyPr/>
                    <a:lstStyle/>
                    <a:p>
                      <a:pPr indent="0" lvl="0" marL="0" marR="0" rtl="0" algn="l">
                        <a:lnSpc>
                          <a:spcPct val="90000"/>
                        </a:lnSpc>
                        <a:spcBef>
                          <a:spcPts val="0"/>
                        </a:spcBef>
                        <a:spcAft>
                          <a:spcPts val="0"/>
                        </a:spcAft>
                        <a:buNone/>
                      </a:pPr>
                      <a:r>
                        <a:rPr lang="en-US" sz="2000" u="none" cap="none" strike="noStrike">
                          <a:solidFill>
                            <a:schemeClr val="dk1"/>
                          </a:solidFill>
                          <a:latin typeface="Arial"/>
                          <a:ea typeface="Arial"/>
                          <a:cs typeface="Arial"/>
                          <a:sym typeface="Arial"/>
                        </a:rPr>
                        <a:t>Scenario 1 Options</a:t>
                      </a:r>
                      <a:endParaRPr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None/>
                      </a:pPr>
                      <a:r>
                        <a:rPr lang="en-US" sz="2000" u="none" cap="none" strike="noStrike">
                          <a:solidFill>
                            <a:schemeClr val="dk1"/>
                          </a:solidFill>
                          <a:latin typeface="Arial"/>
                          <a:ea typeface="Arial"/>
                          <a:cs typeface="Arial"/>
                          <a:sym typeface="Arial"/>
                        </a:rPr>
                        <a:t>Scenario 2 Options</a:t>
                      </a:r>
                      <a:endParaRPr sz="20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0325">
                <a:tc>
                  <a:txBody>
                    <a:bodyPr/>
                    <a:lstStyle/>
                    <a:p>
                      <a:pPr indent="0" lvl="0" marL="0" marR="0" rtl="0" algn="l">
                        <a:lnSpc>
                          <a:spcPct val="90000"/>
                        </a:lnSpc>
                        <a:spcBef>
                          <a:spcPts val="0"/>
                        </a:spcBef>
                        <a:spcAft>
                          <a:spcPts val="0"/>
                        </a:spcAft>
                        <a:buNone/>
                      </a:pPr>
                      <a:r>
                        <a:rPr lang="en-US" sz="2000" u="none" cap="none" strike="noStrike">
                          <a:latin typeface="Arial"/>
                          <a:ea typeface="Arial"/>
                          <a:cs typeface="Arial"/>
                          <a:sym typeface="Arial"/>
                        </a:rPr>
                        <a:t>Buy fresh coffee:</a:t>
                      </a:r>
                      <a:endParaRPr/>
                    </a:p>
                    <a:p>
                      <a:pPr indent="-285750" lvl="0" marL="28575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Rightful ownership (attempt)</a:t>
                      </a:r>
                      <a:endParaRPr/>
                    </a:p>
                    <a:p>
                      <a:pPr indent="0" lvl="0" marL="0" marR="0" rtl="0" algn="l">
                        <a:lnSpc>
                          <a:spcPct val="90000"/>
                        </a:lnSpc>
                        <a:spcBef>
                          <a:spcPts val="0"/>
                        </a:spcBef>
                        <a:spcAft>
                          <a:spcPts val="0"/>
                        </a:spcAft>
                        <a:buNone/>
                      </a:pPr>
                      <a:r>
                        <a:t/>
                      </a:r>
                      <a:endParaRPr sz="20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90000"/>
                        </a:lnSpc>
                        <a:spcBef>
                          <a:spcPts val="0"/>
                        </a:spcBef>
                        <a:spcAft>
                          <a:spcPts val="0"/>
                        </a:spcAft>
                        <a:buNone/>
                      </a:pPr>
                      <a:r>
                        <a:rPr lang="en-US" sz="2000" u="none" cap="none" strike="noStrike">
                          <a:latin typeface="Arial"/>
                          <a:ea typeface="Arial"/>
                          <a:cs typeface="Arial"/>
                          <a:sym typeface="Arial"/>
                        </a:rPr>
                        <a:t>Pocket the $5:</a:t>
                      </a:r>
                      <a:endParaRPr/>
                    </a:p>
                    <a:p>
                      <a:pPr indent="-285750" lvl="0" marL="28575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Greed. </a:t>
                      </a:r>
                      <a:endParaRPr/>
                    </a:p>
                    <a:p>
                      <a:pPr indent="-285750" lvl="0" marL="28575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Dishonest. </a:t>
                      </a:r>
                      <a:endParaRPr/>
                    </a:p>
                    <a:p>
                      <a:pPr indent="-285750" lvl="0" marL="285750" marR="0" rtl="0" algn="l">
                        <a:lnSpc>
                          <a:spcPct val="90000"/>
                        </a:lnSpc>
                        <a:spcBef>
                          <a:spcPts val="0"/>
                        </a:spcBef>
                        <a:spcAft>
                          <a:spcPts val="0"/>
                        </a:spcAft>
                        <a:buClr>
                          <a:srgbClr val="000000"/>
                        </a:buClr>
                        <a:buSzPts val="2400"/>
                        <a:buFont typeface="Noto Sans Symbols"/>
                        <a:buChar char="⮚"/>
                      </a:pPr>
                      <a:r>
                        <a:rPr b="1" i="0" lang="en-US" sz="2400" u="none" cap="none" strike="noStrike">
                          <a:solidFill>
                            <a:srgbClr val="000000"/>
                          </a:solidFill>
                          <a:latin typeface="Arial"/>
                          <a:ea typeface="Arial"/>
                          <a:cs typeface="Arial"/>
                          <a:sym typeface="Arial"/>
                        </a:rPr>
                        <a:t>Lack of integrity, </a:t>
                      </a:r>
                      <a:r>
                        <a:rPr b="1" i="1" lang="en-US" sz="2400" u="none" cap="none" strike="noStrike">
                          <a:solidFill>
                            <a:srgbClr val="000000"/>
                          </a:solidFill>
                          <a:latin typeface="Arial"/>
                          <a:ea typeface="Arial"/>
                          <a:cs typeface="Arial"/>
                          <a:sym typeface="Arial"/>
                        </a:rPr>
                        <a:t>especially if the Professor teaches ethics!</a:t>
                      </a:r>
                      <a:endParaRPr b="1" i="1" sz="24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21" name="Google Shape;221;p19"/>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lang="en-US" sz="2400">
                <a:solidFill>
                  <a:schemeClr val="accent2"/>
                </a:solidFill>
                <a:latin typeface="Arial"/>
                <a:ea typeface="Arial"/>
                <a:cs typeface="Arial"/>
                <a:sym typeface="Arial"/>
              </a:rPr>
              <a:t>What are Values? What are Your Values?</a:t>
            </a:r>
            <a:endParaRPr/>
          </a:p>
        </p:txBody>
      </p:sp>
      <p:pic>
        <p:nvPicPr>
          <p:cNvPr descr="New Canadian $5 celebrates the space programme - Boing Boing" id="222" name="Google Shape;222;p19"/>
          <p:cNvPicPr preferRelativeResize="0"/>
          <p:nvPr/>
        </p:nvPicPr>
        <p:blipFill rotWithShape="1">
          <a:blip r:embed="rId3">
            <a:alphaModFix/>
          </a:blip>
          <a:srcRect b="0" l="0" r="0" t="0"/>
          <a:stretch/>
        </p:blipFill>
        <p:spPr>
          <a:xfrm>
            <a:off x="5908964" y="76201"/>
            <a:ext cx="3158836" cy="1447800"/>
          </a:xfrm>
          <a:prstGeom prst="rect">
            <a:avLst/>
          </a:prstGeom>
          <a:noFill/>
          <a:ln>
            <a:noFill/>
          </a:ln>
        </p:spPr>
      </p:pic>
      <p:sp>
        <p:nvSpPr>
          <p:cNvPr id="223" name="Google Shape;223;p19"/>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lang="en-US" sz="2000">
                <a:solidFill>
                  <a:srgbClr val="000000"/>
                </a:solidFill>
                <a:latin typeface="Arial"/>
                <a:ea typeface="Arial"/>
                <a:cs typeface="Arial"/>
                <a:sym typeface="Arial"/>
              </a:rPr>
              <a:t>Side discussion:</a:t>
            </a:r>
            <a:endParaRPr/>
          </a:p>
        </p:txBody>
      </p:sp>
      <p:sp>
        <p:nvSpPr>
          <p:cNvPr id="224" name="Google Shape;224;p19"/>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a:solidFill>
                  <a:srgbClr val="000000"/>
                </a:solidFill>
                <a:latin typeface="Arial"/>
                <a:ea typeface="Arial"/>
                <a:cs typeface="Arial"/>
                <a:sym typeface="Arial"/>
              </a:rPr>
              <a:t>‹#›</a:t>
            </a:fld>
            <a:endParaRPr b="1" i="1" sz="1200">
              <a:solidFill>
                <a:srgbClr val="000000"/>
              </a:solidFill>
              <a:latin typeface="Arial"/>
              <a:ea typeface="Arial"/>
              <a:cs typeface="Arial"/>
              <a:sym typeface="Arial"/>
            </a:endParaRPr>
          </a:p>
        </p:txBody>
      </p:sp>
      <p:sp>
        <p:nvSpPr>
          <p:cNvPr id="225" name="Google Shape;225;p19"/>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a:solidFill>
                  <a:srgbClr val="000000"/>
                </a:solidFill>
                <a:latin typeface="Arial"/>
                <a:ea typeface="Arial"/>
                <a:cs typeface="Arial"/>
                <a:sym typeface="Arial"/>
              </a:rPr>
              <a:t>Chapter 7.7: Leadership – What Makes an Effective Leader?</a:t>
            </a:r>
            <a:endParaRPr/>
          </a:p>
        </p:txBody>
      </p:sp>
      <p:sp>
        <p:nvSpPr>
          <p:cNvPr id="226" name="Google Shape;226;p19"/>
          <p:cNvSpPr/>
          <p:nvPr/>
        </p:nvSpPr>
        <p:spPr>
          <a:xfrm>
            <a:off x="1635518" y="4445496"/>
            <a:ext cx="5728964" cy="1600200"/>
          </a:xfrm>
          <a:prstGeom prst="wedgeRoundRectCallout">
            <a:avLst>
              <a:gd fmla="val -355" name="adj1"/>
              <a:gd fmla="val -100667" name="adj2"/>
              <a:gd fmla="val 16667" name="adj3"/>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800">
                <a:solidFill>
                  <a:schemeClr val="lt1"/>
                </a:solidFill>
                <a:latin typeface="Arial"/>
                <a:ea typeface="Arial"/>
                <a:cs typeface="Arial"/>
                <a:sym typeface="Arial"/>
              </a:rPr>
              <a:t>Some people can, and should, be held to a higher standard. </a:t>
            </a:r>
            <a:endParaRPr b="1" i="1" sz="2800">
              <a:solidFill>
                <a:schemeClr val="lt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0"/>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05000" lvl="0" marL="432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Deep down, values are probably the measures you use </a:t>
            </a:r>
            <a:br>
              <a:rPr b="0" lang="en-US" sz="2000">
                <a:solidFill>
                  <a:srgbClr val="000000"/>
                </a:solidFill>
                <a:latin typeface="Arial"/>
                <a:ea typeface="Arial"/>
                <a:cs typeface="Arial"/>
                <a:sym typeface="Arial"/>
              </a:rPr>
            </a:br>
            <a:r>
              <a:rPr b="0" lang="en-US" sz="2000">
                <a:solidFill>
                  <a:srgbClr val="000000"/>
                </a:solidFill>
                <a:latin typeface="Arial"/>
                <a:ea typeface="Arial"/>
                <a:cs typeface="Arial"/>
                <a:sym typeface="Arial"/>
              </a:rPr>
              <a:t>to tell if your life is turning out the way you want it to.</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When the things that you do and the way you behave match your values, life is usually good – you're satisfied and content. </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But when these don't align with your values, that's when things feel... wrong. This can be a real source of unhappiness.</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This is why making a conscious effort to identify your values </a:t>
            </a:r>
            <a:br>
              <a:rPr b="0" lang="en-US" sz="2000">
                <a:solidFill>
                  <a:srgbClr val="000000"/>
                </a:solidFill>
                <a:latin typeface="Arial"/>
                <a:ea typeface="Arial"/>
                <a:cs typeface="Arial"/>
                <a:sym typeface="Arial"/>
              </a:rPr>
            </a:br>
            <a:r>
              <a:rPr b="0" lang="en-US" sz="2000">
                <a:solidFill>
                  <a:srgbClr val="000000"/>
                </a:solidFill>
                <a:latin typeface="Arial"/>
                <a:ea typeface="Arial"/>
                <a:cs typeface="Arial"/>
                <a:sym typeface="Arial"/>
              </a:rPr>
              <a:t>is so important.</a:t>
            </a:r>
            <a:endParaRPr/>
          </a:p>
        </p:txBody>
      </p:sp>
      <p:sp>
        <p:nvSpPr>
          <p:cNvPr id="233" name="Google Shape;233;p20"/>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lang="en-US" sz="2400">
                <a:solidFill>
                  <a:schemeClr val="accent2"/>
                </a:solidFill>
                <a:latin typeface="Arial"/>
                <a:ea typeface="Arial"/>
                <a:cs typeface="Arial"/>
                <a:sym typeface="Arial"/>
              </a:rPr>
              <a:t>What are Values? What are Your Values?</a:t>
            </a:r>
            <a:endParaRPr/>
          </a:p>
        </p:txBody>
      </p:sp>
      <p:sp>
        <p:nvSpPr>
          <p:cNvPr id="234" name="Google Shape;234;p20"/>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a:solidFill>
                  <a:srgbClr val="000000"/>
                </a:solidFill>
                <a:latin typeface="Arial"/>
                <a:ea typeface="Arial"/>
                <a:cs typeface="Arial"/>
                <a:sym typeface="Arial"/>
              </a:rPr>
              <a:t>‹#›</a:t>
            </a:fld>
            <a:endParaRPr b="1" i="1" sz="1200">
              <a:solidFill>
                <a:srgbClr val="000000"/>
              </a:solidFill>
              <a:latin typeface="Arial"/>
              <a:ea typeface="Arial"/>
              <a:cs typeface="Arial"/>
              <a:sym typeface="Arial"/>
            </a:endParaRPr>
          </a:p>
        </p:txBody>
      </p:sp>
      <p:sp>
        <p:nvSpPr>
          <p:cNvPr id="235" name="Google Shape;235;p20"/>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a:solidFill>
                  <a:srgbClr val="000000"/>
                </a:solidFill>
                <a:latin typeface="Arial"/>
                <a:ea typeface="Arial"/>
                <a:cs typeface="Arial"/>
                <a:sym typeface="Arial"/>
              </a:rPr>
              <a:t>Chapter 7.7: Leadership – What Makes an Effective Leader?</a:t>
            </a:r>
            <a:endParaRPr/>
          </a:p>
        </p:txBody>
      </p:sp>
      <p:sp>
        <p:nvSpPr>
          <p:cNvPr id="236" name="Google Shape;236;p20"/>
          <p:cNvSpPr txBox="1"/>
          <p:nvPr/>
        </p:nvSpPr>
        <p:spPr>
          <a:xfrm>
            <a:off x="180000" y="4793671"/>
            <a:ext cx="8639999" cy="1362329"/>
          </a:xfrm>
          <a:prstGeom prst="rect">
            <a:avLst/>
          </a:prstGeom>
          <a:solidFill>
            <a:schemeClr val="dk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400"/>
              <a:buFont typeface="Noto Sans Symbols"/>
              <a:buNone/>
            </a:pPr>
            <a:r>
              <a:rPr b="1" i="1" lang="en-US" sz="2400">
                <a:solidFill>
                  <a:schemeClr val="lt1"/>
                </a:solidFill>
                <a:latin typeface="Arial"/>
                <a:ea typeface="Arial"/>
                <a:cs typeface="Arial"/>
                <a:sym typeface="Arial"/>
              </a:rPr>
              <a:t>Take some time in your career to develop and  </a:t>
            </a:r>
            <a:br>
              <a:rPr b="1" i="1" lang="en-US" sz="2400">
                <a:solidFill>
                  <a:schemeClr val="lt1"/>
                </a:solidFill>
                <a:latin typeface="Arial"/>
                <a:ea typeface="Arial"/>
                <a:cs typeface="Arial"/>
                <a:sym typeface="Arial"/>
              </a:rPr>
            </a:br>
            <a:r>
              <a:rPr b="1" i="1" lang="en-US" sz="2400">
                <a:solidFill>
                  <a:schemeClr val="lt1"/>
                </a:solidFill>
                <a:latin typeface="Arial"/>
                <a:ea typeface="Arial"/>
                <a:cs typeface="Arial"/>
                <a:sym typeface="Arial"/>
              </a:rPr>
              <a:t>crystallize YOUR values!</a:t>
            </a:r>
            <a:endParaRPr b="1" sz="2400">
              <a:solidFill>
                <a:schemeClr val="lt1"/>
              </a:solidFill>
              <a:latin typeface="Times New Roman"/>
              <a:ea typeface="Times New Roman"/>
              <a:cs typeface="Times New Roman"/>
              <a:sym typeface="Times New Roman"/>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1"/>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Values are essential for effective leadership, for the good of the organization and the workers. </a:t>
            </a:r>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Leaders promote values that have meaning for team </a:t>
            </a:r>
            <a:br>
              <a:rPr b="0" lang="en-US" sz="2000">
                <a:solidFill>
                  <a:srgbClr val="000000"/>
                </a:solidFill>
                <a:latin typeface="Arial"/>
                <a:ea typeface="Arial"/>
                <a:cs typeface="Arial"/>
                <a:sym typeface="Arial"/>
              </a:rPr>
            </a:br>
            <a:r>
              <a:rPr b="0" lang="en-US" sz="2000">
                <a:solidFill>
                  <a:srgbClr val="000000"/>
                </a:solidFill>
                <a:latin typeface="Arial"/>
                <a:ea typeface="Arial"/>
                <a:cs typeface="Arial"/>
                <a:sym typeface="Arial"/>
              </a:rPr>
              <a:t>members and will encourage norms of safe behaviour. </a:t>
            </a:r>
            <a:endParaRPr/>
          </a:p>
        </p:txBody>
      </p:sp>
      <p:sp>
        <p:nvSpPr>
          <p:cNvPr id="243" name="Google Shape;243;p21"/>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Good Leadership Is Founded On Good Values:</a:t>
            </a:r>
            <a:endParaRPr/>
          </a:p>
        </p:txBody>
      </p:sp>
      <p:sp>
        <p:nvSpPr>
          <p:cNvPr id="244" name="Google Shape;244;p21"/>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45" name="Google Shape;245;p21"/>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7.7: Leadership – What Makes an Effective Leader?</a:t>
            </a:r>
            <a:endParaRPr/>
          </a:p>
        </p:txBody>
      </p:sp>
      <p:sp>
        <p:nvSpPr>
          <p:cNvPr id="246" name="Google Shape;246;p21"/>
          <p:cNvSpPr/>
          <p:nvPr/>
        </p:nvSpPr>
        <p:spPr>
          <a:xfrm>
            <a:off x="4726200" y="2438400"/>
            <a:ext cx="4087200" cy="3702360"/>
          </a:xfrm>
          <a:prstGeom prst="rect">
            <a:avLst/>
          </a:prstGeom>
          <a:solidFill>
            <a:schemeClr val="dk1"/>
          </a:solidFill>
          <a:ln cap="flat" cmpd="sng" w="9525">
            <a:solidFill>
              <a:srgbClr val="0000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00" u="sng">
                <a:solidFill>
                  <a:srgbClr val="F8F8F8"/>
                </a:solidFill>
                <a:latin typeface="Arial"/>
                <a:ea typeface="Arial"/>
                <a:cs typeface="Arial"/>
                <a:sym typeface="Arial"/>
              </a:rPr>
              <a:t>Typical Values Set of a Student:</a:t>
            </a:r>
            <a:endParaRPr/>
          </a:p>
          <a:p>
            <a:pPr indent="-432000" lvl="0" marL="432000" marR="0" rtl="0" algn="l">
              <a:spcBef>
                <a:spcPts val="0"/>
              </a:spcBef>
              <a:spcAft>
                <a:spcPts val="0"/>
              </a:spcAft>
              <a:buClr>
                <a:srgbClr val="F8F8F8"/>
              </a:buClr>
              <a:buSzPts val="1800"/>
              <a:buFont typeface="Noto Sans Symbols"/>
              <a:buChar char="⮚"/>
            </a:pPr>
            <a:r>
              <a:rPr b="0" lang="en-US" sz="1800">
                <a:solidFill>
                  <a:srgbClr val="F8F8F8"/>
                </a:solidFill>
                <a:latin typeface="Arial"/>
                <a:ea typeface="Arial"/>
                <a:cs typeface="Arial"/>
                <a:sym typeface="Arial"/>
              </a:rPr>
              <a:t>Academic Excellence</a:t>
            </a:r>
            <a:endParaRPr/>
          </a:p>
          <a:p>
            <a:pPr indent="-432000" lvl="0" marL="432000" marR="0" rtl="0" algn="l">
              <a:spcBef>
                <a:spcPts val="0"/>
              </a:spcBef>
              <a:spcAft>
                <a:spcPts val="0"/>
              </a:spcAft>
              <a:buClr>
                <a:srgbClr val="F8F8F8"/>
              </a:buClr>
              <a:buSzPts val="1800"/>
              <a:buFont typeface="Noto Sans Symbols"/>
              <a:buChar char="⮚"/>
            </a:pPr>
            <a:r>
              <a:rPr b="0" lang="en-US" sz="1800">
                <a:solidFill>
                  <a:srgbClr val="F8F8F8"/>
                </a:solidFill>
                <a:latin typeface="Arial"/>
                <a:ea typeface="Arial"/>
                <a:cs typeface="Arial"/>
                <a:sym typeface="Arial"/>
              </a:rPr>
              <a:t>Balance in Work and Life</a:t>
            </a:r>
            <a:endParaRPr/>
          </a:p>
          <a:p>
            <a:pPr indent="-432000" lvl="0" marL="432000" marR="0" rtl="0" algn="l">
              <a:spcBef>
                <a:spcPts val="0"/>
              </a:spcBef>
              <a:spcAft>
                <a:spcPts val="0"/>
              </a:spcAft>
              <a:buClr>
                <a:srgbClr val="F8F8F8"/>
              </a:buClr>
              <a:buSzPts val="1800"/>
              <a:buFont typeface="Noto Sans Symbols"/>
              <a:buChar char="⮚"/>
            </a:pPr>
            <a:r>
              <a:rPr b="0" lang="en-US" sz="1800">
                <a:solidFill>
                  <a:srgbClr val="F8F8F8"/>
                </a:solidFill>
                <a:latin typeface="Arial"/>
                <a:ea typeface="Arial"/>
                <a:cs typeface="Arial"/>
                <a:sym typeface="Arial"/>
              </a:rPr>
              <a:t>Mental / Psychological Health</a:t>
            </a:r>
            <a:endParaRPr/>
          </a:p>
          <a:p>
            <a:pPr indent="-432000" lvl="0" marL="432000" marR="0" rtl="0" algn="l">
              <a:spcBef>
                <a:spcPts val="0"/>
              </a:spcBef>
              <a:spcAft>
                <a:spcPts val="0"/>
              </a:spcAft>
              <a:buClr>
                <a:srgbClr val="F8F8F8"/>
              </a:buClr>
              <a:buSzPts val="1800"/>
              <a:buFont typeface="Noto Sans Symbols"/>
              <a:buChar char="⮚"/>
            </a:pPr>
            <a:r>
              <a:rPr b="0" lang="en-US" sz="1800">
                <a:solidFill>
                  <a:srgbClr val="F8F8F8"/>
                </a:solidFill>
                <a:latin typeface="Arial"/>
                <a:ea typeface="Arial"/>
                <a:cs typeface="Arial"/>
                <a:sym typeface="Arial"/>
              </a:rPr>
              <a:t>Physical Fitness / Fun/Recreation</a:t>
            </a:r>
            <a:endParaRPr/>
          </a:p>
          <a:p>
            <a:pPr indent="-432000" lvl="0" marL="432000" marR="0" rtl="0" algn="l">
              <a:spcBef>
                <a:spcPts val="0"/>
              </a:spcBef>
              <a:spcAft>
                <a:spcPts val="0"/>
              </a:spcAft>
              <a:buClr>
                <a:srgbClr val="F8F8F8"/>
              </a:buClr>
              <a:buSzPts val="1800"/>
              <a:buFont typeface="Noto Sans Symbols"/>
              <a:buChar char="⮚"/>
            </a:pPr>
            <a:r>
              <a:rPr b="0" lang="en-US" sz="1800">
                <a:solidFill>
                  <a:srgbClr val="F8F8F8"/>
                </a:solidFill>
                <a:latin typeface="Arial"/>
                <a:ea typeface="Arial"/>
                <a:cs typeface="Arial"/>
                <a:sym typeface="Arial"/>
              </a:rPr>
              <a:t>Collaboration</a:t>
            </a:r>
            <a:endParaRPr b="0" sz="1800">
              <a:solidFill>
                <a:srgbClr val="F8F8F8"/>
              </a:solidFill>
              <a:latin typeface="Arial"/>
              <a:ea typeface="Arial"/>
              <a:cs typeface="Arial"/>
              <a:sym typeface="Arial"/>
            </a:endParaRPr>
          </a:p>
          <a:p>
            <a:pPr indent="-432000" lvl="0" marL="432000" marR="0" rtl="0" algn="l">
              <a:spcBef>
                <a:spcPts val="0"/>
              </a:spcBef>
              <a:spcAft>
                <a:spcPts val="0"/>
              </a:spcAft>
              <a:buClr>
                <a:srgbClr val="F8F8F8"/>
              </a:buClr>
              <a:buSzPts val="1800"/>
              <a:buFont typeface="Noto Sans Symbols"/>
              <a:buChar char="⮚"/>
            </a:pPr>
            <a:r>
              <a:rPr b="0" lang="en-US" sz="1800">
                <a:solidFill>
                  <a:srgbClr val="F8F8F8"/>
                </a:solidFill>
                <a:latin typeface="Arial"/>
                <a:ea typeface="Arial"/>
                <a:cs typeface="Arial"/>
                <a:sym typeface="Arial"/>
              </a:rPr>
              <a:t>Commitment</a:t>
            </a:r>
            <a:endParaRPr/>
          </a:p>
          <a:p>
            <a:pPr indent="-432000" lvl="0" marL="432000" marR="0" rtl="0" algn="l">
              <a:spcBef>
                <a:spcPts val="0"/>
              </a:spcBef>
              <a:spcAft>
                <a:spcPts val="0"/>
              </a:spcAft>
              <a:buClr>
                <a:srgbClr val="F8F8F8"/>
              </a:buClr>
              <a:buSzPts val="1800"/>
              <a:buFont typeface="Noto Sans Symbols"/>
              <a:buChar char="⮚"/>
            </a:pPr>
            <a:r>
              <a:rPr b="0" lang="en-US" sz="1800">
                <a:solidFill>
                  <a:srgbClr val="F8F8F8"/>
                </a:solidFill>
                <a:latin typeface="Arial"/>
                <a:ea typeface="Arial"/>
                <a:cs typeface="Arial"/>
                <a:sym typeface="Arial"/>
              </a:rPr>
              <a:t>Innovation</a:t>
            </a:r>
            <a:endParaRPr b="0" sz="1800">
              <a:solidFill>
                <a:srgbClr val="F8F8F8"/>
              </a:solidFill>
              <a:latin typeface="Arial"/>
              <a:ea typeface="Arial"/>
              <a:cs typeface="Arial"/>
              <a:sym typeface="Arial"/>
            </a:endParaRPr>
          </a:p>
          <a:p>
            <a:pPr indent="-432000" lvl="0" marL="432000" marR="0" rtl="0" algn="l">
              <a:spcBef>
                <a:spcPts val="0"/>
              </a:spcBef>
              <a:spcAft>
                <a:spcPts val="0"/>
              </a:spcAft>
              <a:buClr>
                <a:srgbClr val="F8F8F8"/>
              </a:buClr>
              <a:buSzPts val="1800"/>
              <a:buFont typeface="Noto Sans Symbols"/>
              <a:buChar char="⮚"/>
            </a:pPr>
            <a:r>
              <a:rPr b="0" lang="en-US" sz="1800">
                <a:solidFill>
                  <a:srgbClr val="F8F8F8"/>
                </a:solidFill>
                <a:latin typeface="Arial"/>
                <a:ea typeface="Arial"/>
                <a:cs typeface="Arial"/>
                <a:sym typeface="Arial"/>
              </a:rPr>
              <a:t>Integrity</a:t>
            </a:r>
            <a:endParaRPr/>
          </a:p>
          <a:p>
            <a:pPr indent="-432000" lvl="0" marL="432000" marR="0" rtl="0" algn="l">
              <a:spcBef>
                <a:spcPts val="0"/>
              </a:spcBef>
              <a:spcAft>
                <a:spcPts val="0"/>
              </a:spcAft>
              <a:buClr>
                <a:srgbClr val="F8F8F8"/>
              </a:buClr>
              <a:buSzPts val="1800"/>
              <a:buFont typeface="Noto Sans Symbols"/>
              <a:buChar char="⮚"/>
            </a:pPr>
            <a:r>
              <a:rPr b="0" lang="en-US" sz="1800">
                <a:solidFill>
                  <a:srgbClr val="F8F8F8"/>
                </a:solidFill>
                <a:latin typeface="Arial"/>
                <a:ea typeface="Arial"/>
                <a:cs typeface="Arial"/>
                <a:sym typeface="Arial"/>
              </a:rPr>
              <a:t>Initiative</a:t>
            </a:r>
            <a:endParaRPr/>
          </a:p>
          <a:p>
            <a:pPr indent="-432000" lvl="0" marL="432000" marR="0" rtl="0" algn="l">
              <a:spcBef>
                <a:spcPts val="0"/>
              </a:spcBef>
              <a:spcAft>
                <a:spcPts val="0"/>
              </a:spcAft>
              <a:buClr>
                <a:srgbClr val="F8F8F8"/>
              </a:buClr>
              <a:buSzPts val="1800"/>
              <a:buFont typeface="Noto Sans Symbols"/>
              <a:buChar char="⮚"/>
            </a:pPr>
            <a:r>
              <a:rPr b="0" lang="en-US" sz="1800">
                <a:solidFill>
                  <a:srgbClr val="F8F8F8"/>
                </a:solidFill>
                <a:latin typeface="Arial"/>
                <a:ea typeface="Arial"/>
                <a:cs typeface="Arial"/>
                <a:sym typeface="Arial"/>
              </a:rPr>
              <a:t>Leadership</a:t>
            </a:r>
            <a:endParaRPr b="0" sz="1800">
              <a:solidFill>
                <a:srgbClr val="F8F8F8"/>
              </a:solidFill>
              <a:latin typeface="Arial"/>
              <a:ea typeface="Arial"/>
              <a:cs typeface="Arial"/>
              <a:sym typeface="Arial"/>
            </a:endParaRPr>
          </a:p>
          <a:p>
            <a:pPr indent="-432000" lvl="0" marL="432000" marR="0" rtl="0" algn="l">
              <a:spcBef>
                <a:spcPts val="0"/>
              </a:spcBef>
              <a:spcAft>
                <a:spcPts val="0"/>
              </a:spcAft>
              <a:buClr>
                <a:srgbClr val="F8F8F8"/>
              </a:buClr>
              <a:buSzPts val="1800"/>
              <a:buFont typeface="Noto Sans Symbols"/>
              <a:buChar char="⮚"/>
            </a:pPr>
            <a:r>
              <a:rPr b="0" lang="en-US" sz="1800">
                <a:solidFill>
                  <a:srgbClr val="F8F8F8"/>
                </a:solidFill>
                <a:latin typeface="Arial"/>
                <a:ea typeface="Arial"/>
                <a:cs typeface="Arial"/>
                <a:sym typeface="Arial"/>
              </a:rPr>
              <a:t>Respect</a:t>
            </a:r>
            <a:endParaRPr/>
          </a:p>
          <a:p>
            <a:pPr indent="-432000" lvl="0" marL="432000" marR="0" rtl="0" algn="l">
              <a:spcBef>
                <a:spcPts val="0"/>
              </a:spcBef>
              <a:spcAft>
                <a:spcPts val="0"/>
              </a:spcAft>
              <a:buClr>
                <a:srgbClr val="F8F8F8"/>
              </a:buClr>
              <a:buSzPts val="1800"/>
              <a:buFont typeface="Noto Sans Symbols"/>
              <a:buChar char="⮚"/>
            </a:pPr>
            <a:r>
              <a:rPr b="0" lang="en-US" sz="1800">
                <a:solidFill>
                  <a:srgbClr val="F8F8F8"/>
                </a:solidFill>
                <a:latin typeface="Arial"/>
                <a:ea typeface="Arial"/>
                <a:cs typeface="Arial"/>
                <a:sym typeface="Arial"/>
              </a:rPr>
              <a:t>Ambition</a:t>
            </a:r>
            <a:endParaRPr b="0" sz="1800">
              <a:solidFill>
                <a:srgbClr val="F8F8F8"/>
              </a:solidFill>
              <a:latin typeface="Arial"/>
              <a:ea typeface="Arial"/>
              <a:cs typeface="Arial"/>
              <a:sym typeface="Arial"/>
            </a:endParaRPr>
          </a:p>
        </p:txBody>
      </p:sp>
      <p:sp>
        <p:nvSpPr>
          <p:cNvPr id="247" name="Google Shape;247;p21"/>
          <p:cNvSpPr/>
          <p:nvPr/>
        </p:nvSpPr>
        <p:spPr>
          <a:xfrm>
            <a:off x="533400" y="2438400"/>
            <a:ext cx="4087200" cy="3702360"/>
          </a:xfrm>
          <a:prstGeom prst="rect">
            <a:avLst/>
          </a:prstGeom>
          <a:solidFill>
            <a:schemeClr val="dk1"/>
          </a:solidFill>
          <a:ln cap="flat" cmpd="sng" w="9525">
            <a:solidFill>
              <a:srgbClr val="0000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00" u="sng">
                <a:solidFill>
                  <a:srgbClr val="F8F8F8"/>
                </a:solidFill>
                <a:latin typeface="Arial"/>
                <a:ea typeface="Arial"/>
                <a:cs typeface="Arial"/>
                <a:sym typeface="Arial"/>
              </a:rPr>
              <a:t>Typical Values Set of a Team:</a:t>
            </a:r>
            <a:endParaRPr/>
          </a:p>
          <a:p>
            <a:pPr indent="-432000" lvl="0" marL="432000" marR="0" rtl="0" algn="l">
              <a:spcBef>
                <a:spcPts val="0"/>
              </a:spcBef>
              <a:spcAft>
                <a:spcPts val="0"/>
              </a:spcAft>
              <a:buClr>
                <a:srgbClr val="F8F8F8"/>
              </a:buClr>
              <a:buSzPts val="1800"/>
              <a:buFont typeface="Noto Sans Symbols"/>
              <a:buChar char="⮚"/>
            </a:pPr>
            <a:r>
              <a:rPr b="0" lang="en-US" sz="1800">
                <a:solidFill>
                  <a:srgbClr val="F8F8F8"/>
                </a:solidFill>
                <a:latin typeface="Arial"/>
                <a:ea typeface="Arial"/>
                <a:cs typeface="Arial"/>
                <a:sym typeface="Arial"/>
              </a:rPr>
              <a:t>Professional Excellence</a:t>
            </a:r>
            <a:endParaRPr/>
          </a:p>
          <a:p>
            <a:pPr indent="-432000" lvl="0" marL="432000" marR="0" rtl="0" algn="l">
              <a:spcBef>
                <a:spcPts val="0"/>
              </a:spcBef>
              <a:spcAft>
                <a:spcPts val="0"/>
              </a:spcAft>
              <a:buClr>
                <a:srgbClr val="F8F8F8"/>
              </a:buClr>
              <a:buSzPts val="1800"/>
              <a:buFont typeface="Noto Sans Symbols"/>
              <a:buChar char="⮚"/>
            </a:pPr>
            <a:r>
              <a:rPr b="0" lang="en-US" sz="1800">
                <a:solidFill>
                  <a:srgbClr val="F8F8F8"/>
                </a:solidFill>
                <a:latin typeface="Arial"/>
                <a:ea typeface="Arial"/>
                <a:cs typeface="Arial"/>
                <a:sym typeface="Arial"/>
              </a:rPr>
              <a:t>Accountability</a:t>
            </a:r>
            <a:endParaRPr b="0" sz="1800">
              <a:solidFill>
                <a:srgbClr val="F8F8F8"/>
              </a:solidFill>
              <a:latin typeface="Arial"/>
              <a:ea typeface="Arial"/>
              <a:cs typeface="Arial"/>
              <a:sym typeface="Arial"/>
            </a:endParaRPr>
          </a:p>
          <a:p>
            <a:pPr indent="-432000" lvl="0" marL="432000" marR="0" rtl="0" algn="l">
              <a:spcBef>
                <a:spcPts val="0"/>
              </a:spcBef>
              <a:spcAft>
                <a:spcPts val="0"/>
              </a:spcAft>
              <a:buClr>
                <a:srgbClr val="F8F8F8"/>
              </a:buClr>
              <a:buSzPts val="1800"/>
              <a:buFont typeface="Noto Sans Symbols"/>
              <a:buChar char="⮚"/>
            </a:pPr>
            <a:r>
              <a:rPr b="0" lang="en-US" sz="1800">
                <a:solidFill>
                  <a:srgbClr val="F8F8F8"/>
                </a:solidFill>
                <a:latin typeface="Arial"/>
                <a:ea typeface="Arial"/>
                <a:cs typeface="Arial"/>
                <a:sym typeface="Arial"/>
              </a:rPr>
              <a:t>Collaboration</a:t>
            </a:r>
            <a:endParaRPr b="0" sz="1800">
              <a:solidFill>
                <a:srgbClr val="F8F8F8"/>
              </a:solidFill>
              <a:latin typeface="Arial"/>
              <a:ea typeface="Arial"/>
              <a:cs typeface="Arial"/>
              <a:sym typeface="Arial"/>
            </a:endParaRPr>
          </a:p>
          <a:p>
            <a:pPr indent="-432000" lvl="0" marL="432000" marR="0" rtl="0" algn="l">
              <a:spcBef>
                <a:spcPts val="0"/>
              </a:spcBef>
              <a:spcAft>
                <a:spcPts val="0"/>
              </a:spcAft>
              <a:buClr>
                <a:srgbClr val="F8F8F8"/>
              </a:buClr>
              <a:buSzPts val="1800"/>
              <a:buFont typeface="Noto Sans Symbols"/>
              <a:buChar char="⮚"/>
            </a:pPr>
            <a:r>
              <a:rPr b="0" lang="en-US" sz="1800">
                <a:solidFill>
                  <a:srgbClr val="F8F8F8"/>
                </a:solidFill>
                <a:latin typeface="Arial"/>
                <a:ea typeface="Arial"/>
                <a:cs typeface="Arial"/>
                <a:sym typeface="Arial"/>
              </a:rPr>
              <a:t>Empowerment</a:t>
            </a:r>
            <a:endParaRPr b="0" sz="1800">
              <a:solidFill>
                <a:srgbClr val="F8F8F8"/>
              </a:solidFill>
              <a:latin typeface="Arial"/>
              <a:ea typeface="Arial"/>
              <a:cs typeface="Arial"/>
              <a:sym typeface="Arial"/>
            </a:endParaRPr>
          </a:p>
          <a:p>
            <a:pPr indent="-432000" lvl="0" marL="432000" marR="0" rtl="0" algn="l">
              <a:spcBef>
                <a:spcPts val="0"/>
              </a:spcBef>
              <a:spcAft>
                <a:spcPts val="0"/>
              </a:spcAft>
              <a:buClr>
                <a:srgbClr val="F8F8F8"/>
              </a:buClr>
              <a:buSzPts val="1800"/>
              <a:buFont typeface="Noto Sans Symbols"/>
              <a:buChar char="⮚"/>
            </a:pPr>
            <a:r>
              <a:rPr b="0" lang="en-US" sz="1800">
                <a:solidFill>
                  <a:srgbClr val="F8F8F8"/>
                </a:solidFill>
                <a:latin typeface="Arial"/>
                <a:ea typeface="Arial"/>
                <a:cs typeface="Arial"/>
                <a:sym typeface="Arial"/>
              </a:rPr>
              <a:t>Commitment</a:t>
            </a:r>
            <a:endParaRPr b="0" sz="1800">
              <a:solidFill>
                <a:srgbClr val="F8F8F8"/>
              </a:solidFill>
              <a:latin typeface="Arial"/>
              <a:ea typeface="Arial"/>
              <a:cs typeface="Arial"/>
              <a:sym typeface="Arial"/>
            </a:endParaRPr>
          </a:p>
          <a:p>
            <a:pPr indent="-432000" lvl="0" marL="432000" marR="0" rtl="0" algn="l">
              <a:spcBef>
                <a:spcPts val="0"/>
              </a:spcBef>
              <a:spcAft>
                <a:spcPts val="0"/>
              </a:spcAft>
              <a:buClr>
                <a:srgbClr val="F8F8F8"/>
              </a:buClr>
              <a:buSzPts val="1800"/>
              <a:buFont typeface="Noto Sans Symbols"/>
              <a:buChar char="⮚"/>
            </a:pPr>
            <a:r>
              <a:rPr b="0" lang="en-US" sz="1800">
                <a:solidFill>
                  <a:srgbClr val="F8F8F8"/>
                </a:solidFill>
                <a:latin typeface="Arial"/>
                <a:ea typeface="Arial"/>
                <a:cs typeface="Arial"/>
                <a:sym typeface="Arial"/>
              </a:rPr>
              <a:t>Innovation</a:t>
            </a:r>
            <a:endParaRPr b="0" sz="1800">
              <a:solidFill>
                <a:srgbClr val="F8F8F8"/>
              </a:solidFill>
              <a:latin typeface="Arial"/>
              <a:ea typeface="Arial"/>
              <a:cs typeface="Arial"/>
              <a:sym typeface="Arial"/>
            </a:endParaRPr>
          </a:p>
          <a:p>
            <a:pPr indent="-432000" lvl="0" marL="432000" marR="0" rtl="0" algn="l">
              <a:spcBef>
                <a:spcPts val="0"/>
              </a:spcBef>
              <a:spcAft>
                <a:spcPts val="0"/>
              </a:spcAft>
              <a:buClr>
                <a:srgbClr val="F8F8F8"/>
              </a:buClr>
              <a:buSzPts val="1800"/>
              <a:buFont typeface="Noto Sans Symbols"/>
              <a:buChar char="⮚"/>
            </a:pPr>
            <a:r>
              <a:rPr b="0" lang="en-US" sz="1800">
                <a:solidFill>
                  <a:srgbClr val="F8F8F8"/>
                </a:solidFill>
                <a:latin typeface="Arial"/>
                <a:ea typeface="Arial"/>
                <a:cs typeface="Arial"/>
                <a:sym typeface="Arial"/>
              </a:rPr>
              <a:t>Integrity</a:t>
            </a:r>
            <a:endParaRPr/>
          </a:p>
          <a:p>
            <a:pPr indent="-432000" lvl="0" marL="432000" marR="0" rtl="0" algn="l">
              <a:spcBef>
                <a:spcPts val="0"/>
              </a:spcBef>
              <a:spcAft>
                <a:spcPts val="0"/>
              </a:spcAft>
              <a:buClr>
                <a:srgbClr val="F8F8F8"/>
              </a:buClr>
              <a:buSzPts val="1800"/>
              <a:buFont typeface="Noto Sans Symbols"/>
              <a:buChar char="⮚"/>
            </a:pPr>
            <a:r>
              <a:rPr b="0" lang="en-US" sz="1800">
                <a:solidFill>
                  <a:srgbClr val="F8F8F8"/>
                </a:solidFill>
                <a:latin typeface="Arial"/>
                <a:ea typeface="Arial"/>
                <a:cs typeface="Arial"/>
                <a:sym typeface="Arial"/>
              </a:rPr>
              <a:t>Initiative</a:t>
            </a:r>
            <a:endParaRPr b="0" sz="1800">
              <a:solidFill>
                <a:srgbClr val="F8F8F8"/>
              </a:solidFill>
              <a:latin typeface="Arial"/>
              <a:ea typeface="Arial"/>
              <a:cs typeface="Arial"/>
              <a:sym typeface="Arial"/>
            </a:endParaRPr>
          </a:p>
          <a:p>
            <a:pPr indent="-432000" lvl="0" marL="432000" marR="0" rtl="0" algn="l">
              <a:spcBef>
                <a:spcPts val="0"/>
              </a:spcBef>
              <a:spcAft>
                <a:spcPts val="0"/>
              </a:spcAft>
              <a:buClr>
                <a:srgbClr val="F8F8F8"/>
              </a:buClr>
              <a:buSzPts val="1800"/>
              <a:buFont typeface="Noto Sans Symbols"/>
              <a:buChar char="⮚"/>
            </a:pPr>
            <a:r>
              <a:rPr b="0" lang="en-US" sz="1800">
                <a:solidFill>
                  <a:srgbClr val="F8F8F8"/>
                </a:solidFill>
                <a:latin typeface="Arial"/>
                <a:ea typeface="Arial"/>
                <a:cs typeface="Arial"/>
                <a:sym typeface="Arial"/>
              </a:rPr>
              <a:t>Leadership</a:t>
            </a:r>
            <a:endParaRPr/>
          </a:p>
          <a:p>
            <a:pPr indent="-432000" lvl="0" marL="432000" marR="0" rtl="0" algn="l">
              <a:spcBef>
                <a:spcPts val="0"/>
              </a:spcBef>
              <a:spcAft>
                <a:spcPts val="0"/>
              </a:spcAft>
              <a:buClr>
                <a:srgbClr val="F8F8F8"/>
              </a:buClr>
              <a:buSzPts val="1800"/>
              <a:buFont typeface="Noto Sans Symbols"/>
              <a:buChar char="⮚"/>
            </a:pPr>
            <a:r>
              <a:rPr b="0" lang="en-US" sz="1800">
                <a:solidFill>
                  <a:srgbClr val="F8F8F8"/>
                </a:solidFill>
                <a:latin typeface="Arial"/>
                <a:ea typeface="Arial"/>
                <a:cs typeface="Arial"/>
                <a:sym typeface="Arial"/>
              </a:rPr>
              <a:t>Respect</a:t>
            </a:r>
            <a:endParaRPr/>
          </a:p>
          <a:p>
            <a:pPr indent="-432000" lvl="0" marL="432000" marR="0" rtl="0" algn="l">
              <a:spcBef>
                <a:spcPts val="0"/>
              </a:spcBef>
              <a:spcAft>
                <a:spcPts val="0"/>
              </a:spcAft>
              <a:buClr>
                <a:srgbClr val="F8F8F8"/>
              </a:buClr>
              <a:buSzPts val="1800"/>
              <a:buFont typeface="Noto Sans Symbols"/>
              <a:buChar char="⮚"/>
            </a:pPr>
            <a:r>
              <a:rPr b="0" lang="en-US" sz="1800">
                <a:solidFill>
                  <a:srgbClr val="F8F8F8"/>
                </a:solidFill>
                <a:latin typeface="Arial"/>
                <a:ea typeface="Arial"/>
                <a:cs typeface="Arial"/>
                <a:sym typeface="Arial"/>
              </a:rPr>
              <a:t>Consistency</a:t>
            </a:r>
            <a:endParaRPr/>
          </a:p>
          <a:p>
            <a:pPr indent="-432000" lvl="0" marL="432000" marR="0" rtl="0" algn="l">
              <a:spcBef>
                <a:spcPts val="0"/>
              </a:spcBef>
              <a:spcAft>
                <a:spcPts val="0"/>
              </a:spcAft>
              <a:buClr>
                <a:srgbClr val="F8F8F8"/>
              </a:buClr>
              <a:buSzPts val="1800"/>
              <a:buFont typeface="Noto Sans Symbols"/>
              <a:buChar char="⮚"/>
            </a:pPr>
            <a:r>
              <a:rPr b="0" lang="en-US" sz="1800">
                <a:solidFill>
                  <a:srgbClr val="F8F8F8"/>
                </a:solidFill>
                <a:latin typeface="Arial"/>
                <a:ea typeface="Arial"/>
                <a:cs typeface="Arial"/>
                <a:sym typeface="Arial"/>
              </a:rPr>
              <a:t>Community i.e. “Togetherness”</a:t>
            </a:r>
            <a:endParaRPr b="0" sz="1800">
              <a:solidFill>
                <a:srgbClr val="F8F8F8"/>
              </a:solidFill>
              <a:latin typeface="Arial"/>
              <a:ea typeface="Arial"/>
              <a:cs typeface="Arial"/>
              <a:sym typeface="Arial"/>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2"/>
          <p:cNvSpPr/>
          <p:nvPr/>
        </p:nvSpPr>
        <p:spPr>
          <a:xfrm>
            <a:off x="4934465" y="2044088"/>
            <a:ext cx="3867000" cy="2362200"/>
          </a:xfrm>
          <a:prstGeom prst="irregularSeal1">
            <a:avLst/>
          </a:prstGeom>
          <a:solidFill>
            <a:srgbClr val="7030A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800">
                <a:solidFill>
                  <a:schemeClr val="lt1"/>
                </a:solidFill>
                <a:latin typeface="Arial"/>
                <a:ea typeface="Arial"/>
                <a:cs typeface="Arial"/>
                <a:sym typeface="Arial"/>
              </a:rPr>
              <a:t>I would add </a:t>
            </a:r>
            <a:r>
              <a:rPr b="1" i="1" lang="en-US" sz="1800" u="sng">
                <a:solidFill>
                  <a:schemeClr val="lt1"/>
                </a:solidFill>
                <a:latin typeface="Arial"/>
                <a:ea typeface="Arial"/>
                <a:cs typeface="Arial"/>
                <a:sym typeface="Arial"/>
              </a:rPr>
              <a:t>COMMITMENT</a:t>
            </a:r>
            <a:endParaRPr b="1" i="1" sz="1800" u="sng">
              <a:solidFill>
                <a:schemeClr val="lt1"/>
              </a:solidFill>
              <a:latin typeface="Arial"/>
              <a:ea typeface="Arial"/>
              <a:cs typeface="Arial"/>
              <a:sym typeface="Arial"/>
            </a:endParaRPr>
          </a:p>
        </p:txBody>
      </p:sp>
      <p:sp>
        <p:nvSpPr>
          <p:cNvPr id="254" name="Google Shape;254;p22"/>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1" lang="en-US" sz="2000">
                <a:solidFill>
                  <a:srgbClr val="000000"/>
                </a:solidFill>
                <a:latin typeface="Arial"/>
                <a:ea typeface="Arial"/>
                <a:cs typeface="Arial"/>
                <a:sym typeface="Arial"/>
              </a:rPr>
              <a:t>The 5 Core Values that Every Organization Should Have; Jessica Simms; CareerMetis.com; </a:t>
            </a:r>
            <a:r>
              <a:rPr b="0" i="1" lang="en-US" sz="2000" u="sng">
                <a:solidFill>
                  <a:srgbClr val="000000"/>
                </a:solidFill>
                <a:latin typeface="Arial"/>
                <a:ea typeface="Arial"/>
                <a:cs typeface="Arial"/>
                <a:sym typeface="Arial"/>
                <a:hlinkClick r:id="rId3">
                  <a:extLst>
                    <a:ext uri="{A12FA001-AC4F-418D-AE19-62706E023703}">
                      <ahyp:hlinkClr val="tx"/>
                    </a:ext>
                  </a:extLst>
                </a:hlinkClick>
              </a:rPr>
              <a:t>https://careermetis.com/organization-core-values/</a:t>
            </a:r>
            <a:endParaRPr b="0" i="1"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Organizations (any kind of organization, from small community groups to multi-national corporations) that embrace these five core values are more likely to succeed in the long-term. </a:t>
            </a:r>
            <a:endParaRPr b="0" sz="2000">
              <a:solidFill>
                <a:srgbClr val="000000"/>
              </a:solidFill>
              <a:latin typeface="Arial"/>
              <a:ea typeface="Arial"/>
              <a:cs typeface="Arial"/>
              <a:sym typeface="Arial"/>
            </a:endParaRPr>
          </a:p>
        </p:txBody>
      </p:sp>
      <p:sp>
        <p:nvSpPr>
          <p:cNvPr id="255" name="Google Shape;255;p22"/>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lang="en-US" sz="2400">
                <a:solidFill>
                  <a:schemeClr val="accent2"/>
                </a:solidFill>
                <a:latin typeface="Arial"/>
                <a:ea typeface="Arial"/>
                <a:cs typeface="Arial"/>
                <a:sym typeface="Arial"/>
              </a:rPr>
              <a:t>Core Values of an Organization:</a:t>
            </a:r>
            <a:endParaRPr b="0" sz="2400">
              <a:solidFill>
                <a:schemeClr val="accent2"/>
              </a:solidFill>
              <a:latin typeface="Arial"/>
              <a:ea typeface="Arial"/>
              <a:cs typeface="Arial"/>
              <a:sym typeface="Arial"/>
            </a:endParaRPr>
          </a:p>
        </p:txBody>
      </p:sp>
      <p:sp>
        <p:nvSpPr>
          <p:cNvPr id="256" name="Google Shape;256;p2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a:solidFill>
                  <a:srgbClr val="000000"/>
                </a:solidFill>
                <a:latin typeface="Arial"/>
                <a:ea typeface="Arial"/>
                <a:cs typeface="Arial"/>
                <a:sym typeface="Arial"/>
              </a:rPr>
              <a:t>‹#›</a:t>
            </a:fld>
            <a:endParaRPr b="1" i="1" sz="1200">
              <a:solidFill>
                <a:srgbClr val="000000"/>
              </a:solidFill>
              <a:latin typeface="Arial"/>
              <a:ea typeface="Arial"/>
              <a:cs typeface="Arial"/>
              <a:sym typeface="Arial"/>
            </a:endParaRPr>
          </a:p>
        </p:txBody>
      </p:sp>
      <p:sp>
        <p:nvSpPr>
          <p:cNvPr id="257" name="Google Shape;257;p2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a:solidFill>
                  <a:srgbClr val="000000"/>
                </a:solidFill>
                <a:latin typeface="Arial"/>
                <a:ea typeface="Arial"/>
                <a:cs typeface="Arial"/>
                <a:sym typeface="Arial"/>
              </a:rPr>
              <a:t>Chapter 7.7: Leadership – What Makes an Effective Leader?</a:t>
            </a:r>
            <a:endParaRPr/>
          </a:p>
        </p:txBody>
      </p:sp>
      <p:grpSp>
        <p:nvGrpSpPr>
          <p:cNvPr id="258" name="Google Shape;258;p22"/>
          <p:cNvGrpSpPr/>
          <p:nvPr/>
        </p:nvGrpSpPr>
        <p:grpSpPr>
          <a:xfrm>
            <a:off x="813305" y="2516336"/>
            <a:ext cx="4621789" cy="3583094"/>
            <a:chOff x="432305" y="1736"/>
            <a:chExt cx="4621789" cy="3583094"/>
          </a:xfrm>
        </p:grpSpPr>
        <p:sp>
          <p:nvSpPr>
            <p:cNvPr id="259" name="Google Shape;259;p22"/>
            <p:cNvSpPr/>
            <p:nvPr/>
          </p:nvSpPr>
          <p:spPr>
            <a:xfrm>
              <a:off x="1946548" y="1736"/>
              <a:ext cx="1593303" cy="797510"/>
            </a:xfrm>
            <a:prstGeom prst="roundRect">
              <a:avLst>
                <a:gd fmla="val 16667" name="adj"/>
              </a:avLst>
            </a:prstGeom>
            <a:solidFill>
              <a:srgbClr val="FF99CC"/>
            </a:solidFill>
            <a:ln cap="flat" cmpd="sng" w="254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2"/>
            <p:cNvSpPr txBox="1"/>
            <p:nvPr/>
          </p:nvSpPr>
          <p:spPr>
            <a:xfrm>
              <a:off x="1985479" y="40667"/>
              <a:ext cx="1515441" cy="719648"/>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None/>
              </a:pPr>
              <a:r>
                <a:rPr b="1" lang="en-US" sz="1600">
                  <a:solidFill>
                    <a:schemeClr val="dk1"/>
                  </a:solidFill>
                  <a:latin typeface="Arial"/>
                  <a:ea typeface="Arial"/>
                  <a:cs typeface="Arial"/>
                  <a:sym typeface="Arial"/>
                </a:rPr>
                <a:t>Transparency</a:t>
              </a:r>
              <a:endParaRPr b="1" sz="1600">
                <a:solidFill>
                  <a:schemeClr val="dk1"/>
                </a:solidFill>
                <a:latin typeface="Arial"/>
                <a:ea typeface="Arial"/>
                <a:cs typeface="Arial"/>
                <a:sym typeface="Arial"/>
              </a:endParaRPr>
            </a:p>
          </p:txBody>
        </p:sp>
        <p:sp>
          <p:nvSpPr>
            <p:cNvPr id="261" name="Google Shape;261;p22"/>
            <p:cNvSpPr/>
            <p:nvPr/>
          </p:nvSpPr>
          <p:spPr>
            <a:xfrm>
              <a:off x="1151030" y="400491"/>
              <a:ext cx="3184339" cy="3184339"/>
            </a:xfrm>
            <a:custGeom>
              <a:rect b="b" l="l" r="r" t="t"/>
              <a:pathLst>
                <a:path extrusionOk="0" h="120000" w="120000">
                  <a:moveTo>
                    <a:pt x="90254" y="8186"/>
                  </a:moveTo>
                  <a:lnTo>
                    <a:pt x="90254" y="8186"/>
                  </a:lnTo>
                  <a:cubicBezTo>
                    <a:pt x="97955" y="12683"/>
                    <a:pt x="104557" y="18840"/>
                    <a:pt x="109580" y="26209"/>
                  </a:cubicBezTo>
                </a:path>
              </a:pathLst>
            </a:custGeom>
            <a:noFill/>
            <a:ln cap="flat" cmpd="sng" w="571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2"/>
            <p:cNvSpPr/>
            <p:nvPr/>
          </p:nvSpPr>
          <p:spPr>
            <a:xfrm>
              <a:off x="3460791" y="1101898"/>
              <a:ext cx="1593303" cy="797510"/>
            </a:xfrm>
            <a:prstGeom prst="roundRect">
              <a:avLst>
                <a:gd fmla="val 16667" name="adj"/>
              </a:avLst>
            </a:prstGeom>
            <a:solidFill>
              <a:srgbClr val="CC99FF"/>
            </a:solidFill>
            <a:ln cap="flat" cmpd="sng" w="254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2"/>
            <p:cNvSpPr txBox="1"/>
            <p:nvPr/>
          </p:nvSpPr>
          <p:spPr>
            <a:xfrm>
              <a:off x="3499722" y="1140829"/>
              <a:ext cx="1515441" cy="719648"/>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None/>
              </a:pPr>
              <a:r>
                <a:rPr b="1" lang="en-US" sz="1600">
                  <a:solidFill>
                    <a:schemeClr val="dk1"/>
                  </a:solidFill>
                  <a:latin typeface="Arial"/>
                  <a:ea typeface="Arial"/>
                  <a:cs typeface="Arial"/>
                  <a:sym typeface="Arial"/>
                </a:rPr>
                <a:t>Accountability</a:t>
              </a:r>
              <a:endParaRPr b="1" sz="1600">
                <a:solidFill>
                  <a:schemeClr val="dk1"/>
                </a:solidFill>
                <a:latin typeface="Arial"/>
                <a:ea typeface="Arial"/>
                <a:cs typeface="Arial"/>
                <a:sym typeface="Arial"/>
              </a:endParaRPr>
            </a:p>
          </p:txBody>
        </p:sp>
        <p:sp>
          <p:nvSpPr>
            <p:cNvPr id="264" name="Google Shape;264;p22"/>
            <p:cNvSpPr/>
            <p:nvPr/>
          </p:nvSpPr>
          <p:spPr>
            <a:xfrm>
              <a:off x="1156677" y="144095"/>
              <a:ext cx="3184339" cy="3184339"/>
            </a:xfrm>
            <a:custGeom>
              <a:rect b="b" l="l" r="r" t="t"/>
              <a:pathLst>
                <a:path extrusionOk="0" h="120000" w="120000">
                  <a:moveTo>
                    <a:pt x="119657" y="66405"/>
                  </a:moveTo>
                  <a:cubicBezTo>
                    <a:pt x="118745" y="74902"/>
                    <a:pt x="116028" y="83106"/>
                    <a:pt x="111689" y="90467"/>
                  </a:cubicBezTo>
                </a:path>
              </a:pathLst>
            </a:custGeom>
            <a:noFill/>
            <a:ln cap="flat" cmpd="sng" w="571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2"/>
            <p:cNvSpPr/>
            <p:nvPr/>
          </p:nvSpPr>
          <p:spPr>
            <a:xfrm>
              <a:off x="3079348" y="2550659"/>
              <a:ext cx="1593303" cy="797510"/>
            </a:xfrm>
            <a:prstGeom prst="roundRect">
              <a:avLst>
                <a:gd fmla="val 16667" name="adj"/>
              </a:avLst>
            </a:prstGeom>
            <a:solidFill>
              <a:srgbClr val="FF9999"/>
            </a:solidFill>
            <a:ln cap="flat" cmpd="sng" w="254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2"/>
            <p:cNvSpPr txBox="1"/>
            <p:nvPr/>
          </p:nvSpPr>
          <p:spPr>
            <a:xfrm>
              <a:off x="3118279" y="2589590"/>
              <a:ext cx="1515441" cy="719648"/>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None/>
              </a:pPr>
              <a:r>
                <a:rPr b="1" lang="en-US" sz="1600">
                  <a:solidFill>
                    <a:schemeClr val="dk1"/>
                  </a:solidFill>
                  <a:latin typeface="Arial"/>
                  <a:ea typeface="Arial"/>
                  <a:cs typeface="Arial"/>
                  <a:sym typeface="Arial"/>
                </a:rPr>
                <a:t>Empathy</a:t>
              </a:r>
              <a:endParaRPr b="1" sz="1600">
                <a:solidFill>
                  <a:schemeClr val="dk1"/>
                </a:solidFill>
                <a:latin typeface="Arial"/>
                <a:ea typeface="Arial"/>
                <a:cs typeface="Arial"/>
                <a:sym typeface="Arial"/>
              </a:endParaRPr>
            </a:p>
          </p:txBody>
        </p:sp>
        <p:sp>
          <p:nvSpPr>
            <p:cNvPr id="267" name="Google Shape;267;p22"/>
            <p:cNvSpPr/>
            <p:nvPr/>
          </p:nvSpPr>
          <p:spPr>
            <a:xfrm>
              <a:off x="1112326" y="297996"/>
              <a:ext cx="3184339" cy="3184339"/>
            </a:xfrm>
            <a:custGeom>
              <a:rect b="b" l="l" r="r" t="t"/>
              <a:pathLst>
                <a:path extrusionOk="0" h="120000" w="120000">
                  <a:moveTo>
                    <a:pt x="83658" y="115139"/>
                  </a:moveTo>
                  <a:cubicBezTo>
                    <a:pt x="68282" y="121736"/>
                    <a:pt x="50850" y="121613"/>
                    <a:pt x="35569" y="114801"/>
                  </a:cubicBezTo>
                </a:path>
              </a:pathLst>
            </a:custGeom>
            <a:noFill/>
            <a:ln cap="flat" cmpd="sng" w="571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2"/>
            <p:cNvSpPr/>
            <p:nvPr/>
          </p:nvSpPr>
          <p:spPr>
            <a:xfrm>
              <a:off x="762003" y="2541513"/>
              <a:ext cx="1593303" cy="797510"/>
            </a:xfrm>
            <a:prstGeom prst="roundRect">
              <a:avLst>
                <a:gd fmla="val 16667" name="adj"/>
              </a:avLst>
            </a:prstGeom>
            <a:solidFill>
              <a:srgbClr val="FFFF99"/>
            </a:solidFill>
            <a:ln cap="flat" cmpd="sng" w="254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2"/>
            <p:cNvSpPr txBox="1"/>
            <p:nvPr/>
          </p:nvSpPr>
          <p:spPr>
            <a:xfrm>
              <a:off x="800934" y="2580444"/>
              <a:ext cx="1515441" cy="719648"/>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None/>
              </a:pPr>
              <a:r>
                <a:rPr b="1" lang="en-US" sz="1600">
                  <a:solidFill>
                    <a:schemeClr val="dk1"/>
                  </a:solidFill>
                  <a:latin typeface="Arial"/>
                  <a:ea typeface="Arial"/>
                  <a:cs typeface="Arial"/>
                  <a:sym typeface="Arial"/>
                </a:rPr>
                <a:t>Respect</a:t>
              </a:r>
              <a:endParaRPr b="1" sz="1600">
                <a:solidFill>
                  <a:schemeClr val="dk1"/>
                </a:solidFill>
                <a:latin typeface="Arial"/>
                <a:ea typeface="Arial"/>
                <a:cs typeface="Arial"/>
                <a:sym typeface="Arial"/>
              </a:endParaRPr>
            </a:p>
          </p:txBody>
        </p:sp>
        <p:sp>
          <p:nvSpPr>
            <p:cNvPr id="270" name="Google Shape;270;p22"/>
            <p:cNvSpPr/>
            <p:nvPr/>
          </p:nvSpPr>
          <p:spPr>
            <a:xfrm>
              <a:off x="1151276" y="218289"/>
              <a:ext cx="3184339" cy="3184339"/>
            </a:xfrm>
            <a:custGeom>
              <a:rect b="b" l="l" r="r" t="t"/>
              <a:pathLst>
                <a:path extrusionOk="0" h="120000" w="120000">
                  <a:moveTo>
                    <a:pt x="6584" y="87326"/>
                  </a:moveTo>
                  <a:lnTo>
                    <a:pt x="6584" y="87326"/>
                  </a:lnTo>
                  <a:cubicBezTo>
                    <a:pt x="2811" y="79950"/>
                    <a:pt x="606" y="71872"/>
                    <a:pt x="108" y="63602"/>
                  </a:cubicBezTo>
                </a:path>
              </a:pathLst>
            </a:custGeom>
            <a:noFill/>
            <a:ln cap="flat" cmpd="sng" w="571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2"/>
            <p:cNvSpPr/>
            <p:nvPr/>
          </p:nvSpPr>
          <p:spPr>
            <a:xfrm>
              <a:off x="432305" y="1101898"/>
              <a:ext cx="1593303" cy="797510"/>
            </a:xfrm>
            <a:prstGeom prst="roundRect">
              <a:avLst>
                <a:gd fmla="val 16667" name="adj"/>
              </a:avLst>
            </a:prstGeom>
            <a:solidFill>
              <a:srgbClr val="99FF99"/>
            </a:solidFill>
            <a:ln cap="flat" cmpd="sng" w="254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2"/>
            <p:cNvSpPr txBox="1"/>
            <p:nvPr/>
          </p:nvSpPr>
          <p:spPr>
            <a:xfrm>
              <a:off x="471236" y="1140829"/>
              <a:ext cx="1515441" cy="719648"/>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None/>
              </a:pPr>
              <a:r>
                <a:rPr b="1" lang="en-US" sz="1600">
                  <a:solidFill>
                    <a:schemeClr val="dk1"/>
                  </a:solidFill>
                  <a:latin typeface="Arial"/>
                  <a:ea typeface="Arial"/>
                  <a:cs typeface="Arial"/>
                  <a:sym typeface="Arial"/>
                </a:rPr>
                <a:t>Continuous Improvement</a:t>
              </a:r>
              <a:endParaRPr b="1" sz="1600">
                <a:solidFill>
                  <a:schemeClr val="dk1"/>
                </a:solidFill>
                <a:latin typeface="Arial"/>
                <a:ea typeface="Arial"/>
                <a:cs typeface="Arial"/>
                <a:sym typeface="Arial"/>
              </a:endParaRPr>
            </a:p>
          </p:txBody>
        </p:sp>
        <p:sp>
          <p:nvSpPr>
            <p:cNvPr id="273" name="Google Shape;273;p22"/>
            <p:cNvSpPr/>
            <p:nvPr/>
          </p:nvSpPr>
          <p:spPr>
            <a:xfrm>
              <a:off x="1151030" y="400491"/>
              <a:ext cx="3184339" cy="3184339"/>
            </a:xfrm>
            <a:custGeom>
              <a:rect b="b" l="l" r="r" t="t"/>
              <a:pathLst>
                <a:path extrusionOk="0" h="120000" w="120000">
                  <a:moveTo>
                    <a:pt x="10420" y="26209"/>
                  </a:moveTo>
                  <a:lnTo>
                    <a:pt x="10420" y="26209"/>
                  </a:lnTo>
                  <a:cubicBezTo>
                    <a:pt x="15442" y="18840"/>
                    <a:pt x="22044" y="12683"/>
                    <a:pt x="29746" y="8186"/>
                  </a:cubicBezTo>
                </a:path>
              </a:pathLst>
            </a:custGeom>
            <a:noFill/>
            <a:ln cap="flat" cmpd="sng" w="571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4" name="Google Shape;274;p22"/>
          <p:cNvSpPr/>
          <p:nvPr/>
        </p:nvSpPr>
        <p:spPr>
          <a:xfrm>
            <a:off x="5562600" y="4876800"/>
            <a:ext cx="3352800" cy="1155300"/>
          </a:xfrm>
          <a:prstGeom prst="wedgeRoundRectCallout">
            <a:avLst>
              <a:gd fmla="val -14878" name="adj1"/>
              <a:gd fmla="val -165409" name="adj2"/>
              <a:gd fmla="val 16667" name="adj3"/>
            </a:avLst>
          </a:prstGeom>
          <a:solidFill>
            <a:schemeClr val="dk1"/>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Arial"/>
                <a:ea typeface="Arial"/>
                <a:cs typeface="Arial"/>
                <a:sym typeface="Arial"/>
              </a:rPr>
              <a:t>And many great leaders will “test” for your commitment before asking you to join their team!</a:t>
            </a:r>
            <a:endParaRPr b="1" sz="1800">
              <a:solidFill>
                <a:schemeClr val="lt1"/>
              </a:solidFill>
              <a:latin typeface="Arial"/>
              <a:ea typeface="Arial"/>
              <a:cs typeface="Arial"/>
              <a:sym typeface="Arial"/>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lang="en-US" sz="2000">
                <a:solidFill>
                  <a:srgbClr val="000000"/>
                </a:solidFill>
                <a:latin typeface="Arial"/>
                <a:ea typeface="Arial"/>
                <a:cs typeface="Arial"/>
                <a:sym typeface="Arial"/>
              </a:rPr>
              <a:t>To reach desired performance, the Leader must shape the desired culture.</a:t>
            </a:r>
            <a:endParaRPr/>
          </a:p>
          <a:p>
            <a:pPr indent="0" lvl="0" marL="0" marR="0" rtl="0" algn="l">
              <a:lnSpc>
                <a:spcPct val="100000"/>
              </a:lnSpc>
              <a:spcBef>
                <a:spcPts val="0"/>
              </a:spcBef>
              <a:spcAft>
                <a:spcPts val="0"/>
              </a:spcAft>
              <a:buClr>
                <a:srgbClr val="000000"/>
              </a:buClr>
              <a:buSzPts val="2000"/>
              <a:buFont typeface="Arial"/>
              <a:buNone/>
            </a:pPr>
            <a:r>
              <a:rPr b="0" lang="en-US" sz="2000">
                <a:solidFill>
                  <a:srgbClr val="000000"/>
                </a:solidFill>
                <a:latin typeface="Arial"/>
                <a:ea typeface="Arial"/>
                <a:cs typeface="Arial"/>
                <a:sym typeface="Arial"/>
              </a:rPr>
              <a:t>The leader’s </a:t>
            </a:r>
            <a:r>
              <a:rPr b="0" lang="en-US" sz="2000" u="sng">
                <a:solidFill>
                  <a:srgbClr val="000000"/>
                </a:solidFill>
                <a:latin typeface="Arial"/>
                <a:ea typeface="Arial"/>
                <a:cs typeface="Arial"/>
                <a:sym typeface="Arial"/>
              </a:rPr>
              <a:t>values shape the culture</a:t>
            </a:r>
            <a:r>
              <a:rPr b="0" lang="en-US" sz="2000">
                <a:solidFill>
                  <a:srgbClr val="000000"/>
                </a:solidFill>
                <a:latin typeface="Arial"/>
                <a:ea typeface="Arial"/>
                <a:cs typeface="Arial"/>
                <a:sym typeface="Arial"/>
              </a:rPr>
              <a:t> by providing the foundation for ‘</a:t>
            </a:r>
            <a:r>
              <a:rPr b="0" lang="en-US" sz="2000" u="sng">
                <a:solidFill>
                  <a:srgbClr val="000000"/>
                </a:solidFill>
                <a:latin typeface="Arial"/>
                <a:ea typeface="Arial"/>
                <a:cs typeface="Arial"/>
                <a:sym typeface="Arial"/>
              </a:rPr>
              <a:t>who we are</a:t>
            </a:r>
            <a:r>
              <a:rPr b="0" lang="en-US" sz="2000">
                <a:solidFill>
                  <a:srgbClr val="000000"/>
                </a:solidFill>
                <a:latin typeface="Arial"/>
                <a:ea typeface="Arial"/>
                <a:cs typeface="Arial"/>
                <a:sym typeface="Arial"/>
              </a:rPr>
              <a:t>’ and ‘</a:t>
            </a:r>
            <a:r>
              <a:rPr b="0" lang="en-US" sz="2000" u="sng">
                <a:solidFill>
                  <a:srgbClr val="000000"/>
                </a:solidFill>
                <a:latin typeface="Arial"/>
                <a:ea typeface="Arial"/>
                <a:cs typeface="Arial"/>
                <a:sym typeface="Arial"/>
              </a:rPr>
              <a:t>how we do things around here</a:t>
            </a:r>
            <a:r>
              <a:rPr b="0" lang="en-US" sz="2000">
                <a:solidFill>
                  <a:srgbClr val="000000"/>
                </a:solidFill>
                <a:latin typeface="Arial"/>
                <a:ea typeface="Arial"/>
                <a:cs typeface="Arial"/>
                <a:sym typeface="Arial"/>
              </a:rPr>
              <a:t>’.</a:t>
            </a:r>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Because the organization strives for the desired </a:t>
            </a:r>
            <a:r>
              <a:rPr b="0" lang="en-US" sz="2000" u="sng">
                <a:solidFill>
                  <a:srgbClr val="000000"/>
                </a:solidFill>
                <a:latin typeface="Arial"/>
                <a:ea typeface="Arial"/>
                <a:cs typeface="Arial"/>
                <a:sym typeface="Arial"/>
              </a:rPr>
              <a:t>performance</a:t>
            </a:r>
            <a:r>
              <a:rPr b="0" lang="en-US" sz="2000">
                <a:solidFill>
                  <a:srgbClr val="000000"/>
                </a:solidFill>
                <a:latin typeface="Arial"/>
                <a:ea typeface="Arial"/>
                <a:cs typeface="Arial"/>
                <a:sym typeface="Arial"/>
              </a:rPr>
              <a:t>, people are assigned to leadership roles to shape the desired culture. </a:t>
            </a:r>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To shape the desired culture, leader’s must set the example through their </a:t>
            </a:r>
            <a:r>
              <a:rPr b="0" lang="en-US" sz="2000" u="sng">
                <a:solidFill>
                  <a:srgbClr val="000000"/>
                </a:solidFill>
                <a:latin typeface="Arial"/>
                <a:ea typeface="Arial"/>
                <a:cs typeface="Arial"/>
                <a:sym typeface="Arial"/>
              </a:rPr>
              <a:t>actions and behaviours</a:t>
            </a:r>
            <a:r>
              <a:rPr b="0" lang="en-US" sz="2000">
                <a:solidFill>
                  <a:srgbClr val="000000"/>
                </a:solidFill>
                <a:latin typeface="Arial"/>
                <a:ea typeface="Arial"/>
                <a:cs typeface="Arial"/>
                <a:sym typeface="Arial"/>
              </a:rPr>
              <a:t> i.e. “Lead by Example” and “Walk the Talk”. </a:t>
            </a:r>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The leader’s actions must be consistent with their intentions, and …</a:t>
            </a:r>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The leader’s intentions are founded on values!</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p:txBody>
      </p:sp>
      <p:sp>
        <p:nvSpPr>
          <p:cNvPr id="281" name="Google Shape;281;p23"/>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The Personal Iceberg, Effective Leaders, and Their Values: </a:t>
            </a:r>
            <a:endParaRPr/>
          </a:p>
        </p:txBody>
      </p:sp>
      <p:sp>
        <p:nvSpPr>
          <p:cNvPr id="282" name="Google Shape;282;p2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83" name="Google Shape;283;p2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7.7: Leadership – What Makes an Effective Leader?</a:t>
            </a:r>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4"/>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lang="en-US" sz="2000">
                <a:solidFill>
                  <a:srgbClr val="000000"/>
                </a:solidFill>
                <a:latin typeface="Arial"/>
                <a:ea typeface="Arial"/>
                <a:cs typeface="Arial"/>
                <a:sym typeface="Arial"/>
              </a:rPr>
              <a:t>Organizational performance and culture are founded on leadership values.</a:t>
            </a:r>
            <a:endParaRPr b="1" sz="2000">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People are assigned to leadership roles to shape the desired culture.</a:t>
            </a:r>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Thus; there </a:t>
            </a:r>
            <a:r>
              <a:rPr b="1" lang="en-US" sz="2000">
                <a:solidFill>
                  <a:srgbClr val="000000"/>
                </a:solidFill>
                <a:latin typeface="Arial"/>
                <a:ea typeface="Arial"/>
                <a:cs typeface="Arial"/>
                <a:sym typeface="Arial"/>
              </a:rPr>
              <a:t>must be congruence</a:t>
            </a:r>
            <a:r>
              <a:rPr b="0" lang="en-US" sz="2000">
                <a:solidFill>
                  <a:srgbClr val="000000"/>
                </a:solidFill>
                <a:latin typeface="Arial"/>
                <a:ea typeface="Arial"/>
                <a:cs typeface="Arial"/>
                <a:sym typeface="Arial"/>
              </a:rPr>
              <a:t> between the leader’s values and the organization’s values!</a:t>
            </a:r>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Without congruence, the leader will fail and the organization will suffer a set-back. </a:t>
            </a:r>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Therefore, the Leader </a:t>
            </a:r>
            <a:r>
              <a:rPr b="0" lang="en-US" sz="2000" u="sng">
                <a:solidFill>
                  <a:srgbClr val="000000"/>
                </a:solidFill>
                <a:latin typeface="Arial"/>
                <a:ea typeface="Arial"/>
                <a:cs typeface="Arial"/>
                <a:sym typeface="Arial"/>
              </a:rPr>
              <a:t>must understand their own values and those of the organization</a:t>
            </a:r>
            <a:r>
              <a:rPr b="0" lang="en-US" sz="2000">
                <a:solidFill>
                  <a:srgbClr val="000000"/>
                </a:solidFill>
                <a:latin typeface="Arial"/>
                <a:ea typeface="Arial"/>
                <a:cs typeface="Arial"/>
                <a:sym typeface="Arial"/>
              </a:rPr>
              <a:t> that, </a:t>
            </a:r>
            <a:r>
              <a:rPr b="0" lang="en-US" sz="2000" u="sng">
                <a:solidFill>
                  <a:srgbClr val="000000"/>
                </a:solidFill>
                <a:latin typeface="Arial"/>
                <a:ea typeface="Arial"/>
                <a:cs typeface="Arial"/>
                <a:sym typeface="Arial"/>
              </a:rPr>
              <a:t>ideally, are aligned</a:t>
            </a:r>
            <a:r>
              <a:rPr b="0" lang="en-US" sz="2000">
                <a:solidFill>
                  <a:srgbClr val="000000"/>
                </a:solidFill>
                <a:latin typeface="Arial"/>
                <a:ea typeface="Arial"/>
                <a:cs typeface="Arial"/>
                <a:sym typeface="Arial"/>
              </a:rPr>
              <a:t> and serve as the standards for others. </a:t>
            </a:r>
            <a:endParaRPr b="0" sz="2000">
              <a:solidFill>
                <a:srgbClr val="000000"/>
              </a:solidFill>
              <a:latin typeface="Arial"/>
              <a:ea typeface="Arial"/>
              <a:cs typeface="Arial"/>
              <a:sym typeface="Arial"/>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So they are </a:t>
            </a:r>
            <a:r>
              <a:rPr b="0" i="0" lang="en-US" sz="2000" u="sng" cap="none" strike="noStrike">
                <a:solidFill>
                  <a:srgbClr val="000000"/>
                </a:solidFill>
                <a:latin typeface="Arial"/>
                <a:ea typeface="Arial"/>
                <a:cs typeface="Arial"/>
                <a:sym typeface="Arial"/>
              </a:rPr>
              <a:t>not in conflict</a:t>
            </a:r>
            <a:r>
              <a:rPr b="0" i="0" lang="en-US" sz="2000" u="none" cap="none" strike="noStrike">
                <a:solidFill>
                  <a:srgbClr val="000000"/>
                </a:solidFill>
                <a:latin typeface="Arial"/>
                <a:ea typeface="Arial"/>
                <a:cs typeface="Arial"/>
                <a:sym typeface="Arial"/>
              </a:rPr>
              <a:t> with themselves;</a:t>
            </a:r>
            <a:endParaRPr b="0" i="0" sz="2000" u="none" cap="none" strike="noStrike">
              <a:solidFill>
                <a:srgbClr val="000000"/>
              </a:solidFill>
              <a:latin typeface="Arial"/>
              <a:ea typeface="Arial"/>
              <a:cs typeface="Arial"/>
              <a:sym typeface="Arial"/>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So they can </a:t>
            </a:r>
            <a:r>
              <a:rPr b="0" i="0" lang="en-US" sz="2000" u="sng" cap="none" strike="noStrike">
                <a:solidFill>
                  <a:srgbClr val="000000"/>
                </a:solidFill>
                <a:latin typeface="Arial"/>
                <a:ea typeface="Arial"/>
                <a:cs typeface="Arial"/>
                <a:sym typeface="Arial"/>
              </a:rPr>
              <a:t>sincerely uphold</a:t>
            </a:r>
            <a:r>
              <a:rPr b="0" i="0" lang="en-US" sz="2000" u="none" cap="none" strike="noStrike">
                <a:solidFill>
                  <a:srgbClr val="000000"/>
                </a:solidFill>
                <a:latin typeface="Arial"/>
                <a:ea typeface="Arial"/>
                <a:cs typeface="Arial"/>
                <a:sym typeface="Arial"/>
              </a:rPr>
              <a:t> the values in the organization; and</a:t>
            </a:r>
            <a:endParaRPr b="0" i="0" sz="2000" u="none" cap="none" strike="noStrike">
              <a:solidFill>
                <a:srgbClr val="000000"/>
              </a:solidFill>
              <a:latin typeface="Arial"/>
              <a:ea typeface="Arial"/>
              <a:cs typeface="Arial"/>
              <a:sym typeface="Arial"/>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Which enables the leader to </a:t>
            </a:r>
            <a:r>
              <a:rPr b="0" i="0" lang="en-US" sz="2000" u="sng" cap="none" strike="noStrike">
                <a:solidFill>
                  <a:srgbClr val="000000"/>
                </a:solidFill>
                <a:latin typeface="Arial"/>
                <a:ea typeface="Arial"/>
                <a:cs typeface="Arial"/>
                <a:sym typeface="Arial"/>
              </a:rPr>
              <a:t>live the values</a:t>
            </a:r>
            <a:r>
              <a:rPr b="0" i="0" lang="en-US" sz="2000" u="none" cap="none" strike="noStrike">
                <a:solidFill>
                  <a:srgbClr val="000000"/>
                </a:solidFill>
                <a:latin typeface="Arial"/>
                <a:ea typeface="Arial"/>
                <a:cs typeface="Arial"/>
                <a:sym typeface="Arial"/>
              </a:rPr>
              <a:t> and thereby </a:t>
            </a:r>
            <a:r>
              <a:rPr b="0" i="0" lang="en-US" sz="2000" u="sng" cap="none" strike="noStrike">
                <a:solidFill>
                  <a:srgbClr val="000000"/>
                </a:solidFill>
                <a:latin typeface="Arial"/>
                <a:ea typeface="Arial"/>
                <a:cs typeface="Arial"/>
                <a:sym typeface="Arial"/>
              </a:rPr>
              <a:t>set the example</a:t>
            </a:r>
            <a:r>
              <a:rPr b="0"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a:p>
            <a:pPr indent="0" lvl="2"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Arial"/>
              <a:ea typeface="Arial"/>
              <a:cs typeface="Arial"/>
              <a:sym typeface="Arial"/>
            </a:endParaRPr>
          </a:p>
          <a:p>
            <a:pPr indent="0" lvl="2"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Congruence is a key factor in being an effective leader!</a:t>
            </a:r>
            <a:endParaRPr/>
          </a:p>
        </p:txBody>
      </p:sp>
      <p:sp>
        <p:nvSpPr>
          <p:cNvPr id="290" name="Google Shape;290;p24"/>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Congruence: Leader’s Values and the Organization’s Values: </a:t>
            </a:r>
            <a:endParaRPr/>
          </a:p>
        </p:txBody>
      </p:sp>
      <p:sp>
        <p:nvSpPr>
          <p:cNvPr id="291" name="Google Shape;291;p2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92" name="Google Shape;292;p2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7.7: Leadership – What Makes an Effective Leader?</a:t>
            </a:r>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5"/>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The drivers of safety performance are culture, </a:t>
            </a:r>
            <a:br>
              <a:rPr b="0" lang="en-US" sz="2000">
                <a:solidFill>
                  <a:srgbClr val="000000"/>
                </a:solidFill>
                <a:latin typeface="Arial"/>
                <a:ea typeface="Arial"/>
                <a:cs typeface="Arial"/>
                <a:sym typeface="Arial"/>
              </a:rPr>
            </a:br>
            <a:r>
              <a:rPr b="0" lang="en-US" sz="2000">
                <a:solidFill>
                  <a:srgbClr val="000000"/>
                </a:solidFill>
                <a:latin typeface="Arial"/>
                <a:ea typeface="Arial"/>
                <a:cs typeface="Arial"/>
                <a:sym typeface="Arial"/>
              </a:rPr>
              <a:t>leadership actions, and leadership intentions. </a:t>
            </a:r>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It follows that </a:t>
            </a:r>
            <a:r>
              <a:rPr b="1" lang="en-US" sz="2000">
                <a:solidFill>
                  <a:srgbClr val="000000"/>
                </a:solidFill>
                <a:latin typeface="Arial"/>
                <a:ea typeface="Arial"/>
                <a:cs typeface="Arial"/>
                <a:sym typeface="Arial"/>
              </a:rPr>
              <a:t>Performance</a:t>
            </a:r>
            <a:r>
              <a:rPr b="0" lang="en-US" sz="2000">
                <a:solidFill>
                  <a:srgbClr val="000000"/>
                </a:solidFill>
                <a:latin typeface="Arial"/>
                <a:ea typeface="Arial"/>
                <a:cs typeface="Arial"/>
                <a:sym typeface="Arial"/>
              </a:rPr>
              <a:t> is founded </a:t>
            </a:r>
            <a:br>
              <a:rPr b="0" lang="en-US" sz="2000">
                <a:solidFill>
                  <a:srgbClr val="000000"/>
                </a:solidFill>
                <a:latin typeface="Arial"/>
                <a:ea typeface="Arial"/>
                <a:cs typeface="Arial"/>
                <a:sym typeface="Arial"/>
              </a:rPr>
            </a:br>
            <a:r>
              <a:rPr b="0" lang="en-US" sz="2000">
                <a:solidFill>
                  <a:srgbClr val="000000"/>
                </a:solidFill>
                <a:latin typeface="Arial"/>
                <a:ea typeface="Arial"/>
                <a:cs typeface="Arial"/>
                <a:sym typeface="Arial"/>
              </a:rPr>
              <a:t>on Leadership Values!</a:t>
            </a:r>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Leading organizations clearly see that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performance depends not just on the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culture of the organization,</a:t>
            </a:r>
            <a:r>
              <a:rPr b="0" i="0" lang="en-US" sz="2000" u="none" cap="none" strike="noStrike">
                <a:solidFill>
                  <a:srgbClr val="000000"/>
                </a:solidFill>
                <a:latin typeface="Arial"/>
                <a:ea typeface="Arial"/>
                <a:cs typeface="Arial"/>
                <a:sym typeface="Arial"/>
              </a:rPr>
              <a:t> but goes</a:t>
            </a:r>
            <a:r>
              <a:rPr b="0" lang="en-US" sz="2000">
                <a:solidFill>
                  <a:srgbClr val="000000"/>
                </a:solidFill>
                <a:latin typeface="Arial"/>
                <a:ea typeface="Arial"/>
                <a:cs typeface="Arial"/>
                <a:sym typeface="Arial"/>
              </a:rPr>
              <a:t> </a:t>
            </a:r>
            <a:br>
              <a:rPr b="0" lang="en-US" sz="2000">
                <a:solidFill>
                  <a:srgbClr val="000000"/>
                </a:solidFill>
                <a:latin typeface="Arial"/>
                <a:ea typeface="Arial"/>
                <a:cs typeface="Arial"/>
                <a:sym typeface="Arial"/>
              </a:rPr>
            </a:br>
            <a:r>
              <a:rPr b="0" lang="en-US" sz="2000">
                <a:solidFill>
                  <a:srgbClr val="000000"/>
                </a:solidFill>
                <a:latin typeface="Arial"/>
                <a:ea typeface="Arial"/>
                <a:cs typeface="Arial"/>
                <a:sym typeface="Arial"/>
              </a:rPr>
              <a:t>much deeper down to shaping the </a:t>
            </a:r>
            <a:br>
              <a:rPr b="0" lang="en-US" sz="2000">
                <a:solidFill>
                  <a:srgbClr val="000000"/>
                </a:solidFill>
                <a:latin typeface="Arial"/>
                <a:ea typeface="Arial"/>
                <a:cs typeface="Arial"/>
                <a:sym typeface="Arial"/>
              </a:rPr>
            </a:br>
            <a:r>
              <a:rPr b="0" lang="en-US" sz="2000">
                <a:solidFill>
                  <a:srgbClr val="000000"/>
                </a:solidFill>
                <a:latin typeface="Arial"/>
                <a:ea typeface="Arial"/>
                <a:cs typeface="Arial"/>
                <a:sym typeface="Arial"/>
              </a:rPr>
              <a:t>values of those persons in </a:t>
            </a:r>
            <a:br>
              <a:rPr b="0" lang="en-US" sz="2000">
                <a:solidFill>
                  <a:srgbClr val="000000"/>
                </a:solidFill>
                <a:latin typeface="Arial"/>
                <a:ea typeface="Arial"/>
                <a:cs typeface="Arial"/>
                <a:sym typeface="Arial"/>
              </a:rPr>
            </a:br>
            <a:r>
              <a:rPr b="0" lang="en-US" sz="2000">
                <a:solidFill>
                  <a:srgbClr val="000000"/>
                </a:solidFill>
                <a:latin typeface="Arial"/>
                <a:ea typeface="Arial"/>
                <a:cs typeface="Arial"/>
                <a:sym typeface="Arial"/>
              </a:rPr>
              <a:t>leadership roles and the values </a:t>
            </a:r>
            <a:br>
              <a:rPr b="0" lang="en-US" sz="2000">
                <a:solidFill>
                  <a:srgbClr val="000000"/>
                </a:solidFill>
                <a:latin typeface="Arial"/>
                <a:ea typeface="Arial"/>
                <a:cs typeface="Arial"/>
                <a:sym typeface="Arial"/>
              </a:rPr>
            </a:br>
            <a:r>
              <a:rPr b="0" lang="en-US" sz="2000">
                <a:solidFill>
                  <a:srgbClr val="000000"/>
                </a:solidFill>
                <a:latin typeface="Arial"/>
                <a:ea typeface="Arial"/>
                <a:cs typeface="Arial"/>
                <a:sym typeface="Arial"/>
              </a:rPr>
              <a:t>of the organization.</a:t>
            </a:r>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And that there must be </a:t>
            </a:r>
            <a:br>
              <a:rPr b="0" lang="en-US" sz="2000">
                <a:solidFill>
                  <a:srgbClr val="000000"/>
                </a:solidFill>
                <a:latin typeface="Arial"/>
                <a:ea typeface="Arial"/>
                <a:cs typeface="Arial"/>
                <a:sym typeface="Arial"/>
              </a:rPr>
            </a:br>
            <a:r>
              <a:rPr b="0" lang="en-US" sz="2000">
                <a:solidFill>
                  <a:srgbClr val="000000"/>
                </a:solidFill>
                <a:latin typeface="Arial"/>
                <a:ea typeface="Arial"/>
                <a:cs typeface="Arial"/>
                <a:sym typeface="Arial"/>
              </a:rPr>
              <a:t>congruence between each </a:t>
            </a:r>
            <a:br>
              <a:rPr b="0" lang="en-US" sz="2000">
                <a:solidFill>
                  <a:srgbClr val="000000"/>
                </a:solidFill>
                <a:latin typeface="Arial"/>
                <a:ea typeface="Arial"/>
                <a:cs typeface="Arial"/>
                <a:sym typeface="Arial"/>
              </a:rPr>
            </a:br>
            <a:r>
              <a:rPr b="0" lang="en-US" sz="2000">
                <a:solidFill>
                  <a:srgbClr val="000000"/>
                </a:solidFill>
                <a:latin typeface="Arial"/>
                <a:ea typeface="Arial"/>
                <a:cs typeface="Arial"/>
                <a:sym typeface="Arial"/>
              </a:rPr>
              <a:t>individual leader’s values </a:t>
            </a:r>
            <a:br>
              <a:rPr b="0" lang="en-US" sz="2000">
                <a:solidFill>
                  <a:srgbClr val="000000"/>
                </a:solidFill>
                <a:latin typeface="Arial"/>
                <a:ea typeface="Arial"/>
                <a:cs typeface="Arial"/>
                <a:sym typeface="Arial"/>
              </a:rPr>
            </a:br>
            <a:r>
              <a:rPr b="0" lang="en-US" sz="2000">
                <a:solidFill>
                  <a:srgbClr val="000000"/>
                </a:solidFill>
                <a:latin typeface="Arial"/>
                <a:ea typeface="Arial"/>
                <a:cs typeface="Arial"/>
                <a:sym typeface="Arial"/>
              </a:rPr>
              <a:t>and the values of the </a:t>
            </a:r>
            <a:br>
              <a:rPr b="0" lang="en-US" sz="2000">
                <a:solidFill>
                  <a:srgbClr val="000000"/>
                </a:solidFill>
                <a:latin typeface="Arial"/>
                <a:ea typeface="Arial"/>
                <a:cs typeface="Arial"/>
                <a:sym typeface="Arial"/>
              </a:rPr>
            </a:br>
            <a:r>
              <a:rPr b="0" lang="en-US" sz="2000">
                <a:solidFill>
                  <a:srgbClr val="000000"/>
                </a:solidFill>
                <a:latin typeface="Arial"/>
                <a:ea typeface="Arial"/>
                <a:cs typeface="Arial"/>
                <a:sym typeface="Arial"/>
              </a:rPr>
              <a:t>organization.</a:t>
            </a:r>
            <a:endParaRPr b="0" i="0" sz="2000" u="none" cap="none" strike="noStrike">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sz="2000">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299" name="Google Shape;299;p25"/>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The Effective Leader Sets the Foundation for Performance:</a:t>
            </a:r>
            <a:endParaRPr b="0" i="0" sz="2400" u="none" cap="none" strike="noStrike">
              <a:solidFill>
                <a:srgbClr val="333399"/>
              </a:solidFill>
              <a:latin typeface="Arial"/>
              <a:ea typeface="Arial"/>
              <a:cs typeface="Arial"/>
              <a:sym typeface="Arial"/>
            </a:endParaRPr>
          </a:p>
        </p:txBody>
      </p:sp>
      <p:sp>
        <p:nvSpPr>
          <p:cNvPr id="300" name="Google Shape;300;p2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01" name="Google Shape;301;p25"/>
          <p:cNvSpPr/>
          <p:nvPr/>
        </p:nvSpPr>
        <p:spPr>
          <a:xfrm>
            <a:off x="5206821" y="1199004"/>
            <a:ext cx="1800000" cy="1512000"/>
          </a:xfrm>
          <a:prstGeom prst="triangle">
            <a:avLst>
              <a:gd fmla="val 50697" name="adj"/>
            </a:avLst>
          </a:prstGeom>
          <a:solidFill>
            <a:schemeClr val="accent1"/>
          </a:solidFill>
          <a:ln cap="flat" cmpd="sng" w="25400">
            <a:solidFill>
              <a:schemeClr val="dk1"/>
            </a:solidFill>
            <a:prstDash val="solid"/>
            <a:round/>
            <a:headEnd len="sm" w="sm" type="none"/>
            <a:tailEnd len="sm" w="sm" type="none"/>
          </a:ln>
        </p:spPr>
        <p:txBody>
          <a:bodyPr anchorCtr="0" anchor="b" bIns="0" lIns="0" spcFirstLastPara="1" rIns="0" wrap="square" tIns="0">
            <a:noAutofit/>
          </a:bodyPr>
          <a:lstStyle/>
          <a:p>
            <a:pPr indent="0" lvl="0" marL="0" marR="0" rtl="0" algn="ctr">
              <a:spcBef>
                <a:spcPts val="0"/>
              </a:spcBef>
              <a:spcAft>
                <a:spcPts val="0"/>
              </a:spcAft>
              <a:buNone/>
            </a:pPr>
            <a:r>
              <a:t/>
            </a:r>
            <a:endParaRPr b="1" sz="1600">
              <a:solidFill>
                <a:schemeClr val="dk1"/>
              </a:solidFill>
              <a:latin typeface="Arial"/>
              <a:ea typeface="Arial"/>
              <a:cs typeface="Arial"/>
              <a:sym typeface="Arial"/>
            </a:endParaRPr>
          </a:p>
        </p:txBody>
      </p:sp>
      <p:sp>
        <p:nvSpPr>
          <p:cNvPr id="302" name="Google Shape;302;p25"/>
          <p:cNvSpPr/>
          <p:nvPr/>
        </p:nvSpPr>
        <p:spPr>
          <a:xfrm>
            <a:off x="4673421" y="3049159"/>
            <a:ext cx="2844000" cy="576000"/>
          </a:xfrm>
          <a:prstGeom prst="trapezoid">
            <a:avLst>
              <a:gd fmla="val 58631" name="adj"/>
            </a:avLst>
          </a:prstGeom>
          <a:solidFill>
            <a:schemeClr val="accent1"/>
          </a:solidFill>
          <a:ln cap="flat" cmpd="sng" w="25400">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ctr">
              <a:spcBef>
                <a:spcPts val="0"/>
              </a:spcBef>
              <a:spcAft>
                <a:spcPts val="0"/>
              </a:spcAft>
              <a:buNone/>
            </a:pPr>
            <a:r>
              <a:rPr b="1" lang="en-US" sz="1800">
                <a:solidFill>
                  <a:schemeClr val="dk1"/>
                </a:solidFill>
                <a:latin typeface="Arial"/>
                <a:ea typeface="Arial"/>
                <a:cs typeface="Arial"/>
                <a:sym typeface="Arial"/>
              </a:rPr>
              <a:t>Culture</a:t>
            </a:r>
            <a:endParaRPr/>
          </a:p>
        </p:txBody>
      </p:sp>
      <p:sp>
        <p:nvSpPr>
          <p:cNvPr id="303" name="Google Shape;303;p25"/>
          <p:cNvSpPr/>
          <p:nvPr/>
        </p:nvSpPr>
        <p:spPr>
          <a:xfrm>
            <a:off x="4191852" y="3886200"/>
            <a:ext cx="3816000" cy="576000"/>
          </a:xfrm>
          <a:prstGeom prst="trapezoid">
            <a:avLst>
              <a:gd fmla="val 59680" name="adj"/>
            </a:avLst>
          </a:prstGeom>
          <a:solidFill>
            <a:schemeClr val="accent1"/>
          </a:solidFill>
          <a:ln cap="flat" cmpd="sng" w="25400">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ctr">
              <a:spcBef>
                <a:spcPts val="0"/>
              </a:spcBef>
              <a:spcAft>
                <a:spcPts val="0"/>
              </a:spcAft>
              <a:buNone/>
            </a:pPr>
            <a:r>
              <a:rPr b="1" lang="en-US" sz="1800">
                <a:solidFill>
                  <a:schemeClr val="dk1"/>
                </a:solidFill>
                <a:latin typeface="Arial"/>
                <a:ea typeface="Arial"/>
                <a:cs typeface="Arial"/>
                <a:sym typeface="Arial"/>
              </a:rPr>
              <a:t>Leadership Actions</a:t>
            </a:r>
            <a:endParaRPr b="1" sz="1800">
              <a:solidFill>
                <a:schemeClr val="dk1"/>
              </a:solidFill>
              <a:latin typeface="Arial"/>
              <a:ea typeface="Arial"/>
              <a:cs typeface="Arial"/>
              <a:sym typeface="Arial"/>
            </a:endParaRPr>
          </a:p>
        </p:txBody>
      </p:sp>
      <p:sp>
        <p:nvSpPr>
          <p:cNvPr id="304" name="Google Shape;304;p25"/>
          <p:cNvSpPr/>
          <p:nvPr/>
        </p:nvSpPr>
        <p:spPr>
          <a:xfrm>
            <a:off x="4928443" y="2162481"/>
            <a:ext cx="2286472" cy="539711"/>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b="1" lang="en-US" sz="1800">
                <a:solidFill>
                  <a:schemeClr val="dk1"/>
                </a:solidFill>
                <a:latin typeface="Arial"/>
                <a:ea typeface="Arial"/>
                <a:cs typeface="Arial"/>
                <a:sym typeface="Arial"/>
              </a:rPr>
              <a:t>Performance</a:t>
            </a:r>
            <a:endParaRPr b="1" sz="1800">
              <a:solidFill>
                <a:schemeClr val="dk1"/>
              </a:solidFill>
              <a:latin typeface="Arial"/>
              <a:ea typeface="Arial"/>
              <a:cs typeface="Arial"/>
              <a:sym typeface="Arial"/>
            </a:endParaRPr>
          </a:p>
        </p:txBody>
      </p:sp>
      <p:sp>
        <p:nvSpPr>
          <p:cNvPr id="305" name="Google Shape;305;p25"/>
          <p:cNvSpPr/>
          <p:nvPr/>
        </p:nvSpPr>
        <p:spPr>
          <a:xfrm>
            <a:off x="3682821" y="4768200"/>
            <a:ext cx="4824000" cy="576000"/>
          </a:xfrm>
          <a:prstGeom prst="trapezoid">
            <a:avLst>
              <a:gd fmla="val 59680" name="adj"/>
            </a:avLst>
          </a:prstGeom>
          <a:solidFill>
            <a:schemeClr val="accent1"/>
          </a:solidFill>
          <a:ln cap="flat" cmpd="sng" w="25400">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ctr">
              <a:spcBef>
                <a:spcPts val="0"/>
              </a:spcBef>
              <a:spcAft>
                <a:spcPts val="0"/>
              </a:spcAft>
              <a:buNone/>
            </a:pPr>
            <a:r>
              <a:rPr b="1" lang="en-US" sz="1800">
                <a:solidFill>
                  <a:schemeClr val="dk1"/>
                </a:solidFill>
                <a:latin typeface="Arial"/>
                <a:ea typeface="Arial"/>
                <a:cs typeface="Arial"/>
                <a:sym typeface="Arial"/>
              </a:rPr>
              <a:t>Leadership Intentions</a:t>
            </a:r>
            <a:endParaRPr b="1" sz="1800">
              <a:solidFill>
                <a:schemeClr val="dk1"/>
              </a:solidFill>
              <a:latin typeface="Arial"/>
              <a:ea typeface="Arial"/>
              <a:cs typeface="Arial"/>
              <a:sym typeface="Arial"/>
            </a:endParaRPr>
          </a:p>
        </p:txBody>
      </p:sp>
      <p:sp>
        <p:nvSpPr>
          <p:cNvPr id="306" name="Google Shape;306;p25"/>
          <p:cNvSpPr/>
          <p:nvPr/>
        </p:nvSpPr>
        <p:spPr>
          <a:xfrm>
            <a:off x="3195321" y="5632200"/>
            <a:ext cx="5796279" cy="540000"/>
          </a:xfrm>
          <a:prstGeom prst="trapezoid">
            <a:avLst>
              <a:gd fmla="val 54128" name="adj"/>
            </a:avLst>
          </a:prstGeom>
          <a:solidFill>
            <a:schemeClr val="accent1"/>
          </a:solidFill>
          <a:ln cap="flat" cmpd="sng" w="25400">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ctr">
              <a:spcBef>
                <a:spcPts val="0"/>
              </a:spcBef>
              <a:spcAft>
                <a:spcPts val="0"/>
              </a:spcAft>
              <a:buNone/>
            </a:pPr>
            <a:r>
              <a:rPr b="1" lang="en-US" sz="1800">
                <a:solidFill>
                  <a:schemeClr val="dk1"/>
                </a:solidFill>
                <a:latin typeface="Arial"/>
                <a:ea typeface="Arial"/>
                <a:cs typeface="Arial"/>
                <a:sym typeface="Arial"/>
              </a:rPr>
              <a:t>Leadership Values </a:t>
            </a:r>
            <a:br>
              <a:rPr b="1" lang="en-US" sz="1800">
                <a:solidFill>
                  <a:schemeClr val="dk1"/>
                </a:solidFill>
                <a:latin typeface="Arial"/>
                <a:ea typeface="Arial"/>
                <a:cs typeface="Arial"/>
                <a:sym typeface="Arial"/>
              </a:rPr>
            </a:br>
            <a:r>
              <a:rPr b="1" lang="en-US" sz="1800">
                <a:solidFill>
                  <a:schemeClr val="dk1"/>
                </a:solidFill>
                <a:latin typeface="Arial"/>
                <a:ea typeface="Arial"/>
                <a:cs typeface="Arial"/>
                <a:sym typeface="Arial"/>
              </a:rPr>
              <a:t>(and Principles, Goals, Attitudes, etc.)</a:t>
            </a:r>
            <a:endParaRPr b="1" sz="1800">
              <a:solidFill>
                <a:schemeClr val="dk1"/>
              </a:solidFill>
              <a:latin typeface="Arial"/>
              <a:ea typeface="Arial"/>
              <a:cs typeface="Arial"/>
              <a:sym typeface="Arial"/>
            </a:endParaRPr>
          </a:p>
        </p:txBody>
      </p:sp>
      <p:sp>
        <p:nvSpPr>
          <p:cNvPr id="307" name="Google Shape;307;p25"/>
          <p:cNvSpPr/>
          <p:nvPr/>
        </p:nvSpPr>
        <p:spPr>
          <a:xfrm>
            <a:off x="5029085" y="4354240"/>
            <a:ext cx="2130872" cy="472480"/>
          </a:xfrm>
          <a:prstGeom prst="upArrow">
            <a:avLst>
              <a:gd fmla="val 80548" name="adj1"/>
              <a:gd fmla="val 50000" name="adj2"/>
            </a:avLst>
          </a:prstGeom>
          <a:solidFill>
            <a:srgbClr val="00FF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rial"/>
              <a:ea typeface="Arial"/>
              <a:cs typeface="Arial"/>
              <a:sym typeface="Arial"/>
            </a:endParaRPr>
          </a:p>
        </p:txBody>
      </p:sp>
      <p:sp>
        <p:nvSpPr>
          <p:cNvPr id="308" name="Google Shape;308;p25"/>
          <p:cNvSpPr/>
          <p:nvPr/>
        </p:nvSpPr>
        <p:spPr>
          <a:xfrm>
            <a:off x="5012043" y="3541919"/>
            <a:ext cx="2130872" cy="472480"/>
          </a:xfrm>
          <a:prstGeom prst="upArrow">
            <a:avLst>
              <a:gd fmla="val 80548" name="adj1"/>
              <a:gd fmla="val 50000" name="adj2"/>
            </a:avLst>
          </a:prstGeom>
          <a:solidFill>
            <a:srgbClr val="00FF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rial"/>
              <a:ea typeface="Arial"/>
              <a:cs typeface="Arial"/>
              <a:sym typeface="Arial"/>
            </a:endParaRPr>
          </a:p>
        </p:txBody>
      </p:sp>
      <p:sp>
        <p:nvSpPr>
          <p:cNvPr id="309" name="Google Shape;309;p25"/>
          <p:cNvSpPr/>
          <p:nvPr/>
        </p:nvSpPr>
        <p:spPr>
          <a:xfrm>
            <a:off x="5034416" y="5205654"/>
            <a:ext cx="2130872" cy="472480"/>
          </a:xfrm>
          <a:prstGeom prst="upArrow">
            <a:avLst>
              <a:gd fmla="val 80548" name="adj1"/>
              <a:gd fmla="val 50000" name="adj2"/>
            </a:avLst>
          </a:prstGeom>
          <a:solidFill>
            <a:srgbClr val="00FF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rial"/>
              <a:ea typeface="Arial"/>
              <a:cs typeface="Arial"/>
              <a:sym typeface="Arial"/>
            </a:endParaRPr>
          </a:p>
        </p:txBody>
      </p:sp>
      <p:sp>
        <p:nvSpPr>
          <p:cNvPr id="310" name="Google Shape;310;p25"/>
          <p:cNvSpPr/>
          <p:nvPr/>
        </p:nvSpPr>
        <p:spPr>
          <a:xfrm>
            <a:off x="5007974" y="2715442"/>
            <a:ext cx="2130872" cy="472480"/>
          </a:xfrm>
          <a:prstGeom prst="upArrow">
            <a:avLst>
              <a:gd fmla="val 80548" name="adj1"/>
              <a:gd fmla="val 50000" name="adj2"/>
            </a:avLst>
          </a:prstGeom>
          <a:solidFill>
            <a:srgbClr val="00FF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rial"/>
              <a:ea typeface="Arial"/>
              <a:cs typeface="Arial"/>
              <a:sym typeface="Arial"/>
            </a:endParaRPr>
          </a:p>
        </p:txBody>
      </p:sp>
      <p:sp>
        <p:nvSpPr>
          <p:cNvPr id="311" name="Google Shape;311;p2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a:solidFill>
                  <a:srgbClr val="000000"/>
                </a:solidFill>
                <a:latin typeface="Arial"/>
                <a:ea typeface="Arial"/>
                <a:cs typeface="Arial"/>
                <a:sym typeface="Arial"/>
              </a:rPr>
              <a:t>Chapter 7.7: Leadership – What Makes an Effective Leader?</a:t>
            </a:r>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6"/>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Leaders make positive things happen (in a principled manner) that would not have otherwise happened.</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To be effective leaders, our actions and behaviours must be consistent with our intentions, which are founded upon our values and our organization’s values.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sng" cap="none" strike="noStrike">
                <a:solidFill>
                  <a:srgbClr val="000000"/>
                </a:solidFill>
                <a:latin typeface="Arial"/>
                <a:ea typeface="Arial"/>
                <a:cs typeface="Arial"/>
                <a:sym typeface="Arial"/>
              </a:rPr>
              <a:t>Dignity, respect, and integrity in your interactions</a:t>
            </a:r>
            <a:r>
              <a:rPr b="0" i="0" lang="en-US" sz="2000" u="none" cap="none" strike="noStrike">
                <a:solidFill>
                  <a:srgbClr val="000000"/>
                </a:solidFill>
                <a:latin typeface="Arial"/>
                <a:ea typeface="Arial"/>
                <a:cs typeface="Arial"/>
                <a:sym typeface="Arial"/>
              </a:rPr>
              <a:t> with others are essential for building and maintaining effective relationships.  </a:t>
            </a:r>
            <a:endParaRPr b="0" i="0" sz="2000" u="none" cap="none" strike="noStrike">
              <a:solidFill>
                <a:srgbClr val="000000"/>
              </a:solidFill>
              <a:latin typeface="Arial"/>
              <a:ea typeface="Arial"/>
              <a:cs typeface="Arial"/>
              <a:sym typeface="Arial"/>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“Treat others like you want to be treated.”</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Decisions are based and prioritized on values.</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Your values are what you believe are important about the way you live and work.</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Your organization’s values are what the most senior leadership believes are important about the way the organization operates.</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congruence of good values are essential to effective leadership … for the good of the organization and the workers.</a:t>
            </a:r>
            <a:endParaRPr/>
          </a:p>
        </p:txBody>
      </p:sp>
      <p:sp>
        <p:nvSpPr>
          <p:cNvPr id="318" name="Google Shape;318;p26"/>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lang="en-US" sz="2400">
                <a:solidFill>
                  <a:schemeClr val="accent2"/>
                </a:solidFill>
                <a:latin typeface="Arial"/>
                <a:ea typeface="Arial"/>
                <a:cs typeface="Arial"/>
                <a:sym typeface="Arial"/>
              </a:rPr>
              <a:t>Summary and Key Lessons:</a:t>
            </a:r>
            <a:endParaRPr b="0" sz="2400">
              <a:solidFill>
                <a:schemeClr val="accent2"/>
              </a:solidFill>
              <a:latin typeface="Arial"/>
              <a:ea typeface="Arial"/>
              <a:cs typeface="Arial"/>
              <a:sym typeface="Arial"/>
            </a:endParaRPr>
          </a:p>
        </p:txBody>
      </p:sp>
      <p:sp>
        <p:nvSpPr>
          <p:cNvPr id="319" name="Google Shape;319;p26"/>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a:solidFill>
                  <a:srgbClr val="000000"/>
                </a:solidFill>
                <a:latin typeface="Arial"/>
                <a:ea typeface="Arial"/>
                <a:cs typeface="Arial"/>
                <a:sym typeface="Arial"/>
              </a:rPr>
              <a:t>‹#›</a:t>
            </a:fld>
            <a:endParaRPr b="1" i="1" sz="1200">
              <a:solidFill>
                <a:srgbClr val="000000"/>
              </a:solidFill>
              <a:latin typeface="Arial"/>
              <a:ea typeface="Arial"/>
              <a:cs typeface="Arial"/>
              <a:sym typeface="Arial"/>
            </a:endParaRPr>
          </a:p>
        </p:txBody>
      </p:sp>
      <p:sp>
        <p:nvSpPr>
          <p:cNvPr id="320" name="Google Shape;320;p26"/>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a:solidFill>
                  <a:srgbClr val="000000"/>
                </a:solidFill>
                <a:latin typeface="Arial"/>
                <a:ea typeface="Arial"/>
                <a:cs typeface="Arial"/>
                <a:sym typeface="Arial"/>
              </a:rPr>
              <a:t>Chapter 7.7: Leadership – What Makes an Effective Leader?</a:t>
            </a:r>
            <a:endParaRPr/>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2007-03-28T16:18:47Z</dcterms:created>
  <dc:creator>MSB</dc:creator>
</cp:coreProperties>
</file>