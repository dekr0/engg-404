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74" r:id="rId2"/>
  </p:sldMasterIdLst>
  <p:notesMasterIdLst>
    <p:notesMasterId r:id="rId30"/>
  </p:notesMasterIdLst>
  <p:handoutMasterIdLst>
    <p:handoutMasterId r:id="rId31"/>
  </p:handoutMasterIdLst>
  <p:sldIdLst>
    <p:sldId id="958" r:id="rId3"/>
    <p:sldId id="959" r:id="rId4"/>
    <p:sldId id="993" r:id="rId5"/>
    <p:sldId id="1004" r:id="rId6"/>
    <p:sldId id="961" r:id="rId7"/>
    <p:sldId id="962" r:id="rId8"/>
    <p:sldId id="963" r:id="rId9"/>
    <p:sldId id="995" r:id="rId10"/>
    <p:sldId id="996" r:id="rId11"/>
    <p:sldId id="967" r:id="rId12"/>
    <p:sldId id="968" r:id="rId13"/>
    <p:sldId id="983" r:id="rId14"/>
    <p:sldId id="969" r:id="rId15"/>
    <p:sldId id="952" r:id="rId16"/>
    <p:sldId id="1006" r:id="rId17"/>
    <p:sldId id="1005" r:id="rId18"/>
    <p:sldId id="1002" r:id="rId19"/>
    <p:sldId id="973" r:id="rId20"/>
    <p:sldId id="998" r:id="rId21"/>
    <p:sldId id="999" r:id="rId22"/>
    <p:sldId id="1003" r:id="rId23"/>
    <p:sldId id="974" r:id="rId24"/>
    <p:sldId id="1007" r:id="rId25"/>
    <p:sldId id="991" r:id="rId26"/>
    <p:sldId id="927" r:id="rId27"/>
    <p:sldId id="990" r:id="rId28"/>
    <p:sldId id="992" r:id="rId2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58"/>
            <p14:sldId id="959"/>
            <p14:sldId id="993"/>
            <p14:sldId id="1004"/>
            <p14:sldId id="961"/>
            <p14:sldId id="962"/>
            <p14:sldId id="963"/>
            <p14:sldId id="995"/>
            <p14:sldId id="996"/>
            <p14:sldId id="967"/>
            <p14:sldId id="968"/>
            <p14:sldId id="983"/>
            <p14:sldId id="969"/>
            <p14:sldId id="952"/>
            <p14:sldId id="1006"/>
            <p14:sldId id="1005"/>
            <p14:sldId id="1002"/>
            <p14:sldId id="973"/>
            <p14:sldId id="998"/>
            <p14:sldId id="999"/>
            <p14:sldId id="1003"/>
            <p14:sldId id="974"/>
            <p14:sldId id="1007"/>
            <p14:sldId id="991"/>
            <p14:sldId id="927"/>
            <p14:sldId id="990"/>
            <p14:sldId id="992"/>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F8F8"/>
    <a:srgbClr val="0000CC"/>
    <a:srgbClr val="0000FF"/>
    <a:srgbClr val="000000"/>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92931" autoAdjust="0"/>
  </p:normalViewPr>
  <p:slideViewPr>
    <p:cSldViewPr>
      <p:cViewPr>
        <p:scale>
          <a:sx n="60" d="100"/>
          <a:sy n="60" d="100"/>
        </p:scale>
        <p:origin x="1500" y="1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9212"/>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116E40-189D-4864-913A-67CD8353692F}" type="doc">
      <dgm:prSet loTypeId="urn:microsoft.com/office/officeart/2005/8/layout/vList5" loCatId="list" qsTypeId="urn:microsoft.com/office/officeart/2005/8/quickstyle/3d2" qsCatId="3D" csTypeId="urn:microsoft.com/office/officeart/2005/8/colors/accent2_2" csCatId="accent2" phldr="1"/>
      <dgm:spPr/>
      <dgm:t>
        <a:bodyPr/>
        <a:lstStyle/>
        <a:p>
          <a:endParaRPr lang="en-US"/>
        </a:p>
      </dgm:t>
    </dgm:pt>
    <dgm:pt modelId="{C94ACF8A-196C-4C2E-88A5-882940226F70}">
      <dgm:prSet phldrT="[Text]" custT="1"/>
      <dgm:spPr/>
      <dgm:t>
        <a:bodyPr/>
        <a:lstStyle/>
        <a:p>
          <a:r>
            <a:rPr lang="en-US" sz="1000" b="1"/>
            <a:t>Fundamentals</a:t>
          </a:r>
          <a:endParaRPr lang="en-US" sz="1000" b="1" dirty="0"/>
        </a:p>
      </dgm:t>
    </dgm:pt>
    <dgm:pt modelId="{4E232641-D152-479E-BE39-8B229232E766}" type="parTrans" cxnId="{CDCBC9AA-BC9A-4C1A-AC33-F5DCEC7A5DFD}">
      <dgm:prSet/>
      <dgm:spPr/>
      <dgm:t>
        <a:bodyPr/>
        <a:lstStyle/>
        <a:p>
          <a:endParaRPr lang="en-US"/>
        </a:p>
      </dgm:t>
    </dgm:pt>
    <dgm:pt modelId="{114BAB5E-CFF4-4FED-9551-D241586A285B}" type="sibTrans" cxnId="{CDCBC9AA-BC9A-4C1A-AC33-F5DCEC7A5DFD}">
      <dgm:prSet/>
      <dgm:spPr/>
      <dgm:t>
        <a:bodyPr/>
        <a:lstStyle/>
        <a:p>
          <a:endParaRPr lang="en-US"/>
        </a:p>
      </dgm:t>
    </dgm:pt>
    <dgm:pt modelId="{9A21D2A8-E7A9-4352-AD85-00AB4D151CBB}">
      <dgm:prSet phldrT="[Text]" custT="1"/>
      <dgm:spPr/>
      <dgm:t>
        <a:bodyPr/>
        <a:lstStyle/>
        <a:p>
          <a:r>
            <a:rPr lang="en-US" sz="1200" dirty="0"/>
            <a:t>What is ESRM?</a:t>
          </a:r>
          <a:r>
            <a:rPr lang="en-US" sz="1200" i="0" dirty="0"/>
            <a:t> W</a:t>
          </a:r>
          <a:r>
            <a:rPr lang="en-US" sz="1200" dirty="0"/>
            <a:t>hy Are They Important?, The Engineer’s Survival Guide, Hazard Identification, The Incident Pyramid, The Discovery Approach, Occupational </a:t>
          </a:r>
          <a:r>
            <a:rPr lang="en-US" sz="1200" i="0" dirty="0"/>
            <a:t>Safety and Process (Technical) Safety, Risk as a Function of Likelihood and Consequence, Metrics, Health and Hygiene</a:t>
          </a:r>
        </a:p>
      </dgm:t>
    </dgm:pt>
    <dgm:pt modelId="{B105FB48-AF66-42E5-A0D3-CFB6AFA8AB22}" type="parTrans" cxnId="{82D0D624-C2E6-4F2F-81FA-DFB8D15451C8}">
      <dgm:prSet/>
      <dgm:spPr/>
      <dgm:t>
        <a:bodyPr/>
        <a:lstStyle/>
        <a:p>
          <a:endParaRPr lang="en-US"/>
        </a:p>
      </dgm:t>
    </dgm:pt>
    <dgm:pt modelId="{8CD58FDC-A20E-45AF-8D79-65E183675D1C}" type="sibTrans" cxnId="{82D0D624-C2E6-4F2F-81FA-DFB8D15451C8}">
      <dgm:prSet/>
      <dgm:spPr/>
      <dgm:t>
        <a:bodyPr/>
        <a:lstStyle/>
        <a:p>
          <a:endParaRPr lang="en-US"/>
        </a:p>
      </dgm:t>
    </dgm:pt>
    <dgm:pt modelId="{96146816-3724-4A9B-B9F4-FEB1FF100E33}">
      <dgm:prSet phldrT="[Text]" custT="1"/>
      <dgm:spPr/>
      <dgm:t>
        <a:bodyPr/>
        <a:lstStyle/>
        <a:p>
          <a:r>
            <a:rPr lang="en-US" sz="1200" dirty="0"/>
            <a:t>Occupational Health and Safety in Canada and Alberta, WCB in Alberta, Due Diligence for Engineers, Professionalism and Ethics </a:t>
          </a:r>
        </a:p>
      </dgm:t>
    </dgm:pt>
    <dgm:pt modelId="{271261AF-5499-4A5D-8C61-57513B11B4AC}" type="parTrans" cxnId="{82F64E89-0663-43D9-BCB0-AEF36EF7E818}">
      <dgm:prSet/>
      <dgm:spPr/>
      <dgm:t>
        <a:bodyPr/>
        <a:lstStyle/>
        <a:p>
          <a:endParaRPr lang="en-US"/>
        </a:p>
      </dgm:t>
    </dgm:pt>
    <dgm:pt modelId="{F2C7A652-898F-4A26-B28E-2C0462016D0B}" type="sibTrans" cxnId="{82F64E89-0663-43D9-BCB0-AEF36EF7E818}">
      <dgm:prSet/>
      <dgm:spPr/>
      <dgm:t>
        <a:bodyPr/>
        <a:lstStyle/>
        <a:p>
          <a:endParaRPr lang="en-US"/>
        </a:p>
      </dgm:t>
    </dgm:pt>
    <dgm:pt modelId="{B24DCBC3-EC5E-4D0F-93A9-6CA1653D6C17}">
      <dgm:prSet custT="1"/>
      <dgm:spPr/>
      <dgm:t>
        <a:bodyPr/>
        <a:lstStyle/>
        <a:p>
          <a:r>
            <a:rPr lang="en-US" sz="1000" b="1" dirty="0"/>
            <a:t>Leadership in RM</a:t>
          </a:r>
        </a:p>
      </dgm:t>
    </dgm:pt>
    <dgm:pt modelId="{A5E0B74F-1FEA-4FDE-AF09-163E0CD6AD84}" type="parTrans" cxnId="{B08BB426-A7C9-4C80-95B5-F9792F8F54B9}">
      <dgm:prSet/>
      <dgm:spPr/>
      <dgm:t>
        <a:bodyPr/>
        <a:lstStyle/>
        <a:p>
          <a:endParaRPr lang="en-US"/>
        </a:p>
      </dgm:t>
    </dgm:pt>
    <dgm:pt modelId="{0254DFA6-1D4C-4D71-A971-83DE8D1A9B46}" type="sibTrans" cxnId="{B08BB426-A7C9-4C80-95B5-F9792F8F54B9}">
      <dgm:prSet/>
      <dgm:spPr/>
      <dgm:t>
        <a:bodyPr/>
        <a:lstStyle/>
        <a:p>
          <a:endParaRPr lang="en-US"/>
        </a:p>
      </dgm:t>
    </dgm:pt>
    <dgm:pt modelId="{FA3813B0-8594-47F7-BC22-DF6B4E99A853}">
      <dgm:prSet custT="1"/>
      <dgm:spPr/>
      <dgm:t>
        <a:bodyPr/>
        <a:lstStyle/>
        <a:p>
          <a:r>
            <a:rPr lang="en-US" sz="1000" b="1" dirty="0"/>
            <a:t>RM Tools</a:t>
          </a:r>
        </a:p>
      </dgm:t>
    </dgm:pt>
    <dgm:pt modelId="{F02FDC96-0612-4EC9-B675-981A9CC838A2}" type="parTrans" cxnId="{B8DFA5DE-3964-4709-B8CD-F4D4FCF47162}">
      <dgm:prSet/>
      <dgm:spPr/>
      <dgm:t>
        <a:bodyPr/>
        <a:lstStyle/>
        <a:p>
          <a:endParaRPr lang="en-US"/>
        </a:p>
      </dgm:t>
    </dgm:pt>
    <dgm:pt modelId="{910C674A-31DC-4DB5-9C9C-F8EC22B2AAD3}" type="sibTrans" cxnId="{B8DFA5DE-3964-4709-B8CD-F4D4FCF47162}">
      <dgm:prSet/>
      <dgm:spPr/>
      <dgm:t>
        <a:bodyPr/>
        <a:lstStyle/>
        <a:p>
          <a:endParaRPr lang="en-US"/>
        </a:p>
      </dgm:t>
    </dgm:pt>
    <dgm:pt modelId="{8CCB3745-B839-42FA-8E94-5314FDE4C5E5}">
      <dgm:prSet custT="1"/>
      <dgm:spPr/>
      <dgm:t>
        <a:bodyPr/>
        <a:lstStyle/>
        <a:p>
          <a:r>
            <a:rPr lang="en-US" sz="1000" b="1" dirty="0"/>
            <a:t>Incident Investigation</a:t>
          </a:r>
        </a:p>
      </dgm:t>
    </dgm:pt>
    <dgm:pt modelId="{9C78A557-78B2-4592-B9F4-3AB339C32119}" type="parTrans" cxnId="{7C62BDF4-AC51-473D-8F66-482E79F18DEB}">
      <dgm:prSet/>
      <dgm:spPr/>
      <dgm:t>
        <a:bodyPr/>
        <a:lstStyle/>
        <a:p>
          <a:endParaRPr lang="en-US"/>
        </a:p>
      </dgm:t>
    </dgm:pt>
    <dgm:pt modelId="{AD201CB7-0121-4010-9B15-E22E48F01E3B}" type="sibTrans" cxnId="{7C62BDF4-AC51-473D-8F66-482E79F18DEB}">
      <dgm:prSet/>
      <dgm:spPr/>
      <dgm:t>
        <a:bodyPr/>
        <a:lstStyle/>
        <a:p>
          <a:endParaRPr lang="en-US"/>
        </a:p>
      </dgm:t>
    </dgm:pt>
    <dgm:pt modelId="{EA59CF13-C579-43FB-AB71-A67507FF23F8}">
      <dgm:prSet custT="1"/>
      <dgm:spPr/>
      <dgm:t>
        <a:bodyPr/>
        <a:lstStyle/>
        <a:p>
          <a:r>
            <a:rPr lang="en-US" sz="1000" b="1" dirty="0"/>
            <a:t>RM Program Elements</a:t>
          </a:r>
        </a:p>
      </dgm:t>
    </dgm:pt>
    <dgm:pt modelId="{995D5268-8E51-4EAD-BA76-0221D48B441D}" type="parTrans" cxnId="{15E99CB9-59C9-4E80-BBBE-47E2DD29D65E}">
      <dgm:prSet/>
      <dgm:spPr/>
      <dgm:t>
        <a:bodyPr/>
        <a:lstStyle/>
        <a:p>
          <a:endParaRPr lang="en-US"/>
        </a:p>
      </dgm:t>
    </dgm:pt>
    <dgm:pt modelId="{E9845E8A-58DF-427E-855C-F3401B528FEF}" type="sibTrans" cxnId="{15E99CB9-59C9-4E80-BBBE-47E2DD29D65E}">
      <dgm:prSet/>
      <dgm:spPr/>
      <dgm:t>
        <a:bodyPr/>
        <a:lstStyle/>
        <a:p>
          <a:endParaRPr lang="en-US"/>
        </a:p>
      </dgm:t>
    </dgm:pt>
    <dgm:pt modelId="{20BE97AF-E13A-4A81-B09D-05AAACF626ED}">
      <dgm:prSet custT="1"/>
      <dgm:spPr/>
      <dgm:t>
        <a:bodyPr/>
        <a:lstStyle/>
        <a:p>
          <a:r>
            <a:rPr lang="en-US" sz="1200" dirty="0"/>
            <a:t>RM System Elements, Administrative Controls and Work Practices, Engineering Controls, The Business Case for a RM Program</a:t>
          </a:r>
        </a:p>
      </dgm:t>
    </dgm:pt>
    <dgm:pt modelId="{AB2D298E-895C-49CB-9F41-E095FD391EB2}" type="parTrans" cxnId="{9E875BD2-6FAB-444E-BEC9-3EA39F74B9D8}">
      <dgm:prSet/>
      <dgm:spPr/>
      <dgm:t>
        <a:bodyPr/>
        <a:lstStyle/>
        <a:p>
          <a:endParaRPr lang="en-US"/>
        </a:p>
      </dgm:t>
    </dgm:pt>
    <dgm:pt modelId="{88DD8377-14DB-490F-814B-B60C391F4B13}" type="sibTrans" cxnId="{9E875BD2-6FAB-444E-BEC9-3EA39F74B9D8}">
      <dgm:prSet/>
      <dgm:spPr/>
      <dgm:t>
        <a:bodyPr/>
        <a:lstStyle/>
        <a:p>
          <a:endParaRPr lang="en-US"/>
        </a:p>
      </dgm:t>
    </dgm:pt>
    <dgm:pt modelId="{741F1EA7-4D20-4649-A6AA-75130A2A79C9}">
      <dgm:prSet custT="1"/>
      <dgm:spPr/>
      <dgm:t>
        <a:bodyPr/>
        <a:lstStyle/>
        <a:p>
          <a:r>
            <a:rPr lang="en-US" sz="1200" dirty="0"/>
            <a:t>Why is II important?, PEAP, Cause and Effect Model, Root Cause Analysis, Incident and Near Miss Reporting, Follow Up, Student Team Project &amp; Report</a:t>
          </a:r>
        </a:p>
      </dgm:t>
    </dgm:pt>
    <dgm:pt modelId="{10859B04-B5BA-4641-9128-E0FF18CE16FD}" type="parTrans" cxnId="{3392453E-23FF-44D1-BCCD-36A6809201DB}">
      <dgm:prSet/>
      <dgm:spPr/>
      <dgm:t>
        <a:bodyPr/>
        <a:lstStyle/>
        <a:p>
          <a:endParaRPr lang="en-US"/>
        </a:p>
      </dgm:t>
    </dgm:pt>
    <dgm:pt modelId="{8FDDF8EA-320B-4151-B146-DB6870620481}" type="sibTrans" cxnId="{3392453E-23FF-44D1-BCCD-36A6809201DB}">
      <dgm:prSet/>
      <dgm:spPr/>
      <dgm:t>
        <a:bodyPr/>
        <a:lstStyle/>
        <a:p>
          <a:endParaRPr lang="en-US"/>
        </a:p>
      </dgm:t>
    </dgm:pt>
    <dgm:pt modelId="{1E226432-480A-48B2-9219-525A889F384A}">
      <dgm:prSet custT="1"/>
      <dgm:spPr/>
      <dgm:t>
        <a:bodyPr/>
        <a:lstStyle/>
        <a:p>
          <a:r>
            <a:rPr lang="en-US" sz="1200" dirty="0"/>
            <a:t>How Do We Manage Risk?, The RM Work Process, Substandard Practices and Conditions, The Hierarchy of Controls, Risk Matrices, FLRAs, JSAs, SQRAs, Checklists, Bow Tie Analysis, Job Observations, Planned Inspections, Audits, Prevention Through Design, </a:t>
          </a:r>
          <a:r>
            <a:rPr lang="en-US" sz="1200" i="0" dirty="0"/>
            <a:t>What If Analysis</a:t>
          </a:r>
          <a:endParaRPr lang="en-US" sz="1200" dirty="0"/>
        </a:p>
      </dgm:t>
    </dgm:pt>
    <dgm:pt modelId="{479C1E6F-ACA4-459B-9DE6-8139E8C90852}" type="parTrans" cxnId="{D446FB68-DDBB-4A27-8F0B-D0F4F61655E1}">
      <dgm:prSet/>
      <dgm:spPr/>
      <dgm:t>
        <a:bodyPr/>
        <a:lstStyle/>
        <a:p>
          <a:endParaRPr lang="en-US"/>
        </a:p>
      </dgm:t>
    </dgm:pt>
    <dgm:pt modelId="{6121A8CB-9A0B-4FEF-9328-DAD33A596ED7}" type="sibTrans" cxnId="{D446FB68-DDBB-4A27-8F0B-D0F4F61655E1}">
      <dgm:prSet/>
      <dgm:spPr/>
      <dgm:t>
        <a:bodyPr/>
        <a:lstStyle/>
        <a:p>
          <a:endParaRPr lang="en-US"/>
        </a:p>
      </dgm:t>
    </dgm:pt>
    <dgm:pt modelId="{D61E5743-B7D7-430A-9009-900A2208B0D6}">
      <dgm:prSet custT="1"/>
      <dgm:spPr/>
      <dgm:t>
        <a:bodyPr/>
        <a:lstStyle/>
        <a:p>
          <a:r>
            <a:rPr lang="en-US" sz="1200" dirty="0"/>
            <a:t>Why is Leadership Important?, Safety Culture, Personal Iceberg, ABC, and Training Models, Plan-Do-Check-Act, Application of the ESG, </a:t>
          </a:r>
          <a:r>
            <a:rPr lang="en-US" sz="1200" b="0" i="0" dirty="0"/>
            <a:t>Risk Communication</a:t>
          </a:r>
        </a:p>
      </dgm:t>
    </dgm:pt>
    <dgm:pt modelId="{FE92EB43-DD12-441E-BF64-F7EF5AC17BE4}" type="parTrans" cxnId="{04D57E11-3DF1-422F-8360-52B42B0600A9}">
      <dgm:prSet/>
      <dgm:spPr/>
      <dgm:t>
        <a:bodyPr/>
        <a:lstStyle/>
        <a:p>
          <a:endParaRPr lang="en-US"/>
        </a:p>
      </dgm:t>
    </dgm:pt>
    <dgm:pt modelId="{1B5187C5-88F0-4915-B994-B13B57B4952E}" type="sibTrans" cxnId="{04D57E11-3DF1-422F-8360-52B42B0600A9}">
      <dgm:prSet/>
      <dgm:spPr/>
      <dgm:t>
        <a:bodyPr/>
        <a:lstStyle/>
        <a:p>
          <a:endParaRPr lang="en-US"/>
        </a:p>
      </dgm:t>
    </dgm:pt>
    <dgm:pt modelId="{9A70CB97-AF19-4CA0-ACDB-51979561D03B}">
      <dgm:prSet custT="1"/>
      <dgm:spPr/>
      <dgm:t>
        <a:bodyPr/>
        <a:lstStyle/>
        <a:p>
          <a:r>
            <a:rPr lang="en-US" sz="1000" b="1" dirty="0"/>
            <a:t>Industry &amp; Gov’t Engagement</a:t>
          </a:r>
        </a:p>
      </dgm:t>
    </dgm:pt>
    <dgm:pt modelId="{41D01AEB-C9F0-4923-A4B5-CE725A26016B}" type="parTrans" cxnId="{808B9C1D-17B1-4713-9024-9FDEA83C06CF}">
      <dgm:prSet/>
      <dgm:spPr/>
      <dgm:t>
        <a:bodyPr/>
        <a:lstStyle/>
        <a:p>
          <a:endParaRPr lang="en-US"/>
        </a:p>
      </dgm:t>
    </dgm:pt>
    <dgm:pt modelId="{6C1CA19F-8CB6-445B-8F2B-B1ADBF1427ED}" type="sibTrans" cxnId="{808B9C1D-17B1-4713-9024-9FDEA83C06CF}">
      <dgm:prSet/>
      <dgm:spPr/>
      <dgm:t>
        <a:bodyPr/>
        <a:lstStyle/>
        <a:p>
          <a:endParaRPr lang="en-US"/>
        </a:p>
      </dgm:t>
    </dgm:pt>
    <dgm:pt modelId="{8ED4B54D-59E9-4EBD-8E39-5FB9210DA909}">
      <dgm:prSet custT="1"/>
      <dgm:spPr/>
      <dgm:t>
        <a:bodyPr/>
        <a:lstStyle/>
        <a:p>
          <a:r>
            <a:rPr lang="en-US" sz="1200" b="0" dirty="0"/>
            <a:t>Guest Lectures from Magna IV Engineering, PCL Construction, AB Justice, WCB, Imperial Oil, BBA Engineering, Director of the School of ESRM</a:t>
          </a:r>
        </a:p>
      </dgm:t>
    </dgm:pt>
    <dgm:pt modelId="{7A467C84-8B99-4979-9DB3-ACEB692AB043}" type="parTrans" cxnId="{8AE73D68-08CE-41BF-BB14-A2FADF057FD8}">
      <dgm:prSet/>
      <dgm:spPr/>
      <dgm:t>
        <a:bodyPr/>
        <a:lstStyle/>
        <a:p>
          <a:endParaRPr lang="en-US"/>
        </a:p>
      </dgm:t>
    </dgm:pt>
    <dgm:pt modelId="{3F2EA0DE-371E-4F57-954C-C1051951B134}" type="sibTrans" cxnId="{8AE73D68-08CE-41BF-BB14-A2FADF057FD8}">
      <dgm:prSet/>
      <dgm:spPr/>
      <dgm:t>
        <a:bodyPr/>
        <a:lstStyle/>
        <a:p>
          <a:endParaRPr lang="en-US"/>
        </a:p>
      </dgm:t>
    </dgm:pt>
    <dgm:pt modelId="{C86D31BF-89F9-41CE-BA26-D5807AE4DD29}">
      <dgm:prSet phldrT="[Text]" custT="1"/>
      <dgm:spPr/>
      <dgm:t>
        <a:bodyPr/>
        <a:lstStyle/>
        <a:p>
          <a:r>
            <a:rPr lang="en-US" sz="1000" b="1" dirty="0"/>
            <a:t>Legal &amp; Ethical Aspects</a:t>
          </a:r>
        </a:p>
      </dgm:t>
    </dgm:pt>
    <dgm:pt modelId="{837D5BE0-398D-4E37-89DD-3DE1B461AFB1}" type="sibTrans" cxnId="{FD6DDB30-8B21-467F-84A3-F4954E19384D}">
      <dgm:prSet/>
      <dgm:spPr/>
      <dgm:t>
        <a:bodyPr/>
        <a:lstStyle/>
        <a:p>
          <a:endParaRPr lang="en-US"/>
        </a:p>
      </dgm:t>
    </dgm:pt>
    <dgm:pt modelId="{F8C91F4B-ECA1-4DF0-82AE-F986A0D4592E}" type="parTrans" cxnId="{FD6DDB30-8B21-467F-84A3-F4954E19384D}">
      <dgm:prSet/>
      <dgm:spPr/>
      <dgm:t>
        <a:bodyPr/>
        <a:lstStyle/>
        <a:p>
          <a:endParaRPr lang="en-US"/>
        </a:p>
      </dgm:t>
    </dgm:pt>
    <dgm:pt modelId="{0EF3D92B-3602-4C18-BF2D-394CE0E6655E}">
      <dgm:prSet custT="1"/>
      <dgm:spPr/>
      <dgm:t>
        <a:bodyPr/>
        <a:lstStyle/>
        <a:p>
          <a:r>
            <a:rPr lang="en-US" sz="1000" b="1" dirty="0"/>
            <a:t>Case Studies</a:t>
          </a:r>
        </a:p>
      </dgm:t>
    </dgm:pt>
    <dgm:pt modelId="{AB38DD1D-6FDD-4FBA-A3F7-DF03E0937902}" type="parTrans" cxnId="{98139208-9419-4597-945E-836B02273B44}">
      <dgm:prSet/>
      <dgm:spPr/>
      <dgm:t>
        <a:bodyPr/>
        <a:lstStyle/>
        <a:p>
          <a:endParaRPr lang="en-CA"/>
        </a:p>
      </dgm:t>
    </dgm:pt>
    <dgm:pt modelId="{D16550ED-26A4-4B1D-A7FC-F568E2F13475}" type="sibTrans" cxnId="{98139208-9419-4597-945E-836B02273B44}">
      <dgm:prSet/>
      <dgm:spPr/>
      <dgm:t>
        <a:bodyPr/>
        <a:lstStyle/>
        <a:p>
          <a:endParaRPr lang="en-CA"/>
        </a:p>
      </dgm:t>
    </dgm:pt>
    <dgm:pt modelId="{52E72C97-B830-4DD0-9BC3-6B5FB75F99FC}">
      <dgm:prSet custT="1"/>
      <dgm:spPr/>
      <dgm:t>
        <a:bodyPr/>
        <a:lstStyle/>
        <a:p>
          <a:r>
            <a:rPr lang="en-CA" sz="1200" b="0" dirty="0"/>
            <a:t>Sunrise Propane, Hub Oil, </a:t>
          </a:r>
          <a:r>
            <a:rPr lang="en-CA" sz="1200" b="0" dirty="0" smtClean="0"/>
            <a:t>Imperial </a:t>
          </a:r>
          <a:r>
            <a:rPr lang="en-CA" sz="1200" b="0" dirty="0"/>
            <a:t>Metals Mount </a:t>
          </a:r>
          <a:r>
            <a:rPr lang="en-CA" sz="1200" b="0" dirty="0" err="1"/>
            <a:t>Polley</a:t>
          </a:r>
          <a:r>
            <a:rPr lang="en-CA" sz="1200" b="0" dirty="0"/>
            <a:t>, MMA Lac </a:t>
          </a:r>
          <a:r>
            <a:rPr lang="en-CA" sz="1200" b="0" dirty="0" err="1"/>
            <a:t>Megantic</a:t>
          </a:r>
          <a:r>
            <a:rPr lang="en-CA" sz="1200" b="0" dirty="0"/>
            <a:t>, </a:t>
          </a:r>
          <a:r>
            <a:rPr lang="en-CA" sz="1200" b="0" dirty="0" smtClean="0"/>
            <a:t>UCIL Bhopal, </a:t>
          </a:r>
          <a:r>
            <a:rPr lang="en-CA" sz="1200" b="0" dirty="0" err="1" smtClean="0"/>
            <a:t>Nypro</a:t>
          </a:r>
          <a:r>
            <a:rPr lang="en-CA" sz="1200" b="0" dirty="0" smtClean="0"/>
            <a:t> Works </a:t>
          </a:r>
          <a:r>
            <a:rPr lang="en-CA" sz="1200" b="0" dirty="0" err="1" smtClean="0"/>
            <a:t>Flixborough</a:t>
          </a:r>
          <a:r>
            <a:rPr lang="en-CA" sz="1200" b="0" dirty="0" smtClean="0"/>
            <a:t>, BP </a:t>
          </a:r>
          <a:r>
            <a:rPr lang="en-CA" sz="1200" b="0" dirty="0" err="1" smtClean="0"/>
            <a:t>Macondo</a:t>
          </a:r>
          <a:r>
            <a:rPr lang="en-CA" sz="1200" b="0" dirty="0" smtClean="0"/>
            <a:t> DWH, Boeing 737 Max 8, ALCOA</a:t>
          </a:r>
          <a:endParaRPr lang="en-US" sz="1200" b="0" dirty="0"/>
        </a:p>
      </dgm:t>
    </dgm:pt>
    <dgm:pt modelId="{0BD1B988-8337-445D-84B3-9FA6AFC26D05}" type="parTrans" cxnId="{E064DC7C-3BE0-4EC1-A94D-98B4EE3AF08F}">
      <dgm:prSet/>
      <dgm:spPr/>
      <dgm:t>
        <a:bodyPr/>
        <a:lstStyle/>
        <a:p>
          <a:endParaRPr lang="en-CA"/>
        </a:p>
      </dgm:t>
    </dgm:pt>
    <dgm:pt modelId="{32AA0C8D-792D-4EEF-A2E6-E1858063D3B2}" type="sibTrans" cxnId="{E064DC7C-3BE0-4EC1-A94D-98B4EE3AF08F}">
      <dgm:prSet/>
      <dgm:spPr/>
      <dgm:t>
        <a:bodyPr/>
        <a:lstStyle/>
        <a:p>
          <a:endParaRPr lang="en-CA"/>
        </a:p>
      </dgm:t>
    </dgm:pt>
    <dgm:pt modelId="{3F0E4E04-B984-461F-BBD6-4C02E0F7860B}" type="pres">
      <dgm:prSet presAssocID="{52116E40-189D-4864-913A-67CD8353692F}" presName="Name0" presStyleCnt="0">
        <dgm:presLayoutVars>
          <dgm:dir/>
          <dgm:animLvl val="lvl"/>
          <dgm:resizeHandles val="exact"/>
        </dgm:presLayoutVars>
      </dgm:prSet>
      <dgm:spPr/>
      <dgm:t>
        <a:bodyPr/>
        <a:lstStyle/>
        <a:p>
          <a:endParaRPr lang="en-US"/>
        </a:p>
      </dgm:t>
    </dgm:pt>
    <dgm:pt modelId="{0E0C75E8-5341-4499-83DF-C50B550A5D34}" type="pres">
      <dgm:prSet presAssocID="{C94ACF8A-196C-4C2E-88A5-882940226F70}" presName="linNode" presStyleCnt="0"/>
      <dgm:spPr/>
    </dgm:pt>
    <dgm:pt modelId="{894334F0-A857-4998-B872-5762D0921C21}" type="pres">
      <dgm:prSet presAssocID="{C94ACF8A-196C-4C2E-88A5-882940226F70}" presName="parentText" presStyleLbl="node1" presStyleIdx="0" presStyleCnt="8" custScaleX="33310" custScaleY="55480">
        <dgm:presLayoutVars>
          <dgm:chMax val="1"/>
          <dgm:bulletEnabled val="1"/>
        </dgm:presLayoutVars>
      </dgm:prSet>
      <dgm:spPr/>
      <dgm:t>
        <a:bodyPr/>
        <a:lstStyle/>
        <a:p>
          <a:endParaRPr lang="en-US"/>
        </a:p>
      </dgm:t>
    </dgm:pt>
    <dgm:pt modelId="{972D9591-AD7C-49D7-9094-77CEAC4F4FB6}" type="pres">
      <dgm:prSet presAssocID="{C94ACF8A-196C-4C2E-88A5-882940226F70}" presName="descendantText" presStyleLbl="alignAccFollowNode1" presStyleIdx="0" presStyleCnt="8" custScaleX="137479" custScaleY="73816">
        <dgm:presLayoutVars>
          <dgm:bulletEnabled val="1"/>
        </dgm:presLayoutVars>
      </dgm:prSet>
      <dgm:spPr/>
      <dgm:t>
        <a:bodyPr/>
        <a:lstStyle/>
        <a:p>
          <a:endParaRPr lang="en-US"/>
        </a:p>
      </dgm:t>
    </dgm:pt>
    <dgm:pt modelId="{68AEEF11-26AB-4110-8CC2-2CBA9E5BAF86}" type="pres">
      <dgm:prSet presAssocID="{114BAB5E-CFF4-4FED-9551-D241586A285B}" presName="sp" presStyleCnt="0"/>
      <dgm:spPr/>
    </dgm:pt>
    <dgm:pt modelId="{39447171-5C2F-4117-A6FC-5A0BB401A457}" type="pres">
      <dgm:prSet presAssocID="{EA59CF13-C579-43FB-AB71-A67507FF23F8}" presName="linNode" presStyleCnt="0"/>
      <dgm:spPr/>
    </dgm:pt>
    <dgm:pt modelId="{FC48821B-A805-4B7D-8D33-6DDCAFDC59BB}" type="pres">
      <dgm:prSet presAssocID="{EA59CF13-C579-43FB-AB71-A67507FF23F8}" presName="parentText" presStyleLbl="node1" presStyleIdx="1" presStyleCnt="8" custScaleX="71511" custScaleY="47060">
        <dgm:presLayoutVars>
          <dgm:chMax val="1"/>
          <dgm:bulletEnabled val="1"/>
        </dgm:presLayoutVars>
      </dgm:prSet>
      <dgm:spPr/>
      <dgm:t>
        <a:bodyPr/>
        <a:lstStyle/>
        <a:p>
          <a:endParaRPr lang="en-US"/>
        </a:p>
      </dgm:t>
    </dgm:pt>
    <dgm:pt modelId="{73204E57-0164-4968-A5B5-1B9D047DDF6E}" type="pres">
      <dgm:prSet presAssocID="{EA59CF13-C579-43FB-AB71-A67507FF23F8}" presName="descendantText" presStyleLbl="alignAccFollowNode1" presStyleIdx="1" presStyleCnt="8" custScaleX="278155" custScaleY="61194">
        <dgm:presLayoutVars>
          <dgm:bulletEnabled val="1"/>
        </dgm:presLayoutVars>
      </dgm:prSet>
      <dgm:spPr/>
      <dgm:t>
        <a:bodyPr/>
        <a:lstStyle/>
        <a:p>
          <a:endParaRPr lang="en-US"/>
        </a:p>
      </dgm:t>
    </dgm:pt>
    <dgm:pt modelId="{4E0020B9-3134-4620-A6E3-B60697D1CAB8}" type="pres">
      <dgm:prSet presAssocID="{E9845E8A-58DF-427E-855C-F3401B528FEF}" presName="sp" presStyleCnt="0"/>
      <dgm:spPr/>
    </dgm:pt>
    <dgm:pt modelId="{B16D79E9-F159-4E9B-AA03-B5FC8B7E0055}" type="pres">
      <dgm:prSet presAssocID="{FA3813B0-8594-47F7-BC22-DF6B4E99A853}" presName="linNode" presStyleCnt="0"/>
      <dgm:spPr/>
    </dgm:pt>
    <dgm:pt modelId="{0B9027F1-592A-4F2E-A3D2-C683E3429CE7}" type="pres">
      <dgm:prSet presAssocID="{FA3813B0-8594-47F7-BC22-DF6B4E99A853}" presName="parentText" presStyleLbl="node1" presStyleIdx="2" presStyleCnt="8" custScaleX="42576" custScaleY="46644" custLinFactNeighborX="-5" custLinFactNeighborY="1083">
        <dgm:presLayoutVars>
          <dgm:chMax val="1"/>
          <dgm:bulletEnabled val="1"/>
        </dgm:presLayoutVars>
      </dgm:prSet>
      <dgm:spPr/>
      <dgm:t>
        <a:bodyPr/>
        <a:lstStyle/>
        <a:p>
          <a:endParaRPr lang="en-US"/>
        </a:p>
      </dgm:t>
    </dgm:pt>
    <dgm:pt modelId="{8B6616AE-9BA6-42E6-8368-92157C053B74}" type="pres">
      <dgm:prSet presAssocID="{FA3813B0-8594-47F7-BC22-DF6B4E99A853}" presName="descendantText" presStyleLbl="alignAccFollowNode1" presStyleIdx="2" presStyleCnt="8" custScaleX="168581" custScaleY="65956" custLinFactNeighborY="0">
        <dgm:presLayoutVars>
          <dgm:bulletEnabled val="1"/>
        </dgm:presLayoutVars>
      </dgm:prSet>
      <dgm:spPr/>
      <dgm:t>
        <a:bodyPr/>
        <a:lstStyle/>
        <a:p>
          <a:endParaRPr lang="en-US"/>
        </a:p>
      </dgm:t>
    </dgm:pt>
    <dgm:pt modelId="{CB7EB1C3-14C5-484B-912A-749449CAA5E0}" type="pres">
      <dgm:prSet presAssocID="{910C674A-31DC-4DB5-9C9C-F8EC22B2AAD3}" presName="sp" presStyleCnt="0"/>
      <dgm:spPr/>
    </dgm:pt>
    <dgm:pt modelId="{260A0209-C791-4E23-BA7A-74714FF68851}" type="pres">
      <dgm:prSet presAssocID="{8CCB3745-B839-42FA-8E94-5314FDE4C5E5}" presName="linNode" presStyleCnt="0"/>
      <dgm:spPr/>
    </dgm:pt>
    <dgm:pt modelId="{F1349B64-76F0-4C6F-82F4-7196AA3AC19D}" type="pres">
      <dgm:prSet presAssocID="{8CCB3745-B839-42FA-8E94-5314FDE4C5E5}" presName="parentText" presStyleLbl="node1" presStyleIdx="3" presStyleCnt="8" custScaleX="65861" custScaleY="49141">
        <dgm:presLayoutVars>
          <dgm:chMax val="1"/>
          <dgm:bulletEnabled val="1"/>
        </dgm:presLayoutVars>
      </dgm:prSet>
      <dgm:spPr/>
      <dgm:t>
        <a:bodyPr/>
        <a:lstStyle/>
        <a:p>
          <a:endParaRPr lang="en-US"/>
        </a:p>
      </dgm:t>
    </dgm:pt>
    <dgm:pt modelId="{DFA94ED6-4FE4-4E42-966F-BF1A651C5F59}" type="pres">
      <dgm:prSet presAssocID="{8CCB3745-B839-42FA-8E94-5314FDE4C5E5}" presName="descendantText" presStyleLbl="alignAccFollowNode1" presStyleIdx="3" presStyleCnt="8" custScaleX="244460" custScaleY="54746" custLinFactNeighborX="683" custLinFactNeighborY="2212">
        <dgm:presLayoutVars>
          <dgm:bulletEnabled val="1"/>
        </dgm:presLayoutVars>
      </dgm:prSet>
      <dgm:spPr/>
      <dgm:t>
        <a:bodyPr/>
        <a:lstStyle/>
        <a:p>
          <a:endParaRPr lang="en-US"/>
        </a:p>
      </dgm:t>
    </dgm:pt>
    <dgm:pt modelId="{A460A106-BD0C-403B-AD4F-AE45903CFC7C}" type="pres">
      <dgm:prSet presAssocID="{AD201CB7-0121-4010-9B15-E22E48F01E3B}" presName="sp" presStyleCnt="0"/>
      <dgm:spPr/>
    </dgm:pt>
    <dgm:pt modelId="{9439BBC8-BF6D-4A03-8276-575271633E73}" type="pres">
      <dgm:prSet presAssocID="{0EF3D92B-3602-4C18-BF2D-394CE0E6655E}" presName="linNode" presStyleCnt="0"/>
      <dgm:spPr/>
    </dgm:pt>
    <dgm:pt modelId="{8C871809-46F7-489C-8322-91E6F3C7C33D}" type="pres">
      <dgm:prSet presAssocID="{0EF3D92B-3602-4C18-BF2D-394CE0E6655E}" presName="parentText" presStyleLbl="node1" presStyleIdx="4" presStyleCnt="8" custScaleX="37737" custScaleY="49578">
        <dgm:presLayoutVars>
          <dgm:chMax val="1"/>
          <dgm:bulletEnabled val="1"/>
        </dgm:presLayoutVars>
      </dgm:prSet>
      <dgm:spPr/>
      <dgm:t>
        <a:bodyPr/>
        <a:lstStyle/>
        <a:p>
          <a:endParaRPr lang="en-US"/>
        </a:p>
      </dgm:t>
    </dgm:pt>
    <dgm:pt modelId="{7B89F309-80DC-46FA-8E0A-2DBDDB49DA1D}" type="pres">
      <dgm:prSet presAssocID="{0EF3D92B-3602-4C18-BF2D-394CE0E6655E}" presName="descendantText" presStyleLbl="alignAccFollowNode1" presStyleIdx="4" presStyleCnt="8" custScaleX="142193" custScaleY="59207">
        <dgm:presLayoutVars>
          <dgm:bulletEnabled val="1"/>
        </dgm:presLayoutVars>
      </dgm:prSet>
      <dgm:spPr/>
      <dgm:t>
        <a:bodyPr/>
        <a:lstStyle/>
        <a:p>
          <a:endParaRPr lang="en-US"/>
        </a:p>
      </dgm:t>
    </dgm:pt>
    <dgm:pt modelId="{C4BF4F2A-5712-4241-A93E-6F3F6608874D}" type="pres">
      <dgm:prSet presAssocID="{D16550ED-26A4-4B1D-A7FC-F568E2F13475}" presName="sp" presStyleCnt="0"/>
      <dgm:spPr/>
    </dgm:pt>
    <dgm:pt modelId="{C8E5D18C-CAD0-474A-8BDA-A4B25BA2080A}" type="pres">
      <dgm:prSet presAssocID="{B24DCBC3-EC5E-4D0F-93A9-6CA1653D6C17}" presName="linNode" presStyleCnt="0"/>
      <dgm:spPr/>
    </dgm:pt>
    <dgm:pt modelId="{DA86242C-033E-4625-9293-D21AD9F393C1}" type="pres">
      <dgm:prSet presAssocID="{B24DCBC3-EC5E-4D0F-93A9-6CA1653D6C17}" presName="parentText" presStyleLbl="node1" presStyleIdx="5" presStyleCnt="8" custScaleX="69904" custScaleY="44624">
        <dgm:presLayoutVars>
          <dgm:chMax val="1"/>
          <dgm:bulletEnabled val="1"/>
        </dgm:presLayoutVars>
      </dgm:prSet>
      <dgm:spPr/>
      <dgm:t>
        <a:bodyPr/>
        <a:lstStyle/>
        <a:p>
          <a:endParaRPr lang="en-US"/>
        </a:p>
      </dgm:t>
    </dgm:pt>
    <dgm:pt modelId="{12B7071B-8DEF-476A-B8D0-96C9490D6196}" type="pres">
      <dgm:prSet presAssocID="{B24DCBC3-EC5E-4D0F-93A9-6CA1653D6C17}" presName="descendantText" presStyleLbl="alignAccFollowNode1" presStyleIdx="5" presStyleCnt="8" custScaleX="250827" custScaleY="55859">
        <dgm:presLayoutVars>
          <dgm:bulletEnabled val="1"/>
        </dgm:presLayoutVars>
      </dgm:prSet>
      <dgm:spPr/>
      <dgm:t>
        <a:bodyPr/>
        <a:lstStyle/>
        <a:p>
          <a:endParaRPr lang="en-US"/>
        </a:p>
      </dgm:t>
    </dgm:pt>
    <dgm:pt modelId="{6B7A3918-B667-4993-93B5-A74513BC31E0}" type="pres">
      <dgm:prSet presAssocID="{0254DFA6-1D4C-4D71-A971-83DE8D1A9B46}" presName="sp" presStyleCnt="0"/>
      <dgm:spPr/>
    </dgm:pt>
    <dgm:pt modelId="{677F4B25-24E8-4809-89C8-1CF9AE183428}" type="pres">
      <dgm:prSet presAssocID="{C86D31BF-89F9-41CE-BA26-D5807AE4DD29}" presName="linNode" presStyleCnt="0"/>
      <dgm:spPr/>
    </dgm:pt>
    <dgm:pt modelId="{2BEDD279-7DEC-478C-AED3-D8EBF9B174EE}" type="pres">
      <dgm:prSet presAssocID="{C86D31BF-89F9-41CE-BA26-D5807AE4DD29}" presName="parentText" presStyleLbl="node1" presStyleIdx="6" presStyleCnt="8" custScaleX="56659" custScaleY="46096">
        <dgm:presLayoutVars>
          <dgm:chMax val="1"/>
          <dgm:bulletEnabled val="1"/>
        </dgm:presLayoutVars>
      </dgm:prSet>
      <dgm:spPr/>
      <dgm:t>
        <a:bodyPr/>
        <a:lstStyle/>
        <a:p>
          <a:endParaRPr lang="en-US"/>
        </a:p>
      </dgm:t>
    </dgm:pt>
    <dgm:pt modelId="{42184081-B703-48A1-B3DD-0E9EC31732E5}" type="pres">
      <dgm:prSet presAssocID="{C86D31BF-89F9-41CE-BA26-D5807AE4DD29}" presName="descendantText" presStyleLbl="alignAccFollowNode1" presStyleIdx="6" presStyleCnt="8" custScaleX="206782" custScaleY="53171">
        <dgm:presLayoutVars>
          <dgm:bulletEnabled val="1"/>
        </dgm:presLayoutVars>
      </dgm:prSet>
      <dgm:spPr/>
      <dgm:t>
        <a:bodyPr/>
        <a:lstStyle/>
        <a:p>
          <a:endParaRPr lang="en-US"/>
        </a:p>
      </dgm:t>
    </dgm:pt>
    <dgm:pt modelId="{3FDD0C05-21A2-432F-B0CA-D37A38525FF6}" type="pres">
      <dgm:prSet presAssocID="{837D5BE0-398D-4E37-89DD-3DE1B461AFB1}" presName="sp" presStyleCnt="0"/>
      <dgm:spPr/>
    </dgm:pt>
    <dgm:pt modelId="{BA868507-6ABF-4428-A222-B4D877FEAC58}" type="pres">
      <dgm:prSet presAssocID="{9A70CB97-AF19-4CA0-ACDB-51979561D03B}" presName="linNode" presStyleCnt="0"/>
      <dgm:spPr/>
    </dgm:pt>
    <dgm:pt modelId="{DCBA8994-BB08-49E3-80DD-D15682CC5F50}" type="pres">
      <dgm:prSet presAssocID="{9A70CB97-AF19-4CA0-ACDB-51979561D03B}" presName="parentText" presStyleLbl="node1" presStyleIdx="7" presStyleCnt="8" custScaleX="35866" custScaleY="39213">
        <dgm:presLayoutVars>
          <dgm:chMax val="1"/>
          <dgm:bulletEnabled val="1"/>
        </dgm:presLayoutVars>
      </dgm:prSet>
      <dgm:spPr/>
      <dgm:t>
        <a:bodyPr/>
        <a:lstStyle/>
        <a:p>
          <a:endParaRPr lang="en-US"/>
        </a:p>
      </dgm:t>
    </dgm:pt>
    <dgm:pt modelId="{56108021-3534-4378-BB36-E49A42D11245}" type="pres">
      <dgm:prSet presAssocID="{9A70CB97-AF19-4CA0-ACDB-51979561D03B}" presName="descendantText" presStyleLbl="alignAccFollowNode1" presStyleIdx="7" presStyleCnt="8" custScaleX="134119" custScaleY="62474">
        <dgm:presLayoutVars>
          <dgm:bulletEnabled val="1"/>
        </dgm:presLayoutVars>
      </dgm:prSet>
      <dgm:spPr/>
      <dgm:t>
        <a:bodyPr/>
        <a:lstStyle/>
        <a:p>
          <a:endParaRPr lang="en-US"/>
        </a:p>
      </dgm:t>
    </dgm:pt>
  </dgm:ptLst>
  <dgm:cxnLst>
    <dgm:cxn modelId="{15E99CB9-59C9-4E80-BBBE-47E2DD29D65E}" srcId="{52116E40-189D-4864-913A-67CD8353692F}" destId="{EA59CF13-C579-43FB-AB71-A67507FF23F8}" srcOrd="1" destOrd="0" parTransId="{995D5268-8E51-4EAD-BA76-0221D48B441D}" sibTransId="{E9845E8A-58DF-427E-855C-F3401B528FEF}"/>
    <dgm:cxn modelId="{82D0D624-C2E6-4F2F-81FA-DFB8D15451C8}" srcId="{C94ACF8A-196C-4C2E-88A5-882940226F70}" destId="{9A21D2A8-E7A9-4352-AD85-00AB4D151CBB}" srcOrd="0" destOrd="0" parTransId="{B105FB48-AF66-42E5-A0D3-CFB6AFA8AB22}" sibTransId="{8CD58FDC-A20E-45AF-8D79-65E183675D1C}"/>
    <dgm:cxn modelId="{3B7B390E-3FC7-4FEA-90C9-2E9B67068E6E}" type="presOf" srcId="{52116E40-189D-4864-913A-67CD8353692F}" destId="{3F0E4E04-B984-461F-BBD6-4C02E0F7860B}" srcOrd="0" destOrd="0" presId="urn:microsoft.com/office/officeart/2005/8/layout/vList5"/>
    <dgm:cxn modelId="{5F6AEB7D-FC32-4B38-A598-A7E75A8824CA}" type="presOf" srcId="{8ED4B54D-59E9-4EBD-8E39-5FB9210DA909}" destId="{56108021-3534-4378-BB36-E49A42D11245}" srcOrd="0" destOrd="0" presId="urn:microsoft.com/office/officeart/2005/8/layout/vList5"/>
    <dgm:cxn modelId="{CDCBC9AA-BC9A-4C1A-AC33-F5DCEC7A5DFD}" srcId="{52116E40-189D-4864-913A-67CD8353692F}" destId="{C94ACF8A-196C-4C2E-88A5-882940226F70}" srcOrd="0" destOrd="0" parTransId="{4E232641-D152-479E-BE39-8B229232E766}" sibTransId="{114BAB5E-CFF4-4FED-9551-D241586A285B}"/>
    <dgm:cxn modelId="{E064DC7C-3BE0-4EC1-A94D-98B4EE3AF08F}" srcId="{0EF3D92B-3602-4C18-BF2D-394CE0E6655E}" destId="{52E72C97-B830-4DD0-9BC3-6B5FB75F99FC}" srcOrd="0" destOrd="0" parTransId="{0BD1B988-8337-445D-84B3-9FA6AFC26D05}" sibTransId="{32AA0C8D-792D-4EEF-A2E6-E1858063D3B2}"/>
    <dgm:cxn modelId="{B08BB426-A7C9-4C80-95B5-F9792F8F54B9}" srcId="{52116E40-189D-4864-913A-67CD8353692F}" destId="{B24DCBC3-EC5E-4D0F-93A9-6CA1653D6C17}" srcOrd="5" destOrd="0" parTransId="{A5E0B74F-1FEA-4FDE-AF09-163E0CD6AD84}" sibTransId="{0254DFA6-1D4C-4D71-A971-83DE8D1A9B46}"/>
    <dgm:cxn modelId="{DF975320-4448-400A-A663-F402E0B375CF}" type="presOf" srcId="{9A21D2A8-E7A9-4352-AD85-00AB4D151CBB}" destId="{972D9591-AD7C-49D7-9094-77CEAC4F4FB6}" srcOrd="0" destOrd="0" presId="urn:microsoft.com/office/officeart/2005/8/layout/vList5"/>
    <dgm:cxn modelId="{BC61375E-8547-4FEB-BBD3-C928844DEC73}" type="presOf" srcId="{9A70CB97-AF19-4CA0-ACDB-51979561D03B}" destId="{DCBA8994-BB08-49E3-80DD-D15682CC5F50}" srcOrd="0" destOrd="0" presId="urn:microsoft.com/office/officeart/2005/8/layout/vList5"/>
    <dgm:cxn modelId="{808B9C1D-17B1-4713-9024-9FDEA83C06CF}" srcId="{52116E40-189D-4864-913A-67CD8353692F}" destId="{9A70CB97-AF19-4CA0-ACDB-51979561D03B}" srcOrd="7" destOrd="0" parTransId="{41D01AEB-C9F0-4923-A4B5-CE725A26016B}" sibTransId="{6C1CA19F-8CB6-445B-8F2B-B1ADBF1427ED}"/>
    <dgm:cxn modelId="{7C62BDF4-AC51-473D-8F66-482E79F18DEB}" srcId="{52116E40-189D-4864-913A-67CD8353692F}" destId="{8CCB3745-B839-42FA-8E94-5314FDE4C5E5}" srcOrd="3" destOrd="0" parTransId="{9C78A557-78B2-4592-B9F4-3AB339C32119}" sibTransId="{AD201CB7-0121-4010-9B15-E22E48F01E3B}"/>
    <dgm:cxn modelId="{9B0F9D02-9976-46BA-9CD4-2074E3586A62}" type="presOf" srcId="{20BE97AF-E13A-4A81-B09D-05AAACF626ED}" destId="{73204E57-0164-4968-A5B5-1B9D047DDF6E}" srcOrd="0" destOrd="0" presId="urn:microsoft.com/office/officeart/2005/8/layout/vList5"/>
    <dgm:cxn modelId="{8C26912B-D35C-4151-9FF4-7658DE94C3E5}" type="presOf" srcId="{B24DCBC3-EC5E-4D0F-93A9-6CA1653D6C17}" destId="{DA86242C-033E-4625-9293-D21AD9F393C1}" srcOrd="0" destOrd="0" presId="urn:microsoft.com/office/officeart/2005/8/layout/vList5"/>
    <dgm:cxn modelId="{BBD2B8EF-9C86-42B0-945D-1F3F332F1E79}" type="presOf" srcId="{52E72C97-B830-4DD0-9BC3-6B5FB75F99FC}" destId="{7B89F309-80DC-46FA-8E0A-2DBDDB49DA1D}" srcOrd="0" destOrd="0" presId="urn:microsoft.com/office/officeart/2005/8/layout/vList5"/>
    <dgm:cxn modelId="{3392453E-23FF-44D1-BCCD-36A6809201DB}" srcId="{8CCB3745-B839-42FA-8E94-5314FDE4C5E5}" destId="{741F1EA7-4D20-4649-A6AA-75130A2A79C9}" srcOrd="0" destOrd="0" parTransId="{10859B04-B5BA-4641-9128-E0FF18CE16FD}" sibTransId="{8FDDF8EA-320B-4151-B146-DB6870620481}"/>
    <dgm:cxn modelId="{98139208-9419-4597-945E-836B02273B44}" srcId="{52116E40-189D-4864-913A-67CD8353692F}" destId="{0EF3D92B-3602-4C18-BF2D-394CE0E6655E}" srcOrd="4" destOrd="0" parTransId="{AB38DD1D-6FDD-4FBA-A3F7-DF03E0937902}" sibTransId="{D16550ED-26A4-4B1D-A7FC-F568E2F13475}"/>
    <dgm:cxn modelId="{7BDE390D-59DB-43AB-BF07-03FBFDAC6BC7}" type="presOf" srcId="{D61E5743-B7D7-430A-9009-900A2208B0D6}" destId="{12B7071B-8DEF-476A-B8D0-96C9490D6196}" srcOrd="0" destOrd="0" presId="urn:microsoft.com/office/officeart/2005/8/layout/vList5"/>
    <dgm:cxn modelId="{22946E89-2EC7-4D7F-AFA1-0E9E006398A8}" type="presOf" srcId="{FA3813B0-8594-47F7-BC22-DF6B4E99A853}" destId="{0B9027F1-592A-4F2E-A3D2-C683E3429CE7}" srcOrd="0" destOrd="0" presId="urn:microsoft.com/office/officeart/2005/8/layout/vList5"/>
    <dgm:cxn modelId="{FD6DDB30-8B21-467F-84A3-F4954E19384D}" srcId="{52116E40-189D-4864-913A-67CD8353692F}" destId="{C86D31BF-89F9-41CE-BA26-D5807AE4DD29}" srcOrd="6" destOrd="0" parTransId="{F8C91F4B-ECA1-4DF0-82AE-F986A0D4592E}" sibTransId="{837D5BE0-398D-4E37-89DD-3DE1B461AFB1}"/>
    <dgm:cxn modelId="{D446FB68-DDBB-4A27-8F0B-D0F4F61655E1}" srcId="{FA3813B0-8594-47F7-BC22-DF6B4E99A853}" destId="{1E226432-480A-48B2-9219-525A889F384A}" srcOrd="0" destOrd="0" parTransId="{479C1E6F-ACA4-459B-9DE6-8139E8C90852}" sibTransId="{6121A8CB-9A0B-4FEF-9328-DAD33A596ED7}"/>
    <dgm:cxn modelId="{9FCE934F-2032-455A-B4DE-17D411FCF175}" type="presOf" srcId="{96146816-3724-4A9B-B9F4-FEB1FF100E33}" destId="{42184081-B703-48A1-B3DD-0E9EC31732E5}" srcOrd="0" destOrd="0" presId="urn:microsoft.com/office/officeart/2005/8/layout/vList5"/>
    <dgm:cxn modelId="{2C6F10F3-AD68-4FC0-82A9-E478261B5D1B}" type="presOf" srcId="{EA59CF13-C579-43FB-AB71-A67507FF23F8}" destId="{FC48821B-A805-4B7D-8D33-6DDCAFDC59BB}" srcOrd="0" destOrd="0" presId="urn:microsoft.com/office/officeart/2005/8/layout/vList5"/>
    <dgm:cxn modelId="{D832B68B-6CDF-4043-9D2C-9EB4A608D773}" type="presOf" srcId="{8CCB3745-B839-42FA-8E94-5314FDE4C5E5}" destId="{F1349B64-76F0-4C6F-82F4-7196AA3AC19D}" srcOrd="0" destOrd="0" presId="urn:microsoft.com/office/officeart/2005/8/layout/vList5"/>
    <dgm:cxn modelId="{82F64E89-0663-43D9-BCB0-AEF36EF7E818}" srcId="{C86D31BF-89F9-41CE-BA26-D5807AE4DD29}" destId="{96146816-3724-4A9B-B9F4-FEB1FF100E33}" srcOrd="0" destOrd="0" parTransId="{271261AF-5499-4A5D-8C61-57513B11B4AC}" sibTransId="{F2C7A652-898F-4A26-B28E-2C0462016D0B}"/>
    <dgm:cxn modelId="{B8DFA5DE-3964-4709-B8CD-F4D4FCF47162}" srcId="{52116E40-189D-4864-913A-67CD8353692F}" destId="{FA3813B0-8594-47F7-BC22-DF6B4E99A853}" srcOrd="2" destOrd="0" parTransId="{F02FDC96-0612-4EC9-B675-981A9CC838A2}" sibTransId="{910C674A-31DC-4DB5-9C9C-F8EC22B2AAD3}"/>
    <dgm:cxn modelId="{04D57E11-3DF1-422F-8360-52B42B0600A9}" srcId="{B24DCBC3-EC5E-4D0F-93A9-6CA1653D6C17}" destId="{D61E5743-B7D7-430A-9009-900A2208B0D6}" srcOrd="0" destOrd="0" parTransId="{FE92EB43-DD12-441E-BF64-F7EF5AC17BE4}" sibTransId="{1B5187C5-88F0-4915-B994-B13B57B4952E}"/>
    <dgm:cxn modelId="{9E875BD2-6FAB-444E-BEC9-3EA39F74B9D8}" srcId="{EA59CF13-C579-43FB-AB71-A67507FF23F8}" destId="{20BE97AF-E13A-4A81-B09D-05AAACF626ED}" srcOrd="0" destOrd="0" parTransId="{AB2D298E-895C-49CB-9F41-E095FD391EB2}" sibTransId="{88DD8377-14DB-490F-814B-B60C391F4B13}"/>
    <dgm:cxn modelId="{D442084D-50A3-4856-9ED5-532CC8377510}" type="presOf" srcId="{1E226432-480A-48B2-9219-525A889F384A}" destId="{8B6616AE-9BA6-42E6-8368-92157C053B74}" srcOrd="0" destOrd="0" presId="urn:microsoft.com/office/officeart/2005/8/layout/vList5"/>
    <dgm:cxn modelId="{94C91081-321D-4DF7-99DD-0BDFCF30FE84}" type="presOf" srcId="{0EF3D92B-3602-4C18-BF2D-394CE0E6655E}" destId="{8C871809-46F7-489C-8322-91E6F3C7C33D}" srcOrd="0" destOrd="0" presId="urn:microsoft.com/office/officeart/2005/8/layout/vList5"/>
    <dgm:cxn modelId="{8AE73D68-08CE-41BF-BB14-A2FADF057FD8}" srcId="{9A70CB97-AF19-4CA0-ACDB-51979561D03B}" destId="{8ED4B54D-59E9-4EBD-8E39-5FB9210DA909}" srcOrd="0" destOrd="0" parTransId="{7A467C84-8B99-4979-9DB3-ACEB692AB043}" sibTransId="{3F2EA0DE-371E-4F57-954C-C1051951B134}"/>
    <dgm:cxn modelId="{92C14D83-5B8A-46BC-BF13-05137327C2F0}" type="presOf" srcId="{741F1EA7-4D20-4649-A6AA-75130A2A79C9}" destId="{DFA94ED6-4FE4-4E42-966F-BF1A651C5F59}" srcOrd="0" destOrd="0" presId="urn:microsoft.com/office/officeart/2005/8/layout/vList5"/>
    <dgm:cxn modelId="{F7FD3D6A-619B-4809-9B34-CAE77025F051}" type="presOf" srcId="{C86D31BF-89F9-41CE-BA26-D5807AE4DD29}" destId="{2BEDD279-7DEC-478C-AED3-D8EBF9B174EE}" srcOrd="0" destOrd="0" presId="urn:microsoft.com/office/officeart/2005/8/layout/vList5"/>
    <dgm:cxn modelId="{50BA58F7-F4B7-4B3B-BC04-FBDCC3CD773E}" type="presOf" srcId="{C94ACF8A-196C-4C2E-88A5-882940226F70}" destId="{894334F0-A857-4998-B872-5762D0921C21}" srcOrd="0" destOrd="0" presId="urn:microsoft.com/office/officeart/2005/8/layout/vList5"/>
    <dgm:cxn modelId="{735648AF-9A11-40BD-A114-BDB7E6A8A305}" type="presParOf" srcId="{3F0E4E04-B984-461F-BBD6-4C02E0F7860B}" destId="{0E0C75E8-5341-4499-83DF-C50B550A5D34}" srcOrd="0" destOrd="0" presId="urn:microsoft.com/office/officeart/2005/8/layout/vList5"/>
    <dgm:cxn modelId="{1479E5FA-AC68-4A02-AC6F-8D0936AED626}" type="presParOf" srcId="{0E0C75E8-5341-4499-83DF-C50B550A5D34}" destId="{894334F0-A857-4998-B872-5762D0921C21}" srcOrd="0" destOrd="0" presId="urn:microsoft.com/office/officeart/2005/8/layout/vList5"/>
    <dgm:cxn modelId="{8528B310-9CB9-4309-973A-D4D10642FBA7}" type="presParOf" srcId="{0E0C75E8-5341-4499-83DF-C50B550A5D34}" destId="{972D9591-AD7C-49D7-9094-77CEAC4F4FB6}" srcOrd="1" destOrd="0" presId="urn:microsoft.com/office/officeart/2005/8/layout/vList5"/>
    <dgm:cxn modelId="{38CC79F3-85C0-4B23-BF72-A9D167FF8C01}" type="presParOf" srcId="{3F0E4E04-B984-461F-BBD6-4C02E0F7860B}" destId="{68AEEF11-26AB-4110-8CC2-2CBA9E5BAF86}" srcOrd="1" destOrd="0" presId="urn:microsoft.com/office/officeart/2005/8/layout/vList5"/>
    <dgm:cxn modelId="{4DCF4A75-58A3-4C2E-81DD-9CAEA84522ED}" type="presParOf" srcId="{3F0E4E04-B984-461F-BBD6-4C02E0F7860B}" destId="{39447171-5C2F-4117-A6FC-5A0BB401A457}" srcOrd="2" destOrd="0" presId="urn:microsoft.com/office/officeart/2005/8/layout/vList5"/>
    <dgm:cxn modelId="{F989A21D-3EBD-4EC0-B9EE-63C4C52FF4B1}" type="presParOf" srcId="{39447171-5C2F-4117-A6FC-5A0BB401A457}" destId="{FC48821B-A805-4B7D-8D33-6DDCAFDC59BB}" srcOrd="0" destOrd="0" presId="urn:microsoft.com/office/officeart/2005/8/layout/vList5"/>
    <dgm:cxn modelId="{2971F132-8767-4B32-8C5D-03FBD913AF32}" type="presParOf" srcId="{39447171-5C2F-4117-A6FC-5A0BB401A457}" destId="{73204E57-0164-4968-A5B5-1B9D047DDF6E}" srcOrd="1" destOrd="0" presId="urn:microsoft.com/office/officeart/2005/8/layout/vList5"/>
    <dgm:cxn modelId="{402E890C-C7AE-40A2-8625-4495A2AE28A4}" type="presParOf" srcId="{3F0E4E04-B984-461F-BBD6-4C02E0F7860B}" destId="{4E0020B9-3134-4620-A6E3-B60697D1CAB8}" srcOrd="3" destOrd="0" presId="urn:microsoft.com/office/officeart/2005/8/layout/vList5"/>
    <dgm:cxn modelId="{BFB83147-CD28-44AA-86C7-79739C66A628}" type="presParOf" srcId="{3F0E4E04-B984-461F-BBD6-4C02E0F7860B}" destId="{B16D79E9-F159-4E9B-AA03-B5FC8B7E0055}" srcOrd="4" destOrd="0" presId="urn:microsoft.com/office/officeart/2005/8/layout/vList5"/>
    <dgm:cxn modelId="{92CE86DD-9982-4AA0-B635-1458548E5AE6}" type="presParOf" srcId="{B16D79E9-F159-4E9B-AA03-B5FC8B7E0055}" destId="{0B9027F1-592A-4F2E-A3D2-C683E3429CE7}" srcOrd="0" destOrd="0" presId="urn:microsoft.com/office/officeart/2005/8/layout/vList5"/>
    <dgm:cxn modelId="{FE96CB88-C3FC-48E6-B42C-898945F2B086}" type="presParOf" srcId="{B16D79E9-F159-4E9B-AA03-B5FC8B7E0055}" destId="{8B6616AE-9BA6-42E6-8368-92157C053B74}" srcOrd="1" destOrd="0" presId="urn:microsoft.com/office/officeart/2005/8/layout/vList5"/>
    <dgm:cxn modelId="{E6936854-E8B3-4335-988D-6DF1980F41D0}" type="presParOf" srcId="{3F0E4E04-B984-461F-BBD6-4C02E0F7860B}" destId="{CB7EB1C3-14C5-484B-912A-749449CAA5E0}" srcOrd="5" destOrd="0" presId="urn:microsoft.com/office/officeart/2005/8/layout/vList5"/>
    <dgm:cxn modelId="{D983698E-8476-4F55-B071-01067E3B90E1}" type="presParOf" srcId="{3F0E4E04-B984-461F-BBD6-4C02E0F7860B}" destId="{260A0209-C791-4E23-BA7A-74714FF68851}" srcOrd="6" destOrd="0" presId="urn:microsoft.com/office/officeart/2005/8/layout/vList5"/>
    <dgm:cxn modelId="{18D51BF2-1068-470D-8BA6-EA078CAE46D5}" type="presParOf" srcId="{260A0209-C791-4E23-BA7A-74714FF68851}" destId="{F1349B64-76F0-4C6F-82F4-7196AA3AC19D}" srcOrd="0" destOrd="0" presId="urn:microsoft.com/office/officeart/2005/8/layout/vList5"/>
    <dgm:cxn modelId="{91E6E360-56F8-41F9-8F09-BBD320049C25}" type="presParOf" srcId="{260A0209-C791-4E23-BA7A-74714FF68851}" destId="{DFA94ED6-4FE4-4E42-966F-BF1A651C5F59}" srcOrd="1" destOrd="0" presId="urn:microsoft.com/office/officeart/2005/8/layout/vList5"/>
    <dgm:cxn modelId="{729E58B7-B861-4087-B55D-0D146D3FA1A0}" type="presParOf" srcId="{3F0E4E04-B984-461F-BBD6-4C02E0F7860B}" destId="{A460A106-BD0C-403B-AD4F-AE45903CFC7C}" srcOrd="7" destOrd="0" presId="urn:microsoft.com/office/officeart/2005/8/layout/vList5"/>
    <dgm:cxn modelId="{187FF966-5152-4345-A6D0-CA8CC096B85E}" type="presParOf" srcId="{3F0E4E04-B984-461F-BBD6-4C02E0F7860B}" destId="{9439BBC8-BF6D-4A03-8276-575271633E73}" srcOrd="8" destOrd="0" presId="urn:microsoft.com/office/officeart/2005/8/layout/vList5"/>
    <dgm:cxn modelId="{31A89C52-A0EB-4A40-8E00-6C93F31DBF06}" type="presParOf" srcId="{9439BBC8-BF6D-4A03-8276-575271633E73}" destId="{8C871809-46F7-489C-8322-91E6F3C7C33D}" srcOrd="0" destOrd="0" presId="urn:microsoft.com/office/officeart/2005/8/layout/vList5"/>
    <dgm:cxn modelId="{03E9BB9A-E1E1-46CD-AE60-74E05C0D6E8C}" type="presParOf" srcId="{9439BBC8-BF6D-4A03-8276-575271633E73}" destId="{7B89F309-80DC-46FA-8E0A-2DBDDB49DA1D}" srcOrd="1" destOrd="0" presId="urn:microsoft.com/office/officeart/2005/8/layout/vList5"/>
    <dgm:cxn modelId="{87FCB0AB-3A94-4F0C-9010-88FDDEC7E6F5}" type="presParOf" srcId="{3F0E4E04-B984-461F-BBD6-4C02E0F7860B}" destId="{C4BF4F2A-5712-4241-A93E-6F3F6608874D}" srcOrd="9" destOrd="0" presId="urn:microsoft.com/office/officeart/2005/8/layout/vList5"/>
    <dgm:cxn modelId="{D8E4B5E0-6593-4B4F-8593-0D4EB57C99D6}" type="presParOf" srcId="{3F0E4E04-B984-461F-BBD6-4C02E0F7860B}" destId="{C8E5D18C-CAD0-474A-8BDA-A4B25BA2080A}" srcOrd="10" destOrd="0" presId="urn:microsoft.com/office/officeart/2005/8/layout/vList5"/>
    <dgm:cxn modelId="{0A809D87-9901-4498-8534-8AEEF463B14B}" type="presParOf" srcId="{C8E5D18C-CAD0-474A-8BDA-A4B25BA2080A}" destId="{DA86242C-033E-4625-9293-D21AD9F393C1}" srcOrd="0" destOrd="0" presId="urn:microsoft.com/office/officeart/2005/8/layout/vList5"/>
    <dgm:cxn modelId="{6EA5A3BB-D447-4A27-9E94-44ADDBBDF811}" type="presParOf" srcId="{C8E5D18C-CAD0-474A-8BDA-A4B25BA2080A}" destId="{12B7071B-8DEF-476A-B8D0-96C9490D6196}" srcOrd="1" destOrd="0" presId="urn:microsoft.com/office/officeart/2005/8/layout/vList5"/>
    <dgm:cxn modelId="{A88DAB06-81DA-49AA-86C0-164A3103BB67}" type="presParOf" srcId="{3F0E4E04-B984-461F-BBD6-4C02E0F7860B}" destId="{6B7A3918-B667-4993-93B5-A74513BC31E0}" srcOrd="11" destOrd="0" presId="urn:microsoft.com/office/officeart/2005/8/layout/vList5"/>
    <dgm:cxn modelId="{6D101339-ACEB-4601-9B92-FBED81CD0412}" type="presParOf" srcId="{3F0E4E04-B984-461F-BBD6-4C02E0F7860B}" destId="{677F4B25-24E8-4809-89C8-1CF9AE183428}" srcOrd="12" destOrd="0" presId="urn:microsoft.com/office/officeart/2005/8/layout/vList5"/>
    <dgm:cxn modelId="{9C7624EE-4FA5-45E4-9229-9C747BE81718}" type="presParOf" srcId="{677F4B25-24E8-4809-89C8-1CF9AE183428}" destId="{2BEDD279-7DEC-478C-AED3-D8EBF9B174EE}" srcOrd="0" destOrd="0" presId="urn:microsoft.com/office/officeart/2005/8/layout/vList5"/>
    <dgm:cxn modelId="{26A7A228-7625-4CA3-9046-5424BC1FC8D1}" type="presParOf" srcId="{677F4B25-24E8-4809-89C8-1CF9AE183428}" destId="{42184081-B703-48A1-B3DD-0E9EC31732E5}" srcOrd="1" destOrd="0" presId="urn:microsoft.com/office/officeart/2005/8/layout/vList5"/>
    <dgm:cxn modelId="{23AF2E50-8E23-49C7-BE5A-6A782419CD8F}" type="presParOf" srcId="{3F0E4E04-B984-461F-BBD6-4C02E0F7860B}" destId="{3FDD0C05-21A2-432F-B0CA-D37A38525FF6}" srcOrd="13" destOrd="0" presId="urn:microsoft.com/office/officeart/2005/8/layout/vList5"/>
    <dgm:cxn modelId="{09D55288-C13D-4053-86FB-D723B439F2DE}" type="presParOf" srcId="{3F0E4E04-B984-461F-BBD6-4C02E0F7860B}" destId="{BA868507-6ABF-4428-A222-B4D877FEAC58}" srcOrd="14" destOrd="0" presId="urn:microsoft.com/office/officeart/2005/8/layout/vList5"/>
    <dgm:cxn modelId="{05D316A8-621C-4190-91AB-718B412836D4}" type="presParOf" srcId="{BA868507-6ABF-4428-A222-B4D877FEAC58}" destId="{DCBA8994-BB08-49E3-80DD-D15682CC5F50}" srcOrd="0" destOrd="0" presId="urn:microsoft.com/office/officeart/2005/8/layout/vList5"/>
    <dgm:cxn modelId="{4CA1B0AF-C0F8-4188-8045-DE61E19F344E}" type="presParOf" srcId="{BA868507-6ABF-4428-A222-B4D877FEAC58}" destId="{56108021-3534-4378-BB36-E49A42D1124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D9591-AD7C-49D7-9094-77CEAC4F4FB6}">
      <dsp:nvSpPr>
        <dsp:cNvPr id="0" name=""/>
        <dsp:cNvSpPr/>
      </dsp:nvSpPr>
      <dsp:spPr>
        <a:xfrm rot="5400000">
          <a:off x="4454736" y="-3421623"/>
          <a:ext cx="733978" cy="7577567"/>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is ESRM?</a:t>
          </a:r>
          <a:r>
            <a:rPr lang="en-US" sz="1200" i="0" kern="1200" dirty="0"/>
            <a:t> W</a:t>
          </a:r>
          <a:r>
            <a:rPr lang="en-US" sz="1200" kern="1200" dirty="0"/>
            <a:t>hy Are They Important?, The Engineer’s Survival Guide, Hazard Identification, The Incident Pyramid, The Discovery Approach, Occupational </a:t>
          </a:r>
          <a:r>
            <a:rPr lang="en-US" sz="1200" i="0" kern="1200" dirty="0"/>
            <a:t>Safety and Process (Technical) Safety, Risk as a Function of Likelihood and Consequence, Metrics, Health and Hygiene</a:t>
          </a:r>
        </a:p>
      </dsp:txBody>
      <dsp:txXfrm rot="-5400000">
        <a:off x="1032942" y="36001"/>
        <a:ext cx="7541737" cy="662318"/>
      </dsp:txXfrm>
    </dsp:sp>
    <dsp:sp modelId="{894334F0-A857-4998-B872-5762D0921C21}">
      <dsp:nvSpPr>
        <dsp:cNvPr id="0" name=""/>
        <dsp:cNvSpPr/>
      </dsp:nvSpPr>
      <dsp:spPr>
        <a:xfrm>
          <a:off x="203" y="22373"/>
          <a:ext cx="1032739" cy="68957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a:t>Fundamentals</a:t>
          </a:r>
          <a:endParaRPr lang="en-US" sz="1000" b="1" kern="1200" dirty="0"/>
        </a:p>
      </dsp:txBody>
      <dsp:txXfrm>
        <a:off x="33865" y="56035"/>
        <a:ext cx="965415" cy="622247"/>
      </dsp:txXfrm>
    </dsp:sp>
    <dsp:sp modelId="{73204E57-0164-4968-A5B5-1B9D047DDF6E}">
      <dsp:nvSpPr>
        <dsp:cNvPr id="0" name=""/>
        <dsp:cNvSpPr/>
      </dsp:nvSpPr>
      <dsp:spPr>
        <a:xfrm rot="5400000">
          <a:off x="4545676" y="-2661187"/>
          <a:ext cx="608473" cy="7523439"/>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RM System Elements, Administrative Controls and Work Practices, Engineering Controls, The Business Case for a RM Program</a:t>
          </a:r>
        </a:p>
      </dsp:txBody>
      <dsp:txXfrm rot="-5400000">
        <a:off x="1088194" y="825998"/>
        <a:ext cx="7493736" cy="549067"/>
      </dsp:txXfrm>
    </dsp:sp>
    <dsp:sp modelId="{FC48821B-A805-4B7D-8D33-6DDCAFDC59BB}">
      <dsp:nvSpPr>
        <dsp:cNvPr id="0" name=""/>
        <dsp:cNvSpPr/>
      </dsp:nvSpPr>
      <dsp:spPr>
        <a:xfrm>
          <a:off x="203" y="808073"/>
          <a:ext cx="1087990" cy="584917"/>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RM Program Elements</a:t>
          </a:r>
        </a:p>
      </dsp:txBody>
      <dsp:txXfrm>
        <a:off x="28756" y="836626"/>
        <a:ext cx="1030884" cy="527811"/>
      </dsp:txXfrm>
    </dsp:sp>
    <dsp:sp modelId="{8B6616AE-9BA6-42E6-8368-92157C053B74}">
      <dsp:nvSpPr>
        <dsp:cNvPr id="0" name=""/>
        <dsp:cNvSpPr/>
      </dsp:nvSpPr>
      <dsp:spPr>
        <a:xfrm rot="5400000">
          <a:off x="4513795" y="-1975449"/>
          <a:ext cx="655823" cy="7540551"/>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How Do We Manage Risk?, The RM Work Process, Substandard Practices and Conditions, The Hierarchy of Controls, Risk Matrices, FLRAs, JSAs, SQRAs, Checklists, Bow Tie Analysis, Job Observations, Planned Inspections, Audits, Prevention Through Design, </a:t>
          </a:r>
          <a:r>
            <a:rPr lang="en-US" sz="1200" i="0" kern="1200" dirty="0"/>
            <a:t>What If Analysis</a:t>
          </a:r>
          <a:endParaRPr lang="en-US" sz="1200" kern="1200" dirty="0"/>
        </a:p>
      </dsp:txBody>
      <dsp:txXfrm rot="-5400000">
        <a:off x="1071432" y="1498929"/>
        <a:ext cx="7508536" cy="591793"/>
      </dsp:txXfrm>
    </dsp:sp>
    <dsp:sp modelId="{0B9027F1-592A-4F2E-A3D2-C683E3429CE7}">
      <dsp:nvSpPr>
        <dsp:cNvPr id="0" name=""/>
        <dsp:cNvSpPr/>
      </dsp:nvSpPr>
      <dsp:spPr>
        <a:xfrm>
          <a:off x="0" y="1518413"/>
          <a:ext cx="1071227" cy="579747"/>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RM Tools</a:t>
          </a:r>
        </a:p>
      </dsp:txBody>
      <dsp:txXfrm>
        <a:off x="28301" y="1546714"/>
        <a:ext cx="1014625" cy="523145"/>
      </dsp:txXfrm>
    </dsp:sp>
    <dsp:sp modelId="{DFA94ED6-4FE4-4E42-966F-BF1A651C5F59}">
      <dsp:nvSpPr>
        <dsp:cNvPr id="0" name=""/>
        <dsp:cNvSpPr/>
      </dsp:nvSpPr>
      <dsp:spPr>
        <a:xfrm rot="5400000">
          <a:off x="4603037" y="-1224699"/>
          <a:ext cx="544358" cy="7473940"/>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Why is II important?, PEAP, Cause and Effect Model, Root Cause Analysis, Incident and Near Miss Reporting, Follow Up, Student Team Project &amp; Report</a:t>
          </a:r>
        </a:p>
      </dsp:txBody>
      <dsp:txXfrm rot="-5400000">
        <a:off x="1138247" y="2266664"/>
        <a:ext cx="7447367" cy="491212"/>
      </dsp:txXfrm>
    </dsp:sp>
    <dsp:sp modelId="{F1349B64-76F0-4C6F-82F4-7196AA3AC19D}">
      <dsp:nvSpPr>
        <dsp:cNvPr id="0" name=""/>
        <dsp:cNvSpPr/>
      </dsp:nvSpPr>
      <dsp:spPr>
        <a:xfrm>
          <a:off x="203" y="2184884"/>
          <a:ext cx="1132641" cy="610783"/>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Incident Investigation</a:t>
          </a:r>
        </a:p>
      </dsp:txBody>
      <dsp:txXfrm>
        <a:off x="30019" y="2214700"/>
        <a:ext cx="1073009" cy="551151"/>
      </dsp:txXfrm>
    </dsp:sp>
    <dsp:sp modelId="{7B89F309-80DC-46FA-8E0A-2DBDDB49DA1D}">
      <dsp:nvSpPr>
        <dsp:cNvPr id="0" name=""/>
        <dsp:cNvSpPr/>
      </dsp:nvSpPr>
      <dsp:spPr>
        <a:xfrm rot="5400000">
          <a:off x="4570911" y="-580567"/>
          <a:ext cx="588716" cy="7492976"/>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CA" sz="1200" b="0" kern="1200" dirty="0"/>
            <a:t>Sunrise Propane, Hub Oil, </a:t>
          </a:r>
          <a:r>
            <a:rPr lang="en-CA" sz="1200" b="0" kern="1200" dirty="0" smtClean="0"/>
            <a:t>Imperial </a:t>
          </a:r>
          <a:r>
            <a:rPr lang="en-CA" sz="1200" b="0" kern="1200" dirty="0"/>
            <a:t>Metals Mount </a:t>
          </a:r>
          <a:r>
            <a:rPr lang="en-CA" sz="1200" b="0" kern="1200" dirty="0" err="1"/>
            <a:t>Polley</a:t>
          </a:r>
          <a:r>
            <a:rPr lang="en-CA" sz="1200" b="0" kern="1200" dirty="0"/>
            <a:t>, MMA Lac </a:t>
          </a:r>
          <a:r>
            <a:rPr lang="en-CA" sz="1200" b="0" kern="1200" dirty="0" err="1"/>
            <a:t>Megantic</a:t>
          </a:r>
          <a:r>
            <a:rPr lang="en-CA" sz="1200" b="0" kern="1200" dirty="0"/>
            <a:t>, </a:t>
          </a:r>
          <a:r>
            <a:rPr lang="en-CA" sz="1200" b="0" kern="1200" dirty="0" smtClean="0"/>
            <a:t>UCIL Bhopal, </a:t>
          </a:r>
          <a:r>
            <a:rPr lang="en-CA" sz="1200" b="0" kern="1200" dirty="0" err="1" smtClean="0"/>
            <a:t>Nypro</a:t>
          </a:r>
          <a:r>
            <a:rPr lang="en-CA" sz="1200" b="0" kern="1200" dirty="0" smtClean="0"/>
            <a:t> Works </a:t>
          </a:r>
          <a:r>
            <a:rPr lang="en-CA" sz="1200" b="0" kern="1200" dirty="0" err="1" smtClean="0"/>
            <a:t>Flixborough</a:t>
          </a:r>
          <a:r>
            <a:rPr lang="en-CA" sz="1200" b="0" kern="1200" dirty="0" smtClean="0"/>
            <a:t>, BP </a:t>
          </a:r>
          <a:r>
            <a:rPr lang="en-CA" sz="1200" b="0" kern="1200" dirty="0" err="1" smtClean="0"/>
            <a:t>Macondo</a:t>
          </a:r>
          <a:r>
            <a:rPr lang="en-CA" sz="1200" b="0" kern="1200" dirty="0" smtClean="0"/>
            <a:t> DWH, Boeing 737 Max 8, ALCOA</a:t>
          </a:r>
          <a:endParaRPr lang="en-US" sz="1200" b="0" kern="1200" dirty="0"/>
        </a:p>
      </dsp:txBody>
      <dsp:txXfrm rot="-5400000">
        <a:off x="1118782" y="2900301"/>
        <a:ext cx="7464237" cy="531238"/>
      </dsp:txXfrm>
    </dsp:sp>
    <dsp:sp modelId="{8C871809-46F7-489C-8322-91E6F3C7C33D}">
      <dsp:nvSpPr>
        <dsp:cNvPr id="0" name=""/>
        <dsp:cNvSpPr/>
      </dsp:nvSpPr>
      <dsp:spPr>
        <a:xfrm>
          <a:off x="203" y="2857813"/>
          <a:ext cx="1118577" cy="616214"/>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Case Studies</a:t>
          </a:r>
        </a:p>
      </dsp:txBody>
      <dsp:txXfrm>
        <a:off x="30284" y="2887894"/>
        <a:ext cx="1058415" cy="556052"/>
      </dsp:txXfrm>
    </dsp:sp>
    <dsp:sp modelId="{12B7071B-8DEF-476A-B8D0-96C9490D6196}">
      <dsp:nvSpPr>
        <dsp:cNvPr id="0" name=""/>
        <dsp:cNvSpPr/>
      </dsp:nvSpPr>
      <dsp:spPr>
        <a:xfrm rot="5400000">
          <a:off x="4608222" y="94346"/>
          <a:ext cx="555425" cy="7439082"/>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Why is Leadership Important?, Safety Culture, Personal Iceberg, ABC, and Training Models, Plan-Do-Check-Act, Application of the ESG, </a:t>
          </a:r>
          <a:r>
            <a:rPr lang="en-US" sz="1200" b="0" i="0" kern="1200" dirty="0"/>
            <a:t>Risk Communication</a:t>
          </a:r>
        </a:p>
      </dsp:txBody>
      <dsp:txXfrm rot="-5400000">
        <a:off x="1166394" y="3563288"/>
        <a:ext cx="7411968" cy="501197"/>
      </dsp:txXfrm>
    </dsp:sp>
    <dsp:sp modelId="{DA86242C-033E-4625-9293-D21AD9F393C1}">
      <dsp:nvSpPr>
        <dsp:cNvPr id="0" name=""/>
        <dsp:cNvSpPr/>
      </dsp:nvSpPr>
      <dsp:spPr>
        <a:xfrm>
          <a:off x="203" y="3536567"/>
          <a:ext cx="1166190" cy="5546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Leadership in RM</a:t>
          </a:r>
        </a:p>
      </dsp:txBody>
      <dsp:txXfrm>
        <a:off x="27278" y="3563642"/>
        <a:ext cx="1112040" cy="500490"/>
      </dsp:txXfrm>
    </dsp:sp>
    <dsp:sp modelId="{42184081-B703-48A1-B3DD-0E9EC31732E5}">
      <dsp:nvSpPr>
        <dsp:cNvPr id="0" name=""/>
        <dsp:cNvSpPr/>
      </dsp:nvSpPr>
      <dsp:spPr>
        <a:xfrm rot="5400000">
          <a:off x="4613868" y="711569"/>
          <a:ext cx="528698" cy="7457289"/>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Occupational Health and Safety in Canada and Alberta, WCB in Alberta, Due Diligence for Engineers, Professionalism and Ethics </a:t>
          </a:r>
        </a:p>
      </dsp:txBody>
      <dsp:txXfrm rot="-5400000">
        <a:off x="1149573" y="4201674"/>
        <a:ext cx="7431480" cy="477080"/>
      </dsp:txXfrm>
    </dsp:sp>
    <dsp:sp modelId="{2BEDD279-7DEC-478C-AED3-D8EBF9B174EE}">
      <dsp:nvSpPr>
        <dsp:cNvPr id="0" name=""/>
        <dsp:cNvSpPr/>
      </dsp:nvSpPr>
      <dsp:spPr>
        <a:xfrm>
          <a:off x="203" y="4153746"/>
          <a:ext cx="1149369" cy="572936"/>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Legal &amp; Ethical Aspects</a:t>
          </a:r>
        </a:p>
      </dsp:txBody>
      <dsp:txXfrm>
        <a:off x="28171" y="4181714"/>
        <a:ext cx="1093433" cy="517000"/>
      </dsp:txXfrm>
    </dsp:sp>
    <dsp:sp modelId="{56108021-3534-4378-BB36-E49A42D11245}">
      <dsp:nvSpPr>
        <dsp:cNvPr id="0" name=""/>
        <dsp:cNvSpPr/>
      </dsp:nvSpPr>
      <dsp:spPr>
        <a:xfrm rot="5400000">
          <a:off x="4497773" y="1403243"/>
          <a:ext cx="621201" cy="7392370"/>
        </a:xfrm>
        <a:prstGeom prst="round2SameRect">
          <a:avLst/>
        </a:prstGeom>
        <a:solidFill>
          <a:schemeClr val="accent2">
            <a:alpha val="90000"/>
            <a:tint val="40000"/>
            <a:hueOff val="0"/>
            <a:satOff val="0"/>
            <a:lumOff val="0"/>
            <a:alphaOff val="0"/>
          </a:schemeClr>
        </a:solidFill>
        <a:ln w="9525" cap="flat" cmpd="sng" algn="ctr">
          <a:solidFill>
            <a:schemeClr val="accent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b="0" kern="1200" dirty="0"/>
            <a:t>Guest Lectures from Magna IV Engineering, PCL Construction, AB Justice, WCB, Imperial Oil, BBA Engineering, Director of the School of ESRM</a:t>
          </a:r>
        </a:p>
      </dsp:txBody>
      <dsp:txXfrm rot="-5400000">
        <a:off x="1112189" y="4819153"/>
        <a:ext cx="7362045" cy="560551"/>
      </dsp:txXfrm>
    </dsp:sp>
    <dsp:sp modelId="{DCBA8994-BB08-49E3-80DD-D15682CC5F50}">
      <dsp:nvSpPr>
        <dsp:cNvPr id="0" name=""/>
        <dsp:cNvSpPr/>
      </dsp:nvSpPr>
      <dsp:spPr>
        <a:xfrm>
          <a:off x="203" y="4855736"/>
          <a:ext cx="1111984" cy="487386"/>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US" sz="1000" b="1" kern="1200" dirty="0"/>
            <a:t>Industry &amp; Gov’t Engagement</a:t>
          </a:r>
        </a:p>
      </dsp:txBody>
      <dsp:txXfrm>
        <a:off x="23995" y="4879528"/>
        <a:ext cx="1064400" cy="43980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5/2/2022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5/2/2022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980647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7959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843536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994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4277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7528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0730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3146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0853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410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711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6270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0707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5496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5331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9279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7967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5943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7176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2511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8117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73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7078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036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9618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322711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5/2/2022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481806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418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478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Arial"/>
                <a:sym typeface="Arial"/>
              </a:rPr>
              <a:pPr marL="0" marR="0" lvl="0" indent="0" algn="l" defTabSz="914400" rtl="0" eaLnBrk="1" fontAlgn="base" latinLnBrk="0" hangingPunct="1">
                <a:lnSpc>
                  <a:spcPct val="100000"/>
                </a:lnSpc>
                <a:spcBef>
                  <a:spcPct val="0"/>
                </a:spcBef>
                <a:spcAft>
                  <a:spcPct val="0"/>
                </a:spcAft>
                <a:buClrTx/>
                <a:buSzTx/>
                <a:buFontTx/>
                <a:buNone/>
                <a:tabLst/>
                <a:defRPr/>
              </a:pPr>
              <a:t>5/2/2022</a:t>
            </a:fld>
            <a:endParaRPr kumimoji="0" lang="en-US" sz="1800" b="1" i="0" u="none" strike="noStrike" kern="1200" cap="none" spc="0" normalizeH="0" baseline="0" noProof="0">
              <a:ln>
                <a:noFill/>
              </a:ln>
              <a:solidFill>
                <a:srgbClr val="000000"/>
              </a:solidFill>
              <a:effectLst/>
              <a:uLnTx/>
              <a:uFillTx/>
              <a:latin typeface="Arial" charset="0"/>
              <a:ea typeface="+mn-ea"/>
              <a:cs typeface="Arial"/>
              <a:sym typeface="Arial"/>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a:sym typeface="Arial"/>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Arial"/>
                <a:sym typeface="Arial"/>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Arial"/>
              <a:sym typeface="Arial"/>
            </a:endParaRPr>
          </a:p>
        </p:txBody>
      </p:sp>
    </p:spTree>
    <p:extLst>
      <p:ext uri="{BB962C8B-B14F-4D97-AF65-F5344CB8AC3E}">
        <p14:creationId xmlns:p14="http://schemas.microsoft.com/office/powerpoint/2010/main" val="87219138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662991"/>
      </p:ext>
    </p:extLst>
  </p:cSld>
  <p:clrMap bg1="lt1" tx1="dk1" bg2="lt2" tx2="dk2" accent1="accent1" accent2="accent2" accent3="accent3" accent4="accent4" accent5="accent5" accent6="accent6" hlink="hlink" folHlink="folHlink"/>
  <p:sldLayoutIdLst>
    <p:sldLayoutId id="2147484175" r:id="rId1"/>
    <p:sldLayoutId id="2147484176" r:id="rId2"/>
    <p:sldLayoutId id="2147484177" r:id="rId3"/>
    <p:sldLayoutId id="2147484178"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ualberta.ca/governance/resources/policies-standards-and-codes-of-conduct/code-of-student-behaviour"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a:t>
            </a:r>
            <a:r>
              <a:rPr kumimoji="0" lang="en-US"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3367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Your Quick-start Guide to ENGG404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Expectations</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Course Syllabus, Course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Plan, and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Exam</a:t>
            </a:r>
          </a:p>
          <a:p>
            <a:pPr marL="0" indent="0" algn="ctr" eaLnBrk="1" hangingPunct="1">
              <a:spcBef>
                <a:spcPct val="0"/>
              </a:spcBef>
              <a:buNone/>
            </a:pPr>
            <a:endParaRPr lang="en-US" altLang="en-US" sz="1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endParaRPr lang="en-US" altLang="en-US" sz="1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Instructions to Lecturer:</a:t>
            </a:r>
          </a:p>
          <a:p>
            <a:pPr marL="0" indent="0" algn="ctr" eaLnBrk="1" hangingPunct="1">
              <a:spcBef>
                <a:spcPct val="0"/>
              </a:spcBef>
              <a:buNone/>
            </a:pP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Tee-up PPT if using it.</a:t>
            </a:r>
          </a:p>
          <a:p>
            <a:pPr marL="0" indent="0" algn="ctr" eaLnBrk="1" hangingPunct="1">
              <a:spcBef>
                <a:spcPct val="0"/>
              </a:spcBef>
              <a:buNone/>
            </a:pP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Tee-up </a:t>
            </a:r>
            <a:r>
              <a:rPr lang="en-US" altLang="en-US" sz="1200" i="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Mentimeter</a:t>
            </a: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p>
          <a:p>
            <a:pPr marL="0" indent="0" algn="ctr" eaLnBrk="1" hangingPunct="1">
              <a:spcBef>
                <a:spcPct val="0"/>
              </a:spcBef>
              <a:buNone/>
            </a:pP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Tee-up </a:t>
            </a:r>
            <a:r>
              <a:rPr lang="en-US" altLang="en-US" sz="1200" i="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sz="12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chemeClr val="bg1"/>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17126824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Tx/>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end of this topic, you will be able to:</a:t>
            </a:r>
          </a:p>
          <a:p>
            <a:pPr marL="0" lvl="0" indent="0" eaLnBrk="0" hangingPunct="0">
              <a:lnSpc>
                <a:spcPct val="90000"/>
              </a:lnSpc>
              <a:spcBef>
                <a:spcPts val="0"/>
              </a:spcBef>
              <a:buClrTx/>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this course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different from a typical engineering course.</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key points in 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Course Syllabus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Marking Scheme and Deductions</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Final Letter Grade</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Course Level Learning Outcomes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Navigate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this course</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Access and explain 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Course Plan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the deadlines. </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Access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ENGG404 Student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Resources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shared drive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how PPT topics are presented.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using </a:t>
            </a:r>
            <a:r>
              <a:rPr lang="en-US" altLang="en-US"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Mentimeter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870841905"/>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2784156653"/>
              </p:ext>
            </p:extLst>
          </p:nvPr>
        </p:nvGraphicFramePr>
        <p:xfrm>
          <a:off x="227013" y="762000"/>
          <a:ext cx="8612187"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Rectangle 2"/>
          <p:cNvSpPr>
            <a:spLocks noChangeArrowheads="1"/>
          </p:cNvSpPr>
          <p:nvPr/>
        </p:nvSpPr>
        <p:spPr bwMode="auto">
          <a:xfrm>
            <a:off x="227013" y="227013"/>
            <a:ext cx="8688387"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r>
              <a:rPr lang="en-US" altLang="en-US" b="0" dirty="0">
                <a:solidFill>
                  <a:schemeClr val="accent2"/>
                </a:solidFill>
                <a:latin typeface="Calibri" pitchFamily="34" charset="0"/>
                <a:ea typeface="+mj-ea"/>
                <a:cs typeface="+mj-cs"/>
              </a:rPr>
              <a:t>ENGG404 Course </a:t>
            </a:r>
            <a:r>
              <a:rPr lang="en-US" altLang="en-US" b="0" dirty="0" smtClean="0">
                <a:solidFill>
                  <a:schemeClr val="accent2"/>
                </a:solidFill>
                <a:latin typeface="Calibri" pitchFamily="34" charset="0"/>
                <a:ea typeface="+mj-ea"/>
                <a:cs typeface="+mj-cs"/>
              </a:rPr>
              <a:t>One-page Overview</a:t>
            </a:r>
            <a:endParaRPr lang="en-US" altLang="en-US" b="0" dirty="0">
              <a:solidFill>
                <a:schemeClr val="accent2"/>
              </a:solidFill>
              <a:latin typeface="Calibri" pitchFamily="34" charset="0"/>
              <a:ea typeface="+mj-ea"/>
              <a:cs typeface="+mj-cs"/>
            </a:endParaRPr>
          </a:p>
        </p:txBody>
      </p:sp>
      <p:sp>
        <p:nvSpPr>
          <p:cNvPr id="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72155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8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Key Differences!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Case Study Methodology</a:t>
            </a:r>
          </a:p>
          <a:p>
            <a:pPr marL="54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No complex formula - any calculations are basic arithmetic.</a:t>
            </a:r>
          </a:p>
          <a:p>
            <a:pPr marL="54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US" altLang="en-US" sz="1800" b="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No absolute right or wrong answer.</a:t>
            </a:r>
          </a:p>
          <a:p>
            <a:pPr marL="54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Apply sound principles, practices, and rationale of engineering, and leadership in risk management to support your position</a:t>
            </a:r>
          </a:p>
          <a:p>
            <a:pPr marL="54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Lots of examples to work through in this course</a:t>
            </a:r>
            <a:endParaRPr kumimoji="0" lang="en-US"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US" altLang="en-US" sz="1800" b="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Blended Learning Format: </a:t>
            </a:r>
          </a:p>
          <a:p>
            <a:pPr marL="540000" indent="-360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Requires students to prepare ahead of lectures</a:t>
            </a:r>
          </a:p>
          <a:p>
            <a:pPr marL="720000" indent="-360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Review lecture PPTs and/or textbook, review videos or readings</a:t>
            </a:r>
          </a:p>
          <a:p>
            <a:pPr marL="540000" indent="-360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Respond to on-line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eClass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quizzes BEFORE the lectures</a:t>
            </a:r>
          </a:p>
          <a:p>
            <a:pPr marL="720000" indent="-360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Designed to motivate the student to prepare ahead of lectures, NOT assess after lectures</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Active Learning Exercises</a:t>
            </a:r>
          </a:p>
          <a:p>
            <a:pPr marL="720000" marR="0" lvl="0" indent="-360000" defTabSz="914400" eaLnBrk="0" latinLnBrk="0" hangingPunct="0">
              <a:lnSpc>
                <a:spcPct val="90000"/>
              </a:lnSpc>
              <a:spcBef>
                <a:spcPts val="0"/>
              </a:spcBef>
              <a:buClrTx/>
              <a:buSzPct val="100000"/>
              <a:buFont typeface="Wingdings" panose="05000000000000000000" pitchFamily="2" charset="2"/>
              <a:buChar char="Ø"/>
              <a:tabLst/>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In-class, designed to engage students and to self-assess (not graded)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This Course is Different – Case</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 Study and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Blended Learning!</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6856880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Welcome to Leadership in Risk Management</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kern="0" dirty="0">
                <a:solidFill>
                  <a:srgbClr val="000000"/>
                </a:solidFill>
                <a:latin typeface="Arial"/>
                <a:cs typeface="Arial"/>
                <a:sym typeface="Arial"/>
              </a:rPr>
              <a:t>“As future </a:t>
            </a:r>
            <a:r>
              <a:rPr lang="en-US" u="sng" kern="0" dirty="0">
                <a:solidFill>
                  <a:srgbClr val="000000"/>
                </a:solidFill>
                <a:latin typeface="Arial"/>
                <a:cs typeface="Arial"/>
                <a:sym typeface="Arial"/>
              </a:rPr>
              <a:t>engineering and business leaders</a:t>
            </a:r>
            <a:r>
              <a:rPr lang="en-US" kern="0" dirty="0">
                <a:solidFill>
                  <a:srgbClr val="000000"/>
                </a:solidFill>
                <a:latin typeface="Arial"/>
                <a:cs typeface="Arial"/>
                <a:sym typeface="Arial"/>
              </a:rPr>
              <a:t>, you will be confronted with a </a:t>
            </a:r>
            <a:r>
              <a:rPr lang="en-US" u="sng" kern="0" dirty="0">
                <a:solidFill>
                  <a:srgbClr val="000000"/>
                </a:solidFill>
                <a:latin typeface="Arial"/>
                <a:cs typeface="Arial"/>
                <a:sym typeface="Arial"/>
              </a:rPr>
              <a:t>myriad of risks</a:t>
            </a:r>
            <a:r>
              <a:rPr lang="en-US" kern="0" dirty="0">
                <a:solidFill>
                  <a:srgbClr val="000000"/>
                </a:solidFill>
                <a:latin typeface="Arial"/>
                <a:cs typeface="Arial"/>
                <a:sym typeface="Arial"/>
              </a:rPr>
              <a:t> …</a:t>
            </a:r>
            <a:endParaRPr lang="en-US"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kern="0" dirty="0">
                <a:solidFill>
                  <a:srgbClr val="000000"/>
                </a:solidFill>
                <a:latin typeface="Arial"/>
                <a:cs typeface="Arial"/>
                <a:sym typeface="Arial"/>
              </a:rPr>
              <a:t>Your job will be to manage those risks — all of them. </a:t>
            </a:r>
            <a:endParaRPr lang="en-US"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cs typeface="Arial"/>
                <a:sym typeface="Arial"/>
              </a:rPr>
              <a:t>As you will see in this course, engineers are in the business of risk management. Our intent is to broaden your view and </a:t>
            </a:r>
            <a:r>
              <a:rPr lang="en-US" b="0" kern="0" dirty="0" smtClean="0">
                <a:solidFill>
                  <a:srgbClr val="000000"/>
                </a:solidFill>
                <a:latin typeface="Arial"/>
                <a:cs typeface="Arial"/>
                <a:sym typeface="Arial"/>
              </a:rPr>
              <a:t>develop your </a:t>
            </a:r>
            <a:r>
              <a:rPr lang="en-US" b="0" kern="0" dirty="0">
                <a:solidFill>
                  <a:srgbClr val="000000"/>
                </a:solidFill>
                <a:latin typeface="Arial"/>
                <a:cs typeface="Arial"/>
                <a:sym typeface="Arial"/>
              </a:rPr>
              <a:t>leadership capability in risk management toward supporting your successful engineering career. Leading organizations in the field of risk management comment “As future engineering and business leaders, you will be confronted with a myriad of risk. Your job will be to manage those risks — all of them.”</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3685835"/>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Class and Instructor Information:</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School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Engineering Safety and Risk Management:</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7" name="Google Shape;129;p4"/>
          <p:cNvSpPr/>
          <p:nvPr/>
        </p:nvSpPr>
        <p:spPr>
          <a:xfrm>
            <a:off x="1103223" y="2064682"/>
            <a:ext cx="3051196" cy="685799"/>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Professor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Winkel</a:t>
            </a:r>
            <a: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t>, </a:t>
            </a:r>
            <a:b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br>
            <a:r>
              <a:rPr kumimoji="0" lang="en-US" sz="1200" b="0" i="0" u="none" strike="noStrike" kern="0" cap="none" spc="0" normalizeH="0" baseline="0" noProof="0" dirty="0" err="1" smtClean="0">
                <a:ln>
                  <a:noFill/>
                </a:ln>
                <a:solidFill>
                  <a:srgbClr val="000000"/>
                </a:solidFill>
                <a:effectLst/>
                <a:uLnTx/>
                <a:uFillTx/>
                <a:latin typeface="Arial"/>
                <a:ea typeface="Arial"/>
                <a:cs typeface="Arial"/>
                <a:sym typeface="Arial"/>
              </a:rPr>
              <a:t>P.Eng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M.Sc.Eng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t>Chair</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0" name="Google Shape;130;p4"/>
          <p:cNvSpPr/>
          <p:nvPr/>
        </p:nvSpPr>
        <p:spPr>
          <a:xfrm>
            <a:off x="2434062" y="4003936"/>
            <a:ext cx="1720357" cy="730885"/>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Dr. Lefsrud, </a:t>
            </a:r>
            <a:br>
              <a:rPr kumimoji="0" lang="en-US" sz="1200" b="0" i="0" u="none" strike="noStrike" kern="0" cap="none" spc="0" normalizeH="0" baseline="0" noProof="0">
                <a:ln>
                  <a:noFill/>
                </a:ln>
                <a:solidFill>
                  <a:srgbClr val="000000"/>
                </a:solidFill>
                <a:effectLst/>
                <a:uLnTx/>
                <a:uFillTx/>
                <a:latin typeface="Arial"/>
                <a:ea typeface="Arial"/>
                <a:cs typeface="Arial"/>
                <a:sym typeface="Arial"/>
              </a:rPr>
            </a:b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PhD, P.Eng.;</a:t>
            </a:r>
            <a:endParaRPr kumimoji="0" sz="1200" b="0" i="0" u="none" strike="noStrike" kern="0" cap="none" spc="0" normalizeH="0" baseline="0" noProof="0">
              <a:ln>
                <a:noFill/>
              </a:ln>
              <a:solidFill>
                <a:srgbClr val="463634"/>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000000"/>
                </a:solidFill>
                <a:effectLst/>
                <a:uLnTx/>
                <a:uFillTx/>
                <a:latin typeface="Arial"/>
                <a:ea typeface="Arial"/>
                <a:cs typeface="Arial"/>
                <a:sym typeface="Arial"/>
              </a:rPr>
              <a:t>Assistant Professor</a:t>
            </a:r>
            <a:endParaRPr kumimoji="0" sz="1200" b="0" i="0" u="none" strike="noStrike" kern="0" cap="none" spc="0" normalizeH="0" baseline="0" noProof="0">
              <a:ln>
                <a:noFill/>
              </a:ln>
              <a:solidFill>
                <a:srgbClr val="463634"/>
              </a:solidFill>
              <a:effectLst/>
              <a:uLnTx/>
              <a:uFillTx/>
              <a:latin typeface="Arial"/>
              <a:ea typeface="Arial"/>
              <a:cs typeface="Arial"/>
              <a:sym typeface="Arial"/>
            </a:endParaRPr>
          </a:p>
        </p:txBody>
      </p:sp>
      <p:sp>
        <p:nvSpPr>
          <p:cNvPr id="11" name="Google Shape;131;p4"/>
          <p:cNvSpPr/>
          <p:nvPr/>
        </p:nvSpPr>
        <p:spPr>
          <a:xfrm>
            <a:off x="429849" y="4008263"/>
            <a:ext cx="1720357" cy="730885"/>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Professor Cocchio, </a:t>
            </a:r>
            <a:endPar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t>P</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Eng., MBA;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Industrial Professor</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4" name="Google Shape;132;p4"/>
          <p:cNvSpPr/>
          <p:nvPr/>
        </p:nvSpPr>
        <p:spPr>
          <a:xfrm>
            <a:off x="6435532" y="3993515"/>
            <a:ext cx="1720357" cy="730885"/>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Dr. White, </a:t>
            </a:r>
            <a:b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PhD,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P.Eng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Industrial Professor</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 name="Google Shape;133;p4"/>
          <p:cNvSpPr/>
          <p:nvPr/>
        </p:nvSpPr>
        <p:spPr>
          <a:xfrm>
            <a:off x="4431319" y="4000170"/>
            <a:ext cx="1720357" cy="730885"/>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Dr.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Macciotta</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a:t>
            </a:r>
            <a:b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PhD,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P.Eng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Industrial Professor</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6" name="Google Shape;134;p4"/>
          <p:cNvSpPr/>
          <p:nvPr/>
        </p:nvSpPr>
        <p:spPr>
          <a:xfrm>
            <a:off x="4431319" y="2071033"/>
            <a:ext cx="2585910" cy="679449"/>
          </a:xfrm>
          <a:prstGeom prst="rect">
            <a:avLst/>
          </a:prstGeom>
          <a:solidFill>
            <a:srgbClr val="FFFFFF"/>
          </a:solid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Professor Coles, </a:t>
            </a:r>
            <a: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t/>
            </a:r>
            <a:b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br>
            <a:r>
              <a:rPr kumimoji="0" lang="en-US" sz="1200" b="0" i="0" u="none" strike="noStrike" kern="0" cap="none" spc="0" normalizeH="0" baseline="0" noProof="0" dirty="0" err="1" smtClean="0">
                <a:ln>
                  <a:noFill/>
                </a:ln>
                <a:solidFill>
                  <a:srgbClr val="000000"/>
                </a:solidFill>
                <a:effectLst/>
                <a:uLnTx/>
                <a:uFillTx/>
                <a:latin typeface="Arial"/>
                <a:ea typeface="Arial"/>
                <a:cs typeface="Arial"/>
                <a:sym typeface="Arial"/>
              </a:rPr>
              <a:t>P.Eng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a:t>
            </a:r>
            <a:r>
              <a:rPr kumimoji="0" lang="en-US" sz="1200" b="0" i="0" u="none" strike="noStrike" kern="0" cap="none" spc="0" normalizeH="0" baseline="0" noProof="0" dirty="0" err="1">
                <a:ln>
                  <a:noFill/>
                </a:ln>
                <a:solidFill>
                  <a:srgbClr val="000000"/>
                </a:solidFill>
                <a:effectLst/>
                <a:uLnTx/>
                <a:uFillTx/>
                <a:latin typeface="Arial"/>
                <a:ea typeface="Arial"/>
                <a:cs typeface="Arial"/>
                <a:sym typeface="Arial"/>
              </a:rPr>
              <a:t>M.Eng</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smtClean="0">
                <a:ln>
                  <a:noFill/>
                </a:ln>
                <a:solidFill>
                  <a:srgbClr val="000000"/>
                </a:solidFill>
                <a:effectLst/>
                <a:uLnTx/>
                <a:uFillTx/>
                <a:latin typeface="Arial"/>
                <a:ea typeface="Arial"/>
                <a:cs typeface="Arial"/>
                <a:sym typeface="Arial"/>
              </a:rPr>
              <a:t>Director</a:t>
            </a: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 Industrial Professor</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7" name="Google Shape;135;p4"/>
          <p:cNvCxnSpPr>
            <a:stCxn id="16" idx="2"/>
            <a:endCxn id="15" idx="0"/>
          </p:cNvCxnSpPr>
          <p:nvPr/>
        </p:nvCxnSpPr>
        <p:spPr>
          <a:xfrm rot="5400000">
            <a:off x="4883042" y="3158938"/>
            <a:ext cx="1249688" cy="432776"/>
          </a:xfrm>
          <a:prstGeom prst="bentConnector3">
            <a:avLst>
              <a:gd name="adj1" fmla="val 50000"/>
            </a:avLst>
          </a:prstGeom>
          <a:solidFill>
            <a:schemeClr val="accent1"/>
          </a:solidFill>
          <a:ln w="28575" cap="flat" cmpd="sng">
            <a:solidFill>
              <a:schemeClr val="lt2"/>
            </a:solidFill>
            <a:prstDash val="solid"/>
            <a:round/>
            <a:headEnd type="none" w="sm" len="sm"/>
            <a:tailEnd type="none" w="sm" len="sm"/>
          </a:ln>
        </p:spPr>
      </p:cxnSp>
      <p:cxnSp>
        <p:nvCxnSpPr>
          <p:cNvPr id="18" name="Google Shape;136;p4"/>
          <p:cNvCxnSpPr>
            <a:stCxn id="7" idx="2"/>
            <a:endCxn id="14" idx="0"/>
          </p:cNvCxnSpPr>
          <p:nvPr/>
        </p:nvCxnSpPr>
        <p:spPr>
          <a:xfrm rot="16200000" flipH="1">
            <a:off x="4340749" y="1038553"/>
            <a:ext cx="1243034" cy="4666890"/>
          </a:xfrm>
          <a:prstGeom prst="bentConnector3">
            <a:avLst>
              <a:gd name="adj1" fmla="val 50000"/>
            </a:avLst>
          </a:prstGeom>
          <a:solidFill>
            <a:schemeClr val="accent1"/>
          </a:solidFill>
          <a:ln w="28575" cap="flat" cmpd="sng">
            <a:solidFill>
              <a:schemeClr val="lt2"/>
            </a:solidFill>
            <a:prstDash val="solid"/>
            <a:round/>
            <a:headEnd type="none" w="sm" len="sm"/>
            <a:tailEnd type="none" w="sm" len="sm"/>
          </a:ln>
        </p:spPr>
      </p:cxnSp>
      <p:cxnSp>
        <p:nvCxnSpPr>
          <p:cNvPr id="19" name="Google Shape;137;p4"/>
          <p:cNvCxnSpPr>
            <a:stCxn id="11" idx="0"/>
            <a:endCxn id="16" idx="2"/>
          </p:cNvCxnSpPr>
          <p:nvPr/>
        </p:nvCxnSpPr>
        <p:spPr>
          <a:xfrm rot="5400000" flipH="1" flipV="1">
            <a:off x="2878261" y="1162250"/>
            <a:ext cx="1257781" cy="4434246"/>
          </a:xfrm>
          <a:prstGeom prst="bentConnector3">
            <a:avLst>
              <a:gd name="adj1" fmla="val 50000"/>
            </a:avLst>
          </a:prstGeom>
          <a:solidFill>
            <a:schemeClr val="accent1"/>
          </a:solidFill>
          <a:ln w="28575" cap="flat" cmpd="sng">
            <a:solidFill>
              <a:schemeClr val="lt2"/>
            </a:solidFill>
            <a:prstDash val="solid"/>
            <a:round/>
            <a:headEnd type="none" w="sm" len="sm"/>
            <a:tailEnd type="none" w="sm" len="sm"/>
          </a:ln>
        </p:spPr>
      </p:cxnSp>
      <p:cxnSp>
        <p:nvCxnSpPr>
          <p:cNvPr id="20" name="Google Shape;138;p4"/>
          <p:cNvCxnSpPr>
            <a:stCxn id="14" idx="0"/>
            <a:endCxn id="7" idx="2"/>
          </p:cNvCxnSpPr>
          <p:nvPr/>
        </p:nvCxnSpPr>
        <p:spPr>
          <a:xfrm rot="16200000" flipV="1">
            <a:off x="4340749" y="1038553"/>
            <a:ext cx="1243034" cy="4666890"/>
          </a:xfrm>
          <a:prstGeom prst="bentConnector3">
            <a:avLst>
              <a:gd name="adj1" fmla="val 50000"/>
            </a:avLst>
          </a:prstGeom>
          <a:solidFill>
            <a:schemeClr val="accent1"/>
          </a:solidFill>
          <a:ln w="28575" cap="flat" cmpd="sng">
            <a:solidFill>
              <a:schemeClr val="lt2"/>
            </a:solidFill>
            <a:prstDash val="solid"/>
            <a:round/>
            <a:headEnd type="none" w="sm" len="sm"/>
            <a:tailEnd type="none" w="sm" len="sm"/>
          </a:ln>
        </p:spPr>
      </p:cxnSp>
      <p:cxnSp>
        <p:nvCxnSpPr>
          <p:cNvPr id="21" name="Google Shape;139;p4"/>
          <p:cNvCxnSpPr>
            <a:stCxn id="10" idx="0"/>
            <a:endCxn id="7" idx="2"/>
          </p:cNvCxnSpPr>
          <p:nvPr/>
        </p:nvCxnSpPr>
        <p:spPr>
          <a:xfrm rot="16200000" flipV="1">
            <a:off x="2334804" y="3044499"/>
            <a:ext cx="1253455" cy="665420"/>
          </a:xfrm>
          <a:prstGeom prst="bentConnector3">
            <a:avLst>
              <a:gd name="adj1" fmla="val 50000"/>
            </a:avLst>
          </a:prstGeom>
          <a:solidFill>
            <a:schemeClr val="accent1"/>
          </a:solidFill>
          <a:ln w="28575" cap="flat" cmpd="sng">
            <a:solidFill>
              <a:schemeClr val="lt2"/>
            </a:solidFill>
            <a:prstDash val="solid"/>
            <a:round/>
            <a:headEnd type="none" w="sm" len="sm"/>
            <a:tailEnd type="none" w="sm" len="sm"/>
          </a:ln>
        </p:spPr>
      </p:cxnSp>
      <p:cxnSp>
        <p:nvCxnSpPr>
          <p:cNvPr id="83" name="Google Shape;137;p4"/>
          <p:cNvCxnSpPr>
            <a:stCxn id="7" idx="3"/>
            <a:endCxn id="16" idx="1"/>
          </p:cNvCxnSpPr>
          <p:nvPr/>
        </p:nvCxnSpPr>
        <p:spPr>
          <a:xfrm>
            <a:off x="4154419" y="2407582"/>
            <a:ext cx="276900" cy="3176"/>
          </a:xfrm>
          <a:prstGeom prst="bentConnector3">
            <a:avLst>
              <a:gd name="adj1" fmla="val 50000"/>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521369644"/>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srgbClr val="000000"/>
              </a:buClr>
              <a:buSzPts val="2000"/>
              <a:buNone/>
              <a:defRPr/>
            </a:pPr>
            <a:r>
              <a:rPr lang="en-US" kern="0" dirty="0" smtClean="0">
                <a:solidFill>
                  <a:srgbClr val="000000"/>
                </a:solidFill>
                <a:latin typeface="Arial"/>
                <a:ea typeface="Arial"/>
                <a:cs typeface="Arial"/>
                <a:sym typeface="Arial"/>
              </a:rPr>
              <a:t>Course </a:t>
            </a:r>
            <a:r>
              <a:rPr lang="en-US" kern="0" dirty="0">
                <a:solidFill>
                  <a:srgbClr val="000000"/>
                </a:solidFill>
                <a:latin typeface="Arial"/>
                <a:ea typeface="Arial"/>
                <a:cs typeface="Arial"/>
                <a:sym typeface="Arial"/>
              </a:rPr>
              <a:t>Information: </a:t>
            </a:r>
            <a:endParaRPr lang="en-US" sz="140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0" lvl="0" indent="0" fontAlgn="auto">
              <a:lnSpc>
                <a:spcPct val="100000"/>
              </a:lnSpc>
              <a:spcBef>
                <a:spcPts val="0"/>
              </a:spcBef>
              <a:spcAft>
                <a:spcPts val="0"/>
              </a:spcAft>
              <a:buClr>
                <a:srgbClr val="000000"/>
              </a:buClr>
              <a:buSzPts val="2000"/>
              <a:buNone/>
              <a:defRPr/>
            </a:pPr>
            <a:r>
              <a:rPr lang="en-US" b="0" u="sng" kern="0" dirty="0">
                <a:solidFill>
                  <a:srgbClr val="000000"/>
                </a:solidFill>
                <a:latin typeface="Arial"/>
                <a:ea typeface="Arial"/>
                <a:cs typeface="Arial"/>
                <a:sym typeface="Arial"/>
              </a:rPr>
              <a:t>Most questions pertain to:</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Marks </a:t>
            </a:r>
            <a:r>
              <a:rPr lang="en-US" b="0" kern="0" dirty="0">
                <a:solidFill>
                  <a:srgbClr val="000000"/>
                </a:solidFill>
                <a:latin typeface="Arial"/>
                <a:ea typeface="Arial"/>
                <a:cs typeface="Arial"/>
                <a:sym typeface="Arial"/>
              </a:rPr>
              <a:t>and Deductions</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Course </a:t>
            </a:r>
            <a:r>
              <a:rPr lang="en-US" b="0" kern="0" dirty="0">
                <a:solidFill>
                  <a:srgbClr val="000000"/>
                </a:solidFill>
                <a:latin typeface="Arial"/>
                <a:ea typeface="Arial"/>
                <a:cs typeface="Arial"/>
                <a:sym typeface="Arial"/>
              </a:rPr>
              <a:t>Plan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err="1" smtClean="0">
                <a:solidFill>
                  <a:srgbClr val="000000"/>
                </a:solidFill>
                <a:latin typeface="Arial"/>
                <a:ea typeface="Arial"/>
                <a:cs typeface="Arial"/>
                <a:sym typeface="Arial"/>
              </a:rPr>
              <a:t>eClass</a:t>
            </a:r>
            <a:r>
              <a:rPr lang="en-US" b="0" kern="0" dirty="0" smtClean="0">
                <a:solidFill>
                  <a:srgbClr val="000000"/>
                </a:solidFill>
                <a:latin typeface="Arial"/>
                <a:ea typeface="Arial"/>
                <a:cs typeface="Arial"/>
                <a:sym typeface="Arial"/>
              </a:rPr>
              <a:t> </a:t>
            </a: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Final Exam</a:t>
            </a: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Seminars</a:t>
            </a:r>
            <a:endParaRPr lang="en-US" sz="1600"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0" lvl="0" indent="0" fontAlgn="auto">
              <a:lnSpc>
                <a:spcPct val="100000"/>
              </a:lnSpc>
              <a:spcBef>
                <a:spcPts val="0"/>
              </a:spcBef>
              <a:spcAft>
                <a:spcPts val="0"/>
              </a:spcAft>
              <a:buClr>
                <a:srgbClr val="000000"/>
              </a:buClr>
              <a:buSzPts val="2000"/>
              <a:buNone/>
              <a:defRPr/>
            </a:pPr>
            <a:r>
              <a:rPr lang="en-US" b="0" u="sng" kern="0" dirty="0">
                <a:solidFill>
                  <a:srgbClr val="000000"/>
                </a:solidFill>
                <a:latin typeface="Arial"/>
                <a:ea typeface="Arial"/>
                <a:cs typeface="Arial"/>
                <a:sym typeface="Arial"/>
              </a:rPr>
              <a:t>Answers:</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All </a:t>
            </a:r>
            <a:r>
              <a:rPr lang="en-US" b="0" kern="0" dirty="0">
                <a:solidFill>
                  <a:srgbClr val="000000"/>
                </a:solidFill>
                <a:latin typeface="Arial"/>
                <a:ea typeface="Arial"/>
                <a:cs typeface="Arial"/>
                <a:sym typeface="Arial"/>
              </a:rPr>
              <a:t>in the Syllabus</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Highlights </a:t>
            </a:r>
            <a:r>
              <a:rPr lang="en-US" b="0" kern="0" dirty="0">
                <a:solidFill>
                  <a:srgbClr val="000000"/>
                </a:solidFill>
                <a:latin typeface="Arial"/>
                <a:ea typeface="Arial"/>
                <a:cs typeface="Arial"/>
                <a:sym typeface="Arial"/>
              </a:rPr>
              <a:t>presented here </a:t>
            </a:r>
            <a:r>
              <a:rPr lang="en-US" b="0" kern="0" dirty="0" smtClean="0">
                <a:solidFill>
                  <a:srgbClr val="000000"/>
                </a:solidFill>
                <a:latin typeface="Arial"/>
                <a:ea typeface="Arial"/>
                <a:cs typeface="Arial"/>
                <a:sym typeface="Arial"/>
              </a:rPr>
              <a:t>…</a:t>
            </a:r>
            <a:endParaRPr lang="en-US" sz="1400" b="0" kern="0" dirty="0">
              <a:solidFill>
                <a:srgbClr val="000000"/>
              </a:solidFill>
              <a:latin typeface="Arial"/>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7" name="Google Shape;175;p7" descr="The Answer Man Tackles All of Your Booze Related Holiday ..."/>
          <p:cNvPicPr preferRelativeResize="0"/>
          <p:nvPr/>
        </p:nvPicPr>
        <p:blipFill rotWithShape="1">
          <a:blip r:embed="rId3">
            <a:alphaModFix/>
          </a:blip>
          <a:srcRect/>
          <a:stretch/>
        </p:blipFill>
        <p:spPr>
          <a:xfrm>
            <a:off x="4394200" y="1066800"/>
            <a:ext cx="4368800" cy="3276600"/>
          </a:xfrm>
          <a:prstGeom prst="rect">
            <a:avLst/>
          </a:prstGeom>
          <a:noFill/>
          <a:ln>
            <a:noFill/>
          </a:ln>
        </p:spPr>
      </p:pic>
    </p:spTree>
    <p:extLst>
      <p:ext uri="{BB962C8B-B14F-4D97-AF65-F5344CB8AC3E}">
        <p14:creationId xmlns:p14="http://schemas.microsoft.com/office/powerpoint/2010/main" val="103516633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srgbClr val="000000"/>
              </a:buClr>
              <a:buSzPts val="2000"/>
              <a:buNone/>
              <a:defRPr/>
            </a:pPr>
            <a:r>
              <a:rPr lang="en-US" kern="0" dirty="0" smtClean="0">
                <a:solidFill>
                  <a:srgbClr val="000000"/>
                </a:solidFill>
                <a:latin typeface="Arial"/>
                <a:ea typeface="Arial"/>
                <a:cs typeface="Arial"/>
                <a:sym typeface="Arial"/>
              </a:rPr>
              <a:t>When to Take This Course </a:t>
            </a:r>
            <a:r>
              <a:rPr lang="en-US" b="0" kern="0" dirty="0" smtClean="0">
                <a:solidFill>
                  <a:srgbClr val="000000"/>
                </a:solidFill>
                <a:latin typeface="Arial"/>
                <a:ea typeface="Arial"/>
                <a:cs typeface="Arial"/>
                <a:sym typeface="Arial"/>
              </a:rPr>
              <a:t>(complete details in the Syllabus)</a:t>
            </a:r>
            <a:r>
              <a:rPr lang="en-US" kern="0" dirty="0" smtClean="0">
                <a:solidFill>
                  <a:srgbClr val="000000"/>
                </a:solidFill>
                <a:latin typeface="Arial"/>
                <a:ea typeface="Arial"/>
                <a:cs typeface="Arial"/>
                <a:sym typeface="Arial"/>
              </a:rPr>
              <a:t>: </a:t>
            </a:r>
          </a:p>
          <a:p>
            <a:pPr marL="360000" indent="-360000" fontAlgn="auto">
              <a:lnSpc>
                <a:spcPct val="100000"/>
              </a:lnSpc>
              <a:spcBef>
                <a:spcPts val="0"/>
              </a:spcBef>
              <a:spcAft>
                <a:spcPts val="0"/>
              </a:spcAft>
              <a:buClr>
                <a:srgbClr val="000000"/>
              </a:buClr>
              <a:buSzPts val="2000"/>
              <a:buFont typeface="Wingdings" panose="05000000000000000000" pitchFamily="2" charset="2"/>
              <a:buChar char="Ø"/>
              <a:defRPr/>
            </a:pPr>
            <a:r>
              <a:rPr lang="en-US" b="0" kern="0" dirty="0" smtClean="0">
                <a:solidFill>
                  <a:srgbClr val="000000"/>
                </a:solidFill>
                <a:latin typeface="Arial"/>
                <a:ea typeface="Arial"/>
                <a:cs typeface="Arial"/>
                <a:sym typeface="Arial"/>
              </a:rPr>
              <a:t>Are you taking ENGG404 </a:t>
            </a:r>
            <a:r>
              <a:rPr lang="en-US" kern="0" dirty="0" smtClean="0">
                <a:solidFill>
                  <a:srgbClr val="000000"/>
                </a:solidFill>
                <a:latin typeface="Arial"/>
                <a:ea typeface="Arial"/>
                <a:cs typeface="Arial"/>
                <a:sym typeface="Arial"/>
              </a:rPr>
              <a:t>out-of-sequence</a:t>
            </a:r>
            <a:r>
              <a:rPr lang="en-US" b="0" kern="0" dirty="0" smtClean="0">
                <a:solidFill>
                  <a:srgbClr val="000000"/>
                </a:solidFill>
                <a:latin typeface="Arial"/>
                <a:ea typeface="Arial"/>
                <a:cs typeface="Arial"/>
                <a:sym typeface="Arial"/>
              </a:rPr>
              <a:t> (i.e. not taking this course per your program / plan / year schedule)? </a:t>
            </a:r>
          </a:p>
          <a:p>
            <a:pPr marL="360000" indent="-360000" fontAlgn="auto">
              <a:lnSpc>
                <a:spcPct val="100000"/>
              </a:lnSpc>
              <a:spcBef>
                <a:spcPts val="0"/>
              </a:spcBef>
              <a:spcAft>
                <a:spcPts val="0"/>
              </a:spcAft>
              <a:buClr>
                <a:srgbClr val="000000"/>
              </a:buClr>
              <a:buSzPts val="2000"/>
              <a:buFont typeface="Wingdings" panose="05000000000000000000" pitchFamily="2" charset="2"/>
              <a:buChar char="Ø"/>
              <a:defRPr/>
            </a:pPr>
            <a:r>
              <a:rPr lang="en-US" kern="0" dirty="0" smtClean="0">
                <a:solidFill>
                  <a:srgbClr val="000000"/>
                </a:solidFill>
                <a:latin typeface="Arial"/>
                <a:ea typeface="Arial"/>
                <a:cs typeface="Arial"/>
                <a:sym typeface="Arial"/>
              </a:rPr>
              <a:t>Think again! Consider these points:</a:t>
            </a:r>
          </a:p>
          <a:p>
            <a:pPr marL="720000" indent="-3600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400-Level / 4th </a:t>
            </a:r>
            <a:r>
              <a:rPr lang="en-US" b="0" kern="0" dirty="0">
                <a:solidFill>
                  <a:srgbClr val="000000"/>
                </a:solidFill>
                <a:latin typeface="Arial"/>
                <a:ea typeface="Arial"/>
                <a:cs typeface="Arial"/>
                <a:sym typeface="Arial"/>
              </a:rPr>
              <a:t>year heavily-weighted </a:t>
            </a:r>
            <a:r>
              <a:rPr lang="en-US" b="0" kern="0" dirty="0" smtClean="0">
                <a:solidFill>
                  <a:srgbClr val="000000"/>
                </a:solidFill>
                <a:latin typeface="Arial"/>
                <a:ea typeface="Arial"/>
                <a:cs typeface="Arial"/>
                <a:sym typeface="Arial"/>
              </a:rPr>
              <a:t>course: Weighting = 3.8</a:t>
            </a:r>
            <a:endParaRPr lang="en-US" b="0" kern="0" dirty="0">
              <a:solidFill>
                <a:srgbClr val="000000"/>
              </a:solidFill>
              <a:latin typeface="Arial"/>
              <a:ea typeface="Arial"/>
              <a:cs typeface="Arial"/>
              <a:sym typeface="Arial"/>
            </a:endParaRPr>
          </a:p>
          <a:p>
            <a:pPr marL="720000" lvl="0" indent="-360000" fontAlgn="auto">
              <a:lnSpc>
                <a:spcPct val="100000"/>
              </a:lnSpc>
              <a:spcBef>
                <a:spcPts val="0"/>
              </a:spcBef>
              <a:spcAft>
                <a:spcPts val="0"/>
              </a:spcAft>
              <a:buClr>
                <a:srgbClr val="000000"/>
              </a:buClr>
              <a:buSzPts val="2000"/>
              <a:buFont typeface="Noto Sans Symbols"/>
              <a:buChar char="⮚"/>
              <a:defRPr/>
            </a:pPr>
            <a:r>
              <a:rPr lang="en-US" b="0" kern="0" dirty="0" smtClean="0">
                <a:solidFill>
                  <a:srgbClr val="000000"/>
                </a:solidFill>
                <a:latin typeface="Arial"/>
                <a:ea typeface="Arial"/>
                <a:cs typeface="Arial"/>
                <a:sym typeface="Arial"/>
              </a:rPr>
              <a:t>Team </a:t>
            </a:r>
            <a:r>
              <a:rPr lang="en-US" b="0" kern="0" dirty="0">
                <a:solidFill>
                  <a:srgbClr val="000000"/>
                </a:solidFill>
                <a:latin typeface="Arial"/>
                <a:ea typeface="Arial"/>
                <a:cs typeface="Arial"/>
                <a:sym typeface="Arial"/>
              </a:rPr>
              <a:t>project </a:t>
            </a:r>
            <a:r>
              <a:rPr lang="en-US" b="0" kern="0" dirty="0" smtClean="0">
                <a:solidFill>
                  <a:srgbClr val="000000"/>
                </a:solidFill>
                <a:latin typeface="Arial"/>
                <a:ea typeface="Arial"/>
                <a:cs typeface="Arial"/>
                <a:sym typeface="Arial"/>
              </a:rPr>
              <a:t>with </a:t>
            </a:r>
            <a:r>
              <a:rPr lang="en-US" b="0" kern="0" dirty="0">
                <a:solidFill>
                  <a:srgbClr val="000000"/>
                </a:solidFill>
                <a:latin typeface="Arial"/>
                <a:ea typeface="Arial"/>
                <a:cs typeface="Arial"/>
                <a:sym typeface="Arial"/>
              </a:rPr>
              <a:t>your cohort is </a:t>
            </a:r>
            <a:r>
              <a:rPr lang="en-US" b="0" kern="0" dirty="0" smtClean="0">
                <a:solidFill>
                  <a:srgbClr val="000000"/>
                </a:solidFill>
                <a:latin typeface="Arial"/>
                <a:ea typeface="Arial"/>
                <a:cs typeface="Arial"/>
                <a:sym typeface="Arial"/>
              </a:rPr>
              <a:t>beneficial; on a work-term is a hindrance!</a:t>
            </a:r>
            <a:endParaRPr lang="en-US" b="0" kern="0" dirty="0">
              <a:solidFill>
                <a:srgbClr val="000000"/>
              </a:solidFill>
              <a:latin typeface="Arial"/>
              <a:ea typeface="Arial"/>
              <a:cs typeface="Arial"/>
              <a:sym typeface="Arial"/>
            </a:endParaRPr>
          </a:p>
          <a:p>
            <a:pPr marL="360000" indent="-360000" fontAlgn="auto">
              <a:lnSpc>
                <a:spcPct val="100000"/>
              </a:lnSpc>
              <a:spcBef>
                <a:spcPts val="0"/>
              </a:spcBef>
              <a:spcAft>
                <a:spcPts val="0"/>
              </a:spcAft>
              <a:buClr>
                <a:srgbClr val="000000"/>
              </a:buClr>
              <a:buSzPts val="2000"/>
              <a:buFont typeface="Noto Sans Symbols"/>
              <a:buChar char="⮚"/>
              <a:defRPr/>
            </a:pPr>
            <a:r>
              <a:rPr lang="en-US" kern="0" dirty="0" smtClean="0">
                <a:solidFill>
                  <a:srgbClr val="000000"/>
                </a:solidFill>
                <a:latin typeface="Arial"/>
                <a:ea typeface="Arial"/>
                <a:cs typeface="Arial"/>
                <a:sym typeface="Arial"/>
              </a:rPr>
              <a:t>In-sequence with Program/Plan and Year: </a:t>
            </a:r>
            <a:r>
              <a:rPr lang="en-US" b="0" kern="0" dirty="0" smtClean="0">
                <a:solidFill>
                  <a:srgbClr val="000000"/>
                </a:solidFill>
                <a:latin typeface="Arial"/>
                <a:ea typeface="Arial"/>
                <a:cs typeface="Arial"/>
                <a:sym typeface="Arial"/>
              </a:rPr>
              <a:t>Team Project </a:t>
            </a:r>
            <a:r>
              <a:rPr lang="en-US" b="0" kern="0" dirty="0">
                <a:solidFill>
                  <a:srgbClr val="000000"/>
                </a:solidFill>
                <a:latin typeface="Arial"/>
                <a:ea typeface="Arial"/>
                <a:cs typeface="Arial"/>
                <a:sym typeface="Arial"/>
              </a:rPr>
              <a:t>Intent is </a:t>
            </a:r>
            <a:r>
              <a:rPr lang="en-US" b="0" kern="0" dirty="0" smtClean="0">
                <a:solidFill>
                  <a:srgbClr val="000000"/>
                </a:solidFill>
                <a:latin typeface="Arial"/>
                <a:ea typeface="Arial"/>
                <a:cs typeface="Arial"/>
                <a:sym typeface="Arial"/>
              </a:rPr>
              <a:t>to work on </a:t>
            </a:r>
            <a:r>
              <a:rPr lang="en-US" b="0" kern="0" dirty="0">
                <a:solidFill>
                  <a:srgbClr val="000000"/>
                </a:solidFill>
                <a:latin typeface="Arial"/>
                <a:ea typeface="Arial"/>
                <a:cs typeface="Arial"/>
                <a:sym typeface="Arial"/>
              </a:rPr>
              <a:t>a team project with specific relevance to </a:t>
            </a:r>
            <a:r>
              <a:rPr lang="en-US" b="0" kern="0" dirty="0" smtClean="0">
                <a:solidFill>
                  <a:srgbClr val="000000"/>
                </a:solidFill>
                <a:latin typeface="Arial"/>
                <a:ea typeface="Arial"/>
                <a:cs typeface="Arial"/>
                <a:sym typeface="Arial"/>
              </a:rPr>
              <a:t>your engineering discipline </a:t>
            </a:r>
            <a:r>
              <a:rPr lang="en-US" b="0" kern="0" dirty="0">
                <a:solidFill>
                  <a:srgbClr val="000000"/>
                </a:solidFill>
                <a:latin typeface="Arial"/>
                <a:ea typeface="Arial"/>
                <a:cs typeface="Arial"/>
                <a:sym typeface="Arial"/>
              </a:rPr>
              <a:t>to enhance your learning experience in this course.</a:t>
            </a:r>
          </a:p>
          <a:p>
            <a:pPr marL="360000" indent="-360000" fontAlgn="auto">
              <a:lnSpc>
                <a:spcPct val="100000"/>
              </a:lnSpc>
              <a:spcBef>
                <a:spcPts val="0"/>
              </a:spcBef>
              <a:spcAft>
                <a:spcPts val="0"/>
              </a:spcAft>
              <a:buClr>
                <a:srgbClr val="000000"/>
              </a:buClr>
              <a:buSzPts val="2000"/>
              <a:buFont typeface="Noto Sans Symbols"/>
              <a:buChar char="⮚"/>
              <a:defRPr/>
            </a:pPr>
            <a:r>
              <a:rPr lang="en-US" kern="0" dirty="0" smtClean="0">
                <a:solidFill>
                  <a:srgbClr val="000000"/>
                </a:solidFill>
                <a:latin typeface="Arial"/>
                <a:ea typeface="Arial"/>
                <a:cs typeface="Arial"/>
                <a:sym typeface="Arial"/>
              </a:rPr>
              <a:t>On a work </a:t>
            </a:r>
            <a:r>
              <a:rPr lang="en-US" kern="0" dirty="0">
                <a:solidFill>
                  <a:srgbClr val="000000"/>
                </a:solidFill>
                <a:latin typeface="Arial"/>
                <a:ea typeface="Arial"/>
                <a:cs typeface="Arial"/>
                <a:sym typeface="Arial"/>
              </a:rPr>
              <a:t>term? </a:t>
            </a:r>
            <a:r>
              <a:rPr lang="en-US" b="0" kern="0" dirty="0">
                <a:solidFill>
                  <a:srgbClr val="000000"/>
                </a:solidFill>
                <a:latin typeface="Arial"/>
                <a:ea typeface="Arial"/>
                <a:cs typeface="Arial"/>
                <a:sym typeface="Arial"/>
              </a:rPr>
              <a:t>This course uses blended learning techniques and requires attendance, participation, and engagement in real-time</a:t>
            </a:r>
            <a:r>
              <a:rPr lang="en-US" b="0" kern="0" dirty="0" smtClean="0">
                <a:solidFill>
                  <a:srgbClr val="000000"/>
                </a:solidFill>
                <a:latin typeface="Arial"/>
                <a:ea typeface="Arial"/>
                <a:cs typeface="Arial"/>
                <a:sym typeface="Arial"/>
              </a:rPr>
              <a:t>. Your work-term commitments will create conflicts and are barriers to success.</a:t>
            </a:r>
            <a:endParaRPr lang="en-US" b="0" kern="0" dirty="0">
              <a:solidFill>
                <a:srgbClr val="000000"/>
              </a:solidFill>
              <a:latin typeface="Arial"/>
              <a:ea typeface="Arial"/>
              <a:cs typeface="Arial"/>
              <a:sym typeface="Arial"/>
            </a:endParaRPr>
          </a:p>
          <a:p>
            <a:pPr marL="360000" lvl="0" indent="-360000" fontAlgn="auto">
              <a:lnSpc>
                <a:spcPct val="100000"/>
              </a:lnSpc>
              <a:spcBef>
                <a:spcPts val="0"/>
              </a:spcBef>
              <a:spcAft>
                <a:spcPts val="0"/>
              </a:spcAft>
              <a:buClr>
                <a:srgbClr val="000000"/>
              </a:buClr>
              <a:buSzPts val="2000"/>
              <a:buFont typeface="Noto Sans Symbols"/>
              <a:buChar char="⮚"/>
              <a:defRPr/>
            </a:pPr>
            <a:endParaRPr lang="en-US" b="0" kern="0" dirty="0" smtClean="0">
              <a:solidFill>
                <a:srgbClr val="000000"/>
              </a:solidFill>
              <a:latin typeface="Arial"/>
              <a:ea typeface="Arial"/>
              <a:cs typeface="Arial"/>
              <a:sym typeface="Arial"/>
            </a:endParaRPr>
          </a:p>
          <a:p>
            <a:pPr marL="0" lvl="0" indent="0" algn="ctr" fontAlgn="auto">
              <a:lnSpc>
                <a:spcPct val="100000"/>
              </a:lnSpc>
              <a:spcBef>
                <a:spcPts val="0"/>
              </a:spcBef>
              <a:spcAft>
                <a:spcPts val="0"/>
              </a:spcAft>
              <a:buClr>
                <a:srgbClr val="000000"/>
              </a:buClr>
              <a:buSzPts val="2000"/>
              <a:buNone/>
              <a:defRPr/>
            </a:pPr>
            <a:r>
              <a:rPr lang="en-US" sz="2400" kern="0" dirty="0" smtClean="0">
                <a:solidFill>
                  <a:srgbClr val="000000"/>
                </a:solidFill>
                <a:latin typeface="Arial"/>
                <a:ea typeface="Arial"/>
                <a:cs typeface="Arial"/>
                <a:sym typeface="Arial"/>
              </a:rPr>
              <a:t>You should NOT take this course out-of-sequence, or as an “add-on” while on your work term.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2029634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Marking Scheme – the Allocation of Course Marks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Deductions – may apply on late or missed submissions (assignments, quizzes, ITP Surveys), missed seminars, lack of participation / contribution on the Team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Project.</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4" name="Table 3"/>
          <p:cNvGraphicFramePr>
            <a:graphicFrameLocks noGrp="1"/>
          </p:cNvGraphicFramePr>
          <p:nvPr>
            <p:extLst>
              <p:ext uri="{D42A27DB-BD31-4B8C-83A1-F6EECF244321}">
                <p14:modId xmlns:p14="http://schemas.microsoft.com/office/powerpoint/2010/main" val="1526088904"/>
              </p:ext>
            </p:extLst>
          </p:nvPr>
        </p:nvGraphicFramePr>
        <p:xfrm>
          <a:off x="304800" y="1360858"/>
          <a:ext cx="8508600" cy="3657600"/>
        </p:xfrm>
        <a:graphic>
          <a:graphicData uri="http://schemas.openxmlformats.org/drawingml/2006/table">
            <a:tbl>
              <a:tblPr firstRow="1" firstCol="1" lastRow="1" lastCol="1" bandRow="1" bandCol="1"/>
              <a:tblGrid>
                <a:gridCol w="5867400">
                  <a:extLst>
                    <a:ext uri="{9D8B030D-6E8A-4147-A177-3AD203B41FA5}">
                      <a16:colId xmlns:a16="http://schemas.microsoft.com/office/drawing/2014/main" val="1160343241"/>
                    </a:ext>
                  </a:extLst>
                </a:gridCol>
                <a:gridCol w="1710717">
                  <a:extLst>
                    <a:ext uri="{9D8B030D-6E8A-4147-A177-3AD203B41FA5}">
                      <a16:colId xmlns:a16="http://schemas.microsoft.com/office/drawing/2014/main" val="3655296164"/>
                    </a:ext>
                  </a:extLst>
                </a:gridCol>
                <a:gridCol w="930483">
                  <a:extLst>
                    <a:ext uri="{9D8B030D-6E8A-4147-A177-3AD203B41FA5}">
                      <a16:colId xmlns:a16="http://schemas.microsoft.com/office/drawing/2014/main" val="2727965069"/>
                    </a:ext>
                  </a:extLst>
                </a:gridCol>
              </a:tblGrid>
              <a:tr h="0">
                <a:tc>
                  <a:txBody>
                    <a:bodyPr/>
                    <a:lstStyle/>
                    <a:p>
                      <a:pPr>
                        <a:spcAft>
                          <a:spcPts val="0"/>
                        </a:spcAft>
                      </a:pPr>
                      <a:r>
                        <a:rPr lang="en-US" sz="1600" b="1" u="sng">
                          <a:effectLst/>
                          <a:latin typeface="Arial" panose="020B0604020202020204" pitchFamily="34" charset="0"/>
                          <a:ea typeface="Times New Roman" panose="02020603050405020304" pitchFamily="18" charset="0"/>
                          <a:cs typeface="Times New Roman" panose="02020603050405020304" pitchFamily="18" charset="0"/>
                        </a:rPr>
                        <a:t>Activity</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b="1" u="sng">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b="1" u="sng">
                          <a:effectLst/>
                          <a:latin typeface="Arial" panose="020B0604020202020204" pitchFamily="34" charset="0"/>
                          <a:ea typeface="Times New Roman" panose="02020603050405020304" pitchFamily="18" charset="0"/>
                          <a:cs typeface="Times New Roman" panose="02020603050405020304" pitchFamily="18" charset="0"/>
                        </a:rPr>
                        <a:t>Weight</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44475367"/>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On-line Quizzes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5050877"/>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Assignment #1</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2%</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4004369"/>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Assignment #2</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2%</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10826893"/>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Assignment #3</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6823177"/>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Assignment #4</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96119741"/>
                  </a:ext>
                </a:extLst>
              </a:tr>
              <a:tr h="0">
                <a:tc>
                  <a:txBody>
                    <a:bodyPr/>
                    <a:lstStyle/>
                    <a:p>
                      <a:pPr>
                        <a:spcAft>
                          <a:spcPts val="0"/>
                        </a:spcAf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ITP Metrics Surveys, (1</a:t>
                      </a:r>
                      <a:r>
                        <a:rPr lang="en-US" sz="1600" baseline="30000" dirty="0">
                          <a:effectLst/>
                          <a:latin typeface="Arial" panose="020B0604020202020204" pitchFamily="34" charset="0"/>
                          <a:ea typeface="Times New Roman" panose="02020603050405020304" pitchFamily="18" charset="0"/>
                          <a:cs typeface="Times New Roman" panose="02020603050405020304" pitchFamily="18" charset="0"/>
                        </a:rPr>
                        <a:t>st</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600" dirty="0" smtClean="0">
                          <a:effectLst/>
                          <a:latin typeface="Arial" panose="020B0604020202020204" pitchFamily="34" charset="0"/>
                          <a:ea typeface="Times New Roman" panose="02020603050405020304" pitchFamily="18" charset="0"/>
                          <a:cs typeface="Times New Roman" panose="02020603050405020304" pitchFamily="18" charset="0"/>
                        </a:rPr>
                        <a:t>= 2</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 2</a:t>
                      </a:r>
                      <a:r>
                        <a:rPr lang="en-US" sz="1600" baseline="30000" dirty="0">
                          <a:effectLst/>
                          <a:latin typeface="Arial" panose="020B0604020202020204" pitchFamily="34" charset="0"/>
                          <a:ea typeface="Times New Roman" panose="02020603050405020304" pitchFamily="18" charset="0"/>
                          <a:cs typeface="Times New Roman" panose="02020603050405020304" pitchFamily="18" charset="0"/>
                        </a:rPr>
                        <a:t>nd</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600" dirty="0" smtClean="0">
                          <a:effectLst/>
                          <a:latin typeface="Arial" panose="020B0604020202020204" pitchFamily="34" charset="0"/>
                          <a:ea typeface="Times New Roman" panose="02020603050405020304" pitchFamily="18" charset="0"/>
                          <a:cs typeface="Times New Roman" panose="02020603050405020304" pitchFamily="18" charset="0"/>
                        </a:rPr>
                        <a:t>= 1</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a:t>
                      </a:r>
                      <a:endParaRPr lang="en-US" sz="2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3%</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4926632"/>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Team Project - Preliminary RCA Chart Review</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3%</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0913511"/>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Team Project - Progress Report </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3098318"/>
                  </a:ext>
                </a:extLst>
              </a:tr>
              <a:tr h="0">
                <a:tc>
                  <a:txBody>
                    <a:bodyPr/>
                    <a:lstStyle/>
                    <a:p>
                      <a:pP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Team Project - Final Report</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Asynchronous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15%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71195041"/>
                  </a:ext>
                </a:extLst>
              </a:tr>
              <a:tr h="0">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Course Term Work Total</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 </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45%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80793587"/>
                  </a:ext>
                </a:extLst>
              </a:tr>
              <a:tr h="0">
                <a:tc>
                  <a:txBody>
                    <a:bodyPr/>
                    <a:lstStyle/>
                    <a:p>
                      <a:pP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Final Exam</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Synchronous</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55%</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86609710"/>
                  </a:ext>
                </a:extLst>
              </a:tr>
              <a:tr h="0">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Deductions </a:t>
                      </a:r>
                      <a:r>
                        <a:rPr lang="en-US" sz="1600" i="1">
                          <a:effectLst/>
                          <a:latin typeface="Arial" panose="020B0604020202020204" pitchFamily="34" charset="0"/>
                          <a:ea typeface="Times New Roman" panose="02020603050405020304" pitchFamily="18" charset="0"/>
                          <a:cs typeface="Times New Roman" panose="02020603050405020304" pitchFamily="18" charset="0"/>
                        </a:rPr>
                        <a:t>(see section below)</a:t>
                      </a:r>
                      <a:r>
                        <a:rPr lang="en-US" sz="1600" b="1">
                          <a:effectLst/>
                          <a:latin typeface="Arial" panose="020B0604020202020204" pitchFamily="34" charset="0"/>
                          <a:ea typeface="Times New Roman" panose="02020603050405020304" pitchFamily="18" charset="0"/>
                          <a:cs typeface="Times New Roman" panose="02020603050405020304" pitchFamily="18" charset="0"/>
                        </a:rPr>
                        <a:t>:</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 </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a:effectLst/>
                          <a:latin typeface="Arial" panose="020B0604020202020204" pitchFamily="34" charset="0"/>
                          <a:ea typeface="Times New Roman" panose="02020603050405020304" pitchFamily="18" charset="0"/>
                          <a:cs typeface="Times New Roman" panose="02020603050405020304" pitchFamily="18" charset="0"/>
                        </a:rPr>
                        <a:t>variable</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27904334"/>
                  </a:ext>
                </a:extLst>
              </a:tr>
              <a:tr h="0">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Total Course Mark</a:t>
                      </a:r>
                      <a:r>
                        <a:rPr lang="en-US" sz="1600" i="1">
                          <a:effectLst/>
                          <a:latin typeface="Arial" panose="020B0604020202020204" pitchFamily="34" charset="0"/>
                          <a:ea typeface="Times New Roman" panose="02020603050405020304" pitchFamily="18" charset="0"/>
                          <a:cs typeface="Times New Roman" panose="02020603050405020304" pitchFamily="18" charset="0"/>
                        </a:rPr>
                        <a:t> (less any applicable deductions)</a:t>
                      </a:r>
                      <a:r>
                        <a:rPr lang="en-US" sz="1600" b="1">
                          <a:effectLst/>
                          <a:latin typeface="Arial" panose="020B0604020202020204" pitchFamily="34" charset="0"/>
                          <a:ea typeface="Times New Roman" panose="02020603050405020304" pitchFamily="18" charset="0"/>
                          <a:cs typeface="Times New Roman" panose="02020603050405020304" pitchFamily="18" charset="0"/>
                        </a:rPr>
                        <a:t>:</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b="1">
                          <a:effectLst/>
                          <a:latin typeface="Arial" panose="020B0604020202020204" pitchFamily="34" charset="0"/>
                          <a:ea typeface="Times New Roman" panose="02020603050405020304" pitchFamily="18" charset="0"/>
                          <a:cs typeface="Times New Roman" panose="02020603050405020304" pitchFamily="18" charset="0"/>
                        </a:rPr>
                        <a:t> </a:t>
                      </a:r>
                      <a:endParaRPr lang="en-US" sz="240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a:spcAft>
                          <a:spcPts val="0"/>
                        </a:spcAft>
                      </a:pPr>
                      <a:r>
                        <a:rPr lang="en-US" sz="1600" b="1" dirty="0">
                          <a:effectLst/>
                          <a:latin typeface="Arial" panose="020B0604020202020204" pitchFamily="34" charset="0"/>
                          <a:ea typeface="Times New Roman" panose="02020603050405020304" pitchFamily="18" charset="0"/>
                          <a:cs typeface="Times New Roman" panose="02020603050405020304" pitchFamily="18" charset="0"/>
                        </a:rPr>
                        <a:t>100%</a:t>
                      </a:r>
                      <a:endParaRPr lang="en-US" sz="2400" dirty="0">
                        <a:effectLst/>
                        <a:latin typeface="Times"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2949728"/>
                  </a:ext>
                </a:extLst>
              </a:tr>
            </a:tbl>
          </a:graphicData>
        </a:graphic>
      </p:graphicFrame>
    </p:spTree>
    <p:extLst>
      <p:ext uri="{BB962C8B-B14F-4D97-AF65-F5344CB8AC3E}">
        <p14:creationId xmlns:p14="http://schemas.microsoft.com/office/powerpoint/2010/main" val="189340530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00000"/>
              </a:lnSpc>
              <a:spcBef>
                <a:spcPts val="0"/>
              </a:spcBef>
              <a:spcAft>
                <a:spcPts val="0"/>
              </a:spcAft>
              <a:buClr>
                <a:srgbClr val="000000"/>
              </a:buClr>
              <a:buSzPts val="2000"/>
              <a:buNone/>
              <a:defRPr/>
            </a:pPr>
            <a:r>
              <a:rPr lang="en-US" kern="0" dirty="0">
                <a:solidFill>
                  <a:srgbClr val="000000"/>
                </a:solidFill>
                <a:latin typeface="Arial"/>
                <a:cs typeface="Arial"/>
                <a:sym typeface="Arial"/>
              </a:rPr>
              <a:t>Final Grade:</a:t>
            </a:r>
          </a:p>
          <a:p>
            <a:pPr marL="0" lvl="0" indent="0" fontAlgn="auto">
              <a:lnSpc>
                <a:spcPct val="100000"/>
              </a:lnSpc>
              <a:spcBef>
                <a:spcPts val="0"/>
              </a:spcBef>
              <a:spcAft>
                <a:spcPts val="0"/>
              </a:spcAft>
              <a:buClr>
                <a:srgbClr val="000000"/>
              </a:buClr>
              <a:buSzPts val="2000"/>
              <a:buNone/>
              <a:defRPr/>
            </a:pPr>
            <a:r>
              <a:rPr lang="en-US" b="0" kern="0" dirty="0">
                <a:solidFill>
                  <a:srgbClr val="000000"/>
                </a:solidFill>
                <a:latin typeface="Arial"/>
                <a:cs typeface="Arial"/>
                <a:sym typeface="Arial"/>
              </a:rPr>
              <a:t>Based on results and grade distributions in previous years:</a:t>
            </a:r>
          </a:p>
          <a:p>
            <a:pPr marL="457200" lvl="0" indent="-457200" fontAlgn="auto">
              <a:lnSpc>
                <a:spcPct val="100000"/>
              </a:lnSpc>
              <a:spcBef>
                <a:spcPts val="0"/>
              </a:spcBef>
              <a:spcAft>
                <a:spcPts val="0"/>
              </a:spcAft>
              <a:buClr>
                <a:srgbClr val="000000"/>
              </a:buClr>
              <a:buSzPts val="2000"/>
              <a:buFont typeface="+mj-lt"/>
              <a:buAutoNum type="alphaLcParenR"/>
              <a:defRPr/>
            </a:pPr>
            <a:endParaRPr lang="en-US"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mj-lt"/>
              <a:buAutoNum type="alphaLcParenR"/>
              <a:defRPr/>
            </a:pPr>
            <a:r>
              <a:rPr lang="en-US" b="0" kern="0" dirty="0">
                <a:solidFill>
                  <a:srgbClr val="000000"/>
                </a:solidFill>
                <a:latin typeface="Arial"/>
                <a:cs typeface="Arial"/>
                <a:sym typeface="Arial"/>
              </a:rPr>
              <a:t>The </a:t>
            </a:r>
            <a:r>
              <a:rPr lang="en-US" b="0" u="sng" kern="0" dirty="0" smtClean="0">
                <a:solidFill>
                  <a:srgbClr val="000000"/>
                </a:solidFill>
                <a:latin typeface="Arial"/>
                <a:cs typeface="Arial"/>
                <a:sym typeface="Arial"/>
              </a:rPr>
              <a:t>Letter </a:t>
            </a:r>
            <a:r>
              <a:rPr lang="en-US" b="0" u="sng" kern="0" dirty="0">
                <a:solidFill>
                  <a:srgbClr val="000000"/>
                </a:solidFill>
                <a:latin typeface="Arial"/>
                <a:cs typeface="Arial"/>
                <a:sym typeface="Arial"/>
              </a:rPr>
              <a:t>Grade of A</a:t>
            </a:r>
            <a:r>
              <a:rPr lang="en-US" b="0" kern="0" dirty="0">
                <a:solidFill>
                  <a:srgbClr val="000000"/>
                </a:solidFill>
                <a:latin typeface="Arial"/>
                <a:cs typeface="Arial"/>
                <a:sym typeface="Arial"/>
              </a:rPr>
              <a:t> or higher will be submitted for those achieving a total course mark of </a:t>
            </a:r>
            <a:r>
              <a:rPr lang="en-US" b="0" u="sng" kern="0" dirty="0">
                <a:solidFill>
                  <a:srgbClr val="000000"/>
                </a:solidFill>
                <a:latin typeface="Arial"/>
                <a:cs typeface="Arial"/>
                <a:sym typeface="Arial"/>
              </a:rPr>
              <a:t>90% or higher</a:t>
            </a:r>
            <a:r>
              <a:rPr lang="en-US" b="0" kern="0" dirty="0">
                <a:solidFill>
                  <a:srgbClr val="000000"/>
                </a:solidFill>
                <a:latin typeface="Arial"/>
                <a:cs typeface="Arial"/>
                <a:sym typeface="Arial"/>
              </a:rPr>
              <a:t>; that is, based on distributions, the cut-off mark to get an A may be 90% or it may be lower than 90%, but it will not be </a:t>
            </a:r>
            <a:r>
              <a:rPr lang="en-US" b="0" kern="0" dirty="0" smtClean="0">
                <a:solidFill>
                  <a:srgbClr val="000000"/>
                </a:solidFill>
                <a:latin typeface="Arial"/>
                <a:cs typeface="Arial"/>
                <a:sym typeface="Arial"/>
              </a:rPr>
              <a:t>higher.</a:t>
            </a:r>
            <a:endParaRPr lang="en-US"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mj-lt"/>
              <a:buAutoNum type="alphaLcParenR"/>
              <a:defRPr/>
            </a:pPr>
            <a:endParaRPr lang="en-US"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mj-lt"/>
              <a:buAutoNum type="alphaLcParenR"/>
              <a:defRPr/>
            </a:pPr>
            <a:r>
              <a:rPr lang="en-US" b="0" kern="0" dirty="0">
                <a:solidFill>
                  <a:srgbClr val="000000"/>
                </a:solidFill>
                <a:latin typeface="Arial"/>
                <a:cs typeface="Arial"/>
                <a:sym typeface="Arial"/>
              </a:rPr>
              <a:t>The </a:t>
            </a:r>
            <a:r>
              <a:rPr lang="en-US" b="0" u="sng" kern="0" dirty="0">
                <a:solidFill>
                  <a:srgbClr val="000000"/>
                </a:solidFill>
                <a:latin typeface="Arial"/>
                <a:cs typeface="Arial"/>
                <a:sym typeface="Arial"/>
              </a:rPr>
              <a:t>Letter Grade of D</a:t>
            </a:r>
            <a:r>
              <a:rPr lang="en-US" b="0" kern="0" dirty="0">
                <a:solidFill>
                  <a:srgbClr val="000000"/>
                </a:solidFill>
                <a:latin typeface="Arial"/>
                <a:cs typeface="Arial"/>
                <a:sym typeface="Arial"/>
              </a:rPr>
              <a:t> or higher will be submitted for those achieving a total course mark of </a:t>
            </a:r>
            <a:r>
              <a:rPr lang="en-US" b="0" u="sng" kern="0" dirty="0">
                <a:solidFill>
                  <a:srgbClr val="000000"/>
                </a:solidFill>
                <a:latin typeface="Arial"/>
                <a:cs typeface="Arial"/>
                <a:sym typeface="Arial"/>
              </a:rPr>
              <a:t>higher than 60%</a:t>
            </a:r>
            <a:r>
              <a:rPr lang="en-US" b="0" kern="0" dirty="0">
                <a:solidFill>
                  <a:srgbClr val="000000"/>
                </a:solidFill>
                <a:latin typeface="Arial"/>
                <a:cs typeface="Arial"/>
                <a:sym typeface="Arial"/>
              </a:rPr>
              <a:t>. The </a:t>
            </a:r>
            <a:r>
              <a:rPr lang="en-US" b="0" u="sng" kern="0" dirty="0">
                <a:solidFill>
                  <a:srgbClr val="000000"/>
                </a:solidFill>
                <a:latin typeface="Arial"/>
                <a:cs typeface="Arial"/>
                <a:sym typeface="Arial"/>
              </a:rPr>
              <a:t>Letter Grade of F </a:t>
            </a:r>
            <a:r>
              <a:rPr lang="en-US" b="0" kern="0" dirty="0">
                <a:solidFill>
                  <a:srgbClr val="000000"/>
                </a:solidFill>
                <a:latin typeface="Arial"/>
                <a:cs typeface="Arial"/>
                <a:sym typeface="Arial"/>
              </a:rPr>
              <a:t>may be assessed for a total course mark of </a:t>
            </a:r>
            <a:r>
              <a:rPr lang="en-US" b="0" u="sng" kern="0" dirty="0">
                <a:solidFill>
                  <a:srgbClr val="000000"/>
                </a:solidFill>
                <a:latin typeface="Arial"/>
                <a:cs typeface="Arial"/>
                <a:sym typeface="Arial"/>
              </a:rPr>
              <a:t>60% or lower</a:t>
            </a:r>
            <a:r>
              <a:rPr lang="en-US" b="0" kern="0" dirty="0">
                <a:solidFill>
                  <a:srgbClr val="000000"/>
                </a:solidFill>
                <a:latin typeface="Arial"/>
                <a:cs typeface="Arial"/>
                <a:sym typeface="Arial"/>
              </a:rPr>
              <a:t>.</a:t>
            </a:r>
          </a:p>
          <a:p>
            <a:pPr marL="457200" lvl="0" indent="-457200" fontAlgn="auto">
              <a:lnSpc>
                <a:spcPct val="100000"/>
              </a:lnSpc>
              <a:spcBef>
                <a:spcPts val="0"/>
              </a:spcBef>
              <a:spcAft>
                <a:spcPts val="0"/>
              </a:spcAft>
              <a:buClr>
                <a:srgbClr val="000000"/>
              </a:buClr>
              <a:buSzPts val="2000"/>
              <a:buFont typeface="+mj-lt"/>
              <a:buAutoNum type="alphaLcParenR"/>
              <a:defRPr/>
            </a:pPr>
            <a:endParaRPr lang="en-US"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mj-lt"/>
              <a:buAutoNum type="alphaLcParenR"/>
              <a:defRPr/>
            </a:pPr>
            <a:r>
              <a:rPr lang="en-US" b="0" kern="0" dirty="0">
                <a:solidFill>
                  <a:srgbClr val="000000"/>
                </a:solidFill>
                <a:latin typeface="Arial"/>
                <a:cs typeface="Arial"/>
                <a:sym typeface="Arial"/>
              </a:rPr>
              <a:t>Minimum marks required for other letter grades vary from year to year and cannot be predicted ahead of time</a:t>
            </a:r>
            <a:r>
              <a:rPr lang="en-US" b="0" kern="0" dirty="0" smtClean="0">
                <a:solidFill>
                  <a:srgbClr val="000000"/>
                </a:solidFill>
                <a:latin typeface="Arial"/>
                <a:cs typeface="Arial"/>
                <a:sym typeface="Arial"/>
              </a:rPr>
              <a:t>.</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3459533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00000"/>
              </a:lnSpc>
              <a:spcBef>
                <a:spcPts val="0"/>
              </a:spcBef>
              <a:spcAft>
                <a:spcPts val="0"/>
              </a:spcAft>
              <a:buClr>
                <a:srgbClr val="000000"/>
              </a:buClr>
              <a:buSzPts val="2000"/>
              <a:buNone/>
              <a:defRPr/>
            </a:pPr>
            <a:r>
              <a:rPr lang="en-US" kern="0" dirty="0">
                <a:solidFill>
                  <a:srgbClr val="000000"/>
                </a:solidFill>
                <a:latin typeface="Arial"/>
                <a:cs typeface="Arial"/>
                <a:sym typeface="Arial"/>
              </a:rPr>
              <a:t>Textbook:</a:t>
            </a:r>
            <a:endParaRPr lang="en-US" sz="1400" kern="0" dirty="0">
              <a:solidFill>
                <a:srgbClr val="000000"/>
              </a:solidFill>
              <a:latin typeface="Arial"/>
              <a:cs typeface="Arial"/>
              <a:sym typeface="Arial"/>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 Handbook for Becoming a Leader in Risk Management</a:t>
            </a: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endPar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Available </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as a </a:t>
            </a:r>
            <a:r>
              <a:rPr 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PDF</a:t>
            </a: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on </a:t>
            </a:r>
            <a:r>
              <a:rPr lang="en-US"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eClass</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no cost to you!</a:t>
            </a:r>
            <a:endPar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100000"/>
              </a:lnSpc>
              <a:spcBef>
                <a:spcPts val="0"/>
              </a:spcBef>
              <a:buClrTx/>
              <a:buSzPct val="100000"/>
              <a:buFont typeface="Wingdings" panose="05000000000000000000" pitchFamily="2" charset="2"/>
              <a:buChar char="Ø"/>
            </a:pP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Supplements </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learning … goes hand-in-glove / provides the basis for in-class active learning exercises that facilitate your learning.</a:t>
            </a:r>
          </a:p>
          <a:p>
            <a:pPr marL="360000" indent="-360000" eaLnBrk="0" hangingPunct="0">
              <a:lnSpc>
                <a:spcPct val="100000"/>
              </a:lnSpc>
              <a:spcBef>
                <a:spcPts val="0"/>
              </a:spcBef>
              <a:buClrTx/>
              <a:buSzPct val="100000"/>
              <a:buFont typeface="Wingdings" panose="05000000000000000000" pitchFamily="2" charset="2"/>
              <a:buChar char="Ø"/>
            </a:pPr>
            <a:r>
              <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Will </a:t>
            </a:r>
            <a:r>
              <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be a great resource in your future roles in your career. </a:t>
            </a:r>
            <a:endParaRPr 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100000"/>
              </a:lnSpc>
              <a:spcBef>
                <a:spcPts val="0"/>
              </a:spcBef>
              <a:buClrTx/>
              <a:buSzPct val="100000"/>
              <a:buFont typeface="Wingdings" panose="05000000000000000000" pitchFamily="2" charset="2"/>
              <a:buChar char="Ø"/>
            </a:pPr>
            <a:endPar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fontAlgn="auto">
              <a:lnSpc>
                <a:spcPct val="100000"/>
              </a:lnSpc>
              <a:spcBef>
                <a:spcPts val="0"/>
              </a:spcBef>
              <a:spcAft>
                <a:spcPts val="0"/>
              </a:spcAft>
              <a:buClr>
                <a:srgbClr val="000000"/>
              </a:buClr>
              <a:buSzPts val="2000"/>
              <a:buNone/>
              <a:defRPr/>
            </a:pPr>
            <a:r>
              <a:rPr lang="en-US" kern="0" dirty="0">
                <a:solidFill>
                  <a:srgbClr val="000000"/>
                </a:solidFill>
                <a:latin typeface="Arial"/>
                <a:ea typeface="Arial"/>
                <a:cs typeface="Arial"/>
                <a:sym typeface="Arial"/>
              </a:rPr>
              <a:t>Seminar Periods – Team Project:</a:t>
            </a:r>
          </a:p>
          <a:p>
            <a:pPr marL="360000" lvl="0" indent="-360000" fontAlgn="auto">
              <a:lnSpc>
                <a:spcPct val="100000"/>
              </a:lnSpc>
              <a:spcBef>
                <a:spcPts val="0"/>
              </a:spcBef>
              <a:spcAft>
                <a:spcPts val="0"/>
              </a:spcAft>
              <a:buClr>
                <a:srgbClr val="000000"/>
              </a:buClr>
              <a:buSzPts val="2000"/>
              <a:buFont typeface="Noto Sans Symbols"/>
              <a:buChar char="⮚"/>
              <a:defRPr/>
            </a:pPr>
            <a:r>
              <a:rPr lang="en-US" sz="1800" b="0" kern="0" dirty="0">
                <a:solidFill>
                  <a:srgbClr val="000000"/>
                </a:solidFill>
                <a:latin typeface="Arial"/>
                <a:ea typeface="Arial"/>
                <a:cs typeface="Arial"/>
                <a:sym typeface="Arial"/>
              </a:rPr>
              <a:t>The Team Project is a major course component and is an opportunity for you to work in Teams, a very common and leading practice in industry, and one in which you can develop your leadership skills. </a:t>
            </a:r>
          </a:p>
          <a:p>
            <a:pPr marL="360000" lvl="0" indent="-360000" fontAlgn="auto">
              <a:lnSpc>
                <a:spcPct val="100000"/>
              </a:lnSpc>
              <a:spcBef>
                <a:spcPts val="0"/>
              </a:spcBef>
              <a:spcAft>
                <a:spcPts val="0"/>
              </a:spcAft>
              <a:buClr>
                <a:srgbClr val="000000"/>
              </a:buClr>
              <a:buSzPts val="2000"/>
              <a:buFont typeface="Noto Sans Symbols"/>
              <a:buChar char="⮚"/>
              <a:defRPr/>
            </a:pPr>
            <a:r>
              <a:rPr lang="en-US" sz="1800" b="0" kern="0" dirty="0">
                <a:solidFill>
                  <a:srgbClr val="000000"/>
                </a:solidFill>
                <a:latin typeface="Arial"/>
                <a:ea typeface="Arial"/>
                <a:cs typeface="Arial"/>
                <a:sym typeface="Arial"/>
              </a:rPr>
              <a:t>Starting in Week 4, seminars are used for team project instruction</a:t>
            </a:r>
          </a:p>
          <a:p>
            <a:pPr marL="360000" lvl="1" indent="-3600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Dates are posted on the Course Plan </a:t>
            </a:r>
          </a:p>
          <a:p>
            <a:pPr marL="360000" lvl="1" indent="-3600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Work on your Team Project; thus, you MUST attend the seminar in which you are registered </a:t>
            </a:r>
          </a:p>
          <a:p>
            <a:pPr marL="360000" lvl="1" indent="-3600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Seminars are </a:t>
            </a:r>
            <a:r>
              <a:rPr lang="en-US" b="0" u="sng" kern="0" dirty="0">
                <a:solidFill>
                  <a:srgbClr val="000000"/>
                </a:solidFill>
                <a:latin typeface="Arial"/>
                <a:ea typeface="Arial"/>
                <a:cs typeface="Arial"/>
                <a:sym typeface="Arial"/>
              </a:rPr>
              <a:t>mandatory attendance</a:t>
            </a:r>
            <a:r>
              <a:rPr lang="en-US" b="0" kern="0" dirty="0">
                <a:solidFill>
                  <a:srgbClr val="000000"/>
                </a:solidFill>
                <a:latin typeface="Arial"/>
                <a:ea typeface="Arial"/>
                <a:cs typeface="Arial"/>
                <a:sym typeface="Arial"/>
              </a:rPr>
              <a:t> as stated in the Course Plan. </a:t>
            </a:r>
          </a:p>
          <a:p>
            <a:pPr marL="720000" lvl="1" indent="-360000" fontAlgn="auto">
              <a:lnSpc>
                <a:spcPct val="100000"/>
              </a:lnSpc>
              <a:spcBef>
                <a:spcPts val="0"/>
              </a:spcBef>
              <a:spcAft>
                <a:spcPts val="0"/>
              </a:spcAft>
              <a:buClr>
                <a:srgbClr val="000000"/>
              </a:buClr>
              <a:buSzPts val="2000"/>
              <a:buFont typeface="Noto Sans Symbols"/>
              <a:buChar char="⮚"/>
              <a:defRPr/>
            </a:pPr>
            <a:endParaRPr lang="en-US" b="0" kern="0" dirty="0">
              <a:solidFill>
                <a:srgbClr val="000000"/>
              </a:solidFill>
              <a:latin typeface="Arial"/>
              <a:ea typeface="Arial"/>
              <a:cs typeface="Arial"/>
              <a:sym typeface="Arial"/>
            </a:endParaRPr>
          </a:p>
          <a:p>
            <a:pPr marL="0" indent="0" eaLnBrk="0" hangingPunct="0">
              <a:lnSpc>
                <a:spcPct val="100000"/>
              </a:lnSpc>
              <a:spcBef>
                <a:spcPts val="0"/>
              </a:spcBef>
              <a:buClrTx/>
              <a:buSzPct val="100000"/>
              <a:buNone/>
            </a:pPr>
            <a:endParaRPr 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88365827"/>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00000"/>
              </a:lnSpc>
              <a:spcBef>
                <a:spcPts val="0"/>
              </a:spcBef>
              <a:spcAft>
                <a:spcPts val="0"/>
              </a:spcAft>
              <a:buClr>
                <a:srgbClr val="000000"/>
              </a:buClr>
              <a:buSzPts val="2000"/>
              <a:buNone/>
              <a:defRPr/>
            </a:pPr>
            <a:r>
              <a:rPr lang="en-US" kern="0" dirty="0">
                <a:solidFill>
                  <a:srgbClr val="000000"/>
                </a:solidFill>
                <a:latin typeface="Arial"/>
                <a:cs typeface="Arial"/>
                <a:sym typeface="Arial"/>
              </a:rPr>
              <a:t>University Policies:</a:t>
            </a:r>
            <a:endParaRPr lang="en-US" sz="140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Academic Integrity: The University of Alberta is committed to the highest standards of academic integrity and honesty. Students are expected to be familiar with these standards regarding academic honesty and to uphold the policies of the University in this respect. </a:t>
            </a:r>
            <a:endParaRPr lang="en-US" sz="1400"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The </a:t>
            </a:r>
            <a:r>
              <a:rPr lang="en-US" kern="0" dirty="0">
                <a:solidFill>
                  <a:srgbClr val="000000"/>
                </a:solidFill>
                <a:latin typeface="Arial"/>
                <a:ea typeface="Arial"/>
                <a:cs typeface="Arial"/>
                <a:sym typeface="Arial"/>
              </a:rPr>
              <a:t>Code of Student Behaviour</a:t>
            </a:r>
            <a:r>
              <a:rPr lang="en-US" b="0" kern="0" dirty="0">
                <a:solidFill>
                  <a:srgbClr val="000000"/>
                </a:solidFill>
                <a:latin typeface="Arial"/>
                <a:ea typeface="Arial"/>
                <a:cs typeface="Arial"/>
                <a:sym typeface="Arial"/>
              </a:rPr>
              <a:t>:</a:t>
            </a:r>
            <a:br>
              <a:rPr lang="en-US" b="0" kern="0" dirty="0">
                <a:solidFill>
                  <a:srgbClr val="000000"/>
                </a:solidFill>
                <a:latin typeface="Arial"/>
                <a:ea typeface="Arial"/>
                <a:cs typeface="Arial"/>
                <a:sym typeface="Arial"/>
              </a:rPr>
            </a:br>
            <a:r>
              <a:rPr lang="en-US" b="0" u="sng" kern="0" dirty="0">
                <a:solidFill>
                  <a:srgbClr val="000000"/>
                </a:solidFill>
                <a:latin typeface="Arial"/>
                <a:ea typeface="Arial"/>
                <a:cs typeface="Arial"/>
                <a:sym typeface="Arial"/>
                <a:hlinkClick r:id="rId3"/>
              </a:rPr>
              <a:t>https://www.ualberta.ca/governance/resources/policies-standards-and-codes-of-conduct/code-of-student-behaviour</a:t>
            </a:r>
            <a:endParaRPr lang="en-US" b="0" kern="0" dirty="0">
              <a:solidFill>
                <a:srgbClr val="000000"/>
              </a:solidFill>
              <a:latin typeface="Arial"/>
              <a:ea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Avoid any behaviour which could potentially result in suspicions of cheating, plagiarism, misrepresentation of facts and/or participation in an offence. </a:t>
            </a:r>
            <a:endParaRPr lang="en-US" sz="1400"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457200" lvl="0" indent="-457200" fontAlgn="auto">
              <a:lnSpc>
                <a:spcPct val="100000"/>
              </a:lnSpc>
              <a:spcBef>
                <a:spcPts val="0"/>
              </a:spcBef>
              <a:spcAft>
                <a:spcPts val="0"/>
              </a:spcAft>
              <a:buClr>
                <a:srgbClr val="000000"/>
              </a:buClr>
              <a:buSzPts val="2000"/>
              <a:buFont typeface="Noto Sans Symbols"/>
              <a:buChar char="⮚"/>
              <a:defRPr/>
            </a:pPr>
            <a:r>
              <a:rPr lang="en-US" b="0" kern="0" dirty="0">
                <a:solidFill>
                  <a:srgbClr val="000000"/>
                </a:solidFill>
                <a:latin typeface="Arial"/>
                <a:ea typeface="Arial"/>
                <a:cs typeface="Arial"/>
                <a:sym typeface="Arial"/>
              </a:rPr>
              <a:t>Academic dishonesty is a serious offence and can result in suspension or expulsion from the University.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4731939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00000"/>
              </a:lnSpc>
              <a:spcBef>
                <a:spcPts val="0"/>
              </a:spcBef>
              <a:spcAft>
                <a:spcPts val="0"/>
              </a:spcAft>
              <a:buClr>
                <a:srgbClr val="000000"/>
              </a:buClr>
              <a:buSzPts val="2000"/>
              <a:buNone/>
              <a:defRPr/>
            </a:pPr>
            <a:r>
              <a:rPr lang="en-US" kern="0" dirty="0">
                <a:solidFill>
                  <a:srgbClr val="000000"/>
                </a:solidFill>
                <a:latin typeface="Arial"/>
                <a:cs typeface="Arial"/>
                <a:sym typeface="Arial"/>
              </a:rPr>
              <a:t>Course-level Learning Outcomes – Eight of them:</a:t>
            </a:r>
            <a:endParaRPr lang="en-US" sz="1400" kern="0" dirty="0">
              <a:solidFill>
                <a:srgbClr val="000000"/>
              </a:solidFill>
              <a:latin typeface="Arial"/>
              <a:cs typeface="Arial"/>
              <a:sym typeface="Arial"/>
            </a:endParaRPr>
          </a:p>
          <a:p>
            <a:pPr marL="0" lvl="0" indent="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a:p>
            <a:pPr marL="0" lvl="0" indent="0" fontAlgn="auto">
              <a:lnSpc>
                <a:spcPct val="100000"/>
              </a:lnSpc>
              <a:spcBef>
                <a:spcPts val="0"/>
              </a:spcBef>
              <a:spcAft>
                <a:spcPts val="0"/>
              </a:spcAft>
              <a:buClr>
                <a:srgbClr val="000000"/>
              </a:buClr>
              <a:buSzPts val="2000"/>
              <a:buNone/>
              <a:defRPr/>
            </a:pPr>
            <a:r>
              <a:rPr lang="en-US" b="0" u="sng" kern="0" dirty="0">
                <a:solidFill>
                  <a:srgbClr val="000000"/>
                </a:solidFill>
                <a:latin typeface="Arial"/>
                <a:ea typeface="Arial"/>
                <a:cs typeface="Arial"/>
                <a:sym typeface="Arial"/>
              </a:rPr>
              <a:t>At the end of this course, the student should be able to:</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Appraise the safety culture …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Assess and positively influence the safety leadership …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Apply </a:t>
            </a:r>
            <a:r>
              <a:rPr lang="en-US" b="0" kern="0" dirty="0" smtClean="0">
                <a:solidFill>
                  <a:srgbClr val="000000"/>
                </a:solidFill>
                <a:latin typeface="Arial"/>
                <a:ea typeface="Arial"/>
                <a:cs typeface="Arial"/>
                <a:sym typeface="Arial"/>
              </a:rPr>
              <a:t>leadership </a:t>
            </a:r>
            <a:r>
              <a:rPr lang="en-US" b="0" kern="0" dirty="0">
                <a:solidFill>
                  <a:srgbClr val="000000"/>
                </a:solidFill>
                <a:latin typeface="Arial"/>
                <a:ea typeface="Arial"/>
                <a:cs typeface="Arial"/>
                <a:sym typeface="Arial"/>
              </a:rPr>
              <a:t>tools </a:t>
            </a:r>
            <a:r>
              <a:rPr lang="en-US" b="0" kern="0" dirty="0" smtClean="0">
                <a:solidFill>
                  <a:srgbClr val="000000"/>
                </a:solidFill>
                <a:latin typeface="Arial"/>
                <a:ea typeface="Arial"/>
                <a:cs typeface="Arial"/>
                <a:sym typeface="Arial"/>
              </a:rPr>
              <a:t>and programs </a:t>
            </a:r>
            <a:r>
              <a:rPr lang="en-US" b="0" kern="0" dirty="0">
                <a:solidFill>
                  <a:srgbClr val="000000"/>
                </a:solidFill>
                <a:latin typeface="Arial"/>
                <a:ea typeface="Arial"/>
                <a:cs typeface="Arial"/>
                <a:sym typeface="Arial"/>
              </a:rPr>
              <a:t>…</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Apply </a:t>
            </a:r>
            <a:r>
              <a:rPr lang="en-US" b="0" kern="0" dirty="0" smtClean="0">
                <a:solidFill>
                  <a:srgbClr val="000000"/>
                </a:solidFill>
                <a:latin typeface="Arial"/>
                <a:ea typeface="Arial"/>
                <a:cs typeface="Arial"/>
                <a:sym typeface="Arial"/>
              </a:rPr>
              <a:t>a set of incident </a:t>
            </a:r>
            <a:r>
              <a:rPr lang="en-US" b="0" kern="0" dirty="0">
                <a:solidFill>
                  <a:srgbClr val="000000"/>
                </a:solidFill>
                <a:latin typeface="Arial"/>
                <a:ea typeface="Arial"/>
                <a:cs typeface="Arial"/>
                <a:sym typeface="Arial"/>
              </a:rPr>
              <a:t>investigation and root cause analysis tools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Collaborate </a:t>
            </a:r>
            <a:r>
              <a:rPr lang="en-US" b="0" kern="0" dirty="0">
                <a:solidFill>
                  <a:srgbClr val="000000"/>
                </a:solidFill>
                <a:latin typeface="Arial"/>
                <a:ea typeface="Arial"/>
                <a:cs typeface="Arial"/>
                <a:sym typeface="Arial"/>
              </a:rPr>
              <a:t>o</a:t>
            </a:r>
            <a:r>
              <a:rPr lang="en-US" b="0" kern="0" dirty="0" smtClean="0">
                <a:solidFill>
                  <a:srgbClr val="000000"/>
                </a:solidFill>
                <a:latin typeface="Arial"/>
                <a:ea typeface="Arial"/>
                <a:cs typeface="Arial"/>
                <a:sym typeface="Arial"/>
              </a:rPr>
              <a:t>n </a:t>
            </a:r>
            <a:r>
              <a:rPr lang="en-US" b="0" kern="0" dirty="0">
                <a:solidFill>
                  <a:srgbClr val="000000"/>
                </a:solidFill>
                <a:latin typeface="Arial"/>
                <a:ea typeface="Arial"/>
                <a:cs typeface="Arial"/>
                <a:sym typeface="Arial"/>
              </a:rPr>
              <a:t>a team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Integrate and apply lessons learned from others … </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a:solidFill>
                  <a:srgbClr val="000000"/>
                </a:solidFill>
                <a:latin typeface="Arial"/>
                <a:ea typeface="Arial"/>
                <a:cs typeface="Arial"/>
                <a:sym typeface="Arial"/>
              </a:rPr>
              <a:t>Explain relevant portions </a:t>
            </a:r>
            <a:r>
              <a:rPr lang="en-US" b="0" kern="0" dirty="0" smtClean="0">
                <a:solidFill>
                  <a:srgbClr val="000000"/>
                </a:solidFill>
                <a:latin typeface="Arial"/>
                <a:ea typeface="Arial"/>
                <a:cs typeface="Arial"/>
                <a:sym typeface="Arial"/>
              </a:rPr>
              <a:t>from various acts, regulations, codes, etc.</a:t>
            </a:r>
            <a:endParaRPr lang="en-US" sz="1400" b="0" kern="0" dirty="0">
              <a:solidFill>
                <a:srgbClr val="000000"/>
              </a:solidFill>
              <a:latin typeface="Arial"/>
              <a:cs typeface="Arial"/>
              <a:sym typeface="Arial"/>
            </a:endParaRPr>
          </a:p>
          <a:p>
            <a:pPr marL="457200" lvl="0" indent="-457200" fontAlgn="auto">
              <a:lnSpc>
                <a:spcPct val="100000"/>
              </a:lnSpc>
              <a:spcBef>
                <a:spcPts val="0"/>
              </a:spcBef>
              <a:spcAft>
                <a:spcPts val="0"/>
              </a:spcAft>
              <a:buClr>
                <a:srgbClr val="000000"/>
              </a:buClr>
              <a:buSzPts val="2000"/>
              <a:buFont typeface="Times New Roman"/>
              <a:buAutoNum type="arabicParenR"/>
              <a:defRPr/>
            </a:pPr>
            <a:r>
              <a:rPr lang="en-US" b="0" kern="0" dirty="0" smtClean="0">
                <a:solidFill>
                  <a:srgbClr val="000000"/>
                </a:solidFill>
                <a:latin typeface="Arial"/>
                <a:ea typeface="Arial"/>
                <a:cs typeface="Arial"/>
                <a:sym typeface="Arial"/>
              </a:rPr>
              <a:t>Recognize and </a:t>
            </a:r>
            <a:r>
              <a:rPr lang="en-US" b="0" kern="0" dirty="0" smtClean="0">
                <a:solidFill>
                  <a:srgbClr val="000000"/>
                </a:solidFill>
                <a:latin typeface="Arial"/>
                <a:ea typeface="Arial"/>
                <a:cs typeface="Arial"/>
                <a:sym typeface="Arial"/>
              </a:rPr>
              <a:t>e</a:t>
            </a:r>
            <a:r>
              <a:rPr lang="en-US" b="0" kern="0" dirty="0" smtClean="0">
                <a:solidFill>
                  <a:srgbClr val="000000"/>
                </a:solidFill>
                <a:latin typeface="Arial"/>
                <a:ea typeface="Arial"/>
                <a:cs typeface="Arial"/>
                <a:sym typeface="Arial"/>
              </a:rPr>
              <a:t>xamine </a:t>
            </a:r>
            <a:r>
              <a:rPr lang="en-US" b="0" kern="0" dirty="0">
                <a:solidFill>
                  <a:srgbClr val="000000"/>
                </a:solidFill>
                <a:latin typeface="Arial"/>
                <a:ea typeface="Arial"/>
                <a:cs typeface="Arial"/>
                <a:sym typeface="Arial"/>
              </a:rPr>
              <a:t>a situation where professional conduct and ethics may be called into question …</a:t>
            </a:r>
            <a:endParaRPr lang="en-US" sz="1400" b="0" kern="0" dirty="0">
              <a:solidFill>
                <a:srgbClr val="000000"/>
              </a:solidFill>
              <a:latin typeface="Arial"/>
              <a:cs typeface="Arial"/>
              <a:sym typeface="Arial"/>
            </a:endParaRPr>
          </a:p>
          <a:p>
            <a:pPr marL="457200" lvl="0" indent="-330200" fontAlgn="auto">
              <a:lnSpc>
                <a:spcPct val="100000"/>
              </a:lnSpc>
              <a:spcBef>
                <a:spcPts val="0"/>
              </a:spcBef>
              <a:spcAft>
                <a:spcPts val="0"/>
              </a:spcAft>
              <a:buClr>
                <a:srgbClr val="000000"/>
              </a:buClr>
              <a:buSzPts val="2000"/>
              <a:buNone/>
              <a:defRPr/>
            </a:pPr>
            <a:endParaRPr lang="en-US" b="0" kern="0" dirty="0">
              <a:solidFill>
                <a:srgbClr val="000000"/>
              </a:solidFill>
              <a:latin typeface="Arial"/>
              <a:ea typeface="Arial"/>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5136573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defRPr/>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Expectations for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Exam</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indent="-432000" eaLnBrk="0" hangingPunct="0">
              <a:lnSpc>
                <a:spcPct val="9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Information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(date, time, parameters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will be widely communicated in advance of the Final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Exam.</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intent of the Final Exam Expectations is to help you prepare to successfully write your final exam.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final exam will be administered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through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eClass, at the fixed day and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time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as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set by the University. </a:t>
            </a: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More details will be communicated.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You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are expected to abide by the University Academic Integrity Policies and maintain academic integrity and honesty within these boundaries. It is expected that you complete this Final Exam by yourself, and that you do so without any input, assistance, or support from any other individual. Components of your efforts on this final assignment can be compared to others, and any findings where there is "duplicate work" may indicate plagiarism and a breach of academic integrity i.e. cheating. If substantiated, this can result in academic penalties.</a:t>
            </a: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sym typeface="Arial"/>
              </a:rPr>
              <a:t>Course Syllabus: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60337435"/>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Q</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Two questions that are often asked are,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“How do I succeed in this course? </a:t>
            </a:r>
          </a:p>
          <a:p>
            <a:pPr marL="0" lvl="0" indent="0" eaLnBrk="0" hangingPunct="0">
              <a:lnSpc>
                <a:spcPct val="100000"/>
              </a:lnSpc>
              <a:spcBef>
                <a:spcPts val="0"/>
              </a:spcBef>
              <a:buClrTx/>
              <a:buSzPct val="100000"/>
              <a:buNone/>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"What and how do I study for the final exam for this course?"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a:t>
            </a: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brief answer: </a:t>
            </a:r>
            <a:endPar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indent="0" eaLnBrk="0" hangingPunct="0">
              <a:lnSpc>
                <a:spcPct val="100000"/>
              </a:lnSpc>
              <a:spcBef>
                <a:spcPts val="0"/>
              </a:spcBef>
              <a:buClrTx/>
              <a:buSzPct val="100000"/>
              <a:buNone/>
              <a:defRPr/>
            </a:pPr>
            <a:endPar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Review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concepts, principles, and practices AND apply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them:</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indent="-360000" eaLnBrk="0" hangingPunct="0">
              <a:lnSpc>
                <a:spcPct val="10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Prepare for each lecture ahead of time, regularly attend lectures, and regularly review what you have learned. </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Assess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yourself on the “Learning Outcomes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p>
          <a:p>
            <a:pPr marL="720000" marR="0" lvl="0" indent="-360000" defTabSz="914400" eaLnBrk="0" latinLnBrk="0" hangingPunct="0">
              <a:lnSpc>
                <a:spcPct val="100000"/>
              </a:lnSpc>
              <a:spcBef>
                <a:spcPts val="0"/>
              </a:spcBef>
              <a:buClrTx/>
              <a:buSzPct val="100000"/>
              <a:buFont typeface="Wingdings" panose="05000000000000000000" pitchFamily="2" charset="2"/>
              <a:buChar char="Ø"/>
              <a:tabLst/>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Each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lecture Topic PPT starts with a slide that lists the "Learning Outcomes" and ends with a slide (or two) that lists the "Summary and Key Lessons". </a:t>
            </a:r>
          </a:p>
          <a:p>
            <a:pPr marL="720000" marR="0" lvl="0" indent="-360000" defTabSz="914400" eaLnBrk="0" latinLnBrk="0" hangingPunct="0">
              <a:lnSpc>
                <a:spcPct val="100000"/>
              </a:lnSpc>
              <a:spcBef>
                <a:spcPts val="0"/>
              </a:spcBef>
              <a:buClrTx/>
              <a:buSzPct val="100000"/>
              <a:buFont typeface="Wingdings" panose="05000000000000000000" pitchFamily="2" charset="2"/>
              <a:buChar char="Ø"/>
              <a:tabLst/>
              <a:defRP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Review the content on these lists to determine your level of skill and confidence in explaining / applying those learning outcomes and the summary and key points, and as a guide to direct your preparation efforts.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b="0" dirty="0" smtClean="0">
                <a:solidFill>
                  <a:srgbClr val="333399"/>
                </a:solidFill>
                <a:latin typeface="Arial" panose="020B0604020202020204" pitchFamily="34" charset="0"/>
                <a:cs typeface="Arial" panose="020B0604020202020204" pitchFamily="34" charset="0"/>
                <a:sym typeface="Arial"/>
              </a:rPr>
              <a:t>How to Succeed in this Course &amp;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Prepare for the Final Exam:</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9358781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Please note that the Final Exam is challenging!</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You may have heard that the Final Exam is “open book”. It has been for several terms now, but we have not yet decided for the 2022S term.</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But</a:t>
            </a:r>
            <a:r>
              <a:rPr kumimoji="0" lang="en-US"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let’s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suppose that </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you will be </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able to access any and all available material resources, this is NOT an effective substitute for preparing for and studying for the final exam.</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It is HIGHLY recommended that you prepare for this Final Exam as though it were proctored and WITHOUT access to any materials. </a:t>
            </a:r>
            <a:endPar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ctr"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4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Final Exam Comparison, </a:t>
            </a:r>
            <a:r>
              <a:rPr kumimoji="0" lang="en-US" altLang="en-US" sz="14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a:t>
            </a:r>
            <a:r>
              <a:rPr kumimoji="0" lang="en-US" altLang="en-US" sz="14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ssentially </a:t>
            </a:r>
            <a:r>
              <a:rPr kumimoji="0" lang="en-US" altLang="en-US" sz="14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same </a:t>
            </a:r>
            <a:r>
              <a:rPr kumimoji="0" lang="en-US" altLang="en-US" sz="14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a:t>
            </a:r>
          </a:p>
          <a:p>
            <a:pPr marL="0" marR="0" lvl="0" indent="0" algn="ctr"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4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2019F at &lt;50% = 1.3%</a:t>
            </a:r>
            <a:r>
              <a:rPr kumimoji="0" lang="en-US" altLang="en-US" sz="1400" b="1" i="0"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US" altLang="en-US" sz="14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2022W </a:t>
            </a:r>
            <a:r>
              <a:rPr kumimoji="0" lang="en-US" altLang="en-US" sz="14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&lt;50% = </a:t>
            </a:r>
            <a:r>
              <a:rPr kumimoji="0" lang="en-US" altLang="en-US" sz="14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9.6%</a:t>
            </a:r>
            <a:endParaRPr kumimoji="0" lang="en-US" altLang="en-US" sz="14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r>
              <a:rPr lang="en-US" altLang="en-US" sz="14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lang="en-US" altLang="en-US" sz="14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no access to resources</a:t>
            </a:r>
            <a:r>
              <a:rPr lang="en-US" altLang="en-US" sz="14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4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(access any available resources</a:t>
            </a:r>
            <a:r>
              <a:rPr lang="en-US" altLang="en-US" sz="14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US" altLang="en-US" sz="14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algn="ctr" eaLnBrk="0" hangingPunct="0">
              <a:lnSpc>
                <a:spcPct val="90000"/>
              </a:lnSpc>
              <a:spcBef>
                <a:spcPts val="0"/>
              </a:spcBef>
              <a:buClr>
                <a:srgbClr val="000000"/>
              </a:buClr>
              <a:buSzPct val="100000"/>
              <a:buNone/>
              <a:defRPr/>
            </a:pPr>
            <a:endParaRPr kumimoji="0" lang="en-US" altLang="en-US" sz="16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indent="-432000" eaLnBrk="0" hangingPunct="0">
              <a:lnSpc>
                <a:spcPct val="90000"/>
              </a:lnSpc>
              <a:spcBef>
                <a:spcPts val="0"/>
              </a:spcBef>
              <a:buClrTx/>
              <a:buSzPct val="100000"/>
              <a:buFont typeface="Wingdings" panose="05000000000000000000" pitchFamily="2" charset="2"/>
              <a:buChar char="Ø"/>
              <a:defRPr/>
            </a:pP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Same for all subsequent terms: 2020F, 2021W, 2021S, 2021F, 2022W: </a:t>
            </a:r>
            <a:r>
              <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lang="en-US" altLang="en-US" sz="14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10%</a:t>
            </a:r>
            <a:endParaRPr lang="en-US" altLang="en-US" sz="14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p:txBody>
      </p:sp>
      <p:pic>
        <p:nvPicPr>
          <p:cNvPr id="2" name="Picture 1"/>
          <p:cNvPicPr preferRelativeResize="0">
            <a:picLocks noChangeAspect="1"/>
          </p:cNvPicPr>
          <p:nvPr/>
        </p:nvPicPr>
        <p:blipFill>
          <a:blip r:embed="rId3"/>
          <a:stretch>
            <a:fillRect/>
          </a:stretch>
        </p:blipFill>
        <p:spPr>
          <a:xfrm>
            <a:off x="4800600" y="3090672"/>
            <a:ext cx="3652940" cy="2700000"/>
          </a:xfrm>
          <a:prstGeom prst="rect">
            <a:avLst/>
          </a:prstGeom>
          <a:ln>
            <a:solidFill>
              <a:schemeClr val="tx1"/>
            </a:solidFill>
          </a:ln>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Final Exam – “All Available Material Resources”: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pic>
        <p:nvPicPr>
          <p:cNvPr id="6" name="Picture 5"/>
          <p:cNvPicPr preferRelativeResize="0">
            <a:picLocks noChangeAspect="1"/>
          </p:cNvPicPr>
          <p:nvPr/>
        </p:nvPicPr>
        <p:blipFill>
          <a:blip r:embed="rId4"/>
          <a:stretch>
            <a:fillRect/>
          </a:stretch>
        </p:blipFill>
        <p:spPr>
          <a:xfrm>
            <a:off x="873530" y="3090672"/>
            <a:ext cx="3652940" cy="2700000"/>
          </a:xfrm>
          <a:prstGeom prst="rect">
            <a:avLst/>
          </a:prstGeom>
          <a:ln>
            <a:solidFill>
              <a:schemeClr val="tx1"/>
            </a:solidFill>
          </a:ln>
        </p:spPr>
      </p:pic>
      <p:sp>
        <p:nvSpPr>
          <p:cNvPr id="1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246350685"/>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ENGG404 </a:t>
            </a:r>
            <a:r>
              <a:rPr lang="en-US" altLang="en-US" sz="2400" b="0" dirty="0">
                <a:solidFill>
                  <a:srgbClr val="333399"/>
                </a:solidFill>
                <a:latin typeface="Arial" panose="020B0604020202020204" pitchFamily="34" charset="0"/>
                <a:cs typeface="Arial" panose="020B0604020202020204" pitchFamily="34" charset="0"/>
              </a:rPr>
              <a:t>Course Plan – posted on </a:t>
            </a:r>
            <a:r>
              <a:rPr lang="en-US" altLang="en-US" sz="2400" b="0" dirty="0" err="1">
                <a:solidFill>
                  <a:srgbClr val="333399"/>
                </a:solidFill>
                <a:latin typeface="Arial" panose="020B0604020202020204" pitchFamily="34" charset="0"/>
                <a:cs typeface="Arial" panose="020B0604020202020204" pitchFamily="34" charset="0"/>
              </a:rPr>
              <a:t>eClass</a:t>
            </a:r>
            <a:r>
              <a:rPr lang="en-US" altLang="en-US" sz="2400" b="0" dirty="0">
                <a:solidFill>
                  <a:srgbClr val="333399"/>
                </a:solidFill>
                <a:latin typeface="Arial" panose="020B0604020202020204" pitchFamily="34" charset="0"/>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58089" y="990600"/>
            <a:ext cx="6045511" cy="4775445"/>
          </a:xfrm>
          <a:prstGeom prst="rect">
            <a:avLst/>
          </a:prstGeom>
          <a:ln>
            <a:solidFill>
              <a:schemeClr val="tx1"/>
            </a:solidFill>
          </a:ln>
        </p:spPr>
      </p:pic>
      <p:sp>
        <p:nvSpPr>
          <p:cNvPr id="7" name="Left Arrow 6"/>
          <p:cNvSpPr/>
          <p:nvPr/>
        </p:nvSpPr>
        <p:spPr>
          <a:xfrm>
            <a:off x="4393800" y="1752600"/>
            <a:ext cx="4419600" cy="2790912"/>
          </a:xfrm>
          <a:prstGeom prst="leftArrow">
            <a:avLst>
              <a:gd name="adj1" fmla="val 47343"/>
              <a:gd name="adj2" fmla="val 5635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342900" indent="-342900">
              <a:buFont typeface="Wingdings" panose="05000000000000000000" pitchFamily="2" charset="2"/>
              <a:buChar char="Ø"/>
            </a:pPr>
            <a:r>
              <a:rPr lang="en-US" sz="1600" dirty="0" smtClean="0"/>
              <a:t>The Course Plan lists the order of topics, and ALL DUE DATES!</a:t>
            </a:r>
          </a:p>
          <a:p>
            <a:pPr marL="342900" indent="-342900">
              <a:buFont typeface="Wingdings" panose="05000000000000000000" pitchFamily="2" charset="2"/>
              <a:buChar char="Ø"/>
            </a:pPr>
            <a:endParaRPr lang="en-US" sz="1600" dirty="0"/>
          </a:p>
          <a:p>
            <a:pPr marL="342900" indent="-342900">
              <a:buFont typeface="Wingdings" panose="05000000000000000000" pitchFamily="2" charset="2"/>
              <a:buChar char="Ø"/>
            </a:pPr>
            <a:r>
              <a:rPr lang="en-US" sz="1600" dirty="0" smtClean="0"/>
              <a:t>Use it to plan your studies in order to prepare for the lectures!</a:t>
            </a:r>
            <a:endParaRPr lang="en-US" sz="1600" dirty="0"/>
          </a:p>
        </p:txBody>
      </p:sp>
    </p:spTree>
    <p:extLst>
      <p:ext uri="{BB962C8B-B14F-4D97-AF65-F5344CB8AC3E}">
        <p14:creationId xmlns:p14="http://schemas.microsoft.com/office/powerpoint/2010/main" val="3215373603"/>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10000"/>
              </a:lnSpc>
              <a:spcBef>
                <a:spcPts val="0"/>
              </a:spcBef>
              <a:spcAft>
                <a:spcPts val="0"/>
              </a:spcAft>
              <a:buClr>
                <a:srgbClr val="000000"/>
              </a:buClr>
              <a:buSzPts val="2000"/>
              <a:buNone/>
              <a:defRPr/>
            </a:pPr>
            <a:r>
              <a:rPr lang="en-US" kern="0" dirty="0">
                <a:solidFill>
                  <a:srgbClr val="000000"/>
                </a:solidFill>
                <a:latin typeface="Arial"/>
                <a:cs typeface="Arial"/>
                <a:sym typeface="Arial"/>
              </a:rPr>
              <a:t>Overview of </a:t>
            </a:r>
            <a:r>
              <a:rPr lang="en-US" kern="0" dirty="0" err="1">
                <a:solidFill>
                  <a:srgbClr val="000000"/>
                </a:solidFill>
                <a:latin typeface="Arial"/>
                <a:cs typeface="Arial"/>
                <a:sym typeface="Arial"/>
              </a:rPr>
              <a:t>eClass</a:t>
            </a:r>
            <a:r>
              <a:rPr lang="en-US" kern="0" dirty="0">
                <a:solidFill>
                  <a:srgbClr val="000000"/>
                </a:solidFill>
                <a:latin typeface="Arial"/>
                <a:cs typeface="Arial"/>
                <a:sym typeface="Arial"/>
              </a:rPr>
              <a:t>, How Work is Submitted, Exams at LAC:</a:t>
            </a:r>
            <a:endParaRPr lang="en-US" b="0" kern="0" dirty="0">
              <a:solidFill>
                <a:srgbClr val="000000"/>
              </a:solidFill>
              <a:latin typeface="Arial"/>
              <a:cs typeface="Arial"/>
              <a:sym typeface="Arial"/>
            </a:endParaRP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a:solidFill>
                  <a:srgbClr val="000000"/>
                </a:solidFill>
                <a:latin typeface="Arial"/>
                <a:cs typeface="Arial"/>
                <a:sym typeface="Arial"/>
              </a:rPr>
              <a:t>Overview of </a:t>
            </a:r>
            <a:r>
              <a:rPr lang="en-US" b="0" kern="0" dirty="0" err="1">
                <a:solidFill>
                  <a:srgbClr val="000000"/>
                </a:solidFill>
                <a:latin typeface="Arial"/>
                <a:cs typeface="Arial"/>
                <a:sym typeface="Arial"/>
              </a:rPr>
              <a:t>eClass</a:t>
            </a:r>
            <a:endParaRPr lang="en-US" b="0" kern="0" dirty="0">
              <a:solidFill>
                <a:srgbClr val="000000"/>
              </a:solidFill>
              <a:latin typeface="Arial"/>
              <a:cs typeface="Arial"/>
              <a:sym typeface="Arial"/>
            </a:endParaRPr>
          </a:p>
          <a:p>
            <a:pPr marL="457200" lvl="1" indent="-457200" fontAlgn="auto">
              <a:lnSpc>
                <a:spcPct val="110000"/>
              </a:lnSpc>
              <a:spcBef>
                <a:spcPts val="400"/>
              </a:spcBef>
              <a:spcAft>
                <a:spcPts val="0"/>
              </a:spcAft>
              <a:buClr>
                <a:srgbClr val="000000"/>
              </a:buClr>
              <a:buSzPts val="2000"/>
              <a:buFont typeface="Noto Sans Symbols"/>
              <a:buChar char="⮚"/>
              <a:defRPr/>
            </a:pPr>
            <a:r>
              <a:rPr lang="en-US" sz="2000" b="0" kern="0" dirty="0">
                <a:solidFill>
                  <a:srgbClr val="000000"/>
                </a:solidFill>
                <a:latin typeface="Arial"/>
                <a:cs typeface="Arial"/>
                <a:sym typeface="Arial"/>
              </a:rPr>
              <a:t>Syllabus, Course Plan, Textbook, etc. are posted on </a:t>
            </a:r>
            <a:r>
              <a:rPr lang="en-US" sz="2000" b="0" kern="0" dirty="0" err="1">
                <a:solidFill>
                  <a:srgbClr val="000000"/>
                </a:solidFill>
                <a:latin typeface="Arial"/>
                <a:cs typeface="Arial"/>
                <a:sym typeface="Arial"/>
              </a:rPr>
              <a:t>eClass</a:t>
            </a:r>
            <a:endParaRPr lang="en-US" sz="2000" b="0" kern="0" dirty="0">
              <a:solidFill>
                <a:srgbClr val="000000"/>
              </a:solidFill>
              <a:latin typeface="Arial"/>
              <a:cs typeface="Arial"/>
              <a:sym typeface="Arial"/>
            </a:endParaRPr>
          </a:p>
          <a:p>
            <a:pPr marL="457200" lvl="1" indent="-457200" fontAlgn="auto">
              <a:lnSpc>
                <a:spcPct val="110000"/>
              </a:lnSpc>
              <a:spcBef>
                <a:spcPts val="400"/>
              </a:spcBef>
              <a:spcAft>
                <a:spcPts val="0"/>
              </a:spcAft>
              <a:buClr>
                <a:srgbClr val="000000"/>
              </a:buClr>
              <a:buSzPts val="2000"/>
              <a:buFont typeface="Noto Sans Symbols"/>
              <a:buChar char="⮚"/>
              <a:defRPr/>
            </a:pPr>
            <a:r>
              <a:rPr lang="en-US" sz="2000" b="0" kern="0" dirty="0">
                <a:solidFill>
                  <a:srgbClr val="000000"/>
                </a:solidFill>
                <a:latin typeface="Arial"/>
                <a:cs typeface="Arial"/>
                <a:sym typeface="Arial"/>
              </a:rPr>
              <a:t>All assignments are posted on </a:t>
            </a:r>
            <a:r>
              <a:rPr lang="en-US" sz="2000" b="0" kern="0" dirty="0" err="1">
                <a:solidFill>
                  <a:srgbClr val="000000"/>
                </a:solidFill>
                <a:latin typeface="Arial"/>
                <a:cs typeface="Arial"/>
                <a:sym typeface="Arial"/>
              </a:rPr>
              <a:t>eClass</a:t>
            </a:r>
            <a:endParaRPr lang="en-US" sz="2000" b="0" kern="0" dirty="0">
              <a:solidFill>
                <a:srgbClr val="000000"/>
              </a:solidFill>
              <a:latin typeface="Arial"/>
              <a:cs typeface="Arial"/>
              <a:sym typeface="Arial"/>
            </a:endParaRPr>
          </a:p>
          <a:p>
            <a:pPr marL="457200" lvl="1" indent="-457200" fontAlgn="auto">
              <a:lnSpc>
                <a:spcPct val="110000"/>
              </a:lnSpc>
              <a:spcBef>
                <a:spcPts val="400"/>
              </a:spcBef>
              <a:spcAft>
                <a:spcPts val="0"/>
              </a:spcAft>
              <a:buClr>
                <a:srgbClr val="000000"/>
              </a:buClr>
              <a:buSzPts val="2000"/>
              <a:buFont typeface="Noto Sans Symbols"/>
              <a:buChar char="⮚"/>
              <a:defRPr/>
            </a:pPr>
            <a:r>
              <a:rPr lang="en-US" sz="2000" b="0" kern="0" dirty="0">
                <a:solidFill>
                  <a:srgbClr val="000000"/>
                </a:solidFill>
                <a:latin typeface="Arial"/>
                <a:cs typeface="Arial"/>
                <a:sym typeface="Arial"/>
              </a:rPr>
              <a:t>All work is submitted on </a:t>
            </a:r>
            <a:r>
              <a:rPr lang="en-US" sz="2000" b="0" kern="0" dirty="0" err="1">
                <a:solidFill>
                  <a:srgbClr val="000000"/>
                </a:solidFill>
                <a:latin typeface="Arial"/>
                <a:cs typeface="Arial"/>
                <a:sym typeface="Arial"/>
              </a:rPr>
              <a:t>eClass</a:t>
            </a:r>
            <a:endParaRPr lang="en-US" sz="2000" b="0" kern="0" dirty="0">
              <a:solidFill>
                <a:srgbClr val="000000"/>
              </a:solidFill>
              <a:latin typeface="Arial"/>
              <a:cs typeface="Arial"/>
              <a:sym typeface="Arial"/>
            </a:endParaRPr>
          </a:p>
          <a:p>
            <a:pPr marL="457200" lvl="1" indent="-457200" fontAlgn="auto">
              <a:lnSpc>
                <a:spcPct val="110000"/>
              </a:lnSpc>
              <a:spcBef>
                <a:spcPts val="400"/>
              </a:spcBef>
              <a:spcAft>
                <a:spcPts val="0"/>
              </a:spcAft>
              <a:buClr>
                <a:srgbClr val="000000"/>
              </a:buClr>
              <a:buSzPts val="2000"/>
              <a:buFont typeface="Noto Sans Symbols"/>
              <a:buChar char="⮚"/>
              <a:defRPr/>
            </a:pPr>
            <a:r>
              <a:rPr lang="en-US" sz="2000" b="0" kern="0" dirty="0">
                <a:solidFill>
                  <a:srgbClr val="000000"/>
                </a:solidFill>
                <a:latin typeface="Arial"/>
                <a:cs typeface="Arial"/>
                <a:sym typeface="Arial"/>
              </a:rPr>
              <a:t>Open </a:t>
            </a:r>
            <a:r>
              <a:rPr lang="en-US" sz="2000" b="0" kern="0" dirty="0" err="1">
                <a:solidFill>
                  <a:srgbClr val="000000"/>
                </a:solidFill>
                <a:latin typeface="Arial"/>
                <a:cs typeface="Arial"/>
                <a:sym typeface="Arial"/>
              </a:rPr>
              <a:t>eClass</a:t>
            </a:r>
            <a:r>
              <a:rPr lang="en-US" sz="2000" b="0" kern="0" dirty="0">
                <a:solidFill>
                  <a:srgbClr val="000000"/>
                </a:solidFill>
                <a:latin typeface="Arial"/>
                <a:cs typeface="Arial"/>
                <a:sym typeface="Arial"/>
              </a:rPr>
              <a: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err="1">
                <a:solidFill>
                  <a:srgbClr val="333399"/>
                </a:solidFill>
                <a:latin typeface="Arial" panose="020B0604020202020204" pitchFamily="34" charset="0"/>
                <a:cs typeface="Arial" panose="020B0604020202020204" pitchFamily="34" charset="0"/>
              </a:rPr>
              <a:t>eClass</a:t>
            </a:r>
            <a:r>
              <a:rPr lang="en-US" altLang="en-US" sz="2400" b="0" dirty="0">
                <a:solidFill>
                  <a:srgbClr val="333399"/>
                </a:solidFill>
                <a:latin typeface="Arial" panose="020B0604020202020204" pitchFamily="34" charset="0"/>
                <a:cs typeface="Arial" panose="020B0604020202020204" pitchFamily="34" charset="0"/>
              </a:rPr>
              <a:t> Overview: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95517541"/>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81000" y="1454889"/>
            <a:ext cx="8506800" cy="4581266"/>
          </a:xfrm>
          <a:prstGeom prst="rect">
            <a:avLst/>
          </a:prstGeom>
          <a:ln>
            <a:solidFill>
              <a:schemeClr val="tx1"/>
            </a:solidFill>
          </a:ln>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auto" latinLnBrk="0" hangingPunct="1">
              <a:lnSpc>
                <a:spcPct val="110000"/>
              </a:lnSpc>
              <a:spcBef>
                <a:spcPts val="0"/>
              </a:spcBef>
              <a:spcAft>
                <a:spcPts val="0"/>
              </a:spcAft>
              <a:buClr>
                <a:srgbClr val="000000"/>
              </a:buClr>
              <a:buSzPts val="2000"/>
              <a:buFont typeface="Arial" panose="020B0604020202020204" pitchFamily="34" charset="0"/>
              <a:buNone/>
              <a:tabLst/>
              <a:defRPr/>
            </a:pPr>
            <a:r>
              <a:rPr kumimoji="0" lang="en-US" sz="2000" b="1" i="0" u="none" strike="noStrike" kern="0" cap="none" spc="0" normalizeH="0" baseline="0" noProof="0" dirty="0" smtClean="0">
                <a:ln>
                  <a:noFill/>
                </a:ln>
                <a:solidFill>
                  <a:srgbClr val="000000"/>
                </a:solidFill>
                <a:effectLst/>
                <a:uLnTx/>
                <a:uFillTx/>
                <a:latin typeface="Arial"/>
                <a:ea typeface="+mn-ea"/>
                <a:cs typeface="Arial"/>
                <a:sym typeface="Arial"/>
              </a:rPr>
              <a:t>Upcoming Events – due dates for Assignments, Quizzes, Team Project Components, and the Final Exam:</a:t>
            </a:r>
            <a:endParaRPr kumimoji="0" lang="en-US" sz="20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err="1">
                <a:ln>
                  <a:noFill/>
                </a:ln>
                <a:solidFill>
                  <a:srgbClr val="333399"/>
                </a:solidFill>
                <a:effectLst/>
                <a:uLnTx/>
                <a:uFillTx/>
                <a:latin typeface="Arial" panose="020B0604020202020204" pitchFamily="34" charset="0"/>
                <a:ea typeface="+mn-ea"/>
                <a:cs typeface="Arial" panose="020B0604020202020204" pitchFamily="34" charset="0"/>
              </a:rPr>
              <a:t>eClass</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Overview: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ounded Rectangle 2"/>
          <p:cNvSpPr/>
          <p:nvPr/>
        </p:nvSpPr>
        <p:spPr>
          <a:xfrm>
            <a:off x="6858000" y="3352800"/>
            <a:ext cx="1676400" cy="26514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Arial"/>
              <a:ea typeface="+mn-ea"/>
              <a:cs typeface="+mn-cs"/>
            </a:endParaRPr>
          </a:p>
        </p:txBody>
      </p:sp>
      <p:sp>
        <p:nvSpPr>
          <p:cNvPr id="10" name="Right Arrow 9"/>
          <p:cNvSpPr/>
          <p:nvPr/>
        </p:nvSpPr>
        <p:spPr>
          <a:xfrm>
            <a:off x="664800" y="3372465"/>
            <a:ext cx="6193200" cy="2390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800" b="1" i="0" u="none" strike="noStrike" kern="1200" cap="none" spc="0" normalizeH="0" baseline="0" noProof="0" dirty="0" smtClean="0">
                <a:ln>
                  <a:noFill/>
                </a:ln>
                <a:solidFill>
                  <a:srgbClr val="FFFFFF"/>
                </a:solidFill>
                <a:effectLst/>
                <a:uLnTx/>
                <a:uFillTx/>
                <a:latin typeface="Arial"/>
                <a:ea typeface="+mn-ea"/>
                <a:cs typeface="+mn-cs"/>
              </a:rPr>
              <a:t>All due dates for assignments and on-line </a:t>
            </a:r>
            <a:r>
              <a:rPr kumimoji="0" lang="en-US" sz="1800" b="1" i="0" u="none" strike="noStrike" kern="1200" cap="none" spc="0" normalizeH="0" baseline="0" noProof="0" dirty="0" err="1" smtClean="0">
                <a:ln>
                  <a:noFill/>
                </a:ln>
                <a:solidFill>
                  <a:srgbClr val="FFFFFF"/>
                </a:solidFill>
                <a:effectLst/>
                <a:uLnTx/>
                <a:uFillTx/>
                <a:latin typeface="Arial"/>
                <a:ea typeface="+mn-ea"/>
                <a:cs typeface="+mn-cs"/>
              </a:rPr>
              <a:t>eClass</a:t>
            </a:r>
            <a:r>
              <a:rPr kumimoji="0" lang="en-US" sz="1800" b="1" i="0" u="none" strike="noStrike" kern="1200" cap="none" spc="0" normalizeH="0" baseline="0" noProof="0" dirty="0" smtClean="0">
                <a:ln>
                  <a:noFill/>
                </a:ln>
                <a:solidFill>
                  <a:srgbClr val="FFFFFF"/>
                </a:solidFill>
                <a:effectLst/>
                <a:uLnTx/>
                <a:uFillTx/>
                <a:latin typeface="Arial"/>
                <a:ea typeface="+mn-ea"/>
                <a:cs typeface="+mn-cs"/>
              </a:rPr>
              <a:t> quizzes (except ITP Survey) are listed under “Upcoming Events”.</a:t>
            </a:r>
          </a:p>
        </p:txBody>
      </p:sp>
    </p:spTree>
    <p:extLst>
      <p:ext uri="{BB962C8B-B14F-4D97-AF65-F5344CB8AC3E}">
        <p14:creationId xmlns:p14="http://schemas.microsoft.com/office/powerpoint/2010/main" val="87059762"/>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76952" y="1658509"/>
            <a:ext cx="8357448" cy="4500834"/>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auto" latinLnBrk="0" hangingPunct="1">
              <a:lnSpc>
                <a:spcPct val="110000"/>
              </a:lnSpc>
              <a:spcBef>
                <a:spcPts val="0"/>
              </a:spcBef>
              <a:spcAft>
                <a:spcPts val="0"/>
              </a:spcAft>
              <a:buClr>
                <a:srgbClr val="000000"/>
              </a:buClr>
              <a:buSzPts val="2000"/>
              <a:buFont typeface="Arial" panose="020B0604020202020204" pitchFamily="34" charset="0"/>
              <a:buNone/>
              <a:tabLst/>
              <a:defRPr/>
            </a:pPr>
            <a:r>
              <a:rPr kumimoji="0" lang="en-US" sz="2000" b="1" i="0" u="none" strike="noStrike" kern="0" cap="none" spc="0" normalizeH="0" baseline="0" noProof="0" dirty="0" smtClean="0">
                <a:ln>
                  <a:noFill/>
                </a:ln>
                <a:solidFill>
                  <a:srgbClr val="000000"/>
                </a:solidFill>
                <a:effectLst/>
                <a:uLnTx/>
                <a:uFillTx/>
                <a:latin typeface="Arial"/>
                <a:ea typeface="+mn-ea"/>
                <a:cs typeface="Arial"/>
                <a:sym typeface="Arial"/>
              </a:rPr>
              <a:t>Zoom meetings – different links for different Professors.</a:t>
            </a:r>
          </a:p>
          <a:p>
            <a:pPr marL="0" marR="0" lvl="0" indent="0" algn="l" defTabSz="914400" rtl="0" eaLnBrk="1" fontAlgn="auto" latinLnBrk="0" hangingPunct="1">
              <a:lnSpc>
                <a:spcPct val="110000"/>
              </a:lnSpc>
              <a:spcBef>
                <a:spcPts val="0"/>
              </a:spcBef>
              <a:spcAft>
                <a:spcPts val="0"/>
              </a:spcAft>
              <a:buClr>
                <a:srgbClr val="000000"/>
              </a:buClr>
              <a:buSzPts val="2000"/>
              <a:buFont typeface="Arial" panose="020B0604020202020204" pitchFamily="34" charset="0"/>
              <a:buNone/>
              <a:tabLst/>
              <a:defRPr/>
            </a:pPr>
            <a:r>
              <a:rPr lang="en-US" kern="0" dirty="0" smtClean="0">
                <a:solidFill>
                  <a:srgbClr val="000000"/>
                </a:solidFill>
                <a:latin typeface="Arial"/>
                <a:cs typeface="Arial"/>
                <a:sym typeface="Arial"/>
              </a:rPr>
              <a:t>Announcements, Professor Availability, </a:t>
            </a:r>
            <a:r>
              <a:rPr lang="en-US" kern="0" dirty="0" err="1" smtClean="0">
                <a:solidFill>
                  <a:srgbClr val="000000"/>
                </a:solidFill>
                <a:latin typeface="Arial"/>
                <a:cs typeface="Arial"/>
                <a:sym typeface="Arial"/>
              </a:rPr>
              <a:t>eClass</a:t>
            </a:r>
            <a:r>
              <a:rPr lang="en-US" kern="0" dirty="0" smtClean="0">
                <a:solidFill>
                  <a:srgbClr val="000000"/>
                </a:solidFill>
                <a:latin typeface="Arial"/>
                <a:cs typeface="Arial"/>
                <a:sym typeface="Arial"/>
              </a:rPr>
              <a:t> Sections</a:t>
            </a:r>
            <a:r>
              <a:rPr kumimoji="0" lang="en-US" sz="2000" b="1" i="0" u="none" strike="noStrike" kern="0" cap="none" spc="0" normalizeH="0" baseline="0" noProof="0" dirty="0" smtClean="0">
                <a:ln>
                  <a:noFill/>
                </a:ln>
                <a:solidFill>
                  <a:srgbClr val="000000"/>
                </a:solidFill>
                <a:effectLst/>
                <a:uLnTx/>
                <a:uFillTx/>
                <a:latin typeface="Arial"/>
                <a:ea typeface="+mn-ea"/>
                <a:cs typeface="Arial"/>
                <a:sym typeface="Arial"/>
              </a:rPr>
              <a:t> </a:t>
            </a:r>
            <a:endParaRPr kumimoji="0" lang="en-US" sz="20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err="1">
                <a:ln>
                  <a:noFill/>
                </a:ln>
                <a:solidFill>
                  <a:srgbClr val="333399"/>
                </a:solidFill>
                <a:effectLst/>
                <a:uLnTx/>
                <a:uFillTx/>
                <a:latin typeface="Arial" panose="020B0604020202020204" pitchFamily="34" charset="0"/>
                <a:ea typeface="+mn-ea"/>
                <a:cs typeface="Arial" panose="020B0604020202020204" pitchFamily="34" charset="0"/>
              </a:rPr>
              <a:t>eClass</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Overview: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ounded Rectangle 2"/>
          <p:cNvSpPr/>
          <p:nvPr/>
        </p:nvSpPr>
        <p:spPr>
          <a:xfrm>
            <a:off x="304800" y="2743201"/>
            <a:ext cx="5911645" cy="3412800"/>
          </a:xfrm>
          <a:prstGeom prst="roundRect">
            <a:avLst>
              <a:gd name="adj" fmla="val 9388"/>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Arial"/>
              <a:ea typeface="+mn-ea"/>
              <a:cs typeface="+mn-cs"/>
            </a:endParaRPr>
          </a:p>
        </p:txBody>
      </p:sp>
      <p:sp>
        <p:nvSpPr>
          <p:cNvPr id="14" name="Left Arrow 13"/>
          <p:cNvSpPr/>
          <p:nvPr/>
        </p:nvSpPr>
        <p:spPr>
          <a:xfrm>
            <a:off x="3888145" y="3483628"/>
            <a:ext cx="4906200" cy="2709243"/>
          </a:xfrm>
          <a:prstGeom prst="leftArrow">
            <a:avLst>
              <a:gd name="adj1" fmla="val 60887"/>
              <a:gd name="adj2" fmla="val 50000"/>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600" b="1" i="0" u="none" strike="noStrike" kern="1200" cap="none" spc="0" normalizeH="0" baseline="0" noProof="0" dirty="0" smtClean="0">
                <a:ln>
                  <a:noFill/>
                </a:ln>
                <a:solidFill>
                  <a:srgbClr val="FFFFFF"/>
                </a:solidFill>
                <a:effectLst/>
                <a:uLnTx/>
                <a:uFillTx/>
                <a:latin typeface="Arial"/>
                <a:ea typeface="+mn-ea"/>
                <a:cs typeface="+mn-cs"/>
              </a:rPr>
              <a:t>Announcements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600" b="1" i="0" u="none" strike="noStrike" kern="1200" cap="none" spc="0" normalizeH="0" baseline="0" noProof="0" dirty="0" smtClean="0">
                <a:ln>
                  <a:noFill/>
                </a:ln>
                <a:solidFill>
                  <a:srgbClr val="FFFFFF"/>
                </a:solidFill>
                <a:effectLst/>
                <a:uLnTx/>
                <a:uFillTx/>
                <a:latin typeface="Arial"/>
                <a:ea typeface="+mn-ea"/>
                <a:cs typeface="+mn-cs"/>
              </a:rPr>
              <a:t>Professor Availability</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600" b="1" i="0" u="none" strike="noStrike" kern="1200" cap="none" spc="0" normalizeH="0" baseline="0" noProof="0" dirty="0" smtClean="0">
                <a:ln>
                  <a:noFill/>
                </a:ln>
                <a:solidFill>
                  <a:srgbClr val="FFFFFF"/>
                </a:solidFill>
                <a:effectLst/>
                <a:uLnTx/>
                <a:uFillTx/>
                <a:latin typeface="Arial"/>
                <a:ea typeface="+mn-ea"/>
                <a:cs typeface="+mn-cs"/>
              </a:rPr>
              <a:t>Academic </a:t>
            </a:r>
            <a:r>
              <a:rPr kumimoji="0" lang="en-US" sz="1600" b="1" i="0" u="none" strike="noStrike" kern="1200" cap="none" spc="0" normalizeH="0" baseline="0" noProof="0" dirty="0" smtClean="0">
                <a:ln>
                  <a:noFill/>
                </a:ln>
                <a:solidFill>
                  <a:srgbClr val="FFFFFF"/>
                </a:solidFill>
                <a:effectLst/>
                <a:uLnTx/>
                <a:uFillTx/>
                <a:latin typeface="Arial"/>
                <a:ea typeface="+mn-ea"/>
                <a:cs typeface="+mn-cs"/>
              </a:rPr>
              <a:t>Integrity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600" b="1" i="0" u="none" strike="noStrike" kern="1200" cap="none" spc="0" normalizeH="0" baseline="0" noProof="0" dirty="0" smtClean="0">
                <a:ln>
                  <a:noFill/>
                </a:ln>
                <a:solidFill>
                  <a:srgbClr val="FFFFFF"/>
                </a:solidFill>
                <a:effectLst/>
                <a:uLnTx/>
                <a:uFillTx/>
                <a:latin typeface="Arial"/>
                <a:ea typeface="+mn-ea"/>
                <a:cs typeface="+mn-cs"/>
              </a:rPr>
              <a:t>Course Syllabus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sz="1600" b="1" i="0" u="none" strike="noStrike" kern="1200" cap="none" spc="0" normalizeH="0" baseline="0" noProof="0" dirty="0" smtClean="0">
                <a:ln>
                  <a:noFill/>
                </a:ln>
                <a:solidFill>
                  <a:srgbClr val="FFFFFF"/>
                </a:solidFill>
                <a:effectLst/>
                <a:uLnTx/>
                <a:uFillTx/>
                <a:latin typeface="Arial"/>
                <a:ea typeface="+mn-ea"/>
                <a:cs typeface="+mn-cs"/>
              </a:rPr>
              <a:t>Course Plan</a:t>
            </a: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94879583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a:fillRect/>
          </a:stretch>
        </p:blipFill>
        <p:spPr>
          <a:xfrm>
            <a:off x="291892" y="1323317"/>
            <a:ext cx="4101151" cy="4724681"/>
          </a:xfrm>
          <a:prstGeom prst="rect">
            <a:avLst/>
          </a:prstGeom>
        </p:spPr>
      </p:pic>
      <p:pic>
        <p:nvPicPr>
          <p:cNvPr id="2" name="Picture 1"/>
          <p:cNvPicPr>
            <a:picLocks noChangeAspect="1"/>
          </p:cNvPicPr>
          <p:nvPr/>
        </p:nvPicPr>
        <p:blipFill>
          <a:blip r:embed="rId4"/>
          <a:stretch>
            <a:fillRect/>
          </a:stretch>
        </p:blipFill>
        <p:spPr>
          <a:xfrm>
            <a:off x="4598315" y="1323318"/>
            <a:ext cx="4215085" cy="4724681"/>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ENGG404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Course Plan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Matches </a:t>
            </a:r>
            <a:r>
              <a:rPr kumimoji="0" lang="en-US" altLang="en-US" sz="2400" b="0" i="0" u="none" strike="noStrike" kern="1200" cap="none" spc="0" normalizeH="0" baseline="0" noProof="0" dirty="0" err="1" smtClean="0">
                <a:ln>
                  <a:noFill/>
                </a:ln>
                <a:solidFill>
                  <a:srgbClr val="333399"/>
                </a:solidFill>
                <a:effectLst/>
                <a:uLnTx/>
                <a:uFillTx/>
                <a:latin typeface="Arial" panose="020B0604020202020204" pitchFamily="34" charset="0"/>
                <a:ea typeface="+mn-ea"/>
                <a:cs typeface="Arial" panose="020B0604020202020204" pitchFamily="34" charset="0"/>
              </a:rPr>
              <a:t>eClass</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cxnSp>
        <p:nvCxnSpPr>
          <p:cNvPr id="6" name="Straight Arrow Connector 5"/>
          <p:cNvCxnSpPr/>
          <p:nvPr/>
        </p:nvCxnSpPr>
        <p:spPr>
          <a:xfrm flipH="1">
            <a:off x="2438400" y="1828800"/>
            <a:ext cx="2153315" cy="16764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2514601" y="3054282"/>
            <a:ext cx="2083714" cy="8319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733800" y="4419600"/>
            <a:ext cx="85791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auto" latinLnBrk="0" hangingPunct="1">
              <a:lnSpc>
                <a:spcPct val="110000"/>
              </a:lnSpc>
              <a:spcBef>
                <a:spcPts val="0"/>
              </a:spcBef>
              <a:spcAft>
                <a:spcPts val="0"/>
              </a:spcAft>
              <a:buClr>
                <a:srgbClr val="000000"/>
              </a:buClr>
              <a:buSzPts val="2000"/>
              <a:buFont typeface="Arial" panose="020B0604020202020204" pitchFamily="34" charset="0"/>
              <a:buNone/>
              <a:tabLst/>
              <a:defRPr/>
            </a:pPr>
            <a:r>
              <a:rPr kumimoji="0" lang="en-US" sz="2000" b="1" i="0" u="none" strike="noStrike" kern="0" cap="none" spc="0" normalizeH="0" baseline="0" noProof="0" dirty="0" smtClean="0">
                <a:ln>
                  <a:noFill/>
                </a:ln>
                <a:solidFill>
                  <a:srgbClr val="000000"/>
                </a:solidFill>
                <a:effectLst/>
                <a:uLnTx/>
                <a:uFillTx/>
                <a:latin typeface="Arial"/>
                <a:ea typeface="+mn-ea"/>
                <a:cs typeface="Arial"/>
                <a:sym typeface="Arial"/>
              </a:rPr>
              <a:t>The “Week #” tabs on </a:t>
            </a:r>
            <a:r>
              <a:rPr kumimoji="0" lang="en-US" sz="2000" b="1" i="0" u="none" strike="noStrike" kern="0" cap="none" spc="0" normalizeH="0" baseline="0" noProof="0" dirty="0" err="1" smtClean="0">
                <a:ln>
                  <a:noFill/>
                </a:ln>
                <a:solidFill>
                  <a:srgbClr val="000000"/>
                </a:solidFill>
                <a:effectLst/>
                <a:uLnTx/>
                <a:uFillTx/>
                <a:latin typeface="Arial"/>
                <a:ea typeface="+mn-ea"/>
                <a:cs typeface="Arial"/>
                <a:sym typeface="Arial"/>
              </a:rPr>
              <a:t>eClass</a:t>
            </a:r>
            <a:r>
              <a:rPr kumimoji="0" lang="en-US" sz="2000" b="1" i="0" u="none" strike="noStrike" kern="0" cap="none" spc="0" normalizeH="0" baseline="0" noProof="0" dirty="0" smtClean="0">
                <a:ln>
                  <a:noFill/>
                </a:ln>
                <a:solidFill>
                  <a:srgbClr val="000000"/>
                </a:solidFill>
                <a:effectLst/>
                <a:uLnTx/>
                <a:uFillTx/>
                <a:latin typeface="Arial"/>
                <a:ea typeface="+mn-ea"/>
                <a:cs typeface="Arial"/>
                <a:sym typeface="Arial"/>
              </a:rPr>
              <a:t> match the Course Plan</a:t>
            </a:r>
            <a:endParaRPr kumimoji="0" lang="en-US" sz="2000" b="1" i="0" u="none" strike="noStrike" kern="0" cap="none" spc="0" normalizeH="0" baseline="0" noProof="0" dirty="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146482072"/>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a:solidFill>
                  <a:srgbClr val="000000"/>
                </a:solidFill>
                <a:latin typeface="Arial"/>
                <a:cs typeface="Arial"/>
                <a:sym typeface="Arial"/>
              </a:rPr>
              <a:t>Go to your email </a:t>
            </a:r>
            <a:r>
              <a:rPr lang="en-US" kern="0" dirty="0">
                <a:solidFill>
                  <a:srgbClr val="000000"/>
                </a:solidFill>
                <a:latin typeface="Arial"/>
                <a:cs typeface="Arial"/>
                <a:sym typeface="Arial"/>
              </a:rPr>
              <a:t>APPS</a:t>
            </a:r>
            <a:r>
              <a:rPr lang="en-US" b="0" kern="0" dirty="0">
                <a:solidFill>
                  <a:srgbClr val="000000"/>
                </a:solidFill>
                <a:latin typeface="Arial"/>
                <a:cs typeface="Arial"/>
                <a:sym typeface="Arial"/>
              </a:rPr>
              <a:t> icon</a:t>
            </a: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a:solidFill>
                  <a:srgbClr val="000000"/>
                </a:solidFill>
                <a:latin typeface="Arial"/>
                <a:cs typeface="Arial"/>
                <a:sym typeface="Arial"/>
              </a:rPr>
              <a:t>Select </a:t>
            </a:r>
            <a:r>
              <a:rPr lang="en-US" kern="0" dirty="0">
                <a:solidFill>
                  <a:srgbClr val="000000"/>
                </a:solidFill>
                <a:latin typeface="Arial"/>
                <a:cs typeface="Arial"/>
                <a:sym typeface="Arial"/>
              </a:rPr>
              <a:t>Drive</a:t>
            </a: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a:solidFill>
                  <a:srgbClr val="000000"/>
                </a:solidFill>
                <a:latin typeface="Arial"/>
                <a:cs typeface="Arial"/>
                <a:sym typeface="Arial"/>
              </a:rPr>
              <a:t>Under </a:t>
            </a:r>
            <a:r>
              <a:rPr lang="en-US" kern="0" dirty="0">
                <a:solidFill>
                  <a:srgbClr val="000000"/>
                </a:solidFill>
                <a:latin typeface="Arial"/>
                <a:cs typeface="Arial"/>
                <a:sym typeface="Arial"/>
              </a:rPr>
              <a:t>Drive</a:t>
            </a:r>
            <a:r>
              <a:rPr lang="en-US" b="0" kern="0" dirty="0">
                <a:solidFill>
                  <a:srgbClr val="000000"/>
                </a:solidFill>
                <a:latin typeface="Arial"/>
                <a:cs typeface="Arial"/>
                <a:sym typeface="Arial"/>
              </a:rPr>
              <a:t>, select Shared Drives, then select </a:t>
            </a:r>
            <a:r>
              <a:rPr lang="en-US" b="0" kern="0" dirty="0" smtClean="0">
                <a:solidFill>
                  <a:srgbClr val="000000"/>
                </a:solidFill>
                <a:latin typeface="Arial"/>
                <a:cs typeface="Arial"/>
                <a:sym typeface="Arial"/>
              </a:rPr>
              <a:t/>
            </a:r>
            <a:br>
              <a:rPr lang="en-US" b="0" kern="0" dirty="0" smtClean="0">
                <a:solidFill>
                  <a:srgbClr val="000000"/>
                </a:solidFill>
                <a:latin typeface="Arial"/>
                <a:cs typeface="Arial"/>
                <a:sym typeface="Arial"/>
              </a:rPr>
            </a:br>
            <a:r>
              <a:rPr lang="en-US" kern="0" dirty="0" smtClean="0">
                <a:solidFill>
                  <a:srgbClr val="000000"/>
                </a:solidFill>
                <a:latin typeface="Arial"/>
                <a:cs typeface="Arial"/>
                <a:sym typeface="Arial"/>
              </a:rPr>
              <a:t>ENGG404 Student </a:t>
            </a:r>
            <a:r>
              <a:rPr lang="en-US" kern="0" dirty="0">
                <a:solidFill>
                  <a:srgbClr val="000000"/>
                </a:solidFill>
                <a:latin typeface="Arial"/>
                <a:cs typeface="Arial"/>
                <a:sym typeface="Arial"/>
              </a:rPr>
              <a:t>Resources</a:t>
            </a:r>
            <a:endParaRPr lang="en-US" b="0" kern="0" dirty="0">
              <a:solidFill>
                <a:srgbClr val="000000"/>
              </a:solidFill>
              <a:latin typeface="Arial"/>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ENGG404 </a:t>
            </a:r>
            <a:r>
              <a:rPr lang="en-US" altLang="en-US" sz="2400" b="0" dirty="0" smtClean="0">
                <a:solidFill>
                  <a:srgbClr val="333399"/>
                </a:solidFill>
                <a:latin typeface="Arial" panose="020B0604020202020204" pitchFamily="34" charset="0"/>
                <a:cs typeface="Arial" panose="020B0604020202020204" pitchFamily="34" charset="0"/>
              </a:rPr>
              <a:t>Student </a:t>
            </a:r>
            <a:r>
              <a:rPr lang="en-US" altLang="en-US" sz="2400" b="0" dirty="0">
                <a:solidFill>
                  <a:srgbClr val="333399"/>
                </a:solidFill>
                <a:latin typeface="Arial" panose="020B0604020202020204" pitchFamily="34" charset="0"/>
                <a:cs typeface="Arial" panose="020B0604020202020204" pitchFamily="34" charset="0"/>
              </a:rPr>
              <a:t>Resources: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294762" y="2421817"/>
            <a:ext cx="2405238" cy="2659568"/>
          </a:xfrm>
          <a:prstGeom prst="rect">
            <a:avLst/>
          </a:prstGeom>
          <a:ln>
            <a:solidFill>
              <a:schemeClr val="tx2"/>
            </a:solidFill>
          </a:ln>
        </p:spPr>
      </p:pic>
      <p:pic>
        <p:nvPicPr>
          <p:cNvPr id="10" name="Picture 9"/>
          <p:cNvPicPr>
            <a:picLocks noChangeAspect="1"/>
          </p:cNvPicPr>
          <p:nvPr/>
        </p:nvPicPr>
        <p:blipFill>
          <a:blip r:embed="rId4"/>
          <a:stretch>
            <a:fillRect/>
          </a:stretch>
        </p:blipFill>
        <p:spPr>
          <a:xfrm>
            <a:off x="3111313" y="2421817"/>
            <a:ext cx="1547244" cy="2278359"/>
          </a:xfrm>
          <a:prstGeom prst="rect">
            <a:avLst/>
          </a:prstGeom>
          <a:ln>
            <a:solidFill>
              <a:schemeClr val="tx2"/>
            </a:solidFill>
          </a:ln>
        </p:spPr>
      </p:pic>
      <p:pic>
        <p:nvPicPr>
          <p:cNvPr id="3" name="Picture 2"/>
          <p:cNvPicPr>
            <a:picLocks noChangeAspect="1"/>
          </p:cNvPicPr>
          <p:nvPr/>
        </p:nvPicPr>
        <p:blipFill>
          <a:blip r:embed="rId5"/>
          <a:stretch>
            <a:fillRect/>
          </a:stretch>
        </p:blipFill>
        <p:spPr>
          <a:xfrm>
            <a:off x="4924366" y="2209680"/>
            <a:ext cx="3988415" cy="3946320"/>
          </a:xfrm>
          <a:prstGeom prst="rect">
            <a:avLst/>
          </a:prstGeom>
          <a:ln>
            <a:solidFill>
              <a:schemeClr val="tx1"/>
            </a:solidFill>
          </a:ln>
        </p:spPr>
      </p:pic>
      <p:cxnSp>
        <p:nvCxnSpPr>
          <p:cNvPr id="11" name="Straight Arrow Connector 10"/>
          <p:cNvCxnSpPr/>
          <p:nvPr/>
        </p:nvCxnSpPr>
        <p:spPr>
          <a:xfrm>
            <a:off x="2438400" y="3962400"/>
            <a:ext cx="838200" cy="3810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4495800" y="2895600"/>
            <a:ext cx="2057400" cy="14478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98921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lvl="0" indent="-457200" fontAlgn="auto">
              <a:lnSpc>
                <a:spcPct val="110000"/>
              </a:lnSpc>
              <a:spcBef>
                <a:spcPts val="400"/>
              </a:spcBef>
              <a:spcAft>
                <a:spcPts val="0"/>
              </a:spcAft>
              <a:buClr>
                <a:srgbClr val="000000"/>
              </a:buClr>
              <a:buSzPts val="2000"/>
              <a:buFont typeface="Noto Sans Symbols"/>
              <a:buChar char="⮚"/>
              <a:defRPr/>
            </a:pPr>
            <a:endParaRPr lang="en-US" b="0" kern="0" dirty="0" smtClean="0">
              <a:solidFill>
                <a:srgbClr val="000000"/>
              </a:solidFill>
              <a:latin typeface="Arial"/>
              <a:cs typeface="Arial"/>
              <a:sym typeface="Arial"/>
            </a:endParaRP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smtClean="0">
                <a:solidFill>
                  <a:srgbClr val="000000"/>
                </a:solidFill>
                <a:latin typeface="Arial"/>
                <a:cs typeface="Arial"/>
                <a:sym typeface="Arial"/>
              </a:rPr>
              <a:t>Not all slides in a PPT have equal time weighting!</a:t>
            </a:r>
          </a:p>
          <a:p>
            <a:pPr marL="457200" lvl="0" indent="-457200" fontAlgn="auto">
              <a:lnSpc>
                <a:spcPct val="110000"/>
              </a:lnSpc>
              <a:spcBef>
                <a:spcPts val="400"/>
              </a:spcBef>
              <a:spcAft>
                <a:spcPts val="0"/>
              </a:spcAft>
              <a:buClr>
                <a:srgbClr val="000000"/>
              </a:buClr>
              <a:buSzPts val="2000"/>
              <a:buFont typeface="Noto Sans Symbols"/>
              <a:buChar char="⮚"/>
              <a:defRPr/>
            </a:pPr>
            <a:endParaRPr lang="en-US" b="0" kern="0" dirty="0" smtClean="0">
              <a:solidFill>
                <a:srgbClr val="000000"/>
              </a:solidFill>
              <a:latin typeface="Arial"/>
              <a:cs typeface="Arial"/>
              <a:sym typeface="Arial"/>
            </a:endParaRP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smtClean="0">
                <a:solidFill>
                  <a:srgbClr val="000000"/>
                </a:solidFill>
                <a:latin typeface="Arial"/>
                <a:cs typeface="Arial"/>
                <a:sym typeface="Arial"/>
              </a:rPr>
              <a:t>The lecturer will spend more time on key slides and may touch on other slides. </a:t>
            </a:r>
          </a:p>
          <a:p>
            <a:pPr marL="457200" lvl="0" indent="-457200" fontAlgn="auto">
              <a:lnSpc>
                <a:spcPct val="110000"/>
              </a:lnSpc>
              <a:spcBef>
                <a:spcPts val="400"/>
              </a:spcBef>
              <a:spcAft>
                <a:spcPts val="0"/>
              </a:spcAft>
              <a:buClr>
                <a:srgbClr val="000000"/>
              </a:buClr>
              <a:buSzPts val="2000"/>
              <a:buFont typeface="Noto Sans Symbols"/>
              <a:buChar char="⮚"/>
              <a:defRPr/>
            </a:pPr>
            <a:endParaRPr lang="en-US" b="0" kern="0" dirty="0">
              <a:solidFill>
                <a:srgbClr val="000000"/>
              </a:solidFill>
              <a:latin typeface="Arial"/>
              <a:cs typeface="Arial"/>
              <a:sym typeface="Arial"/>
            </a:endParaRPr>
          </a:p>
          <a:p>
            <a:pPr marL="457200" lvl="0" indent="-457200" fontAlgn="auto">
              <a:lnSpc>
                <a:spcPct val="110000"/>
              </a:lnSpc>
              <a:spcBef>
                <a:spcPts val="400"/>
              </a:spcBef>
              <a:spcAft>
                <a:spcPts val="0"/>
              </a:spcAft>
              <a:buClr>
                <a:srgbClr val="000000"/>
              </a:buClr>
              <a:buSzPts val="2000"/>
              <a:buFont typeface="Noto Sans Symbols"/>
              <a:buChar char="⮚"/>
              <a:defRPr/>
            </a:pPr>
            <a:r>
              <a:rPr lang="en-US" b="0" kern="0" dirty="0" smtClean="0">
                <a:solidFill>
                  <a:srgbClr val="000000"/>
                </a:solidFill>
                <a:latin typeface="Arial"/>
                <a:cs typeface="Arial"/>
                <a:sym typeface="Arial"/>
              </a:rPr>
              <a:t>Attendance at lectures and seminars will be necessary to discern the difference. </a:t>
            </a:r>
            <a:endParaRPr lang="en-US" b="0" kern="0" dirty="0">
              <a:solidFill>
                <a:srgbClr val="000000"/>
              </a:solidFill>
              <a:latin typeface="Arial"/>
              <a:cs typeface="Arial"/>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smtClean="0">
                <a:solidFill>
                  <a:srgbClr val="333399"/>
                </a:solidFill>
                <a:latin typeface="Arial" panose="020B0604020202020204" pitchFamily="34" charset="0"/>
                <a:cs typeface="Arial" panose="020B0604020202020204" pitchFamily="34" charset="0"/>
              </a:rPr>
              <a:t>How </a:t>
            </a:r>
            <a:r>
              <a:rPr lang="en-US" altLang="en-US" sz="2400" b="0" dirty="0">
                <a:solidFill>
                  <a:srgbClr val="333399"/>
                </a:solidFill>
                <a:latin typeface="Arial" panose="020B0604020202020204" pitchFamily="34" charset="0"/>
                <a:cs typeface="Arial" panose="020B0604020202020204" pitchFamily="34" charset="0"/>
              </a:rPr>
              <a:t>PPT </a:t>
            </a:r>
            <a:r>
              <a:rPr lang="en-US" altLang="en-US" sz="2400" b="0" dirty="0" smtClean="0">
                <a:solidFill>
                  <a:srgbClr val="333399"/>
                </a:solidFill>
                <a:latin typeface="Arial" panose="020B0604020202020204" pitchFamily="34" charset="0"/>
                <a:cs typeface="Arial" panose="020B0604020202020204" pitchFamily="34" charset="0"/>
              </a:rPr>
              <a:t>Topics </a:t>
            </a:r>
            <a:r>
              <a:rPr lang="en-US" altLang="en-US" sz="2400" b="0" dirty="0">
                <a:solidFill>
                  <a:srgbClr val="333399"/>
                </a:solidFill>
                <a:latin typeface="Arial" panose="020B0604020202020204" pitchFamily="34" charset="0"/>
                <a:cs typeface="Arial" panose="020B0604020202020204" pitchFamily="34" charset="0"/>
              </a:rPr>
              <a:t>are </a:t>
            </a:r>
            <a:r>
              <a:rPr lang="en-US" altLang="en-US" sz="2400" b="0" dirty="0" smtClean="0">
                <a:solidFill>
                  <a:srgbClr val="333399"/>
                </a:solidFill>
                <a:latin typeface="Arial" panose="020B0604020202020204" pitchFamily="34" charset="0"/>
                <a:cs typeface="Arial" panose="020B0604020202020204" pitchFamily="34" charset="0"/>
              </a:rPr>
              <a:t>Presented:</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09071125"/>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err="1">
                <a:solidFill>
                  <a:srgbClr val="333399"/>
                </a:solidFill>
                <a:latin typeface="Arial" panose="020B0604020202020204" pitchFamily="34" charset="0"/>
                <a:cs typeface="Arial" panose="020B0604020202020204" pitchFamily="34" charset="0"/>
                <a:sym typeface="Arial"/>
              </a:rPr>
              <a:t>Mentimeter</a:t>
            </a:r>
            <a:r>
              <a:rPr lang="en-US" altLang="en-US" sz="2400" b="0" dirty="0">
                <a:solidFill>
                  <a:srgbClr val="333399"/>
                </a:solidFill>
                <a:latin typeface="Arial" panose="020B0604020202020204" pitchFamily="34" charset="0"/>
                <a:cs typeface="Arial" panose="020B0604020202020204" pitchFamily="34" charset="0"/>
                <a:sym typeface="Arial"/>
              </a:rPr>
              <a:t> Ground Rules: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8" name="Google Shape;156;p6"/>
          <p:cNvSpPr txBox="1"/>
          <p:nvPr/>
        </p:nvSpPr>
        <p:spPr>
          <a:xfrm>
            <a:off x="365125" y="760413"/>
            <a:ext cx="8229600" cy="5446987"/>
          </a:xfrm>
          <a:prstGeom prst="rect">
            <a:avLst/>
          </a:prstGeom>
          <a:solidFill>
            <a:srgbClr val="000000"/>
          </a:solidFill>
          <a:ln w="19050"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defTabSz="914400" eaLnBrk="1" fontAlgn="auto" latinLnBrk="0" hangingPunct="1">
              <a:lnSpc>
                <a:spcPct val="100000"/>
              </a:lnSpc>
              <a:spcBef>
                <a:spcPts val="600"/>
              </a:spcBef>
              <a:spcAft>
                <a:spcPts val="0"/>
              </a:spcAft>
              <a:buClr>
                <a:srgbClr val="FFFFFF"/>
              </a:buClr>
              <a:buSzPts val="2400"/>
              <a:buFont typeface="Noto Sans Symbols"/>
              <a:buNone/>
              <a:tabLst/>
              <a:defRPr/>
            </a:pPr>
            <a:endParaRPr kumimoji="0" sz="2400" b="0" i="1" u="none" strike="noStrike" kern="0" cap="none" spc="0" normalizeH="0" baseline="0" noProof="0" dirty="0" smtClean="0">
              <a:ln>
                <a:noFill/>
              </a:ln>
              <a:solidFill>
                <a:srgbClr val="FFFFFF"/>
              </a:solidFill>
              <a:effectLst/>
              <a:uLnTx/>
              <a:uFillTx/>
              <a:latin typeface="Arial"/>
              <a:ea typeface="Arial"/>
              <a:cs typeface="Arial"/>
              <a:sym typeface="Arial"/>
            </a:endParaRPr>
          </a:p>
        </p:txBody>
      </p:sp>
      <p:grpSp>
        <p:nvGrpSpPr>
          <p:cNvPr id="2" name="Group 1"/>
          <p:cNvGrpSpPr/>
          <p:nvPr/>
        </p:nvGrpSpPr>
        <p:grpSpPr>
          <a:xfrm>
            <a:off x="427095" y="838200"/>
            <a:ext cx="3825877" cy="5240867"/>
            <a:chOff x="414864" y="966533"/>
            <a:chExt cx="3825877" cy="5240867"/>
          </a:xfrm>
        </p:grpSpPr>
        <p:pic>
          <p:nvPicPr>
            <p:cNvPr id="19" name="Google Shape;157;p6"/>
            <p:cNvPicPr preferRelativeResize="0"/>
            <p:nvPr/>
          </p:nvPicPr>
          <p:blipFill rotWithShape="1">
            <a:blip r:embed="rId3">
              <a:alphaModFix/>
            </a:blip>
            <a:srcRect/>
            <a:stretch/>
          </p:blipFill>
          <p:spPr>
            <a:xfrm>
              <a:off x="414865" y="1106233"/>
              <a:ext cx="3825876" cy="5101167"/>
            </a:xfrm>
            <a:prstGeom prst="rect">
              <a:avLst/>
            </a:prstGeom>
            <a:noFill/>
            <a:ln>
              <a:noFill/>
            </a:ln>
          </p:spPr>
        </p:pic>
        <p:sp>
          <p:nvSpPr>
            <p:cNvPr id="20" name="Google Shape;158;p6"/>
            <p:cNvSpPr txBox="1"/>
            <p:nvPr/>
          </p:nvSpPr>
          <p:spPr>
            <a:xfrm>
              <a:off x="414864" y="966533"/>
              <a:ext cx="3825877" cy="584775"/>
            </a:xfrm>
            <a:prstGeom prst="rect">
              <a:avLst/>
            </a:prstGeom>
            <a:solidFill>
              <a:srgbClr val="FFFFFF"/>
            </a:solidFill>
            <a:ln>
              <a:noFill/>
            </a:ln>
          </p:spPr>
          <p:txBody>
            <a:bodyPr spcFirstLastPara="1" wrap="square" lIns="91425" tIns="45700" rIns="91425" bIns="45700" anchor="t" anchorCtr="0">
              <a:spAutoFit/>
            </a:bodyPr>
            <a:lstStyle/>
            <a:p>
              <a:pPr algn="ctr" fontAlgn="auto">
                <a:spcBef>
                  <a:spcPts val="0"/>
                </a:spcBef>
                <a:spcAft>
                  <a:spcPts val="0"/>
                </a:spcAft>
                <a:buClr>
                  <a:srgbClr val="000000"/>
                </a:buClr>
                <a:buFont typeface="Arial"/>
                <a:buNone/>
              </a:pPr>
              <a:r>
                <a:rPr lang="en-US" sz="3200" i="1" kern="0" dirty="0">
                  <a:solidFill>
                    <a:srgbClr val="FF0000"/>
                  </a:solidFill>
                  <a:latin typeface="Times New Roman"/>
                  <a:ea typeface="Times New Roman"/>
                  <a:cs typeface="Times New Roman"/>
                  <a:sym typeface="Times New Roman"/>
                </a:rPr>
                <a:t>Before you </a:t>
              </a:r>
              <a:r>
                <a:rPr lang="en-US" sz="3200" i="1" kern="0" dirty="0" err="1">
                  <a:solidFill>
                    <a:srgbClr val="FF0000"/>
                  </a:solidFill>
                  <a:latin typeface="Times New Roman"/>
                  <a:ea typeface="Times New Roman"/>
                  <a:cs typeface="Times New Roman"/>
                  <a:sym typeface="Times New Roman"/>
                </a:rPr>
                <a:t>Menti</a:t>
              </a:r>
              <a:r>
                <a:rPr lang="en-US" sz="3200" i="1" kern="0" dirty="0">
                  <a:solidFill>
                    <a:srgbClr val="FF0000"/>
                  </a:solidFill>
                  <a:latin typeface="Times New Roman"/>
                  <a:ea typeface="Times New Roman"/>
                  <a:cs typeface="Times New Roman"/>
                  <a:sym typeface="Times New Roman"/>
                </a:rPr>
                <a:t>!</a:t>
              </a:r>
              <a:endParaRPr sz="1400" b="0" kern="0" dirty="0">
                <a:solidFill>
                  <a:srgbClr val="000000"/>
                </a:solidFill>
                <a:latin typeface="Arial"/>
                <a:cs typeface="Arial"/>
                <a:sym typeface="Arial"/>
              </a:endParaRPr>
            </a:p>
          </p:txBody>
        </p:sp>
      </p:grpSp>
      <p:sp>
        <p:nvSpPr>
          <p:cNvPr id="21" name="Google Shape;159;p6"/>
          <p:cNvSpPr/>
          <p:nvPr/>
        </p:nvSpPr>
        <p:spPr>
          <a:xfrm>
            <a:off x="3949903" y="2410701"/>
            <a:ext cx="3200400" cy="917079"/>
          </a:xfrm>
          <a:prstGeom prst="leftArrow">
            <a:avLst>
              <a:gd name="adj1" fmla="val 50000"/>
              <a:gd name="adj2" fmla="val 50000"/>
            </a:avLst>
          </a:prstGeom>
          <a:solidFill>
            <a:srgbClr val="FFFFFF"/>
          </a:solidFill>
          <a:ln w="3810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fontAlgn="auto">
              <a:spcBef>
                <a:spcPts val="0"/>
              </a:spcBef>
              <a:spcAft>
                <a:spcPts val="0"/>
              </a:spcAft>
              <a:buClr>
                <a:srgbClr val="000000"/>
              </a:buClr>
              <a:buFont typeface="Arial"/>
              <a:buNone/>
            </a:pPr>
            <a:r>
              <a:rPr lang="en-US" sz="2400" kern="0">
                <a:solidFill>
                  <a:srgbClr val="000000"/>
                </a:solidFill>
                <a:latin typeface="Times New Roman"/>
                <a:ea typeface="Times New Roman"/>
                <a:cs typeface="Times New Roman"/>
                <a:sym typeface="Times New Roman"/>
              </a:rPr>
              <a:t>Honest? Sincere?</a:t>
            </a:r>
            <a:endParaRPr sz="1400" b="0" kern="0">
              <a:solidFill>
                <a:srgbClr val="000000"/>
              </a:solidFill>
              <a:latin typeface="Arial"/>
              <a:cs typeface="Arial"/>
              <a:sym typeface="Arial"/>
            </a:endParaRPr>
          </a:p>
        </p:txBody>
      </p:sp>
      <p:sp>
        <p:nvSpPr>
          <p:cNvPr id="22" name="Google Shape;160;p6"/>
          <p:cNvSpPr/>
          <p:nvPr/>
        </p:nvSpPr>
        <p:spPr>
          <a:xfrm>
            <a:off x="4127031" y="3145668"/>
            <a:ext cx="3985200" cy="916999"/>
          </a:xfrm>
          <a:prstGeom prst="leftArrow">
            <a:avLst>
              <a:gd name="adj1" fmla="val 50000"/>
              <a:gd name="adj2" fmla="val 50000"/>
            </a:avLst>
          </a:prstGeom>
          <a:solidFill>
            <a:srgbClr val="FFFFFF"/>
          </a:solidFill>
          <a:ln w="3810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fontAlgn="auto">
              <a:spcBef>
                <a:spcPts val="0"/>
              </a:spcBef>
              <a:spcAft>
                <a:spcPts val="0"/>
              </a:spcAft>
              <a:buClr>
                <a:srgbClr val="000000"/>
              </a:buClr>
              <a:buFont typeface="Arial"/>
              <a:buNone/>
            </a:pPr>
            <a:r>
              <a:rPr lang="en-US" sz="2400" kern="0" dirty="0" smtClean="0">
                <a:solidFill>
                  <a:srgbClr val="000000"/>
                </a:solidFill>
                <a:latin typeface="Times New Roman"/>
                <a:ea typeface="Times New Roman"/>
                <a:cs typeface="Times New Roman"/>
                <a:sym typeface="Times New Roman"/>
              </a:rPr>
              <a:t>Constructive? On topic? </a:t>
            </a:r>
            <a:endParaRPr sz="1400" b="0" kern="0" dirty="0">
              <a:solidFill>
                <a:srgbClr val="000000"/>
              </a:solidFill>
              <a:latin typeface="Arial"/>
              <a:cs typeface="Arial"/>
              <a:sym typeface="Arial"/>
            </a:endParaRPr>
          </a:p>
        </p:txBody>
      </p:sp>
      <p:sp>
        <p:nvSpPr>
          <p:cNvPr id="23" name="Google Shape;161;p6"/>
          <p:cNvSpPr/>
          <p:nvPr/>
        </p:nvSpPr>
        <p:spPr>
          <a:xfrm>
            <a:off x="4005464" y="3926937"/>
            <a:ext cx="3971864" cy="917079"/>
          </a:xfrm>
          <a:prstGeom prst="leftArrow">
            <a:avLst>
              <a:gd name="adj1" fmla="val 50000"/>
              <a:gd name="adj2" fmla="val 50000"/>
            </a:avLst>
          </a:prstGeom>
          <a:solidFill>
            <a:srgbClr val="FFFFFF"/>
          </a:solidFill>
          <a:ln w="3810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fontAlgn="auto">
              <a:spcBef>
                <a:spcPts val="0"/>
              </a:spcBef>
              <a:spcAft>
                <a:spcPts val="0"/>
              </a:spcAft>
              <a:buClr>
                <a:srgbClr val="000000"/>
              </a:buClr>
              <a:buFont typeface="Arial"/>
              <a:buNone/>
            </a:pPr>
            <a:r>
              <a:rPr lang="en-US" sz="2400" kern="0">
                <a:solidFill>
                  <a:srgbClr val="000000"/>
                </a:solidFill>
                <a:latin typeface="Times New Roman"/>
                <a:ea typeface="Times New Roman"/>
                <a:cs typeface="Times New Roman"/>
                <a:sym typeface="Times New Roman"/>
              </a:rPr>
              <a:t>Thoughtful? Intellectual?</a:t>
            </a:r>
            <a:endParaRPr sz="1400" b="0" kern="0">
              <a:solidFill>
                <a:srgbClr val="000000"/>
              </a:solidFill>
              <a:latin typeface="Arial"/>
              <a:cs typeface="Arial"/>
              <a:sym typeface="Arial"/>
            </a:endParaRPr>
          </a:p>
        </p:txBody>
      </p:sp>
      <p:sp>
        <p:nvSpPr>
          <p:cNvPr id="24" name="Google Shape;162;p6"/>
          <p:cNvSpPr/>
          <p:nvPr/>
        </p:nvSpPr>
        <p:spPr>
          <a:xfrm>
            <a:off x="4353953" y="4649958"/>
            <a:ext cx="3938190" cy="916999"/>
          </a:xfrm>
          <a:prstGeom prst="leftArrow">
            <a:avLst>
              <a:gd name="adj1" fmla="val 50000"/>
              <a:gd name="adj2" fmla="val 50000"/>
            </a:avLst>
          </a:prstGeom>
          <a:solidFill>
            <a:srgbClr val="FFFFFF"/>
          </a:solidFill>
          <a:ln w="3810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fontAlgn="auto">
              <a:spcBef>
                <a:spcPts val="0"/>
              </a:spcBef>
              <a:spcAft>
                <a:spcPts val="0"/>
              </a:spcAft>
              <a:buClr>
                <a:srgbClr val="000000"/>
              </a:buClr>
              <a:buFont typeface="Arial"/>
              <a:buNone/>
            </a:pPr>
            <a:r>
              <a:rPr lang="en-US" sz="2400" kern="0" dirty="0">
                <a:solidFill>
                  <a:srgbClr val="000000"/>
                </a:solidFill>
                <a:latin typeface="Times New Roman"/>
                <a:ea typeface="Times New Roman"/>
                <a:cs typeface="Times New Roman"/>
                <a:sym typeface="Times New Roman"/>
              </a:rPr>
              <a:t>Meaningful</a:t>
            </a:r>
            <a:r>
              <a:rPr lang="en-US" sz="2400" kern="0" dirty="0" smtClean="0">
                <a:solidFill>
                  <a:srgbClr val="000000"/>
                </a:solidFill>
                <a:latin typeface="Times New Roman"/>
                <a:ea typeface="Times New Roman"/>
                <a:cs typeface="Times New Roman"/>
                <a:sym typeface="Times New Roman"/>
              </a:rPr>
              <a:t>? To the point? </a:t>
            </a:r>
            <a:endParaRPr sz="1400" b="0" kern="0" dirty="0">
              <a:solidFill>
                <a:srgbClr val="000000"/>
              </a:solidFill>
              <a:latin typeface="Arial"/>
              <a:cs typeface="Arial"/>
              <a:sym typeface="Arial"/>
            </a:endParaRPr>
          </a:p>
        </p:txBody>
      </p:sp>
      <p:sp>
        <p:nvSpPr>
          <p:cNvPr id="25" name="Google Shape;163;p6"/>
          <p:cNvSpPr/>
          <p:nvPr/>
        </p:nvSpPr>
        <p:spPr>
          <a:xfrm>
            <a:off x="3663035" y="5369673"/>
            <a:ext cx="4795165" cy="916999"/>
          </a:xfrm>
          <a:prstGeom prst="leftArrow">
            <a:avLst>
              <a:gd name="adj1" fmla="val 50000"/>
              <a:gd name="adj2" fmla="val 50000"/>
            </a:avLst>
          </a:prstGeom>
          <a:solidFill>
            <a:srgbClr val="FFFFFF"/>
          </a:solidFill>
          <a:ln w="38100"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fontAlgn="auto">
              <a:spcBef>
                <a:spcPts val="0"/>
              </a:spcBef>
              <a:spcAft>
                <a:spcPts val="0"/>
              </a:spcAft>
              <a:buClr>
                <a:srgbClr val="000000"/>
              </a:buClr>
              <a:buFont typeface="Arial"/>
              <a:buNone/>
            </a:pPr>
            <a:r>
              <a:rPr lang="en-US" sz="2400" kern="0" dirty="0">
                <a:solidFill>
                  <a:srgbClr val="000000"/>
                </a:solidFill>
                <a:latin typeface="Times New Roman"/>
                <a:ea typeface="Times New Roman"/>
                <a:cs typeface="Times New Roman"/>
                <a:sym typeface="Times New Roman"/>
              </a:rPr>
              <a:t>Considerate? Polite</a:t>
            </a:r>
            <a:r>
              <a:rPr lang="en-US" sz="2400" kern="0" dirty="0" smtClean="0">
                <a:solidFill>
                  <a:srgbClr val="000000"/>
                </a:solidFill>
                <a:latin typeface="Times New Roman"/>
                <a:ea typeface="Times New Roman"/>
                <a:cs typeface="Times New Roman"/>
                <a:sym typeface="Times New Roman"/>
              </a:rPr>
              <a:t>? Respectful?</a:t>
            </a:r>
            <a:endParaRPr sz="1400" b="0" kern="0" dirty="0">
              <a:solidFill>
                <a:srgbClr val="000000"/>
              </a:solidFill>
              <a:latin typeface="Arial"/>
              <a:cs typeface="Arial"/>
              <a:sym typeface="Arial"/>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55331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Practice on </a:t>
            </a:r>
            <a:r>
              <a:rPr lang="en-US" altLang="en-US" sz="2400" b="0" dirty="0" err="1">
                <a:solidFill>
                  <a:srgbClr val="F8F8F8"/>
                </a:solidFill>
                <a:latin typeface="Arial" panose="020B0604020202020204" pitchFamily="34" charset="0"/>
                <a:ea typeface="ＭＳ Ｐゴシック" panose="020B0600070205080204" pitchFamily="34" charset="-128"/>
                <a:cs typeface="Arial" panose="020B0604020202020204" pitchFamily="34" charset="0"/>
              </a:rPr>
              <a:t>Mentimeter</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Use this to practice access to </a:t>
            </a:r>
            <a:r>
              <a:rPr lang="en-US" sz="20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Mentimeter</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p>
          <a:p>
            <a:pPr eaLnBrk="1" hangingPunct="1">
              <a:spcBef>
                <a:spcPts val="0"/>
              </a:spcBef>
              <a:spcAft>
                <a:spcPts val="0"/>
              </a:spcAft>
              <a:buClr>
                <a:srgbClr val="000000"/>
              </a:buClr>
              <a:buSzTx/>
              <a:buFont typeface="Wingdings" panose="05000000000000000000" pitchFamily="2" charset="2"/>
              <a:buNone/>
            </a:pPr>
            <a:endPar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marL="342900" lvl="0" indent="-342900" fontAlgn="auto">
              <a:spcBef>
                <a:spcPts val="0"/>
              </a:spcBef>
              <a:spcAft>
                <a:spcPts val="0"/>
              </a:spcAft>
              <a:buSzPts val="2000"/>
              <a:buFont typeface="Wingdings" panose="05000000000000000000" pitchFamily="2" charset="2"/>
              <a:buChar char="Ø"/>
              <a:defRPr/>
            </a:pPr>
            <a:r>
              <a:rPr lang="en-US" sz="2000" b="0" kern="0" dirty="0">
                <a:solidFill>
                  <a:srgbClr val="FFFFFF"/>
                </a:solidFill>
                <a:latin typeface="Arial"/>
                <a:cs typeface="Arial"/>
                <a:sym typeface="Arial"/>
              </a:rPr>
              <a:t>What is your </a:t>
            </a:r>
            <a:r>
              <a:rPr lang="en-US" sz="2000" b="0" kern="0" dirty="0" err="1">
                <a:solidFill>
                  <a:srgbClr val="FFFFFF"/>
                </a:solidFill>
                <a:latin typeface="Arial"/>
                <a:cs typeface="Arial"/>
                <a:sym typeface="Arial"/>
              </a:rPr>
              <a:t>favourite</a:t>
            </a:r>
            <a:r>
              <a:rPr lang="en-US" sz="2000" b="0" kern="0" dirty="0">
                <a:solidFill>
                  <a:srgbClr val="FFFFFF"/>
                </a:solidFill>
                <a:latin typeface="Arial"/>
                <a:cs typeface="Arial"/>
                <a:sym typeface="Arial"/>
              </a:rPr>
              <a:t> colour</a:t>
            </a:r>
            <a:r>
              <a:rPr lang="en-US" sz="2000" b="0" kern="0" dirty="0" smtClean="0">
                <a:solidFill>
                  <a:srgbClr val="FFFFFF"/>
                </a:solidFill>
                <a:latin typeface="Arial"/>
                <a:cs typeface="Arial"/>
                <a:sym typeface="Arial"/>
              </a:rPr>
              <a:t>? (MM-Open)</a:t>
            </a:r>
          </a:p>
          <a:p>
            <a:pPr marL="342900" lvl="0" indent="-342900" fontAlgn="auto">
              <a:spcBef>
                <a:spcPts val="0"/>
              </a:spcBef>
              <a:spcAft>
                <a:spcPts val="0"/>
              </a:spcAft>
              <a:buSzPts val="2000"/>
              <a:buFont typeface="Wingdings" panose="05000000000000000000" pitchFamily="2" charset="2"/>
              <a:buChar char="Ø"/>
              <a:defRPr/>
            </a:pPr>
            <a:endParaRPr lang="en-US" sz="2000" b="0" kern="0" dirty="0">
              <a:solidFill>
                <a:srgbClr val="FFFFFF"/>
              </a:solidFill>
              <a:latin typeface="Arial"/>
              <a:cs typeface="Arial"/>
              <a:sym typeface="Arial"/>
            </a:endParaRPr>
          </a:p>
          <a:p>
            <a:pPr marL="342900" lvl="0" indent="-342900" fontAlgn="auto">
              <a:spcBef>
                <a:spcPts val="0"/>
              </a:spcBef>
              <a:spcAft>
                <a:spcPts val="0"/>
              </a:spcAft>
              <a:buSzPts val="2000"/>
              <a:buFont typeface="Wingdings" panose="05000000000000000000" pitchFamily="2" charset="2"/>
              <a:buChar char="Ø"/>
              <a:defRPr/>
            </a:pPr>
            <a:r>
              <a:rPr lang="en-US" sz="2000" b="0" kern="0" dirty="0" smtClean="0">
                <a:solidFill>
                  <a:srgbClr val="FFFFFF"/>
                </a:solidFill>
                <a:latin typeface="Arial"/>
                <a:cs typeface="Arial"/>
                <a:sym typeface="Arial"/>
              </a:rPr>
              <a:t>What is your </a:t>
            </a:r>
            <a:r>
              <a:rPr lang="en-US" sz="2000" b="0" kern="0" dirty="0" err="1" smtClean="0">
                <a:solidFill>
                  <a:srgbClr val="FFFFFF"/>
                </a:solidFill>
                <a:latin typeface="Arial"/>
                <a:cs typeface="Arial"/>
                <a:sym typeface="Arial"/>
              </a:rPr>
              <a:t>favourite</a:t>
            </a:r>
            <a:r>
              <a:rPr lang="en-US" sz="2000" b="0" kern="0" dirty="0" smtClean="0">
                <a:solidFill>
                  <a:srgbClr val="FFFFFF"/>
                </a:solidFill>
                <a:latin typeface="Arial"/>
                <a:cs typeface="Arial"/>
                <a:sym typeface="Arial"/>
              </a:rPr>
              <a:t> colour? (MM-Poll)</a:t>
            </a:r>
          </a:p>
          <a:p>
            <a:pPr marL="342900" lvl="0" indent="-342900" fontAlgn="auto">
              <a:spcBef>
                <a:spcPts val="0"/>
              </a:spcBef>
              <a:spcAft>
                <a:spcPts val="0"/>
              </a:spcAft>
              <a:buSzPts val="2000"/>
              <a:buFont typeface="Wingdings" panose="05000000000000000000" pitchFamily="2" charset="2"/>
              <a:buChar char="Ø"/>
              <a:defRPr/>
            </a:pPr>
            <a:endParaRPr lang="en-US" sz="2000" b="0" kern="0" dirty="0">
              <a:solidFill>
                <a:srgbClr val="FFFFFF"/>
              </a:solidFill>
              <a:latin typeface="Arial"/>
              <a:cs typeface="Arial"/>
              <a:sym typeface="Arial"/>
            </a:endParaRPr>
          </a:p>
          <a:p>
            <a:pPr marL="342900" lvl="0" indent="-342900" fontAlgn="auto">
              <a:spcBef>
                <a:spcPts val="0"/>
              </a:spcBef>
              <a:spcAft>
                <a:spcPts val="0"/>
              </a:spcAft>
              <a:buSzPts val="2000"/>
              <a:buFont typeface="Wingdings" panose="05000000000000000000" pitchFamily="2" charset="2"/>
              <a:buChar char="Ø"/>
              <a:defRPr/>
            </a:pPr>
            <a:r>
              <a:rPr lang="en-US" sz="2000" b="0" kern="0" dirty="0" smtClean="0">
                <a:solidFill>
                  <a:srgbClr val="FFFFFF"/>
                </a:solidFill>
                <a:latin typeface="Arial"/>
                <a:cs typeface="Arial"/>
                <a:sym typeface="Arial"/>
              </a:rPr>
              <a:t>What is your </a:t>
            </a:r>
            <a:r>
              <a:rPr lang="en-US" sz="2000" b="0" kern="0" dirty="0" err="1" smtClean="0">
                <a:solidFill>
                  <a:srgbClr val="FFFFFF"/>
                </a:solidFill>
                <a:latin typeface="Arial"/>
                <a:cs typeface="Arial"/>
                <a:sym typeface="Arial"/>
              </a:rPr>
              <a:t>favourite</a:t>
            </a:r>
            <a:r>
              <a:rPr lang="en-US" sz="2000" b="0" kern="0" dirty="0" smtClean="0">
                <a:solidFill>
                  <a:srgbClr val="FFFFFF"/>
                </a:solidFill>
                <a:latin typeface="Arial"/>
                <a:cs typeface="Arial"/>
                <a:sym typeface="Arial"/>
              </a:rPr>
              <a:t> colour? (MM-Scales)</a:t>
            </a:r>
            <a:endParaRPr lang="en-US" sz="2000" b="0" kern="0" dirty="0">
              <a:solidFill>
                <a:srgbClr val="FFFFFF"/>
              </a:solidFill>
              <a:latin typeface="Arial"/>
              <a:cs typeface="Arial"/>
              <a:sym typeface="Arial"/>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ENGG404 </a:t>
            </a:r>
            <a:r>
              <a:rPr lang="en-US" sz="1200" i="1" kern="0" dirty="0">
                <a:solidFill>
                  <a:srgbClr val="000000"/>
                </a:solidFill>
                <a:ea typeface="Times New Roman"/>
                <a:cs typeface="Arial" panose="020B0604020202020204" pitchFamily="34" charset="0"/>
                <a:sym typeface="Times New Roman"/>
              </a:rPr>
              <a:t>Expectations, Course Syllabus, Course Plan, and Exam</a:t>
            </a:r>
          </a:p>
        </p:txBody>
      </p:sp>
    </p:spTree>
    <p:extLst>
      <p:ext uri="{BB962C8B-B14F-4D97-AF65-F5344CB8AC3E}">
        <p14:creationId xmlns:p14="http://schemas.microsoft.com/office/powerpoint/2010/main" val="2974988079"/>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Review 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Course Syllabus</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Navigate to </a:t>
            </a:r>
            <a:r>
              <a:rPr kumimoji="0" lang="en-US" altLang="en-US" sz="2000" b="1"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eClass</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 this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course and explore.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Course Plan</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enter important deadlines into your</a:t>
            </a: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Calendar</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Navigate to </a:t>
            </a: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Student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Resources</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shared drive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explore.</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Your Next Steps: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74043180"/>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In-Class ALE: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Questions about the Course?</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eaLnBrk="1" hangingPunct="1">
              <a:spcBef>
                <a:spcPts val="0"/>
              </a:spcBef>
              <a:spcAft>
                <a:spcPts val="0"/>
              </a:spcAft>
              <a:buClr>
                <a:srgbClr val="000000"/>
              </a:buClr>
              <a:buSzTx/>
              <a:buFont typeface="Wingdings" panose="05000000000000000000" pitchFamily="2" charset="2"/>
              <a:buNone/>
            </a:pPr>
            <a:endParaRPr lang="en-US" sz="2000" b="0" i="1" dirty="0" smtClean="0">
              <a:solidFill>
                <a:srgbClr val="F8F8F8"/>
              </a:solidFill>
              <a:latin typeface="Arial" panose="020B0604020202020204" pitchFamily="34" charset="0"/>
              <a:ea typeface="Times New Roman" panose="02020603050405020304" pitchFamily="18" charset="0"/>
              <a:cs typeface="Arial" panose="020B0604020202020204" pitchFamily="34" charset="0"/>
            </a:endParaRPr>
          </a:p>
          <a:p>
            <a:pPr marL="342900" lvl="0" indent="-342900" fontAlgn="auto">
              <a:spcBef>
                <a:spcPts val="0"/>
              </a:spcBef>
              <a:spcAft>
                <a:spcPts val="0"/>
              </a:spcAft>
              <a:buSzPts val="2000"/>
              <a:buFont typeface="Wingdings" panose="05000000000000000000" pitchFamily="2" charset="2"/>
              <a:buChar char="Ø"/>
              <a:defRPr/>
            </a:pPr>
            <a:r>
              <a:rPr lang="en-US" sz="2000" b="0" kern="0" dirty="0">
                <a:solidFill>
                  <a:srgbClr val="FFFFFF"/>
                </a:solidFill>
                <a:latin typeface="Arial"/>
                <a:cs typeface="Arial"/>
                <a:sym typeface="Arial"/>
              </a:rPr>
              <a:t>Do you have any questions …syllabus, course, team project, assignments, final exam? (MM – Open</a:t>
            </a:r>
            <a:r>
              <a:rPr lang="en-US" sz="2000" b="0" kern="0" dirty="0" smtClean="0">
                <a:solidFill>
                  <a:srgbClr val="FFFFFF"/>
                </a:solidFill>
                <a:latin typeface="Arial"/>
                <a:cs typeface="Arial"/>
                <a:sym typeface="Arial"/>
              </a:rPr>
              <a:t>)</a:t>
            </a:r>
            <a:endParaRPr lang="en-US" sz="2000" b="0" kern="0" dirty="0">
              <a:solidFill>
                <a:srgbClr val="FFFFFF"/>
              </a:solidFill>
              <a:latin typeface="Arial"/>
              <a:cs typeface="Arial"/>
              <a:sym typeface="Arial"/>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ENGG404 Expectations, Course Syllabus, Course Plan, and Exam</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585586626"/>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69878</TotalTime>
  <Words>2539</Words>
  <Application>Microsoft Office PowerPoint</Application>
  <PresentationFormat>On-screen Show (4:3)</PresentationFormat>
  <Paragraphs>405</Paragraphs>
  <Slides>27</Slides>
  <Notes>27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MS PGothic</vt:lpstr>
      <vt:lpstr>Arial</vt:lpstr>
      <vt:lpstr>Calibri</vt:lpstr>
      <vt:lpstr>Noto Sans Symbols</vt:lpstr>
      <vt:lpstr>Times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1991</cp:revision>
  <cp:lastPrinted>2018-12-17T22:21:47Z</cp:lastPrinted>
  <dcterms:created xsi:type="dcterms:W3CDTF">2007-03-28T16:18:47Z</dcterms:created>
  <dcterms:modified xsi:type="dcterms:W3CDTF">2022-05-02T17:21:16Z</dcterms:modified>
</cp:coreProperties>
</file>