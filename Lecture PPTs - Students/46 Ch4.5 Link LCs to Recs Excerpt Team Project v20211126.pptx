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51" r:id="rId2"/>
  </p:sldMasterIdLst>
  <p:notesMasterIdLst>
    <p:notesMasterId r:id="rId25"/>
  </p:notesMasterIdLst>
  <p:handoutMasterIdLst>
    <p:handoutMasterId r:id="rId26"/>
  </p:handoutMasterIdLst>
  <p:sldIdLst>
    <p:sldId id="962" r:id="rId3"/>
    <p:sldId id="963" r:id="rId4"/>
    <p:sldId id="964" r:id="rId5"/>
    <p:sldId id="965" r:id="rId6"/>
    <p:sldId id="992" r:id="rId7"/>
    <p:sldId id="1003" r:id="rId8"/>
    <p:sldId id="1002" r:id="rId9"/>
    <p:sldId id="997" r:id="rId10"/>
    <p:sldId id="999" r:id="rId11"/>
    <p:sldId id="968" r:id="rId12"/>
    <p:sldId id="998" r:id="rId13"/>
    <p:sldId id="969" r:id="rId14"/>
    <p:sldId id="970" r:id="rId15"/>
    <p:sldId id="971" r:id="rId16"/>
    <p:sldId id="995" r:id="rId17"/>
    <p:sldId id="994" r:id="rId18"/>
    <p:sldId id="996" r:id="rId19"/>
    <p:sldId id="972" r:id="rId20"/>
    <p:sldId id="1001" r:id="rId21"/>
    <p:sldId id="1000" r:id="rId22"/>
    <p:sldId id="973" r:id="rId23"/>
    <p:sldId id="1004" r:id="rId24"/>
  </p:sldIdLst>
  <p:sldSz cx="9144000" cy="6858000" type="screen4x3"/>
  <p:notesSz cx="7010400" cy="9296400"/>
  <p:defaultTextStyle>
    <a:defPPr>
      <a:defRPr lang="en-US"/>
    </a:defPPr>
    <a:lvl1pPr algn="l" rtl="0" fontAlgn="base">
      <a:spcBef>
        <a:spcPct val="0"/>
      </a:spcBef>
      <a:spcAft>
        <a:spcPct val="0"/>
      </a:spcAft>
      <a:defRPr b="1" kern="1200">
        <a:solidFill>
          <a:schemeClr val="tx1"/>
        </a:solidFill>
        <a:latin typeface="Arial" charset="0"/>
        <a:ea typeface="+mn-ea"/>
        <a:cs typeface="+mn-cs"/>
      </a:defRPr>
    </a:lvl1pPr>
    <a:lvl2pPr marL="457200" algn="l" rtl="0" fontAlgn="base">
      <a:spcBef>
        <a:spcPct val="0"/>
      </a:spcBef>
      <a:spcAft>
        <a:spcPct val="0"/>
      </a:spcAft>
      <a:defRPr b="1" kern="1200">
        <a:solidFill>
          <a:schemeClr val="tx1"/>
        </a:solidFill>
        <a:latin typeface="Arial" charset="0"/>
        <a:ea typeface="+mn-ea"/>
        <a:cs typeface="+mn-cs"/>
      </a:defRPr>
    </a:lvl2pPr>
    <a:lvl3pPr marL="914400" algn="l" rtl="0" fontAlgn="base">
      <a:spcBef>
        <a:spcPct val="0"/>
      </a:spcBef>
      <a:spcAft>
        <a:spcPct val="0"/>
      </a:spcAft>
      <a:defRPr b="1" kern="1200">
        <a:solidFill>
          <a:schemeClr val="tx1"/>
        </a:solidFill>
        <a:latin typeface="Arial" charset="0"/>
        <a:ea typeface="+mn-ea"/>
        <a:cs typeface="+mn-cs"/>
      </a:defRPr>
    </a:lvl3pPr>
    <a:lvl4pPr marL="1371600" algn="l" rtl="0" fontAlgn="base">
      <a:spcBef>
        <a:spcPct val="0"/>
      </a:spcBef>
      <a:spcAft>
        <a:spcPct val="0"/>
      </a:spcAft>
      <a:defRPr b="1" kern="1200">
        <a:solidFill>
          <a:schemeClr val="tx1"/>
        </a:solidFill>
        <a:latin typeface="Arial" charset="0"/>
        <a:ea typeface="+mn-ea"/>
        <a:cs typeface="+mn-cs"/>
      </a:defRPr>
    </a:lvl4pPr>
    <a:lvl5pPr marL="1828800" algn="l" rtl="0" fontAlgn="base">
      <a:spcBef>
        <a:spcPct val="0"/>
      </a:spcBef>
      <a:spcAft>
        <a:spcPct val="0"/>
      </a:spcAft>
      <a:defRPr b="1" kern="1200">
        <a:solidFill>
          <a:schemeClr val="tx1"/>
        </a:solidFill>
        <a:latin typeface="Arial" charset="0"/>
        <a:ea typeface="+mn-ea"/>
        <a:cs typeface="+mn-cs"/>
      </a:defRPr>
    </a:lvl5pPr>
    <a:lvl6pPr marL="2286000" algn="l" defTabSz="914400" rtl="0" eaLnBrk="1" latinLnBrk="0" hangingPunct="1">
      <a:defRPr b="1" kern="1200">
        <a:solidFill>
          <a:schemeClr val="tx1"/>
        </a:solidFill>
        <a:latin typeface="Arial" charset="0"/>
        <a:ea typeface="+mn-ea"/>
        <a:cs typeface="+mn-cs"/>
      </a:defRPr>
    </a:lvl6pPr>
    <a:lvl7pPr marL="2743200" algn="l" defTabSz="914400" rtl="0" eaLnBrk="1" latinLnBrk="0" hangingPunct="1">
      <a:defRPr b="1" kern="1200">
        <a:solidFill>
          <a:schemeClr val="tx1"/>
        </a:solidFill>
        <a:latin typeface="Arial" charset="0"/>
        <a:ea typeface="+mn-ea"/>
        <a:cs typeface="+mn-cs"/>
      </a:defRPr>
    </a:lvl7pPr>
    <a:lvl8pPr marL="3200400" algn="l" defTabSz="914400" rtl="0" eaLnBrk="1" latinLnBrk="0" hangingPunct="1">
      <a:defRPr b="1" kern="1200">
        <a:solidFill>
          <a:schemeClr val="tx1"/>
        </a:solidFill>
        <a:latin typeface="Arial" charset="0"/>
        <a:ea typeface="+mn-ea"/>
        <a:cs typeface="+mn-cs"/>
      </a:defRPr>
    </a:lvl8pPr>
    <a:lvl9pPr marL="3657600" algn="l" defTabSz="914400" rtl="0" eaLnBrk="1" latinLnBrk="0" hangingPunct="1">
      <a:defRPr b="1"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Default Section" id="{C9E92DFA-6333-4D24-89B4-B39EC0786CAA}">
          <p14:sldIdLst>
            <p14:sldId id="962"/>
            <p14:sldId id="963"/>
            <p14:sldId id="964"/>
            <p14:sldId id="965"/>
            <p14:sldId id="992"/>
            <p14:sldId id="1003"/>
            <p14:sldId id="1002"/>
            <p14:sldId id="997"/>
            <p14:sldId id="999"/>
            <p14:sldId id="968"/>
            <p14:sldId id="998"/>
            <p14:sldId id="969"/>
            <p14:sldId id="970"/>
            <p14:sldId id="971"/>
            <p14:sldId id="995"/>
            <p14:sldId id="994"/>
            <p14:sldId id="996"/>
            <p14:sldId id="972"/>
            <p14:sldId id="1001"/>
            <p14:sldId id="1000"/>
            <p14:sldId id="973"/>
            <p14:sldId id="1004"/>
          </p14:sldIdLst>
        </p14:section>
      </p14:sectionLst>
    </p:ext>
    <p:ext uri="{EFAFB233-063F-42B5-8137-9DF3F51BA10A}">
      <p15:sldGuideLst xmlns:p15="http://schemas.microsoft.com/office/powerpoint/2012/main">
        <p15:guide id="1" orient="horz" pos="576">
          <p15:clr>
            <a:srgbClr val="A4A3A4"/>
          </p15:clr>
        </p15:guide>
        <p15:guide id="2" pos="3792">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 Gehman"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FF0000"/>
    <a:srgbClr val="CC66FF"/>
    <a:srgbClr val="000000"/>
    <a:srgbClr val="F8F8F8"/>
    <a:srgbClr val="F5D7F1"/>
    <a:srgbClr val="5F5F5F"/>
    <a:srgbClr val="DDDDDD"/>
    <a:srgbClr val="FBA3E8"/>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85" autoAdjust="0"/>
    <p:restoredTop sz="92767" autoAdjust="0"/>
  </p:normalViewPr>
  <p:slideViewPr>
    <p:cSldViewPr>
      <p:cViewPr varScale="1">
        <p:scale>
          <a:sx n="70" d="100"/>
          <a:sy n="70" d="100"/>
        </p:scale>
        <p:origin x="1312" y="56"/>
      </p:cViewPr>
      <p:guideLst>
        <p:guide orient="horz" pos="576"/>
        <p:guide pos="37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0"/>
    </p:cViewPr>
  </p:sorterViewPr>
  <p:notesViewPr>
    <p:cSldViewPr>
      <p:cViewPr>
        <p:scale>
          <a:sx n="66" d="100"/>
          <a:sy n="66" d="100"/>
        </p:scale>
        <p:origin x="-2634" y="222"/>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0162" name="Rectangle 2"/>
          <p:cNvSpPr>
            <a:spLocks noGrp="1" noChangeArrowheads="1"/>
          </p:cNvSpPr>
          <p:nvPr>
            <p:ph type="hdr" sz="quarter"/>
          </p:nvPr>
        </p:nvSpPr>
        <p:spPr bwMode="auto">
          <a:xfrm>
            <a:off x="1"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3" name="Rectangle 3"/>
          <p:cNvSpPr>
            <a:spLocks noGrp="1" noChangeArrowheads="1"/>
          </p:cNvSpPr>
          <p:nvPr>
            <p:ph type="dt" sz="quarter" idx="1"/>
          </p:nvPr>
        </p:nvSpPr>
        <p:spPr bwMode="auto">
          <a:xfrm>
            <a:off x="3971654" y="1"/>
            <a:ext cx="3037146" cy="464504"/>
          </a:xfrm>
          <a:prstGeom prst="rect">
            <a:avLst/>
          </a:prstGeom>
          <a:noFill/>
          <a:ln w="9525">
            <a:noFill/>
            <a:miter lim="800000"/>
            <a:headEnd/>
            <a:tailEnd/>
          </a:ln>
          <a:effectLst/>
        </p:spPr>
        <p:txBody>
          <a:bodyPr vert="horz" wrap="square" lIns="93136" tIns="46568" rIns="93136" bIns="46568" numCol="1" anchor="t" anchorCtr="0" compatLnSpc="1">
            <a:prstTxWarp prst="textNoShape">
              <a:avLst/>
            </a:prstTxWarp>
          </a:bodyPr>
          <a:lstStyle>
            <a:lvl1pPr algn="r" eaLnBrk="0" hangingPunct="0">
              <a:defRPr sz="1200" b="0">
                <a:latin typeface="Arial" charset="0"/>
              </a:defRPr>
            </a:lvl1pPr>
          </a:lstStyle>
          <a:p>
            <a:pPr>
              <a:defRPr/>
            </a:pPr>
            <a:fld id="{25E55AEC-8BF8-47AA-8A9C-C1CC4D3D3CD7}" type="datetimeFigureOut">
              <a:rPr lang="en-US"/>
              <a:pPr>
                <a:defRPr/>
              </a:pPr>
              <a:t>5/31/2022</a:t>
            </a:fld>
            <a:endParaRPr lang="en-US"/>
          </a:p>
        </p:txBody>
      </p:sp>
      <p:sp>
        <p:nvSpPr>
          <p:cNvPr id="220164" name="Rectangle 4"/>
          <p:cNvSpPr>
            <a:spLocks noGrp="1" noChangeArrowheads="1"/>
          </p:cNvSpPr>
          <p:nvPr>
            <p:ph type="ftr" sz="quarter" idx="2"/>
          </p:nvPr>
        </p:nvSpPr>
        <p:spPr bwMode="auto">
          <a:xfrm>
            <a:off x="1"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eaLnBrk="0" hangingPunct="0">
              <a:defRPr sz="1200" b="0">
                <a:latin typeface="Arial" charset="0"/>
              </a:defRPr>
            </a:lvl1pPr>
          </a:lstStyle>
          <a:p>
            <a:pPr>
              <a:defRPr/>
            </a:pPr>
            <a:endParaRPr lang="en-US"/>
          </a:p>
        </p:txBody>
      </p:sp>
      <p:sp>
        <p:nvSpPr>
          <p:cNvPr id="220165" name="Rectangle 5"/>
          <p:cNvSpPr>
            <a:spLocks noGrp="1" noChangeArrowheads="1"/>
          </p:cNvSpPr>
          <p:nvPr>
            <p:ph type="sldNum" sz="quarter" idx="3"/>
          </p:nvPr>
        </p:nvSpPr>
        <p:spPr bwMode="auto">
          <a:xfrm>
            <a:off x="3971654" y="8830312"/>
            <a:ext cx="3037146" cy="464504"/>
          </a:xfrm>
          <a:prstGeom prst="rect">
            <a:avLst/>
          </a:prstGeom>
          <a:noFill/>
          <a:ln w="9525">
            <a:noFill/>
            <a:miter lim="800000"/>
            <a:headEnd/>
            <a:tailEnd/>
          </a:ln>
          <a:effectLst/>
        </p:spPr>
        <p:txBody>
          <a:bodyPr vert="horz" wrap="square" lIns="93136" tIns="46568" rIns="93136" bIns="46568" numCol="1" anchor="b" anchorCtr="0" compatLnSpc="1">
            <a:prstTxWarp prst="textNoShape">
              <a:avLst/>
            </a:prstTxWarp>
          </a:bodyPr>
          <a:lstStyle>
            <a:lvl1pPr algn="r" eaLnBrk="0" hangingPunct="0">
              <a:defRPr sz="1200" b="0">
                <a:latin typeface="Arial" charset="0"/>
              </a:defRPr>
            </a:lvl1pPr>
          </a:lstStyle>
          <a:p>
            <a:pPr>
              <a:defRPr/>
            </a:pPr>
            <a:fld id="{E75F24CD-7E4C-4840-9EE0-3BA263838CCD}" type="slidenum">
              <a:rPr lang="en-US"/>
              <a:pPr>
                <a:defRPr/>
              </a:pPr>
              <a:t>‹#›</a:t>
            </a:fld>
            <a:endParaRPr lang="en-US"/>
          </a:p>
        </p:txBody>
      </p:sp>
    </p:spTree>
    <p:extLst>
      <p:ext uri="{BB962C8B-B14F-4D97-AF65-F5344CB8AC3E}">
        <p14:creationId xmlns:p14="http://schemas.microsoft.com/office/powerpoint/2010/main" val="28221716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37146" cy="464504"/>
          </a:xfrm>
          <a:prstGeom prst="rect">
            <a:avLst/>
          </a:prstGeom>
        </p:spPr>
        <p:txBody>
          <a:bodyPr vert="horz" wrap="square" lIns="93136" tIns="46568" rIns="93136" bIns="46568" numCol="1" anchor="t" anchorCtr="0" compatLnSpc="1">
            <a:prstTxWarp prst="textNoShape">
              <a:avLst/>
            </a:prstTxWarp>
          </a:bodyPr>
          <a:lstStyle>
            <a:lvl1pPr>
              <a:defRPr sz="1200" b="0">
                <a:latin typeface="Arial" charset="0"/>
              </a:defRPr>
            </a:lvl1pPr>
          </a:lstStyle>
          <a:p>
            <a:pPr>
              <a:defRPr/>
            </a:pPr>
            <a:endParaRPr lang="en-US"/>
          </a:p>
        </p:txBody>
      </p:sp>
      <p:sp>
        <p:nvSpPr>
          <p:cNvPr id="3" name="Date Placeholder 2"/>
          <p:cNvSpPr>
            <a:spLocks noGrp="1"/>
          </p:cNvSpPr>
          <p:nvPr>
            <p:ph type="dt" idx="1"/>
          </p:nvPr>
        </p:nvSpPr>
        <p:spPr>
          <a:xfrm>
            <a:off x="3971654" y="1"/>
            <a:ext cx="3037146" cy="464504"/>
          </a:xfrm>
          <a:prstGeom prst="rect">
            <a:avLst/>
          </a:prstGeom>
        </p:spPr>
        <p:txBody>
          <a:bodyPr vert="horz" wrap="square" lIns="93136" tIns="46568" rIns="93136" bIns="46568" numCol="1" anchor="t" anchorCtr="0" compatLnSpc="1">
            <a:prstTxWarp prst="textNoShape">
              <a:avLst/>
            </a:prstTxWarp>
          </a:bodyPr>
          <a:lstStyle>
            <a:lvl1pPr algn="r">
              <a:defRPr sz="1200" b="0">
                <a:latin typeface="Arial" charset="0"/>
              </a:defRPr>
            </a:lvl1pPr>
          </a:lstStyle>
          <a:p>
            <a:pPr>
              <a:defRPr/>
            </a:pPr>
            <a:fld id="{B38EBD9A-77E5-4352-9685-9DCF1AB5D0AE}" type="datetimeFigureOut">
              <a:rPr lang="en-US"/>
              <a:pPr>
                <a:defRPr/>
              </a:pPr>
              <a:t>5/31/2022</a:t>
            </a:fld>
            <a:endParaRPr lang="en-US"/>
          </a:p>
        </p:txBody>
      </p:sp>
      <p:sp>
        <p:nvSpPr>
          <p:cNvPr id="4" name="Slide Image Placeholder 3"/>
          <p:cNvSpPr>
            <a:spLocks noGrp="1" noRot="1" noChangeAspect="1"/>
          </p:cNvSpPr>
          <p:nvPr>
            <p:ph type="sldImg" idx="2"/>
          </p:nvPr>
        </p:nvSpPr>
        <p:spPr>
          <a:xfrm>
            <a:off x="1181100" y="698500"/>
            <a:ext cx="4648200" cy="3486150"/>
          </a:xfrm>
          <a:prstGeom prst="rect">
            <a:avLst/>
          </a:prstGeom>
          <a:noFill/>
          <a:ln w="12700">
            <a:solidFill>
              <a:prstClr val="black"/>
            </a:solidFill>
          </a:ln>
        </p:spPr>
        <p:txBody>
          <a:bodyPr vert="horz" lIns="93136" tIns="46568" rIns="93136" bIns="46568" rtlCol="0" anchor="ctr"/>
          <a:lstStyle/>
          <a:p>
            <a:pPr lvl="0"/>
            <a:endParaRPr lang="en-US" noProof="0"/>
          </a:p>
        </p:txBody>
      </p:sp>
      <p:sp>
        <p:nvSpPr>
          <p:cNvPr id="5" name="Notes Placeholder 4"/>
          <p:cNvSpPr>
            <a:spLocks noGrp="1"/>
          </p:cNvSpPr>
          <p:nvPr>
            <p:ph type="body" sz="quarter" idx="3"/>
          </p:nvPr>
        </p:nvSpPr>
        <p:spPr>
          <a:xfrm>
            <a:off x="700881" y="4415157"/>
            <a:ext cx="5608640" cy="4183696"/>
          </a:xfrm>
          <a:prstGeom prst="rect">
            <a:avLst/>
          </a:prstGeom>
        </p:spPr>
        <p:txBody>
          <a:bodyPr vert="horz" wrap="square" lIns="93136" tIns="46568" rIns="93136" bIns="46568"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p:cNvSpPr>
            <a:spLocks noGrp="1"/>
          </p:cNvSpPr>
          <p:nvPr>
            <p:ph type="ftr" sz="quarter" idx="4"/>
          </p:nvPr>
        </p:nvSpPr>
        <p:spPr>
          <a:xfrm>
            <a:off x="1" y="8830312"/>
            <a:ext cx="3037146" cy="464504"/>
          </a:xfrm>
          <a:prstGeom prst="rect">
            <a:avLst/>
          </a:prstGeom>
        </p:spPr>
        <p:txBody>
          <a:bodyPr vert="horz" wrap="square" lIns="93136" tIns="46568" rIns="93136" bIns="46568" numCol="1" anchor="b" anchorCtr="0" compatLnSpc="1">
            <a:prstTxWarp prst="textNoShape">
              <a:avLst/>
            </a:prstTxWarp>
          </a:bodyPr>
          <a:lstStyle>
            <a:lvl1pPr>
              <a:defRPr sz="1200" b="0">
                <a:latin typeface="Arial" charset="0"/>
              </a:defRPr>
            </a:lvl1pPr>
          </a:lstStyle>
          <a:p>
            <a:pPr>
              <a:defRPr/>
            </a:pPr>
            <a:endParaRPr lang="en-US"/>
          </a:p>
        </p:txBody>
      </p:sp>
      <p:sp>
        <p:nvSpPr>
          <p:cNvPr id="7" name="Slide Number Placeholder 6"/>
          <p:cNvSpPr>
            <a:spLocks noGrp="1"/>
          </p:cNvSpPr>
          <p:nvPr>
            <p:ph type="sldNum" sz="quarter" idx="5"/>
          </p:nvPr>
        </p:nvSpPr>
        <p:spPr>
          <a:xfrm>
            <a:off x="3971654" y="8830312"/>
            <a:ext cx="3037146" cy="464504"/>
          </a:xfrm>
          <a:prstGeom prst="rect">
            <a:avLst/>
          </a:prstGeom>
        </p:spPr>
        <p:txBody>
          <a:bodyPr vert="horz" wrap="square" lIns="93136" tIns="46568" rIns="93136" bIns="46568" numCol="1" anchor="b" anchorCtr="0" compatLnSpc="1">
            <a:prstTxWarp prst="textNoShape">
              <a:avLst/>
            </a:prstTxWarp>
          </a:bodyPr>
          <a:lstStyle>
            <a:lvl1pPr algn="r">
              <a:defRPr sz="1200" b="0">
                <a:latin typeface="Arial" charset="0"/>
              </a:defRPr>
            </a:lvl1pPr>
          </a:lstStyle>
          <a:p>
            <a:pPr>
              <a:defRPr/>
            </a:pPr>
            <a:fld id="{4A7289C4-4137-4B30-96C9-7C06C8229121}" type="slidenum">
              <a:rPr lang="en-US"/>
              <a:pPr>
                <a:defRPr/>
              </a:pPr>
              <a:t>‹#›</a:t>
            </a:fld>
            <a:endParaRPr lang="en-US"/>
          </a:p>
        </p:txBody>
      </p:sp>
    </p:spTree>
    <p:extLst>
      <p:ext uri="{BB962C8B-B14F-4D97-AF65-F5344CB8AC3E}">
        <p14:creationId xmlns:p14="http://schemas.microsoft.com/office/powerpoint/2010/main" val="33353213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mn-lt"/>
        <a:ea typeface="+mn-ea"/>
        <a:cs typeface="Arial" charset="0"/>
      </a:defRPr>
    </a:lvl1pPr>
    <a:lvl2pPr marL="457200" algn="l" rtl="0" eaLnBrk="0" fontAlgn="base" hangingPunct="0">
      <a:spcBef>
        <a:spcPct val="30000"/>
      </a:spcBef>
      <a:spcAft>
        <a:spcPct val="0"/>
      </a:spcAft>
      <a:defRPr sz="1000" kern="1200">
        <a:solidFill>
          <a:schemeClr val="tx1"/>
        </a:solidFill>
        <a:latin typeface="+mn-lt"/>
        <a:ea typeface="+mn-ea"/>
        <a:cs typeface="Arial" charset="0"/>
      </a:defRPr>
    </a:lvl2pPr>
    <a:lvl3pPr marL="914400" algn="l" rtl="0" eaLnBrk="0" fontAlgn="base" hangingPunct="0">
      <a:spcBef>
        <a:spcPct val="30000"/>
      </a:spcBef>
      <a:spcAft>
        <a:spcPct val="0"/>
      </a:spcAft>
      <a:defRPr sz="1000" kern="1200">
        <a:solidFill>
          <a:schemeClr val="tx1"/>
        </a:solidFill>
        <a:latin typeface="+mn-lt"/>
        <a:ea typeface="+mn-ea"/>
        <a:cs typeface="Arial" charset="0"/>
      </a:defRPr>
    </a:lvl3pPr>
    <a:lvl4pPr marL="1371600" algn="l" rtl="0" eaLnBrk="0" fontAlgn="base" hangingPunct="0">
      <a:spcBef>
        <a:spcPct val="30000"/>
      </a:spcBef>
      <a:spcAft>
        <a:spcPct val="0"/>
      </a:spcAft>
      <a:defRPr sz="1000" kern="1200">
        <a:solidFill>
          <a:schemeClr val="tx1"/>
        </a:solidFill>
        <a:latin typeface="+mn-lt"/>
        <a:ea typeface="+mn-ea"/>
        <a:cs typeface="Arial" charset="0"/>
      </a:defRPr>
    </a:lvl4pPr>
    <a:lvl5pPr marL="1828800" algn="l" rtl="0" eaLnBrk="0" fontAlgn="base" hangingPunct="0">
      <a:spcBef>
        <a:spcPct val="30000"/>
      </a:spcBef>
      <a:spcAft>
        <a:spcPct val="0"/>
      </a:spcAft>
      <a:defRPr sz="10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baseline="0" dirty="0"/>
          </a:p>
        </p:txBody>
      </p:sp>
    </p:spTree>
    <p:extLst>
      <p:ext uri="{BB962C8B-B14F-4D97-AF65-F5344CB8AC3E}">
        <p14:creationId xmlns:p14="http://schemas.microsoft.com/office/powerpoint/2010/main" val="453909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6225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63421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The word “OR” in the cause statements (yellow box and white box) is replaced with an OR gate, and two roots result,</a:t>
            </a:r>
            <a:r>
              <a:rPr lang="en-US" baseline="0" dirty="0"/>
              <a:t> per next slide.</a:t>
            </a:r>
            <a:endParaRPr lang="en-US" dirty="0"/>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5907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dirty="0"/>
              <a:t>Note the sub-category for the left root latent cause: because the training program exists (the cause states “not implemented”), so one could reasonably infer that this latent cause can be categorized as a “C – Inadequate Compliance with Program Standards”.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the sub-category for the right root latent cause: because the communications plan lacked specific steps to check (and validate) training on Corporate Values, one could reasonably infer that the program exists, but the details (standard) were inadequate; thus, this latent cause can be categorized as an “S – Inadequate Program Standards”.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01756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dirty="0"/>
              <a:t>Note the sub-category for the left root latent cause: because the training program exists (the cause states “not implemented”), so one could reasonably infer that this latent cause can be categorized as a “C – Inadequate Compliance with Program Standards”.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the sub-category for the right root latent cause: because the communications plan lacked specific steps to check (and validate) training on Corporate Values, one could reasonably infer that the program exists, but the details (standard) were inadequate; thus, this latent cause can be categorized as an “S – Inadequate Program Standards”.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607095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dirty="0"/>
              <a:t>Note the sub-category for the left root latent cause: because the training program exists (the cause states “not implemented”), so one could reasonably infer that this latent cause can be categorized as a “C – Inadequate Compliance with Program Standards”. </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the sub-category for the right root latent cause: because the communications plan lacked specific steps to check (and validate) training on Corporate Values, one could reasonably infer that the program exists, but the details (standard) were inadequate; thus, this latent cause can be categorized as an “S – Inadequate Program Standards”.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4707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8</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9850634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r>
              <a:rPr lang="en-US" dirty="0"/>
              <a:t>Note the sub-category for the right root latent cause: because the communications plan lacked specific steps to check (and validate) training on Corporate Values, one could reasonably infer that the program exists, but the details (standard) were inadequate; thus, this latent cause can be categorized as an “S – Inadequate Program Standards”. </a:t>
            </a:r>
          </a:p>
          <a:p>
            <a:endParaRPr lang="en-US" dirty="0"/>
          </a:p>
          <a:p>
            <a:r>
              <a:rPr lang="en-US" dirty="0"/>
              <a:t>Note the Latent Cause is stated in unique and specific terms relevant to the loss incident RCA. </a:t>
            </a:r>
          </a:p>
          <a:p>
            <a:pPr eaLnBrk="1" hangingPunct="1"/>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68356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Note the Recommendation reflects </a:t>
            </a:r>
            <a:r>
              <a:rPr lang="en-US" baseline="0" dirty="0"/>
              <a:t>the </a:t>
            </a:r>
            <a:r>
              <a:rPr lang="en-US" dirty="0"/>
              <a:t>Latent Cause in its wording!</a:t>
            </a:r>
          </a:p>
        </p:txBody>
      </p:sp>
    </p:spTree>
    <p:extLst>
      <p:ext uri="{BB962C8B-B14F-4D97-AF65-F5344CB8AC3E}">
        <p14:creationId xmlns:p14="http://schemas.microsoft.com/office/powerpoint/2010/main" val="1230660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7:notes"/>
          <p:cNvSpPr txBox="1">
            <a:spLocks noGrp="1"/>
          </p:cNvSpPr>
          <p:nvPr>
            <p:ph type="hdr" idx="2"/>
          </p:nvPr>
        </p:nvSpPr>
        <p:spPr>
          <a:xfrm>
            <a:off x="0" y="1"/>
            <a:ext cx="3015122" cy="464901"/>
          </a:xfrm>
          <a:prstGeom prst="rect">
            <a:avLst/>
          </a:prstGeom>
          <a:noFill/>
          <a:ln>
            <a:noFill/>
          </a:ln>
        </p:spPr>
        <p:txBody>
          <a:bodyPr spcFirstLastPara="1" wrap="square" lIns="92900" tIns="46450" rIns="92900" bIns="46450" anchor="t" anchorCtr="0">
            <a:noAutofit/>
          </a:bodyPr>
          <a:lstStyle/>
          <a:p>
            <a:pPr marL="0" lvl="0" indent="0" algn="l" rtl="0">
              <a:spcBef>
                <a:spcPts val="0"/>
              </a:spcBef>
              <a:spcAft>
                <a:spcPts val="0"/>
              </a:spcAft>
              <a:buNone/>
            </a:pPr>
            <a:r>
              <a:rPr lang="en-US" sz="1200">
                <a:solidFill>
                  <a:schemeClr val="dk1"/>
                </a:solidFill>
                <a:latin typeface="Times New Roman"/>
                <a:ea typeface="Times New Roman"/>
                <a:cs typeface="Times New Roman"/>
                <a:sym typeface="Times New Roman"/>
              </a:rPr>
              <a:t>2015-2016</a:t>
            </a:r>
            <a:endParaRPr/>
          </a:p>
        </p:txBody>
      </p:sp>
      <p:sp>
        <p:nvSpPr>
          <p:cNvPr id="300" name="Google Shape;300;p17:notes"/>
          <p:cNvSpPr txBox="1">
            <a:spLocks noGrp="1"/>
          </p:cNvSpPr>
          <p:nvPr>
            <p:ph type="sldNum" idx="12"/>
          </p:nvPr>
        </p:nvSpPr>
        <p:spPr>
          <a:xfrm>
            <a:off x="3939717" y="8844199"/>
            <a:ext cx="3015122" cy="464901"/>
          </a:xfrm>
          <a:prstGeom prst="rect">
            <a:avLst/>
          </a:prstGeom>
          <a:noFill/>
          <a:ln>
            <a:noFill/>
          </a:ln>
        </p:spPr>
        <p:txBody>
          <a:bodyPr spcFirstLastPara="1" wrap="square" lIns="92900" tIns="46450" rIns="92900" bIns="4645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a:t>
            </a:fld>
            <a:endParaRPr sz="1200">
              <a:solidFill>
                <a:schemeClr val="dk1"/>
              </a:solidFill>
              <a:latin typeface="Times New Roman"/>
              <a:ea typeface="Times New Roman"/>
              <a:cs typeface="Times New Roman"/>
              <a:sym typeface="Times New Roman"/>
            </a:endParaRPr>
          </a:p>
        </p:txBody>
      </p:sp>
      <p:sp>
        <p:nvSpPr>
          <p:cNvPr id="301" name="Google Shape;301;p17:notes"/>
          <p:cNvSpPr txBox="1"/>
          <p:nvPr/>
        </p:nvSpPr>
        <p:spPr>
          <a:xfrm>
            <a:off x="5205943" y="6581363"/>
            <a:ext cx="3983596" cy="346305"/>
          </a:xfrm>
          <a:prstGeom prst="rect">
            <a:avLst/>
          </a:prstGeom>
          <a:noFill/>
          <a:ln>
            <a:noFill/>
          </a:ln>
        </p:spPr>
        <p:txBody>
          <a:bodyPr spcFirstLastPara="1" wrap="square" lIns="92175" tIns="46100" rIns="92175" bIns="461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11</a:t>
            </a:fld>
            <a:endParaRPr sz="1200">
              <a:solidFill>
                <a:schemeClr val="dk1"/>
              </a:solidFill>
              <a:latin typeface="Times New Roman"/>
              <a:ea typeface="Times New Roman"/>
              <a:cs typeface="Times New Roman"/>
              <a:sym typeface="Times New Roman"/>
            </a:endParaRPr>
          </a:p>
        </p:txBody>
      </p:sp>
      <p:sp>
        <p:nvSpPr>
          <p:cNvPr id="302" name="Google Shape;302;p17:notes"/>
          <p:cNvSpPr>
            <a:spLocks noGrp="1" noRot="1" noChangeAspect="1"/>
          </p:cNvSpPr>
          <p:nvPr>
            <p:ph type="sldImg" idx="3"/>
          </p:nvPr>
        </p:nvSpPr>
        <p:spPr>
          <a:xfrm>
            <a:off x="2863850" y="519113"/>
            <a:ext cx="3463925" cy="2598737"/>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17:notes"/>
          <p:cNvSpPr txBox="1">
            <a:spLocks noGrp="1"/>
          </p:cNvSpPr>
          <p:nvPr>
            <p:ph type="body" idx="1"/>
          </p:nvPr>
        </p:nvSpPr>
        <p:spPr>
          <a:xfrm>
            <a:off x="927730" y="4424471"/>
            <a:ext cx="5099378" cy="4188858"/>
          </a:xfrm>
          <a:prstGeom prst="rect">
            <a:avLst/>
          </a:prstGeom>
          <a:noFill/>
          <a:ln>
            <a:noFill/>
          </a:ln>
        </p:spPr>
        <p:txBody>
          <a:bodyPr spcFirstLastPara="1" wrap="square" lIns="92900" tIns="46450" rIns="92900" bIns="46450" anchor="t" anchorCtr="0">
            <a:noAutofit/>
          </a:bodyPr>
          <a:lstStyle/>
          <a:p>
            <a:pPr marL="0" lvl="0" indent="0" algn="l" rtl="0">
              <a:lnSpc>
                <a:spcPct val="150000"/>
              </a:lnSpc>
              <a:spcBef>
                <a:spcPts val="0"/>
              </a:spcBef>
              <a:spcAft>
                <a:spcPts val="0"/>
              </a:spcAft>
              <a:buFont typeface="Arial" panose="020B0604020202020204" pitchFamily="34" charset="0"/>
              <a:buNone/>
            </a:pPr>
            <a:endParaRPr dirty="0"/>
          </a:p>
        </p:txBody>
      </p:sp>
    </p:spTree>
    <p:extLst>
      <p:ext uri="{BB962C8B-B14F-4D97-AF65-F5344CB8AC3E}">
        <p14:creationId xmlns:p14="http://schemas.microsoft.com/office/powerpoint/2010/main" val="36793068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1791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13</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dirty="0">
                <a:ea typeface="ＭＳ Ｐゴシック" panose="020B0600070205080204" pitchFamily="34" charset="-128"/>
              </a:rPr>
              <a:t>This in-class active</a:t>
            </a:r>
            <a:r>
              <a:rPr lang="en-CA" altLang="en-US" baseline="0" dirty="0">
                <a:ea typeface="ＭＳ Ｐゴシック" panose="020B0600070205080204" pitchFamily="34" charset="-128"/>
              </a:rPr>
              <a:t> learning exercise is designed to prompt your thinking about the different causes and the different recommendations (actions) that one would undertake to address the loss incident. Recommendations can be made to address immediate causes, basic causes, and latent causes. In a root cause analysis, it is desired to discover the latent causes, and implement recommendations to address those latent causes. This is the only means to prevent the recurrence of the loss incident. </a:t>
            </a:r>
          </a:p>
          <a:p>
            <a:endParaRPr lang="en-CA" altLang="en-US" dirty="0">
              <a:ea typeface="ＭＳ Ｐゴシック" panose="020B0600070205080204" pitchFamily="34" charset="-128"/>
            </a:endParaRPr>
          </a:p>
          <a:p>
            <a:r>
              <a:rPr lang="en-CA" altLang="en-US" dirty="0">
                <a:ea typeface="ＭＳ Ｐゴシック" panose="020B0600070205080204" pitchFamily="34" charset="-128"/>
              </a:rPr>
              <a:t>Recall from our discussion on RCA Tool</a:t>
            </a:r>
            <a:r>
              <a:rPr lang="en-CA" altLang="en-US" baseline="0" dirty="0">
                <a:ea typeface="ＭＳ Ｐゴシック" panose="020B0600070205080204" pitchFamily="34" charset="-128"/>
              </a:rPr>
              <a:t> and the C&amp;E Model to categorise the types of causes. </a:t>
            </a:r>
            <a:r>
              <a:rPr lang="en-CA" altLang="en-US" dirty="0">
                <a:ea typeface="ＭＳ Ｐゴシック" panose="020B0600070205080204" pitchFamily="34" charset="-128"/>
              </a:rPr>
              <a:t>One last in-class</a:t>
            </a:r>
            <a:r>
              <a:rPr lang="en-CA" altLang="en-US" baseline="0" dirty="0">
                <a:ea typeface="ＭＳ Ｐゴシック" panose="020B0600070205080204" pitchFamily="34" charset="-128"/>
              </a:rPr>
              <a:t> exercise … think about the latent cause. What would your recommendation be?</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7452106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14</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Note the effectiveness of actions on each of the causes, and the effectiveness of preventing recurrence:</a:t>
            </a:r>
          </a:p>
          <a:p>
            <a:r>
              <a:rPr lang="en-CA" altLang="en-US" dirty="0">
                <a:ea typeface="ＭＳ Ｐゴシック" panose="020B0600070205080204" pitchFamily="34" charset="-128"/>
              </a:rPr>
              <a:t>&gt; “Replace the pump” does not prevent a recurrence.</a:t>
            </a:r>
          </a:p>
          <a:p>
            <a:r>
              <a:rPr lang="en-CA" altLang="en-US" dirty="0">
                <a:ea typeface="ＭＳ Ｐゴシック" panose="020B0600070205080204" pitchFamily="34" charset="-128"/>
              </a:rPr>
              <a:t>&gt; “Correct the design specification for this kind of pump” prevents</a:t>
            </a:r>
            <a:r>
              <a:rPr lang="en-CA" altLang="en-US" baseline="0" dirty="0">
                <a:ea typeface="ＭＳ Ｐゴシック" panose="020B0600070205080204" pitchFamily="34" charset="-128"/>
              </a:rPr>
              <a:t> recurrence in pumps of the same process service.</a:t>
            </a:r>
          </a:p>
          <a:p>
            <a:r>
              <a:rPr lang="en-CA" altLang="en-US" baseline="0" dirty="0">
                <a:ea typeface="ＭＳ Ｐゴシック" panose="020B0600070205080204" pitchFamily="34" charset="-128"/>
              </a:rPr>
              <a:t>&gt; “Correct the work process …” prevents recurrence in all pumps in all process services. This one addresses the latent cause. </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569979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15</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Note the effectiveness of actions on each of the causes, and the effectiveness of preventing recurrence:</a:t>
            </a:r>
          </a:p>
          <a:p>
            <a:r>
              <a:rPr lang="en-CA" altLang="en-US" dirty="0">
                <a:ea typeface="ＭＳ Ｐゴシック" panose="020B0600070205080204" pitchFamily="34" charset="-128"/>
              </a:rPr>
              <a:t>&gt; “Replace the pump” does not prevent a recurrence.</a:t>
            </a:r>
          </a:p>
          <a:p>
            <a:r>
              <a:rPr lang="en-CA" altLang="en-US" dirty="0">
                <a:ea typeface="ＭＳ Ｐゴシック" panose="020B0600070205080204" pitchFamily="34" charset="-128"/>
              </a:rPr>
              <a:t>&gt; “Correct the design specification for this kind of pump” prevents</a:t>
            </a:r>
            <a:r>
              <a:rPr lang="en-CA" altLang="en-US" baseline="0" dirty="0">
                <a:ea typeface="ＭＳ Ｐゴシック" panose="020B0600070205080204" pitchFamily="34" charset="-128"/>
              </a:rPr>
              <a:t> recurrence in pumps of the same process service.</a:t>
            </a:r>
          </a:p>
          <a:p>
            <a:r>
              <a:rPr lang="en-CA" altLang="en-US" baseline="0" dirty="0">
                <a:ea typeface="ＭＳ Ｐゴシック" panose="020B0600070205080204" pitchFamily="34" charset="-128"/>
              </a:rPr>
              <a:t>&gt; “Correct the work process …” prevents recurrence in all pumps in all process services. This one addresses the latent cause. </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1186496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16</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Note the effectiveness of actions on each of the causes, and the effectiveness of preventing recurrence:</a:t>
            </a:r>
          </a:p>
          <a:p>
            <a:r>
              <a:rPr lang="en-CA" altLang="en-US" dirty="0">
                <a:ea typeface="ＭＳ Ｐゴシック" panose="020B0600070205080204" pitchFamily="34" charset="-128"/>
              </a:rPr>
              <a:t>&gt; “Replace the pump” does not prevent a recurrence.</a:t>
            </a:r>
          </a:p>
          <a:p>
            <a:r>
              <a:rPr lang="en-CA" altLang="en-US" dirty="0">
                <a:ea typeface="ＭＳ Ｐゴシック" panose="020B0600070205080204" pitchFamily="34" charset="-128"/>
              </a:rPr>
              <a:t>&gt; “Correct the design specification for this kind of pump” prevents</a:t>
            </a:r>
            <a:r>
              <a:rPr lang="en-CA" altLang="en-US" baseline="0" dirty="0">
                <a:ea typeface="ＭＳ Ｐゴシック" panose="020B0600070205080204" pitchFamily="34" charset="-128"/>
              </a:rPr>
              <a:t> recurrence in pumps of the same process service.</a:t>
            </a:r>
          </a:p>
          <a:p>
            <a:r>
              <a:rPr lang="en-CA" altLang="en-US" baseline="0" dirty="0">
                <a:ea typeface="ＭＳ Ｐゴシック" panose="020B0600070205080204" pitchFamily="34" charset="-128"/>
              </a:rPr>
              <a:t>&gt; “Correct the work process …” prevents recurrence in all pumps in all process services. This one addresses the latent cause. </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5470773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ea typeface="ＭＳ Ｐゴシック" panose="020B0600070205080204" pitchFamily="34" charset="-128"/>
              </a:rPr>
              <a:t>Note the effectiveness of actions on each of the causes, and the effectiveness of preventing recurrence:</a:t>
            </a:r>
          </a:p>
          <a:p>
            <a:r>
              <a:rPr lang="en-CA" altLang="en-US" dirty="0">
                <a:ea typeface="ＭＳ Ｐゴシック" panose="020B0600070205080204" pitchFamily="34" charset="-128"/>
              </a:rPr>
              <a:t>&gt; “Replace the pump” does not prevent a recurrence.</a:t>
            </a:r>
          </a:p>
          <a:p>
            <a:r>
              <a:rPr lang="en-CA" altLang="en-US" dirty="0">
                <a:ea typeface="ＭＳ Ｐゴシック" panose="020B0600070205080204" pitchFamily="34" charset="-128"/>
              </a:rPr>
              <a:t>&gt; “Correct the design specification for this kind of pump” prevents</a:t>
            </a:r>
            <a:r>
              <a:rPr lang="en-CA" altLang="en-US" baseline="0" dirty="0">
                <a:ea typeface="ＭＳ Ｐゴシック" panose="020B0600070205080204" pitchFamily="34" charset="-128"/>
              </a:rPr>
              <a:t> recurrence in pumps of the same process service.</a:t>
            </a:r>
          </a:p>
          <a:p>
            <a:r>
              <a:rPr lang="en-CA" altLang="en-US" baseline="0" dirty="0">
                <a:ea typeface="ＭＳ Ｐゴシック" panose="020B0600070205080204" pitchFamily="34" charset="-128"/>
              </a:rPr>
              <a:t>&gt; “Correct the work process …” prevents recurrence in all pumps in all process services. This one addresses the latent cause. </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20102699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78844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0110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txBox="1">
            <a:spLocks noGrp="1" noChangeArrowheads="1"/>
          </p:cNvSpPr>
          <p:nvPr/>
        </p:nvSpPr>
        <p:spPr bwMode="auto">
          <a:xfrm>
            <a:off x="3970250" y="8829564"/>
            <a:ext cx="3038956" cy="46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511" tIns="46256" rIns="92511" bIns="46256"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41DADFD-3BE4-4AB0-B910-544CAFF0BCC2}" type="slidenum">
              <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xfrm>
            <a:off x="934880" y="4415844"/>
            <a:ext cx="5140641" cy="4182424"/>
          </a:xfrm>
          <a:noFill/>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15225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21</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7805144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ENGG406 2015W</a:t>
            </a:r>
          </a:p>
        </p:txBody>
      </p:sp>
      <p:sp>
        <p:nvSpPr>
          <p:cNvPr id="72707" name="Rectangle 6"/>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321">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30321">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30321">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30321">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30321">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30321"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30321"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rPr>
              <a:t>3-March-2015</a:t>
            </a:r>
          </a:p>
        </p:txBody>
      </p:sp>
      <p:sp>
        <p:nvSpPr>
          <p:cNvPr id="7270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7152">
              <a:defRPr sz="2400">
                <a:solidFill>
                  <a:schemeClr val="tx1"/>
                </a:solidFill>
                <a:latin typeface="Times New Roman" panose="02020603050405020304" pitchFamily="18" charset="0"/>
                <a:ea typeface="ＭＳ Ｐゴシック" panose="020B0600070205080204" pitchFamily="34" charset="-128"/>
              </a:defRPr>
            </a:lvl1pPr>
            <a:lvl2pPr marL="741721" indent="-285277" defTabSz="927152">
              <a:defRPr sz="2400">
                <a:solidFill>
                  <a:schemeClr val="tx1"/>
                </a:solidFill>
                <a:latin typeface="Times New Roman" panose="02020603050405020304" pitchFamily="18" charset="0"/>
                <a:ea typeface="ＭＳ Ｐゴシック" panose="020B0600070205080204" pitchFamily="34" charset="-128"/>
              </a:defRPr>
            </a:lvl2pPr>
            <a:lvl3pPr marL="1141110" indent="-228222" defTabSz="927152">
              <a:defRPr sz="2400">
                <a:solidFill>
                  <a:schemeClr val="tx1"/>
                </a:solidFill>
                <a:latin typeface="Times New Roman" panose="02020603050405020304" pitchFamily="18" charset="0"/>
                <a:ea typeface="ＭＳ Ｐゴシック" panose="020B0600070205080204" pitchFamily="34" charset="-128"/>
              </a:defRPr>
            </a:lvl3pPr>
            <a:lvl4pPr marL="1597553" indent="-228222" defTabSz="927152">
              <a:defRPr sz="2400">
                <a:solidFill>
                  <a:schemeClr val="tx1"/>
                </a:solidFill>
                <a:latin typeface="Times New Roman" panose="02020603050405020304" pitchFamily="18" charset="0"/>
                <a:ea typeface="ＭＳ Ｐゴシック" panose="020B0600070205080204" pitchFamily="34" charset="-128"/>
              </a:defRPr>
            </a:lvl4pPr>
            <a:lvl5pPr marL="2053997" indent="-228222" defTabSz="927152">
              <a:defRPr sz="2400">
                <a:solidFill>
                  <a:schemeClr val="tx1"/>
                </a:solidFill>
                <a:latin typeface="Times New Roman" panose="02020603050405020304" pitchFamily="18" charset="0"/>
                <a:ea typeface="ＭＳ Ｐゴシック" panose="020B0600070205080204" pitchFamily="34" charset="-128"/>
              </a:defRPr>
            </a:lvl5pPr>
            <a:lvl6pPr marL="2510440"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66884"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3328"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79772" indent="-228222" defTabSz="927152"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27152" rtl="0" eaLnBrk="1" fontAlgn="base" latinLnBrk="0" hangingPunct="1">
              <a:lnSpc>
                <a:spcPct val="100000"/>
              </a:lnSpc>
              <a:spcBef>
                <a:spcPct val="0"/>
              </a:spcBef>
              <a:spcAft>
                <a:spcPct val="0"/>
              </a:spcAft>
              <a:buClrTx/>
              <a:buSzTx/>
              <a:buFontTx/>
              <a:buNone/>
              <a:tabLst/>
              <a:defRPr/>
            </a:pPr>
            <a:fld id="{E2E0E8D8-AE63-4BAB-AE10-86197CF9CB04}" type="slidenum">
              <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27152" rtl="0" eaLnBrk="1" fontAlgn="base" latinLnBrk="0" hangingPunct="1">
                <a:lnSpc>
                  <a:spcPct val="100000"/>
                </a:lnSpc>
                <a:spcBef>
                  <a:spcPct val="0"/>
                </a:spcBef>
                <a:spcAft>
                  <a:spcPct val="0"/>
                </a:spcAft>
                <a:buClrTx/>
                <a:buSzTx/>
                <a:buFontTx/>
                <a:buNone/>
                <a:tabLst/>
                <a:defRPr/>
              </a:pPr>
              <a:t>22</a:t>
            </a:fld>
            <a:endParaRPr kumimoji="0" lang="en-US" altLang="en-US" sz="1200" b="0"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09" name="Rectangle 7"/>
          <p:cNvSpPr txBox="1">
            <a:spLocks noGrp="1" noChangeArrowheads="1"/>
          </p:cNvSpPr>
          <p:nvPr/>
        </p:nvSpPr>
        <p:spPr bwMode="auto">
          <a:xfrm>
            <a:off x="3974250" y="8831898"/>
            <a:ext cx="3036150" cy="464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22" tIns="46561" rIns="93122" bIns="46561" anchor="b"/>
          <a:lstStyle>
            <a:lvl1pPr>
              <a:defRPr sz="2400">
                <a:solidFill>
                  <a:schemeClr val="tx1"/>
                </a:solidFill>
                <a:latin typeface="Times New Roman" panose="02020603050405020304" pitchFamily="18" charset="0"/>
                <a:ea typeface="ＭＳ Ｐゴシック" panose="020B0600070205080204" pitchFamily="34" charset="-128"/>
              </a:defRPr>
            </a:lvl1pPr>
            <a:lvl2pPr marL="742950" indent="-285750">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6B2B90-B612-42CC-80D2-4870E63A5117}" type="slidenum">
              <a:rPr kumimoji="0" lang="en-US" altLang="en-US" sz="1200" b="1"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0" u="none" strike="noStrike" kern="1200" cap="none" spc="0" normalizeH="0" baseline="0" noProof="0" dirty="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
        <p:nvSpPr>
          <p:cNvPr id="72710" name="Rectangle 2"/>
          <p:cNvSpPr>
            <a:spLocks noGrp="1" noRot="1" noChangeAspect="1" noChangeArrowheads="1" noTextEdit="1"/>
          </p:cNvSpPr>
          <p:nvPr>
            <p:ph type="sldImg"/>
          </p:nvPr>
        </p:nvSpPr>
        <p:spPr>
          <a:ln/>
        </p:spPr>
      </p:sp>
      <p:sp>
        <p:nvSpPr>
          <p:cNvPr id="727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A" altLang="en-US" dirty="0">
                <a:ea typeface="ＭＳ Ｐゴシック" panose="020B0600070205080204" pitchFamily="34" charset="-128"/>
              </a:rPr>
              <a:t>This in-class active</a:t>
            </a:r>
            <a:r>
              <a:rPr lang="en-CA" altLang="en-US" baseline="0" dirty="0">
                <a:ea typeface="ＭＳ Ｐゴシック" panose="020B0600070205080204" pitchFamily="34" charset="-128"/>
              </a:rPr>
              <a:t> learning exercise is designed to prompt your thinking about the different causes and the different recommendations (actions) that one would undertake to address the loss incident. Recommendations can be made to address immediate causes, basic causes, and latent causes. In a root cause analysis, it is desired to discover the latent causes, and implement recommendations to address those latent causes. This is the only means to prevent the recurrence of the loss incident. </a:t>
            </a:r>
          </a:p>
          <a:p>
            <a:endParaRPr lang="en-CA" altLang="en-US" dirty="0">
              <a:ea typeface="ＭＳ Ｐゴシック" panose="020B0600070205080204" pitchFamily="34" charset="-128"/>
            </a:endParaRPr>
          </a:p>
          <a:p>
            <a:r>
              <a:rPr lang="en-CA" altLang="en-US" dirty="0">
                <a:ea typeface="ＭＳ Ｐゴシック" panose="020B0600070205080204" pitchFamily="34" charset="-128"/>
              </a:rPr>
              <a:t>Recall from our discussion on RCA Tool</a:t>
            </a:r>
            <a:r>
              <a:rPr lang="en-CA" altLang="en-US" baseline="0" dirty="0">
                <a:ea typeface="ＭＳ Ｐゴシック" panose="020B0600070205080204" pitchFamily="34" charset="-128"/>
              </a:rPr>
              <a:t> and the C&amp;E Model to categorise the types of causes. </a:t>
            </a:r>
            <a:r>
              <a:rPr lang="en-CA" altLang="en-US" dirty="0">
                <a:ea typeface="ＭＳ Ｐゴシック" panose="020B0600070205080204" pitchFamily="34" charset="-128"/>
              </a:rPr>
              <a:t>One last in-class</a:t>
            </a:r>
            <a:r>
              <a:rPr lang="en-CA" altLang="en-US" baseline="0" dirty="0">
                <a:ea typeface="ＭＳ Ｐゴシック" panose="020B0600070205080204" pitchFamily="34" charset="-128"/>
              </a:rPr>
              <a:t> exercise … think about the latent cause. What would your recommendation be?</a:t>
            </a:r>
            <a:endParaRPr lang="en-CA" altLang="en-US" dirty="0">
              <a:ea typeface="ＭＳ Ｐゴシック" panose="020B0600070205080204" pitchFamily="34" charset="-128"/>
            </a:endParaRPr>
          </a:p>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6597360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309349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03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13579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1028"/>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53118CC2-884A-4430-8B4F-9976F3C29C24}" type="datetimeFigureOut">
              <a:rPr lang="en-US"/>
              <a:pPr>
                <a:defRPr/>
              </a:pPr>
              <a:t>5/31/2022</a:t>
            </a:fld>
            <a:endParaRPr lang="en-US"/>
          </a:p>
        </p:txBody>
      </p:sp>
      <p:sp>
        <p:nvSpPr>
          <p:cNvPr id="3" name="Rectangle 1029"/>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en-US"/>
          </a:p>
        </p:txBody>
      </p:sp>
      <p:sp>
        <p:nvSpPr>
          <p:cNvPr id="4" name="Rectangle 1030"/>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91823322-A425-42F9-B4E6-DE1BA6748FF3}" type="slidenum">
              <a:rPr lang="en-US" altLang="en-US"/>
              <a:pPr>
                <a:defRPr/>
              </a:pPr>
              <a:t>‹#›</a:t>
            </a:fld>
            <a:endParaRPr lang="en-US" altLang="en-US"/>
          </a:p>
        </p:txBody>
      </p:sp>
    </p:spTree>
    <p:extLst>
      <p:ext uri="{BB962C8B-B14F-4D97-AF65-F5344CB8AC3E}">
        <p14:creationId xmlns:p14="http://schemas.microsoft.com/office/powerpoint/2010/main" val="236873712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6066" name="Rectangle 2"/>
          <p:cNvSpPr>
            <a:spLocks noGrp="1" noChangeArrowheads="1"/>
          </p:cNvSpPr>
          <p:nvPr>
            <p:ph type="ctrTitle"/>
          </p:nvPr>
        </p:nvSpPr>
        <p:spPr>
          <a:xfrm>
            <a:off x="685800" y="1905000"/>
            <a:ext cx="7772400" cy="1470025"/>
          </a:xfrm>
        </p:spPr>
        <p:txBody>
          <a:bodyPr/>
          <a:lstStyle>
            <a:lvl1pPr>
              <a:spcBef>
                <a:spcPct val="20000"/>
              </a:spcBef>
              <a:defRPr sz="3600" smtClean="0"/>
            </a:lvl1pPr>
          </a:lstStyle>
          <a:p>
            <a:r>
              <a:rPr lang="en-US" dirty="0"/>
              <a:t>Click to edit Master title style</a:t>
            </a:r>
          </a:p>
        </p:txBody>
      </p:sp>
      <p:sp>
        <p:nvSpPr>
          <p:cNvPr id="216067" name="Rectangle 3"/>
          <p:cNvSpPr>
            <a:spLocks noGrp="1" noChangeArrowheads="1"/>
          </p:cNvSpPr>
          <p:nvPr>
            <p:ph type="subTitle" idx="1"/>
          </p:nvPr>
        </p:nvSpPr>
        <p:spPr>
          <a:xfrm>
            <a:off x="1371600" y="4114800"/>
            <a:ext cx="6400800" cy="1752600"/>
          </a:xfrm>
          <a:prstGeom prst="rect">
            <a:avLst/>
          </a:prstGeom>
        </p:spPr>
        <p:txBody>
          <a:bodyPr/>
          <a:lstStyle>
            <a:lvl1pPr marL="0" indent="0" algn="ctr">
              <a:buFont typeface="Wingdings" pitchFamily="2" charset="2"/>
              <a:buNone/>
              <a:defRPr smtClean="0"/>
            </a:lvl1pPr>
          </a:lstStyle>
          <a:p>
            <a:r>
              <a:rPr lang="en-US"/>
              <a:t>Click to edit Master subtitle style</a:t>
            </a:r>
          </a:p>
        </p:txBody>
      </p:sp>
    </p:spTree>
    <p:extLst>
      <p:ext uri="{BB962C8B-B14F-4D97-AF65-F5344CB8AC3E}">
        <p14:creationId xmlns:p14="http://schemas.microsoft.com/office/powerpoint/2010/main" val="2041790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a:t>Click to edit Master title style</a:t>
            </a:r>
          </a:p>
        </p:txBody>
      </p:sp>
      <p:sp>
        <p:nvSpPr>
          <p:cNvPr id="3" name="Content Placeholder 2"/>
          <p:cNvSpPr>
            <a:spLocks noGrp="1"/>
          </p:cNvSpPr>
          <p:nvPr>
            <p:ph idx="1"/>
          </p:nvPr>
        </p:nvSpPr>
        <p:spPr>
          <a:xfrm>
            <a:off x="663389" y="1120588"/>
            <a:ext cx="8153400" cy="5105400"/>
          </a:xfrm>
          <a:prstGeom prst="rect">
            <a:avLst/>
          </a:prstGeom>
        </p:spPr>
        <p:txBody>
          <a:bodyPr/>
          <a:lstStyle>
            <a:lvl1pPr marL="342900" indent="-342900">
              <a:buClrTx/>
              <a:buFont typeface="Wingdings" charset="2"/>
              <a:buChar char="§"/>
              <a:defRPr sz="2400">
                <a:solidFill>
                  <a:schemeClr val="tx1"/>
                </a:solidFill>
              </a:defRPr>
            </a:lvl1pPr>
            <a:lvl2pPr marL="742950" indent="-285750">
              <a:buClrTx/>
              <a:buFont typeface="Arial"/>
              <a:buChar char="•"/>
              <a:defRPr sz="2200">
                <a:solidFill>
                  <a:schemeClr val="tx1"/>
                </a:solidFill>
              </a:defRPr>
            </a:lvl2pPr>
            <a:lvl3pPr marL="1143000" indent="-228600">
              <a:buClrTx/>
              <a:buFont typeface="Arial"/>
              <a:buChar char="•"/>
              <a:defRPr sz="2000">
                <a:solidFill>
                  <a:schemeClr val="tx1"/>
                </a:solidFill>
              </a:defRPr>
            </a:lvl3pPr>
            <a:lvl4pPr marL="1600200" indent="-228600">
              <a:buClrTx/>
              <a:buFont typeface="Arial"/>
              <a:buChar char="•"/>
              <a:defRPr>
                <a:solidFill>
                  <a:schemeClr val="tx1"/>
                </a:solidFill>
              </a:defRPr>
            </a:lvl4pPr>
            <a:lvl5pPr marL="2057400" indent="-228600">
              <a:buClrTx/>
              <a:buFont typeface="Arial"/>
              <a:buChar cha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790609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7850" y="168275"/>
            <a:ext cx="8229600" cy="563563"/>
          </a:xfrm>
        </p:spPr>
        <p:txBody>
          <a:bodyPr/>
          <a:lstStyle/>
          <a:p>
            <a:r>
              <a:rPr lang="en-US"/>
              <a:t>Click to edit Master title style</a:t>
            </a:r>
          </a:p>
        </p:txBody>
      </p:sp>
      <p:sp>
        <p:nvSpPr>
          <p:cNvPr id="3" name="Text Placeholder 2"/>
          <p:cNvSpPr>
            <a:spLocks noGrp="1"/>
          </p:cNvSpPr>
          <p:nvPr>
            <p:ph type="body" sz="half" idx="1"/>
          </p:nvPr>
        </p:nvSpPr>
        <p:spPr>
          <a:xfrm>
            <a:off x="577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8850" y="758825"/>
            <a:ext cx="4038600" cy="57181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1751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1.jpe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4149" r:id="rId1"/>
    <p:sldLayoutId id="2147484147" r:id="rId2"/>
    <p:sldLayoutId id="2147484148" r:id="rId3"/>
    <p:sldLayoutId id="2147484150" r:id="rId4"/>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168275"/>
            <a:ext cx="81534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dirty="0"/>
              <a:t>Click to enter page Title</a:t>
            </a:r>
          </a:p>
        </p:txBody>
      </p:sp>
      <p:cxnSp>
        <p:nvCxnSpPr>
          <p:cNvPr id="10" name="Straight Connector 9"/>
          <p:cNvCxnSpPr/>
          <p:nvPr/>
        </p:nvCxnSpPr>
        <p:spPr>
          <a:xfrm>
            <a:off x="76200" y="7620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cxnSp>
        <p:nvCxnSpPr>
          <p:cNvPr id="7" name="Straight Connector 4"/>
          <p:cNvCxnSpPr/>
          <p:nvPr/>
        </p:nvCxnSpPr>
        <p:spPr>
          <a:xfrm>
            <a:off x="76200" y="6248400"/>
            <a:ext cx="8763000" cy="1588"/>
          </a:xfrm>
          <a:prstGeom prst="line">
            <a:avLst/>
          </a:prstGeom>
          <a:ln w="9525">
            <a:solidFill>
              <a:srgbClr val="AA9C8F"/>
            </a:solidFill>
          </a:ln>
        </p:spPr>
        <p:style>
          <a:lnRef idx="1">
            <a:schemeClr val="accent1"/>
          </a:lnRef>
          <a:fillRef idx="0">
            <a:schemeClr val="accent1"/>
          </a:fillRef>
          <a:effectRef idx="0">
            <a:schemeClr val="accent1"/>
          </a:effectRef>
          <a:fontRef idx="minor">
            <a:schemeClr val="tx1"/>
          </a:fontRef>
        </p:style>
      </p:cxnSp>
      <p:pic>
        <p:nvPicPr>
          <p:cNvPr id="4" name="Picture 2" descr="http://www.nanobridge.ca/Portals/0/Images/eng-logo.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999" y="6307038"/>
            <a:ext cx="1838325" cy="552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568471"/>
      </p:ext>
    </p:extLst>
  </p:cSld>
  <p:clrMap bg1="lt1" tx1="dk1" bg2="lt2" tx2="dk2" accent1="accent1" accent2="accent2" accent3="accent3" accent4="accent4" accent5="accent5" accent6="accent6" hlink="hlink" folHlink="folHlink"/>
  <p:sldLayoutIdLst>
    <p:sldLayoutId id="2147484152" r:id="rId1"/>
    <p:sldLayoutId id="2147484153" r:id="rId2"/>
    <p:sldLayoutId id="2147484154" r:id="rId3"/>
  </p:sldLayoutIdLst>
  <p:hf hdr="0" ftr="0" dt="0"/>
  <p:txStyles>
    <p:title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p:titleStyle>
    <p:bodyStyle>
      <a:lvl1pPr marL="342900" indent="-342900" algn="l" rtl="0" eaLnBrk="0" fontAlgn="base" hangingPunct="0">
        <a:spcBef>
          <a:spcPct val="20000"/>
        </a:spcBef>
        <a:spcAft>
          <a:spcPct val="0"/>
        </a:spcAft>
        <a:buClr>
          <a:srgbClr val="AA9C8F"/>
        </a:buClr>
        <a:buFont typeface="Wingdings" pitchFamily="2" charset="2"/>
        <a:buChar char="§"/>
        <a:defRPr sz="2800">
          <a:solidFill>
            <a:srgbClr val="4D4D4D"/>
          </a:solidFill>
          <a:latin typeface="Calibri" pitchFamily="34" charset="0"/>
          <a:ea typeface="+mn-ea"/>
          <a:cs typeface="+mn-cs"/>
        </a:defRPr>
      </a:lvl1pPr>
      <a:lvl2pPr marL="742950" indent="-285750" algn="l" rtl="0" eaLnBrk="0" fontAlgn="base" hangingPunct="0">
        <a:spcBef>
          <a:spcPct val="20000"/>
        </a:spcBef>
        <a:spcAft>
          <a:spcPct val="0"/>
        </a:spcAft>
        <a:buClr>
          <a:srgbClr val="C75B12"/>
        </a:buClr>
        <a:buFont typeface="Wingdings" pitchFamily="2" charset="2"/>
        <a:buChar char="§"/>
        <a:defRPr sz="2600">
          <a:solidFill>
            <a:schemeClr val="tx1"/>
          </a:solidFill>
          <a:latin typeface="Calibri" pitchFamily="34" charset="0"/>
        </a:defRPr>
      </a:lvl2pPr>
      <a:lvl3pPr marL="1143000" indent="-228600" algn="l" rtl="0" eaLnBrk="0" fontAlgn="base" hangingPunct="0">
        <a:spcBef>
          <a:spcPct val="20000"/>
        </a:spcBef>
        <a:spcAft>
          <a:spcPct val="0"/>
        </a:spcAft>
        <a:buClr>
          <a:srgbClr val="C75B12"/>
        </a:buClr>
        <a:buFont typeface="Wingdings" pitchFamily="2" charset="2"/>
        <a:buChar char="§"/>
        <a:defRPr sz="2400">
          <a:solidFill>
            <a:schemeClr val="tx1"/>
          </a:solidFill>
          <a:latin typeface="Calibri" pitchFamily="34" charset="0"/>
        </a:defRPr>
      </a:lvl3pPr>
      <a:lvl4pPr marL="16002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4pPr>
      <a:lvl5pPr marL="2057400" indent="-228600" algn="l" rtl="0" eaLnBrk="0" fontAlgn="base" hangingPunct="0">
        <a:spcBef>
          <a:spcPct val="20000"/>
        </a:spcBef>
        <a:spcAft>
          <a:spcPct val="0"/>
        </a:spcAft>
        <a:buClr>
          <a:srgbClr val="C75B12"/>
        </a:buClr>
        <a:buFont typeface="Wingdings" pitchFamily="2" charset="2"/>
        <a:buChar char="§"/>
        <a:defRPr sz="2000">
          <a:solidFill>
            <a:schemeClr val="tx1"/>
          </a:solidFill>
          <a:latin typeface="Calibri" pitchFamily="34" charset="0"/>
        </a:defRPr>
      </a:lvl5pPr>
      <a:lvl6pPr marL="25146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rgbClr val="C75B1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txBox="1">
            <a:spLocks noChangeArrowheads="1"/>
          </p:cNvSpPr>
          <p:nvPr/>
        </p:nvSpPr>
        <p:spPr bwMode="auto">
          <a:xfrm>
            <a:off x="228600" y="838200"/>
            <a:ext cx="8610600" cy="1662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rtl="0" eaLnBrk="0" fontAlgn="base" hangingPunct="0">
              <a:spcBef>
                <a:spcPct val="0"/>
              </a:spcBef>
              <a:spcAft>
                <a:spcPct val="0"/>
              </a:spcAft>
              <a:defRPr sz="3600" b="1">
                <a:solidFill>
                  <a:schemeClr val="accent2"/>
                </a:solidFill>
                <a:latin typeface="Calibri" pitchFamily="34" charset="0"/>
                <a:ea typeface="+mj-ea"/>
                <a:cs typeface="+mj-cs"/>
              </a:defRPr>
            </a:lvl1pPr>
            <a:lvl2pPr algn="ctr" rtl="0" eaLnBrk="0" fontAlgn="base" hangingPunct="0">
              <a:spcBef>
                <a:spcPct val="0"/>
              </a:spcBef>
              <a:spcAft>
                <a:spcPct val="0"/>
              </a:spcAft>
              <a:defRPr sz="3600">
                <a:solidFill>
                  <a:srgbClr val="002C5F"/>
                </a:solidFill>
                <a:latin typeface="Calibri" pitchFamily="34" charset="0"/>
              </a:defRPr>
            </a:lvl2pPr>
            <a:lvl3pPr algn="ctr" rtl="0" eaLnBrk="0" fontAlgn="base" hangingPunct="0">
              <a:spcBef>
                <a:spcPct val="0"/>
              </a:spcBef>
              <a:spcAft>
                <a:spcPct val="0"/>
              </a:spcAft>
              <a:defRPr sz="3600">
                <a:solidFill>
                  <a:srgbClr val="002C5F"/>
                </a:solidFill>
                <a:latin typeface="Calibri" pitchFamily="34" charset="0"/>
              </a:defRPr>
            </a:lvl3pPr>
            <a:lvl4pPr algn="ctr" rtl="0" eaLnBrk="0" fontAlgn="base" hangingPunct="0">
              <a:spcBef>
                <a:spcPct val="0"/>
              </a:spcBef>
              <a:spcAft>
                <a:spcPct val="0"/>
              </a:spcAft>
              <a:defRPr sz="3600">
                <a:solidFill>
                  <a:srgbClr val="002C5F"/>
                </a:solidFill>
                <a:latin typeface="Calibri" pitchFamily="34" charset="0"/>
              </a:defRPr>
            </a:lvl4pPr>
            <a:lvl5pPr algn="ctr" rtl="0" eaLnBrk="0" fontAlgn="base" hangingPunct="0">
              <a:spcBef>
                <a:spcPct val="0"/>
              </a:spcBef>
              <a:spcAft>
                <a:spcPct val="0"/>
              </a:spcAft>
              <a:defRPr sz="3600">
                <a:solidFill>
                  <a:srgbClr val="002C5F"/>
                </a:solidFill>
                <a:latin typeface="Calibri" pitchFamily="34" charset="0"/>
              </a:defRPr>
            </a:lvl5pPr>
            <a:lvl6pPr marL="457200" algn="ctr" rtl="0" fontAlgn="base">
              <a:spcBef>
                <a:spcPct val="0"/>
              </a:spcBef>
              <a:spcAft>
                <a:spcPct val="0"/>
              </a:spcAft>
              <a:defRPr sz="3600" b="1">
                <a:solidFill>
                  <a:srgbClr val="002C5F"/>
                </a:solidFill>
                <a:latin typeface="Arial" charset="0"/>
              </a:defRPr>
            </a:lvl6pPr>
            <a:lvl7pPr marL="914400" algn="ctr" rtl="0" fontAlgn="base">
              <a:spcBef>
                <a:spcPct val="0"/>
              </a:spcBef>
              <a:spcAft>
                <a:spcPct val="0"/>
              </a:spcAft>
              <a:defRPr sz="3600" b="1">
                <a:solidFill>
                  <a:srgbClr val="002C5F"/>
                </a:solidFill>
                <a:latin typeface="Arial" charset="0"/>
              </a:defRPr>
            </a:lvl7pPr>
            <a:lvl8pPr marL="1371600" algn="ctr" rtl="0" fontAlgn="base">
              <a:spcBef>
                <a:spcPct val="0"/>
              </a:spcBef>
              <a:spcAft>
                <a:spcPct val="0"/>
              </a:spcAft>
              <a:defRPr sz="3600" b="1">
                <a:solidFill>
                  <a:srgbClr val="002C5F"/>
                </a:solidFill>
                <a:latin typeface="Arial" charset="0"/>
              </a:defRPr>
            </a:lvl8pPr>
            <a:lvl9pPr marL="1828800" algn="ctr" rtl="0" fontAlgn="base">
              <a:spcBef>
                <a:spcPct val="0"/>
              </a:spcBef>
              <a:spcAft>
                <a:spcPct val="0"/>
              </a:spcAft>
              <a:defRPr sz="3600" b="1">
                <a:solidFill>
                  <a:srgbClr val="002C5F"/>
                </a:solidFill>
                <a:latin typeface="Arial"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On Becoming a </a:t>
            </a:r>
            <a:b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br>
            <a:r>
              <a:rPr kumimoji="0" lang="en-CA" altLang="en-US" sz="3600" b="1" i="1" u="none" strike="noStrike" kern="0" cap="none" spc="0" normalizeH="0" baseline="0" noProof="0" dirty="0">
                <a:ln>
                  <a:noFill/>
                </a:ln>
                <a:solidFill>
                  <a:srgbClr val="000099"/>
                </a:solidFill>
                <a:effectLst/>
                <a:uLnTx/>
                <a:uFillTx/>
                <a:latin typeface="Calibri" pitchFamily="34" charset="0"/>
                <a:ea typeface="ＭＳ Ｐゴシック" panose="020B0600070205080204" pitchFamily="34" charset="-128"/>
                <a:cs typeface="+mj-cs"/>
              </a:rPr>
              <a:t>Leader in Risk Management</a:t>
            </a:r>
          </a:p>
        </p:txBody>
      </p:sp>
      <p:sp>
        <p:nvSpPr>
          <p:cNvPr id="8" name="Rectangle 3"/>
          <p:cNvSpPr>
            <a:spLocks noGrp="1" noChangeArrowheads="1"/>
          </p:cNvSpPr>
          <p:nvPr>
            <p:ph type="subTitle" idx="4294967295"/>
          </p:nvPr>
        </p:nvSpPr>
        <p:spPr>
          <a:xfrm>
            <a:off x="838200" y="2500342"/>
            <a:ext cx="7315201" cy="2224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indent="0" algn="ctr" eaLnBrk="1" hangingPunct="1">
              <a:spcBef>
                <a:spcPct val="0"/>
              </a:spcBef>
              <a:buNone/>
            </a:pPr>
            <a:r>
              <a:rPr lang="en-US" altLang="en-US" sz="3200" b="1" dirty="0" smtClean="0">
                <a:solidFill>
                  <a:schemeClr val="tx2"/>
                </a:solidFill>
                <a:latin typeface="Arial" panose="020B0604020202020204" pitchFamily="34" charset="0"/>
                <a:ea typeface="ＭＳ Ｐゴシック" panose="020B0600070205080204" pitchFamily="34" charset="-128"/>
                <a:cs typeface="Arial" panose="020B0604020202020204" pitchFamily="34" charset="0"/>
              </a:rPr>
              <a:t>Chapter </a:t>
            </a: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4.5 Linking Latent Causes </a:t>
            </a:r>
            <a:b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br>
            <a:r>
              <a:rPr lang="en-US" altLang="en-US" sz="3200" b="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to Recommendations for Action</a:t>
            </a:r>
          </a:p>
        </p:txBody>
      </p:sp>
      <p:sp>
        <p:nvSpPr>
          <p:cNvPr id="9" name="TextBox 8">
            <a:extLst>
              <a:ext uri="{FF2B5EF4-FFF2-40B4-BE49-F238E27FC236}">
                <a16:creationId xmlns:a16="http://schemas.microsoft.com/office/drawing/2014/main" id="{45837290-7F22-4D42-BFDD-D5AD4C09C01F}"/>
              </a:ext>
            </a:extLst>
          </p:cNvPr>
          <p:cNvSpPr txBox="1"/>
          <p:nvPr/>
        </p:nvSpPr>
        <p:spPr>
          <a:xfrm>
            <a:off x="152402" y="176015"/>
            <a:ext cx="1176817"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solidFill>
                  <a:srgbClr val="000000"/>
                </a:solidFill>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Fundamentals of RM</a:t>
            </a:r>
          </a:p>
        </p:txBody>
      </p:sp>
      <p:sp>
        <p:nvSpPr>
          <p:cNvPr id="10" name="TextBox 9">
            <a:extLst>
              <a:ext uri="{FF2B5EF4-FFF2-40B4-BE49-F238E27FC236}">
                <a16:creationId xmlns:a16="http://schemas.microsoft.com/office/drawing/2014/main" id="{7618FDCA-D6EA-3540-8AE2-F6CD31336ABE}"/>
              </a:ext>
            </a:extLst>
          </p:cNvPr>
          <p:cNvSpPr txBox="1"/>
          <p:nvPr/>
        </p:nvSpPr>
        <p:spPr>
          <a:xfrm>
            <a:off x="1481037" y="169908"/>
            <a:ext cx="1024999"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System and Process</a:t>
            </a:r>
          </a:p>
        </p:txBody>
      </p:sp>
      <p:sp>
        <p:nvSpPr>
          <p:cNvPr id="11" name="TextBox 10">
            <a:extLst>
              <a:ext uri="{FF2B5EF4-FFF2-40B4-BE49-F238E27FC236}">
                <a16:creationId xmlns:a16="http://schemas.microsoft.com/office/drawing/2014/main" id="{45BC740A-AE56-7744-84D0-32724BDFA21D}"/>
              </a:ext>
            </a:extLst>
          </p:cNvPr>
          <p:cNvSpPr txBox="1"/>
          <p:nvPr/>
        </p:nvSpPr>
        <p:spPr>
          <a:xfrm>
            <a:off x="7874130" y="169908"/>
            <a:ext cx="1155550"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Application and Perspectives</a:t>
            </a:r>
          </a:p>
        </p:txBody>
      </p:sp>
      <p:sp>
        <p:nvSpPr>
          <p:cNvPr id="12" name="TextBox 11">
            <a:extLst>
              <a:ext uri="{FF2B5EF4-FFF2-40B4-BE49-F238E27FC236}">
                <a16:creationId xmlns:a16="http://schemas.microsoft.com/office/drawing/2014/main" id="{0A7D91E5-FF6E-C346-BD54-1494F0C62548}"/>
              </a:ext>
            </a:extLst>
          </p:cNvPr>
          <p:cNvSpPr txBox="1"/>
          <p:nvPr/>
        </p:nvSpPr>
        <p:spPr>
          <a:xfrm>
            <a:off x="7051217" y="169908"/>
            <a:ext cx="671096" cy="461665"/>
          </a:xfrm>
          <a:prstGeom prst="rect">
            <a:avLst/>
          </a:prstGeom>
          <a:solidFill>
            <a:sysClr val="window" lastClr="FFFFFF"/>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People &amp; Org.</a:t>
            </a:r>
          </a:p>
        </p:txBody>
      </p:sp>
      <p:sp>
        <p:nvSpPr>
          <p:cNvPr id="13" name="TextBox 12">
            <a:extLst>
              <a:ext uri="{FF2B5EF4-FFF2-40B4-BE49-F238E27FC236}">
                <a16:creationId xmlns:a16="http://schemas.microsoft.com/office/drawing/2014/main" id="{00457A8C-8AD1-BC48-A393-2CA6461462C7}"/>
              </a:ext>
            </a:extLst>
          </p:cNvPr>
          <p:cNvSpPr txBox="1"/>
          <p:nvPr/>
        </p:nvSpPr>
        <p:spPr>
          <a:xfrm>
            <a:off x="3834670" y="169908"/>
            <a:ext cx="1024999" cy="461665"/>
          </a:xfrm>
          <a:prstGeom prst="rect">
            <a:avLst/>
          </a:prstGeom>
          <a:solidFill>
            <a:srgbClr val="FFFF00"/>
          </a:solidFill>
          <a:ln w="12700" cap="flat" cmpd="sng" algn="ctr">
            <a:solidFill>
              <a:schemeClr val="tx1"/>
            </a:solidFill>
            <a:prstDash val="solid"/>
            <a:miter lim="800000"/>
          </a:ln>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Incident Investigation</a:t>
            </a:r>
          </a:p>
        </p:txBody>
      </p:sp>
      <p:sp>
        <p:nvSpPr>
          <p:cNvPr id="14" name="TextBox 13">
            <a:extLst>
              <a:ext uri="{FF2B5EF4-FFF2-40B4-BE49-F238E27FC236}">
                <a16:creationId xmlns:a16="http://schemas.microsoft.com/office/drawing/2014/main" id="{D7E14612-2C60-CA49-88DC-A40274E52BE8}"/>
              </a:ext>
            </a:extLst>
          </p:cNvPr>
          <p:cNvSpPr txBox="1"/>
          <p:nvPr/>
        </p:nvSpPr>
        <p:spPr>
          <a:xfrm>
            <a:off x="5011486" y="169908"/>
            <a:ext cx="1024999" cy="461665"/>
          </a:xfrm>
          <a:prstGeom prst="rect">
            <a:avLst/>
          </a:prstGeom>
          <a:solidFill>
            <a:srgbClr val="FFFFFF"/>
          </a:solid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Tools &amp; Challenges</a:t>
            </a:r>
          </a:p>
        </p:txBody>
      </p:sp>
      <p:sp>
        <p:nvSpPr>
          <p:cNvPr id="15" name="TextBox 14">
            <a:extLst>
              <a:ext uri="{FF2B5EF4-FFF2-40B4-BE49-F238E27FC236}">
                <a16:creationId xmlns:a16="http://schemas.microsoft.com/office/drawing/2014/main" id="{F48AF929-DEC8-B045-BD5C-00378213E2AE}"/>
              </a:ext>
            </a:extLst>
          </p:cNvPr>
          <p:cNvSpPr txBox="1"/>
          <p:nvPr/>
        </p:nvSpPr>
        <p:spPr>
          <a:xfrm>
            <a:off x="2657853" y="170432"/>
            <a:ext cx="1024999"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Leadership in RM</a:t>
            </a:r>
          </a:p>
        </p:txBody>
      </p:sp>
      <p:cxnSp>
        <p:nvCxnSpPr>
          <p:cNvPr id="16" name="Straight Arrow Connector 15">
            <a:extLst>
              <a:ext uri="{FF2B5EF4-FFF2-40B4-BE49-F238E27FC236}">
                <a16:creationId xmlns:a16="http://schemas.microsoft.com/office/drawing/2014/main" id="{194E84B9-8682-8C4B-A72E-1FFEAF78256B}"/>
              </a:ext>
            </a:extLst>
          </p:cNvPr>
          <p:cNvCxnSpPr>
            <a:cxnSpLocks/>
            <a:stCxn id="9" idx="3"/>
            <a:endCxn id="10" idx="1"/>
          </p:cNvCxnSpPr>
          <p:nvPr/>
        </p:nvCxnSpPr>
        <p:spPr>
          <a:xfrm flipV="1">
            <a:off x="1329217" y="400741"/>
            <a:ext cx="151818" cy="6107"/>
          </a:xfrm>
          <a:prstGeom prst="straightConnector1">
            <a:avLst/>
          </a:prstGeom>
          <a:noFill/>
          <a:ln w="6350" cap="flat" cmpd="sng" algn="ctr">
            <a:solidFill>
              <a:schemeClr val="tx1"/>
            </a:solidFill>
            <a:prstDash val="solid"/>
            <a:miter lim="800000"/>
            <a:tailEnd type="triangle"/>
          </a:ln>
          <a:effectLst/>
        </p:spPr>
      </p:cxnSp>
      <p:cxnSp>
        <p:nvCxnSpPr>
          <p:cNvPr id="17" name="Straight Arrow Connector 16">
            <a:extLst>
              <a:ext uri="{FF2B5EF4-FFF2-40B4-BE49-F238E27FC236}">
                <a16:creationId xmlns:a16="http://schemas.microsoft.com/office/drawing/2014/main" id="{BCED6320-D6B4-374B-AE59-18735BF60E66}"/>
              </a:ext>
            </a:extLst>
          </p:cNvPr>
          <p:cNvCxnSpPr>
            <a:stCxn id="10" idx="3"/>
            <a:endCxn id="15" idx="1"/>
          </p:cNvCxnSpPr>
          <p:nvPr/>
        </p:nvCxnSpPr>
        <p:spPr>
          <a:xfrm>
            <a:off x="2506036"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8" name="Straight Arrow Connector 17">
            <a:extLst>
              <a:ext uri="{FF2B5EF4-FFF2-40B4-BE49-F238E27FC236}">
                <a16:creationId xmlns:a16="http://schemas.microsoft.com/office/drawing/2014/main" id="{BA27112B-E9F0-2348-9B20-FB76B2277E3D}"/>
              </a:ext>
            </a:extLst>
          </p:cNvPr>
          <p:cNvCxnSpPr>
            <a:stCxn id="15" idx="3"/>
            <a:endCxn id="13" idx="1"/>
          </p:cNvCxnSpPr>
          <p:nvPr/>
        </p:nvCxnSpPr>
        <p:spPr>
          <a:xfrm flipV="1">
            <a:off x="3682853" y="400739"/>
            <a:ext cx="151817" cy="524"/>
          </a:xfrm>
          <a:prstGeom prst="straightConnector1">
            <a:avLst/>
          </a:prstGeom>
          <a:noFill/>
          <a:ln w="6350" cap="flat" cmpd="sng" algn="ctr">
            <a:solidFill>
              <a:schemeClr val="tx1"/>
            </a:solidFill>
            <a:prstDash val="solid"/>
            <a:miter lim="800000"/>
            <a:tailEnd type="triangle"/>
          </a:ln>
          <a:effectLst/>
        </p:spPr>
      </p:cxnSp>
      <p:cxnSp>
        <p:nvCxnSpPr>
          <p:cNvPr id="19" name="Straight Arrow Connector 18">
            <a:extLst>
              <a:ext uri="{FF2B5EF4-FFF2-40B4-BE49-F238E27FC236}">
                <a16:creationId xmlns:a16="http://schemas.microsoft.com/office/drawing/2014/main" id="{D6FCC88D-6DFA-474E-80EC-662B2D4B909B}"/>
              </a:ext>
            </a:extLst>
          </p:cNvPr>
          <p:cNvCxnSpPr>
            <a:stCxn id="13" idx="3"/>
            <a:endCxn id="14" idx="1"/>
          </p:cNvCxnSpPr>
          <p:nvPr/>
        </p:nvCxnSpPr>
        <p:spPr>
          <a:xfrm>
            <a:off x="4859669" y="400741"/>
            <a:ext cx="151817" cy="0"/>
          </a:xfrm>
          <a:prstGeom prst="straightConnector1">
            <a:avLst/>
          </a:prstGeom>
          <a:noFill/>
          <a:ln w="6350" cap="flat" cmpd="sng" algn="ctr">
            <a:solidFill>
              <a:schemeClr val="tx1"/>
            </a:solidFill>
            <a:prstDash val="solid"/>
            <a:miter lim="800000"/>
            <a:tailEnd type="triangle"/>
          </a:ln>
          <a:effectLst/>
        </p:spPr>
      </p:cxnSp>
      <p:cxnSp>
        <p:nvCxnSpPr>
          <p:cNvPr id="20" name="Straight Arrow Connector 19">
            <a:extLst>
              <a:ext uri="{FF2B5EF4-FFF2-40B4-BE49-F238E27FC236}">
                <a16:creationId xmlns:a16="http://schemas.microsoft.com/office/drawing/2014/main" id="{5CA7384E-C04D-ED41-9740-B0199EA1890A}"/>
              </a:ext>
            </a:extLst>
          </p:cNvPr>
          <p:cNvCxnSpPr>
            <a:cxnSpLocks/>
            <a:stCxn id="14" idx="3"/>
          </p:cNvCxnSpPr>
          <p:nvPr/>
        </p:nvCxnSpPr>
        <p:spPr>
          <a:xfrm flipV="1">
            <a:off x="6036485" y="400740"/>
            <a:ext cx="151816" cy="1"/>
          </a:xfrm>
          <a:prstGeom prst="straightConnector1">
            <a:avLst/>
          </a:prstGeom>
          <a:noFill/>
          <a:ln w="6350" cap="flat" cmpd="sng" algn="ctr">
            <a:solidFill>
              <a:schemeClr val="tx1"/>
            </a:solidFill>
            <a:prstDash val="solid"/>
            <a:miter lim="800000"/>
            <a:tailEnd type="triangle"/>
          </a:ln>
          <a:effectLst/>
        </p:spPr>
      </p:cxnSp>
      <p:cxnSp>
        <p:nvCxnSpPr>
          <p:cNvPr id="21" name="Straight Arrow Connector 20">
            <a:extLst>
              <a:ext uri="{FF2B5EF4-FFF2-40B4-BE49-F238E27FC236}">
                <a16:creationId xmlns:a16="http://schemas.microsoft.com/office/drawing/2014/main" id="{F37C1AD4-35C5-B84F-A011-FC352A9DC134}"/>
              </a:ext>
            </a:extLst>
          </p:cNvPr>
          <p:cNvCxnSpPr>
            <a:cxnSpLocks/>
            <a:endCxn id="12" idx="1"/>
          </p:cNvCxnSpPr>
          <p:nvPr/>
        </p:nvCxnSpPr>
        <p:spPr>
          <a:xfrm flipV="1">
            <a:off x="6899402" y="400741"/>
            <a:ext cx="151817" cy="1"/>
          </a:xfrm>
          <a:prstGeom prst="straightConnector1">
            <a:avLst/>
          </a:prstGeom>
          <a:noFill/>
          <a:ln w="6350" cap="flat" cmpd="sng" algn="ctr">
            <a:solidFill>
              <a:schemeClr val="tx1"/>
            </a:solidFill>
            <a:prstDash val="solid"/>
            <a:miter lim="800000"/>
            <a:tailEnd type="triangle"/>
          </a:ln>
          <a:effectLst/>
        </p:spPr>
      </p:cxnSp>
      <p:cxnSp>
        <p:nvCxnSpPr>
          <p:cNvPr id="22" name="Straight Arrow Connector 21">
            <a:extLst>
              <a:ext uri="{FF2B5EF4-FFF2-40B4-BE49-F238E27FC236}">
                <a16:creationId xmlns:a16="http://schemas.microsoft.com/office/drawing/2014/main" id="{A40B8989-9D9A-DE41-B118-0BB225CC7043}"/>
              </a:ext>
            </a:extLst>
          </p:cNvPr>
          <p:cNvCxnSpPr>
            <a:stCxn id="12" idx="3"/>
            <a:endCxn id="11" idx="1"/>
          </p:cNvCxnSpPr>
          <p:nvPr/>
        </p:nvCxnSpPr>
        <p:spPr>
          <a:xfrm>
            <a:off x="7722315" y="400739"/>
            <a:ext cx="151817" cy="0"/>
          </a:xfrm>
          <a:prstGeom prst="straightConnector1">
            <a:avLst/>
          </a:prstGeom>
          <a:noFill/>
          <a:ln w="6350" cap="flat" cmpd="sng" algn="ctr">
            <a:solidFill>
              <a:schemeClr val="tx1"/>
            </a:solidFill>
            <a:prstDash val="solid"/>
            <a:miter lim="800000"/>
            <a:tailEnd type="triangle"/>
          </a:ln>
          <a:effectLst/>
        </p:spPr>
      </p:cxnSp>
      <p:sp>
        <p:nvSpPr>
          <p:cNvPr id="23" name="TextBox 22">
            <a:extLst>
              <a:ext uri="{FF2B5EF4-FFF2-40B4-BE49-F238E27FC236}">
                <a16:creationId xmlns:a16="http://schemas.microsoft.com/office/drawing/2014/main" id="{E97011C2-9A0B-664B-83CB-DE2410B86B87}"/>
              </a:ext>
            </a:extLst>
          </p:cNvPr>
          <p:cNvSpPr txBox="1"/>
          <p:nvPr/>
        </p:nvSpPr>
        <p:spPr>
          <a:xfrm>
            <a:off x="6188301" y="169907"/>
            <a:ext cx="692362" cy="461665"/>
          </a:xfrm>
          <a:prstGeom prst="rect">
            <a:avLst/>
          </a:prstGeom>
          <a:noFill/>
          <a:ln w="12700" cap="flat" cmpd="sng" algn="ctr">
            <a:solidFill>
              <a:schemeClr val="tx1"/>
            </a:solidFill>
            <a:prstDash val="solid"/>
            <a:miter lim="800000"/>
          </a:ln>
          <a:effectLst/>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200" b="0" i="0" u="none" strike="noStrike" kern="0" cap="none" spc="0" normalizeH="0" baseline="0">
                <a:ln>
                  <a:noFill/>
                </a:ln>
                <a:effectLst/>
                <a:uLnTx/>
                <a:uFillTx/>
                <a:latin typeface="Calibri" panose="020F0502020204030204"/>
                <a:ea typeface="ＭＳ Ｐゴシック" panose="020B0600070205080204" pitchFamily="34"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RM in Industry</a:t>
            </a:r>
          </a:p>
        </p:txBody>
      </p:sp>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182" y="4419600"/>
            <a:ext cx="1766671" cy="1766671"/>
          </a:xfrm>
          <a:prstGeom prst="rect">
            <a:avLst/>
          </a:prstGeom>
        </p:spPr>
      </p:pic>
      <p:pic>
        <p:nvPicPr>
          <p:cNvPr id="25" name="Picture 24" descr="Introduction to Sociology - 2013 - The Collaboratory"/>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500" y="4419600"/>
            <a:ext cx="2590300" cy="1752600"/>
          </a:xfrm>
          <a:prstGeom prst="rect">
            <a:avLst/>
          </a:prstGeom>
        </p:spPr>
      </p:pic>
    </p:spTree>
    <p:extLst>
      <p:ext uri="{BB962C8B-B14F-4D97-AF65-F5344CB8AC3E}">
        <p14:creationId xmlns:p14="http://schemas.microsoft.com/office/powerpoint/2010/main" val="36986454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Write an</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acceptable statement for a latent cause.</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baseline="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Test cause statements to determine category of the cause.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Link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latent cause to a management system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Explain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how to “make the link” from latent causes to recommendations for actions. </a:t>
            </a: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Learning Outcomes:</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255664366"/>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Introduction – The Construct of an RCA:</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grpSp>
        <p:nvGrpSpPr>
          <p:cNvPr id="6" name="Group 2">
            <a:extLst>
              <a:ext uri="{FF2B5EF4-FFF2-40B4-BE49-F238E27FC236}">
                <a16:creationId xmlns:a16="http://schemas.microsoft.com/office/drawing/2014/main" id="{5BD8E639-3A08-4D32-8E74-B6D79B40DF5C}"/>
              </a:ext>
            </a:extLst>
          </p:cNvPr>
          <p:cNvGrpSpPr>
            <a:grpSpLocks/>
          </p:cNvGrpSpPr>
          <p:nvPr/>
        </p:nvGrpSpPr>
        <p:grpSpPr bwMode="auto">
          <a:xfrm>
            <a:off x="914400" y="932156"/>
            <a:ext cx="7315200" cy="5119687"/>
            <a:chOff x="816" y="519"/>
            <a:chExt cx="4608" cy="3225"/>
          </a:xfrm>
        </p:grpSpPr>
        <p:sp>
          <p:nvSpPr>
            <p:cNvPr id="7" name="Rectangle 6">
              <a:extLst>
                <a:ext uri="{FF2B5EF4-FFF2-40B4-BE49-F238E27FC236}">
                  <a16:creationId xmlns:a16="http://schemas.microsoft.com/office/drawing/2014/main" id="{748A913C-2118-463B-9476-B6F42A86E128}"/>
                </a:ext>
              </a:extLst>
            </p:cNvPr>
            <p:cNvSpPr/>
            <p:nvPr/>
          </p:nvSpPr>
          <p:spPr>
            <a:xfrm>
              <a:off x="817" y="519"/>
              <a:ext cx="4607" cy="3225"/>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10" name="Text Box 2">
              <a:extLst>
                <a:ext uri="{FF2B5EF4-FFF2-40B4-BE49-F238E27FC236}">
                  <a16:creationId xmlns:a16="http://schemas.microsoft.com/office/drawing/2014/main" id="{0D31264D-164B-45FF-AB49-4A686309161C}"/>
                </a:ext>
              </a:extLst>
            </p:cNvPr>
            <p:cNvSpPr txBox="1">
              <a:spLocks noChangeArrowheads="1"/>
            </p:cNvSpPr>
            <p:nvPr/>
          </p:nvSpPr>
          <p:spPr bwMode="auto">
            <a:xfrm>
              <a:off x="2496" y="993"/>
              <a:ext cx="768" cy="29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a:t>
              </a:r>
              <a:b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endPar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11" name="Text Box 3">
              <a:extLst>
                <a:ext uri="{FF2B5EF4-FFF2-40B4-BE49-F238E27FC236}">
                  <a16:creationId xmlns:a16="http://schemas.microsoft.com/office/drawing/2014/main" id="{5E626C11-FFD8-4BE6-A749-846E2457D62C}"/>
                </a:ext>
              </a:extLst>
            </p:cNvPr>
            <p:cNvSpPr txBox="1">
              <a:spLocks noChangeArrowheads="1"/>
            </p:cNvSpPr>
            <p:nvPr/>
          </p:nvSpPr>
          <p:spPr bwMode="auto">
            <a:xfrm>
              <a:off x="2256" y="1408"/>
              <a:ext cx="1248" cy="179"/>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Immediate Cause</a:t>
              </a:r>
            </a:p>
          </p:txBody>
        </p:sp>
        <p:sp>
          <p:nvSpPr>
            <p:cNvPr id="14" name="Text Box 4">
              <a:extLst>
                <a:ext uri="{FF2B5EF4-FFF2-40B4-BE49-F238E27FC236}">
                  <a16:creationId xmlns:a16="http://schemas.microsoft.com/office/drawing/2014/main" id="{3E935391-9003-4722-A290-34D0ABC1CB62}"/>
                </a:ext>
              </a:extLst>
            </p:cNvPr>
            <p:cNvSpPr txBox="1">
              <a:spLocks noChangeArrowheads="1"/>
            </p:cNvSpPr>
            <p:nvPr/>
          </p:nvSpPr>
          <p:spPr bwMode="auto">
            <a:xfrm>
              <a:off x="2256" y="1719"/>
              <a:ext cx="1248" cy="17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Intermediate Cause</a:t>
              </a:r>
            </a:p>
          </p:txBody>
        </p:sp>
        <p:sp>
          <p:nvSpPr>
            <p:cNvPr id="15" name="Text Box 5">
              <a:extLst>
                <a:ext uri="{FF2B5EF4-FFF2-40B4-BE49-F238E27FC236}">
                  <a16:creationId xmlns:a16="http://schemas.microsoft.com/office/drawing/2014/main" id="{ADD0BD91-C6CA-4868-9997-1ED51976F2D4}"/>
                </a:ext>
              </a:extLst>
            </p:cNvPr>
            <p:cNvSpPr txBox="1">
              <a:spLocks noChangeArrowheads="1"/>
            </p:cNvSpPr>
            <p:nvPr/>
          </p:nvSpPr>
          <p:spPr bwMode="auto">
            <a:xfrm>
              <a:off x="2304" y="2087"/>
              <a:ext cx="1152" cy="179"/>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Cause</a:t>
              </a:r>
            </a:p>
          </p:txBody>
        </p:sp>
        <p:sp>
          <p:nvSpPr>
            <p:cNvPr id="16" name="Text Box 7">
              <a:extLst>
                <a:ext uri="{FF2B5EF4-FFF2-40B4-BE49-F238E27FC236}">
                  <a16:creationId xmlns:a16="http://schemas.microsoft.com/office/drawing/2014/main" id="{570686F1-DCED-4C37-9F05-769F19AB1560}"/>
                </a:ext>
              </a:extLst>
            </p:cNvPr>
            <p:cNvSpPr txBox="1">
              <a:spLocks noChangeArrowheads="1"/>
            </p:cNvSpPr>
            <p:nvPr/>
          </p:nvSpPr>
          <p:spPr bwMode="auto">
            <a:xfrm>
              <a:off x="1776" y="2859"/>
              <a:ext cx="2208" cy="179"/>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Cause</a:t>
              </a:r>
            </a:p>
          </p:txBody>
        </p:sp>
        <p:sp>
          <p:nvSpPr>
            <p:cNvPr id="17" name="Text Box 8">
              <a:extLst>
                <a:ext uri="{FF2B5EF4-FFF2-40B4-BE49-F238E27FC236}">
                  <a16:creationId xmlns:a16="http://schemas.microsoft.com/office/drawing/2014/main" id="{8F283A38-CC7A-43B6-AA48-D5CCC488E6DC}"/>
                </a:ext>
              </a:extLst>
            </p:cNvPr>
            <p:cNvSpPr txBox="1">
              <a:spLocks noChangeArrowheads="1"/>
            </p:cNvSpPr>
            <p:nvPr/>
          </p:nvSpPr>
          <p:spPr bwMode="auto">
            <a:xfrm>
              <a:off x="1776" y="3046"/>
              <a:ext cx="2208" cy="179"/>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Weakness in Management System Element #.</a:t>
              </a:r>
            </a:p>
          </p:txBody>
        </p:sp>
        <p:sp>
          <p:nvSpPr>
            <p:cNvPr id="18" name="Text Box 10">
              <a:extLst>
                <a:ext uri="{FF2B5EF4-FFF2-40B4-BE49-F238E27FC236}">
                  <a16:creationId xmlns:a16="http://schemas.microsoft.com/office/drawing/2014/main" id="{F6993024-92B2-4126-BFE6-DA11564BF3E9}"/>
                </a:ext>
              </a:extLst>
            </p:cNvPr>
            <p:cNvSpPr txBox="1">
              <a:spLocks noChangeArrowheads="1"/>
            </p:cNvSpPr>
            <p:nvPr/>
          </p:nvSpPr>
          <p:spPr bwMode="auto">
            <a:xfrm>
              <a:off x="4080" y="1987"/>
              <a:ext cx="1296" cy="40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Engineering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Job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Personal Factors</a:t>
              </a:r>
            </a:p>
          </p:txBody>
        </p:sp>
        <p:sp>
          <p:nvSpPr>
            <p:cNvPr id="19" name="Text Box 11">
              <a:extLst>
                <a:ext uri="{FF2B5EF4-FFF2-40B4-BE49-F238E27FC236}">
                  <a16:creationId xmlns:a16="http://schemas.microsoft.com/office/drawing/2014/main" id="{8B5E2033-EAF0-4381-B8B9-BAA02E0C44DF}"/>
                </a:ext>
              </a:extLst>
            </p:cNvPr>
            <p:cNvSpPr txBox="1">
              <a:spLocks noChangeArrowheads="1"/>
            </p:cNvSpPr>
            <p:nvPr/>
          </p:nvSpPr>
          <p:spPr bwMode="auto">
            <a:xfrm>
              <a:off x="960" y="2041"/>
              <a:ext cx="624" cy="29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20" name="Text Box 12">
              <a:extLst>
                <a:ext uri="{FF2B5EF4-FFF2-40B4-BE49-F238E27FC236}">
                  <a16:creationId xmlns:a16="http://schemas.microsoft.com/office/drawing/2014/main" id="{3F9082D9-9EDB-42A9-91E6-6F947F5D91C4}"/>
                </a:ext>
              </a:extLst>
            </p:cNvPr>
            <p:cNvSpPr txBox="1">
              <a:spLocks noChangeArrowheads="1"/>
            </p:cNvSpPr>
            <p:nvPr/>
          </p:nvSpPr>
          <p:spPr bwMode="auto">
            <a:xfrm>
              <a:off x="960" y="1357"/>
              <a:ext cx="624" cy="29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21" name="Text Box 13">
              <a:extLst>
                <a:ext uri="{FF2B5EF4-FFF2-40B4-BE49-F238E27FC236}">
                  <a16:creationId xmlns:a16="http://schemas.microsoft.com/office/drawing/2014/main" id="{12DCC463-1CA6-4670-AE0F-AE51A0E04948}"/>
                </a:ext>
              </a:extLst>
            </p:cNvPr>
            <p:cNvSpPr txBox="1">
              <a:spLocks noChangeArrowheads="1"/>
            </p:cNvSpPr>
            <p:nvPr/>
          </p:nvSpPr>
          <p:spPr bwMode="auto">
            <a:xfrm>
              <a:off x="960" y="989"/>
              <a:ext cx="624" cy="294"/>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a:t>
              </a:r>
              <a:b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Description</a:t>
              </a:r>
            </a:p>
          </p:txBody>
        </p:sp>
        <p:sp>
          <p:nvSpPr>
            <p:cNvPr id="22" name="Text Box 14">
              <a:extLst>
                <a:ext uri="{FF2B5EF4-FFF2-40B4-BE49-F238E27FC236}">
                  <a16:creationId xmlns:a16="http://schemas.microsoft.com/office/drawing/2014/main" id="{3B179BF7-87C6-40E9-8214-5BACA820B273}"/>
                </a:ext>
              </a:extLst>
            </p:cNvPr>
            <p:cNvSpPr txBox="1">
              <a:spLocks noChangeArrowheads="1"/>
            </p:cNvSpPr>
            <p:nvPr/>
          </p:nvSpPr>
          <p:spPr bwMode="auto">
            <a:xfrm>
              <a:off x="960" y="2880"/>
              <a:ext cx="624" cy="294"/>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23" name="Text Box 15">
              <a:extLst>
                <a:ext uri="{FF2B5EF4-FFF2-40B4-BE49-F238E27FC236}">
                  <a16:creationId xmlns:a16="http://schemas.microsoft.com/office/drawing/2014/main" id="{3C2038F6-3CC2-4788-937E-DFF358CE4E36}"/>
                </a:ext>
              </a:extLst>
            </p:cNvPr>
            <p:cNvSpPr txBox="1">
              <a:spLocks noChangeArrowheads="1"/>
            </p:cNvSpPr>
            <p:nvPr/>
          </p:nvSpPr>
          <p:spPr bwMode="auto">
            <a:xfrm>
              <a:off x="4080" y="2845"/>
              <a:ext cx="1296" cy="40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Program</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Standards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Compliance</a:t>
              </a:r>
            </a:p>
          </p:txBody>
        </p:sp>
        <p:cxnSp>
          <p:nvCxnSpPr>
            <p:cNvPr id="24" name="AutoShape 16">
              <a:extLst>
                <a:ext uri="{FF2B5EF4-FFF2-40B4-BE49-F238E27FC236}">
                  <a16:creationId xmlns:a16="http://schemas.microsoft.com/office/drawing/2014/main" id="{7B8804D8-5AC8-448C-8634-C6596FB17520}"/>
                </a:ext>
              </a:extLst>
            </p:cNvPr>
            <p:cNvCxnSpPr>
              <a:cxnSpLocks noChangeShapeType="1"/>
              <a:stCxn id="10" idx="2"/>
              <a:endCxn id="11" idx="0"/>
            </p:cNvCxnSpPr>
            <p:nvPr/>
          </p:nvCxnSpPr>
          <p:spPr bwMode="auto">
            <a:xfrm>
              <a:off x="2880" y="1287"/>
              <a:ext cx="0" cy="121"/>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17">
              <a:extLst>
                <a:ext uri="{FF2B5EF4-FFF2-40B4-BE49-F238E27FC236}">
                  <a16:creationId xmlns:a16="http://schemas.microsoft.com/office/drawing/2014/main" id="{6F241D5C-7E08-4D4C-86F3-2F32CCD46050}"/>
                </a:ext>
              </a:extLst>
            </p:cNvPr>
            <p:cNvCxnSpPr>
              <a:cxnSpLocks noChangeShapeType="1"/>
              <a:stCxn id="15" idx="2"/>
              <a:endCxn id="37" idx="0"/>
            </p:cNvCxnSpPr>
            <p:nvPr/>
          </p:nvCxnSpPr>
          <p:spPr bwMode="auto">
            <a:xfrm>
              <a:off x="2880" y="2266"/>
              <a:ext cx="0" cy="205"/>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18">
              <a:extLst>
                <a:ext uri="{FF2B5EF4-FFF2-40B4-BE49-F238E27FC236}">
                  <a16:creationId xmlns:a16="http://schemas.microsoft.com/office/drawing/2014/main" id="{68857720-0AAC-4EEA-8695-0583ABCCA5D5}"/>
                </a:ext>
              </a:extLst>
            </p:cNvPr>
            <p:cNvCxnSpPr>
              <a:cxnSpLocks noChangeShapeType="1"/>
              <a:stCxn id="14" idx="2"/>
              <a:endCxn id="15" idx="0"/>
            </p:cNvCxnSpPr>
            <p:nvPr/>
          </p:nvCxnSpPr>
          <p:spPr bwMode="auto">
            <a:xfrm>
              <a:off x="2880" y="1898"/>
              <a:ext cx="0" cy="189"/>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19">
              <a:extLst>
                <a:ext uri="{FF2B5EF4-FFF2-40B4-BE49-F238E27FC236}">
                  <a16:creationId xmlns:a16="http://schemas.microsoft.com/office/drawing/2014/main" id="{48AE2F1E-ECEA-41BC-90A2-0E039C5804DF}"/>
                </a:ext>
              </a:extLst>
            </p:cNvPr>
            <p:cNvCxnSpPr>
              <a:cxnSpLocks noChangeShapeType="1"/>
              <a:stCxn id="11" idx="2"/>
              <a:endCxn id="14" idx="0"/>
            </p:cNvCxnSpPr>
            <p:nvPr/>
          </p:nvCxnSpPr>
          <p:spPr bwMode="auto">
            <a:xfrm>
              <a:off x="2880" y="1587"/>
              <a:ext cx="0" cy="132"/>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0">
              <a:extLst>
                <a:ext uri="{FF2B5EF4-FFF2-40B4-BE49-F238E27FC236}">
                  <a16:creationId xmlns:a16="http://schemas.microsoft.com/office/drawing/2014/main" id="{9EE11B7E-E8EA-4DED-B5F2-3D0A3D929E50}"/>
                </a:ext>
              </a:extLst>
            </p:cNvPr>
            <p:cNvCxnSpPr>
              <a:cxnSpLocks noChangeShapeType="1"/>
              <a:stCxn id="17" idx="2"/>
              <a:endCxn id="29" idx="0"/>
            </p:cNvCxnSpPr>
            <p:nvPr/>
          </p:nvCxnSpPr>
          <p:spPr bwMode="auto">
            <a:xfrm>
              <a:off x="2880" y="3225"/>
              <a:ext cx="0" cy="183"/>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AutoShape 22">
              <a:extLst>
                <a:ext uri="{FF2B5EF4-FFF2-40B4-BE49-F238E27FC236}">
                  <a16:creationId xmlns:a16="http://schemas.microsoft.com/office/drawing/2014/main" id="{CCB6449C-6D05-41CE-A8D2-1DCD7DAE6FF6}"/>
                </a:ext>
              </a:extLst>
            </p:cNvPr>
            <p:cNvSpPr>
              <a:spLocks noChangeArrowheads="1"/>
            </p:cNvSpPr>
            <p:nvPr/>
          </p:nvSpPr>
          <p:spPr bwMode="auto">
            <a:xfrm>
              <a:off x="2112" y="3408"/>
              <a:ext cx="1536" cy="282"/>
            </a:xfrm>
            <a:prstGeom prst="roundRect">
              <a:avLst>
                <a:gd name="adj" fmla="val 50000"/>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Recommendation?</a:t>
              </a:r>
            </a:p>
          </p:txBody>
        </p:sp>
        <p:sp>
          <p:nvSpPr>
            <p:cNvPr id="30" name="Text Box 5">
              <a:extLst>
                <a:ext uri="{FF2B5EF4-FFF2-40B4-BE49-F238E27FC236}">
                  <a16:creationId xmlns:a16="http://schemas.microsoft.com/office/drawing/2014/main" id="{8446B75B-4FDD-4618-9A09-475F3CE1BCEC}"/>
                </a:ext>
              </a:extLst>
            </p:cNvPr>
            <p:cNvSpPr txBox="1">
              <a:spLocks noChangeArrowheads="1"/>
            </p:cNvSpPr>
            <p:nvPr/>
          </p:nvSpPr>
          <p:spPr bwMode="auto">
            <a:xfrm>
              <a:off x="1920" y="565"/>
              <a:ext cx="1824" cy="179"/>
            </a:xfrm>
            <a:prstGeom prst="rect">
              <a:avLst/>
            </a:prstGeom>
            <a:solidFill>
              <a:srgbClr val="000000"/>
            </a:solidFill>
            <a:ln w="9525" algn="ctr">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31" name="Text Box 10">
              <a:extLst>
                <a:ext uri="{FF2B5EF4-FFF2-40B4-BE49-F238E27FC236}">
                  <a16:creationId xmlns:a16="http://schemas.microsoft.com/office/drawing/2014/main" id="{3EBC3D72-9BBE-46B1-A9AA-5CB804E0D16A}"/>
                </a:ext>
              </a:extLst>
            </p:cNvPr>
            <p:cNvSpPr txBox="1">
              <a:spLocks noChangeArrowheads="1"/>
            </p:cNvSpPr>
            <p:nvPr/>
          </p:nvSpPr>
          <p:spPr bwMode="auto">
            <a:xfrm>
              <a:off x="4128" y="564"/>
              <a:ext cx="1248" cy="179"/>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32" name="Text Box 11">
              <a:extLst>
                <a:ext uri="{FF2B5EF4-FFF2-40B4-BE49-F238E27FC236}">
                  <a16:creationId xmlns:a16="http://schemas.microsoft.com/office/drawing/2014/main" id="{9F491933-7117-4008-ACCD-DA668497F762}"/>
                </a:ext>
              </a:extLst>
            </p:cNvPr>
            <p:cNvSpPr txBox="1">
              <a:spLocks noChangeArrowheads="1"/>
            </p:cNvSpPr>
            <p:nvPr/>
          </p:nvSpPr>
          <p:spPr bwMode="auto">
            <a:xfrm>
              <a:off x="960" y="551"/>
              <a:ext cx="624" cy="294"/>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33" name="Straight Connector 32">
              <a:extLst>
                <a:ext uri="{FF2B5EF4-FFF2-40B4-BE49-F238E27FC236}">
                  <a16:creationId xmlns:a16="http://schemas.microsoft.com/office/drawing/2014/main" id="{B46F41E5-58E2-4100-A530-8333D161386B}"/>
                </a:ext>
              </a:extLst>
            </p:cNvPr>
            <p:cNvCxnSpPr/>
            <p:nvPr/>
          </p:nvCxnSpPr>
          <p:spPr>
            <a:xfrm>
              <a:off x="1728" y="528"/>
              <a:ext cx="0" cy="3216"/>
            </a:xfrm>
            <a:prstGeom prst="line">
              <a:avLst/>
            </a:prstGeom>
            <a:noFill/>
            <a:ln w="9525" cap="flat" cmpd="sng" algn="ctr">
              <a:solidFill>
                <a:srgbClr val="000000"/>
              </a:solidFill>
              <a:prstDash val="sysDash"/>
            </a:ln>
            <a:effectLst/>
          </p:spPr>
        </p:cxnSp>
        <p:cxnSp>
          <p:nvCxnSpPr>
            <p:cNvPr id="34" name="Straight Connector 33">
              <a:extLst>
                <a:ext uri="{FF2B5EF4-FFF2-40B4-BE49-F238E27FC236}">
                  <a16:creationId xmlns:a16="http://schemas.microsoft.com/office/drawing/2014/main" id="{502578C9-7227-48AF-9041-C54CDF8454FA}"/>
                </a:ext>
              </a:extLst>
            </p:cNvPr>
            <p:cNvCxnSpPr/>
            <p:nvPr/>
          </p:nvCxnSpPr>
          <p:spPr>
            <a:xfrm>
              <a:off x="816" y="912"/>
              <a:ext cx="4608" cy="0"/>
            </a:xfrm>
            <a:prstGeom prst="line">
              <a:avLst/>
            </a:prstGeom>
            <a:noFill/>
            <a:ln w="9525" cap="flat" cmpd="sng" algn="ctr">
              <a:solidFill>
                <a:srgbClr val="000000"/>
              </a:solidFill>
              <a:prstDash val="sysDash"/>
            </a:ln>
            <a:effectLst/>
          </p:spPr>
        </p:cxnSp>
        <p:sp>
          <p:nvSpPr>
            <p:cNvPr id="35" name="Text Box 10">
              <a:extLst>
                <a:ext uri="{FF2B5EF4-FFF2-40B4-BE49-F238E27FC236}">
                  <a16:creationId xmlns:a16="http://schemas.microsoft.com/office/drawing/2014/main" id="{3137458E-4D2B-4EC7-82A6-80525DF6F71B}"/>
                </a:ext>
              </a:extLst>
            </p:cNvPr>
            <p:cNvSpPr txBox="1">
              <a:spLocks noChangeArrowheads="1"/>
            </p:cNvSpPr>
            <p:nvPr/>
          </p:nvSpPr>
          <p:spPr bwMode="auto">
            <a:xfrm>
              <a:off x="4080" y="1315"/>
              <a:ext cx="1296" cy="40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Work Practice or Substandard Condition</a:t>
              </a:r>
            </a:p>
          </p:txBody>
        </p:sp>
        <p:cxnSp>
          <p:nvCxnSpPr>
            <p:cNvPr id="36" name="Straight Connector 23">
              <a:extLst>
                <a:ext uri="{FF2B5EF4-FFF2-40B4-BE49-F238E27FC236}">
                  <a16:creationId xmlns:a16="http://schemas.microsoft.com/office/drawing/2014/main" id="{E9B0E3ED-3D1E-4474-B858-113B5230368D}"/>
                </a:ext>
              </a:extLst>
            </p:cNvPr>
            <p:cNvCxnSpPr/>
            <p:nvPr/>
          </p:nvCxnSpPr>
          <p:spPr>
            <a:xfrm>
              <a:off x="4032" y="528"/>
              <a:ext cx="0" cy="3216"/>
            </a:xfrm>
            <a:prstGeom prst="line">
              <a:avLst/>
            </a:prstGeom>
            <a:noFill/>
            <a:ln w="9525" cap="flat" cmpd="sng" algn="ctr">
              <a:solidFill>
                <a:srgbClr val="000000"/>
              </a:solidFill>
              <a:prstDash val="sysDash"/>
            </a:ln>
            <a:effectLst/>
          </p:spPr>
        </p:cxnSp>
        <p:sp>
          <p:nvSpPr>
            <p:cNvPr id="37" name="Text Box 4">
              <a:extLst>
                <a:ext uri="{FF2B5EF4-FFF2-40B4-BE49-F238E27FC236}">
                  <a16:creationId xmlns:a16="http://schemas.microsoft.com/office/drawing/2014/main" id="{0875AC3E-0A69-411E-A15F-5F08288FF276}"/>
                </a:ext>
              </a:extLst>
            </p:cNvPr>
            <p:cNvSpPr txBox="1">
              <a:spLocks noChangeArrowheads="1"/>
            </p:cNvSpPr>
            <p:nvPr/>
          </p:nvSpPr>
          <p:spPr bwMode="auto">
            <a:xfrm>
              <a:off x="2256" y="2471"/>
              <a:ext cx="1248" cy="179"/>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Intermediate Cause</a:t>
              </a:r>
            </a:p>
          </p:txBody>
        </p:sp>
        <p:cxnSp>
          <p:nvCxnSpPr>
            <p:cNvPr id="38" name="AutoShape 17">
              <a:extLst>
                <a:ext uri="{FF2B5EF4-FFF2-40B4-BE49-F238E27FC236}">
                  <a16:creationId xmlns:a16="http://schemas.microsoft.com/office/drawing/2014/main" id="{1FCA2A94-A99B-4D46-9FCD-CFD0BF684A33}"/>
                </a:ext>
              </a:extLst>
            </p:cNvPr>
            <p:cNvCxnSpPr>
              <a:cxnSpLocks noChangeShapeType="1"/>
              <a:stCxn id="37" idx="2"/>
              <a:endCxn id="16" idx="0"/>
            </p:cNvCxnSpPr>
            <p:nvPr/>
          </p:nvCxnSpPr>
          <p:spPr bwMode="auto">
            <a:xfrm>
              <a:off x="2880" y="2650"/>
              <a:ext cx="0" cy="209"/>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04652973"/>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CA" altLang="en-US" sz="2400" b="0" dirty="0">
                <a:solidFill>
                  <a:schemeClr val="bg1"/>
                </a:solidFill>
                <a:latin typeface="Arial" panose="020B0604020202020204" pitchFamily="34" charset="0"/>
                <a:cs typeface="Arial" panose="020B0604020202020204" pitchFamily="34" charset="0"/>
              </a:rPr>
              <a:t>Example: Examine One Root of a Root Cause Analysis: </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7" name="Rectangle 6">
            <a:extLst>
              <a:ext uri="{FF2B5EF4-FFF2-40B4-BE49-F238E27FC236}">
                <a16:creationId xmlns:a16="http://schemas.microsoft.com/office/drawing/2014/main" id="{8ACA68EA-FB4F-4421-8D17-2B73DF3F2A97}"/>
              </a:ext>
            </a:extLst>
          </p:cNvPr>
          <p:cNvSpPr/>
          <p:nvPr/>
        </p:nvSpPr>
        <p:spPr bwMode="auto">
          <a:xfrm>
            <a:off x="1219200" y="828000"/>
            <a:ext cx="6705600" cy="5384903"/>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10" name="Text Box 2">
            <a:extLst>
              <a:ext uri="{FF2B5EF4-FFF2-40B4-BE49-F238E27FC236}">
                <a16:creationId xmlns:a16="http://schemas.microsoft.com/office/drawing/2014/main" id="{6E4E9BBB-F47C-42A2-BC45-92CDE50F69B1}"/>
              </a:ext>
            </a:extLst>
          </p:cNvPr>
          <p:cNvSpPr txBox="1">
            <a:spLocks noChangeArrowheads="1"/>
          </p:cNvSpPr>
          <p:nvPr/>
        </p:nvSpPr>
        <p:spPr bwMode="auto">
          <a:xfrm>
            <a:off x="3253483" y="1690040"/>
            <a:ext cx="2411000" cy="272032"/>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11" name="Text Box 10">
            <a:extLst>
              <a:ext uri="{FF2B5EF4-FFF2-40B4-BE49-F238E27FC236}">
                <a16:creationId xmlns:a16="http://schemas.microsoft.com/office/drawing/2014/main" id="{7067D28A-0EA2-47DA-B46C-DC9766B8A916}"/>
              </a:ext>
            </a:extLst>
          </p:cNvPr>
          <p:cNvSpPr txBox="1">
            <a:spLocks noChangeArrowheads="1"/>
          </p:cNvSpPr>
          <p:nvPr/>
        </p:nvSpPr>
        <p:spPr bwMode="auto">
          <a:xfrm>
            <a:off x="6191892" y="3333316"/>
            <a:ext cx="1506876" cy="398882"/>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Risk Taking</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Motivation</a:t>
            </a:r>
          </a:p>
        </p:txBody>
      </p:sp>
      <p:sp>
        <p:nvSpPr>
          <p:cNvPr id="14" name="Text Box 11">
            <a:extLst>
              <a:ext uri="{FF2B5EF4-FFF2-40B4-BE49-F238E27FC236}">
                <a16:creationId xmlns:a16="http://schemas.microsoft.com/office/drawing/2014/main" id="{A1E0EF9D-F485-4BF9-BBC2-94695FD2507A}"/>
              </a:ext>
            </a:extLst>
          </p:cNvPr>
          <p:cNvSpPr txBox="1">
            <a:spLocks noChangeArrowheads="1"/>
          </p:cNvSpPr>
          <p:nvPr/>
        </p:nvSpPr>
        <p:spPr bwMode="auto">
          <a:xfrm>
            <a:off x="1520575" y="3327083"/>
            <a:ext cx="979470" cy="398882"/>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5" name="Text Box 12">
            <a:extLst>
              <a:ext uri="{FF2B5EF4-FFF2-40B4-BE49-F238E27FC236}">
                <a16:creationId xmlns:a16="http://schemas.microsoft.com/office/drawing/2014/main" id="{ACC09F93-9366-4C2E-AF91-4827E7F2FAE0}"/>
              </a:ext>
            </a:extLst>
          </p:cNvPr>
          <p:cNvSpPr txBox="1">
            <a:spLocks noChangeArrowheads="1"/>
          </p:cNvSpPr>
          <p:nvPr/>
        </p:nvSpPr>
        <p:spPr bwMode="auto">
          <a:xfrm>
            <a:off x="1520575" y="2103769"/>
            <a:ext cx="979470" cy="398882"/>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6" name="Text Box 13">
            <a:extLst>
              <a:ext uri="{FF2B5EF4-FFF2-40B4-BE49-F238E27FC236}">
                <a16:creationId xmlns:a16="http://schemas.microsoft.com/office/drawing/2014/main" id="{2F709FBB-6A03-4EA5-8049-D5A54C2E36D4}"/>
              </a:ext>
            </a:extLst>
          </p:cNvPr>
          <p:cNvSpPr txBox="1">
            <a:spLocks noChangeArrowheads="1"/>
          </p:cNvSpPr>
          <p:nvPr/>
        </p:nvSpPr>
        <p:spPr bwMode="auto">
          <a:xfrm>
            <a:off x="1294544" y="1700929"/>
            <a:ext cx="1356189" cy="256038"/>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Description</a:t>
            </a:r>
          </a:p>
        </p:txBody>
      </p:sp>
      <p:sp>
        <p:nvSpPr>
          <p:cNvPr id="17" name="Text Box 14">
            <a:extLst>
              <a:ext uri="{FF2B5EF4-FFF2-40B4-BE49-F238E27FC236}">
                <a16:creationId xmlns:a16="http://schemas.microsoft.com/office/drawing/2014/main" id="{D9260694-C3AF-46C8-9979-BEA53438A9AE}"/>
              </a:ext>
            </a:extLst>
          </p:cNvPr>
          <p:cNvSpPr txBox="1">
            <a:spLocks noChangeArrowheads="1"/>
          </p:cNvSpPr>
          <p:nvPr/>
        </p:nvSpPr>
        <p:spPr bwMode="auto">
          <a:xfrm>
            <a:off x="1520575" y="4710677"/>
            <a:ext cx="979470" cy="398882"/>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8" name="Text Box 15">
            <a:extLst>
              <a:ext uri="{FF2B5EF4-FFF2-40B4-BE49-F238E27FC236}">
                <a16:creationId xmlns:a16="http://schemas.microsoft.com/office/drawing/2014/main" id="{0366DAF2-6637-4C92-B0F7-0417C60FBA58}"/>
              </a:ext>
            </a:extLst>
          </p:cNvPr>
          <p:cNvSpPr txBox="1">
            <a:spLocks noChangeArrowheads="1"/>
          </p:cNvSpPr>
          <p:nvPr/>
        </p:nvSpPr>
        <p:spPr bwMode="auto">
          <a:xfrm>
            <a:off x="6191892" y="4788331"/>
            <a:ext cx="1506876" cy="256038"/>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Inadequate Program</a:t>
            </a:r>
          </a:p>
        </p:txBody>
      </p:sp>
      <p:cxnSp>
        <p:nvCxnSpPr>
          <p:cNvPr id="19" name="AutoShape 16">
            <a:extLst>
              <a:ext uri="{FF2B5EF4-FFF2-40B4-BE49-F238E27FC236}">
                <a16:creationId xmlns:a16="http://schemas.microsoft.com/office/drawing/2014/main" id="{32B3E21A-525A-40F4-991E-18AD2BCA89F3}"/>
              </a:ext>
            </a:extLst>
          </p:cNvPr>
          <p:cNvCxnSpPr>
            <a:cxnSpLocks noChangeShapeType="1"/>
            <a:stCxn id="10" idx="2"/>
            <a:endCxn id="30" idx="0"/>
          </p:cNvCxnSpPr>
          <p:nvPr/>
        </p:nvCxnSpPr>
        <p:spPr bwMode="auto">
          <a:xfrm>
            <a:off x="4458983" y="1962072"/>
            <a:ext cx="1" cy="2873064"/>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 Box 5">
            <a:extLst>
              <a:ext uri="{FF2B5EF4-FFF2-40B4-BE49-F238E27FC236}">
                <a16:creationId xmlns:a16="http://schemas.microsoft.com/office/drawing/2014/main" id="{1981E8CD-0320-4BB7-A57E-7EADB72A7E67}"/>
              </a:ext>
            </a:extLst>
          </p:cNvPr>
          <p:cNvSpPr txBox="1">
            <a:spLocks noChangeArrowheads="1"/>
          </p:cNvSpPr>
          <p:nvPr/>
        </p:nvSpPr>
        <p:spPr bwMode="auto">
          <a:xfrm>
            <a:off x="3027452" y="1052371"/>
            <a:ext cx="2863065" cy="243069"/>
          </a:xfrm>
          <a:prstGeom prst="rect">
            <a:avLst/>
          </a:prstGeom>
          <a:solidFill>
            <a:srgbClr val="000000"/>
          </a:solidFill>
          <a:ln w="9525" algn="ctr">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21" name="Text Box 10">
            <a:extLst>
              <a:ext uri="{FF2B5EF4-FFF2-40B4-BE49-F238E27FC236}">
                <a16:creationId xmlns:a16="http://schemas.microsoft.com/office/drawing/2014/main" id="{8DF4C73D-8733-42EA-A876-46CEA8BEEF39}"/>
              </a:ext>
            </a:extLst>
          </p:cNvPr>
          <p:cNvSpPr txBox="1">
            <a:spLocks noChangeArrowheads="1"/>
          </p:cNvSpPr>
          <p:nvPr/>
        </p:nvSpPr>
        <p:spPr bwMode="auto">
          <a:xfrm>
            <a:off x="6267236" y="1049255"/>
            <a:ext cx="1356189" cy="249301"/>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22" name="Text Box 11">
            <a:extLst>
              <a:ext uri="{FF2B5EF4-FFF2-40B4-BE49-F238E27FC236}">
                <a16:creationId xmlns:a16="http://schemas.microsoft.com/office/drawing/2014/main" id="{98F1D7F9-E436-49A0-B789-4C9D84BEC5B0}"/>
              </a:ext>
            </a:extLst>
          </p:cNvPr>
          <p:cNvSpPr txBox="1">
            <a:spLocks noChangeArrowheads="1"/>
          </p:cNvSpPr>
          <p:nvPr/>
        </p:nvSpPr>
        <p:spPr bwMode="auto">
          <a:xfrm>
            <a:off x="1520575" y="1046138"/>
            <a:ext cx="979470" cy="392649"/>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23" name="Straight Connector 22">
            <a:extLst>
              <a:ext uri="{FF2B5EF4-FFF2-40B4-BE49-F238E27FC236}">
                <a16:creationId xmlns:a16="http://schemas.microsoft.com/office/drawing/2014/main" id="{9DD1DEB0-E34A-4DD4-8176-C6C4069EBF52}"/>
              </a:ext>
            </a:extLst>
          </p:cNvPr>
          <p:cNvCxnSpPr/>
          <p:nvPr/>
        </p:nvCxnSpPr>
        <p:spPr bwMode="auto">
          <a:xfrm>
            <a:off x="2725391" y="828000"/>
            <a:ext cx="0" cy="5384903"/>
          </a:xfrm>
          <a:prstGeom prst="line">
            <a:avLst/>
          </a:prstGeom>
          <a:noFill/>
          <a:ln w="9525" cap="flat" cmpd="sng" algn="ctr">
            <a:solidFill>
              <a:srgbClr val="000000"/>
            </a:solidFill>
            <a:prstDash val="sysDash"/>
          </a:ln>
          <a:effectLst/>
        </p:spPr>
      </p:cxnSp>
      <p:cxnSp>
        <p:nvCxnSpPr>
          <p:cNvPr id="24" name="Straight Connector 23">
            <a:extLst>
              <a:ext uri="{FF2B5EF4-FFF2-40B4-BE49-F238E27FC236}">
                <a16:creationId xmlns:a16="http://schemas.microsoft.com/office/drawing/2014/main" id="{B0ECEBCE-E6C7-44E1-B3F5-958655CA23D0}"/>
              </a:ext>
            </a:extLst>
          </p:cNvPr>
          <p:cNvCxnSpPr/>
          <p:nvPr/>
        </p:nvCxnSpPr>
        <p:spPr bwMode="auto">
          <a:xfrm>
            <a:off x="1219200" y="1576462"/>
            <a:ext cx="6705600" cy="0"/>
          </a:xfrm>
          <a:prstGeom prst="line">
            <a:avLst/>
          </a:prstGeom>
          <a:noFill/>
          <a:ln w="9525" cap="flat" cmpd="sng" algn="ctr">
            <a:solidFill>
              <a:srgbClr val="000000"/>
            </a:solidFill>
            <a:prstDash val="sysDash"/>
          </a:ln>
          <a:effectLst/>
        </p:spPr>
      </p:cxnSp>
      <p:sp>
        <p:nvSpPr>
          <p:cNvPr id="25" name="Text Box 10">
            <a:extLst>
              <a:ext uri="{FF2B5EF4-FFF2-40B4-BE49-F238E27FC236}">
                <a16:creationId xmlns:a16="http://schemas.microsoft.com/office/drawing/2014/main" id="{FE9461E5-51D7-4C6E-8CF1-91CA7EA00922}"/>
              </a:ext>
            </a:extLst>
          </p:cNvPr>
          <p:cNvSpPr txBox="1">
            <a:spLocks noChangeArrowheads="1"/>
          </p:cNvSpPr>
          <p:nvPr/>
        </p:nvSpPr>
        <p:spPr bwMode="auto">
          <a:xfrm>
            <a:off x="6191892" y="2128699"/>
            <a:ext cx="1506876" cy="398882"/>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Work Practice</a:t>
            </a:r>
          </a:p>
        </p:txBody>
      </p:sp>
      <p:sp>
        <p:nvSpPr>
          <p:cNvPr id="26" name="Text Box 7">
            <a:extLst>
              <a:ext uri="{FF2B5EF4-FFF2-40B4-BE49-F238E27FC236}">
                <a16:creationId xmlns:a16="http://schemas.microsoft.com/office/drawing/2014/main" id="{A80B5988-6681-4FA2-A911-D0757586F1D6}"/>
              </a:ext>
            </a:extLst>
          </p:cNvPr>
          <p:cNvSpPr txBox="1">
            <a:spLocks noChangeArrowheads="1"/>
          </p:cNvSpPr>
          <p:nvPr/>
        </p:nvSpPr>
        <p:spPr bwMode="auto">
          <a:xfrm>
            <a:off x="3027452" y="3981062"/>
            <a:ext cx="2863065" cy="646331"/>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Management failed to </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communicate or </a:t>
            </a:r>
            <a:r>
              <a:rPr kumimoji="0" lang="en-US" altLang="en-US" sz="12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did not </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the IM understood Corporate Values: “Safety always before Production”</a:t>
            </a:r>
          </a:p>
        </p:txBody>
      </p:sp>
      <p:sp>
        <p:nvSpPr>
          <p:cNvPr id="27" name="Text Box 5">
            <a:extLst>
              <a:ext uri="{FF2B5EF4-FFF2-40B4-BE49-F238E27FC236}">
                <a16:creationId xmlns:a16="http://schemas.microsoft.com/office/drawing/2014/main" id="{74DF996E-7B23-4C40-B499-5742ACA459B0}"/>
              </a:ext>
            </a:extLst>
          </p:cNvPr>
          <p:cNvSpPr txBox="1">
            <a:spLocks noChangeArrowheads="1"/>
          </p:cNvSpPr>
          <p:nvPr/>
        </p:nvSpPr>
        <p:spPr bwMode="auto">
          <a:xfrm>
            <a:off x="3027452" y="3215386"/>
            <a:ext cx="2863065" cy="634741"/>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or taken to heart or cared that or understood that safety checks must be done before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sp>
        <p:nvSpPr>
          <p:cNvPr id="28" name="Text Box 4">
            <a:extLst>
              <a:ext uri="{FF2B5EF4-FFF2-40B4-BE49-F238E27FC236}">
                <a16:creationId xmlns:a16="http://schemas.microsoft.com/office/drawing/2014/main" id="{DFA28246-9953-4917-BDC2-CF1EA075F8E5}"/>
              </a:ext>
            </a:extLst>
          </p:cNvPr>
          <p:cNvSpPr txBox="1">
            <a:spLocks noChangeArrowheads="1"/>
          </p:cNvSpPr>
          <p:nvPr/>
        </p:nvSpPr>
        <p:spPr bwMode="auto">
          <a:xfrm>
            <a:off x="3253483" y="2676606"/>
            <a:ext cx="2411002" cy="453387"/>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prioritized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29" name="Text Box 3">
            <a:extLst>
              <a:ext uri="{FF2B5EF4-FFF2-40B4-BE49-F238E27FC236}">
                <a16:creationId xmlns:a16="http://schemas.microsoft.com/office/drawing/2014/main" id="{27E5E2E5-F0C4-4DFA-828D-B7808AFFCC1C}"/>
              </a:ext>
            </a:extLst>
          </p:cNvPr>
          <p:cNvSpPr txBox="1">
            <a:spLocks noChangeArrowheads="1"/>
          </p:cNvSpPr>
          <p:nvPr/>
        </p:nvSpPr>
        <p:spPr bwMode="auto">
          <a:xfrm>
            <a:off x="3253483" y="2107680"/>
            <a:ext cx="2411000" cy="453387"/>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30" name="Text Box 8">
            <a:extLst>
              <a:ext uri="{FF2B5EF4-FFF2-40B4-BE49-F238E27FC236}">
                <a16:creationId xmlns:a16="http://schemas.microsoft.com/office/drawing/2014/main" id="{2F7A8CF1-244C-45F7-96FA-5750FE7E8281}"/>
              </a:ext>
            </a:extLst>
          </p:cNvPr>
          <p:cNvSpPr txBox="1">
            <a:spLocks noChangeArrowheads="1"/>
          </p:cNvSpPr>
          <p:nvPr/>
        </p:nvSpPr>
        <p:spPr bwMode="auto">
          <a:xfrm>
            <a:off x="3027452" y="4835136"/>
            <a:ext cx="2863065" cy="272032"/>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cause?</a:t>
            </a:r>
          </a:p>
        </p:txBody>
      </p:sp>
      <p:sp>
        <p:nvSpPr>
          <p:cNvPr id="32" name="Rectangular Callout 25">
            <a:extLst>
              <a:ext uri="{FF2B5EF4-FFF2-40B4-BE49-F238E27FC236}">
                <a16:creationId xmlns:a16="http://schemas.microsoft.com/office/drawing/2014/main" id="{80009069-71AC-4A12-9A84-63DA0EB67B90}"/>
              </a:ext>
            </a:extLst>
          </p:cNvPr>
          <p:cNvSpPr/>
          <p:nvPr/>
        </p:nvSpPr>
        <p:spPr bwMode="auto">
          <a:xfrm>
            <a:off x="180000" y="780949"/>
            <a:ext cx="3401400" cy="793552"/>
          </a:xfrm>
          <a:prstGeom prst="wedgeRectCallout">
            <a:avLst>
              <a:gd name="adj1" fmla="val 35017"/>
              <a:gd name="adj2" fmla="val 250576"/>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What improvement</a:t>
            </a:r>
            <a:r>
              <a:rPr lang="en-US" b="0" dirty="0" smtClean="0">
                <a:solidFill>
                  <a:srgbClr val="FFFFFF"/>
                </a:solidFill>
                <a:latin typeface="Arial"/>
                <a:ea typeface="ＭＳ Ｐゴシック" panose="020B0600070205080204" pitchFamily="34" charset="-128"/>
              </a:rPr>
              <a:t> would you make in this cause statement?</a:t>
            </a:r>
            <a:endParaRPr kumimoji="0" lang="en-US"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33" name="Rectangular Callout 25">
            <a:extLst>
              <a:ext uri="{FF2B5EF4-FFF2-40B4-BE49-F238E27FC236}">
                <a16:creationId xmlns:a16="http://schemas.microsoft.com/office/drawing/2014/main" id="{80009069-71AC-4A12-9A84-63DA0EB67B90}"/>
              </a:ext>
            </a:extLst>
          </p:cNvPr>
          <p:cNvSpPr/>
          <p:nvPr/>
        </p:nvSpPr>
        <p:spPr bwMode="auto">
          <a:xfrm>
            <a:off x="6324600" y="1453429"/>
            <a:ext cx="2488800" cy="984972"/>
          </a:xfrm>
          <a:prstGeom prst="wedgeRectCallout">
            <a:avLst>
              <a:gd name="adj1" fmla="val -66653"/>
              <a:gd name="adj2" fmla="val 216963"/>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What improvement</a:t>
            </a:r>
            <a:r>
              <a:rPr lang="en-US" b="0" dirty="0" smtClean="0">
                <a:solidFill>
                  <a:srgbClr val="FFFFFF"/>
                </a:solidFill>
                <a:latin typeface="Arial"/>
                <a:ea typeface="ＭＳ Ｐゴシック" panose="020B0600070205080204" pitchFamily="34" charset="-128"/>
              </a:rPr>
              <a:t> would you make in this cause statement?</a:t>
            </a:r>
            <a:endParaRPr kumimoji="0" lang="en-US"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Tree>
    <p:extLst>
      <p:ext uri="{BB962C8B-B14F-4D97-AF65-F5344CB8AC3E}">
        <p14:creationId xmlns:p14="http://schemas.microsoft.com/office/powerpoint/2010/main" val="1777950412"/>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Text Box 2">
            <a:extLst>
              <a:ext uri="{FF2B5EF4-FFF2-40B4-BE49-F238E27FC236}">
                <a16:creationId xmlns:a16="http://schemas.microsoft.com/office/drawing/2014/main" id="{452E5BBE-3462-4C66-BE19-E9C41D5F705B}"/>
              </a:ext>
            </a:extLst>
          </p:cNvPr>
          <p:cNvSpPr txBox="1">
            <a:spLocks noChangeArrowheads="1"/>
          </p:cNvSpPr>
          <p:nvPr/>
        </p:nvSpPr>
        <p:spPr bwMode="auto">
          <a:xfrm>
            <a:off x="3393581" y="840291"/>
            <a:ext cx="2006638" cy="390288"/>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7" name="Text Box 3">
            <a:extLst>
              <a:ext uri="{FF2B5EF4-FFF2-40B4-BE49-F238E27FC236}">
                <a16:creationId xmlns:a16="http://schemas.microsoft.com/office/drawing/2014/main" id="{D87DDC1B-24CA-446F-85D4-E1EE886207A2}"/>
              </a:ext>
            </a:extLst>
          </p:cNvPr>
          <p:cNvSpPr txBox="1">
            <a:spLocks noChangeArrowheads="1"/>
          </p:cNvSpPr>
          <p:nvPr/>
        </p:nvSpPr>
        <p:spPr bwMode="auto">
          <a:xfrm>
            <a:off x="3393580" y="1364403"/>
            <a:ext cx="2006639" cy="390288"/>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10" name="Text Box 4">
            <a:extLst>
              <a:ext uri="{FF2B5EF4-FFF2-40B4-BE49-F238E27FC236}">
                <a16:creationId xmlns:a16="http://schemas.microsoft.com/office/drawing/2014/main" id="{83ADFC1C-7C09-4FB3-A3FB-1831E6ED4AA7}"/>
              </a:ext>
            </a:extLst>
          </p:cNvPr>
          <p:cNvSpPr txBox="1">
            <a:spLocks noChangeArrowheads="1"/>
          </p:cNvSpPr>
          <p:nvPr/>
        </p:nvSpPr>
        <p:spPr bwMode="auto">
          <a:xfrm>
            <a:off x="3393580" y="1897803"/>
            <a:ext cx="2006639" cy="39028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prioritised</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11" name="Text Box 5">
            <a:extLst>
              <a:ext uri="{FF2B5EF4-FFF2-40B4-BE49-F238E27FC236}">
                <a16:creationId xmlns:a16="http://schemas.microsoft.com/office/drawing/2014/main" id="{96D455B4-E825-4EC9-8F48-F03E6BDD86B2}"/>
              </a:ext>
            </a:extLst>
          </p:cNvPr>
          <p:cNvSpPr txBox="1">
            <a:spLocks noChangeArrowheads="1"/>
          </p:cNvSpPr>
          <p:nvPr/>
        </p:nvSpPr>
        <p:spPr bwMode="auto">
          <a:xfrm>
            <a:off x="4395358" y="3115058"/>
            <a:ext cx="3423287" cy="646331"/>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cared for, understood) that safety checks must be done before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cxnSp>
        <p:nvCxnSpPr>
          <p:cNvPr id="14" name="AutoShape 14">
            <a:extLst>
              <a:ext uri="{FF2B5EF4-FFF2-40B4-BE49-F238E27FC236}">
                <a16:creationId xmlns:a16="http://schemas.microsoft.com/office/drawing/2014/main" id="{CFB40778-ED91-4E94-9CAE-EE450017DD16}"/>
              </a:ext>
            </a:extLst>
          </p:cNvPr>
          <p:cNvCxnSpPr>
            <a:cxnSpLocks noChangeShapeType="1"/>
            <a:stCxn id="6" idx="2"/>
            <a:endCxn id="7" idx="0"/>
          </p:cNvCxnSpPr>
          <p:nvPr/>
        </p:nvCxnSpPr>
        <p:spPr bwMode="auto">
          <a:xfrm>
            <a:off x="4396900" y="1230579"/>
            <a:ext cx="0" cy="133824"/>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5">
            <a:extLst>
              <a:ext uri="{FF2B5EF4-FFF2-40B4-BE49-F238E27FC236}">
                <a16:creationId xmlns:a16="http://schemas.microsoft.com/office/drawing/2014/main" id="{61561059-E927-4037-9115-84AA15067388}"/>
              </a:ext>
            </a:extLst>
          </p:cNvPr>
          <p:cNvCxnSpPr>
            <a:cxnSpLocks noChangeShapeType="1"/>
            <a:stCxn id="11" idx="2"/>
          </p:cNvCxnSpPr>
          <p:nvPr/>
        </p:nvCxnSpPr>
        <p:spPr bwMode="auto">
          <a:xfrm>
            <a:off x="6107002" y="3761389"/>
            <a:ext cx="4801" cy="1410111"/>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6">
            <a:extLst>
              <a:ext uri="{FF2B5EF4-FFF2-40B4-BE49-F238E27FC236}">
                <a16:creationId xmlns:a16="http://schemas.microsoft.com/office/drawing/2014/main" id="{9311E561-567F-4FE5-802E-FE4811D8450B}"/>
              </a:ext>
            </a:extLst>
          </p:cNvPr>
          <p:cNvCxnSpPr>
            <a:cxnSpLocks noChangeShapeType="1"/>
            <a:stCxn id="21" idx="3"/>
            <a:endCxn id="11" idx="0"/>
          </p:cNvCxnSpPr>
          <p:nvPr/>
        </p:nvCxnSpPr>
        <p:spPr bwMode="auto">
          <a:xfrm rot="16200000" flipH="1">
            <a:off x="5064131" y="2072186"/>
            <a:ext cx="385493" cy="1700249"/>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7">
            <a:extLst>
              <a:ext uri="{FF2B5EF4-FFF2-40B4-BE49-F238E27FC236}">
                <a16:creationId xmlns:a16="http://schemas.microsoft.com/office/drawing/2014/main" id="{6E38BDD6-1630-4223-8A8B-75AD4C7BA324}"/>
              </a:ext>
            </a:extLst>
          </p:cNvPr>
          <p:cNvCxnSpPr>
            <a:cxnSpLocks noChangeShapeType="1"/>
            <a:stCxn id="7" idx="2"/>
            <a:endCxn id="10" idx="0"/>
          </p:cNvCxnSpPr>
          <p:nvPr/>
        </p:nvCxnSpPr>
        <p:spPr bwMode="auto">
          <a:xfrm>
            <a:off x="4396900" y="1754691"/>
            <a:ext cx="0" cy="143112"/>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18">
            <a:extLst>
              <a:ext uri="{FF2B5EF4-FFF2-40B4-BE49-F238E27FC236}">
                <a16:creationId xmlns:a16="http://schemas.microsoft.com/office/drawing/2014/main" id="{C58AEC30-D78C-44CC-804F-569AF78FBCAC}"/>
              </a:ext>
            </a:extLst>
          </p:cNvPr>
          <p:cNvSpPr txBox="1">
            <a:spLocks noChangeArrowheads="1"/>
          </p:cNvSpPr>
          <p:nvPr/>
        </p:nvSpPr>
        <p:spPr bwMode="auto">
          <a:xfrm>
            <a:off x="952394" y="3117362"/>
            <a:ext cx="3262393" cy="461665"/>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was not trained on </a:t>
            </a:r>
            <a:b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Corporate Values</a:t>
            </a:r>
          </a:p>
        </p:txBody>
      </p:sp>
      <p:cxnSp>
        <p:nvCxnSpPr>
          <p:cNvPr id="19" name="AutoShape 23">
            <a:extLst>
              <a:ext uri="{FF2B5EF4-FFF2-40B4-BE49-F238E27FC236}">
                <a16:creationId xmlns:a16="http://schemas.microsoft.com/office/drawing/2014/main" id="{DA604BD2-64BD-4D53-8E96-6972EA197DA5}"/>
              </a:ext>
            </a:extLst>
          </p:cNvPr>
          <p:cNvCxnSpPr>
            <a:cxnSpLocks noChangeShapeType="1"/>
            <a:stCxn id="18" idx="2"/>
          </p:cNvCxnSpPr>
          <p:nvPr/>
        </p:nvCxnSpPr>
        <p:spPr bwMode="auto">
          <a:xfrm flipH="1">
            <a:off x="2583590" y="3579027"/>
            <a:ext cx="1" cy="1594246"/>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4">
            <a:extLst>
              <a:ext uri="{FF2B5EF4-FFF2-40B4-BE49-F238E27FC236}">
                <a16:creationId xmlns:a16="http://schemas.microsoft.com/office/drawing/2014/main" id="{61506945-410A-4EBE-BE6E-AD344025E98A}"/>
              </a:ext>
            </a:extLst>
          </p:cNvPr>
          <p:cNvCxnSpPr>
            <a:cxnSpLocks noChangeShapeType="1"/>
            <a:stCxn id="21" idx="3"/>
            <a:endCxn id="18" idx="0"/>
          </p:cNvCxnSpPr>
          <p:nvPr/>
        </p:nvCxnSpPr>
        <p:spPr bwMode="auto">
          <a:xfrm rot="5400000">
            <a:off x="3301274" y="2011882"/>
            <a:ext cx="387797" cy="1823162"/>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AutoShape 25">
            <a:extLst>
              <a:ext uri="{FF2B5EF4-FFF2-40B4-BE49-F238E27FC236}">
                <a16:creationId xmlns:a16="http://schemas.microsoft.com/office/drawing/2014/main" id="{174CB09C-6290-4DBA-81B2-0519B90F9829}"/>
              </a:ext>
            </a:extLst>
          </p:cNvPr>
          <p:cNvSpPr>
            <a:spLocks noChangeArrowheads="1"/>
          </p:cNvSpPr>
          <p:nvPr/>
        </p:nvSpPr>
        <p:spPr bwMode="auto">
          <a:xfrm rot="5255844">
            <a:off x="4227384" y="2319544"/>
            <a:ext cx="350650" cy="627256"/>
          </a:xfrm>
          <a:prstGeom prst="moon">
            <a:avLst>
              <a:gd name="adj" fmla="val 77514"/>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
                <a:srgbClr val="000000"/>
              </a:buClr>
              <a:buSzPct val="65000"/>
              <a:buFont typeface="Wingdings" panose="05000000000000000000" pitchFamily="2" charset="2"/>
              <a:buNone/>
              <a:tabLst/>
              <a:defRPr/>
            </a:pPr>
            <a:endParaRPr kumimoji="0" lang="en-CA" altLang="en-US" sz="18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cxnSp>
        <p:nvCxnSpPr>
          <p:cNvPr id="22" name="AutoShape 26">
            <a:extLst>
              <a:ext uri="{FF2B5EF4-FFF2-40B4-BE49-F238E27FC236}">
                <a16:creationId xmlns:a16="http://schemas.microsoft.com/office/drawing/2014/main" id="{751AE255-9E3A-455B-83F7-62209871C68E}"/>
              </a:ext>
            </a:extLst>
          </p:cNvPr>
          <p:cNvCxnSpPr>
            <a:cxnSpLocks noChangeShapeType="1"/>
            <a:stCxn id="10" idx="2"/>
            <a:endCxn id="21" idx="1"/>
          </p:cNvCxnSpPr>
          <p:nvPr/>
        </p:nvCxnSpPr>
        <p:spPr bwMode="auto">
          <a:xfrm rot="5400000">
            <a:off x="4311175" y="2372276"/>
            <a:ext cx="169910" cy="1541"/>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8">
            <a:extLst>
              <a:ext uri="{FF2B5EF4-FFF2-40B4-BE49-F238E27FC236}">
                <a16:creationId xmlns:a16="http://schemas.microsoft.com/office/drawing/2014/main" id="{59245E1C-A153-4071-8F7E-9FE5EE190CAE}"/>
              </a:ext>
            </a:extLst>
          </p:cNvPr>
          <p:cNvCxnSpPr>
            <a:cxnSpLocks noChangeShapeType="1"/>
          </p:cNvCxnSpPr>
          <p:nvPr/>
        </p:nvCxnSpPr>
        <p:spPr bwMode="auto">
          <a:xfrm>
            <a:off x="6041995" y="5945691"/>
            <a:ext cx="0" cy="320248"/>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6">
            <a:extLst>
              <a:ext uri="{FF2B5EF4-FFF2-40B4-BE49-F238E27FC236}">
                <a16:creationId xmlns:a16="http://schemas.microsoft.com/office/drawing/2014/main" id="{0ABF47E3-835C-4C83-AACF-616B55C819FB}"/>
              </a:ext>
            </a:extLst>
          </p:cNvPr>
          <p:cNvSpPr txBox="1">
            <a:spLocks noChangeArrowheads="1"/>
          </p:cNvSpPr>
          <p:nvPr/>
        </p:nvSpPr>
        <p:spPr bwMode="auto">
          <a:xfrm>
            <a:off x="4387105" y="4015628"/>
            <a:ext cx="3423287" cy="954107"/>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the IM understood Corporate Values: “Safety always before Production” as part of the communications plan.</a:t>
            </a:r>
          </a:p>
        </p:txBody>
      </p:sp>
      <p:sp>
        <p:nvSpPr>
          <p:cNvPr id="26" name="Text Box 19">
            <a:extLst>
              <a:ext uri="{FF2B5EF4-FFF2-40B4-BE49-F238E27FC236}">
                <a16:creationId xmlns:a16="http://schemas.microsoft.com/office/drawing/2014/main" id="{D56C0B47-A8CA-4F2E-A61A-4741E707BD76}"/>
              </a:ext>
            </a:extLst>
          </p:cNvPr>
          <p:cNvSpPr txBox="1">
            <a:spLocks noChangeArrowheads="1"/>
          </p:cNvSpPr>
          <p:nvPr/>
        </p:nvSpPr>
        <p:spPr bwMode="auto">
          <a:xfrm>
            <a:off x="982171" y="3984850"/>
            <a:ext cx="3262393" cy="5232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defPPr>
              <a:defRPr lang="en-US"/>
            </a:defPPr>
            <a:lvl1pPr algn="ctr" eaLnBrk="1" hangingPunct="1">
              <a:spcBef>
                <a:spcPct val="50000"/>
              </a:spcBef>
              <a:buClr>
                <a:schemeClr val="tx2"/>
              </a:buClr>
              <a:buSzPct val="65000"/>
              <a:buFont typeface="Wingdings" panose="05000000000000000000" pitchFamily="2" charset="2"/>
              <a:buNone/>
              <a:defRPr sz="1000">
                <a:solidFill>
                  <a:srgbClr val="000000"/>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r>
            <a:b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train IM on Corporate Values</a:t>
            </a:r>
          </a:p>
        </p:txBody>
      </p:sp>
      <p:sp>
        <p:nvSpPr>
          <p:cNvPr id="28" name="Text Box 8">
            <a:extLst>
              <a:ext uri="{FF2B5EF4-FFF2-40B4-BE49-F238E27FC236}">
                <a16:creationId xmlns:a16="http://schemas.microsoft.com/office/drawing/2014/main" id="{1C71BD5C-B2A7-4161-B10E-19164CF15318}"/>
              </a:ext>
            </a:extLst>
          </p:cNvPr>
          <p:cNvSpPr txBox="1">
            <a:spLocks noChangeArrowheads="1"/>
          </p:cNvSpPr>
          <p:nvPr/>
        </p:nvSpPr>
        <p:spPr bwMode="auto">
          <a:xfrm>
            <a:off x="952394" y="5204050"/>
            <a:ext cx="3262392" cy="52322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LC-C: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(existing) training program on Corporate Values was not implemented. </a:t>
            </a:r>
          </a:p>
        </p:txBody>
      </p:sp>
      <p:sp>
        <p:nvSpPr>
          <p:cNvPr id="32" name="Rectangular Callout 25">
            <a:extLst>
              <a:ext uri="{FF2B5EF4-FFF2-40B4-BE49-F238E27FC236}">
                <a16:creationId xmlns:a16="http://schemas.microsoft.com/office/drawing/2014/main" id="{80009069-71AC-4A12-9A84-63DA0EB67B90}"/>
              </a:ext>
            </a:extLst>
          </p:cNvPr>
          <p:cNvSpPr/>
          <p:nvPr/>
        </p:nvSpPr>
        <p:spPr bwMode="auto">
          <a:xfrm>
            <a:off x="180000" y="780948"/>
            <a:ext cx="2639400" cy="1111905"/>
          </a:xfrm>
          <a:prstGeom prst="wedgeRectCallout">
            <a:avLst>
              <a:gd name="adj1" fmla="val 100086"/>
              <a:gd name="adj2" fmla="val 114055"/>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sz="16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The</a:t>
            </a:r>
            <a:r>
              <a:rPr kumimoji="0" lang="en-US" sz="16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 </a:t>
            </a:r>
            <a:r>
              <a:rPr lang="en-US" sz="1600" b="0" dirty="0" smtClean="0">
                <a:solidFill>
                  <a:srgbClr val="FFFFFF"/>
                </a:solidFill>
                <a:latin typeface="Arial"/>
                <a:ea typeface="ＭＳ Ｐゴシック" panose="020B0600070205080204" pitchFamily="34" charset="-128"/>
              </a:rPr>
              <a:t>cause statement on the previous page included the “OR” word, so branch to another root.</a:t>
            </a:r>
            <a:endParaRPr kumimoji="0" lang="en-US" sz="16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33" name="Rectangular Callout 25">
            <a:extLst>
              <a:ext uri="{FF2B5EF4-FFF2-40B4-BE49-F238E27FC236}">
                <a16:creationId xmlns:a16="http://schemas.microsoft.com/office/drawing/2014/main" id="{80009069-71AC-4A12-9A84-63DA0EB67B90}"/>
              </a:ext>
            </a:extLst>
          </p:cNvPr>
          <p:cNvSpPr/>
          <p:nvPr/>
        </p:nvSpPr>
        <p:spPr bwMode="auto">
          <a:xfrm>
            <a:off x="5398680" y="832789"/>
            <a:ext cx="3421319" cy="1625213"/>
          </a:xfrm>
          <a:prstGeom prst="wedgeRectCallout">
            <a:avLst>
              <a:gd name="adj1" fmla="val 10456"/>
              <a:gd name="adj2" fmla="val 143776"/>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sz="16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State so</a:t>
            </a:r>
            <a:r>
              <a:rPr kumimoji="0" lang="en-US" sz="16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 that you</a:t>
            </a:r>
            <a:r>
              <a:rPr lang="en-US" sz="1600" b="0" dirty="0" smtClean="0">
                <a:solidFill>
                  <a:srgbClr val="FFFFFF"/>
                </a:solidFill>
                <a:latin typeface="Arial"/>
                <a:ea typeface="ＭＳ Ｐゴシック" panose="020B0600070205080204" pitchFamily="34" charset="-128"/>
              </a:rPr>
              <a:t> do not imply to ”blame management”. </a:t>
            </a:r>
          </a:p>
          <a:p>
            <a:pPr lvl="0">
              <a:spcBef>
                <a:spcPts val="0"/>
              </a:spcBef>
              <a:buClr>
                <a:srgbClr val="000000"/>
              </a:buClr>
              <a:buSzPct val="65000"/>
            </a:pPr>
            <a:endParaRPr lang="en-US" sz="1600" b="0" dirty="0">
              <a:solidFill>
                <a:srgbClr val="FFFFFF"/>
              </a:solidFill>
              <a:latin typeface="Arial"/>
              <a:ea typeface="ＭＳ Ｐゴシック" panose="020B0600070205080204" pitchFamily="34" charset="-128"/>
            </a:endParaRPr>
          </a:p>
          <a:p>
            <a:pPr lvl="0">
              <a:spcBef>
                <a:spcPts val="0"/>
              </a:spcBef>
              <a:buClr>
                <a:srgbClr val="000000"/>
              </a:buClr>
              <a:buSzPct val="65000"/>
            </a:pPr>
            <a:r>
              <a:rPr lang="en-US" sz="1600" b="0" dirty="0" smtClean="0">
                <a:solidFill>
                  <a:srgbClr val="FFFFFF"/>
                </a:solidFill>
                <a:latin typeface="Arial"/>
                <a:ea typeface="ＭＳ Ｐゴシック" panose="020B0600070205080204" pitchFamily="34" charset="-128"/>
              </a:rPr>
              <a:t>Instead of “Management failed …”, state “Management did not …” or “Management system did not …”</a:t>
            </a:r>
            <a:endParaRPr kumimoji="0" lang="en-US" sz="16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34"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Example:</a:t>
            </a:r>
            <a:r>
              <a:rPr kumimoji="0" lang="en-CA" altLang="en-US" sz="2400" b="0" i="0" u="none" strike="noStrike" kern="1200" cap="none" spc="0" normalizeH="0" noProof="0" dirty="0" smtClean="0">
                <a:ln>
                  <a:noFill/>
                </a:ln>
                <a:solidFill>
                  <a:schemeClr val="bg1"/>
                </a:solidFill>
                <a:effectLst/>
                <a:uLnTx/>
                <a:uFillTx/>
                <a:latin typeface="Arial" panose="020B0604020202020204" pitchFamily="34" charset="0"/>
                <a:ea typeface="+mn-ea"/>
                <a:cs typeface="Arial" panose="020B0604020202020204" pitchFamily="34" charset="0"/>
              </a:rPr>
              <a:t> </a:t>
            </a: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Examine </a:t>
            </a:r>
            <a:r>
              <a:rPr kumimoji="0" lang="en-CA" altLang="en-US" sz="2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One Root </a:t>
            </a: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Splits to</a:t>
            </a:r>
            <a:r>
              <a:rPr kumimoji="0" lang="en-CA" altLang="en-US" sz="2400" b="0" i="0" u="none" strike="noStrike" kern="1200" cap="none" spc="0" normalizeH="0" noProof="0" dirty="0" smtClean="0">
                <a:ln>
                  <a:noFill/>
                </a:ln>
                <a:solidFill>
                  <a:schemeClr val="bg1"/>
                </a:solidFill>
                <a:effectLst/>
                <a:uLnTx/>
                <a:uFillTx/>
                <a:latin typeface="Arial" panose="020B0604020202020204" pitchFamily="34" charset="0"/>
                <a:ea typeface="+mn-ea"/>
                <a:cs typeface="Arial" panose="020B0604020202020204" pitchFamily="34" charset="0"/>
              </a:rPr>
              <a:t> Two Roots</a:t>
            </a: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 </a:t>
            </a:r>
            <a:endParaRPr kumimoji="0" lang="en-CA" altLang="en-US" sz="2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203256668"/>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Text Box 2">
            <a:extLst>
              <a:ext uri="{FF2B5EF4-FFF2-40B4-BE49-F238E27FC236}">
                <a16:creationId xmlns:a16="http://schemas.microsoft.com/office/drawing/2014/main" id="{452E5BBE-3462-4C66-BE19-E9C41D5F705B}"/>
              </a:ext>
            </a:extLst>
          </p:cNvPr>
          <p:cNvSpPr txBox="1">
            <a:spLocks noChangeArrowheads="1"/>
          </p:cNvSpPr>
          <p:nvPr/>
        </p:nvSpPr>
        <p:spPr bwMode="auto">
          <a:xfrm>
            <a:off x="3393581" y="840291"/>
            <a:ext cx="2006638" cy="390288"/>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7" name="Text Box 3">
            <a:extLst>
              <a:ext uri="{FF2B5EF4-FFF2-40B4-BE49-F238E27FC236}">
                <a16:creationId xmlns:a16="http://schemas.microsoft.com/office/drawing/2014/main" id="{D87DDC1B-24CA-446F-85D4-E1EE886207A2}"/>
              </a:ext>
            </a:extLst>
          </p:cNvPr>
          <p:cNvSpPr txBox="1">
            <a:spLocks noChangeArrowheads="1"/>
          </p:cNvSpPr>
          <p:nvPr/>
        </p:nvSpPr>
        <p:spPr bwMode="auto">
          <a:xfrm>
            <a:off x="3393580" y="1364403"/>
            <a:ext cx="2006639" cy="390288"/>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10" name="Text Box 4">
            <a:extLst>
              <a:ext uri="{FF2B5EF4-FFF2-40B4-BE49-F238E27FC236}">
                <a16:creationId xmlns:a16="http://schemas.microsoft.com/office/drawing/2014/main" id="{83ADFC1C-7C09-4FB3-A3FB-1831E6ED4AA7}"/>
              </a:ext>
            </a:extLst>
          </p:cNvPr>
          <p:cNvSpPr txBox="1">
            <a:spLocks noChangeArrowheads="1"/>
          </p:cNvSpPr>
          <p:nvPr/>
        </p:nvSpPr>
        <p:spPr bwMode="auto">
          <a:xfrm>
            <a:off x="3393580" y="1897803"/>
            <a:ext cx="2006639" cy="39028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prioritised</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11" name="Text Box 5">
            <a:extLst>
              <a:ext uri="{FF2B5EF4-FFF2-40B4-BE49-F238E27FC236}">
                <a16:creationId xmlns:a16="http://schemas.microsoft.com/office/drawing/2014/main" id="{96D455B4-E825-4EC9-8F48-F03E6BDD86B2}"/>
              </a:ext>
            </a:extLst>
          </p:cNvPr>
          <p:cNvSpPr txBox="1">
            <a:spLocks noChangeArrowheads="1"/>
          </p:cNvSpPr>
          <p:nvPr/>
        </p:nvSpPr>
        <p:spPr bwMode="auto">
          <a:xfrm>
            <a:off x="4395358" y="3115058"/>
            <a:ext cx="3423287" cy="646331"/>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cared for, understood) that safety checks must be done before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cxnSp>
        <p:nvCxnSpPr>
          <p:cNvPr id="14" name="AutoShape 14">
            <a:extLst>
              <a:ext uri="{FF2B5EF4-FFF2-40B4-BE49-F238E27FC236}">
                <a16:creationId xmlns:a16="http://schemas.microsoft.com/office/drawing/2014/main" id="{CFB40778-ED91-4E94-9CAE-EE450017DD16}"/>
              </a:ext>
            </a:extLst>
          </p:cNvPr>
          <p:cNvCxnSpPr>
            <a:cxnSpLocks noChangeShapeType="1"/>
            <a:stCxn id="6" idx="2"/>
            <a:endCxn id="7" idx="0"/>
          </p:cNvCxnSpPr>
          <p:nvPr/>
        </p:nvCxnSpPr>
        <p:spPr bwMode="auto">
          <a:xfrm>
            <a:off x="4396900" y="1230579"/>
            <a:ext cx="0" cy="133824"/>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5">
            <a:extLst>
              <a:ext uri="{FF2B5EF4-FFF2-40B4-BE49-F238E27FC236}">
                <a16:creationId xmlns:a16="http://schemas.microsoft.com/office/drawing/2014/main" id="{61561059-E927-4037-9115-84AA15067388}"/>
              </a:ext>
            </a:extLst>
          </p:cNvPr>
          <p:cNvCxnSpPr>
            <a:cxnSpLocks noChangeShapeType="1"/>
            <a:stCxn id="11" idx="2"/>
            <a:endCxn id="29" idx="0"/>
          </p:cNvCxnSpPr>
          <p:nvPr/>
        </p:nvCxnSpPr>
        <p:spPr bwMode="auto">
          <a:xfrm>
            <a:off x="6107002" y="3761389"/>
            <a:ext cx="4801" cy="1410111"/>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6">
            <a:extLst>
              <a:ext uri="{FF2B5EF4-FFF2-40B4-BE49-F238E27FC236}">
                <a16:creationId xmlns:a16="http://schemas.microsoft.com/office/drawing/2014/main" id="{9311E561-567F-4FE5-802E-FE4811D8450B}"/>
              </a:ext>
            </a:extLst>
          </p:cNvPr>
          <p:cNvCxnSpPr>
            <a:cxnSpLocks noChangeShapeType="1"/>
            <a:stCxn id="21" idx="3"/>
            <a:endCxn id="11" idx="0"/>
          </p:cNvCxnSpPr>
          <p:nvPr/>
        </p:nvCxnSpPr>
        <p:spPr bwMode="auto">
          <a:xfrm rot="16200000" flipH="1">
            <a:off x="5064131" y="2072186"/>
            <a:ext cx="385493" cy="1700249"/>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7">
            <a:extLst>
              <a:ext uri="{FF2B5EF4-FFF2-40B4-BE49-F238E27FC236}">
                <a16:creationId xmlns:a16="http://schemas.microsoft.com/office/drawing/2014/main" id="{6E38BDD6-1630-4223-8A8B-75AD4C7BA324}"/>
              </a:ext>
            </a:extLst>
          </p:cNvPr>
          <p:cNvCxnSpPr>
            <a:cxnSpLocks noChangeShapeType="1"/>
            <a:stCxn id="7" idx="2"/>
            <a:endCxn id="10" idx="0"/>
          </p:cNvCxnSpPr>
          <p:nvPr/>
        </p:nvCxnSpPr>
        <p:spPr bwMode="auto">
          <a:xfrm>
            <a:off x="4396900" y="1754691"/>
            <a:ext cx="0" cy="143112"/>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18">
            <a:extLst>
              <a:ext uri="{FF2B5EF4-FFF2-40B4-BE49-F238E27FC236}">
                <a16:creationId xmlns:a16="http://schemas.microsoft.com/office/drawing/2014/main" id="{C58AEC30-D78C-44CC-804F-569AF78FBCAC}"/>
              </a:ext>
            </a:extLst>
          </p:cNvPr>
          <p:cNvSpPr txBox="1">
            <a:spLocks noChangeArrowheads="1"/>
          </p:cNvSpPr>
          <p:nvPr/>
        </p:nvSpPr>
        <p:spPr bwMode="auto">
          <a:xfrm>
            <a:off x="952394" y="3117362"/>
            <a:ext cx="3262393" cy="461665"/>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was not trained on </a:t>
            </a:r>
            <a:b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Corporate Values</a:t>
            </a:r>
          </a:p>
        </p:txBody>
      </p:sp>
      <p:cxnSp>
        <p:nvCxnSpPr>
          <p:cNvPr id="19" name="AutoShape 23">
            <a:extLst>
              <a:ext uri="{FF2B5EF4-FFF2-40B4-BE49-F238E27FC236}">
                <a16:creationId xmlns:a16="http://schemas.microsoft.com/office/drawing/2014/main" id="{DA604BD2-64BD-4D53-8E96-6972EA197DA5}"/>
              </a:ext>
            </a:extLst>
          </p:cNvPr>
          <p:cNvCxnSpPr>
            <a:cxnSpLocks noChangeShapeType="1"/>
            <a:stCxn id="18" idx="2"/>
          </p:cNvCxnSpPr>
          <p:nvPr/>
        </p:nvCxnSpPr>
        <p:spPr bwMode="auto">
          <a:xfrm flipH="1">
            <a:off x="2583590" y="3579027"/>
            <a:ext cx="1" cy="1594246"/>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4">
            <a:extLst>
              <a:ext uri="{FF2B5EF4-FFF2-40B4-BE49-F238E27FC236}">
                <a16:creationId xmlns:a16="http://schemas.microsoft.com/office/drawing/2014/main" id="{61506945-410A-4EBE-BE6E-AD344025E98A}"/>
              </a:ext>
            </a:extLst>
          </p:cNvPr>
          <p:cNvCxnSpPr>
            <a:cxnSpLocks noChangeShapeType="1"/>
            <a:stCxn id="21" idx="3"/>
            <a:endCxn id="18" idx="0"/>
          </p:cNvCxnSpPr>
          <p:nvPr/>
        </p:nvCxnSpPr>
        <p:spPr bwMode="auto">
          <a:xfrm rot="5400000">
            <a:off x="3301274" y="2011882"/>
            <a:ext cx="387797" cy="1823162"/>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AutoShape 25">
            <a:extLst>
              <a:ext uri="{FF2B5EF4-FFF2-40B4-BE49-F238E27FC236}">
                <a16:creationId xmlns:a16="http://schemas.microsoft.com/office/drawing/2014/main" id="{174CB09C-6290-4DBA-81B2-0519B90F9829}"/>
              </a:ext>
            </a:extLst>
          </p:cNvPr>
          <p:cNvSpPr>
            <a:spLocks noChangeArrowheads="1"/>
          </p:cNvSpPr>
          <p:nvPr/>
        </p:nvSpPr>
        <p:spPr bwMode="auto">
          <a:xfrm rot="5255844">
            <a:off x="4227384" y="2319544"/>
            <a:ext cx="350650" cy="627256"/>
          </a:xfrm>
          <a:prstGeom prst="moon">
            <a:avLst>
              <a:gd name="adj" fmla="val 77514"/>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
                <a:srgbClr val="000000"/>
              </a:buClr>
              <a:buSzPct val="65000"/>
              <a:buFont typeface="Wingdings" panose="05000000000000000000" pitchFamily="2" charset="2"/>
              <a:buNone/>
              <a:tabLst/>
              <a:defRPr/>
            </a:pPr>
            <a:endParaRPr kumimoji="0" lang="en-CA" altLang="en-US" sz="18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cxnSp>
        <p:nvCxnSpPr>
          <p:cNvPr id="22" name="AutoShape 26">
            <a:extLst>
              <a:ext uri="{FF2B5EF4-FFF2-40B4-BE49-F238E27FC236}">
                <a16:creationId xmlns:a16="http://schemas.microsoft.com/office/drawing/2014/main" id="{751AE255-9E3A-455B-83F7-62209871C68E}"/>
              </a:ext>
            </a:extLst>
          </p:cNvPr>
          <p:cNvCxnSpPr>
            <a:cxnSpLocks noChangeShapeType="1"/>
            <a:stCxn id="10" idx="2"/>
            <a:endCxn id="21" idx="1"/>
          </p:cNvCxnSpPr>
          <p:nvPr/>
        </p:nvCxnSpPr>
        <p:spPr bwMode="auto">
          <a:xfrm rot="5400000">
            <a:off x="4311175" y="2372276"/>
            <a:ext cx="169910" cy="1541"/>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8">
            <a:extLst>
              <a:ext uri="{FF2B5EF4-FFF2-40B4-BE49-F238E27FC236}">
                <a16:creationId xmlns:a16="http://schemas.microsoft.com/office/drawing/2014/main" id="{59245E1C-A153-4071-8F7E-9FE5EE190CAE}"/>
              </a:ext>
            </a:extLst>
          </p:cNvPr>
          <p:cNvCxnSpPr>
            <a:cxnSpLocks noChangeShapeType="1"/>
          </p:cNvCxnSpPr>
          <p:nvPr/>
        </p:nvCxnSpPr>
        <p:spPr bwMode="auto">
          <a:xfrm>
            <a:off x="6041995" y="5945691"/>
            <a:ext cx="0" cy="320248"/>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6">
            <a:extLst>
              <a:ext uri="{FF2B5EF4-FFF2-40B4-BE49-F238E27FC236}">
                <a16:creationId xmlns:a16="http://schemas.microsoft.com/office/drawing/2014/main" id="{0ABF47E3-835C-4C83-AACF-616B55C819FB}"/>
              </a:ext>
            </a:extLst>
          </p:cNvPr>
          <p:cNvSpPr txBox="1">
            <a:spLocks noChangeArrowheads="1"/>
          </p:cNvSpPr>
          <p:nvPr/>
        </p:nvSpPr>
        <p:spPr bwMode="auto">
          <a:xfrm>
            <a:off x="4387105" y="4015628"/>
            <a:ext cx="3423287" cy="954107"/>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the IM understood Corporate Values: “Safety always before Production” as part of the communications plan.</a:t>
            </a:r>
          </a:p>
        </p:txBody>
      </p:sp>
      <p:sp>
        <p:nvSpPr>
          <p:cNvPr id="26" name="Text Box 19">
            <a:extLst>
              <a:ext uri="{FF2B5EF4-FFF2-40B4-BE49-F238E27FC236}">
                <a16:creationId xmlns:a16="http://schemas.microsoft.com/office/drawing/2014/main" id="{D56C0B47-A8CA-4F2E-A61A-4741E707BD76}"/>
              </a:ext>
            </a:extLst>
          </p:cNvPr>
          <p:cNvSpPr txBox="1">
            <a:spLocks noChangeArrowheads="1"/>
          </p:cNvSpPr>
          <p:nvPr/>
        </p:nvSpPr>
        <p:spPr bwMode="auto">
          <a:xfrm>
            <a:off x="982171" y="3984850"/>
            <a:ext cx="3262393" cy="5232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defPPr>
              <a:defRPr lang="en-US"/>
            </a:defPPr>
            <a:lvl1pPr algn="ctr" eaLnBrk="1" hangingPunct="1">
              <a:spcBef>
                <a:spcPct val="50000"/>
              </a:spcBef>
              <a:buClr>
                <a:schemeClr val="tx2"/>
              </a:buClr>
              <a:buSzPct val="65000"/>
              <a:buFont typeface="Wingdings" panose="05000000000000000000" pitchFamily="2" charset="2"/>
              <a:buNone/>
              <a:defRPr sz="1000">
                <a:solidFill>
                  <a:srgbClr val="000000"/>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r>
            <a:b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train IM on Corporate Values</a:t>
            </a:r>
          </a:p>
        </p:txBody>
      </p:sp>
      <p:sp>
        <p:nvSpPr>
          <p:cNvPr id="28" name="Text Box 8">
            <a:extLst>
              <a:ext uri="{FF2B5EF4-FFF2-40B4-BE49-F238E27FC236}">
                <a16:creationId xmlns:a16="http://schemas.microsoft.com/office/drawing/2014/main" id="{1C71BD5C-B2A7-4161-B10E-19164CF15318}"/>
              </a:ext>
            </a:extLst>
          </p:cNvPr>
          <p:cNvSpPr txBox="1">
            <a:spLocks noChangeArrowheads="1"/>
          </p:cNvSpPr>
          <p:nvPr/>
        </p:nvSpPr>
        <p:spPr bwMode="auto">
          <a:xfrm>
            <a:off x="952394" y="5204050"/>
            <a:ext cx="3262392" cy="52322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LC-C: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(existing) training program on Corporate Values was not implemented. </a:t>
            </a:r>
          </a:p>
        </p:txBody>
      </p:sp>
      <p:sp>
        <p:nvSpPr>
          <p:cNvPr id="29" name="Text Box 8">
            <a:extLst>
              <a:ext uri="{FF2B5EF4-FFF2-40B4-BE49-F238E27FC236}">
                <a16:creationId xmlns:a16="http://schemas.microsoft.com/office/drawing/2014/main" id="{152F85F0-F3F9-45AC-BE70-8A4D4BD02583}"/>
              </a:ext>
            </a:extLst>
          </p:cNvPr>
          <p:cNvSpPr txBox="1">
            <a:spLocks noChangeArrowheads="1"/>
          </p:cNvSpPr>
          <p:nvPr/>
        </p:nvSpPr>
        <p:spPr bwMode="auto">
          <a:xfrm>
            <a:off x="4406753" y="5171500"/>
            <a:ext cx="3410099" cy="84830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9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LC-S: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management communications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program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did not include steps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 the communications plan to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new employees could explain Corporate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Values.</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
        <p:nvSpPr>
          <p:cNvPr id="30" name="Rectangle 2"/>
          <p:cNvSpPr>
            <a:spLocks noChangeArrowheads="1"/>
          </p:cNvSpPr>
          <p:nvPr/>
        </p:nvSpPr>
        <p:spPr bwMode="auto">
          <a:xfrm>
            <a:off x="180000" y="216000"/>
            <a:ext cx="8640000" cy="504000"/>
          </a:xfrm>
          <a:prstGeom prst="rect">
            <a:avLst/>
          </a:prstGeom>
          <a:solidFill>
            <a:srgbClr val="0000CC"/>
          </a:solidFill>
          <a:ln>
            <a:solidFill>
              <a:srgbClr val="0000CC"/>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ALE #1: Examine </a:t>
            </a:r>
            <a:r>
              <a:rPr lang="en-CA" altLang="en-US" sz="2400" b="0" dirty="0" smtClean="0">
                <a:solidFill>
                  <a:schemeClr val="bg1"/>
                </a:solidFill>
                <a:latin typeface="Arial" panose="020B0604020202020204" pitchFamily="34" charset="0"/>
                <a:cs typeface="Arial" panose="020B0604020202020204" pitchFamily="34" charset="0"/>
              </a:rPr>
              <a:t>Right </a:t>
            </a:r>
            <a:r>
              <a:rPr kumimoji="0" lang="en-CA" altLang="en-US" sz="2400" b="0" i="0" u="none" strike="noStrike" kern="1200" cap="none" spc="0" normalizeH="0" baseline="0" noProof="0" dirty="0" smtClean="0">
                <a:ln>
                  <a:noFill/>
                </a:ln>
                <a:solidFill>
                  <a:schemeClr val="bg1"/>
                </a:solidFill>
                <a:effectLst/>
                <a:uLnTx/>
                <a:uFillTx/>
                <a:latin typeface="Arial" panose="020B0604020202020204" pitchFamily="34" charset="0"/>
                <a:ea typeface="+mn-ea"/>
                <a:cs typeface="Arial" panose="020B0604020202020204" pitchFamily="34" charset="0"/>
              </a:rPr>
              <a:t>Root Latent Cause</a:t>
            </a:r>
            <a:endParaRPr kumimoji="0" lang="en-CA" altLang="en-US" sz="24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31" name="Rectangular Callout 25">
            <a:extLst>
              <a:ext uri="{FF2B5EF4-FFF2-40B4-BE49-F238E27FC236}">
                <a16:creationId xmlns:a16="http://schemas.microsoft.com/office/drawing/2014/main" id="{80009069-71AC-4A12-9A84-63DA0EB67B90}"/>
              </a:ext>
            </a:extLst>
          </p:cNvPr>
          <p:cNvSpPr/>
          <p:nvPr/>
        </p:nvSpPr>
        <p:spPr bwMode="auto">
          <a:xfrm>
            <a:off x="179999" y="809391"/>
            <a:ext cx="3706201" cy="1825682"/>
          </a:xfrm>
          <a:prstGeom prst="wedgeRectCallout">
            <a:avLst>
              <a:gd name="adj1" fmla="val 74263"/>
              <a:gd name="adj2" fmla="val 187734"/>
            </a:avLst>
          </a:prstGeom>
          <a:solidFill>
            <a:srgbClr val="0000CC"/>
          </a:solidFill>
          <a:ln w="9525" algn="ctr">
            <a:solidFill>
              <a:srgbClr val="0000CC"/>
            </a:solidFill>
            <a:miter lim="800000"/>
            <a:headEnd/>
            <a:tailEnd/>
          </a:ln>
          <a:effectLst/>
        </p:spPr>
        <p:txBody>
          <a:bodyPr wrap="square" anchor="t" anchorCtr="0">
            <a:noAutofit/>
          </a:bodyPr>
          <a:lstStyle/>
          <a:p>
            <a:pPr>
              <a:spcBef>
                <a:spcPts val="0"/>
              </a:spcBef>
              <a:buClr>
                <a:srgbClr val="000000"/>
              </a:buClr>
              <a:buSzPct val="65000"/>
              <a:buFont typeface="Wingdings" panose="05000000000000000000" pitchFamily="2" charset="2"/>
              <a:buNone/>
            </a:pPr>
            <a:r>
              <a:rPr lang="en-US" b="0" dirty="0" smtClean="0">
                <a:solidFill>
                  <a:srgbClr val="FFFFFF"/>
                </a:solidFill>
                <a:latin typeface="Arial"/>
                <a:ea typeface="ＭＳ Ｐゴシック" panose="020B0600070205080204" pitchFamily="34" charset="-128"/>
              </a:rPr>
              <a:t>Now, please confer:</a:t>
            </a:r>
            <a:br>
              <a:rPr lang="en-US" b="0" dirty="0" smtClean="0">
                <a:solidFill>
                  <a:srgbClr val="FFFFFF"/>
                </a:solidFill>
                <a:latin typeface="Arial"/>
                <a:ea typeface="ＭＳ Ｐゴシック" panose="020B0600070205080204" pitchFamily="34" charset="-128"/>
              </a:rPr>
            </a:br>
            <a:r>
              <a:rPr lang="en-US" b="0" dirty="0" smtClean="0">
                <a:solidFill>
                  <a:srgbClr val="FFFFFF"/>
                </a:solidFill>
                <a:latin typeface="Arial"/>
                <a:ea typeface="ＭＳ Ｐゴシック" panose="020B0600070205080204" pitchFamily="34" charset="-128"/>
              </a:rPr>
              <a:t>(pen-to-paper / Zoom Chat Open)</a:t>
            </a:r>
            <a:endParaRPr lang="en-US" b="0" dirty="0">
              <a:solidFill>
                <a:srgbClr val="FFFFFF"/>
              </a:solidFill>
              <a:latin typeface="Arial"/>
              <a:ea typeface="ＭＳ Ｐゴシック" panose="020B0600070205080204" pitchFamily="34" charset="-128"/>
            </a:endParaRPr>
          </a:p>
          <a:p>
            <a:pPr marL="285750" indent="-285750">
              <a:spcBef>
                <a:spcPts val="0"/>
              </a:spcBef>
              <a:buSzPct val="100000"/>
              <a:buFont typeface="Wingdings" panose="05000000000000000000" pitchFamily="2" charset="2"/>
              <a:buChar char="Ø"/>
            </a:pPr>
            <a:r>
              <a:rPr lang="en-US" b="0" dirty="0">
                <a:solidFill>
                  <a:srgbClr val="FFFFFF"/>
                </a:solidFill>
                <a:latin typeface="Arial"/>
                <a:ea typeface="ＭＳ Ｐゴシック" panose="020B0600070205080204" pitchFamily="34" charset="-128"/>
              </a:rPr>
              <a:t>Explain why the right root latent cause is categorized as </a:t>
            </a:r>
            <a:r>
              <a:rPr lang="en-US" b="0" dirty="0" smtClean="0">
                <a:solidFill>
                  <a:srgbClr val="FFFFFF"/>
                </a:solidFill>
                <a:latin typeface="Arial"/>
                <a:ea typeface="ＭＳ Ｐゴシック" panose="020B0600070205080204" pitchFamily="34" charset="-128"/>
              </a:rPr>
              <a:t/>
            </a:r>
            <a:br>
              <a:rPr lang="en-US" b="0" dirty="0" smtClean="0">
                <a:solidFill>
                  <a:srgbClr val="FFFFFF"/>
                </a:solidFill>
                <a:latin typeface="Arial"/>
                <a:ea typeface="ＭＳ Ｐゴシック" panose="020B0600070205080204" pitchFamily="34" charset="-128"/>
              </a:rPr>
            </a:br>
            <a:r>
              <a:rPr lang="en-US" b="0" dirty="0" smtClean="0">
                <a:solidFill>
                  <a:srgbClr val="FFFFFF"/>
                </a:solidFill>
                <a:latin typeface="Arial"/>
                <a:ea typeface="ＭＳ Ｐゴシック" panose="020B0600070205080204" pitchFamily="34" charset="-128"/>
              </a:rPr>
              <a:t>“S – inadequate program standards”. </a:t>
            </a:r>
            <a:endParaRPr lang="en-US" b="0" dirty="0">
              <a:solidFill>
                <a:srgbClr val="FFFFFF"/>
              </a:solidFill>
              <a:latin typeface="Arial"/>
              <a:ea typeface="ＭＳ Ｐゴシック" panose="020B0600070205080204" pitchFamily="34" charset="-128"/>
            </a:endParaRPr>
          </a:p>
        </p:txBody>
      </p:sp>
    </p:spTree>
    <p:extLst>
      <p:ext uri="{BB962C8B-B14F-4D97-AF65-F5344CB8AC3E}">
        <p14:creationId xmlns:p14="http://schemas.microsoft.com/office/powerpoint/2010/main" val="1022993603"/>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CA" altLang="en-US" sz="2400" b="0" dirty="0">
                <a:solidFill>
                  <a:schemeClr val="bg1"/>
                </a:solidFill>
                <a:latin typeface="Arial" panose="020B0604020202020204" pitchFamily="34" charset="0"/>
                <a:cs typeface="Arial" panose="020B0604020202020204" pitchFamily="34" charset="0"/>
              </a:rPr>
              <a:t>Example: </a:t>
            </a:r>
            <a:r>
              <a:rPr lang="en-US" altLang="en-US" sz="2400" b="0" dirty="0">
                <a:solidFill>
                  <a:schemeClr val="bg1"/>
                </a:solidFill>
                <a:latin typeface="Arial" panose="020B0604020202020204" pitchFamily="34" charset="0"/>
                <a:cs typeface="Arial" panose="020B0604020202020204" pitchFamily="34" charset="0"/>
              </a:rPr>
              <a:t>Examine Right Root </a:t>
            </a:r>
            <a:r>
              <a:rPr lang="en-US" altLang="en-US" sz="2400" b="0" dirty="0" smtClean="0">
                <a:solidFill>
                  <a:schemeClr val="bg1"/>
                </a:solidFill>
                <a:latin typeface="Arial" panose="020B0604020202020204" pitchFamily="34" charset="0"/>
                <a:cs typeface="Arial" panose="020B0604020202020204" pitchFamily="34" charset="0"/>
              </a:rPr>
              <a:t>Latent Cause</a:t>
            </a:r>
            <a:endParaRPr lang="en-CA" altLang="en-US" sz="2400" b="0" dirty="0">
              <a:solidFill>
                <a:schemeClr val="bg1"/>
              </a:solidFill>
              <a:latin typeface="Arial" panose="020B0604020202020204" pitchFamily="34" charset="0"/>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Text Box 2">
            <a:extLst>
              <a:ext uri="{FF2B5EF4-FFF2-40B4-BE49-F238E27FC236}">
                <a16:creationId xmlns:a16="http://schemas.microsoft.com/office/drawing/2014/main" id="{452E5BBE-3462-4C66-BE19-E9C41D5F705B}"/>
              </a:ext>
            </a:extLst>
          </p:cNvPr>
          <p:cNvSpPr txBox="1">
            <a:spLocks noChangeArrowheads="1"/>
          </p:cNvSpPr>
          <p:nvPr/>
        </p:nvSpPr>
        <p:spPr bwMode="auto">
          <a:xfrm>
            <a:off x="3393581" y="840291"/>
            <a:ext cx="2006638" cy="390288"/>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7" name="Text Box 3">
            <a:extLst>
              <a:ext uri="{FF2B5EF4-FFF2-40B4-BE49-F238E27FC236}">
                <a16:creationId xmlns:a16="http://schemas.microsoft.com/office/drawing/2014/main" id="{D87DDC1B-24CA-446F-85D4-E1EE886207A2}"/>
              </a:ext>
            </a:extLst>
          </p:cNvPr>
          <p:cNvSpPr txBox="1">
            <a:spLocks noChangeArrowheads="1"/>
          </p:cNvSpPr>
          <p:nvPr/>
        </p:nvSpPr>
        <p:spPr bwMode="auto">
          <a:xfrm>
            <a:off x="3393580" y="1364403"/>
            <a:ext cx="2006639" cy="390288"/>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10" name="Text Box 4">
            <a:extLst>
              <a:ext uri="{FF2B5EF4-FFF2-40B4-BE49-F238E27FC236}">
                <a16:creationId xmlns:a16="http://schemas.microsoft.com/office/drawing/2014/main" id="{83ADFC1C-7C09-4FB3-A3FB-1831E6ED4AA7}"/>
              </a:ext>
            </a:extLst>
          </p:cNvPr>
          <p:cNvSpPr txBox="1">
            <a:spLocks noChangeArrowheads="1"/>
          </p:cNvSpPr>
          <p:nvPr/>
        </p:nvSpPr>
        <p:spPr bwMode="auto">
          <a:xfrm>
            <a:off x="3393580" y="1897803"/>
            <a:ext cx="2006639" cy="39028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prioritised</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9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9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11" name="Text Box 5">
            <a:extLst>
              <a:ext uri="{FF2B5EF4-FFF2-40B4-BE49-F238E27FC236}">
                <a16:creationId xmlns:a16="http://schemas.microsoft.com/office/drawing/2014/main" id="{96D455B4-E825-4EC9-8F48-F03E6BDD86B2}"/>
              </a:ext>
            </a:extLst>
          </p:cNvPr>
          <p:cNvSpPr txBox="1">
            <a:spLocks noChangeArrowheads="1"/>
          </p:cNvSpPr>
          <p:nvPr/>
        </p:nvSpPr>
        <p:spPr bwMode="auto">
          <a:xfrm>
            <a:off x="4395358" y="3115058"/>
            <a:ext cx="3423287" cy="646331"/>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cared for, understood) that safety checks must be done before </a:t>
            </a:r>
            <a:r>
              <a:rPr kumimoji="0" lang="en-US" altLang="en-US" sz="12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cxnSp>
        <p:nvCxnSpPr>
          <p:cNvPr id="14" name="AutoShape 14">
            <a:extLst>
              <a:ext uri="{FF2B5EF4-FFF2-40B4-BE49-F238E27FC236}">
                <a16:creationId xmlns:a16="http://schemas.microsoft.com/office/drawing/2014/main" id="{CFB40778-ED91-4E94-9CAE-EE450017DD16}"/>
              </a:ext>
            </a:extLst>
          </p:cNvPr>
          <p:cNvCxnSpPr>
            <a:cxnSpLocks noChangeShapeType="1"/>
            <a:stCxn id="6" idx="2"/>
            <a:endCxn id="7" idx="0"/>
          </p:cNvCxnSpPr>
          <p:nvPr/>
        </p:nvCxnSpPr>
        <p:spPr bwMode="auto">
          <a:xfrm>
            <a:off x="4396900" y="1230579"/>
            <a:ext cx="0" cy="133824"/>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5">
            <a:extLst>
              <a:ext uri="{FF2B5EF4-FFF2-40B4-BE49-F238E27FC236}">
                <a16:creationId xmlns:a16="http://schemas.microsoft.com/office/drawing/2014/main" id="{61561059-E927-4037-9115-84AA15067388}"/>
              </a:ext>
            </a:extLst>
          </p:cNvPr>
          <p:cNvCxnSpPr>
            <a:cxnSpLocks noChangeShapeType="1"/>
            <a:stCxn id="11" idx="2"/>
            <a:endCxn id="29" idx="0"/>
          </p:cNvCxnSpPr>
          <p:nvPr/>
        </p:nvCxnSpPr>
        <p:spPr bwMode="auto">
          <a:xfrm>
            <a:off x="6107002" y="3761389"/>
            <a:ext cx="4801" cy="1410111"/>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6">
            <a:extLst>
              <a:ext uri="{FF2B5EF4-FFF2-40B4-BE49-F238E27FC236}">
                <a16:creationId xmlns:a16="http://schemas.microsoft.com/office/drawing/2014/main" id="{9311E561-567F-4FE5-802E-FE4811D8450B}"/>
              </a:ext>
            </a:extLst>
          </p:cNvPr>
          <p:cNvCxnSpPr>
            <a:cxnSpLocks noChangeShapeType="1"/>
            <a:stCxn id="21" idx="3"/>
            <a:endCxn id="11" idx="0"/>
          </p:cNvCxnSpPr>
          <p:nvPr/>
        </p:nvCxnSpPr>
        <p:spPr bwMode="auto">
          <a:xfrm rot="16200000" flipH="1">
            <a:off x="5064131" y="2072186"/>
            <a:ext cx="385493" cy="1700249"/>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7">
            <a:extLst>
              <a:ext uri="{FF2B5EF4-FFF2-40B4-BE49-F238E27FC236}">
                <a16:creationId xmlns:a16="http://schemas.microsoft.com/office/drawing/2014/main" id="{6E38BDD6-1630-4223-8A8B-75AD4C7BA324}"/>
              </a:ext>
            </a:extLst>
          </p:cNvPr>
          <p:cNvCxnSpPr>
            <a:cxnSpLocks noChangeShapeType="1"/>
            <a:stCxn id="7" idx="2"/>
            <a:endCxn id="10" idx="0"/>
          </p:cNvCxnSpPr>
          <p:nvPr/>
        </p:nvCxnSpPr>
        <p:spPr bwMode="auto">
          <a:xfrm>
            <a:off x="4396900" y="1754691"/>
            <a:ext cx="0" cy="143112"/>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8" name="Text Box 18">
            <a:extLst>
              <a:ext uri="{FF2B5EF4-FFF2-40B4-BE49-F238E27FC236}">
                <a16:creationId xmlns:a16="http://schemas.microsoft.com/office/drawing/2014/main" id="{C58AEC30-D78C-44CC-804F-569AF78FBCAC}"/>
              </a:ext>
            </a:extLst>
          </p:cNvPr>
          <p:cNvSpPr txBox="1">
            <a:spLocks noChangeArrowheads="1"/>
          </p:cNvSpPr>
          <p:nvPr/>
        </p:nvSpPr>
        <p:spPr bwMode="auto">
          <a:xfrm>
            <a:off x="952394" y="3117362"/>
            <a:ext cx="3262393" cy="461665"/>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was not trained on </a:t>
            </a:r>
            <a:b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Corporate Values</a:t>
            </a:r>
          </a:p>
        </p:txBody>
      </p:sp>
      <p:cxnSp>
        <p:nvCxnSpPr>
          <p:cNvPr id="19" name="AutoShape 23">
            <a:extLst>
              <a:ext uri="{FF2B5EF4-FFF2-40B4-BE49-F238E27FC236}">
                <a16:creationId xmlns:a16="http://schemas.microsoft.com/office/drawing/2014/main" id="{DA604BD2-64BD-4D53-8E96-6972EA197DA5}"/>
              </a:ext>
            </a:extLst>
          </p:cNvPr>
          <p:cNvCxnSpPr>
            <a:cxnSpLocks noChangeShapeType="1"/>
            <a:stCxn id="18" idx="2"/>
          </p:cNvCxnSpPr>
          <p:nvPr/>
        </p:nvCxnSpPr>
        <p:spPr bwMode="auto">
          <a:xfrm flipH="1">
            <a:off x="2583590" y="3579027"/>
            <a:ext cx="1" cy="1594246"/>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24">
            <a:extLst>
              <a:ext uri="{FF2B5EF4-FFF2-40B4-BE49-F238E27FC236}">
                <a16:creationId xmlns:a16="http://schemas.microsoft.com/office/drawing/2014/main" id="{61506945-410A-4EBE-BE6E-AD344025E98A}"/>
              </a:ext>
            </a:extLst>
          </p:cNvPr>
          <p:cNvCxnSpPr>
            <a:cxnSpLocks noChangeShapeType="1"/>
            <a:stCxn id="21" idx="3"/>
            <a:endCxn id="18" idx="0"/>
          </p:cNvCxnSpPr>
          <p:nvPr/>
        </p:nvCxnSpPr>
        <p:spPr bwMode="auto">
          <a:xfrm rot="5400000">
            <a:off x="3301274" y="2011882"/>
            <a:ext cx="387797" cy="1823162"/>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1" name="AutoShape 25">
            <a:extLst>
              <a:ext uri="{FF2B5EF4-FFF2-40B4-BE49-F238E27FC236}">
                <a16:creationId xmlns:a16="http://schemas.microsoft.com/office/drawing/2014/main" id="{174CB09C-6290-4DBA-81B2-0519B90F9829}"/>
              </a:ext>
            </a:extLst>
          </p:cNvPr>
          <p:cNvSpPr>
            <a:spLocks noChangeArrowheads="1"/>
          </p:cNvSpPr>
          <p:nvPr/>
        </p:nvSpPr>
        <p:spPr bwMode="auto">
          <a:xfrm rot="5255844">
            <a:off x="4227384" y="2319544"/>
            <a:ext cx="350650" cy="627256"/>
          </a:xfrm>
          <a:prstGeom prst="moon">
            <a:avLst>
              <a:gd name="adj" fmla="val 77514"/>
            </a:avLst>
          </a:prstGeom>
          <a:solidFill>
            <a:srgbClr val="FFFFFF"/>
          </a:solidFill>
          <a:ln w="1905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
                <a:srgbClr val="000000"/>
              </a:buClr>
              <a:buSzPct val="65000"/>
              <a:buFont typeface="Wingdings" panose="05000000000000000000" pitchFamily="2" charset="2"/>
              <a:buNone/>
              <a:tabLst/>
              <a:defRPr/>
            </a:pPr>
            <a:endParaRPr kumimoji="0" lang="en-CA" altLang="en-US" sz="18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cxnSp>
        <p:nvCxnSpPr>
          <p:cNvPr id="22" name="AutoShape 26">
            <a:extLst>
              <a:ext uri="{FF2B5EF4-FFF2-40B4-BE49-F238E27FC236}">
                <a16:creationId xmlns:a16="http://schemas.microsoft.com/office/drawing/2014/main" id="{751AE255-9E3A-455B-83F7-62209871C68E}"/>
              </a:ext>
            </a:extLst>
          </p:cNvPr>
          <p:cNvCxnSpPr>
            <a:cxnSpLocks noChangeShapeType="1"/>
            <a:stCxn id="10" idx="2"/>
            <a:endCxn id="21" idx="1"/>
          </p:cNvCxnSpPr>
          <p:nvPr/>
        </p:nvCxnSpPr>
        <p:spPr bwMode="auto">
          <a:xfrm rot="5400000">
            <a:off x="4311175" y="2372276"/>
            <a:ext cx="169910" cy="1541"/>
          </a:xfrm>
          <a:prstGeom prst="bentConnector3">
            <a:avLst>
              <a:gd name="adj1" fmla="val 50000"/>
            </a:avLst>
          </a:prstGeom>
          <a:noFill/>
          <a:ln w="38100">
            <a:solidFill>
              <a:srgbClr val="000000"/>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8">
            <a:extLst>
              <a:ext uri="{FF2B5EF4-FFF2-40B4-BE49-F238E27FC236}">
                <a16:creationId xmlns:a16="http://schemas.microsoft.com/office/drawing/2014/main" id="{59245E1C-A153-4071-8F7E-9FE5EE190CAE}"/>
              </a:ext>
            </a:extLst>
          </p:cNvPr>
          <p:cNvCxnSpPr>
            <a:cxnSpLocks noChangeShapeType="1"/>
          </p:cNvCxnSpPr>
          <p:nvPr/>
        </p:nvCxnSpPr>
        <p:spPr bwMode="auto">
          <a:xfrm>
            <a:off x="6041995" y="5945691"/>
            <a:ext cx="0" cy="320248"/>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6">
            <a:extLst>
              <a:ext uri="{FF2B5EF4-FFF2-40B4-BE49-F238E27FC236}">
                <a16:creationId xmlns:a16="http://schemas.microsoft.com/office/drawing/2014/main" id="{0ABF47E3-835C-4C83-AACF-616B55C819FB}"/>
              </a:ext>
            </a:extLst>
          </p:cNvPr>
          <p:cNvSpPr txBox="1">
            <a:spLocks noChangeArrowheads="1"/>
          </p:cNvSpPr>
          <p:nvPr/>
        </p:nvSpPr>
        <p:spPr bwMode="auto">
          <a:xfrm>
            <a:off x="4387105" y="4015628"/>
            <a:ext cx="3423287" cy="954107"/>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the IM understood Corporate Values: “Safety always before Production” as part of the communications plan.</a:t>
            </a:r>
          </a:p>
        </p:txBody>
      </p:sp>
      <p:sp>
        <p:nvSpPr>
          <p:cNvPr id="26" name="Text Box 19">
            <a:extLst>
              <a:ext uri="{FF2B5EF4-FFF2-40B4-BE49-F238E27FC236}">
                <a16:creationId xmlns:a16="http://schemas.microsoft.com/office/drawing/2014/main" id="{D56C0B47-A8CA-4F2E-A61A-4741E707BD76}"/>
              </a:ext>
            </a:extLst>
          </p:cNvPr>
          <p:cNvSpPr txBox="1">
            <a:spLocks noChangeArrowheads="1"/>
          </p:cNvSpPr>
          <p:nvPr/>
        </p:nvSpPr>
        <p:spPr bwMode="auto">
          <a:xfrm>
            <a:off x="982171" y="3984850"/>
            <a:ext cx="3262393" cy="52322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defPPr>
              <a:defRPr lang="en-US"/>
            </a:defPPr>
            <a:lvl1pPr algn="ctr" eaLnBrk="1" hangingPunct="1">
              <a:spcBef>
                <a:spcPct val="50000"/>
              </a:spcBef>
              <a:buClr>
                <a:schemeClr val="tx2"/>
              </a:buClr>
              <a:buSzPct val="65000"/>
              <a:buFont typeface="Wingdings" panose="05000000000000000000" pitchFamily="2" charset="2"/>
              <a:buNone/>
              <a:defRPr sz="1000">
                <a:solidFill>
                  <a:srgbClr val="000000"/>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r>
            <a:b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train IM on Corporate Values</a:t>
            </a:r>
          </a:p>
        </p:txBody>
      </p:sp>
      <p:sp>
        <p:nvSpPr>
          <p:cNvPr id="28" name="Text Box 8">
            <a:extLst>
              <a:ext uri="{FF2B5EF4-FFF2-40B4-BE49-F238E27FC236}">
                <a16:creationId xmlns:a16="http://schemas.microsoft.com/office/drawing/2014/main" id="{1C71BD5C-B2A7-4161-B10E-19164CF15318}"/>
              </a:ext>
            </a:extLst>
          </p:cNvPr>
          <p:cNvSpPr txBox="1">
            <a:spLocks noChangeArrowheads="1"/>
          </p:cNvSpPr>
          <p:nvPr/>
        </p:nvSpPr>
        <p:spPr bwMode="auto">
          <a:xfrm>
            <a:off x="952394" y="5204050"/>
            <a:ext cx="3262392" cy="52322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LC-C: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(existing) training program on Corporate Values was not implemented. </a:t>
            </a:r>
          </a:p>
        </p:txBody>
      </p:sp>
      <p:sp>
        <p:nvSpPr>
          <p:cNvPr id="27" name="Rectangular Callout 25">
            <a:extLst>
              <a:ext uri="{FF2B5EF4-FFF2-40B4-BE49-F238E27FC236}">
                <a16:creationId xmlns:a16="http://schemas.microsoft.com/office/drawing/2014/main" id="{80009069-71AC-4A12-9A84-63DA0EB67B90}"/>
              </a:ext>
            </a:extLst>
          </p:cNvPr>
          <p:cNvSpPr/>
          <p:nvPr/>
        </p:nvSpPr>
        <p:spPr bwMode="auto">
          <a:xfrm>
            <a:off x="180000" y="809391"/>
            <a:ext cx="3401400" cy="1825682"/>
          </a:xfrm>
          <a:prstGeom prst="wedgeRectCallout">
            <a:avLst>
              <a:gd name="adj1" fmla="val 74263"/>
              <a:gd name="adj2" fmla="val 187734"/>
            </a:avLst>
          </a:prstGeom>
          <a:solidFill>
            <a:schemeClr val="tx1"/>
          </a:solidFill>
          <a:ln w="9525" algn="ctr">
            <a:solidFill>
              <a:schemeClr val="tx1"/>
            </a:solidFill>
            <a:miter lim="800000"/>
            <a:headEnd/>
            <a:tailEnd/>
          </a:ln>
          <a:effectLst/>
        </p:spPr>
        <p:txBody>
          <a:bodyPr wrap="square" anchor="t" anchorCtr="0">
            <a:noAutofit/>
          </a:bodyPr>
          <a:lstStyle/>
          <a:p>
            <a:pPr lvl="0">
              <a:spcBef>
                <a:spcPts val="0"/>
              </a:spcBef>
              <a:buClr>
                <a:srgbClr val="000000"/>
              </a:buClr>
              <a:buSzPct val="65000"/>
            </a:pP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This</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 </a:t>
            </a: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latent </a:t>
            </a:r>
            <a:r>
              <a:rPr kumimoji="0" lang="en-US" sz="14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rPr>
              <a:t>cause </a:t>
            </a:r>
            <a:r>
              <a:rPr kumimoji="0" lang="en-US" sz="1400" b="0" i="0" u="none" strike="noStrike" kern="1200" cap="none" spc="0" normalizeH="0" baseline="0" noProof="0" dirty="0" smtClean="0">
                <a:ln>
                  <a:noFill/>
                </a:ln>
                <a:solidFill>
                  <a:srgbClr val="FFFFFF"/>
                </a:solidFill>
                <a:effectLst/>
                <a:uLnTx/>
                <a:uFillTx/>
                <a:latin typeface="Arial"/>
                <a:ea typeface="ＭＳ Ｐゴシック" panose="020B0600070205080204" pitchFamily="34" charset="-128"/>
              </a:rPr>
              <a:t>statement states that there is a </a:t>
            </a:r>
            <a:r>
              <a:rPr lang="en-US" sz="1400" b="0" noProof="0" dirty="0" smtClean="0">
                <a:solidFill>
                  <a:srgbClr val="FFFFFF"/>
                </a:solidFill>
                <a:latin typeface="Arial"/>
                <a:ea typeface="ＭＳ Ｐゴシック" panose="020B0600070205080204" pitchFamily="34" charset="-128"/>
              </a:rPr>
              <a:t>program </a:t>
            </a:r>
            <a:r>
              <a:rPr kumimoji="0" lang="en-US" sz="1400" b="0" i="0" u="none" strike="noStrike" kern="1200" cap="none" spc="0" normalizeH="0" noProof="0" dirty="0" smtClean="0">
                <a:ln>
                  <a:noFill/>
                </a:ln>
                <a:solidFill>
                  <a:srgbClr val="FFFFFF"/>
                </a:solidFill>
                <a:effectLst/>
                <a:uLnTx/>
                <a:uFillTx/>
                <a:latin typeface="Arial"/>
                <a:ea typeface="ＭＳ Ｐゴシック" panose="020B0600070205080204" pitchFamily="34" charset="-128"/>
              </a:rPr>
              <a:t>and that the plan is a  “standard” (an administrative control) that is missing “steps to check that new employees could explain”; thus, the LC </a:t>
            </a:r>
            <a:r>
              <a:rPr lang="en-US" sz="1400" b="0" dirty="0" smtClean="0">
                <a:solidFill>
                  <a:srgbClr val="FFFFFF"/>
                </a:solidFill>
                <a:latin typeface="Arial"/>
                <a:ea typeface="ＭＳ Ｐゴシック" panose="020B0600070205080204" pitchFamily="34" charset="-128"/>
              </a:rPr>
              <a:t>is </a:t>
            </a:r>
            <a:r>
              <a:rPr lang="en-US" sz="1400" b="0" dirty="0">
                <a:solidFill>
                  <a:srgbClr val="FFFFFF"/>
                </a:solidFill>
                <a:latin typeface="Arial"/>
                <a:ea typeface="ＭＳ Ｐゴシック" panose="020B0600070205080204" pitchFamily="34" charset="-128"/>
              </a:rPr>
              <a:t>categorized as </a:t>
            </a:r>
            <a:r>
              <a:rPr lang="en-US" sz="1400" b="0" dirty="0" smtClean="0">
                <a:solidFill>
                  <a:srgbClr val="FFFFFF"/>
                </a:solidFill>
                <a:latin typeface="Arial"/>
                <a:ea typeface="ＭＳ Ｐゴシック" panose="020B0600070205080204" pitchFamily="34" charset="-128"/>
              </a:rPr>
              <a:t/>
            </a:r>
            <a:br>
              <a:rPr lang="en-US" sz="1400" b="0" dirty="0" smtClean="0">
                <a:solidFill>
                  <a:srgbClr val="FFFFFF"/>
                </a:solidFill>
                <a:latin typeface="Arial"/>
                <a:ea typeface="ＭＳ Ｐゴシック" panose="020B0600070205080204" pitchFamily="34" charset="-128"/>
              </a:rPr>
            </a:br>
            <a:r>
              <a:rPr lang="en-US" sz="1400" b="0" dirty="0" smtClean="0">
                <a:solidFill>
                  <a:srgbClr val="FFFFFF"/>
                </a:solidFill>
                <a:latin typeface="Arial"/>
                <a:ea typeface="ＭＳ Ｐゴシック" panose="020B0600070205080204" pitchFamily="34" charset="-128"/>
              </a:rPr>
              <a:t>“</a:t>
            </a:r>
            <a:r>
              <a:rPr lang="en-US" sz="1400" b="0" dirty="0">
                <a:solidFill>
                  <a:srgbClr val="FFFFFF"/>
                </a:solidFill>
                <a:latin typeface="Arial"/>
                <a:ea typeface="ＭＳ Ｐゴシック" panose="020B0600070205080204" pitchFamily="34" charset="-128"/>
              </a:rPr>
              <a:t>S – inadequate program </a:t>
            </a:r>
            <a:r>
              <a:rPr lang="en-US" sz="1400" b="0" dirty="0" smtClean="0">
                <a:solidFill>
                  <a:srgbClr val="FFFFFF"/>
                </a:solidFill>
                <a:latin typeface="Arial"/>
                <a:ea typeface="ＭＳ Ｐゴシック" panose="020B0600070205080204" pitchFamily="34" charset="-128"/>
              </a:rPr>
              <a:t>standards”.</a:t>
            </a:r>
            <a:endParaRPr kumimoji="0" lang="en-US" sz="1400" b="0" i="0" u="none" strike="noStrike" kern="1200" cap="none" spc="0" normalizeH="0" baseline="0" noProof="0" dirty="0">
              <a:ln>
                <a:noFill/>
              </a:ln>
              <a:solidFill>
                <a:srgbClr val="FFFFFF"/>
              </a:solidFill>
              <a:effectLst/>
              <a:uLnTx/>
              <a:uFillTx/>
              <a:latin typeface="Arial"/>
              <a:ea typeface="ＭＳ Ｐゴシック" panose="020B0600070205080204" pitchFamily="34" charset="-128"/>
            </a:endParaRPr>
          </a:p>
        </p:txBody>
      </p:sp>
      <p:sp>
        <p:nvSpPr>
          <p:cNvPr id="29" name="Text Box 8">
            <a:extLst>
              <a:ext uri="{FF2B5EF4-FFF2-40B4-BE49-F238E27FC236}">
                <a16:creationId xmlns:a16="http://schemas.microsoft.com/office/drawing/2014/main" id="{152F85F0-F3F9-45AC-BE70-8A4D4BD02583}"/>
              </a:ext>
            </a:extLst>
          </p:cNvPr>
          <p:cNvSpPr txBox="1">
            <a:spLocks noChangeArrowheads="1"/>
          </p:cNvSpPr>
          <p:nvPr/>
        </p:nvSpPr>
        <p:spPr bwMode="auto">
          <a:xfrm>
            <a:off x="4406753" y="5171500"/>
            <a:ext cx="3410099" cy="848300"/>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36000" rIns="36000" bIns="36000"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90000"/>
              </a:lnSpc>
              <a:spcBef>
                <a:spcPts val="0"/>
              </a:spcBef>
              <a:spcAft>
                <a:spcPts val="0"/>
              </a:spcAft>
              <a:buClr>
                <a:srgbClr val="000000"/>
              </a:buClr>
              <a:buSzPct val="65000"/>
              <a:buFont typeface="Wingdings" panose="05000000000000000000" pitchFamily="2" charset="2"/>
              <a:buNone/>
              <a:tabLst/>
              <a:defRPr/>
            </a:pP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LC-S: The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management communications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program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did not include steps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 the communications plan to </a:t>
            </a:r>
            <a:r>
              <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new employees could explain Corporate </a:t>
            </a:r>
            <a:r>
              <a:rPr kumimoji="0" lang="en-US" altLang="en-US" sz="14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Values.</a:t>
            </a:r>
            <a:endParaRPr kumimoji="0" lang="en-US" altLang="en-US" sz="14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24692879"/>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40000"/>
          </a:xfrm>
          <a:prstGeom prst="rect">
            <a:avLst/>
          </a:prstGeom>
          <a:solidFill>
            <a:schemeClr val="tx1"/>
          </a:solidFill>
          <a:ln>
            <a:solidFill>
              <a:schemeClr val="tx1"/>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CA" altLang="en-US" sz="24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Recall Best Practices</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 </a:t>
            </a:r>
            <a:r>
              <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a:t>
            </a:r>
            <a:r>
              <a:rPr kumimoji="0" lang="en-CA" altLang="en-US" sz="24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Latent Cause Statement</a:t>
            </a:r>
            <a:endParaRPr kumimoji="0" lang="en-CA" altLang="en-US" sz="24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lvl="0" eaLnBrk="0" fontAlgn="base" hangingPunct="0">
              <a:spcAft>
                <a:spcPct val="0"/>
              </a:spcAft>
              <a:buSzPct val="100000"/>
              <a:defRPr/>
            </a:pPr>
            <a:r>
              <a:rPr lang="en-US" altLang="en-US" b="1"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Recall the best practices: these examples of latent cause statement have these items in common:</a:t>
            </a:r>
          </a:p>
          <a:p>
            <a:pPr marR="0" lvl="0" algn="l" defTabSz="914400" rtl="0" eaLnBrk="0" fontAlgn="base" latinLnBrk="0" hangingPunct="0">
              <a:lnSpc>
                <a:spcPct val="100000"/>
              </a:lnSpc>
              <a:spcBef>
                <a:spcPts val="0"/>
              </a:spcBef>
              <a:spcAft>
                <a:spcPct val="0"/>
              </a:spcAft>
              <a:buClrTx/>
              <a:buSzPct val="100000"/>
              <a:tabLst/>
              <a:defRPr/>
            </a:pPr>
            <a:endParaRPr kumimoji="0" lang="en-CA" altLang="en-US"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Labelled and numbered: LC1, LC2, etc.</a:t>
            </a:r>
          </a:p>
          <a:p>
            <a:pPr marL="360000" indent="-360000" eaLnBrk="0" fontAlgn="base" hangingPunct="0">
              <a:spcAft>
                <a:spcPct val="0"/>
              </a:spcAft>
              <a:buSzPct val="100000"/>
              <a:buFont typeface="Wingdings" panose="05000000000000000000" pitchFamily="2" charset="2"/>
              <a:buChar char="Ø"/>
              <a:defRPr/>
            </a:pPr>
            <a:endPar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Categorized as P, S, or </a:t>
            </a:r>
            <a:r>
              <a:rPr lang="en-US"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C</a:t>
            </a: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 categorizing these with appropriately stated latent causes demonstrates the ability to differentiate among the three categories of latent causes.</a:t>
            </a:r>
          </a:p>
          <a:p>
            <a:pPr marL="360000" indent="-360000" eaLnBrk="0" fontAlgn="base" hangingPunct="0">
              <a:spcAft>
                <a:spcPct val="0"/>
              </a:spcAft>
              <a:buSzPct val="100000"/>
              <a:buFont typeface="Wingdings" panose="05000000000000000000" pitchFamily="2" charset="2"/>
              <a:buChar char="Ø"/>
              <a:defRPr/>
            </a:pPr>
            <a:endPar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Each statement has four components, not always in this order for 3 &amp; 4:</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Relates to an element “training”, “design”, “incident reporting”, etc.; </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Has the word “program”;</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Gives some level or degree of inadequacy that relates to the LC category e.g. inadequate program, inadequate program standards, or inadequate compliance with program standards;</a:t>
            </a:r>
          </a:p>
          <a:p>
            <a:pPr marL="360000" indent="-360000" eaLnBrk="0" fontAlgn="base" hangingPunct="0">
              <a:spcAft>
                <a:spcPct val="0"/>
              </a:spcAft>
              <a:buSzPct val="100000"/>
              <a:buFont typeface="+mj-lt"/>
              <a:buAutoNum type="arabicParenR"/>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Specific and unique terms or phrases relevant to the root in question. </a:t>
            </a:r>
          </a:p>
          <a:p>
            <a:pPr marL="360000" indent="-360000" eaLnBrk="0" fontAlgn="base" hangingPunct="0">
              <a:spcAft>
                <a:spcPct val="0"/>
              </a:spcAft>
              <a:buSzPct val="100000"/>
              <a:buFont typeface="Wingdings" panose="05000000000000000000" pitchFamily="2" charset="2"/>
              <a:buChar char="Ø"/>
              <a:defRPr/>
            </a:pPr>
            <a:endParaRPr lang="en-US" altLang="en-US"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a:p>
            <a:pPr marL="360000" indent="-360000" eaLnBrk="0" fontAlgn="base" hangingPunct="0">
              <a:spcAft>
                <a:spcPct val="0"/>
              </a:spcAft>
              <a:buSzPct val="100000"/>
              <a:buFont typeface="Wingdings" panose="05000000000000000000" pitchFamily="2" charset="2"/>
              <a:buChar char="Ø"/>
              <a:defRPr/>
            </a:pPr>
            <a:r>
              <a:rPr lang="en-US"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The stated latent cause then clearly links to a Risk Management System element. </a:t>
            </a:r>
            <a:endParaRPr kumimoji="0" lang="en-US" altLang="en-US"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4097313523"/>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US" altLang="en-US" sz="2000" b="0" dirty="0" smtClean="0">
                <a:solidFill>
                  <a:schemeClr val="bg1"/>
                </a:solidFill>
                <a:latin typeface="Arial" panose="020B0604020202020204" pitchFamily="34" charset="0"/>
                <a:cs typeface="Arial" panose="020B0604020202020204" pitchFamily="34" charset="0"/>
              </a:rPr>
              <a:t>Examine </a:t>
            </a:r>
            <a:r>
              <a:rPr lang="en-US" altLang="en-US" sz="2000" b="0" dirty="0">
                <a:solidFill>
                  <a:schemeClr val="bg1"/>
                </a:solidFill>
                <a:latin typeface="Arial" panose="020B0604020202020204" pitchFamily="34" charset="0"/>
                <a:cs typeface="Arial" panose="020B0604020202020204" pitchFamily="34" charset="0"/>
              </a:rPr>
              <a:t>One Root in an RCA: Latent Cause &amp; Recommendation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Rectangle 5">
            <a:extLst>
              <a:ext uri="{FF2B5EF4-FFF2-40B4-BE49-F238E27FC236}">
                <a16:creationId xmlns:a16="http://schemas.microsoft.com/office/drawing/2014/main" id="{E2CABA61-9B79-4CDA-91EB-7241E7279CB1}"/>
              </a:ext>
            </a:extLst>
          </p:cNvPr>
          <p:cNvSpPr/>
          <p:nvPr/>
        </p:nvSpPr>
        <p:spPr bwMode="auto">
          <a:xfrm>
            <a:off x="457199" y="756573"/>
            <a:ext cx="8229601" cy="5399427"/>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7" name="Text Box 2">
            <a:extLst>
              <a:ext uri="{FF2B5EF4-FFF2-40B4-BE49-F238E27FC236}">
                <a16:creationId xmlns:a16="http://schemas.microsoft.com/office/drawing/2014/main" id="{B3DFD48C-2343-4A59-AE5B-2BCFC70C2A28}"/>
              </a:ext>
            </a:extLst>
          </p:cNvPr>
          <p:cNvSpPr txBox="1">
            <a:spLocks noChangeArrowheads="1"/>
          </p:cNvSpPr>
          <p:nvPr/>
        </p:nvSpPr>
        <p:spPr bwMode="auto">
          <a:xfrm>
            <a:off x="3228861" y="1393025"/>
            <a:ext cx="2438398" cy="249743"/>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10" name="Text Box 10">
            <a:extLst>
              <a:ext uri="{FF2B5EF4-FFF2-40B4-BE49-F238E27FC236}">
                <a16:creationId xmlns:a16="http://schemas.microsoft.com/office/drawing/2014/main" id="{796558F4-6EE9-4D1C-8607-62A48A3C584C}"/>
              </a:ext>
            </a:extLst>
          </p:cNvPr>
          <p:cNvSpPr txBox="1">
            <a:spLocks noChangeArrowheads="1"/>
          </p:cNvSpPr>
          <p:nvPr/>
        </p:nvSpPr>
        <p:spPr bwMode="auto">
          <a:xfrm>
            <a:off x="6993757" y="3033370"/>
            <a:ext cx="1524000" cy="383587"/>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Risk Taking</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Motivation</a:t>
            </a:r>
          </a:p>
        </p:txBody>
      </p:sp>
      <p:sp>
        <p:nvSpPr>
          <p:cNvPr id="11" name="Text Box 11">
            <a:extLst>
              <a:ext uri="{FF2B5EF4-FFF2-40B4-BE49-F238E27FC236}">
                <a16:creationId xmlns:a16="http://schemas.microsoft.com/office/drawing/2014/main" id="{C1947594-9936-4F07-96C3-A297207AEA76}"/>
              </a:ext>
            </a:extLst>
          </p:cNvPr>
          <p:cNvSpPr txBox="1">
            <a:spLocks noChangeArrowheads="1"/>
          </p:cNvSpPr>
          <p:nvPr/>
        </p:nvSpPr>
        <p:spPr bwMode="auto">
          <a:xfrm>
            <a:off x="526966" y="3042721"/>
            <a:ext cx="990600" cy="383587"/>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4" name="Text Box 12">
            <a:extLst>
              <a:ext uri="{FF2B5EF4-FFF2-40B4-BE49-F238E27FC236}">
                <a16:creationId xmlns:a16="http://schemas.microsoft.com/office/drawing/2014/main" id="{AB6D83BC-53DD-4017-B480-8A4B6D953DD6}"/>
              </a:ext>
            </a:extLst>
          </p:cNvPr>
          <p:cNvSpPr txBox="1">
            <a:spLocks noChangeArrowheads="1"/>
          </p:cNvSpPr>
          <p:nvPr/>
        </p:nvSpPr>
        <p:spPr bwMode="auto">
          <a:xfrm>
            <a:off x="526966" y="1926421"/>
            <a:ext cx="990600" cy="383587"/>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5" name="Text Box 13">
            <a:extLst>
              <a:ext uri="{FF2B5EF4-FFF2-40B4-BE49-F238E27FC236}">
                <a16:creationId xmlns:a16="http://schemas.microsoft.com/office/drawing/2014/main" id="{1C2F0AE6-8A12-477C-82C3-74E3820F7480}"/>
              </a:ext>
            </a:extLst>
          </p:cNvPr>
          <p:cNvSpPr txBox="1">
            <a:spLocks noChangeArrowheads="1"/>
          </p:cNvSpPr>
          <p:nvPr/>
        </p:nvSpPr>
        <p:spPr bwMode="auto">
          <a:xfrm>
            <a:off x="526966" y="1396555"/>
            <a:ext cx="990600" cy="413787"/>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Description</a:t>
            </a:r>
          </a:p>
        </p:txBody>
      </p:sp>
      <p:sp>
        <p:nvSpPr>
          <p:cNvPr id="16" name="Text Box 14">
            <a:extLst>
              <a:ext uri="{FF2B5EF4-FFF2-40B4-BE49-F238E27FC236}">
                <a16:creationId xmlns:a16="http://schemas.microsoft.com/office/drawing/2014/main" id="{74A08599-4156-4407-A56A-79D7DEEB22BB}"/>
              </a:ext>
            </a:extLst>
          </p:cNvPr>
          <p:cNvSpPr txBox="1">
            <a:spLocks noChangeArrowheads="1"/>
          </p:cNvSpPr>
          <p:nvPr/>
        </p:nvSpPr>
        <p:spPr bwMode="auto">
          <a:xfrm>
            <a:off x="534988" y="4259040"/>
            <a:ext cx="990600" cy="584775"/>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7" name="Text Box 15">
            <a:extLst>
              <a:ext uri="{FF2B5EF4-FFF2-40B4-BE49-F238E27FC236}">
                <a16:creationId xmlns:a16="http://schemas.microsoft.com/office/drawing/2014/main" id="{B7A7341D-D594-45C3-9889-485D6760F733}"/>
              </a:ext>
            </a:extLst>
          </p:cNvPr>
          <p:cNvSpPr txBox="1">
            <a:spLocks noChangeArrowheads="1"/>
          </p:cNvSpPr>
          <p:nvPr/>
        </p:nvSpPr>
        <p:spPr bwMode="auto">
          <a:xfrm>
            <a:off x="6993757" y="4278571"/>
            <a:ext cx="1521993" cy="584775"/>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Inadequate Standard</a:t>
            </a:r>
          </a:p>
        </p:txBody>
      </p:sp>
      <p:cxnSp>
        <p:nvCxnSpPr>
          <p:cNvPr id="18" name="AutoShape 16">
            <a:extLst>
              <a:ext uri="{FF2B5EF4-FFF2-40B4-BE49-F238E27FC236}">
                <a16:creationId xmlns:a16="http://schemas.microsoft.com/office/drawing/2014/main" id="{32F19411-D405-4B57-A891-40FC89BB55D1}"/>
              </a:ext>
            </a:extLst>
          </p:cNvPr>
          <p:cNvCxnSpPr>
            <a:cxnSpLocks noChangeShapeType="1"/>
            <a:endCxn id="29" idx="0"/>
          </p:cNvCxnSpPr>
          <p:nvPr/>
        </p:nvCxnSpPr>
        <p:spPr bwMode="auto">
          <a:xfrm>
            <a:off x="4421188" y="1642768"/>
            <a:ext cx="38101" cy="2847016"/>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5">
            <a:extLst>
              <a:ext uri="{FF2B5EF4-FFF2-40B4-BE49-F238E27FC236}">
                <a16:creationId xmlns:a16="http://schemas.microsoft.com/office/drawing/2014/main" id="{D2EEF2AF-EE2D-4933-B801-91EBBA7FFF28}"/>
              </a:ext>
            </a:extLst>
          </p:cNvPr>
          <p:cNvSpPr txBox="1">
            <a:spLocks noChangeArrowheads="1"/>
          </p:cNvSpPr>
          <p:nvPr/>
        </p:nvSpPr>
        <p:spPr bwMode="auto">
          <a:xfrm>
            <a:off x="3049588" y="854007"/>
            <a:ext cx="2895600" cy="233748"/>
          </a:xfrm>
          <a:prstGeom prst="rect">
            <a:avLst/>
          </a:prstGeom>
          <a:solidFill>
            <a:srgbClr val="000000"/>
          </a:solidFill>
          <a:ln w="9525" algn="ctr">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20" name="Text Box 10">
            <a:extLst>
              <a:ext uri="{FF2B5EF4-FFF2-40B4-BE49-F238E27FC236}">
                <a16:creationId xmlns:a16="http://schemas.microsoft.com/office/drawing/2014/main" id="{C8CAB5D0-91BC-497E-A594-A8A734158FC0}"/>
              </a:ext>
            </a:extLst>
          </p:cNvPr>
          <p:cNvSpPr txBox="1">
            <a:spLocks noChangeArrowheads="1"/>
          </p:cNvSpPr>
          <p:nvPr/>
        </p:nvSpPr>
        <p:spPr bwMode="auto">
          <a:xfrm>
            <a:off x="7088188" y="851010"/>
            <a:ext cx="1371600" cy="239742"/>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21" name="Text Box 11">
            <a:extLst>
              <a:ext uri="{FF2B5EF4-FFF2-40B4-BE49-F238E27FC236}">
                <a16:creationId xmlns:a16="http://schemas.microsoft.com/office/drawing/2014/main" id="{FB5E7B73-FF58-448D-AA0F-3FF92F25B100}"/>
              </a:ext>
            </a:extLst>
          </p:cNvPr>
          <p:cNvSpPr txBox="1">
            <a:spLocks noChangeArrowheads="1"/>
          </p:cNvSpPr>
          <p:nvPr/>
        </p:nvSpPr>
        <p:spPr bwMode="auto">
          <a:xfrm>
            <a:off x="534988" y="848013"/>
            <a:ext cx="990600" cy="377593"/>
          </a:xfrm>
          <a:prstGeom prst="rect">
            <a:avLst/>
          </a:prstGeom>
          <a:solidFill>
            <a:srgbClr val="000000"/>
          </a:solidFill>
          <a:ln w="9525">
            <a:solidFill>
              <a:srgbClr val="000000"/>
            </a:solidFill>
            <a:miter lim="800000"/>
            <a:headEnd/>
            <a:tailEnd/>
          </a:ln>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22" name="Straight Connector 21">
            <a:extLst>
              <a:ext uri="{FF2B5EF4-FFF2-40B4-BE49-F238E27FC236}">
                <a16:creationId xmlns:a16="http://schemas.microsoft.com/office/drawing/2014/main" id="{13F8E239-4349-4F3D-B751-294330441CA4}"/>
              </a:ext>
            </a:extLst>
          </p:cNvPr>
          <p:cNvCxnSpPr>
            <a:cxnSpLocks/>
          </p:cNvCxnSpPr>
          <p:nvPr/>
        </p:nvCxnSpPr>
        <p:spPr bwMode="auto">
          <a:xfrm>
            <a:off x="1677988" y="848013"/>
            <a:ext cx="0" cy="5229514"/>
          </a:xfrm>
          <a:prstGeom prst="line">
            <a:avLst/>
          </a:prstGeom>
          <a:noFill/>
          <a:ln w="9525" cap="flat" cmpd="sng" algn="ctr">
            <a:solidFill>
              <a:srgbClr val="000000"/>
            </a:solidFill>
            <a:prstDash val="sysDash"/>
          </a:ln>
          <a:effectLst/>
        </p:spPr>
      </p:cxnSp>
      <p:cxnSp>
        <p:nvCxnSpPr>
          <p:cNvPr id="23" name="Straight Connector 22">
            <a:extLst>
              <a:ext uri="{FF2B5EF4-FFF2-40B4-BE49-F238E27FC236}">
                <a16:creationId xmlns:a16="http://schemas.microsoft.com/office/drawing/2014/main" id="{860DE867-33DD-459B-AA53-4190521D0DF2}"/>
              </a:ext>
            </a:extLst>
          </p:cNvPr>
          <p:cNvCxnSpPr>
            <a:cxnSpLocks/>
          </p:cNvCxnSpPr>
          <p:nvPr/>
        </p:nvCxnSpPr>
        <p:spPr bwMode="auto">
          <a:xfrm>
            <a:off x="687388" y="1261701"/>
            <a:ext cx="7772400" cy="0"/>
          </a:xfrm>
          <a:prstGeom prst="line">
            <a:avLst/>
          </a:prstGeom>
          <a:noFill/>
          <a:ln w="9525" cap="flat" cmpd="sng" algn="ctr">
            <a:solidFill>
              <a:srgbClr val="000000"/>
            </a:solidFill>
            <a:prstDash val="sysDash"/>
          </a:ln>
          <a:effectLst/>
        </p:spPr>
      </p:cxnSp>
      <p:sp>
        <p:nvSpPr>
          <p:cNvPr id="24" name="Text Box 10">
            <a:extLst>
              <a:ext uri="{FF2B5EF4-FFF2-40B4-BE49-F238E27FC236}">
                <a16:creationId xmlns:a16="http://schemas.microsoft.com/office/drawing/2014/main" id="{E8B9B421-114C-4DB1-B72C-37142258414D}"/>
              </a:ext>
            </a:extLst>
          </p:cNvPr>
          <p:cNvSpPr txBox="1">
            <a:spLocks noChangeArrowheads="1"/>
          </p:cNvSpPr>
          <p:nvPr/>
        </p:nvSpPr>
        <p:spPr bwMode="auto">
          <a:xfrm>
            <a:off x="6866221" y="1926299"/>
            <a:ext cx="1649530" cy="400110"/>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Work Practice</a:t>
            </a:r>
          </a:p>
        </p:txBody>
      </p:sp>
      <p:sp>
        <p:nvSpPr>
          <p:cNvPr id="25" name="Text Box 7">
            <a:extLst>
              <a:ext uri="{FF2B5EF4-FFF2-40B4-BE49-F238E27FC236}">
                <a16:creationId xmlns:a16="http://schemas.microsoft.com/office/drawing/2014/main" id="{0D8F94C3-CB44-4EDB-98AC-06F5F4EC21D5}"/>
              </a:ext>
            </a:extLst>
          </p:cNvPr>
          <p:cNvSpPr txBox="1">
            <a:spLocks noChangeArrowheads="1"/>
          </p:cNvSpPr>
          <p:nvPr/>
        </p:nvSpPr>
        <p:spPr bwMode="auto">
          <a:xfrm>
            <a:off x="3049588" y="3615689"/>
            <a:ext cx="2895600" cy="55399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a:t>
            </a:r>
            <a:r>
              <a:rPr kumimoji="0" lang="en-CA"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CA"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the IM understood Corporate Values: “Safety always before Production” as part of the communications plan.</a:t>
            </a:r>
          </a:p>
        </p:txBody>
      </p:sp>
      <p:sp>
        <p:nvSpPr>
          <p:cNvPr id="26" name="Text Box 5">
            <a:extLst>
              <a:ext uri="{FF2B5EF4-FFF2-40B4-BE49-F238E27FC236}">
                <a16:creationId xmlns:a16="http://schemas.microsoft.com/office/drawing/2014/main" id="{8934C917-953A-4685-A217-66CE8014D914}"/>
              </a:ext>
            </a:extLst>
          </p:cNvPr>
          <p:cNvSpPr txBox="1">
            <a:spLocks noChangeArrowheads="1"/>
          </p:cNvSpPr>
          <p:nvPr/>
        </p:nvSpPr>
        <p:spPr bwMode="auto">
          <a:xfrm>
            <a:off x="3049588" y="3038703"/>
            <a:ext cx="2895600" cy="400110"/>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carunderstood</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that safety checks must be done before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sp>
        <p:nvSpPr>
          <p:cNvPr id="27" name="Text Box 4">
            <a:extLst>
              <a:ext uri="{FF2B5EF4-FFF2-40B4-BE49-F238E27FC236}">
                <a16:creationId xmlns:a16="http://schemas.microsoft.com/office/drawing/2014/main" id="{EF71C5BC-5827-41A0-B035-B603DC29AAA0}"/>
              </a:ext>
            </a:extLst>
          </p:cNvPr>
          <p:cNvSpPr txBox="1">
            <a:spLocks noChangeArrowheads="1"/>
          </p:cNvSpPr>
          <p:nvPr/>
        </p:nvSpPr>
        <p:spPr bwMode="auto">
          <a:xfrm>
            <a:off x="3223646" y="2492056"/>
            <a:ext cx="2443614" cy="400110"/>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prioritized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28" name="Text Box 3">
            <a:extLst>
              <a:ext uri="{FF2B5EF4-FFF2-40B4-BE49-F238E27FC236}">
                <a16:creationId xmlns:a16="http://schemas.microsoft.com/office/drawing/2014/main" id="{FB528315-1D05-45B9-AC26-430FEDCB62E9}"/>
              </a:ext>
            </a:extLst>
          </p:cNvPr>
          <p:cNvSpPr txBox="1">
            <a:spLocks noChangeArrowheads="1"/>
          </p:cNvSpPr>
          <p:nvPr/>
        </p:nvSpPr>
        <p:spPr bwMode="auto">
          <a:xfrm>
            <a:off x="3223645" y="1907719"/>
            <a:ext cx="2443614" cy="400110"/>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29" name="Text Box 8">
            <a:extLst>
              <a:ext uri="{FF2B5EF4-FFF2-40B4-BE49-F238E27FC236}">
                <a16:creationId xmlns:a16="http://schemas.microsoft.com/office/drawing/2014/main" id="{A98AAC7D-91D4-4822-80BC-9E63CFFE369D}"/>
              </a:ext>
            </a:extLst>
          </p:cNvPr>
          <p:cNvSpPr txBox="1">
            <a:spLocks noChangeArrowheads="1"/>
          </p:cNvSpPr>
          <p:nvPr/>
        </p:nvSpPr>
        <p:spPr bwMode="auto">
          <a:xfrm>
            <a:off x="2058989" y="4489784"/>
            <a:ext cx="4800599" cy="1089529"/>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lvl="0" algn="ctr" fontAlgn="auto">
              <a:lnSpc>
                <a:spcPct val="90000"/>
              </a:lnSpc>
              <a:spcBef>
                <a:spcPts val="0"/>
              </a:spcBef>
              <a:spcAft>
                <a:spcPts val="0"/>
              </a:spcAft>
              <a:buClr>
                <a:srgbClr val="000000"/>
              </a:buClr>
              <a:buNone/>
              <a:defRPr/>
            </a:pPr>
            <a:r>
              <a:rPr lang="en-US" altLang="en-US" sz="1800" b="0" kern="0" dirty="0">
                <a:solidFill>
                  <a:srgbClr val="000000"/>
                </a:solidFill>
              </a:rPr>
              <a:t>LC-S: The management communications program did not include steps in the communications plan to check that new employees could explain Corporate Values</a:t>
            </a:r>
            <a:r>
              <a:rPr lang="en-US" altLang="en-US" sz="1800" b="0" kern="0" dirty="0" smtClean="0">
                <a:solidFill>
                  <a:srgbClr val="000000"/>
                </a:solidFill>
              </a:rPr>
              <a:t>. #1 MLCA</a:t>
            </a:r>
            <a:endParaRPr lang="en-US" altLang="en-US" sz="1800" b="0" kern="0" dirty="0">
              <a:solidFill>
                <a:srgbClr val="000000"/>
              </a:solidFill>
            </a:endParaRPr>
          </a:p>
        </p:txBody>
      </p:sp>
      <p:sp>
        <p:nvSpPr>
          <p:cNvPr id="31" name="Rectangular Callout 27">
            <a:extLst>
              <a:ext uri="{FF2B5EF4-FFF2-40B4-BE49-F238E27FC236}">
                <a16:creationId xmlns:a16="http://schemas.microsoft.com/office/drawing/2014/main" id="{92A56BCC-7136-4D2A-8EB2-23D4BD1A2AA9}"/>
              </a:ext>
            </a:extLst>
          </p:cNvPr>
          <p:cNvSpPr/>
          <p:nvPr/>
        </p:nvSpPr>
        <p:spPr bwMode="auto">
          <a:xfrm>
            <a:off x="132150" y="804375"/>
            <a:ext cx="7259250" cy="1467866"/>
          </a:xfrm>
          <a:prstGeom prst="wedgeRectCallout">
            <a:avLst>
              <a:gd name="adj1" fmla="val -20401"/>
              <a:gd name="adj2" fmla="val 210153"/>
            </a:avLst>
          </a:prstGeom>
          <a:solidFill>
            <a:schemeClr val="tx1"/>
          </a:solidFill>
          <a:ln w="9525" algn="ctr">
            <a:solidFill>
              <a:schemeClr val="tx1"/>
            </a:solidFill>
            <a:miter lim="800000"/>
            <a:headEnd/>
            <a:tailEnd/>
          </a:ln>
          <a:effectLst/>
        </p:spPr>
        <p:txBody>
          <a:bodyPr wrap="square" anchor="t" anchorCtr="0">
            <a:noAutofit/>
          </a:bodyPr>
          <a:lstStyle/>
          <a:p>
            <a:pPr marL="0" marR="0" lvl="0" indent="0" algn="l" defTabSz="914400" rtl="0" eaLnBrk="1" fontAlgn="base" latinLnBrk="0" hangingPunct="1">
              <a:lnSpc>
                <a:spcPct val="100000"/>
              </a:lnSpc>
              <a:spcBef>
                <a:spcPts val="0"/>
              </a:spcBef>
              <a:spcAft>
                <a:spcPct val="0"/>
              </a:spcAft>
              <a:buClr>
                <a:srgbClr val="000000"/>
              </a:buClr>
              <a:buSzPct val="65000"/>
              <a:buFont typeface="Wingdings" panose="05000000000000000000" pitchFamily="2" charset="2"/>
              <a:buNone/>
              <a:tabLst/>
              <a:defRPr/>
            </a:pPr>
            <a:r>
              <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Note the Latent Cause is stated in unique and specific terms relevant to the loss incident RCA and is aligned with </a:t>
            </a:r>
            <a:r>
              <a:rPr kumimoji="0" lang="en-US"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RME#1 </a:t>
            </a:r>
            <a:r>
              <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MLCA. It should be straight-forward to write a recommendation. </a:t>
            </a:r>
            <a:endParaRPr kumimoji="0" lang="en-US"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0" marR="0" lvl="0" indent="0" algn="l" defTabSz="914400" rtl="0" eaLnBrk="1" fontAlgn="base" latinLnBrk="0" hangingPunct="1">
              <a:lnSpc>
                <a:spcPct val="100000"/>
              </a:lnSpc>
              <a:spcBef>
                <a:spcPts val="0"/>
              </a:spcBef>
              <a:spcAft>
                <a:spcPct val="0"/>
              </a:spcAft>
              <a:buClr>
                <a:srgbClr val="000000"/>
              </a:buClr>
              <a:buSzPct val="65000"/>
              <a:buFont typeface="Wingdings" panose="05000000000000000000" pitchFamily="2" charset="2"/>
              <a:buNone/>
              <a:tabLst/>
              <a:defRPr/>
            </a:pPr>
            <a:r>
              <a:rPr kumimoji="0" lang="en-US" b="0" i="0" u="none" strike="noStrike" kern="1200" cap="none" spc="0" normalizeH="0" baseline="0" noProof="0" dirty="0" smtClean="0">
                <a:ln>
                  <a:noFill/>
                </a:ln>
                <a:solidFill>
                  <a:srgbClr val="FFFFFF"/>
                </a:solidFill>
                <a:effectLst/>
                <a:uLnTx/>
                <a:uFillTx/>
                <a:latin typeface="Arial" panose="020B0604020202020204" pitchFamily="34" charset="0"/>
                <a:ea typeface="ＭＳ Ｐゴシック" panose="020B0600070205080204" pitchFamily="34" charset="-128"/>
                <a:cs typeface="+mn-cs"/>
              </a:rPr>
              <a:t>Please confer (pen-to-paper / MM-Open):</a:t>
            </a:r>
            <a:endPar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285750" marR="0" lvl="0" indent="-285750" algn="l" defTabSz="914400" rtl="0" eaLnBrk="1" fontAlgn="base" latinLnBrk="0" hangingPunct="1">
              <a:lnSpc>
                <a:spcPct val="100000"/>
              </a:lnSpc>
              <a:spcBef>
                <a:spcPts val="0"/>
              </a:spcBef>
              <a:spcAft>
                <a:spcPct val="0"/>
              </a:spcAft>
              <a:buClrTx/>
              <a:buSzPct val="100000"/>
              <a:buFont typeface="Wingdings" panose="05000000000000000000" pitchFamily="2" charset="2"/>
              <a:buChar char="Ø"/>
              <a:tabLst/>
              <a:defRPr/>
            </a:pPr>
            <a:r>
              <a:rPr kumimoji="0" lang="en-US" b="0"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What would your recommendation be to address this latent cause?</a:t>
            </a:r>
          </a:p>
        </p:txBody>
      </p:sp>
    </p:spTree>
    <p:extLst>
      <p:ext uri="{BB962C8B-B14F-4D97-AF65-F5344CB8AC3E}">
        <p14:creationId xmlns:p14="http://schemas.microsoft.com/office/powerpoint/2010/main" val="177664019"/>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100000"/>
              </a:lnSpc>
              <a:spcBef>
                <a:spcPts val="0"/>
              </a:spcBef>
              <a:spcAft>
                <a:spcPct val="0"/>
              </a:spcAft>
              <a:buClr>
                <a:srgbClr val="000000"/>
              </a:buClr>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solidFill>
            <a:schemeClr val="tx1"/>
          </a:solidFill>
          <a:ln>
            <a:solidFill>
              <a:schemeClr val="tx1"/>
            </a:solidFill>
          </a:ln>
        </p:spPr>
        <p:txBody>
          <a:bodyPr anchor="ctr"/>
          <a:lstStyle/>
          <a:p>
            <a:pPr>
              <a:buFont typeface="Arial" panose="020B0604020202020204" pitchFamily="34" charset="0"/>
              <a:buNone/>
            </a:pPr>
            <a:r>
              <a:rPr lang="en-US" altLang="en-US" sz="2000" b="0" dirty="0" smtClean="0">
                <a:solidFill>
                  <a:schemeClr val="bg1"/>
                </a:solidFill>
                <a:latin typeface="Arial" panose="020B0604020202020204" pitchFamily="34" charset="0"/>
                <a:cs typeface="Arial" panose="020B0604020202020204" pitchFamily="34" charset="0"/>
              </a:rPr>
              <a:t>Example: Examine </a:t>
            </a:r>
            <a:r>
              <a:rPr lang="en-US" altLang="en-US" sz="2000" b="0" dirty="0">
                <a:solidFill>
                  <a:schemeClr val="bg1"/>
                </a:solidFill>
                <a:latin typeface="Arial" panose="020B0604020202020204" pitchFamily="34" charset="0"/>
                <a:cs typeface="Arial" panose="020B0604020202020204" pitchFamily="34" charset="0"/>
              </a:rPr>
              <a:t>One Root in an RCA: Latent Cause &amp; Recommendation</a:t>
            </a: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Rectangle 5">
            <a:extLst>
              <a:ext uri="{FF2B5EF4-FFF2-40B4-BE49-F238E27FC236}">
                <a16:creationId xmlns:a16="http://schemas.microsoft.com/office/drawing/2014/main" id="{DD05066A-1424-440B-B958-1094E20F86EA}"/>
              </a:ext>
            </a:extLst>
          </p:cNvPr>
          <p:cNvSpPr/>
          <p:nvPr/>
        </p:nvSpPr>
        <p:spPr bwMode="auto">
          <a:xfrm>
            <a:off x="324000" y="845567"/>
            <a:ext cx="8286600" cy="5402833"/>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7" name="Text Box 2">
            <a:extLst>
              <a:ext uri="{FF2B5EF4-FFF2-40B4-BE49-F238E27FC236}">
                <a16:creationId xmlns:a16="http://schemas.microsoft.com/office/drawing/2014/main" id="{8C4BA5A7-744A-4FA1-9034-D7DBC8934E03}"/>
              </a:ext>
            </a:extLst>
          </p:cNvPr>
          <p:cNvSpPr txBox="1">
            <a:spLocks noChangeArrowheads="1"/>
          </p:cNvSpPr>
          <p:nvPr/>
        </p:nvSpPr>
        <p:spPr bwMode="auto">
          <a:xfrm>
            <a:off x="3189394" y="1357802"/>
            <a:ext cx="2455286" cy="244719"/>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rPr>
              <a:t>Equipment found in defective state</a:t>
            </a:r>
          </a:p>
        </p:txBody>
      </p:sp>
      <p:sp>
        <p:nvSpPr>
          <p:cNvPr id="10" name="Text Box 10">
            <a:extLst>
              <a:ext uri="{FF2B5EF4-FFF2-40B4-BE49-F238E27FC236}">
                <a16:creationId xmlns:a16="http://schemas.microsoft.com/office/drawing/2014/main" id="{A671000C-4470-45DB-93EF-5C3269176E5F}"/>
              </a:ext>
            </a:extLst>
          </p:cNvPr>
          <p:cNvSpPr txBox="1">
            <a:spLocks noChangeArrowheads="1"/>
          </p:cNvSpPr>
          <p:nvPr/>
        </p:nvSpPr>
        <p:spPr bwMode="auto">
          <a:xfrm>
            <a:off x="6969089" y="2987891"/>
            <a:ext cx="1534555" cy="396514"/>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Risk Taking</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Improper Motivation</a:t>
            </a:r>
          </a:p>
        </p:txBody>
      </p:sp>
      <p:sp>
        <p:nvSpPr>
          <p:cNvPr id="11" name="Text Box 11">
            <a:extLst>
              <a:ext uri="{FF2B5EF4-FFF2-40B4-BE49-F238E27FC236}">
                <a16:creationId xmlns:a16="http://schemas.microsoft.com/office/drawing/2014/main" id="{FC4B7F83-E01C-41C8-AF64-3C8BEEF8C0B3}"/>
              </a:ext>
            </a:extLst>
          </p:cNvPr>
          <p:cNvSpPr txBox="1">
            <a:spLocks noChangeArrowheads="1"/>
          </p:cNvSpPr>
          <p:nvPr/>
        </p:nvSpPr>
        <p:spPr bwMode="auto">
          <a:xfrm>
            <a:off x="510932" y="2997242"/>
            <a:ext cx="997461" cy="396514"/>
          </a:xfrm>
          <a:prstGeom prst="rect">
            <a:avLst/>
          </a:prstGeom>
          <a:solidFill>
            <a:srgbClr val="FF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4" name="Text Box 12">
            <a:extLst>
              <a:ext uri="{FF2B5EF4-FFF2-40B4-BE49-F238E27FC236}">
                <a16:creationId xmlns:a16="http://schemas.microsoft.com/office/drawing/2014/main" id="{AA70F837-AF45-4186-AF9A-EFB2A8B059A2}"/>
              </a:ext>
            </a:extLst>
          </p:cNvPr>
          <p:cNvSpPr txBox="1">
            <a:spLocks noChangeArrowheads="1"/>
          </p:cNvSpPr>
          <p:nvPr/>
        </p:nvSpPr>
        <p:spPr bwMode="auto">
          <a:xfrm>
            <a:off x="510932" y="1880942"/>
            <a:ext cx="997461" cy="396514"/>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Immediate </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5" name="Text Box 13">
            <a:extLst>
              <a:ext uri="{FF2B5EF4-FFF2-40B4-BE49-F238E27FC236}">
                <a16:creationId xmlns:a16="http://schemas.microsoft.com/office/drawing/2014/main" id="{97BA6AE1-1488-4C5D-9B4B-F36BC39C1150}"/>
              </a:ext>
            </a:extLst>
          </p:cNvPr>
          <p:cNvSpPr txBox="1">
            <a:spLocks noChangeArrowheads="1"/>
          </p:cNvSpPr>
          <p:nvPr/>
        </p:nvSpPr>
        <p:spPr bwMode="auto">
          <a:xfrm>
            <a:off x="510932" y="1366468"/>
            <a:ext cx="997461" cy="400805"/>
          </a:xfrm>
          <a:prstGeom prst="rect">
            <a:avLst/>
          </a:prstGeom>
          <a:solidFill>
            <a:srgbClr val="66FF66"/>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Incident Description</a:t>
            </a:r>
          </a:p>
        </p:txBody>
      </p:sp>
      <p:sp>
        <p:nvSpPr>
          <p:cNvPr id="16" name="Text Box 14">
            <a:extLst>
              <a:ext uri="{FF2B5EF4-FFF2-40B4-BE49-F238E27FC236}">
                <a16:creationId xmlns:a16="http://schemas.microsoft.com/office/drawing/2014/main" id="{8664DEEA-29CF-4BF3-9C73-7D9DD8ED5110}"/>
              </a:ext>
            </a:extLst>
          </p:cNvPr>
          <p:cNvSpPr txBox="1">
            <a:spLocks noChangeArrowheads="1"/>
          </p:cNvSpPr>
          <p:nvPr/>
        </p:nvSpPr>
        <p:spPr bwMode="auto">
          <a:xfrm>
            <a:off x="518954" y="4221999"/>
            <a:ext cx="997461" cy="579518"/>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Cause</a:t>
            </a:r>
          </a:p>
        </p:txBody>
      </p:sp>
      <p:sp>
        <p:nvSpPr>
          <p:cNvPr id="17" name="Text Box 15">
            <a:extLst>
              <a:ext uri="{FF2B5EF4-FFF2-40B4-BE49-F238E27FC236}">
                <a16:creationId xmlns:a16="http://schemas.microsoft.com/office/drawing/2014/main" id="{FEC4ECA4-56EA-4444-B7D7-EE6D081265B4}"/>
              </a:ext>
            </a:extLst>
          </p:cNvPr>
          <p:cNvSpPr txBox="1">
            <a:spLocks noChangeArrowheads="1"/>
          </p:cNvSpPr>
          <p:nvPr/>
        </p:nvSpPr>
        <p:spPr bwMode="auto">
          <a:xfrm>
            <a:off x="6969122" y="4241530"/>
            <a:ext cx="1532535" cy="579518"/>
          </a:xfrm>
          <a:prstGeom prst="rect">
            <a:avLst/>
          </a:prstGeom>
          <a:solidFill>
            <a:srgbClr val="66FF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Inadequate Standard</a:t>
            </a:r>
          </a:p>
        </p:txBody>
      </p:sp>
      <p:cxnSp>
        <p:nvCxnSpPr>
          <p:cNvPr id="18" name="AutoShape 16">
            <a:extLst>
              <a:ext uri="{FF2B5EF4-FFF2-40B4-BE49-F238E27FC236}">
                <a16:creationId xmlns:a16="http://schemas.microsoft.com/office/drawing/2014/main" id="{A4EFE54E-EBBA-4B4E-A975-8FC948A61D15}"/>
              </a:ext>
            </a:extLst>
          </p:cNvPr>
          <p:cNvCxnSpPr>
            <a:cxnSpLocks noChangeShapeType="1"/>
            <a:endCxn id="30" idx="0"/>
          </p:cNvCxnSpPr>
          <p:nvPr/>
        </p:nvCxnSpPr>
        <p:spPr bwMode="auto">
          <a:xfrm>
            <a:off x="4421187" y="1605762"/>
            <a:ext cx="56725" cy="4300443"/>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 name="Text Box 5">
            <a:extLst>
              <a:ext uri="{FF2B5EF4-FFF2-40B4-BE49-F238E27FC236}">
                <a16:creationId xmlns:a16="http://schemas.microsoft.com/office/drawing/2014/main" id="{F2CE7584-CCED-4ED6-B428-9FAB6C00DC84}"/>
              </a:ext>
            </a:extLst>
          </p:cNvPr>
          <p:cNvSpPr txBox="1">
            <a:spLocks noChangeArrowheads="1"/>
          </p:cNvSpPr>
          <p:nvPr/>
        </p:nvSpPr>
        <p:spPr bwMode="auto">
          <a:xfrm>
            <a:off x="3002720" y="914400"/>
            <a:ext cx="2915655" cy="244008"/>
          </a:xfrm>
          <a:prstGeom prst="rect">
            <a:avLst/>
          </a:prstGeom>
          <a:solidFill>
            <a:srgbClr val="000000"/>
          </a:solidFill>
          <a:ln w="9525" algn="ctr">
            <a:solidFill>
              <a:srgbClr val="000000"/>
            </a:solidFill>
            <a:miter lim="800000"/>
            <a:headEnd/>
            <a:tailEnd/>
          </a:ln>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Causes in the Root Cause Analysis</a:t>
            </a:r>
          </a:p>
        </p:txBody>
      </p:sp>
      <p:sp>
        <p:nvSpPr>
          <p:cNvPr id="20" name="Text Box 10">
            <a:extLst>
              <a:ext uri="{FF2B5EF4-FFF2-40B4-BE49-F238E27FC236}">
                <a16:creationId xmlns:a16="http://schemas.microsoft.com/office/drawing/2014/main" id="{199DF7B1-D786-47EC-8304-ED11A0706AC1}"/>
              </a:ext>
            </a:extLst>
          </p:cNvPr>
          <p:cNvSpPr txBox="1">
            <a:spLocks noChangeArrowheads="1"/>
          </p:cNvSpPr>
          <p:nvPr/>
        </p:nvSpPr>
        <p:spPr bwMode="auto">
          <a:xfrm>
            <a:off x="7065987" y="914400"/>
            <a:ext cx="1381100" cy="244008"/>
          </a:xfrm>
          <a:prstGeom prst="rect">
            <a:avLst/>
          </a:prstGeom>
          <a:solidFill>
            <a:srgbClr val="000000"/>
          </a:solidFill>
          <a:ln w="9525">
            <a:solidFill>
              <a:srgbClr val="000000"/>
            </a:solidFill>
            <a:miter lim="800000"/>
            <a:headEnd/>
            <a:tailEnd/>
          </a:ln>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Category of Cause</a:t>
            </a:r>
          </a:p>
        </p:txBody>
      </p:sp>
      <p:sp>
        <p:nvSpPr>
          <p:cNvPr id="21" name="Text Box 11">
            <a:extLst>
              <a:ext uri="{FF2B5EF4-FFF2-40B4-BE49-F238E27FC236}">
                <a16:creationId xmlns:a16="http://schemas.microsoft.com/office/drawing/2014/main" id="{0E60F0FF-AAA3-4D1D-8C18-AC35D4E9CD1B}"/>
              </a:ext>
            </a:extLst>
          </p:cNvPr>
          <p:cNvSpPr txBox="1">
            <a:spLocks noChangeArrowheads="1"/>
          </p:cNvSpPr>
          <p:nvPr/>
        </p:nvSpPr>
        <p:spPr bwMode="auto">
          <a:xfrm>
            <a:off x="518954" y="898992"/>
            <a:ext cx="997461" cy="244008"/>
          </a:xfrm>
          <a:prstGeom prst="rect">
            <a:avLst/>
          </a:prstGeom>
          <a:solidFill>
            <a:srgbClr val="000000"/>
          </a:solidFill>
          <a:ln w="9525">
            <a:solidFill>
              <a:srgbClr val="000000"/>
            </a:solidFill>
            <a:miter lim="800000"/>
            <a:headEnd/>
            <a:tailEnd/>
          </a:ln>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Type of Cause</a:t>
            </a:r>
          </a:p>
        </p:txBody>
      </p:sp>
      <p:cxnSp>
        <p:nvCxnSpPr>
          <p:cNvPr id="22" name="Straight Connector 21">
            <a:extLst>
              <a:ext uri="{FF2B5EF4-FFF2-40B4-BE49-F238E27FC236}">
                <a16:creationId xmlns:a16="http://schemas.microsoft.com/office/drawing/2014/main" id="{586CEF88-46FE-4942-9E53-721882D9D70C}"/>
              </a:ext>
            </a:extLst>
          </p:cNvPr>
          <p:cNvCxnSpPr>
            <a:cxnSpLocks/>
          </p:cNvCxnSpPr>
          <p:nvPr/>
        </p:nvCxnSpPr>
        <p:spPr bwMode="auto">
          <a:xfrm>
            <a:off x="1677987" y="933042"/>
            <a:ext cx="0" cy="5232812"/>
          </a:xfrm>
          <a:prstGeom prst="line">
            <a:avLst/>
          </a:prstGeom>
          <a:noFill/>
          <a:ln w="9525" cap="flat" cmpd="sng" algn="ctr">
            <a:solidFill>
              <a:srgbClr val="000000"/>
            </a:solidFill>
            <a:prstDash val="sysDash"/>
          </a:ln>
          <a:effectLst/>
        </p:spPr>
      </p:cxnSp>
      <p:cxnSp>
        <p:nvCxnSpPr>
          <p:cNvPr id="23" name="Straight Connector 22">
            <a:extLst>
              <a:ext uri="{FF2B5EF4-FFF2-40B4-BE49-F238E27FC236}">
                <a16:creationId xmlns:a16="http://schemas.microsoft.com/office/drawing/2014/main" id="{85353691-4190-478B-8AD6-9BEB28404A17}"/>
              </a:ext>
            </a:extLst>
          </p:cNvPr>
          <p:cNvCxnSpPr>
            <a:cxnSpLocks/>
          </p:cNvCxnSpPr>
          <p:nvPr/>
        </p:nvCxnSpPr>
        <p:spPr bwMode="auto">
          <a:xfrm>
            <a:off x="561588" y="1224695"/>
            <a:ext cx="7826232" cy="0"/>
          </a:xfrm>
          <a:prstGeom prst="line">
            <a:avLst/>
          </a:prstGeom>
          <a:noFill/>
          <a:ln w="9525" cap="flat" cmpd="sng" algn="ctr">
            <a:solidFill>
              <a:srgbClr val="000000"/>
            </a:solidFill>
            <a:prstDash val="sysDash"/>
          </a:ln>
          <a:effectLst/>
        </p:spPr>
      </p:cxnSp>
      <p:sp>
        <p:nvSpPr>
          <p:cNvPr id="24" name="Text Box 10">
            <a:extLst>
              <a:ext uri="{FF2B5EF4-FFF2-40B4-BE49-F238E27FC236}">
                <a16:creationId xmlns:a16="http://schemas.microsoft.com/office/drawing/2014/main" id="{E2675E4D-2622-42C4-BABC-D75225644AAC}"/>
              </a:ext>
            </a:extLst>
          </p:cNvPr>
          <p:cNvSpPr txBox="1">
            <a:spLocks noChangeArrowheads="1"/>
          </p:cNvSpPr>
          <p:nvPr/>
        </p:nvSpPr>
        <p:spPr bwMode="auto">
          <a:xfrm>
            <a:off x="6839521" y="1889268"/>
            <a:ext cx="1660955" cy="396514"/>
          </a:xfrm>
          <a:prstGeom prst="rect">
            <a:avLst/>
          </a:prstGeom>
          <a:solidFill>
            <a:srgbClr val="CC99FF"/>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Sub-standard</a:t>
            </a:r>
            <a:b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b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Work Practice</a:t>
            </a:r>
          </a:p>
        </p:txBody>
      </p:sp>
      <p:sp>
        <p:nvSpPr>
          <p:cNvPr id="25" name="Text Box 7">
            <a:extLst>
              <a:ext uri="{FF2B5EF4-FFF2-40B4-BE49-F238E27FC236}">
                <a16:creationId xmlns:a16="http://schemas.microsoft.com/office/drawing/2014/main" id="{F22AAB5D-4398-40E1-953C-9E960CD5FCE0}"/>
              </a:ext>
            </a:extLst>
          </p:cNvPr>
          <p:cNvSpPr txBox="1">
            <a:spLocks noChangeArrowheads="1"/>
          </p:cNvSpPr>
          <p:nvPr/>
        </p:nvSpPr>
        <p:spPr bwMode="auto">
          <a:xfrm>
            <a:off x="3002720" y="3578648"/>
            <a:ext cx="2915655" cy="549018"/>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err="1"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Mngmt</a:t>
            </a:r>
            <a:r>
              <a:rPr kumimoji="0" lang="en-US"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System did not</a:t>
            </a:r>
            <a:r>
              <a:rPr kumimoji="0" lang="en-CA" altLang="en-US" sz="1000" b="0" i="0" u="none" strike="noStrike" kern="0" cap="none" spc="0" normalizeH="0" baseline="0" noProof="0" dirty="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t> </a:t>
            </a:r>
            <a:r>
              <a:rPr kumimoji="0" lang="en-CA"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check that </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the IM understood Corporate Values: “Safety always before Production” as part of the communications plan.</a:t>
            </a:r>
          </a:p>
        </p:txBody>
      </p:sp>
      <p:sp>
        <p:nvSpPr>
          <p:cNvPr id="26" name="Text Box 5">
            <a:extLst>
              <a:ext uri="{FF2B5EF4-FFF2-40B4-BE49-F238E27FC236}">
                <a16:creationId xmlns:a16="http://schemas.microsoft.com/office/drawing/2014/main" id="{04FCEA24-3090-4501-B036-CD66B10C68D8}"/>
              </a:ext>
            </a:extLst>
          </p:cNvPr>
          <p:cNvSpPr txBox="1">
            <a:spLocks noChangeArrowheads="1"/>
          </p:cNvSpPr>
          <p:nvPr/>
        </p:nvSpPr>
        <p:spPr bwMode="auto">
          <a:xfrm>
            <a:off x="3002720" y="3001672"/>
            <a:ext cx="2915655" cy="396514"/>
          </a:xfrm>
          <a:prstGeom prst="rect">
            <a:avLst/>
          </a:prstGeom>
          <a:solidFill>
            <a:srgbClr val="FFFF66"/>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had not yet learned (i.e.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carunderstood</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that safety checks must be done before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checks</a:t>
            </a:r>
          </a:p>
        </p:txBody>
      </p:sp>
      <p:sp>
        <p:nvSpPr>
          <p:cNvPr id="27" name="Text Box 4">
            <a:extLst>
              <a:ext uri="{FF2B5EF4-FFF2-40B4-BE49-F238E27FC236}">
                <a16:creationId xmlns:a16="http://schemas.microsoft.com/office/drawing/2014/main" id="{4C4252B8-7885-41F0-A7F0-EFCB5341FD61}"/>
              </a:ext>
            </a:extLst>
          </p:cNvPr>
          <p:cNvSpPr txBox="1">
            <a:spLocks noChangeArrowheads="1"/>
          </p:cNvSpPr>
          <p:nvPr/>
        </p:nvSpPr>
        <p:spPr bwMode="auto">
          <a:xfrm>
            <a:off x="3184094" y="2455025"/>
            <a:ext cx="2460539" cy="396514"/>
          </a:xfrm>
          <a:prstGeom prst="rect">
            <a:avLst/>
          </a:prstGeom>
          <a:solidFill>
            <a:srgbClr val="FF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IM prioritized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Mtce</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work on </a:t>
            </a:r>
            <a:r>
              <a:rPr kumimoji="0" lang="en-US" altLang="en-US" sz="1000" b="0" i="0" u="none" strike="noStrike" kern="0" cap="none" spc="0" normalizeH="0" baseline="0" noProof="0" dirty="0" err="1">
                <a:ln>
                  <a:noFill/>
                </a:ln>
                <a:solidFill>
                  <a:srgbClr val="000000"/>
                </a:solidFill>
                <a:effectLst/>
                <a:uLnTx/>
                <a:uFillTx/>
                <a:latin typeface="Times New Roman" panose="02020603050405020304" pitchFamily="18" charset="0"/>
                <a:ea typeface="ＭＳ Ｐゴシック" panose="020B0600070205080204" pitchFamily="34" charset="-128"/>
                <a:cs typeface="+mn-cs"/>
              </a:rPr>
              <a:t>Prod’n</a:t>
            </a: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 Equipment over Safety Equipment</a:t>
            </a:r>
          </a:p>
        </p:txBody>
      </p:sp>
      <p:sp>
        <p:nvSpPr>
          <p:cNvPr id="28" name="Text Box 3">
            <a:extLst>
              <a:ext uri="{FF2B5EF4-FFF2-40B4-BE49-F238E27FC236}">
                <a16:creationId xmlns:a16="http://schemas.microsoft.com/office/drawing/2014/main" id="{3725D8E8-5A69-4648-B14A-4AAD6A9922CC}"/>
              </a:ext>
            </a:extLst>
          </p:cNvPr>
          <p:cNvSpPr txBox="1">
            <a:spLocks noChangeArrowheads="1"/>
          </p:cNvSpPr>
          <p:nvPr/>
        </p:nvSpPr>
        <p:spPr bwMode="auto">
          <a:xfrm>
            <a:off x="3184093" y="1870688"/>
            <a:ext cx="2460539" cy="396514"/>
          </a:xfrm>
          <a:prstGeom prst="rect">
            <a:avLst/>
          </a:prstGeom>
          <a:solidFill>
            <a:srgbClr val="CC99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000" b="0" i="0" u="none" strike="noStrike" kern="0" cap="none" spc="0" normalizeH="0" baseline="0" noProof="0" dirty="0">
                <a:ln>
                  <a:noFill/>
                </a:ln>
                <a:solidFill>
                  <a:srgbClr val="000000"/>
                </a:solidFill>
                <a:effectLst/>
                <a:uLnTx/>
                <a:uFillTx/>
                <a:latin typeface="Times New Roman" panose="02020603050405020304" pitchFamily="18" charset="0"/>
                <a:ea typeface="ＭＳ Ｐゴシック" panose="020B0600070205080204" pitchFamily="34" charset="-128"/>
                <a:cs typeface="+mn-cs"/>
              </a:rPr>
              <a:t>Industrial Mechanic (IM) did not follow / implement procedure</a:t>
            </a:r>
          </a:p>
        </p:txBody>
      </p:sp>
      <p:sp>
        <p:nvSpPr>
          <p:cNvPr id="29" name="Text Box 8">
            <a:extLst>
              <a:ext uri="{FF2B5EF4-FFF2-40B4-BE49-F238E27FC236}">
                <a16:creationId xmlns:a16="http://schemas.microsoft.com/office/drawing/2014/main" id="{5762A3F2-3353-42AD-A537-D9B45C6096C4}"/>
              </a:ext>
            </a:extLst>
          </p:cNvPr>
          <p:cNvSpPr txBox="1">
            <a:spLocks noChangeArrowheads="1"/>
          </p:cNvSpPr>
          <p:nvPr/>
        </p:nvSpPr>
        <p:spPr bwMode="auto">
          <a:xfrm>
            <a:off x="1831971" y="4403657"/>
            <a:ext cx="5028209" cy="1200329"/>
          </a:xfrm>
          <a:prstGeom prst="rect">
            <a:avLst/>
          </a:prstGeom>
          <a:solidFill>
            <a:srgbClr val="66FFFF"/>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lvl="0" algn="ctr" fontAlgn="auto">
              <a:spcBef>
                <a:spcPct val="50000"/>
              </a:spcBef>
              <a:spcAft>
                <a:spcPts val="0"/>
              </a:spcAft>
              <a:buClr>
                <a:srgbClr val="000000"/>
              </a:buClr>
              <a:buNone/>
              <a:defRPr/>
            </a:pPr>
            <a:r>
              <a:rPr lang="en-US" altLang="en-US" sz="1800" b="0" kern="0" dirty="0">
                <a:solidFill>
                  <a:srgbClr val="000000"/>
                </a:solidFill>
              </a:rPr>
              <a:t>LC-S: The management communications program did not include steps in the communications plan to check that new employees could explain Corporate Values. #1 MLCA</a:t>
            </a:r>
          </a:p>
        </p:txBody>
      </p:sp>
      <p:sp>
        <p:nvSpPr>
          <p:cNvPr id="30" name="AutoShape 22">
            <a:extLst>
              <a:ext uri="{FF2B5EF4-FFF2-40B4-BE49-F238E27FC236}">
                <a16:creationId xmlns:a16="http://schemas.microsoft.com/office/drawing/2014/main" id="{C895CEE8-8B83-43C9-9B4C-5F3C0F89DC05}"/>
              </a:ext>
            </a:extLst>
          </p:cNvPr>
          <p:cNvSpPr>
            <a:spLocks noChangeArrowheads="1"/>
          </p:cNvSpPr>
          <p:nvPr/>
        </p:nvSpPr>
        <p:spPr bwMode="auto">
          <a:xfrm>
            <a:off x="3037135" y="5906205"/>
            <a:ext cx="2881554" cy="301300"/>
          </a:xfrm>
          <a:prstGeom prst="roundRect">
            <a:avLst>
              <a:gd name="adj" fmla="val 50000"/>
            </a:avLst>
          </a:prstGeom>
          <a:solidFill>
            <a:srgbClr val="000000"/>
          </a:solidFill>
          <a:ln w="9525" algn="ctr">
            <a:solidFill>
              <a:srgbClr val="000000"/>
            </a:solidFill>
            <a:round/>
            <a:headEnd/>
            <a:tailEnd/>
          </a:ln>
          <a:effectLst/>
        </p:spPr>
        <p:txBody>
          <a:bodyPr wrap="square" anchor="ctr" anchorCtr="1">
            <a:no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800" b="1" i="0" u="none" strike="noStrike" kern="0" cap="none" spc="0" normalizeH="0" baseline="0" noProof="0" dirty="0">
                <a:ln>
                  <a:noFill/>
                </a:ln>
                <a:solidFill>
                  <a:srgbClr val="FFFFFF"/>
                </a:solidFill>
                <a:effectLst/>
                <a:uLnTx/>
                <a:uFillTx/>
                <a:latin typeface="Times New Roman" panose="02020603050405020304" pitchFamily="18" charset="0"/>
                <a:ea typeface="ＭＳ Ｐゴシック" panose="020B0600070205080204" pitchFamily="34" charset="-128"/>
                <a:cs typeface="+mn-cs"/>
              </a:rPr>
              <a:t>Recommendation!</a:t>
            </a:r>
          </a:p>
        </p:txBody>
      </p:sp>
      <p:sp>
        <p:nvSpPr>
          <p:cNvPr id="32" name="TextBox 31">
            <a:extLst>
              <a:ext uri="{FF2B5EF4-FFF2-40B4-BE49-F238E27FC236}">
                <a16:creationId xmlns:a16="http://schemas.microsoft.com/office/drawing/2014/main" id="{E5EF8FE0-DCF1-45D0-ADF3-12375134868F}"/>
              </a:ext>
            </a:extLst>
          </p:cNvPr>
          <p:cNvSpPr txBox="1"/>
          <p:nvPr/>
        </p:nvSpPr>
        <p:spPr>
          <a:xfrm>
            <a:off x="397663" y="1472752"/>
            <a:ext cx="8044117" cy="2287574"/>
          </a:xfrm>
          <a:prstGeom prst="rect">
            <a:avLst/>
          </a:prstGeom>
          <a:solidFill>
            <a:srgbClr val="000000"/>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A </a:t>
            </a:r>
            <a:r>
              <a:rPr kumimoji="0" lang="en-CA" sz="1800" b="0" i="0" u="sng"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recommendation</a:t>
            </a: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 to address this latent cause: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Improve the “Corporate Values” Communications Plan:</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Confirm the organization has established corporate values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Include steps in the communications plan to confirm that new employees can explain the Corporate Values.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CA" sz="1800" b="0" i="0" u="none" strike="noStrike" kern="0" cap="none" spc="0" normalizeH="0" baseline="0" noProof="0" dirty="0">
                <a:ln>
                  <a:noFill/>
                </a:ln>
                <a:solidFill>
                  <a:srgbClr val="FFFFFF"/>
                </a:solidFill>
                <a:effectLst/>
                <a:highlight>
                  <a:srgbClr val="000000"/>
                </a:highlight>
                <a:uLnTx/>
                <a:uFillTx/>
                <a:latin typeface="Arial" panose="020B0604020202020204" pitchFamily="34" charset="0"/>
                <a:ea typeface="+mn-ea"/>
                <a:cs typeface="+mn-cs"/>
              </a:rPr>
              <a:t>Implement a job observation audit system so management can confirm alignment to corporate values i.e. that the communications plan is effective. </a:t>
            </a:r>
          </a:p>
        </p:txBody>
      </p:sp>
      <p:cxnSp>
        <p:nvCxnSpPr>
          <p:cNvPr id="33" name="Curved Connector 2">
            <a:extLst>
              <a:ext uri="{FF2B5EF4-FFF2-40B4-BE49-F238E27FC236}">
                <a16:creationId xmlns:a16="http://schemas.microsoft.com/office/drawing/2014/main" id="{453FDDC6-B3C3-48A6-BAAE-77FCAF08AE36}"/>
              </a:ext>
            </a:extLst>
          </p:cNvPr>
          <p:cNvCxnSpPr>
            <a:endCxn id="32" idx="1"/>
          </p:cNvCxnSpPr>
          <p:nvPr/>
        </p:nvCxnSpPr>
        <p:spPr bwMode="auto">
          <a:xfrm rot="16200000" flipV="1">
            <a:off x="99240" y="2914963"/>
            <a:ext cx="3282641" cy="2685794"/>
          </a:xfrm>
          <a:prstGeom prst="curvedConnector4">
            <a:avLst>
              <a:gd name="adj1" fmla="val 11640"/>
              <a:gd name="adj2" fmla="val 108511"/>
            </a:avLst>
          </a:prstGeom>
          <a:solidFill>
            <a:srgbClr val="9999FF"/>
          </a:solidFill>
          <a:ln w="76200" cap="flat" cmpd="sng" algn="ctr">
            <a:solidFill>
              <a:srgbClr val="000000"/>
            </a:solidFill>
            <a:prstDash val="sysDot"/>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816870199"/>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7"/>
          <p:cNvSpPr txBox="1">
            <a:spLocks noGrp="1"/>
          </p:cNvSpPr>
          <p:nvPr>
            <p:ph type="body" idx="4294967295"/>
          </p:nvPr>
        </p:nvSpPr>
        <p:spPr>
          <a:xfrm>
            <a:off x="180000" y="828000"/>
            <a:ext cx="8640000" cy="5328000"/>
          </a:xfrm>
          <a:prstGeom prst="rect">
            <a:avLst/>
          </a:prstGeom>
          <a:solidFill>
            <a:srgbClr val="0000CC"/>
          </a:solidFill>
          <a:ln w="9525" cap="flat" cmpd="sng">
            <a:solidFill>
              <a:srgbClr val="0000CC"/>
            </a:solidFill>
            <a:prstDash val="solid"/>
            <a:miter lim="800000"/>
            <a:headEnd type="none" w="sm" len="sm"/>
            <a:tailEnd type="none" w="sm" len="sm"/>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000"/>
              <a:buNone/>
            </a:pPr>
            <a:r>
              <a:rPr lang="en-US" sz="1800" b="1" dirty="0" smtClean="0">
                <a:solidFill>
                  <a:schemeClr val="bg1"/>
                </a:solidFill>
                <a:latin typeface="Arial" panose="020B0604020202020204" pitchFamily="34" charset="0"/>
                <a:ea typeface="Arial"/>
                <a:cs typeface="Arial" panose="020B0604020202020204" pitchFamily="34" charset="0"/>
                <a:sym typeface="Arial"/>
              </a:rPr>
              <a:t>Please confer (pen-to-paper, Zoom Chat Open)</a:t>
            </a:r>
          </a:p>
          <a:p>
            <a:pPr marL="0" lvl="0" indent="0" algn="l" rtl="0">
              <a:lnSpc>
                <a:spcPct val="90000"/>
              </a:lnSpc>
              <a:spcBef>
                <a:spcPts val="0"/>
              </a:spcBef>
              <a:spcAft>
                <a:spcPts val="0"/>
              </a:spcAft>
              <a:buClr>
                <a:srgbClr val="000000"/>
              </a:buClr>
              <a:buSzPts val="2000"/>
              <a:buNone/>
            </a:pPr>
            <a:r>
              <a:rPr lang="en-US" sz="1800" b="1" dirty="0" smtClean="0">
                <a:solidFill>
                  <a:schemeClr val="bg1"/>
                </a:solidFill>
                <a:latin typeface="Arial" panose="020B0604020202020204" pitchFamily="34" charset="0"/>
                <a:ea typeface="Arial"/>
                <a:cs typeface="Arial" panose="020B0604020202020204" pitchFamily="34" charset="0"/>
                <a:sym typeface="Arial"/>
              </a:rPr>
              <a:t>What recommendations could you make for each latent cause?</a:t>
            </a:r>
            <a:endParaRPr sz="1800" b="1" dirty="0">
              <a:solidFill>
                <a:schemeClr val="bg1"/>
              </a:solidFill>
              <a:latin typeface="Arial" panose="020B0604020202020204" pitchFamily="34" charset="0"/>
              <a:ea typeface="Arial"/>
              <a:cs typeface="Arial" panose="020B0604020202020204" pitchFamily="34" charset="0"/>
              <a:sym typeface="Arial"/>
            </a:endParaRPr>
          </a:p>
          <a:p>
            <a:pPr marL="360000" lvl="1" indent="-360000" algn="l" rtl="0">
              <a:lnSpc>
                <a:spcPct val="90000"/>
              </a:lnSpc>
              <a:spcBef>
                <a:spcPts val="0"/>
              </a:spcBef>
              <a:spcAft>
                <a:spcPts val="0"/>
              </a:spcAft>
              <a:buClr>
                <a:srgbClr val="000000"/>
              </a:buClr>
              <a:buSzPts val="2000"/>
              <a:buFont typeface="Noto Sans Symbols"/>
              <a:buChar char="⮚"/>
            </a:pPr>
            <a:endParaRPr lang="en-US" sz="1800" dirty="0" smtClean="0">
              <a:solidFill>
                <a:schemeClr val="bg1"/>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Tx/>
              <a:buSzPct val="100000"/>
              <a:buFont typeface="Noto Sans Symbols"/>
              <a:buChar char="⮚"/>
            </a:pPr>
            <a:r>
              <a:rPr lang="en-US" sz="1800" dirty="0" smtClean="0">
                <a:solidFill>
                  <a:schemeClr val="bg1"/>
                </a:solidFill>
                <a:latin typeface="Arial" panose="020B0604020202020204" pitchFamily="34" charset="0"/>
                <a:cs typeface="Arial" panose="020B0604020202020204" pitchFamily="34" charset="0"/>
                <a:sym typeface="Arial"/>
              </a:rPr>
              <a:t>LC1-S: The leadership program did not include a standard to specify the roles and responsibilities for oversight to drive accountability for safe operation and maintenance of the tailings storage facility. RME#1 MLCA</a:t>
            </a:r>
          </a:p>
          <a:p>
            <a:pPr marL="360000" lvl="1" indent="-360000">
              <a:lnSpc>
                <a:spcPct val="90000"/>
              </a:lnSpc>
              <a:spcBef>
                <a:spcPts val="0"/>
              </a:spcBef>
              <a:spcAft>
                <a:spcPts val="0"/>
              </a:spcAft>
              <a:buClrTx/>
              <a:buSzPct val="100000"/>
              <a:buFont typeface="Noto Sans Symbols"/>
              <a:buChar char="⮚"/>
            </a:pPr>
            <a:endParaRPr lang="en-US" sz="1800" dirty="0">
              <a:solidFill>
                <a:schemeClr val="bg1"/>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Tx/>
              <a:buSzPct val="100000"/>
              <a:buFont typeface="Noto Sans Symbols"/>
              <a:buChar char="⮚"/>
            </a:pPr>
            <a:r>
              <a:rPr lang="en-US" sz="1800" dirty="0" smtClean="0">
                <a:solidFill>
                  <a:schemeClr val="bg1"/>
                </a:solidFill>
                <a:latin typeface="Arial" panose="020B0604020202020204" pitchFamily="34" charset="0"/>
                <a:cs typeface="Arial" panose="020B0604020202020204" pitchFamily="34" charset="0"/>
                <a:sym typeface="Arial"/>
              </a:rPr>
              <a:t>LC2-</a:t>
            </a:r>
            <a:r>
              <a:rPr lang="en-US" sz="1800" dirty="0">
                <a:solidFill>
                  <a:schemeClr val="bg1"/>
                </a:solidFill>
                <a:latin typeface="Arial" panose="020B0604020202020204" pitchFamily="34" charset="0"/>
                <a:cs typeface="Arial" panose="020B0604020202020204" pitchFamily="34" charset="0"/>
                <a:sym typeface="Arial"/>
              </a:rPr>
              <a:t>S</a:t>
            </a:r>
            <a:r>
              <a:rPr lang="en-US" sz="1800" dirty="0" smtClean="0">
                <a:solidFill>
                  <a:schemeClr val="bg1"/>
                </a:solidFill>
                <a:latin typeface="Arial" panose="020B0604020202020204" pitchFamily="34" charset="0"/>
                <a:cs typeface="Arial" panose="020B0604020202020204" pitchFamily="34" charset="0"/>
                <a:sym typeface="Arial"/>
              </a:rPr>
              <a:t>: </a:t>
            </a:r>
            <a:r>
              <a:rPr lang="en-US" sz="1800" dirty="0" smtClean="0">
                <a:solidFill>
                  <a:schemeClr val="bg1"/>
                </a:solidFill>
                <a:latin typeface="Arial" panose="020B0604020202020204" pitchFamily="34" charset="0"/>
                <a:ea typeface="Arial"/>
                <a:cs typeface="Arial" panose="020B0604020202020204" pitchFamily="34" charset="0"/>
                <a:sym typeface="Arial"/>
              </a:rPr>
              <a:t>The </a:t>
            </a:r>
            <a:r>
              <a:rPr lang="en-US" sz="1800" dirty="0">
                <a:solidFill>
                  <a:schemeClr val="bg1"/>
                </a:solidFill>
                <a:latin typeface="Arial" panose="020B0604020202020204" pitchFamily="34" charset="0"/>
                <a:ea typeface="Arial"/>
                <a:cs typeface="Arial" panose="020B0604020202020204" pitchFamily="34" charset="0"/>
                <a:sym typeface="Arial"/>
              </a:rPr>
              <a:t>risk assessment program </a:t>
            </a:r>
            <a:r>
              <a:rPr lang="en-US" sz="1800" dirty="0" smtClean="0">
                <a:solidFill>
                  <a:schemeClr val="bg1"/>
                </a:solidFill>
                <a:latin typeface="Arial" panose="020B0604020202020204" pitchFamily="34" charset="0"/>
                <a:ea typeface="Arial"/>
                <a:cs typeface="Arial" panose="020B0604020202020204" pitchFamily="34" charset="0"/>
                <a:sym typeface="Arial"/>
              </a:rPr>
              <a:t>did not include a standard to identify </a:t>
            </a:r>
            <a:r>
              <a:rPr lang="en-US" sz="1800" dirty="0">
                <a:solidFill>
                  <a:schemeClr val="bg1"/>
                </a:solidFill>
                <a:latin typeface="Arial" panose="020B0604020202020204" pitchFamily="34" charset="0"/>
                <a:ea typeface="Arial"/>
                <a:cs typeface="Arial" panose="020B0604020202020204" pitchFamily="34" charset="0"/>
                <a:sym typeface="Arial"/>
              </a:rPr>
              <a:t>and </a:t>
            </a:r>
            <a:r>
              <a:rPr lang="en-US" sz="1800" dirty="0" smtClean="0">
                <a:solidFill>
                  <a:schemeClr val="bg1"/>
                </a:solidFill>
                <a:latin typeface="Arial" panose="020B0604020202020204" pitchFamily="34" charset="0"/>
                <a:ea typeface="Arial"/>
                <a:cs typeface="Arial" panose="020B0604020202020204" pitchFamily="34" charset="0"/>
                <a:sym typeface="Arial"/>
              </a:rPr>
              <a:t>assess </a:t>
            </a:r>
            <a:r>
              <a:rPr lang="en-US" sz="1800" dirty="0">
                <a:solidFill>
                  <a:schemeClr val="bg1"/>
                </a:solidFill>
                <a:latin typeface="Arial" panose="020B0604020202020204" pitchFamily="34" charset="0"/>
                <a:ea typeface="Arial"/>
                <a:cs typeface="Arial" panose="020B0604020202020204" pitchFamily="34" charset="0"/>
                <a:sym typeface="Arial"/>
              </a:rPr>
              <a:t>hazards of the TSF foundation and hydraulic conditions while the TSF was in </a:t>
            </a:r>
            <a:r>
              <a:rPr lang="en-US" sz="1800" dirty="0" smtClean="0">
                <a:solidFill>
                  <a:schemeClr val="bg1"/>
                </a:solidFill>
                <a:latin typeface="Arial" panose="020B0604020202020204" pitchFamily="34" charset="0"/>
                <a:ea typeface="Arial"/>
                <a:cs typeface="Arial" panose="020B0604020202020204" pitchFamily="34" charset="0"/>
                <a:sym typeface="Arial"/>
              </a:rPr>
              <a:t>operation. #2 RA&amp;MR</a:t>
            </a:r>
            <a:endParaRPr lang="en-US" sz="1800" dirty="0">
              <a:solidFill>
                <a:schemeClr val="bg1"/>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Tx/>
              <a:buSzPct val="100000"/>
              <a:buFont typeface="Noto Sans Symbols"/>
              <a:buChar char="⮚"/>
            </a:pPr>
            <a:endParaRPr lang="en-US" sz="1800" dirty="0" smtClean="0">
              <a:solidFill>
                <a:schemeClr val="bg1"/>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Tx/>
              <a:buSzPct val="100000"/>
              <a:buFont typeface="Noto Sans Symbols"/>
              <a:buChar char="⮚"/>
            </a:pPr>
            <a:r>
              <a:rPr lang="en-US" sz="1800" dirty="0" smtClean="0">
                <a:solidFill>
                  <a:schemeClr val="bg1"/>
                </a:solidFill>
                <a:latin typeface="Arial" panose="020B0604020202020204" pitchFamily="34" charset="0"/>
                <a:cs typeface="Arial" panose="020B0604020202020204" pitchFamily="34" charset="0"/>
                <a:sym typeface="Arial"/>
              </a:rPr>
              <a:t>LC3-</a:t>
            </a:r>
            <a:r>
              <a:rPr lang="en-US" sz="1800" dirty="0">
                <a:solidFill>
                  <a:schemeClr val="bg1"/>
                </a:solidFill>
                <a:latin typeface="Arial" panose="020B0604020202020204" pitchFamily="34" charset="0"/>
                <a:cs typeface="Arial" panose="020B0604020202020204" pitchFamily="34" charset="0"/>
                <a:sym typeface="Arial"/>
              </a:rPr>
              <a:t>S</a:t>
            </a:r>
            <a:r>
              <a:rPr lang="en-US" sz="1800" dirty="0" smtClean="0">
                <a:solidFill>
                  <a:schemeClr val="bg1"/>
                </a:solidFill>
                <a:latin typeface="Arial" panose="020B0604020202020204" pitchFamily="34" charset="0"/>
                <a:cs typeface="Arial" panose="020B0604020202020204" pitchFamily="34" charset="0"/>
                <a:sym typeface="Arial"/>
              </a:rPr>
              <a:t>: </a:t>
            </a:r>
            <a:r>
              <a:rPr lang="en-CA" sz="1800" dirty="0" smtClean="0">
                <a:solidFill>
                  <a:schemeClr val="bg1"/>
                </a:solidFill>
                <a:latin typeface="Arial" panose="020B0604020202020204" pitchFamily="34" charset="0"/>
                <a:ea typeface="Arial"/>
                <a:cs typeface="Arial" panose="020B0604020202020204" pitchFamily="34" charset="0"/>
                <a:sym typeface="Arial"/>
              </a:rPr>
              <a:t>The </a:t>
            </a:r>
            <a:r>
              <a:rPr lang="en-CA" sz="1800" dirty="0">
                <a:solidFill>
                  <a:schemeClr val="bg1"/>
                </a:solidFill>
                <a:latin typeface="Arial" panose="020B0604020202020204" pitchFamily="34" charset="0"/>
                <a:ea typeface="Arial"/>
                <a:cs typeface="Arial" panose="020B0604020202020204" pitchFamily="34" charset="0"/>
                <a:sym typeface="Arial"/>
              </a:rPr>
              <a:t>design program </a:t>
            </a:r>
            <a:r>
              <a:rPr lang="en-CA" sz="1800" dirty="0" smtClean="0">
                <a:solidFill>
                  <a:schemeClr val="bg1"/>
                </a:solidFill>
                <a:latin typeface="Arial" panose="020B0604020202020204" pitchFamily="34" charset="0"/>
                <a:ea typeface="Arial"/>
                <a:cs typeface="Arial" panose="020B0604020202020204" pitchFamily="34" charset="0"/>
                <a:sym typeface="Arial"/>
              </a:rPr>
              <a:t>standard for </a:t>
            </a:r>
            <a:r>
              <a:rPr lang="en-CA" sz="1800" dirty="0">
                <a:solidFill>
                  <a:schemeClr val="bg1"/>
                </a:solidFill>
                <a:latin typeface="Arial" panose="020B0604020202020204" pitchFamily="34" charset="0"/>
                <a:ea typeface="Arial"/>
                <a:cs typeface="Arial" panose="020B0604020202020204" pitchFamily="34" charset="0"/>
                <a:sym typeface="Arial"/>
              </a:rPr>
              <a:t>applying the factors of safety during the design phase of the TSF project did not reference the necessary calculation guidelines from the Mining Association of Canada</a:t>
            </a:r>
            <a:r>
              <a:rPr lang="en-CA" sz="1800" dirty="0" smtClean="0">
                <a:solidFill>
                  <a:schemeClr val="bg1"/>
                </a:solidFill>
                <a:latin typeface="Arial" panose="020B0604020202020204" pitchFamily="34" charset="0"/>
                <a:ea typeface="Arial"/>
                <a:cs typeface="Arial" panose="020B0604020202020204" pitchFamily="34" charset="0"/>
                <a:sym typeface="Arial"/>
              </a:rPr>
              <a:t>. #7 DC&amp;SU</a:t>
            </a:r>
            <a:endParaRPr lang="en-US" sz="1800" dirty="0">
              <a:solidFill>
                <a:schemeClr val="bg1"/>
              </a:solidFill>
              <a:latin typeface="Arial" panose="020B0604020202020204" pitchFamily="34" charset="0"/>
              <a:ea typeface="Arial"/>
              <a:cs typeface="Arial" panose="020B0604020202020204" pitchFamily="34" charset="0"/>
              <a:sym typeface="Arial"/>
            </a:endParaRPr>
          </a:p>
          <a:p>
            <a:pPr marL="360000" lvl="1" indent="-360000">
              <a:lnSpc>
                <a:spcPct val="90000"/>
              </a:lnSpc>
              <a:spcBef>
                <a:spcPts val="0"/>
              </a:spcBef>
              <a:spcAft>
                <a:spcPts val="0"/>
              </a:spcAft>
              <a:buClrTx/>
              <a:buSzPct val="100000"/>
              <a:buFont typeface="Noto Sans Symbols"/>
              <a:buChar char="⮚"/>
            </a:pPr>
            <a:endParaRPr lang="en-US" sz="1800" dirty="0">
              <a:solidFill>
                <a:schemeClr val="bg1"/>
              </a:solidFill>
              <a:latin typeface="Arial" panose="020B0604020202020204" pitchFamily="34" charset="0"/>
              <a:cs typeface="Arial" panose="020B0604020202020204" pitchFamily="34" charset="0"/>
              <a:sym typeface="Arial"/>
            </a:endParaRPr>
          </a:p>
          <a:p>
            <a:pPr marL="360000" lvl="1" indent="-360000">
              <a:lnSpc>
                <a:spcPct val="90000"/>
              </a:lnSpc>
              <a:spcBef>
                <a:spcPts val="0"/>
              </a:spcBef>
              <a:spcAft>
                <a:spcPts val="0"/>
              </a:spcAft>
              <a:buClrTx/>
              <a:buSzPct val="100000"/>
              <a:buFont typeface="Noto Sans Symbols"/>
              <a:buChar char="⮚"/>
            </a:pPr>
            <a:r>
              <a:rPr lang="en-US" sz="1800" dirty="0" smtClean="0">
                <a:solidFill>
                  <a:schemeClr val="bg1"/>
                </a:solidFill>
                <a:latin typeface="Arial" panose="020B0604020202020204" pitchFamily="34" charset="0"/>
                <a:cs typeface="Arial" panose="020B0604020202020204" pitchFamily="34" charset="0"/>
                <a:sym typeface="Arial"/>
              </a:rPr>
              <a:t>LC4-</a:t>
            </a:r>
            <a:r>
              <a:rPr lang="en-US" sz="1800" dirty="0">
                <a:solidFill>
                  <a:schemeClr val="bg1"/>
                </a:solidFill>
                <a:latin typeface="Arial" panose="020B0604020202020204" pitchFamily="34" charset="0"/>
                <a:cs typeface="Arial" panose="020B0604020202020204" pitchFamily="34" charset="0"/>
                <a:sym typeface="Arial"/>
              </a:rPr>
              <a:t>C</a:t>
            </a:r>
            <a:r>
              <a:rPr lang="en-US" sz="1800" dirty="0" smtClean="0">
                <a:solidFill>
                  <a:schemeClr val="bg1"/>
                </a:solidFill>
                <a:latin typeface="Arial" panose="020B0604020202020204" pitchFamily="34" charset="0"/>
                <a:cs typeface="Arial" panose="020B0604020202020204" pitchFamily="34" charset="0"/>
                <a:sym typeface="Arial"/>
              </a:rPr>
              <a:t>: </a:t>
            </a:r>
            <a:r>
              <a:rPr lang="en-US" sz="1800" dirty="0">
                <a:solidFill>
                  <a:schemeClr val="bg1"/>
                </a:solidFill>
                <a:latin typeface="Arial" panose="020B0604020202020204" pitchFamily="34" charset="0"/>
                <a:cs typeface="Arial" panose="020B0604020202020204" pitchFamily="34" charset="0"/>
                <a:sym typeface="Arial"/>
              </a:rPr>
              <a:t>The </a:t>
            </a:r>
            <a:r>
              <a:rPr lang="en-US" sz="1800" dirty="0" smtClean="0">
                <a:solidFill>
                  <a:schemeClr val="bg1"/>
                </a:solidFill>
                <a:latin typeface="Arial" panose="020B0604020202020204" pitchFamily="34" charset="0"/>
                <a:cs typeface="Arial" panose="020B0604020202020204" pitchFamily="34" charset="0"/>
                <a:sym typeface="Arial"/>
              </a:rPr>
              <a:t>employee competency work process (standard) </a:t>
            </a:r>
            <a:r>
              <a:rPr lang="en-US" sz="1800" dirty="0">
                <a:solidFill>
                  <a:schemeClr val="bg1"/>
                </a:solidFill>
                <a:latin typeface="Arial" panose="020B0604020202020204" pitchFamily="34" charset="0"/>
                <a:cs typeface="Arial" panose="020B0604020202020204" pitchFamily="34" charset="0"/>
                <a:sym typeface="Arial"/>
              </a:rPr>
              <a:t>for recruiting, selecting, and hiring new </a:t>
            </a:r>
            <a:r>
              <a:rPr lang="en-US" sz="1800" dirty="0" smtClean="0">
                <a:solidFill>
                  <a:schemeClr val="bg1"/>
                </a:solidFill>
                <a:latin typeface="Arial" panose="020B0604020202020204" pitchFamily="34" charset="0"/>
                <a:cs typeface="Arial" panose="020B0604020202020204" pitchFamily="34" charset="0"/>
                <a:sym typeface="Arial"/>
              </a:rPr>
              <a:t>employees was not followed. RME #9 EC&amp;T</a:t>
            </a:r>
            <a:endParaRPr lang="en-US" sz="1800" b="1" dirty="0">
              <a:solidFill>
                <a:schemeClr val="bg1"/>
              </a:solidFill>
              <a:latin typeface="Arial" panose="020B0604020202020204" pitchFamily="34" charset="0"/>
              <a:ea typeface="Arial"/>
              <a:cs typeface="Arial" panose="020B0604020202020204" pitchFamily="34" charset="0"/>
              <a:sym typeface="Arial"/>
            </a:endParaRPr>
          </a:p>
        </p:txBody>
      </p:sp>
      <p:sp>
        <p:nvSpPr>
          <p:cNvPr id="4"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algn="r" eaLnBrk="1" hangingPunct="1">
              <a:spcBef>
                <a:spcPct val="0"/>
              </a:spcBef>
              <a:buClrTx/>
              <a:buSzTx/>
              <a:buFontTx/>
              <a:buNone/>
            </a:pPr>
            <a:fld id="{B9AAC074-F6B9-4EA4-AE59-9F9DB0D8944F}" type="slidenum">
              <a:rPr lang="en-US" altLang="en-US" sz="1200" b="1" i="1">
                <a:solidFill>
                  <a:srgbClr val="000000"/>
                </a:solidFill>
                <a:latin typeface="Arial" panose="020B0604020202020204" pitchFamily="34" charset="0"/>
                <a:cs typeface="Arial" panose="020B0604020202020204" pitchFamily="34" charset="0"/>
              </a:rPr>
              <a:pPr algn="r" eaLnBrk="1" hangingPunct="1">
                <a:spcBef>
                  <a:spcPct val="0"/>
                </a:spcBef>
                <a:buClrTx/>
                <a:buSzTx/>
                <a:buFontTx/>
                <a:buNone/>
              </a:pPr>
              <a:t>11</a:t>
            </a:fld>
            <a:endParaRPr lang="en-US" altLang="en-US" sz="1200" b="1" i="1">
              <a:solidFill>
                <a:srgbClr val="000000"/>
              </a:solidFill>
              <a:latin typeface="Arial" panose="020B0604020202020204" pitchFamily="34" charset="0"/>
              <a:cs typeface="Arial" panose="020B0604020202020204" pitchFamily="34" charset="0"/>
            </a:endParaRPr>
          </a:p>
        </p:txBody>
      </p:sp>
      <p:sp>
        <p:nvSpPr>
          <p:cNvPr id="6" name="Rectangle 2"/>
          <p:cNvSpPr>
            <a:spLocks noChangeArrowheads="1"/>
          </p:cNvSpPr>
          <p:nvPr/>
        </p:nvSpPr>
        <p:spPr bwMode="auto">
          <a:xfrm>
            <a:off x="180000" y="216000"/>
            <a:ext cx="8640000" cy="504000"/>
          </a:xfrm>
          <a:prstGeom prst="rect">
            <a:avLst/>
          </a:prstGeom>
          <a:solidFill>
            <a:srgbClr val="0000CC"/>
          </a:solidFill>
          <a:ln>
            <a:solidFill>
              <a:srgbClr val="0000CC"/>
            </a:solidFill>
          </a:ln>
          <a:extLst/>
        </p:spPr>
        <p:txBody>
          <a:bodyPr anchor="ctr"/>
          <a:lstStyle/>
          <a:p>
            <a:pPr>
              <a:buFont typeface="Arial" panose="020B0604020202020204" pitchFamily="34" charset="0"/>
              <a:buNone/>
            </a:pPr>
            <a:r>
              <a:rPr lang="en-US" altLang="en-US" sz="2400" b="0" dirty="0" smtClean="0">
                <a:solidFill>
                  <a:schemeClr val="bg1"/>
                </a:solidFill>
                <a:latin typeface="Arial" panose="020B0604020202020204" pitchFamily="34" charset="0"/>
                <a:cs typeface="Arial" panose="020B0604020202020204" pitchFamily="34" charset="0"/>
              </a:rPr>
              <a:t>ALE #2: Mount </a:t>
            </a:r>
            <a:r>
              <a:rPr lang="en-US" altLang="en-US" sz="2400" b="0" dirty="0" err="1">
                <a:solidFill>
                  <a:schemeClr val="bg1"/>
                </a:solidFill>
                <a:latin typeface="Arial" panose="020B0604020202020204" pitchFamily="34" charset="0"/>
                <a:cs typeface="Arial" panose="020B0604020202020204" pitchFamily="34" charset="0"/>
              </a:rPr>
              <a:t>Polley</a:t>
            </a:r>
            <a:r>
              <a:rPr lang="en-US" altLang="en-US" sz="2400" b="0" dirty="0">
                <a:solidFill>
                  <a:schemeClr val="bg1"/>
                </a:solidFill>
                <a:latin typeface="Arial" panose="020B0604020202020204" pitchFamily="34" charset="0"/>
                <a:cs typeface="Arial" panose="020B0604020202020204" pitchFamily="34" charset="0"/>
              </a:rPr>
              <a:t> LI: Recommendations Based on </a:t>
            </a:r>
            <a:r>
              <a:rPr lang="en-US" altLang="en-US" sz="2400" b="0" dirty="0" smtClean="0">
                <a:solidFill>
                  <a:schemeClr val="bg1"/>
                </a:solidFill>
                <a:latin typeface="Arial" panose="020B0604020202020204" pitchFamily="34" charset="0"/>
                <a:cs typeface="Arial" panose="020B0604020202020204" pitchFamily="34" charset="0"/>
              </a:rPr>
              <a:t>LCs?</a:t>
            </a:r>
            <a:endParaRPr lang="en-US" altLang="en-US" sz="2400" b="0" dirty="0">
              <a:solidFill>
                <a:schemeClr val="bg1"/>
              </a:solidFill>
              <a:latin typeface="Arial" panose="020B0604020202020204" pitchFamily="34" charset="0"/>
              <a:cs typeface="Arial" panose="020B0604020202020204" pitchFamily="34" charset="0"/>
            </a:endParaRPr>
          </a:p>
        </p:txBody>
      </p:sp>
      <p:sp>
        <p:nvSpPr>
          <p:cNvPr id="7"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2218137716"/>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CA"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U</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categories and sub-categories from the C&amp;E Model to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test and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determine if you </a:t>
            </a: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have “drilled sufficiently deep” </a:t>
            </a:r>
            <a:r>
              <a:rPr lang="en-US" altLang="en-US"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 check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if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you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have drilled down to the latent cause,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or still at a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basic or intermediate</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cause</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As will be seen, the nature of the recommendation can also reveal if you are at a latent cause or still at a basic cause. </a:t>
            </a: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0" marR="0" lvl="0" indent="0" algn="l" defTabSz="914400" rtl="0" eaLnBrk="0" fontAlgn="base" latinLnBrk="0" hangingPunct="0">
              <a:lnSpc>
                <a:spcPct val="100000"/>
              </a:lnSpc>
              <a:spcBef>
                <a:spcPts val="0"/>
              </a:spcBef>
              <a:spcAft>
                <a:spcPct val="0"/>
              </a:spcAft>
              <a:buClrTx/>
              <a:buSzPct val="100000"/>
              <a:buFont typeface="Arial" panose="020B0604020202020204" pitchFamily="34" charset="0"/>
              <a:buNone/>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rPr>
              <a:t>Test </a:t>
            </a:r>
            <a:r>
              <a:rPr kumimoji="0" lang="en-CA"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and Differentiate – Immediate, Basic, and Latent Causes:</a:t>
            </a:r>
            <a:endParaRPr kumimoji="0" lang="en-CA"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13"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6" name="Rectangle 5">
            <a:extLst>
              <a:ext uri="{FF2B5EF4-FFF2-40B4-BE49-F238E27FC236}">
                <a16:creationId xmlns:a16="http://schemas.microsoft.com/office/drawing/2014/main" id="{D79DE476-410C-4FEC-A77E-E621F2E16905}"/>
              </a:ext>
            </a:extLst>
          </p:cNvPr>
          <p:cNvSpPr/>
          <p:nvPr/>
        </p:nvSpPr>
        <p:spPr>
          <a:xfrm>
            <a:off x="786387" y="3429000"/>
            <a:ext cx="7313613" cy="2451100"/>
          </a:xfrm>
          <a:prstGeom prst="rect">
            <a:avLst/>
          </a:prstGeom>
          <a:solidFill>
            <a:srgbClr val="FFFFFF"/>
          </a:solidFill>
          <a:ln w="25400" cap="flat" cmpd="sng" algn="ctr">
            <a:solidFill>
              <a:srgbClr val="000000"/>
            </a:solidFill>
            <a:prstDash val="soli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srgbClr val="FFFFFF"/>
              </a:solidFill>
              <a:effectLst/>
              <a:uLnTx/>
              <a:uFillTx/>
              <a:latin typeface="Arial"/>
              <a:ea typeface="+mn-ea"/>
              <a:cs typeface="+mn-cs"/>
            </a:endParaRPr>
          </a:p>
        </p:txBody>
      </p:sp>
      <p:sp>
        <p:nvSpPr>
          <p:cNvPr id="7" name="Text Box 5">
            <a:extLst>
              <a:ext uri="{FF2B5EF4-FFF2-40B4-BE49-F238E27FC236}">
                <a16:creationId xmlns:a16="http://schemas.microsoft.com/office/drawing/2014/main" id="{AEDB7FBB-D324-4C63-B7FE-22AA6D016C39}"/>
              </a:ext>
            </a:extLst>
          </p:cNvPr>
          <p:cNvSpPr txBox="1">
            <a:spLocks noChangeArrowheads="1"/>
          </p:cNvSpPr>
          <p:nvPr/>
        </p:nvSpPr>
        <p:spPr bwMode="auto">
          <a:xfrm>
            <a:off x="3147000" y="3776663"/>
            <a:ext cx="1828800" cy="284162"/>
          </a:xfrm>
          <a:prstGeom prst="rect">
            <a:avLst/>
          </a:prstGeom>
          <a:solidFill>
            <a:srgbClr val="000000"/>
          </a:solidFill>
          <a:ln w="9525"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Cause</a:t>
            </a:r>
          </a:p>
        </p:txBody>
      </p:sp>
      <p:sp>
        <p:nvSpPr>
          <p:cNvPr id="10" name="Text Box 7">
            <a:extLst>
              <a:ext uri="{FF2B5EF4-FFF2-40B4-BE49-F238E27FC236}">
                <a16:creationId xmlns:a16="http://schemas.microsoft.com/office/drawing/2014/main" id="{D8C58D90-71B4-4EF5-998E-A6D86AF8623A}"/>
              </a:ext>
            </a:extLst>
          </p:cNvPr>
          <p:cNvSpPr txBox="1">
            <a:spLocks noChangeArrowheads="1"/>
          </p:cNvSpPr>
          <p:nvPr/>
        </p:nvSpPr>
        <p:spPr bwMode="auto">
          <a:xfrm>
            <a:off x="2308800" y="4475163"/>
            <a:ext cx="3505200" cy="284162"/>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Cause</a:t>
            </a:r>
          </a:p>
        </p:txBody>
      </p:sp>
      <p:sp>
        <p:nvSpPr>
          <p:cNvPr id="11" name="Text Box 8">
            <a:extLst>
              <a:ext uri="{FF2B5EF4-FFF2-40B4-BE49-F238E27FC236}">
                <a16:creationId xmlns:a16="http://schemas.microsoft.com/office/drawing/2014/main" id="{877E367A-5C8F-4335-96DE-542EF6B99B2D}"/>
              </a:ext>
            </a:extLst>
          </p:cNvPr>
          <p:cNvSpPr txBox="1">
            <a:spLocks noChangeArrowheads="1"/>
          </p:cNvSpPr>
          <p:nvPr/>
        </p:nvSpPr>
        <p:spPr bwMode="auto">
          <a:xfrm>
            <a:off x="2308800" y="4772025"/>
            <a:ext cx="3505200" cy="284163"/>
          </a:xfrm>
          <a:prstGeom prst="rect">
            <a:avLst/>
          </a:prstGeom>
          <a:solidFill>
            <a:srgbClr val="000000"/>
          </a:solidFill>
          <a:ln w="9525" algn="ctr">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Weakness in Management System Element #.</a:t>
            </a:r>
          </a:p>
        </p:txBody>
      </p:sp>
      <p:sp>
        <p:nvSpPr>
          <p:cNvPr id="14" name="Text Box 10">
            <a:extLst>
              <a:ext uri="{FF2B5EF4-FFF2-40B4-BE49-F238E27FC236}">
                <a16:creationId xmlns:a16="http://schemas.microsoft.com/office/drawing/2014/main" id="{83113A39-3A5A-43A9-B6B6-87FE6D60A078}"/>
              </a:ext>
            </a:extLst>
          </p:cNvPr>
          <p:cNvSpPr txBox="1">
            <a:spLocks noChangeArrowheads="1"/>
          </p:cNvSpPr>
          <p:nvPr/>
        </p:nvSpPr>
        <p:spPr bwMode="auto">
          <a:xfrm>
            <a:off x="5966400" y="3617913"/>
            <a:ext cx="2057400" cy="64928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Engineering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Job Factors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Personal Factors</a:t>
            </a:r>
          </a:p>
        </p:txBody>
      </p:sp>
      <p:sp>
        <p:nvSpPr>
          <p:cNvPr id="15" name="Text Box 11">
            <a:extLst>
              <a:ext uri="{FF2B5EF4-FFF2-40B4-BE49-F238E27FC236}">
                <a16:creationId xmlns:a16="http://schemas.microsoft.com/office/drawing/2014/main" id="{DEE675A8-1F5A-4EB5-A017-3A83248EBB34}"/>
              </a:ext>
            </a:extLst>
          </p:cNvPr>
          <p:cNvSpPr txBox="1">
            <a:spLocks noChangeArrowheads="1"/>
          </p:cNvSpPr>
          <p:nvPr/>
        </p:nvSpPr>
        <p:spPr bwMode="auto">
          <a:xfrm>
            <a:off x="1013400" y="3703638"/>
            <a:ext cx="990600" cy="46672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Basic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16" name="Text Box 14">
            <a:extLst>
              <a:ext uri="{FF2B5EF4-FFF2-40B4-BE49-F238E27FC236}">
                <a16:creationId xmlns:a16="http://schemas.microsoft.com/office/drawing/2014/main" id="{C132B17F-9E5C-48A1-B599-54B2F734A21F}"/>
              </a:ext>
            </a:extLst>
          </p:cNvPr>
          <p:cNvSpPr txBox="1">
            <a:spLocks noChangeArrowheads="1"/>
          </p:cNvSpPr>
          <p:nvPr/>
        </p:nvSpPr>
        <p:spPr bwMode="auto">
          <a:xfrm>
            <a:off x="1013400" y="4508500"/>
            <a:ext cx="990600" cy="46672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Latent </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Cause</a:t>
            </a:r>
          </a:p>
        </p:txBody>
      </p:sp>
      <p:sp>
        <p:nvSpPr>
          <p:cNvPr id="17" name="Text Box 15">
            <a:extLst>
              <a:ext uri="{FF2B5EF4-FFF2-40B4-BE49-F238E27FC236}">
                <a16:creationId xmlns:a16="http://schemas.microsoft.com/office/drawing/2014/main" id="{5C8DCF97-45B4-4C72-9449-C14E66A90E28}"/>
              </a:ext>
            </a:extLst>
          </p:cNvPr>
          <p:cNvSpPr txBox="1">
            <a:spLocks noChangeArrowheads="1"/>
          </p:cNvSpPr>
          <p:nvPr/>
        </p:nvSpPr>
        <p:spPr bwMode="auto">
          <a:xfrm>
            <a:off x="5966400" y="4452938"/>
            <a:ext cx="2057400" cy="649287"/>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Program</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Standards</a:t>
            </a:r>
            <a:b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br>
            <a:r>
              <a:rPr kumimoji="0" lang="en-US" altLang="en-US" sz="1200" b="0"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Inadequate Compliance</a:t>
            </a:r>
          </a:p>
        </p:txBody>
      </p:sp>
      <p:cxnSp>
        <p:nvCxnSpPr>
          <p:cNvPr id="18" name="AutoShape 17">
            <a:extLst>
              <a:ext uri="{FF2B5EF4-FFF2-40B4-BE49-F238E27FC236}">
                <a16:creationId xmlns:a16="http://schemas.microsoft.com/office/drawing/2014/main" id="{506AC946-7965-42D6-8413-217BBC087EE1}"/>
              </a:ext>
            </a:extLst>
          </p:cNvPr>
          <p:cNvCxnSpPr>
            <a:cxnSpLocks noChangeShapeType="1"/>
            <a:stCxn id="7" idx="2"/>
            <a:endCxn id="10" idx="0"/>
          </p:cNvCxnSpPr>
          <p:nvPr/>
        </p:nvCxnSpPr>
        <p:spPr bwMode="auto">
          <a:xfrm>
            <a:off x="4061400" y="4060825"/>
            <a:ext cx="0" cy="414338"/>
          </a:xfrm>
          <a:prstGeom prst="straightConnector1">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20">
            <a:extLst>
              <a:ext uri="{FF2B5EF4-FFF2-40B4-BE49-F238E27FC236}">
                <a16:creationId xmlns:a16="http://schemas.microsoft.com/office/drawing/2014/main" id="{958C2580-0AA4-4D0D-9EF9-3ECCB4437677}"/>
              </a:ext>
            </a:extLst>
          </p:cNvPr>
          <p:cNvCxnSpPr>
            <a:cxnSpLocks noChangeShapeType="1"/>
            <a:stCxn id="11" idx="2"/>
            <a:endCxn id="20" idx="0"/>
          </p:cNvCxnSpPr>
          <p:nvPr/>
        </p:nvCxnSpPr>
        <p:spPr bwMode="auto">
          <a:xfrm>
            <a:off x="4061400" y="5056188"/>
            <a:ext cx="0" cy="290512"/>
          </a:xfrm>
          <a:prstGeom prst="straightConnector1">
            <a:avLst/>
          </a:prstGeom>
          <a:noFill/>
          <a:ln w="38100">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AutoShape 22">
            <a:extLst>
              <a:ext uri="{FF2B5EF4-FFF2-40B4-BE49-F238E27FC236}">
                <a16:creationId xmlns:a16="http://schemas.microsoft.com/office/drawing/2014/main" id="{EC6E1412-F2CE-4D5E-AC3F-EEEB4725881C}"/>
              </a:ext>
            </a:extLst>
          </p:cNvPr>
          <p:cNvSpPr>
            <a:spLocks noChangeArrowheads="1"/>
          </p:cNvSpPr>
          <p:nvPr/>
        </p:nvSpPr>
        <p:spPr bwMode="auto">
          <a:xfrm>
            <a:off x="2842200" y="5346700"/>
            <a:ext cx="2438400" cy="447675"/>
          </a:xfrm>
          <a:prstGeom prst="roundRect">
            <a:avLst>
              <a:gd name="adj" fmla="val 50000"/>
            </a:avLst>
          </a:prstGeom>
          <a:solidFill>
            <a:srgbClr val="000000"/>
          </a:solidFill>
          <a:ln w="9525" algn="ctr">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nchorCtr="1">
            <a:spAutoFit/>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1" fontAlgn="auto" latinLnBrk="0" hangingPunct="1">
              <a:lnSpc>
                <a:spcPct val="100000"/>
              </a:lnSpc>
              <a:spcBef>
                <a:spcPct val="50000"/>
              </a:spcBef>
              <a:spcAft>
                <a:spcPts val="0"/>
              </a:spcAft>
              <a:buClr>
                <a:srgbClr val="000000"/>
              </a:buClr>
              <a:buSzPct val="65000"/>
              <a:buFont typeface="Wingdings" panose="05000000000000000000" pitchFamily="2" charset="2"/>
              <a:buNone/>
              <a:tabLst/>
              <a:defRPr/>
            </a:pPr>
            <a:r>
              <a:rPr kumimoji="0" lang="en-US" altLang="en-US" sz="1600" b="1" i="0" u="none" strike="noStrike" kern="0" cap="none" spc="0" normalizeH="0" baseline="0" noProof="0">
                <a:ln>
                  <a:noFill/>
                </a:ln>
                <a:solidFill>
                  <a:srgbClr val="FFFFFF"/>
                </a:solidFill>
                <a:effectLst/>
                <a:uLnTx/>
                <a:uFillTx/>
                <a:latin typeface="Times New Roman" panose="02020603050405020304" pitchFamily="18" charset="0"/>
                <a:ea typeface="ＭＳ Ｐゴシック" panose="020B0600070205080204" pitchFamily="34" charset="-128"/>
                <a:cs typeface="+mn-cs"/>
              </a:rPr>
              <a:t>Recommendation?</a:t>
            </a:r>
          </a:p>
        </p:txBody>
      </p:sp>
      <p:cxnSp>
        <p:nvCxnSpPr>
          <p:cNvPr id="21" name="Straight Connector 20">
            <a:extLst>
              <a:ext uri="{FF2B5EF4-FFF2-40B4-BE49-F238E27FC236}">
                <a16:creationId xmlns:a16="http://schemas.microsoft.com/office/drawing/2014/main" id="{B9053322-4FF9-4C8F-99A0-3F964794DBAE}"/>
              </a:ext>
            </a:extLst>
          </p:cNvPr>
          <p:cNvCxnSpPr/>
          <p:nvPr/>
        </p:nvCxnSpPr>
        <p:spPr>
          <a:xfrm>
            <a:off x="2232600" y="3429000"/>
            <a:ext cx="1587" cy="2451100"/>
          </a:xfrm>
          <a:prstGeom prst="line">
            <a:avLst/>
          </a:prstGeom>
          <a:noFill/>
          <a:ln w="9525" cap="flat" cmpd="sng" algn="ctr">
            <a:solidFill>
              <a:srgbClr val="000000"/>
            </a:solidFill>
            <a:prstDash val="sysDash"/>
          </a:ln>
          <a:effectLst/>
        </p:spPr>
      </p:cxnSp>
      <p:cxnSp>
        <p:nvCxnSpPr>
          <p:cNvPr id="22" name="Straight Connector 23">
            <a:extLst>
              <a:ext uri="{FF2B5EF4-FFF2-40B4-BE49-F238E27FC236}">
                <a16:creationId xmlns:a16="http://schemas.microsoft.com/office/drawing/2014/main" id="{E025BC98-3987-440A-B050-5B5DB1D3E029}"/>
              </a:ext>
            </a:extLst>
          </p:cNvPr>
          <p:cNvCxnSpPr/>
          <p:nvPr/>
        </p:nvCxnSpPr>
        <p:spPr>
          <a:xfrm>
            <a:off x="5890200" y="3429000"/>
            <a:ext cx="1587" cy="2451100"/>
          </a:xfrm>
          <a:prstGeom prst="line">
            <a:avLst/>
          </a:prstGeom>
          <a:noFill/>
          <a:ln w="9525" cap="flat" cmpd="sng" algn="ctr">
            <a:solidFill>
              <a:srgbClr val="000000"/>
            </a:solidFill>
            <a:prstDash val="sysDash"/>
          </a:ln>
          <a:effectLst/>
        </p:spPr>
      </p:cxnSp>
      <p:sp>
        <p:nvSpPr>
          <p:cNvPr id="23" name="AutoShape 16">
            <a:extLst>
              <a:ext uri="{FF2B5EF4-FFF2-40B4-BE49-F238E27FC236}">
                <a16:creationId xmlns:a16="http://schemas.microsoft.com/office/drawing/2014/main" id="{4DBA7B04-5244-4F89-8BFB-3DA096AF275C}"/>
              </a:ext>
            </a:extLst>
          </p:cNvPr>
          <p:cNvSpPr>
            <a:spLocks noChangeArrowheads="1"/>
          </p:cNvSpPr>
          <p:nvPr/>
        </p:nvSpPr>
        <p:spPr bwMode="auto">
          <a:xfrm>
            <a:off x="1929387" y="4572000"/>
            <a:ext cx="533400" cy="1296000"/>
          </a:xfrm>
          <a:prstGeom prst="curvedRightArrow">
            <a:avLst>
              <a:gd name="adj1" fmla="val 72007"/>
              <a:gd name="adj2" fmla="val 123019"/>
              <a:gd name="adj3" fmla="val 33333"/>
            </a:avLst>
          </a:pr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t"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    2</a:t>
            </a:r>
          </a:p>
        </p:txBody>
      </p:sp>
      <p:sp>
        <p:nvSpPr>
          <p:cNvPr id="24" name="AutoShape 17">
            <a:extLst>
              <a:ext uri="{FF2B5EF4-FFF2-40B4-BE49-F238E27FC236}">
                <a16:creationId xmlns:a16="http://schemas.microsoft.com/office/drawing/2014/main" id="{6994EF41-28F3-4732-99A3-E7AA806482FC}"/>
              </a:ext>
            </a:extLst>
          </p:cNvPr>
          <p:cNvSpPr>
            <a:spLocks noChangeArrowheads="1"/>
          </p:cNvSpPr>
          <p:nvPr/>
        </p:nvSpPr>
        <p:spPr bwMode="auto">
          <a:xfrm>
            <a:off x="5358387" y="5334000"/>
            <a:ext cx="2590800" cy="533400"/>
          </a:xfrm>
          <a:custGeom>
            <a:avLst/>
            <a:gdLst>
              <a:gd name="T0" fmla="*/ 233064050 w 21600"/>
              <a:gd name="T1" fmla="*/ 0 h 21600"/>
              <a:gd name="T2" fmla="*/ 0 w 21600"/>
              <a:gd name="T3" fmla="*/ 6586008 h 21600"/>
              <a:gd name="T4" fmla="*/ 233064050 w 21600"/>
              <a:gd name="T5" fmla="*/ 13172017 h 21600"/>
              <a:gd name="T6" fmla="*/ 310752067 w 21600"/>
              <a:gd name="T7" fmla="*/ 6586008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0" cap="none" spc="0" normalizeH="0" baseline="0" noProof="0" dirty="0">
                <a:ln>
                  <a:noFill/>
                </a:ln>
                <a:solidFill>
                  <a:srgbClr val="FFFFFF"/>
                </a:solidFill>
                <a:effectLst/>
                <a:uLnTx/>
                <a:uFillTx/>
                <a:latin typeface="Arial" panose="020B0604020202020204" pitchFamily="34" charset="0"/>
                <a:ea typeface="+mn-ea"/>
                <a:cs typeface="+mn-cs"/>
              </a:rPr>
              <a:t>3</a:t>
            </a:r>
          </a:p>
        </p:txBody>
      </p:sp>
      <p:sp>
        <p:nvSpPr>
          <p:cNvPr id="25" name="AutoShape 18">
            <a:extLst>
              <a:ext uri="{FF2B5EF4-FFF2-40B4-BE49-F238E27FC236}">
                <a16:creationId xmlns:a16="http://schemas.microsoft.com/office/drawing/2014/main" id="{7E6BCE03-ADE9-46B0-ACCF-A252974D0A3A}"/>
              </a:ext>
            </a:extLst>
          </p:cNvPr>
          <p:cNvSpPr>
            <a:spLocks noChangeArrowheads="1"/>
          </p:cNvSpPr>
          <p:nvPr/>
        </p:nvSpPr>
        <p:spPr bwMode="auto">
          <a:xfrm rot="10800000">
            <a:off x="7949187" y="3581400"/>
            <a:ext cx="533400" cy="1295400"/>
          </a:xfrm>
          <a:prstGeom prst="curvedRightArrow">
            <a:avLst>
              <a:gd name="adj1" fmla="val 68562"/>
              <a:gd name="adj2" fmla="val 117134"/>
              <a:gd name="adj3" fmla="val 33333"/>
            </a:avLst>
          </a:pr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4b</a:t>
            </a:r>
          </a:p>
        </p:txBody>
      </p:sp>
      <p:sp>
        <p:nvSpPr>
          <p:cNvPr id="26" name="AutoShape 19">
            <a:extLst>
              <a:ext uri="{FF2B5EF4-FFF2-40B4-BE49-F238E27FC236}">
                <a16:creationId xmlns:a16="http://schemas.microsoft.com/office/drawing/2014/main" id="{47442FAE-7FA7-4750-9076-13E55C41D24F}"/>
              </a:ext>
            </a:extLst>
          </p:cNvPr>
          <p:cNvSpPr>
            <a:spLocks noChangeArrowheads="1"/>
          </p:cNvSpPr>
          <p:nvPr/>
        </p:nvSpPr>
        <p:spPr bwMode="auto">
          <a:xfrm rot="10800000">
            <a:off x="7949187" y="4495800"/>
            <a:ext cx="533400" cy="1295400"/>
          </a:xfrm>
          <a:prstGeom prst="curvedRightArrow">
            <a:avLst>
              <a:gd name="adj1" fmla="val 68562"/>
              <a:gd name="adj2" fmla="val 117134"/>
              <a:gd name="adj3" fmla="val 33333"/>
            </a:avLst>
          </a:pr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1"/>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dirty="0">
                <a:ln>
                  <a:noFill/>
                </a:ln>
                <a:solidFill>
                  <a:srgbClr val="FFFFFF"/>
                </a:solidFill>
                <a:effectLst/>
                <a:uLnTx/>
                <a:uFillTx/>
                <a:latin typeface="Arial" panose="020B0604020202020204" pitchFamily="34" charset="0"/>
                <a:ea typeface="ＭＳ Ｐゴシック" panose="020B0600070205080204" pitchFamily="34" charset="-128"/>
                <a:cs typeface="+mn-cs"/>
              </a:rPr>
              <a:t>4a</a:t>
            </a:r>
          </a:p>
        </p:txBody>
      </p:sp>
      <p:sp>
        <p:nvSpPr>
          <p:cNvPr id="27" name="AutoShape 20">
            <a:extLst>
              <a:ext uri="{FF2B5EF4-FFF2-40B4-BE49-F238E27FC236}">
                <a16:creationId xmlns:a16="http://schemas.microsoft.com/office/drawing/2014/main" id="{C1EC26FE-8B80-459B-8173-B2CE42BBE30D}"/>
              </a:ext>
            </a:extLst>
          </p:cNvPr>
          <p:cNvSpPr>
            <a:spLocks noChangeArrowheads="1"/>
          </p:cNvSpPr>
          <p:nvPr/>
        </p:nvSpPr>
        <p:spPr bwMode="auto">
          <a:xfrm rot="10800000">
            <a:off x="4523362" y="3730625"/>
            <a:ext cx="1766888" cy="457200"/>
          </a:xfrm>
          <a:custGeom>
            <a:avLst/>
            <a:gdLst>
              <a:gd name="T0" fmla="*/ 108399070 w 21600"/>
              <a:gd name="T1" fmla="*/ 0 h 21600"/>
              <a:gd name="T2" fmla="*/ 0 w 21600"/>
              <a:gd name="T3" fmla="*/ 4838700 h 21600"/>
              <a:gd name="T4" fmla="*/ 108399070 w 21600"/>
              <a:gd name="T5" fmla="*/ 9677400 h 21600"/>
              <a:gd name="T6" fmla="*/ 144532093 w 21600"/>
              <a:gd name="T7" fmla="*/ 48387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0" cap="none" spc="0" normalizeH="0" baseline="0" noProof="0" dirty="0">
                <a:ln>
                  <a:noFill/>
                </a:ln>
                <a:solidFill>
                  <a:srgbClr val="FFFFFF"/>
                </a:solidFill>
                <a:effectLst/>
                <a:uLnTx/>
                <a:uFillTx/>
                <a:latin typeface="Arial" panose="020B0604020202020204" pitchFamily="34" charset="0"/>
                <a:ea typeface="+mn-ea"/>
                <a:cs typeface="+mn-cs"/>
              </a:rPr>
              <a:t>5</a:t>
            </a:r>
          </a:p>
        </p:txBody>
      </p:sp>
      <p:sp>
        <p:nvSpPr>
          <p:cNvPr id="28" name="AutoShape 20">
            <a:extLst>
              <a:ext uri="{FF2B5EF4-FFF2-40B4-BE49-F238E27FC236}">
                <a16:creationId xmlns:a16="http://schemas.microsoft.com/office/drawing/2014/main" id="{7DA3E8A3-144F-4EA8-A6E9-0B63A18F6235}"/>
              </a:ext>
            </a:extLst>
          </p:cNvPr>
          <p:cNvSpPr>
            <a:spLocks noChangeArrowheads="1"/>
          </p:cNvSpPr>
          <p:nvPr/>
        </p:nvSpPr>
        <p:spPr bwMode="auto">
          <a:xfrm rot="5400000">
            <a:off x="3822481" y="4044950"/>
            <a:ext cx="481012" cy="457200"/>
          </a:xfrm>
          <a:custGeom>
            <a:avLst/>
            <a:gdLst>
              <a:gd name="T0" fmla="*/ 29557091 w 21600"/>
              <a:gd name="T1" fmla="*/ 0 h 21600"/>
              <a:gd name="T2" fmla="*/ 0 w 21600"/>
              <a:gd name="T3" fmla="*/ 4838700 h 21600"/>
              <a:gd name="T4" fmla="*/ 29557091 w 21600"/>
              <a:gd name="T5" fmla="*/ 9677400 h 21600"/>
              <a:gd name="T6" fmla="*/ 39409455 w 21600"/>
              <a:gd name="T7" fmla="*/ 483870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0000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vert27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1" i="0" u="none" strike="noStrike" kern="0" cap="none" spc="0" normalizeH="0" baseline="0" noProof="0" dirty="0">
                <a:ln>
                  <a:noFill/>
                </a:ln>
                <a:solidFill>
                  <a:srgbClr val="FFFFFF"/>
                </a:solidFill>
                <a:effectLst/>
                <a:uLnTx/>
                <a:uFillTx/>
                <a:latin typeface="Arial" panose="020B0604020202020204" pitchFamily="34" charset="0"/>
                <a:ea typeface="+mn-ea"/>
                <a:cs typeface="+mn-cs"/>
              </a:rPr>
              <a:t>1</a:t>
            </a:r>
          </a:p>
        </p:txBody>
      </p:sp>
    </p:spTree>
    <p:extLst>
      <p:ext uri="{BB962C8B-B14F-4D97-AF65-F5344CB8AC3E}">
        <p14:creationId xmlns:p14="http://schemas.microsoft.com/office/powerpoint/2010/main" val="4019474744"/>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Consider this RCA One-root Construct:</a:t>
            </a: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chemeClr val="tx1"/>
          </a:solidFill>
          <a:ln>
            <a:solidFill>
              <a:schemeClr val="tx1"/>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cxnSp>
        <p:nvCxnSpPr>
          <p:cNvPr id="6" name="Straight Connector 5">
            <a:extLst>
              <a:ext uri="{FF2B5EF4-FFF2-40B4-BE49-F238E27FC236}">
                <a16:creationId xmlns:a16="http://schemas.microsoft.com/office/drawing/2014/main" id="{9D36D7A7-E3C0-4187-A8FC-616C922B7687}"/>
              </a:ext>
            </a:extLst>
          </p:cNvPr>
          <p:cNvCxnSpPr>
            <a:stCxn id="16" idx="2"/>
            <a:endCxn id="15" idx="0"/>
          </p:cNvCxnSpPr>
          <p:nvPr/>
        </p:nvCxnSpPr>
        <p:spPr bwMode="auto">
          <a:xfrm>
            <a:off x="2286000" y="1176754"/>
            <a:ext cx="0" cy="4081046"/>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7" name="TextBox 6">
            <a:extLst>
              <a:ext uri="{FF2B5EF4-FFF2-40B4-BE49-F238E27FC236}">
                <a16:creationId xmlns:a16="http://schemas.microsoft.com/office/drawing/2014/main" id="{0D90E9BD-1D69-41E7-82C8-A59F9071E2EE}"/>
              </a:ext>
            </a:extLst>
          </p:cNvPr>
          <p:cNvSpPr txBox="1"/>
          <p:nvPr/>
        </p:nvSpPr>
        <p:spPr>
          <a:xfrm>
            <a:off x="640080" y="141732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Petroleum fire</a:t>
            </a:r>
          </a:p>
        </p:txBody>
      </p:sp>
      <p:sp>
        <p:nvSpPr>
          <p:cNvPr id="10" name="TextBox 9">
            <a:extLst>
              <a:ext uri="{FF2B5EF4-FFF2-40B4-BE49-F238E27FC236}">
                <a16:creationId xmlns:a16="http://schemas.microsoft.com/office/drawing/2014/main" id="{4867D4FD-CD35-4594-9EFE-6C2E33177F59}"/>
              </a:ext>
            </a:extLst>
          </p:cNvPr>
          <p:cNvSpPr txBox="1"/>
          <p:nvPr/>
        </p:nvSpPr>
        <p:spPr>
          <a:xfrm>
            <a:off x="640080" y="205740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Petrol released from pump casing</a:t>
            </a:r>
          </a:p>
        </p:txBody>
      </p:sp>
      <p:sp>
        <p:nvSpPr>
          <p:cNvPr id="11" name="TextBox 10">
            <a:extLst>
              <a:ext uri="{FF2B5EF4-FFF2-40B4-BE49-F238E27FC236}">
                <a16:creationId xmlns:a16="http://schemas.microsoft.com/office/drawing/2014/main" id="{AEA8C77B-3D5F-4E56-973A-BE696B607AF1}"/>
              </a:ext>
            </a:extLst>
          </p:cNvPr>
          <p:cNvSpPr txBox="1"/>
          <p:nvPr/>
        </p:nvSpPr>
        <p:spPr>
          <a:xfrm>
            <a:off x="640080" y="2697480"/>
            <a:ext cx="3291840" cy="338554"/>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 casing corroded (failed)</a:t>
            </a:r>
          </a:p>
        </p:txBody>
      </p:sp>
      <p:sp>
        <p:nvSpPr>
          <p:cNvPr id="12" name="TextBox 11">
            <a:extLst>
              <a:ext uri="{FF2B5EF4-FFF2-40B4-BE49-F238E27FC236}">
                <a16:creationId xmlns:a16="http://schemas.microsoft.com/office/drawing/2014/main" id="{3656C491-87A8-430F-BFBA-2C14F19E6625}"/>
              </a:ext>
            </a:extLst>
          </p:cNvPr>
          <p:cNvSpPr txBox="1"/>
          <p:nvPr/>
        </p:nvSpPr>
        <p:spPr>
          <a:xfrm>
            <a:off x="640080" y="333756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Casing material was incompatible</a:t>
            </a:r>
          </a:p>
        </p:txBody>
      </p:sp>
      <p:sp>
        <p:nvSpPr>
          <p:cNvPr id="13" name="TextBox 12">
            <a:extLst>
              <a:ext uri="{FF2B5EF4-FFF2-40B4-BE49-F238E27FC236}">
                <a16:creationId xmlns:a16="http://schemas.microsoft.com/office/drawing/2014/main" id="{9A34E4E3-FBD8-4349-ACEA-8E730FC6550D}"/>
              </a:ext>
            </a:extLst>
          </p:cNvPr>
          <p:cNvSpPr txBox="1"/>
          <p:nvPr/>
        </p:nvSpPr>
        <p:spPr>
          <a:xfrm>
            <a:off x="640080" y="397764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Improper material was used</a:t>
            </a:r>
          </a:p>
        </p:txBody>
      </p:sp>
      <p:sp>
        <p:nvSpPr>
          <p:cNvPr id="14" name="TextBox 13">
            <a:extLst>
              <a:ext uri="{FF2B5EF4-FFF2-40B4-BE49-F238E27FC236}">
                <a16:creationId xmlns:a16="http://schemas.microsoft.com/office/drawing/2014/main" id="{23681B1E-7FDB-4CBE-9547-FA117CD33585}"/>
              </a:ext>
            </a:extLst>
          </p:cNvPr>
          <p:cNvSpPr txBox="1"/>
          <p:nvPr/>
        </p:nvSpPr>
        <p:spPr>
          <a:xfrm>
            <a:off x="640080" y="4617720"/>
            <a:ext cx="3291840" cy="338554"/>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 design was incorrect</a:t>
            </a:r>
          </a:p>
        </p:txBody>
      </p:sp>
      <p:sp>
        <p:nvSpPr>
          <p:cNvPr id="15" name="TextBox 14">
            <a:extLst>
              <a:ext uri="{FF2B5EF4-FFF2-40B4-BE49-F238E27FC236}">
                <a16:creationId xmlns:a16="http://schemas.microsoft.com/office/drawing/2014/main" id="{A84E4193-5EDC-4AA6-A9F9-BA222D66A629}"/>
              </a:ext>
            </a:extLst>
          </p:cNvPr>
          <p:cNvSpPr txBox="1"/>
          <p:nvPr/>
        </p:nvSpPr>
        <p:spPr>
          <a:xfrm>
            <a:off x="640080" y="5257800"/>
            <a:ext cx="3291840" cy="830997"/>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refinery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design program did not include a standard </a:t>
            </a:r>
            <a:r>
              <a:rPr lang="en-US" sz="1600" b="0" kern="0" dirty="0" smtClean="0">
                <a:solidFill>
                  <a:srgbClr val="000000"/>
                </a:solidFill>
                <a:latin typeface="Arial" panose="020B0604020202020204" pitchFamily="34" charset="0"/>
                <a:cs typeface="Arial" panose="020B0604020202020204" pitchFamily="34" charset="0"/>
              </a:rPr>
              <a:t>to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design </a:t>
            </a: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pumps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for this</a:t>
            </a:r>
            <a:r>
              <a:rPr kumimoji="0" lang="en-US" sz="1600" b="0" i="0" u="none" strike="noStrike" kern="0" cap="none" spc="0" normalizeH="0" noProof="0" dirty="0" smtClean="0">
                <a:ln>
                  <a:noFill/>
                </a:ln>
                <a:solidFill>
                  <a:srgbClr val="000000"/>
                </a:solidFill>
                <a:effectLst/>
                <a:uLnTx/>
                <a:uFillTx/>
                <a:latin typeface="Arial" panose="020B0604020202020204" pitchFamily="34" charset="0"/>
                <a:ea typeface="+mn-ea"/>
                <a:cs typeface="Arial" panose="020B0604020202020204" pitchFamily="34" charset="0"/>
              </a:rPr>
              <a:t> process service</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D2B36200-534F-44BD-8A54-820E467D50E2}"/>
              </a:ext>
            </a:extLst>
          </p:cNvPr>
          <p:cNvSpPr txBox="1"/>
          <p:nvPr/>
        </p:nvSpPr>
        <p:spPr>
          <a:xfrm>
            <a:off x="640080" y="838200"/>
            <a:ext cx="3291840" cy="338554"/>
          </a:xfrm>
          <a:prstGeom prst="rect">
            <a:avLst/>
          </a:prstGeom>
          <a:solidFill>
            <a:srgbClr val="FFFFFF"/>
          </a:solidFill>
          <a:ln>
            <a:solidFill>
              <a:srgbClr val="000000"/>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LOSS INCIDENT</a:t>
            </a:r>
          </a:p>
        </p:txBody>
      </p:sp>
      <p:sp>
        <p:nvSpPr>
          <p:cNvPr id="17" name="TextBox 16">
            <a:extLst>
              <a:ext uri="{FF2B5EF4-FFF2-40B4-BE49-F238E27FC236}">
                <a16:creationId xmlns:a16="http://schemas.microsoft.com/office/drawing/2014/main" id="{173C0635-A3CB-4344-A972-5302C440F422}"/>
              </a:ext>
            </a:extLst>
          </p:cNvPr>
          <p:cNvSpPr txBox="1"/>
          <p:nvPr/>
        </p:nvSpPr>
        <p:spPr>
          <a:xfrm>
            <a:off x="4419600" y="129540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Incident description</a:t>
            </a:r>
          </a:p>
        </p:txBody>
      </p:sp>
      <p:sp>
        <p:nvSpPr>
          <p:cNvPr id="18" name="TextBox 17">
            <a:extLst>
              <a:ext uri="{FF2B5EF4-FFF2-40B4-BE49-F238E27FC236}">
                <a16:creationId xmlns:a16="http://schemas.microsoft.com/office/drawing/2014/main" id="{09F540C4-D851-4948-9144-A24DF77D8340}"/>
              </a:ext>
            </a:extLst>
          </p:cNvPr>
          <p:cNvSpPr txBox="1"/>
          <p:nvPr/>
        </p:nvSpPr>
        <p:spPr>
          <a:xfrm>
            <a:off x="4419600" y="193548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Intermediate / triggering event</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FAE2E7A2-39F4-4154-9B24-2A909524829C}"/>
              </a:ext>
            </a:extLst>
          </p:cNvPr>
          <p:cNvSpPr txBox="1"/>
          <p:nvPr/>
        </p:nvSpPr>
        <p:spPr>
          <a:xfrm>
            <a:off x="4419600" y="257556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IC: Sub-standard condition</a:t>
            </a:r>
          </a:p>
        </p:txBody>
      </p:sp>
      <p:sp>
        <p:nvSpPr>
          <p:cNvPr id="20" name="TextBox 19">
            <a:extLst>
              <a:ext uri="{FF2B5EF4-FFF2-40B4-BE49-F238E27FC236}">
                <a16:creationId xmlns:a16="http://schemas.microsoft.com/office/drawing/2014/main" id="{B1F2CE11-419B-4068-876B-1D4883344F86}"/>
              </a:ext>
            </a:extLst>
          </p:cNvPr>
          <p:cNvSpPr txBox="1"/>
          <p:nvPr/>
        </p:nvSpPr>
        <p:spPr>
          <a:xfrm>
            <a:off x="4419600" y="321564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intermediate</a:t>
            </a:r>
          </a:p>
        </p:txBody>
      </p:sp>
      <p:sp>
        <p:nvSpPr>
          <p:cNvPr id="21" name="TextBox 20">
            <a:extLst>
              <a:ext uri="{FF2B5EF4-FFF2-40B4-BE49-F238E27FC236}">
                <a16:creationId xmlns:a16="http://schemas.microsoft.com/office/drawing/2014/main" id="{0351B377-A90C-4AEF-8A43-7B2497142024}"/>
              </a:ext>
            </a:extLst>
          </p:cNvPr>
          <p:cNvSpPr txBox="1"/>
          <p:nvPr/>
        </p:nvSpPr>
        <p:spPr>
          <a:xfrm>
            <a:off x="4419600" y="385572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intermediate</a:t>
            </a:r>
          </a:p>
        </p:txBody>
      </p:sp>
      <p:sp>
        <p:nvSpPr>
          <p:cNvPr id="22" name="TextBox 21">
            <a:extLst>
              <a:ext uri="{FF2B5EF4-FFF2-40B4-BE49-F238E27FC236}">
                <a16:creationId xmlns:a16="http://schemas.microsoft.com/office/drawing/2014/main" id="{6E5553D4-7E7F-4B72-9DA0-6481652B4994}"/>
              </a:ext>
            </a:extLst>
          </p:cNvPr>
          <p:cNvSpPr txBox="1"/>
          <p:nvPr/>
        </p:nvSpPr>
        <p:spPr>
          <a:xfrm>
            <a:off x="4419600" y="449580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BC: Design – inadequate tech. design  </a:t>
            </a:r>
          </a:p>
        </p:txBody>
      </p:sp>
      <p:sp>
        <p:nvSpPr>
          <p:cNvPr id="23" name="TextBox 22">
            <a:extLst>
              <a:ext uri="{FF2B5EF4-FFF2-40B4-BE49-F238E27FC236}">
                <a16:creationId xmlns:a16="http://schemas.microsoft.com/office/drawing/2014/main" id="{1232868B-221B-4B1A-8545-E441EF46318E}"/>
              </a:ext>
            </a:extLst>
          </p:cNvPr>
          <p:cNvSpPr txBox="1"/>
          <p:nvPr/>
        </p:nvSpPr>
        <p:spPr>
          <a:xfrm>
            <a:off x="4419600" y="5271075"/>
            <a:ext cx="4191000" cy="672525"/>
          </a:xfrm>
          <a:prstGeom prst="leftArrow">
            <a:avLst/>
          </a:prstGeom>
          <a:solidFill>
            <a:srgbClr val="99FF99"/>
          </a:solidFill>
          <a:ln w="57150">
            <a:solidFill>
              <a:srgbClr val="FFFF00"/>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LC-S: RME#7 </a:t>
            </a:r>
            <a:r>
              <a:rPr kumimoji="0" lang="en-US" sz="160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DC&amp;SU</a:t>
            </a:r>
          </a:p>
        </p:txBody>
      </p:sp>
      <p:sp>
        <p:nvSpPr>
          <p:cNvPr id="24" name="TextBox 23">
            <a:extLst>
              <a:ext uri="{FF2B5EF4-FFF2-40B4-BE49-F238E27FC236}">
                <a16:creationId xmlns:a16="http://schemas.microsoft.com/office/drawing/2014/main" id="{0A7173F6-47C8-47C4-9F51-EC04D9641316}"/>
              </a:ext>
            </a:extLst>
          </p:cNvPr>
          <p:cNvSpPr txBox="1"/>
          <p:nvPr/>
        </p:nvSpPr>
        <p:spPr>
          <a:xfrm>
            <a:off x="4419600" y="838200"/>
            <a:ext cx="4191000" cy="338554"/>
          </a:xfrm>
          <a:prstGeom prst="rect">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CATEGORIES</a:t>
            </a:r>
          </a:p>
        </p:txBody>
      </p:sp>
    </p:spTree>
    <p:extLst>
      <p:ext uri="{BB962C8B-B14F-4D97-AF65-F5344CB8AC3E}">
        <p14:creationId xmlns:p14="http://schemas.microsoft.com/office/powerpoint/2010/main" val="1262642594"/>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chemeClr val="tx1"/>
          </a:solidFill>
          <a:ln>
            <a:solidFill>
              <a:schemeClr val="tx1"/>
            </a:solidFill>
          </a:ln>
        </p:spPr>
        <p:txBody>
          <a:bodyPr wrap="square" anchor="ctr" anchorCtr="0">
            <a:noAutofit/>
          </a:bodyPr>
          <a:lstStyle/>
          <a:p>
            <a:pPr>
              <a:spcBef>
                <a:spcPts val="0"/>
              </a:spcBef>
              <a:spcAft>
                <a:spcPts val="0"/>
              </a:spcAft>
            </a:pPr>
            <a:r>
              <a:rPr lang="en-CA" alt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Example: What </a:t>
            </a:r>
            <a:r>
              <a:rPr lang="en-CA"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are some recommendations on the Causes?</a:t>
            </a:r>
          </a:p>
        </p:txBody>
      </p:sp>
      <p:sp>
        <p:nvSpPr>
          <p:cNvPr id="8" name="Slide Number Placeholder 1"/>
          <p:cNvSpPr txBox="1">
            <a:spLocks noGrp="1"/>
          </p:cNvSpPr>
          <p:nvPr/>
        </p:nvSpPr>
        <p:spPr bwMode="auto">
          <a:xfrm>
            <a:off x="8280000" y="6477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a:solidFill>
              <a:schemeClr val="tx1"/>
            </a:solidFill>
          </a:ln>
        </p:spPr>
        <p:txBody>
          <a:bodyPr wrap="square">
            <a:noAutofit/>
          </a:bodyPr>
          <a:lstStyle/>
          <a:p>
            <a:pPr>
              <a:spcBef>
                <a:spcPts val="0"/>
              </a:spcBef>
              <a:spcAft>
                <a:spcPts val="0"/>
              </a:spcAft>
            </a:pPr>
            <a:endParaRPr lang="en-US"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7" name="Straight Connector 6">
            <a:extLst>
              <a:ext uri="{FF2B5EF4-FFF2-40B4-BE49-F238E27FC236}">
                <a16:creationId xmlns:a16="http://schemas.microsoft.com/office/drawing/2014/main" id="{FBA30691-95AA-4FEA-9547-B494F46013B8}"/>
              </a:ext>
            </a:extLst>
          </p:cNvPr>
          <p:cNvCxnSpPr>
            <a:stCxn id="17" idx="2"/>
            <a:endCxn id="16" idx="0"/>
          </p:cNvCxnSpPr>
          <p:nvPr/>
        </p:nvCxnSpPr>
        <p:spPr bwMode="auto">
          <a:xfrm>
            <a:off x="2286000" y="1214140"/>
            <a:ext cx="0" cy="4053840"/>
          </a:xfrm>
          <a:prstGeom prst="line">
            <a:avLst/>
          </a:prstGeom>
          <a:solidFill>
            <a:srgbClr val="9999FF"/>
          </a:solidFill>
          <a:ln w="57150" cap="flat" cmpd="sng" algn="ctr">
            <a:solidFill>
              <a:schemeClr val="bg1"/>
            </a:solidFill>
            <a:prstDash val="sysDot"/>
            <a:round/>
            <a:headEnd type="none" w="med" len="med"/>
            <a:tailEnd type="none" w="med" len="med"/>
          </a:ln>
          <a:effectLst/>
        </p:spPr>
      </p:cxnSp>
      <p:sp>
        <p:nvSpPr>
          <p:cNvPr id="10" name="TextBox 9">
            <a:extLst>
              <a:ext uri="{FF2B5EF4-FFF2-40B4-BE49-F238E27FC236}">
                <a16:creationId xmlns:a16="http://schemas.microsoft.com/office/drawing/2014/main" id="{5E782F49-E031-44EC-A4B9-0C0730B83A14}"/>
              </a:ext>
            </a:extLst>
          </p:cNvPr>
          <p:cNvSpPr txBox="1"/>
          <p:nvPr/>
        </p:nvSpPr>
        <p:spPr>
          <a:xfrm>
            <a:off x="640080" y="142750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Petroleum fire</a:t>
            </a:r>
          </a:p>
        </p:txBody>
      </p:sp>
      <p:sp>
        <p:nvSpPr>
          <p:cNvPr id="11" name="TextBox 10">
            <a:extLst>
              <a:ext uri="{FF2B5EF4-FFF2-40B4-BE49-F238E27FC236}">
                <a16:creationId xmlns:a16="http://schemas.microsoft.com/office/drawing/2014/main" id="{D0C20258-625D-4571-A4A0-DFD1FEBCCA9A}"/>
              </a:ext>
            </a:extLst>
          </p:cNvPr>
          <p:cNvSpPr txBox="1"/>
          <p:nvPr/>
        </p:nvSpPr>
        <p:spPr>
          <a:xfrm>
            <a:off x="640080" y="206758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 released from pump casing</a:t>
            </a:r>
          </a:p>
        </p:txBody>
      </p:sp>
      <p:sp>
        <p:nvSpPr>
          <p:cNvPr id="12" name="TextBox 11">
            <a:extLst>
              <a:ext uri="{FF2B5EF4-FFF2-40B4-BE49-F238E27FC236}">
                <a16:creationId xmlns:a16="http://schemas.microsoft.com/office/drawing/2014/main" id="{84E6BEDB-0395-47CF-BE8E-0FED3D107750}"/>
              </a:ext>
            </a:extLst>
          </p:cNvPr>
          <p:cNvSpPr txBox="1"/>
          <p:nvPr/>
        </p:nvSpPr>
        <p:spPr>
          <a:xfrm>
            <a:off x="640080" y="2707660"/>
            <a:ext cx="3291840" cy="338554"/>
          </a:xfrm>
          <a:prstGeom prst="rect">
            <a:avLst/>
          </a:prstGeom>
          <a:solidFill>
            <a:srgbClr val="FF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casing corroded (failed)</a:t>
            </a:r>
          </a:p>
        </p:txBody>
      </p:sp>
      <p:sp>
        <p:nvSpPr>
          <p:cNvPr id="13" name="TextBox 12">
            <a:extLst>
              <a:ext uri="{FF2B5EF4-FFF2-40B4-BE49-F238E27FC236}">
                <a16:creationId xmlns:a16="http://schemas.microsoft.com/office/drawing/2014/main" id="{BE5F168D-248F-440F-8D7C-7822F687C487}"/>
              </a:ext>
            </a:extLst>
          </p:cNvPr>
          <p:cNvSpPr txBox="1"/>
          <p:nvPr/>
        </p:nvSpPr>
        <p:spPr>
          <a:xfrm>
            <a:off x="640080" y="334774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Casing material was incompatible</a:t>
            </a:r>
          </a:p>
        </p:txBody>
      </p:sp>
      <p:sp>
        <p:nvSpPr>
          <p:cNvPr id="14" name="TextBox 13">
            <a:extLst>
              <a:ext uri="{FF2B5EF4-FFF2-40B4-BE49-F238E27FC236}">
                <a16:creationId xmlns:a16="http://schemas.microsoft.com/office/drawing/2014/main" id="{38DF5A59-99DC-42AB-B861-FAE0E75B0126}"/>
              </a:ext>
            </a:extLst>
          </p:cNvPr>
          <p:cNvSpPr txBox="1"/>
          <p:nvPr/>
        </p:nvSpPr>
        <p:spPr>
          <a:xfrm>
            <a:off x="640080" y="3987820"/>
            <a:ext cx="3291840" cy="365760"/>
          </a:xfrm>
          <a:prstGeom prst="rect">
            <a:avLst/>
          </a:prstGeom>
          <a:solidFill>
            <a:srgbClr val="FFFFFF"/>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Improper material was used</a:t>
            </a:r>
          </a:p>
        </p:txBody>
      </p:sp>
      <p:sp>
        <p:nvSpPr>
          <p:cNvPr id="15" name="TextBox 14">
            <a:extLst>
              <a:ext uri="{FF2B5EF4-FFF2-40B4-BE49-F238E27FC236}">
                <a16:creationId xmlns:a16="http://schemas.microsoft.com/office/drawing/2014/main" id="{BCDC09E9-AE6E-475D-87A4-C36FD4D5A4E0}"/>
              </a:ext>
            </a:extLst>
          </p:cNvPr>
          <p:cNvSpPr txBox="1"/>
          <p:nvPr/>
        </p:nvSpPr>
        <p:spPr>
          <a:xfrm>
            <a:off x="640080" y="4627900"/>
            <a:ext cx="3291840" cy="365760"/>
          </a:xfrm>
          <a:prstGeom prst="rect">
            <a:avLst/>
          </a:prstGeom>
          <a:solidFill>
            <a:srgbClr val="FF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design was incorrect</a:t>
            </a:r>
          </a:p>
        </p:txBody>
      </p:sp>
      <p:sp>
        <p:nvSpPr>
          <p:cNvPr id="16" name="TextBox 15">
            <a:extLst>
              <a:ext uri="{FF2B5EF4-FFF2-40B4-BE49-F238E27FC236}">
                <a16:creationId xmlns:a16="http://schemas.microsoft.com/office/drawing/2014/main" id="{6F937B0E-C221-478A-9B2F-D04F74D1BAC7}"/>
              </a:ext>
            </a:extLst>
          </p:cNvPr>
          <p:cNvSpPr txBox="1"/>
          <p:nvPr/>
        </p:nvSpPr>
        <p:spPr>
          <a:xfrm>
            <a:off x="640080" y="5267980"/>
            <a:ext cx="3291840" cy="830997"/>
          </a:xfrm>
          <a:prstGeom prst="rect">
            <a:avLst/>
          </a:prstGeom>
          <a:solidFill>
            <a:srgbClr val="FFFF00"/>
          </a:solidFill>
          <a:ln>
            <a:solidFill>
              <a:schemeClr val="tx1"/>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The refinery design program did not include a standard to design pumps for this process service</a:t>
            </a:r>
          </a:p>
        </p:txBody>
      </p:sp>
      <p:sp>
        <p:nvSpPr>
          <p:cNvPr id="17" name="TextBox 16">
            <a:extLst>
              <a:ext uri="{FF2B5EF4-FFF2-40B4-BE49-F238E27FC236}">
                <a16:creationId xmlns:a16="http://schemas.microsoft.com/office/drawing/2014/main" id="{DD1F102B-CF61-415B-A281-08651BD4BCC2}"/>
              </a:ext>
            </a:extLst>
          </p:cNvPr>
          <p:cNvSpPr txBox="1"/>
          <p:nvPr/>
        </p:nvSpPr>
        <p:spPr>
          <a:xfrm>
            <a:off x="640080" y="848380"/>
            <a:ext cx="3291840" cy="365760"/>
          </a:xfrm>
          <a:prstGeom prst="rect">
            <a:avLst/>
          </a:prstGeom>
          <a:solidFill>
            <a:srgbClr val="FFFFFF"/>
          </a:solidFill>
          <a:ln>
            <a:solidFill>
              <a:schemeClr val="tx1"/>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LOSS INCIDENT</a:t>
            </a:r>
          </a:p>
        </p:txBody>
      </p:sp>
      <p:sp>
        <p:nvSpPr>
          <p:cNvPr id="21" name="TextBox 20">
            <a:extLst>
              <a:ext uri="{FF2B5EF4-FFF2-40B4-BE49-F238E27FC236}">
                <a16:creationId xmlns:a16="http://schemas.microsoft.com/office/drawing/2014/main" id="{0F74F0D8-45AA-4424-A9EF-96CDBEE56F55}"/>
              </a:ext>
            </a:extLst>
          </p:cNvPr>
          <p:cNvSpPr txBox="1"/>
          <p:nvPr/>
        </p:nvSpPr>
        <p:spPr>
          <a:xfrm>
            <a:off x="4389120" y="848380"/>
            <a:ext cx="4114800" cy="338554"/>
          </a:xfrm>
          <a:prstGeom prst="rect">
            <a:avLst/>
          </a:prstGeom>
          <a:solidFill>
            <a:srgbClr val="FFFF00"/>
          </a:solid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RECOMMENDATIONS</a:t>
            </a:r>
            <a:endPar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18" name="TextBox 17">
            <a:extLst>
              <a:ext uri="{FF2B5EF4-FFF2-40B4-BE49-F238E27FC236}">
                <a16:creationId xmlns:a16="http://schemas.microsoft.com/office/drawing/2014/main" id="{0F74F0D8-45AA-4424-A9EF-96CDBEE56F55}"/>
              </a:ext>
            </a:extLst>
          </p:cNvPr>
          <p:cNvSpPr txBox="1"/>
          <p:nvPr/>
        </p:nvSpPr>
        <p:spPr>
          <a:xfrm>
            <a:off x="5366520" y="2467900"/>
            <a:ext cx="2160000" cy="2160000"/>
          </a:xfrm>
          <a:prstGeom prst="rect">
            <a:avLst/>
          </a:prstGeom>
          <a:solidFill>
            <a:srgbClr val="FFFF00"/>
          </a:solidFill>
          <a:ln>
            <a:solidFill>
              <a:schemeClr val="tx1"/>
            </a:solidFill>
          </a:ln>
        </p:spPr>
        <p:txBody>
          <a:bodyPr wrap="square" rtlCol="0" anchor="ctr" anchorCtr="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0" kern="0" dirty="0">
                <a:latin typeface="Arial" panose="020B0604020202020204" pitchFamily="34" charset="0"/>
                <a:cs typeface="Arial" panose="020B0604020202020204" pitchFamily="34" charset="0"/>
              </a:rPr>
              <a:t>?</a:t>
            </a:r>
            <a:r>
              <a:rPr kumimoji="0" lang="en-US" sz="8000" b="1" i="0" strike="noStrike" kern="0" cap="none" spc="0" normalizeH="0" baseline="0" noProof="0" dirty="0" smtClean="0">
                <a:ln>
                  <a:noFill/>
                </a:ln>
                <a:effectLst/>
                <a:uLnTx/>
                <a:uFillTx/>
                <a:latin typeface="Arial" panose="020B0604020202020204" pitchFamily="34" charset="0"/>
                <a:ea typeface="+mn-ea"/>
                <a:cs typeface="Arial" panose="020B0604020202020204" pitchFamily="34" charset="0"/>
              </a:rPr>
              <a:t>  </a:t>
            </a:r>
            <a:endParaRPr kumimoji="0" lang="en-US" sz="8000" b="1" i="0" strike="noStrike" kern="0" cap="none" spc="0" normalizeH="0" baseline="0" noProof="0" dirty="0">
              <a:ln>
                <a:noFill/>
              </a:ln>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68930002"/>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Example: Recommendations </a:t>
            </a: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on </a:t>
            </a:r>
            <a:r>
              <a:rPr kumimoji="0" lang="en-CA" altLang="en-US" sz="2000" b="0" i="0" u="none" strike="noStrike" kern="1200" cap="none" spc="0" normalizeH="0" baseline="0" noProof="0" dirty="0" smtClean="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the Causes</a:t>
            </a:r>
            <a:endPar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477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7" name="Straight Connector 6">
            <a:extLst>
              <a:ext uri="{FF2B5EF4-FFF2-40B4-BE49-F238E27FC236}">
                <a16:creationId xmlns:a16="http://schemas.microsoft.com/office/drawing/2014/main" id="{FBA30691-95AA-4FEA-9547-B494F46013B8}"/>
              </a:ext>
            </a:extLst>
          </p:cNvPr>
          <p:cNvCxnSpPr>
            <a:stCxn id="17" idx="2"/>
            <a:endCxn id="16" idx="0"/>
          </p:cNvCxnSpPr>
          <p:nvPr/>
        </p:nvCxnSpPr>
        <p:spPr bwMode="auto">
          <a:xfrm>
            <a:off x="2286000" y="1214140"/>
            <a:ext cx="0" cy="4053840"/>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10" name="TextBox 9">
            <a:extLst>
              <a:ext uri="{FF2B5EF4-FFF2-40B4-BE49-F238E27FC236}">
                <a16:creationId xmlns:a16="http://schemas.microsoft.com/office/drawing/2014/main" id="{5E782F49-E031-44EC-A4B9-0C0730B83A14}"/>
              </a:ext>
            </a:extLst>
          </p:cNvPr>
          <p:cNvSpPr txBox="1"/>
          <p:nvPr/>
        </p:nvSpPr>
        <p:spPr>
          <a:xfrm>
            <a:off x="640080" y="14275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Petroleum fire</a:t>
            </a:r>
          </a:p>
        </p:txBody>
      </p:sp>
      <p:sp>
        <p:nvSpPr>
          <p:cNvPr id="11" name="TextBox 10">
            <a:extLst>
              <a:ext uri="{FF2B5EF4-FFF2-40B4-BE49-F238E27FC236}">
                <a16:creationId xmlns:a16="http://schemas.microsoft.com/office/drawing/2014/main" id="{D0C20258-625D-4571-A4A0-DFD1FEBCCA9A}"/>
              </a:ext>
            </a:extLst>
          </p:cNvPr>
          <p:cNvSpPr txBox="1"/>
          <p:nvPr/>
        </p:nvSpPr>
        <p:spPr>
          <a:xfrm>
            <a:off x="640080" y="206758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 released from pump casing</a:t>
            </a:r>
          </a:p>
        </p:txBody>
      </p:sp>
      <p:sp>
        <p:nvSpPr>
          <p:cNvPr id="12" name="TextBox 11">
            <a:extLst>
              <a:ext uri="{FF2B5EF4-FFF2-40B4-BE49-F238E27FC236}">
                <a16:creationId xmlns:a16="http://schemas.microsoft.com/office/drawing/2014/main" id="{84E6BEDB-0395-47CF-BE8E-0FED3D107750}"/>
              </a:ext>
            </a:extLst>
          </p:cNvPr>
          <p:cNvSpPr txBox="1"/>
          <p:nvPr/>
        </p:nvSpPr>
        <p:spPr>
          <a:xfrm>
            <a:off x="640080" y="2707660"/>
            <a:ext cx="3291840" cy="338554"/>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casing corroded (failed)</a:t>
            </a:r>
          </a:p>
        </p:txBody>
      </p:sp>
      <p:sp>
        <p:nvSpPr>
          <p:cNvPr id="13" name="TextBox 12">
            <a:extLst>
              <a:ext uri="{FF2B5EF4-FFF2-40B4-BE49-F238E27FC236}">
                <a16:creationId xmlns:a16="http://schemas.microsoft.com/office/drawing/2014/main" id="{BE5F168D-248F-440F-8D7C-7822F687C487}"/>
              </a:ext>
            </a:extLst>
          </p:cNvPr>
          <p:cNvSpPr txBox="1"/>
          <p:nvPr/>
        </p:nvSpPr>
        <p:spPr>
          <a:xfrm>
            <a:off x="640080" y="334774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Casing material was incompatible</a:t>
            </a:r>
          </a:p>
        </p:txBody>
      </p:sp>
      <p:sp>
        <p:nvSpPr>
          <p:cNvPr id="14" name="TextBox 13">
            <a:extLst>
              <a:ext uri="{FF2B5EF4-FFF2-40B4-BE49-F238E27FC236}">
                <a16:creationId xmlns:a16="http://schemas.microsoft.com/office/drawing/2014/main" id="{38DF5A59-99DC-42AB-B861-FAE0E75B0126}"/>
              </a:ext>
            </a:extLst>
          </p:cNvPr>
          <p:cNvSpPr txBox="1"/>
          <p:nvPr/>
        </p:nvSpPr>
        <p:spPr>
          <a:xfrm>
            <a:off x="640080" y="398782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Improper material was used</a:t>
            </a:r>
          </a:p>
        </p:txBody>
      </p:sp>
      <p:sp>
        <p:nvSpPr>
          <p:cNvPr id="15" name="TextBox 14">
            <a:extLst>
              <a:ext uri="{FF2B5EF4-FFF2-40B4-BE49-F238E27FC236}">
                <a16:creationId xmlns:a16="http://schemas.microsoft.com/office/drawing/2014/main" id="{BCDC09E9-AE6E-475D-87A4-C36FD4D5A4E0}"/>
              </a:ext>
            </a:extLst>
          </p:cNvPr>
          <p:cNvSpPr txBox="1"/>
          <p:nvPr/>
        </p:nvSpPr>
        <p:spPr>
          <a:xfrm>
            <a:off x="640080" y="46279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design was incorrect</a:t>
            </a:r>
          </a:p>
        </p:txBody>
      </p:sp>
      <p:sp>
        <p:nvSpPr>
          <p:cNvPr id="16" name="TextBox 15">
            <a:extLst>
              <a:ext uri="{FF2B5EF4-FFF2-40B4-BE49-F238E27FC236}">
                <a16:creationId xmlns:a16="http://schemas.microsoft.com/office/drawing/2014/main" id="{6F937B0E-C221-478A-9B2F-D04F74D1BAC7}"/>
              </a:ext>
            </a:extLst>
          </p:cNvPr>
          <p:cNvSpPr txBox="1"/>
          <p:nvPr/>
        </p:nvSpPr>
        <p:spPr>
          <a:xfrm>
            <a:off x="640080" y="5267980"/>
            <a:ext cx="3291840" cy="830997"/>
          </a:xfrm>
          <a:prstGeom prst="rect">
            <a:avLst/>
          </a:prstGeom>
          <a:solidFill>
            <a:srgbClr val="FFFFFF"/>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The refinery design program did not include a standard to design pumps for </a:t>
            </a:r>
            <a:r>
              <a:rPr lang="en-US" sz="1600" b="0" kern="0" dirty="0" smtClean="0">
                <a:solidFill>
                  <a:srgbClr val="00007D"/>
                </a:solidFill>
                <a:latin typeface="Arial" panose="020B0604020202020204" pitchFamily="34" charset="0"/>
                <a:cs typeface="Arial" panose="020B0604020202020204" pitchFamily="34" charset="0"/>
              </a:rPr>
              <a:t>any </a:t>
            </a:r>
            <a:r>
              <a:rPr lang="en-US" sz="1600" b="0" kern="0" dirty="0">
                <a:solidFill>
                  <a:srgbClr val="00007D"/>
                </a:solidFill>
                <a:latin typeface="Arial" panose="020B0604020202020204" pitchFamily="34" charset="0"/>
                <a:cs typeface="Arial" panose="020B0604020202020204" pitchFamily="34" charset="0"/>
              </a:rPr>
              <a:t>process service</a:t>
            </a:r>
          </a:p>
        </p:txBody>
      </p:sp>
      <p:sp>
        <p:nvSpPr>
          <p:cNvPr id="17" name="TextBox 16">
            <a:extLst>
              <a:ext uri="{FF2B5EF4-FFF2-40B4-BE49-F238E27FC236}">
                <a16:creationId xmlns:a16="http://schemas.microsoft.com/office/drawing/2014/main" id="{DD1F102B-CF61-415B-A281-08651BD4BCC2}"/>
              </a:ext>
            </a:extLst>
          </p:cNvPr>
          <p:cNvSpPr txBox="1"/>
          <p:nvPr/>
        </p:nvSpPr>
        <p:spPr>
          <a:xfrm>
            <a:off x="640080" y="848380"/>
            <a:ext cx="3291840" cy="365760"/>
          </a:xfrm>
          <a:prstGeom prst="rect">
            <a:avLst/>
          </a:prstGeom>
          <a:solidFill>
            <a:srgbClr val="FFFFFF"/>
          </a:solidFill>
          <a:ln>
            <a:solidFill>
              <a:srgbClr val="00007D"/>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LOSS INCIDENT</a:t>
            </a:r>
          </a:p>
        </p:txBody>
      </p:sp>
      <p:sp>
        <p:nvSpPr>
          <p:cNvPr id="18" name="TextBox 17">
            <a:extLst>
              <a:ext uri="{FF2B5EF4-FFF2-40B4-BE49-F238E27FC236}">
                <a16:creationId xmlns:a16="http://schemas.microsoft.com/office/drawing/2014/main" id="{6E750230-F738-483A-ABEA-9B148486E173}"/>
              </a:ext>
            </a:extLst>
          </p:cNvPr>
          <p:cNvSpPr txBox="1"/>
          <p:nvPr/>
        </p:nvSpPr>
        <p:spPr>
          <a:xfrm>
            <a:off x="4389120" y="1305580"/>
            <a:ext cx="4114800" cy="584775"/>
          </a:xfrm>
          <a:prstGeom prst="wedgeRectCallout">
            <a:avLst>
              <a:gd name="adj1" fmla="val -65659"/>
              <a:gd name="adj2" fmla="val 221296"/>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Replace the pump. </a:t>
            </a:r>
            <a:b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br>
            <a:endPar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B8575825-5C9D-40ED-B2B3-55FAABAC3A00}"/>
              </a:ext>
            </a:extLst>
          </p:cNvPr>
          <p:cNvSpPr txBox="1"/>
          <p:nvPr/>
        </p:nvSpPr>
        <p:spPr>
          <a:xfrm>
            <a:off x="4389120" y="2829580"/>
            <a:ext cx="4114800" cy="584775"/>
          </a:xfrm>
          <a:prstGeom prst="wedgeRectCallout">
            <a:avLst>
              <a:gd name="adj1" fmla="val -65212"/>
              <a:gd name="adj2" fmla="val 275869"/>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Correct the design specification for pumps in this kind of process service</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a:t>
            </a:r>
            <a:endPar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0" name="TextBox 19">
            <a:extLst>
              <a:ext uri="{FF2B5EF4-FFF2-40B4-BE49-F238E27FC236}">
                <a16:creationId xmlns:a16="http://schemas.microsoft.com/office/drawing/2014/main" id="{538DC856-BDE7-492C-89BC-3E020DD3E252}"/>
              </a:ext>
            </a:extLst>
          </p:cNvPr>
          <p:cNvSpPr txBox="1"/>
          <p:nvPr/>
        </p:nvSpPr>
        <p:spPr>
          <a:xfrm>
            <a:off x="4389120" y="4555777"/>
            <a:ext cx="4114800" cy="830997"/>
          </a:xfrm>
          <a:prstGeom prst="wedgeRectCallout">
            <a:avLst>
              <a:gd name="adj1" fmla="val -63395"/>
              <a:gd name="adj2" fmla="val 82070"/>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Create and implement a standard for writing </a:t>
            </a: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specifications </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and </a:t>
            </a: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designing pumps for all </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pumps in all services at </a:t>
            </a: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this refinery</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a:t>
            </a:r>
            <a:endPar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0F74F0D8-45AA-4424-A9EF-96CDBEE56F55}"/>
              </a:ext>
            </a:extLst>
          </p:cNvPr>
          <p:cNvSpPr txBox="1"/>
          <p:nvPr/>
        </p:nvSpPr>
        <p:spPr>
          <a:xfrm>
            <a:off x="4389120" y="848380"/>
            <a:ext cx="4114800" cy="338554"/>
          </a:xfrm>
          <a:prstGeom prst="rect">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RECOMMENDATIONS</a:t>
            </a:r>
            <a:endPar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971894617"/>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a:spcBef>
                <a:spcPts val="0"/>
              </a:spcBef>
              <a:spcAft>
                <a:spcPts val="0"/>
              </a:spcAft>
            </a:pPr>
            <a:r>
              <a:rPr lang="en-CA" alt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ALE #3: Most Effective Recommendation to </a:t>
            </a:r>
            <a:r>
              <a:rPr lang="en-CA"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rPr>
              <a:t>Prevent </a:t>
            </a:r>
            <a:r>
              <a:rPr lang="en-CA" alt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Recurrence?</a:t>
            </a:r>
            <a:endParaRPr lang="en-CA" altLang="en-US" sz="2000" b="0" dirty="0">
              <a:solidFill>
                <a:srgbClr val="F8F8F8"/>
              </a:solidFill>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477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grpSp>
        <p:nvGrpSpPr>
          <p:cNvPr id="2" name="Group 1"/>
          <p:cNvGrpSpPr/>
          <p:nvPr/>
        </p:nvGrpSpPr>
        <p:grpSpPr>
          <a:xfrm>
            <a:off x="180000" y="828000"/>
            <a:ext cx="8640000" cy="5328000"/>
            <a:chOff x="180000" y="828000"/>
            <a:chExt cx="8640000" cy="5328000"/>
          </a:xfrm>
        </p:grpSpPr>
        <p:sp>
          <p:nvSpPr>
            <p:cNvPr id="6" name="Rectangle 3"/>
            <p:cNvSpPr>
              <a:spLocks noChangeArrowheads="1"/>
            </p:cNvSpPr>
            <p:nvPr/>
          </p:nvSpPr>
          <p:spPr bwMode="auto">
            <a:xfrm>
              <a:off x="180000" y="828000"/>
              <a:ext cx="8640000" cy="5328000"/>
            </a:xfrm>
            <a:prstGeom prst="rect">
              <a:avLst/>
            </a:prstGeom>
            <a:solidFill>
              <a:srgbClr val="0000CC"/>
            </a:solidFill>
            <a:ln w="9525" algn="ctr">
              <a:solidFill>
                <a:srgbClr val="0000CC"/>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7" name="Straight Connector 6">
              <a:extLst>
                <a:ext uri="{FF2B5EF4-FFF2-40B4-BE49-F238E27FC236}">
                  <a16:creationId xmlns:a16="http://schemas.microsoft.com/office/drawing/2014/main" id="{FBA30691-95AA-4FEA-9547-B494F46013B8}"/>
                </a:ext>
              </a:extLst>
            </p:cNvPr>
            <p:cNvCxnSpPr>
              <a:stCxn id="17" idx="2"/>
              <a:endCxn id="16" idx="0"/>
            </p:cNvCxnSpPr>
            <p:nvPr/>
          </p:nvCxnSpPr>
          <p:spPr bwMode="auto">
            <a:xfrm>
              <a:off x="2286000" y="1214140"/>
              <a:ext cx="0" cy="4053840"/>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10" name="TextBox 9">
              <a:extLst>
                <a:ext uri="{FF2B5EF4-FFF2-40B4-BE49-F238E27FC236}">
                  <a16:creationId xmlns:a16="http://schemas.microsoft.com/office/drawing/2014/main" id="{5E782F49-E031-44EC-A4B9-0C0730B83A14}"/>
                </a:ext>
              </a:extLst>
            </p:cNvPr>
            <p:cNvSpPr txBox="1"/>
            <p:nvPr/>
          </p:nvSpPr>
          <p:spPr>
            <a:xfrm>
              <a:off x="640080" y="14275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Petroleum fire</a:t>
              </a:r>
            </a:p>
          </p:txBody>
        </p:sp>
        <p:sp>
          <p:nvSpPr>
            <p:cNvPr id="11" name="TextBox 10">
              <a:extLst>
                <a:ext uri="{FF2B5EF4-FFF2-40B4-BE49-F238E27FC236}">
                  <a16:creationId xmlns:a16="http://schemas.microsoft.com/office/drawing/2014/main" id="{D0C20258-625D-4571-A4A0-DFD1FEBCCA9A}"/>
                </a:ext>
              </a:extLst>
            </p:cNvPr>
            <p:cNvSpPr txBox="1"/>
            <p:nvPr/>
          </p:nvSpPr>
          <p:spPr>
            <a:xfrm>
              <a:off x="640080" y="206758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 released from pump casing</a:t>
              </a:r>
            </a:p>
          </p:txBody>
        </p:sp>
        <p:sp>
          <p:nvSpPr>
            <p:cNvPr id="12" name="TextBox 11">
              <a:extLst>
                <a:ext uri="{FF2B5EF4-FFF2-40B4-BE49-F238E27FC236}">
                  <a16:creationId xmlns:a16="http://schemas.microsoft.com/office/drawing/2014/main" id="{84E6BEDB-0395-47CF-BE8E-0FED3D107750}"/>
                </a:ext>
              </a:extLst>
            </p:cNvPr>
            <p:cNvSpPr txBox="1"/>
            <p:nvPr/>
          </p:nvSpPr>
          <p:spPr>
            <a:xfrm>
              <a:off x="640080" y="2707660"/>
              <a:ext cx="3291840" cy="338554"/>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casing corroded (failed)</a:t>
              </a:r>
            </a:p>
          </p:txBody>
        </p:sp>
        <p:sp>
          <p:nvSpPr>
            <p:cNvPr id="13" name="TextBox 12">
              <a:extLst>
                <a:ext uri="{FF2B5EF4-FFF2-40B4-BE49-F238E27FC236}">
                  <a16:creationId xmlns:a16="http://schemas.microsoft.com/office/drawing/2014/main" id="{BE5F168D-248F-440F-8D7C-7822F687C487}"/>
                </a:ext>
              </a:extLst>
            </p:cNvPr>
            <p:cNvSpPr txBox="1"/>
            <p:nvPr/>
          </p:nvSpPr>
          <p:spPr>
            <a:xfrm>
              <a:off x="640080" y="334774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Casing material was incompatible</a:t>
              </a:r>
            </a:p>
          </p:txBody>
        </p:sp>
        <p:sp>
          <p:nvSpPr>
            <p:cNvPr id="14" name="TextBox 13">
              <a:extLst>
                <a:ext uri="{FF2B5EF4-FFF2-40B4-BE49-F238E27FC236}">
                  <a16:creationId xmlns:a16="http://schemas.microsoft.com/office/drawing/2014/main" id="{38DF5A59-99DC-42AB-B861-FAE0E75B0126}"/>
                </a:ext>
              </a:extLst>
            </p:cNvPr>
            <p:cNvSpPr txBox="1"/>
            <p:nvPr/>
          </p:nvSpPr>
          <p:spPr>
            <a:xfrm>
              <a:off x="640080" y="398782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Improper material was used</a:t>
              </a:r>
            </a:p>
          </p:txBody>
        </p:sp>
        <p:sp>
          <p:nvSpPr>
            <p:cNvPr id="15" name="TextBox 14">
              <a:extLst>
                <a:ext uri="{FF2B5EF4-FFF2-40B4-BE49-F238E27FC236}">
                  <a16:creationId xmlns:a16="http://schemas.microsoft.com/office/drawing/2014/main" id="{BCDC09E9-AE6E-475D-87A4-C36FD4D5A4E0}"/>
                </a:ext>
              </a:extLst>
            </p:cNvPr>
            <p:cNvSpPr txBox="1"/>
            <p:nvPr/>
          </p:nvSpPr>
          <p:spPr>
            <a:xfrm>
              <a:off x="640080" y="46279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design was incorrect</a:t>
              </a:r>
            </a:p>
          </p:txBody>
        </p:sp>
        <p:sp>
          <p:nvSpPr>
            <p:cNvPr id="16" name="TextBox 15">
              <a:extLst>
                <a:ext uri="{FF2B5EF4-FFF2-40B4-BE49-F238E27FC236}">
                  <a16:creationId xmlns:a16="http://schemas.microsoft.com/office/drawing/2014/main" id="{6F937B0E-C221-478A-9B2F-D04F74D1BAC7}"/>
                </a:ext>
              </a:extLst>
            </p:cNvPr>
            <p:cNvSpPr txBox="1"/>
            <p:nvPr/>
          </p:nvSpPr>
          <p:spPr>
            <a:xfrm>
              <a:off x="640080" y="5267980"/>
              <a:ext cx="3291840" cy="830997"/>
            </a:xfrm>
            <a:prstGeom prst="rect">
              <a:avLst/>
            </a:prstGeom>
            <a:solidFill>
              <a:srgbClr val="FFFFFF"/>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The refinery design program did not include a standard to design pumps for any process service</a:t>
              </a:r>
            </a:p>
          </p:txBody>
        </p:sp>
        <p:sp>
          <p:nvSpPr>
            <p:cNvPr id="17" name="TextBox 16">
              <a:extLst>
                <a:ext uri="{FF2B5EF4-FFF2-40B4-BE49-F238E27FC236}">
                  <a16:creationId xmlns:a16="http://schemas.microsoft.com/office/drawing/2014/main" id="{DD1F102B-CF61-415B-A281-08651BD4BCC2}"/>
                </a:ext>
              </a:extLst>
            </p:cNvPr>
            <p:cNvSpPr txBox="1"/>
            <p:nvPr/>
          </p:nvSpPr>
          <p:spPr>
            <a:xfrm>
              <a:off x="640080" y="848380"/>
              <a:ext cx="3291840" cy="365760"/>
            </a:xfrm>
            <a:prstGeom prst="rect">
              <a:avLst/>
            </a:prstGeom>
            <a:solidFill>
              <a:srgbClr val="FFFFFF"/>
            </a:solidFill>
            <a:ln>
              <a:solidFill>
                <a:srgbClr val="00007D"/>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LOSS INCIDENT</a:t>
              </a:r>
            </a:p>
          </p:txBody>
        </p:sp>
        <p:sp>
          <p:nvSpPr>
            <p:cNvPr id="21" name="TextBox 20">
              <a:extLst>
                <a:ext uri="{FF2B5EF4-FFF2-40B4-BE49-F238E27FC236}">
                  <a16:creationId xmlns:a16="http://schemas.microsoft.com/office/drawing/2014/main" id="{0F74F0D8-45AA-4424-A9EF-96CDBEE56F55}"/>
                </a:ext>
              </a:extLst>
            </p:cNvPr>
            <p:cNvSpPr txBox="1"/>
            <p:nvPr/>
          </p:nvSpPr>
          <p:spPr>
            <a:xfrm>
              <a:off x="4389120" y="848380"/>
              <a:ext cx="4114800" cy="338554"/>
            </a:xfrm>
            <a:prstGeom prst="rect">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RECOMMENDATIONS</a:t>
              </a:r>
              <a:endPar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6" name="TextBox 25">
              <a:extLst>
                <a:ext uri="{FF2B5EF4-FFF2-40B4-BE49-F238E27FC236}">
                  <a16:creationId xmlns:a16="http://schemas.microsoft.com/office/drawing/2014/main" id="{6E750230-F738-483A-ABEA-9B148486E173}"/>
                </a:ext>
              </a:extLst>
            </p:cNvPr>
            <p:cNvSpPr txBox="1"/>
            <p:nvPr/>
          </p:nvSpPr>
          <p:spPr>
            <a:xfrm>
              <a:off x="4389120" y="1305580"/>
              <a:ext cx="4114800" cy="584775"/>
            </a:xfrm>
            <a:prstGeom prst="wedgeRectCallout">
              <a:avLst>
                <a:gd name="adj1" fmla="val -65659"/>
                <a:gd name="adj2" fmla="val 221296"/>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Replace the pump. </a:t>
              </a:r>
              <a:b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br>
              <a:endPar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7" name="TextBox 26">
              <a:extLst>
                <a:ext uri="{FF2B5EF4-FFF2-40B4-BE49-F238E27FC236}">
                  <a16:creationId xmlns:a16="http://schemas.microsoft.com/office/drawing/2014/main" id="{B8575825-5C9D-40ED-B2B3-55FAABAC3A00}"/>
                </a:ext>
              </a:extLst>
            </p:cNvPr>
            <p:cNvSpPr txBox="1"/>
            <p:nvPr/>
          </p:nvSpPr>
          <p:spPr>
            <a:xfrm>
              <a:off x="4568243" y="2536328"/>
              <a:ext cx="4114800" cy="584775"/>
            </a:xfrm>
            <a:prstGeom prst="wedgeRectCallout">
              <a:avLst>
                <a:gd name="adj1" fmla="val -66146"/>
                <a:gd name="adj2" fmla="val 327116"/>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Correct the design specification for pumps in this kind of process service</a:t>
              </a:r>
              <a:r>
                <a:rPr kumimoji="0" lang="en-US" sz="1600" b="0" i="0"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a:t>
              </a:r>
              <a:endPar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8" name="TextBox 27">
              <a:extLst>
                <a:ext uri="{FF2B5EF4-FFF2-40B4-BE49-F238E27FC236}">
                  <a16:creationId xmlns:a16="http://schemas.microsoft.com/office/drawing/2014/main" id="{538DC856-BDE7-492C-89BC-3E020DD3E252}"/>
                </a:ext>
              </a:extLst>
            </p:cNvPr>
            <p:cNvSpPr txBox="1"/>
            <p:nvPr/>
          </p:nvSpPr>
          <p:spPr>
            <a:xfrm>
              <a:off x="4698600" y="3886200"/>
              <a:ext cx="4114800" cy="830997"/>
            </a:xfrm>
            <a:prstGeom prst="wedgeRectCallout">
              <a:avLst>
                <a:gd name="adj1" fmla="val -69371"/>
                <a:gd name="adj2" fmla="val 142174"/>
              </a:avLst>
            </a:prstGeom>
            <a:solidFill>
              <a:srgbClr val="FFFF00"/>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Create and implement a standard for writing specifications and designing pumps for all pumps in all services at this refinery.</a:t>
              </a:r>
            </a:p>
          </p:txBody>
        </p:sp>
      </p:grpSp>
      <p:sp>
        <p:nvSpPr>
          <p:cNvPr id="3" name="Rectangle 2"/>
          <p:cNvSpPr/>
          <p:nvPr/>
        </p:nvSpPr>
        <p:spPr>
          <a:xfrm>
            <a:off x="4473040" y="5175647"/>
            <a:ext cx="4305205" cy="923330"/>
          </a:xfrm>
          <a:prstGeom prst="rect">
            <a:avLst/>
          </a:prstGeom>
        </p:spPr>
        <p:txBody>
          <a:bodyPr wrap="square">
            <a:spAutoFit/>
          </a:bodyPr>
          <a:lstStyle/>
          <a:p>
            <a:pPr algn="r"/>
            <a: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Which recommendation is </a:t>
            </a:r>
            <a:b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br>
            <a:r>
              <a:rPr lang="en-CA" altLang="en-US"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most effective for preventing a  recurrence of this incident? MM-Poll: </a:t>
            </a:r>
            <a:endParaRPr lang="en-US" dirty="0"/>
          </a:p>
        </p:txBody>
      </p:sp>
    </p:spTree>
    <p:extLst>
      <p:ext uri="{BB962C8B-B14F-4D97-AF65-F5344CB8AC3E}">
        <p14:creationId xmlns:p14="http://schemas.microsoft.com/office/powerpoint/2010/main" val="3589271512"/>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00"/>
          </a:solidFill>
          <a:ln>
            <a:solidFill>
              <a:srgbClr val="000000"/>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CA"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rPr>
              <a:t>Note the Effectiveness of Actions on Causes to Prevent Recurrence:</a:t>
            </a:r>
          </a:p>
        </p:txBody>
      </p:sp>
      <p:sp>
        <p:nvSpPr>
          <p:cNvPr id="8" name="Slide Number Placeholder 1"/>
          <p:cNvSpPr txBox="1">
            <a:spLocks noGrp="1"/>
          </p:cNvSpPr>
          <p:nvPr/>
        </p:nvSpPr>
        <p:spPr bwMode="auto">
          <a:xfrm>
            <a:off x="8280000" y="6477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200" b="1" i="1"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Rectangle 3"/>
          <p:cNvSpPr>
            <a:spLocks noChangeArrowheads="1"/>
          </p:cNvSpPr>
          <p:nvPr/>
        </p:nvSpPr>
        <p:spPr bwMode="auto">
          <a:xfrm>
            <a:off x="180000" y="828000"/>
            <a:ext cx="8640000" cy="5328000"/>
          </a:xfrm>
          <a:prstGeom prst="rect">
            <a:avLst/>
          </a:prstGeom>
          <a:solidFill>
            <a:schemeClr val="tx1"/>
          </a:solidFill>
          <a:ln w="9525" algn="ctr">
            <a:solidFill>
              <a:schemeClr val="tx1"/>
            </a:solidFill>
            <a:miter lim="800000"/>
            <a:headEnd/>
            <a:tailEnd/>
          </a:ln>
          <a:effectLst/>
        </p:spPr>
        <p:txBody>
          <a:bodyPr/>
          <a:lstStyle/>
          <a:p>
            <a:pPr marL="0" marR="0" lvl="0" indent="0" algn="l" defTabSz="914400" rtl="0" eaLnBrk="0" fontAlgn="base" latinLnBrk="0" hangingPunct="0">
              <a:lnSpc>
                <a:spcPct val="100000"/>
              </a:lnSpc>
              <a:spcBef>
                <a:spcPts val="0"/>
              </a:spcBef>
              <a:spcAft>
                <a:spcPct val="0"/>
              </a:spcAft>
              <a:buClr>
                <a:srgbClr val="000000"/>
              </a:buClr>
              <a:buSzPct val="100000"/>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cxnSp>
        <p:nvCxnSpPr>
          <p:cNvPr id="7" name="Straight Connector 6">
            <a:extLst>
              <a:ext uri="{FF2B5EF4-FFF2-40B4-BE49-F238E27FC236}">
                <a16:creationId xmlns:a16="http://schemas.microsoft.com/office/drawing/2014/main" id="{FBA30691-95AA-4FEA-9547-B494F46013B8}"/>
              </a:ext>
            </a:extLst>
          </p:cNvPr>
          <p:cNvCxnSpPr>
            <a:stCxn id="17" idx="2"/>
            <a:endCxn id="16" idx="0"/>
          </p:cNvCxnSpPr>
          <p:nvPr/>
        </p:nvCxnSpPr>
        <p:spPr bwMode="auto">
          <a:xfrm>
            <a:off x="2286000" y="1214140"/>
            <a:ext cx="0" cy="4053840"/>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10" name="TextBox 9">
            <a:extLst>
              <a:ext uri="{FF2B5EF4-FFF2-40B4-BE49-F238E27FC236}">
                <a16:creationId xmlns:a16="http://schemas.microsoft.com/office/drawing/2014/main" id="{5E782F49-E031-44EC-A4B9-0C0730B83A14}"/>
              </a:ext>
            </a:extLst>
          </p:cNvPr>
          <p:cNvSpPr txBox="1"/>
          <p:nvPr/>
        </p:nvSpPr>
        <p:spPr>
          <a:xfrm>
            <a:off x="640080" y="14275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Petroleum fire</a:t>
            </a:r>
          </a:p>
        </p:txBody>
      </p:sp>
      <p:sp>
        <p:nvSpPr>
          <p:cNvPr id="11" name="TextBox 10">
            <a:extLst>
              <a:ext uri="{FF2B5EF4-FFF2-40B4-BE49-F238E27FC236}">
                <a16:creationId xmlns:a16="http://schemas.microsoft.com/office/drawing/2014/main" id="{D0C20258-625D-4571-A4A0-DFD1FEBCCA9A}"/>
              </a:ext>
            </a:extLst>
          </p:cNvPr>
          <p:cNvSpPr txBox="1"/>
          <p:nvPr/>
        </p:nvSpPr>
        <p:spPr>
          <a:xfrm>
            <a:off x="640080" y="206758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Petrol released from pump casing</a:t>
            </a:r>
          </a:p>
        </p:txBody>
      </p:sp>
      <p:sp>
        <p:nvSpPr>
          <p:cNvPr id="12" name="TextBox 11">
            <a:extLst>
              <a:ext uri="{FF2B5EF4-FFF2-40B4-BE49-F238E27FC236}">
                <a16:creationId xmlns:a16="http://schemas.microsoft.com/office/drawing/2014/main" id="{84E6BEDB-0395-47CF-BE8E-0FED3D107750}"/>
              </a:ext>
            </a:extLst>
          </p:cNvPr>
          <p:cNvSpPr txBox="1"/>
          <p:nvPr/>
        </p:nvSpPr>
        <p:spPr>
          <a:xfrm>
            <a:off x="640080" y="2707660"/>
            <a:ext cx="3291840" cy="338554"/>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casing corroded (failed)</a:t>
            </a:r>
          </a:p>
        </p:txBody>
      </p:sp>
      <p:sp>
        <p:nvSpPr>
          <p:cNvPr id="13" name="TextBox 12">
            <a:extLst>
              <a:ext uri="{FF2B5EF4-FFF2-40B4-BE49-F238E27FC236}">
                <a16:creationId xmlns:a16="http://schemas.microsoft.com/office/drawing/2014/main" id="{BE5F168D-248F-440F-8D7C-7822F687C487}"/>
              </a:ext>
            </a:extLst>
          </p:cNvPr>
          <p:cNvSpPr txBox="1"/>
          <p:nvPr/>
        </p:nvSpPr>
        <p:spPr>
          <a:xfrm>
            <a:off x="640080" y="334774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Casing material was incompatible</a:t>
            </a:r>
          </a:p>
        </p:txBody>
      </p:sp>
      <p:sp>
        <p:nvSpPr>
          <p:cNvPr id="14" name="TextBox 13">
            <a:extLst>
              <a:ext uri="{FF2B5EF4-FFF2-40B4-BE49-F238E27FC236}">
                <a16:creationId xmlns:a16="http://schemas.microsoft.com/office/drawing/2014/main" id="{38DF5A59-99DC-42AB-B861-FAE0E75B0126}"/>
              </a:ext>
            </a:extLst>
          </p:cNvPr>
          <p:cNvSpPr txBox="1"/>
          <p:nvPr/>
        </p:nvSpPr>
        <p:spPr>
          <a:xfrm>
            <a:off x="640080" y="398782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Improper material was used</a:t>
            </a:r>
          </a:p>
        </p:txBody>
      </p:sp>
      <p:sp>
        <p:nvSpPr>
          <p:cNvPr id="15" name="TextBox 14">
            <a:extLst>
              <a:ext uri="{FF2B5EF4-FFF2-40B4-BE49-F238E27FC236}">
                <a16:creationId xmlns:a16="http://schemas.microsoft.com/office/drawing/2014/main" id="{BCDC09E9-AE6E-475D-87A4-C36FD4D5A4E0}"/>
              </a:ext>
            </a:extLst>
          </p:cNvPr>
          <p:cNvSpPr txBox="1"/>
          <p:nvPr/>
        </p:nvSpPr>
        <p:spPr>
          <a:xfrm>
            <a:off x="640080" y="4627900"/>
            <a:ext cx="3291840" cy="365760"/>
          </a:xfrm>
          <a:prstGeom prst="rect">
            <a:avLst/>
          </a:prstGeom>
          <a:solidFill>
            <a:srgbClr val="FFFFFF"/>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Pump design was incorrect</a:t>
            </a:r>
          </a:p>
        </p:txBody>
      </p:sp>
      <p:sp>
        <p:nvSpPr>
          <p:cNvPr id="16" name="TextBox 15">
            <a:extLst>
              <a:ext uri="{FF2B5EF4-FFF2-40B4-BE49-F238E27FC236}">
                <a16:creationId xmlns:a16="http://schemas.microsoft.com/office/drawing/2014/main" id="{6F937B0E-C221-478A-9B2F-D04F74D1BAC7}"/>
              </a:ext>
            </a:extLst>
          </p:cNvPr>
          <p:cNvSpPr txBox="1"/>
          <p:nvPr/>
        </p:nvSpPr>
        <p:spPr>
          <a:xfrm>
            <a:off x="640080" y="5267980"/>
            <a:ext cx="3291840" cy="830997"/>
          </a:xfrm>
          <a:prstGeom prst="rect">
            <a:avLst/>
          </a:prstGeom>
          <a:solidFill>
            <a:srgbClr val="FFFFFF"/>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The refinery design program did not include a standard to design pumps for any process service</a:t>
            </a:r>
          </a:p>
        </p:txBody>
      </p:sp>
      <p:sp>
        <p:nvSpPr>
          <p:cNvPr id="17" name="TextBox 16">
            <a:extLst>
              <a:ext uri="{FF2B5EF4-FFF2-40B4-BE49-F238E27FC236}">
                <a16:creationId xmlns:a16="http://schemas.microsoft.com/office/drawing/2014/main" id="{DD1F102B-CF61-415B-A281-08651BD4BCC2}"/>
              </a:ext>
            </a:extLst>
          </p:cNvPr>
          <p:cNvSpPr txBox="1"/>
          <p:nvPr/>
        </p:nvSpPr>
        <p:spPr>
          <a:xfrm>
            <a:off x="640080" y="848380"/>
            <a:ext cx="3291840" cy="365760"/>
          </a:xfrm>
          <a:prstGeom prst="rect">
            <a:avLst/>
          </a:prstGeom>
          <a:solidFill>
            <a:srgbClr val="FFFFFF"/>
          </a:solidFill>
          <a:ln>
            <a:solidFill>
              <a:srgbClr val="00007D"/>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LOSS INCIDENT</a:t>
            </a:r>
          </a:p>
        </p:txBody>
      </p:sp>
      <p:sp>
        <p:nvSpPr>
          <p:cNvPr id="18" name="TextBox 17">
            <a:extLst>
              <a:ext uri="{FF2B5EF4-FFF2-40B4-BE49-F238E27FC236}">
                <a16:creationId xmlns:a16="http://schemas.microsoft.com/office/drawing/2014/main" id="{6E750230-F738-483A-ABEA-9B148486E173}"/>
              </a:ext>
            </a:extLst>
          </p:cNvPr>
          <p:cNvSpPr txBox="1"/>
          <p:nvPr/>
        </p:nvSpPr>
        <p:spPr>
          <a:xfrm>
            <a:off x="4389120" y="1305580"/>
            <a:ext cx="4114800" cy="1077218"/>
          </a:xfrm>
          <a:prstGeom prst="wedgeRectCallout">
            <a:avLst>
              <a:gd name="adj1" fmla="val -66388"/>
              <a:gd name="adj2" fmla="val 100816"/>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Replace the pump. </a:t>
            </a:r>
            <a:b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br>
            <a:r>
              <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Note: This actions fixes the pump that failed, but not any other pumps in the refinery, now or in the future.</a:t>
            </a:r>
          </a:p>
        </p:txBody>
      </p:sp>
      <p:sp>
        <p:nvSpPr>
          <p:cNvPr id="19" name="TextBox 18">
            <a:extLst>
              <a:ext uri="{FF2B5EF4-FFF2-40B4-BE49-F238E27FC236}">
                <a16:creationId xmlns:a16="http://schemas.microsoft.com/office/drawing/2014/main" id="{B8575825-5C9D-40ED-B2B3-55FAABAC3A00}"/>
              </a:ext>
            </a:extLst>
          </p:cNvPr>
          <p:cNvSpPr txBox="1"/>
          <p:nvPr/>
        </p:nvSpPr>
        <p:spPr>
          <a:xfrm>
            <a:off x="4389120" y="2829580"/>
            <a:ext cx="4114800" cy="1323439"/>
          </a:xfrm>
          <a:prstGeom prst="wedgeRectCallout">
            <a:avLst>
              <a:gd name="adj1" fmla="val -68126"/>
              <a:gd name="adj2" fmla="val 98994"/>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Correct the design specification for pumps in this kind of process service.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Note: This action fixes the design for all pumps in this service, now and in the future, but not any pumps in other services.</a:t>
            </a:r>
          </a:p>
        </p:txBody>
      </p:sp>
      <p:sp>
        <p:nvSpPr>
          <p:cNvPr id="20" name="TextBox 19">
            <a:extLst>
              <a:ext uri="{FF2B5EF4-FFF2-40B4-BE49-F238E27FC236}">
                <a16:creationId xmlns:a16="http://schemas.microsoft.com/office/drawing/2014/main" id="{538DC856-BDE7-492C-89BC-3E020DD3E252}"/>
              </a:ext>
            </a:extLst>
          </p:cNvPr>
          <p:cNvSpPr txBox="1"/>
          <p:nvPr/>
        </p:nvSpPr>
        <p:spPr>
          <a:xfrm>
            <a:off x="4389120" y="4555777"/>
            <a:ext cx="4114800" cy="1323439"/>
          </a:xfrm>
          <a:prstGeom prst="wedgeRectCallout">
            <a:avLst>
              <a:gd name="adj1" fmla="val -61574"/>
              <a:gd name="adj2" fmla="val 27954"/>
            </a:avLst>
          </a:prstGeom>
          <a:solidFill>
            <a:srgbClr val="FFFF00"/>
          </a:solidFill>
          <a:ln>
            <a:solidFill>
              <a:srgbClr val="00007D"/>
            </a:solidFill>
          </a:ln>
        </p:spPr>
        <p:txBody>
          <a:bodyPr wrap="square" rtlCol="0">
            <a:spAutoFit/>
          </a:bodyPr>
          <a:lstStyle/>
          <a:p>
            <a:pPr lvl="0" algn="ctr" fontAlgn="auto">
              <a:spcBef>
                <a:spcPts val="0"/>
              </a:spcBef>
              <a:spcAft>
                <a:spcPts val="0"/>
              </a:spcAft>
              <a:defRPr/>
            </a:pPr>
            <a:r>
              <a:rPr lang="en-US" sz="1600" b="0" kern="0" dirty="0">
                <a:solidFill>
                  <a:srgbClr val="00007D"/>
                </a:solidFill>
                <a:latin typeface="Arial" panose="020B0604020202020204" pitchFamily="34" charset="0"/>
                <a:cs typeface="Arial" panose="020B0604020202020204" pitchFamily="34" charset="0"/>
              </a:rPr>
              <a:t>Create and implement a standard for writing specifications and designing pumps for all pumps in all services at this refinery.</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Note</a:t>
            </a:r>
            <a:r>
              <a:rPr kumimoji="0" lang="en-US" sz="1600" b="0" i="1" u="none"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rPr>
              <a:t>: This fixes all designs for all pumps in all services. </a:t>
            </a:r>
          </a:p>
        </p:txBody>
      </p:sp>
      <p:sp>
        <p:nvSpPr>
          <p:cNvPr id="21" name="TextBox 20">
            <a:extLst>
              <a:ext uri="{FF2B5EF4-FFF2-40B4-BE49-F238E27FC236}">
                <a16:creationId xmlns:a16="http://schemas.microsoft.com/office/drawing/2014/main" id="{0F74F0D8-45AA-4424-A9EF-96CDBEE56F55}"/>
              </a:ext>
            </a:extLst>
          </p:cNvPr>
          <p:cNvSpPr txBox="1"/>
          <p:nvPr/>
        </p:nvSpPr>
        <p:spPr>
          <a:xfrm>
            <a:off x="4389120" y="848380"/>
            <a:ext cx="4114800" cy="338554"/>
          </a:xfrm>
          <a:prstGeom prst="rect">
            <a:avLst/>
          </a:prstGeom>
          <a:solidFill>
            <a:srgbClr val="FFFF00"/>
          </a:solidFill>
          <a:ln>
            <a:solidFill>
              <a:srgbClr val="00007D"/>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smtClean="0">
                <a:ln>
                  <a:noFill/>
                </a:ln>
                <a:solidFill>
                  <a:srgbClr val="00007D"/>
                </a:solidFill>
                <a:effectLst/>
                <a:uLnTx/>
                <a:uFillTx/>
                <a:latin typeface="Arial" panose="020B0604020202020204" pitchFamily="34" charset="0"/>
                <a:ea typeface="+mn-ea"/>
                <a:cs typeface="Arial" panose="020B0604020202020204" pitchFamily="34" charset="0"/>
              </a:rPr>
              <a:t>RECOMMENDATIONS</a:t>
            </a:r>
            <a:endParaRPr kumimoji="0" lang="en-US" sz="1600" b="1" i="0" u="sng" strike="noStrike" kern="0" cap="none" spc="0" normalizeH="0" baseline="0" noProof="0" dirty="0">
              <a:ln>
                <a:noFill/>
              </a:ln>
              <a:solidFill>
                <a:srgbClr val="00007D"/>
              </a:solidFill>
              <a:effectLst/>
              <a:uLnTx/>
              <a:uFillTx/>
              <a:latin typeface="Arial" panose="020B0604020202020204" pitchFamily="34" charset="0"/>
              <a:ea typeface="+mn-ea"/>
              <a:cs typeface="Arial" panose="020B0604020202020204" pitchFamily="34" charset="0"/>
            </a:endParaRPr>
          </a:p>
        </p:txBody>
      </p:sp>
      <p:sp>
        <p:nvSpPr>
          <p:cNvPr id="22" name="TextBox 21">
            <a:extLst>
              <a:ext uri="{FF2B5EF4-FFF2-40B4-BE49-F238E27FC236}">
                <a16:creationId xmlns:a16="http://schemas.microsoft.com/office/drawing/2014/main" id="{9CD4B3BB-9032-41E4-9166-6C683FFA76CB}"/>
              </a:ext>
            </a:extLst>
          </p:cNvPr>
          <p:cNvSpPr txBox="1"/>
          <p:nvPr/>
        </p:nvSpPr>
        <p:spPr>
          <a:xfrm>
            <a:off x="5257800" y="2384048"/>
            <a:ext cx="3246120" cy="307777"/>
          </a:xfrm>
          <a:prstGeom prst="rect">
            <a:avLst/>
          </a:prstGeom>
          <a:solidFill>
            <a:srgbClr val="FF0000"/>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NO PREVENTION</a:t>
            </a:r>
          </a:p>
        </p:txBody>
      </p:sp>
      <p:sp>
        <p:nvSpPr>
          <p:cNvPr id="23" name="TextBox 22">
            <a:extLst>
              <a:ext uri="{FF2B5EF4-FFF2-40B4-BE49-F238E27FC236}">
                <a16:creationId xmlns:a16="http://schemas.microsoft.com/office/drawing/2014/main" id="{C784D895-933D-4D8B-8768-96DAED71C2C9}"/>
              </a:ext>
            </a:extLst>
          </p:cNvPr>
          <p:cNvSpPr txBox="1"/>
          <p:nvPr/>
        </p:nvSpPr>
        <p:spPr>
          <a:xfrm>
            <a:off x="5242560" y="4153019"/>
            <a:ext cx="3246120" cy="307777"/>
          </a:xfrm>
          <a:prstGeom prst="rect">
            <a:avLst/>
          </a:prstGeom>
          <a:solidFill>
            <a:srgbClr val="FF0000"/>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PREVENTS ONLY SAME SERVICE</a:t>
            </a:r>
          </a:p>
        </p:txBody>
      </p:sp>
      <p:sp>
        <p:nvSpPr>
          <p:cNvPr id="25"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
        <p:nvSpPr>
          <p:cNvPr id="26" name="TextBox 25">
            <a:extLst>
              <a:ext uri="{FF2B5EF4-FFF2-40B4-BE49-F238E27FC236}">
                <a16:creationId xmlns:a16="http://schemas.microsoft.com/office/drawing/2014/main" id="{18520E9F-5BFB-494D-9E89-7BC5D111DD24}"/>
              </a:ext>
            </a:extLst>
          </p:cNvPr>
          <p:cNvSpPr txBox="1"/>
          <p:nvPr/>
        </p:nvSpPr>
        <p:spPr>
          <a:xfrm>
            <a:off x="4389120" y="5801380"/>
            <a:ext cx="4114800" cy="523220"/>
          </a:xfrm>
          <a:prstGeom prst="rect">
            <a:avLst/>
          </a:prstGeom>
          <a:solidFill>
            <a:srgbClr val="FF0000"/>
          </a:solid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smtClean="0">
                <a:ln>
                  <a:noFill/>
                </a:ln>
                <a:solidFill>
                  <a:srgbClr val="FFFFFF"/>
                </a:solidFill>
                <a:effectLst/>
                <a:uLnTx/>
                <a:uFillTx/>
                <a:latin typeface="Arial" panose="020B0604020202020204" pitchFamily="34" charset="0"/>
                <a:ea typeface="+mn-ea"/>
                <a:cs typeface="Arial" panose="020B0604020202020204" pitchFamily="34" charset="0"/>
              </a:rPr>
              <a:t>MOST EFFECTIVE!PREVENTS </a:t>
            </a:r>
            <a:r>
              <a:rPr kumimoji="0" lang="en-US" sz="1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DESIGN ERRORS ON ALL PROCESS SERVICES</a:t>
            </a:r>
          </a:p>
        </p:txBody>
      </p:sp>
    </p:spTree>
    <p:extLst>
      <p:ext uri="{BB962C8B-B14F-4D97-AF65-F5344CB8AC3E}">
        <p14:creationId xmlns:p14="http://schemas.microsoft.com/office/powerpoint/2010/main" val="1140430324"/>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FF00"/>
          </a:solid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None/>
              <a:tabLst/>
              <a:defRPr/>
            </a:pPr>
            <a:r>
              <a:rPr lang="en-US" altLang="en-US" sz="18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
            </a:r>
            <a:r>
              <a:rPr kumimoji="0" lang="en-US" altLang="en-US" sz="18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hat</a:t>
            </a:r>
            <a:r>
              <a:rPr kumimoji="0" lang="en-US" altLang="en-US" sz="18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does a good “recommendation for action” statement look like?</a:t>
            </a:r>
            <a:endParaRPr kumimoji="0" lang="en-US" altLang="en-US" sz="18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previous slides give you a good idea about differentiating an action to address an immediate cause, a basic cause, and a latent cause</a:t>
            </a: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 however, this </a:t>
            </a:r>
            <a:r>
              <a:rPr lang="en-CA" altLang="en-US" sz="1800" b="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latent cause statement is not the best model. </a:t>
            </a:r>
            <a:r>
              <a:rPr lang="en-CA"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So, </a:t>
            </a:r>
            <a:r>
              <a:rPr lang="en-CA" altLang="en-US" sz="1800" b="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let’s consider these two latent cause statements in two different roots:</a:t>
            </a:r>
          </a:p>
          <a:p>
            <a:pPr marL="720000" lvl="0" indent="-360000" eaLnBrk="0" hangingPunct="0">
              <a:lnSpc>
                <a:spcPct val="90000"/>
              </a:lnSpc>
              <a:spcBef>
                <a:spcPts val="0"/>
              </a:spcBef>
              <a:buClrTx/>
              <a:buSzPct val="100000"/>
              <a:buFont typeface="+mj-lt"/>
              <a:buAutoNum type="alphaLcParenR"/>
              <a:defRPr/>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 program did not include a standard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how and when to perform regular / periodic internal and external evaluations for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on-going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construction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a:t>
            </a:r>
          </a:p>
          <a:p>
            <a:pPr marL="720000" lvl="0" indent="-360000" eaLnBrk="0" hangingPunct="0">
              <a:lnSpc>
                <a:spcPct val="90000"/>
              </a:lnSpc>
              <a:spcBef>
                <a:spcPts val="0"/>
              </a:spcBef>
              <a:buClrTx/>
              <a:buSzPct val="100000"/>
              <a:buFont typeface="+mj-lt"/>
              <a:buAutoNum type="alphaLcParenR"/>
              <a:defRPr/>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 program did not include a standard to define how and when to perform regular / periodic internal and external evaluations for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documents and the review of those documents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p>
          <a:p>
            <a:pPr marL="360000" lvl="0" indent="-360000" eaLnBrk="0" hangingPunct="0">
              <a:lnSpc>
                <a:spcPct val="90000"/>
              </a:lnSpc>
              <a:spcBef>
                <a:spcPts val="0"/>
              </a:spcBef>
              <a:buClrTx/>
              <a:buSzPct val="100000"/>
              <a:buFont typeface="Wingdings" panose="05000000000000000000" pitchFamily="2" charset="2"/>
              <a:buChar char="Ø"/>
              <a:defRPr/>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Thus, your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action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for each recommendation should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then address exactly what is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missing</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or what needs to be addressed in order to close the gap:</a:t>
            </a:r>
          </a:p>
          <a:p>
            <a:pPr marL="720000" lvl="0" indent="-360000" eaLnBrk="0" hangingPunct="0">
              <a:lnSpc>
                <a:spcPct val="90000"/>
              </a:lnSpc>
              <a:spcBef>
                <a:spcPts val="0"/>
              </a:spcBef>
              <a:buClrTx/>
              <a:buSzPct val="100000"/>
              <a:buFont typeface="+mj-lt"/>
              <a:buAutoNum type="alphaLcParenR"/>
              <a:defRPr/>
            </a:pP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 standard for the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auditing program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to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define how and when to perform regular / periodic internal and external evaluations for on-going construction practices.</a:t>
            </a:r>
          </a:p>
          <a:p>
            <a:pPr marL="720000" lvl="0" indent="-360000" eaLnBrk="0" hangingPunct="0">
              <a:lnSpc>
                <a:spcPct val="90000"/>
              </a:lnSpc>
              <a:spcBef>
                <a:spcPts val="0"/>
              </a:spcBef>
              <a:buClrTx/>
              <a:buSzPct val="100000"/>
              <a:buFont typeface="+mj-lt"/>
              <a:buAutoNum type="alphaLcParenR"/>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 standard for the auditing program to define how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when to perform regular / periodic internal and external evaluations for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 of on-going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construction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documents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and the review of those documents.</a:t>
            </a:r>
          </a:p>
          <a:p>
            <a:pPr marL="360000" lvl="0" indent="-360000" eaLnBrk="0" hangingPunct="0">
              <a:lnSpc>
                <a:spcPct val="90000"/>
              </a:lnSpc>
              <a:spcBef>
                <a:spcPts val="0"/>
              </a:spcBef>
              <a:buClrTx/>
              <a:buSzPct val="100000"/>
              <a:buFont typeface="Wingdings" panose="05000000000000000000" pitchFamily="2" charset="2"/>
              <a:buChar char="Ø"/>
              <a:defRPr/>
            </a:pP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b="0" dirty="0" smtClean="0">
                <a:solidFill>
                  <a:srgbClr val="333399"/>
                </a:solidFill>
                <a:latin typeface="Arial" panose="020B0604020202020204" pitchFamily="34" charset="0"/>
                <a:cs typeface="Arial" panose="020B0604020202020204" pitchFamily="34" charset="0"/>
              </a:rPr>
              <a:t>Recommendation for Action: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14524767"/>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solidFill>
            <a:srgbClr val="FFFF00"/>
          </a:solid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0" fontAlgn="base" latinLnBrk="0" hangingPunct="0">
              <a:lnSpc>
                <a:spcPct val="90000"/>
              </a:lnSpc>
              <a:spcBef>
                <a:spcPts val="0"/>
              </a:spcBef>
              <a:spcAft>
                <a:spcPct val="0"/>
              </a:spcAft>
              <a:buClr>
                <a:srgbClr val="000000"/>
              </a:buClr>
              <a:buSzPct val="100000"/>
              <a:buNone/>
              <a:tabLst/>
              <a:defRPr/>
            </a:pPr>
            <a:r>
              <a:rPr lang="en-US" altLang="en-US" sz="1800" noProof="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W</a:t>
            </a:r>
            <a:r>
              <a:rPr kumimoji="0" lang="en-US" altLang="en-US" sz="180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hat</a:t>
            </a:r>
            <a:r>
              <a:rPr kumimoji="0" lang="en-US" altLang="en-US" sz="180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does a good “recommendation for action” statement look like?</a:t>
            </a:r>
            <a:endParaRPr kumimoji="0" lang="en-US" altLang="en-US" sz="180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Alternatively, one could create a combined recommendation to address both latent causes:</a:t>
            </a: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72000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an auditing program that ensures regular internal and external evaluations are performed for ongoing construction practices, as well as for inspection documents and the review of those documents.</a:t>
            </a:r>
          </a:p>
          <a:p>
            <a:pPr marL="360000" lvl="0" indent="-360000" eaLnBrk="0" hangingPunct="0">
              <a:lnSpc>
                <a:spcPct val="90000"/>
              </a:lnSpc>
              <a:spcBef>
                <a:spcPts val="0"/>
              </a:spcBef>
              <a:buClrTx/>
              <a:buSzPct val="100000"/>
              <a:buFont typeface="Wingdings" panose="05000000000000000000" pitchFamily="2" charset="2"/>
              <a:buChar char="Ø"/>
              <a:defRPr/>
            </a:pPr>
            <a:endPar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BUT the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phrase "Implement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an auditing program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to ensure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inspections are done" is </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somewhat weak </a:t>
            </a: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i.e</a:t>
            </a:r>
            <a:r>
              <a:rPr lang="en-US" altLang="en-US" sz="1800"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 it is not expressed in concrete terms. </a:t>
            </a:r>
            <a:endPar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90000"/>
              </a:lnSpc>
              <a:spcBef>
                <a:spcPts val="0"/>
              </a:spcBef>
              <a:buClrTx/>
              <a:buSzPct val="100000"/>
              <a:buFont typeface="Wingdings" panose="05000000000000000000" pitchFamily="2" charset="2"/>
              <a:buChar char="Ø"/>
              <a:defRPr/>
            </a:pPr>
            <a:r>
              <a:rPr lang="en-US" altLang="en-US" sz="1800" b="0"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The combined recommendation can be expressed as either:</a:t>
            </a:r>
          </a:p>
          <a:p>
            <a:pPr marL="720000" lvl="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an auditing program standard to define how and when to perform regular / periodic internal and external evaluations for ongoing construction practices, as well as for inspection documents and the review of those documents.</a:t>
            </a:r>
          </a:p>
          <a:p>
            <a:pPr marL="720000" lvl="0" indent="-360000" eaLnBrk="0" hangingPunct="0">
              <a:lnSpc>
                <a:spcPct val="90000"/>
              </a:lnSpc>
              <a:spcBef>
                <a:spcPts val="0"/>
              </a:spcBef>
              <a:buClrTx/>
              <a:buSzPct val="100000"/>
              <a:buFont typeface="Wingdings" panose="05000000000000000000" pitchFamily="2" charset="2"/>
              <a:buChar char="Ø"/>
              <a:defRPr/>
            </a:pP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Implement a standard within the auditing program to define how and when to perform regular / periodic internal and external evaluations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of on-going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construction </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practices, and the as well as for </a:t>
            </a:r>
            <a:r>
              <a:rPr lang="en-US" altLang="en-US" sz="1800" b="0" i="1"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inspection documents and the review of those documents</a:t>
            </a:r>
            <a:r>
              <a:rPr lang="en-US" altLang="en-US" sz="1800" b="0" i="1" dirty="0" smtClean="0">
                <a:solidFill>
                  <a:srgbClr val="000000"/>
                </a:solidFill>
                <a:latin typeface="Arial" panose="020B0604020202020204" pitchFamily="34" charset="0"/>
                <a:ea typeface="ＭＳ Ｐゴシック" panose="020B0600070205080204" pitchFamily="34" charset="-128"/>
                <a:cs typeface="Arial" panose="020B0604020202020204" pitchFamily="34" charset="0"/>
              </a:rPr>
              <a:t>.</a:t>
            </a:r>
            <a:endParaRPr kumimoji="0" lang="en-CA" altLang="en-US" sz="18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lang="en-US" altLang="en-US" sz="2400" b="0" dirty="0" smtClean="0">
                <a:solidFill>
                  <a:srgbClr val="333399"/>
                </a:solidFill>
                <a:latin typeface="Arial" panose="020B0604020202020204" pitchFamily="34" charset="0"/>
                <a:cs typeface="Arial" panose="020B0604020202020204" pitchFamily="34" charset="0"/>
              </a:rPr>
              <a:t>Recommendation for Action:</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3248880226"/>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180000" y="828000"/>
            <a:ext cx="8640000" cy="5328000"/>
          </a:xfrm>
          <a:prstGeom prst="rect">
            <a:avLst/>
          </a:prstGeom>
          <a:noFill/>
          <a:ln w="9525">
            <a:noFill/>
            <a:miter lim="800000"/>
            <a:headEnd/>
            <a:tailEnd/>
          </a:ln>
        </p:spPr>
        <p:txBody>
          <a:bodyPr/>
          <a:lstStyle>
            <a:lvl1pPr marL="609600" indent="-609600">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432000" marR="0" lvl="0" indent="-432000" algn="l" defTabSz="914400" rtl="0" eaLnBrk="0" fontAlgn="base" latinLnBrk="0" hangingPunct="0">
              <a:lnSpc>
                <a:spcPct val="100000"/>
              </a:lnSpc>
              <a:spcBef>
                <a:spcPts val="0"/>
              </a:spcBef>
              <a:spcAft>
                <a:spcPct val="0"/>
              </a:spcAft>
              <a:buClr>
                <a:srgbClr val="000000"/>
              </a:buClr>
              <a:buSzPct val="100000"/>
              <a:buFont typeface="Wingdings" panose="05000000000000000000" pitchFamily="2" charset="2"/>
              <a:buChar char="Ø"/>
              <a:tabLst/>
              <a:defRPr/>
            </a:pPr>
            <a:endParaRPr kumimoji="0" lang="en-US"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lvl="0" indent="-360000" eaLnBrk="0" hangingPunct="0">
              <a:lnSpc>
                <a:spcPct val="100000"/>
              </a:lnSpc>
              <a:spcBef>
                <a:spcPts val="0"/>
              </a:spcBef>
              <a:buClrTx/>
              <a:buSzPct val="100000"/>
              <a:buFont typeface="Wingdings" panose="05000000000000000000" pitchFamily="2" charset="2"/>
              <a:buChar char="Ø"/>
              <a:defRPr/>
            </a:pPr>
            <a:r>
              <a:rPr lang="en-US" altLang="en-US" b="0" dirty="0">
                <a:solidFill>
                  <a:srgbClr val="000000"/>
                </a:solidFill>
                <a:latin typeface="Arial" panose="020B0604020202020204" pitchFamily="34" charset="0"/>
                <a:ea typeface="ＭＳ Ｐゴシック" panose="020B0600070205080204" pitchFamily="34" charset="-128"/>
                <a:cs typeface="Arial" panose="020B0604020202020204" pitchFamily="34" charset="0"/>
              </a:rPr>
              <a:t>Each root ends in one unique latent cause, and one latent cause can align to only one risk management system element. </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The latent cause is stated in terms relevant to one unique management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system element.</a:t>
            </a: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recommendation </a:t>
            </a:r>
            <a:r>
              <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for </a:t>
            </a:r>
            <a:r>
              <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action should readily follow from a well-stated latent cause. It should</a:t>
            </a:r>
            <a:r>
              <a:rPr kumimoji="0" lang="en-CA" altLang="en-US" sz="2000" b="0" i="0" u="none" strike="noStrike" kern="1200" cap="none" spc="0" normalizeH="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be in concrete terms. </a:t>
            </a:r>
            <a:endParaRPr kumimoji="0" lang="en-CA" altLang="en-US" sz="2000" b="0" i="0" u="none" strike="noStrike" kern="1200" cap="none" spc="0" normalizeH="0" baseline="0" noProof="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endParaRPr lang="en-CA" altLang="en-US" b="0" noProof="0" dirty="0">
              <a:solidFill>
                <a:srgbClr val="000000"/>
              </a:solidFill>
              <a:latin typeface="Arial" panose="020B0604020202020204" pitchFamily="34" charset="0"/>
              <a:ea typeface="ＭＳ Ｐゴシック" panose="020B0600070205080204" pitchFamily="34" charset="-128"/>
              <a:cs typeface="Arial" panose="020B0604020202020204" pitchFamily="34" charset="0"/>
            </a:endParaRPr>
          </a:p>
          <a:p>
            <a:pPr marL="360000" marR="0" lvl="0" indent="-360000" algn="l" defTabSz="914400" rtl="0" eaLnBrk="0" fontAlgn="base" latinLnBrk="0" hangingPunct="0">
              <a:lnSpc>
                <a:spcPct val="100000"/>
              </a:lnSpc>
              <a:spcBef>
                <a:spcPts val="0"/>
              </a:spcBef>
              <a:spcAft>
                <a:spcPct val="0"/>
              </a:spcAft>
              <a:buClrTx/>
              <a:buSzPct val="100000"/>
              <a:buFont typeface="Wingdings" panose="05000000000000000000" pitchFamily="2" charset="2"/>
              <a:buChar char="Ø"/>
              <a:tabLst/>
              <a:defRPr/>
            </a:pPr>
            <a:r>
              <a:rPr kumimoji="0" lang="en-CA" altLang="en-US" sz="2000" b="0" i="0" u="none" strike="noStrike" kern="1200" cap="none" spc="0" normalizeH="0" baseline="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A recommendation that addresses a latent cause is MOST effective in preventing a recurrence of a loss incident</a:t>
            </a:r>
            <a:r>
              <a:rPr kumimoji="0" lang="en-CA" altLang="en-US" sz="2000" b="0" i="0" u="none" strike="noStrike" kern="1200" cap="none" spc="0" normalizeH="0" dirty="0" smtClean="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t> through the identified root in the RCA. </a:t>
            </a:r>
            <a:endParaRPr kumimoji="0" lang="en-CA" altLang="en-US" sz="2000" b="0" i="0" u="none" strike="noStrike" kern="1200" cap="none" spc="0" normalizeH="0" baseline="0" noProof="0" dirty="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Rectangle 2"/>
          <p:cNvSpPr>
            <a:spLocks noChangeArrowheads="1"/>
          </p:cNvSpPr>
          <p:nvPr/>
        </p:nvSpPr>
        <p:spPr bwMode="auto">
          <a:xfrm>
            <a:off x="180000" y="216000"/>
            <a:ext cx="8640000" cy="504000"/>
          </a:xfrm>
          <a:prstGeom prst="rect">
            <a:avLst/>
          </a:prstGeom>
          <a:noFill/>
          <a:ln>
            <a:no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smtClean="0">
                <a:ln>
                  <a:noFill/>
                </a:ln>
                <a:solidFill>
                  <a:srgbClr val="333399"/>
                </a:solidFill>
                <a:effectLst/>
                <a:uLnTx/>
                <a:uFillTx/>
                <a:latin typeface="Arial" panose="020B0604020202020204" pitchFamily="34" charset="0"/>
                <a:ea typeface="+mn-ea"/>
                <a:cs typeface="Arial" panose="020B0604020202020204" pitchFamily="34" charset="0"/>
              </a:rPr>
              <a:t>Summary &amp; Key Lessons:</a:t>
            </a:r>
            <a:endParaRPr kumimoji="0" lang="en-US" altLang="en-US" sz="2400" b="0" i="0" u="none" strike="noStrike" kern="1200" cap="none" spc="0" normalizeH="0" baseline="0" noProof="0" dirty="0">
              <a:ln>
                <a:noFill/>
              </a:ln>
              <a:solidFill>
                <a:srgbClr val="333399"/>
              </a:solidFill>
              <a:effectLst/>
              <a:uLnTx/>
              <a:uFillTx/>
              <a:latin typeface="Arial" panose="020B0604020202020204" pitchFamily="34" charset="0"/>
              <a:ea typeface="+mn-ea"/>
              <a:cs typeface="Arial" panose="020B0604020202020204" pitchFamily="34" charset="0"/>
            </a:endParaRPr>
          </a:p>
        </p:txBody>
      </p:sp>
      <p:sp>
        <p:nvSpPr>
          <p:cNvPr id="12"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6"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spTree>
    <p:extLst>
      <p:ext uri="{BB962C8B-B14F-4D97-AF65-F5344CB8AC3E}">
        <p14:creationId xmlns:p14="http://schemas.microsoft.com/office/powerpoint/2010/main" val="281416981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80000" y="180000"/>
            <a:ext cx="8640000" cy="504000"/>
          </a:xfrm>
          <a:prstGeom prst="rect">
            <a:avLst/>
          </a:prstGeom>
          <a:solidFill>
            <a:srgbClr val="0000FF"/>
          </a:solidFill>
          <a:ln>
            <a:solidFill>
              <a:srgbClr val="0000FF"/>
            </a:solidFill>
          </a:ln>
        </p:spPr>
        <p:txBody>
          <a:bodyPr anchor="ctr"/>
          <a:lstStyle>
            <a:lvl1pPr>
              <a:lnSpc>
                <a:spcPct val="120000"/>
              </a:lnSpc>
              <a:spcBef>
                <a:spcPts val="1000"/>
              </a:spcBef>
              <a:buClr>
                <a:schemeClr val="tx1"/>
              </a:buClr>
              <a:buFont typeface="Arial" panose="020B0604020202020204" pitchFamily="34" charset="0"/>
              <a:buChar char="•"/>
              <a:defRPr sz="2000">
                <a:solidFill>
                  <a:schemeClr val="tx1"/>
                </a:solidFill>
                <a:latin typeface="Tw Cen MT" panose="020B0602020104020603" pitchFamily="34" charset="0"/>
              </a:defRPr>
            </a:lvl1pPr>
            <a:lvl2pPr marL="742950" indent="-285750">
              <a:lnSpc>
                <a:spcPct val="120000"/>
              </a:lnSpc>
              <a:spcBef>
                <a:spcPts val="500"/>
              </a:spcBef>
              <a:buClr>
                <a:schemeClr val="tx1"/>
              </a:buClr>
              <a:buFont typeface="Arial" panose="020B0604020202020204" pitchFamily="34" charset="0"/>
              <a:buChar char="•"/>
              <a:defRPr>
                <a:solidFill>
                  <a:schemeClr val="tx1"/>
                </a:solidFill>
                <a:latin typeface="Tw Cen MT" panose="020B0602020104020603" pitchFamily="34" charset="0"/>
              </a:defRPr>
            </a:lvl2pPr>
            <a:lvl3pPr marL="1143000" indent="-228600">
              <a:lnSpc>
                <a:spcPct val="120000"/>
              </a:lnSpc>
              <a:spcBef>
                <a:spcPts val="500"/>
              </a:spcBef>
              <a:buClr>
                <a:schemeClr val="tx1"/>
              </a:buClr>
              <a:buFont typeface="Arial" panose="020B0604020202020204" pitchFamily="34" charset="0"/>
              <a:buChar char="•"/>
              <a:defRPr sz="1600">
                <a:solidFill>
                  <a:schemeClr val="tx1"/>
                </a:solidFill>
                <a:latin typeface="Tw Cen MT" panose="020B0602020104020603" pitchFamily="34" charset="0"/>
              </a:defRPr>
            </a:lvl3pPr>
            <a:lvl4pPr marL="16002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4pPr>
            <a:lvl5pPr marL="2057400" indent="-228600">
              <a:lnSpc>
                <a:spcPct val="120000"/>
              </a:lnSpc>
              <a:spcBef>
                <a:spcPts val="500"/>
              </a:spcBef>
              <a:buClr>
                <a:schemeClr val="tx1"/>
              </a:buClr>
              <a:buFont typeface="Arial" panose="020B0604020202020204" pitchFamily="34" charset="0"/>
              <a:buChar char="•"/>
              <a:defRPr sz="1400">
                <a:solidFill>
                  <a:schemeClr val="tx1"/>
                </a:solidFill>
                <a:latin typeface="Tw Cen MT" panose="020B0602020104020603" pitchFamily="34" charset="0"/>
              </a:defRPr>
            </a:lvl5pPr>
            <a:lvl6pPr marL="25146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6pPr>
            <a:lvl7pPr marL="29718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7pPr>
            <a:lvl8pPr marL="34290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8pPr>
            <a:lvl9pPr marL="3886200" indent="-228600" eaLnBrk="0" fontAlgn="base" hangingPunct="0">
              <a:lnSpc>
                <a:spcPct val="120000"/>
              </a:lnSpc>
              <a:spcBef>
                <a:spcPts val="500"/>
              </a:spcBef>
              <a:spcAft>
                <a:spcPct val="0"/>
              </a:spcAft>
              <a:buClr>
                <a:schemeClr val="tx1"/>
              </a:buClr>
              <a:buFont typeface="Arial" panose="020B0604020202020204" pitchFamily="34" charset="0"/>
              <a:buChar char="•"/>
              <a:defRPr sz="1400">
                <a:solidFill>
                  <a:schemeClr val="tx1"/>
                </a:solidFill>
                <a:latin typeface="Tw Cen MT" panose="020B0602020104020603"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Any questions?</a:t>
            </a:r>
          </a:p>
        </p:txBody>
      </p:sp>
    </p:spTree>
    <p:extLst>
      <p:ext uri="{BB962C8B-B14F-4D97-AF65-F5344CB8AC3E}">
        <p14:creationId xmlns:p14="http://schemas.microsoft.com/office/powerpoint/2010/main" val="2221846294"/>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Rectangle 2"/>
          <p:cNvSpPr>
            <a:spLocks noChangeArrowheads="1"/>
          </p:cNvSpPr>
          <p:nvPr/>
        </p:nvSpPr>
        <p:spPr bwMode="auto">
          <a:xfrm>
            <a:off x="180000" y="180000"/>
            <a:ext cx="8640000" cy="504000"/>
          </a:xfrm>
          <a:prstGeom prst="rect">
            <a:avLst/>
          </a:prstGeom>
          <a:solidFill>
            <a:srgbClr val="0000CC"/>
          </a:solidFill>
          <a:ln>
            <a:solidFill>
              <a:srgbClr val="0000CC"/>
            </a:solidFill>
          </a:ln>
        </p:spPr>
        <p:txBody>
          <a:bodyPr wrap="square" anchor="ctr" anchorCtr="0">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altLang="en-US" sz="2000" b="0" dirty="0" smtClean="0">
                <a:solidFill>
                  <a:srgbClr val="F8F8F8"/>
                </a:solidFill>
                <a:latin typeface="Arial" panose="020B0604020202020204" pitchFamily="34" charset="0"/>
                <a:ea typeface="ＭＳ Ｐゴシック" panose="020B0600070205080204" pitchFamily="34" charset="-128"/>
                <a:cs typeface="Arial" panose="020B0604020202020204" pitchFamily="34" charset="0"/>
              </a:rPr>
              <a:t>RCA of an LI: Match the Categories Assignment #2 Question #1:</a:t>
            </a: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2" name="Rectangle 1"/>
          <p:cNvSpPr/>
          <p:nvPr/>
        </p:nvSpPr>
        <p:spPr>
          <a:xfrm>
            <a:off x="180000" y="828000"/>
            <a:ext cx="8640000" cy="5328000"/>
          </a:xfrm>
          <a:prstGeom prst="rect">
            <a:avLst/>
          </a:prstGeom>
          <a:solidFill>
            <a:srgbClr val="0000CC"/>
          </a:solidFill>
          <a:ln>
            <a:solidFill>
              <a:srgbClr val="0000CC"/>
            </a:solidFill>
          </a:ln>
        </p:spPr>
        <p:txBody>
          <a:bodyPr wrap="square">
            <a:no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endParaRPr kumimoji="0" lang="en-US" altLang="en-US" sz="2000" b="0" i="0" u="none" strike="noStrike" kern="1200" cap="none" spc="0" normalizeH="0" baseline="0" noProof="0" dirty="0">
              <a:ln>
                <a:noFill/>
              </a:ln>
              <a:solidFill>
                <a:srgbClr val="F8F8F8"/>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8" name="Slide Number Placeholder 1"/>
          <p:cNvSpPr txBox="1">
            <a:spLocks noGrp="1"/>
          </p:cNvSpPr>
          <p:nvPr/>
        </p:nvSpPr>
        <p:spPr bwMode="auto">
          <a:xfrm>
            <a:off x="8280000" y="6300000"/>
            <a:ext cx="533400" cy="28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tx2"/>
              </a:buClr>
              <a:buSzPct val="65000"/>
              <a:buFont typeface="Wingdings" panose="05000000000000000000" pitchFamily="2" charset="2"/>
              <a:buChar char="v"/>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SzPct val="65000"/>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SzPct val="65000"/>
              <a:buChar char="•"/>
              <a:defRPr sz="2000">
                <a:solidFill>
                  <a:schemeClr val="tx1"/>
                </a:solidFill>
                <a:latin typeface="Times New Roman" panose="02020603050405020304" pitchFamily="18" charset="0"/>
                <a:ea typeface="ＭＳ Ｐゴシック"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AAC074-F6B9-4EA4-AE59-9F9DB0D8944F}" type="slidenum">
              <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en-US" sz="1200" b="1" i="1"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Arial" panose="020B0604020202020204" pitchFamily="34" charset="0"/>
            </a:endParaRPr>
          </a:p>
        </p:txBody>
      </p:sp>
      <p:sp>
        <p:nvSpPr>
          <p:cNvPr id="9" name="Google Shape;125;p2"/>
          <p:cNvSpPr/>
          <p:nvPr/>
        </p:nvSpPr>
        <p:spPr>
          <a:xfrm>
            <a:off x="2700000" y="6300000"/>
            <a:ext cx="5400000" cy="288000"/>
          </a:xfrm>
          <a:prstGeom prst="rect">
            <a:avLst/>
          </a:prstGeom>
          <a:no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600"/>
              <a:buFontTx/>
              <a:buNone/>
              <a:tabLst/>
              <a:defRPr/>
            </a:pPr>
            <a:r>
              <a:rPr kumimoji="0" lang="en-US" sz="1200" b="1" i="1" u="none" strike="noStrike" kern="0" cap="none" spc="0" normalizeH="0" baseline="0" noProof="0" dirty="0">
                <a:ln>
                  <a:noFill/>
                </a:ln>
                <a:solidFill>
                  <a:srgbClr val="000000"/>
                </a:solidFill>
                <a:effectLst/>
                <a:uLnTx/>
                <a:uFillTx/>
                <a:latin typeface="Arial" charset="0"/>
                <a:ea typeface="Times New Roman"/>
                <a:cs typeface="Arial" panose="020B0604020202020204" pitchFamily="34" charset="0"/>
                <a:sym typeface="Times New Roman"/>
              </a:rPr>
              <a:t>Chapter 4.5: Linking Latent Causes to Recommendations</a:t>
            </a:r>
          </a:p>
        </p:txBody>
      </p:sp>
      <p:cxnSp>
        <p:nvCxnSpPr>
          <p:cNvPr id="6" name="Straight Connector 5">
            <a:extLst>
              <a:ext uri="{FF2B5EF4-FFF2-40B4-BE49-F238E27FC236}">
                <a16:creationId xmlns:a16="http://schemas.microsoft.com/office/drawing/2014/main" id="{9D36D7A7-E3C0-4187-A8FC-616C922B7687}"/>
              </a:ext>
            </a:extLst>
          </p:cNvPr>
          <p:cNvCxnSpPr>
            <a:stCxn id="16" idx="2"/>
            <a:endCxn id="15" idx="0"/>
          </p:cNvCxnSpPr>
          <p:nvPr/>
        </p:nvCxnSpPr>
        <p:spPr bwMode="auto">
          <a:xfrm>
            <a:off x="2286000" y="1176754"/>
            <a:ext cx="0" cy="4081046"/>
          </a:xfrm>
          <a:prstGeom prst="line">
            <a:avLst/>
          </a:prstGeom>
          <a:solidFill>
            <a:srgbClr val="9999FF"/>
          </a:solidFill>
          <a:ln w="57150" cap="flat" cmpd="sng" algn="ctr">
            <a:solidFill>
              <a:srgbClr val="FFFFFF"/>
            </a:solidFill>
            <a:prstDash val="sysDot"/>
            <a:round/>
            <a:headEnd type="none" w="med" len="med"/>
            <a:tailEnd type="none" w="med" len="med"/>
          </a:ln>
          <a:effectLst/>
        </p:spPr>
      </p:cxnSp>
      <p:sp>
        <p:nvSpPr>
          <p:cNvPr id="7" name="TextBox 6">
            <a:extLst>
              <a:ext uri="{FF2B5EF4-FFF2-40B4-BE49-F238E27FC236}">
                <a16:creationId xmlns:a16="http://schemas.microsoft.com/office/drawing/2014/main" id="{0D90E9BD-1D69-41E7-82C8-A59F9071E2EE}"/>
              </a:ext>
            </a:extLst>
          </p:cNvPr>
          <p:cNvSpPr txBox="1"/>
          <p:nvPr/>
        </p:nvSpPr>
        <p:spPr>
          <a:xfrm>
            <a:off x="640080" y="141732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Petroleum fire</a:t>
            </a:r>
          </a:p>
        </p:txBody>
      </p:sp>
      <p:sp>
        <p:nvSpPr>
          <p:cNvPr id="10" name="TextBox 9">
            <a:extLst>
              <a:ext uri="{FF2B5EF4-FFF2-40B4-BE49-F238E27FC236}">
                <a16:creationId xmlns:a16="http://schemas.microsoft.com/office/drawing/2014/main" id="{4867D4FD-CD35-4594-9EFE-6C2E33177F59}"/>
              </a:ext>
            </a:extLst>
          </p:cNvPr>
          <p:cNvSpPr txBox="1"/>
          <p:nvPr/>
        </p:nvSpPr>
        <p:spPr>
          <a:xfrm>
            <a:off x="640080" y="205740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Petrol released from pump casing</a:t>
            </a:r>
          </a:p>
        </p:txBody>
      </p:sp>
      <p:sp>
        <p:nvSpPr>
          <p:cNvPr id="11" name="TextBox 10">
            <a:extLst>
              <a:ext uri="{FF2B5EF4-FFF2-40B4-BE49-F238E27FC236}">
                <a16:creationId xmlns:a16="http://schemas.microsoft.com/office/drawing/2014/main" id="{AEA8C77B-3D5F-4E56-973A-BE696B607AF1}"/>
              </a:ext>
            </a:extLst>
          </p:cNvPr>
          <p:cNvSpPr txBox="1"/>
          <p:nvPr/>
        </p:nvSpPr>
        <p:spPr>
          <a:xfrm>
            <a:off x="640080" y="2697480"/>
            <a:ext cx="3291840" cy="338554"/>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 casing corroded (failed)</a:t>
            </a:r>
          </a:p>
        </p:txBody>
      </p:sp>
      <p:sp>
        <p:nvSpPr>
          <p:cNvPr id="12" name="TextBox 11">
            <a:extLst>
              <a:ext uri="{FF2B5EF4-FFF2-40B4-BE49-F238E27FC236}">
                <a16:creationId xmlns:a16="http://schemas.microsoft.com/office/drawing/2014/main" id="{3656C491-87A8-430F-BFBA-2C14F19E6625}"/>
              </a:ext>
            </a:extLst>
          </p:cNvPr>
          <p:cNvSpPr txBox="1"/>
          <p:nvPr/>
        </p:nvSpPr>
        <p:spPr>
          <a:xfrm>
            <a:off x="640080" y="333756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Casing material was incompatible</a:t>
            </a:r>
          </a:p>
        </p:txBody>
      </p:sp>
      <p:sp>
        <p:nvSpPr>
          <p:cNvPr id="13" name="TextBox 12">
            <a:extLst>
              <a:ext uri="{FF2B5EF4-FFF2-40B4-BE49-F238E27FC236}">
                <a16:creationId xmlns:a16="http://schemas.microsoft.com/office/drawing/2014/main" id="{9A34E4E3-FBD8-4349-ACEA-8E730FC6550D}"/>
              </a:ext>
            </a:extLst>
          </p:cNvPr>
          <p:cNvSpPr txBox="1"/>
          <p:nvPr/>
        </p:nvSpPr>
        <p:spPr>
          <a:xfrm>
            <a:off x="640080" y="3977640"/>
            <a:ext cx="3291840" cy="338554"/>
          </a:xfrm>
          <a:prstGeom prst="rect">
            <a:avLst/>
          </a:prstGeom>
          <a:solidFill>
            <a:srgbClr val="FFFFFF"/>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Improper material was used</a:t>
            </a:r>
          </a:p>
        </p:txBody>
      </p:sp>
      <p:sp>
        <p:nvSpPr>
          <p:cNvPr id="14" name="TextBox 13">
            <a:extLst>
              <a:ext uri="{FF2B5EF4-FFF2-40B4-BE49-F238E27FC236}">
                <a16:creationId xmlns:a16="http://schemas.microsoft.com/office/drawing/2014/main" id="{23681B1E-7FDB-4CBE-9547-FA117CD33585}"/>
              </a:ext>
            </a:extLst>
          </p:cNvPr>
          <p:cNvSpPr txBox="1"/>
          <p:nvPr/>
        </p:nvSpPr>
        <p:spPr>
          <a:xfrm>
            <a:off x="640080" y="4617720"/>
            <a:ext cx="3291840" cy="338554"/>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 design was incorrect</a:t>
            </a:r>
          </a:p>
        </p:txBody>
      </p:sp>
      <p:sp>
        <p:nvSpPr>
          <p:cNvPr id="15" name="TextBox 14">
            <a:extLst>
              <a:ext uri="{FF2B5EF4-FFF2-40B4-BE49-F238E27FC236}">
                <a16:creationId xmlns:a16="http://schemas.microsoft.com/office/drawing/2014/main" id="{A84E4193-5EDC-4AA6-A9F9-BA222D66A629}"/>
              </a:ext>
            </a:extLst>
          </p:cNvPr>
          <p:cNvSpPr txBox="1"/>
          <p:nvPr/>
        </p:nvSpPr>
        <p:spPr>
          <a:xfrm>
            <a:off x="640080" y="5257800"/>
            <a:ext cx="3291840" cy="830997"/>
          </a:xfrm>
          <a:prstGeom prst="rect">
            <a:avLst/>
          </a:prstGeom>
          <a:solidFill>
            <a:srgbClr val="FFFF00"/>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refinery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design program did not include a standard </a:t>
            </a:r>
            <a:r>
              <a:rPr lang="en-US" sz="1600" b="0" kern="0" dirty="0" smtClean="0">
                <a:solidFill>
                  <a:srgbClr val="000000"/>
                </a:solidFill>
                <a:latin typeface="Arial" panose="020B0604020202020204" pitchFamily="34" charset="0"/>
                <a:cs typeface="Arial" panose="020B0604020202020204" pitchFamily="34" charset="0"/>
              </a:rPr>
              <a:t>to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design </a:t>
            </a: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pumps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for this</a:t>
            </a:r>
            <a:r>
              <a:rPr kumimoji="0" lang="en-US" sz="1600" b="0" i="0" u="none" strike="noStrike" kern="0" cap="none" spc="0" normalizeH="0" noProof="0" dirty="0" smtClean="0">
                <a:ln>
                  <a:noFill/>
                </a:ln>
                <a:solidFill>
                  <a:srgbClr val="000000"/>
                </a:solidFill>
                <a:effectLst/>
                <a:uLnTx/>
                <a:uFillTx/>
                <a:latin typeface="Arial" panose="020B0604020202020204" pitchFamily="34" charset="0"/>
                <a:ea typeface="+mn-ea"/>
                <a:cs typeface="Arial" panose="020B0604020202020204" pitchFamily="34" charset="0"/>
              </a:rPr>
              <a:t> process service</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D2B36200-534F-44BD-8A54-820E467D50E2}"/>
              </a:ext>
            </a:extLst>
          </p:cNvPr>
          <p:cNvSpPr txBox="1"/>
          <p:nvPr/>
        </p:nvSpPr>
        <p:spPr>
          <a:xfrm>
            <a:off x="640080" y="838200"/>
            <a:ext cx="3291840" cy="338554"/>
          </a:xfrm>
          <a:prstGeom prst="rect">
            <a:avLst/>
          </a:prstGeom>
          <a:solidFill>
            <a:srgbClr val="FFFFFF"/>
          </a:solidFill>
          <a:ln>
            <a:solidFill>
              <a:srgbClr val="000000"/>
            </a:solidFill>
          </a:ln>
        </p:spPr>
        <p:txBody>
          <a:bodyPr wrap="square" rtlCol="0">
            <a:spAutoFit/>
          </a:bodyPr>
          <a:lstStyle>
            <a:defPPr>
              <a:defRPr lang="en-US"/>
            </a:defPPr>
            <a:lvl1pPr algn="ctr">
              <a:defRPr sz="1600">
                <a:solidFill>
                  <a:schemeClr val="bg2"/>
                </a:solidFill>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LOSS INCIDENT</a:t>
            </a:r>
          </a:p>
        </p:txBody>
      </p:sp>
      <p:sp>
        <p:nvSpPr>
          <p:cNvPr id="17" name="TextBox 16">
            <a:extLst>
              <a:ext uri="{FF2B5EF4-FFF2-40B4-BE49-F238E27FC236}">
                <a16:creationId xmlns:a16="http://schemas.microsoft.com/office/drawing/2014/main" id="{173C0635-A3CB-4344-A972-5302C440F422}"/>
              </a:ext>
            </a:extLst>
          </p:cNvPr>
          <p:cNvSpPr txBox="1"/>
          <p:nvPr/>
        </p:nvSpPr>
        <p:spPr>
          <a:xfrm>
            <a:off x="4464000" y="5337035"/>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Incident </a:t>
            </a: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description (abbreviated)</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8" name="TextBox 17">
            <a:extLst>
              <a:ext uri="{FF2B5EF4-FFF2-40B4-BE49-F238E27FC236}">
                <a16:creationId xmlns:a16="http://schemas.microsoft.com/office/drawing/2014/main" id="{09F540C4-D851-4948-9144-A24DF77D8340}"/>
              </a:ext>
            </a:extLst>
          </p:cNvPr>
          <p:cNvSpPr txBox="1"/>
          <p:nvPr/>
        </p:nvSpPr>
        <p:spPr>
          <a:xfrm>
            <a:off x="4464000" y="3170574"/>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kern="0" dirty="0" smtClean="0">
                <a:solidFill>
                  <a:srgbClr val="000000"/>
                </a:solidFill>
                <a:latin typeface="Arial" panose="020B0604020202020204" pitchFamily="34" charset="0"/>
                <a:cs typeface="Arial" panose="020B0604020202020204" pitchFamily="34" charset="0"/>
              </a:rPr>
              <a:t>Second intermediate</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9" name="TextBox 18">
            <a:extLst>
              <a:ext uri="{FF2B5EF4-FFF2-40B4-BE49-F238E27FC236}">
                <a16:creationId xmlns:a16="http://schemas.microsoft.com/office/drawing/2014/main" id="{FAE2E7A2-39F4-4154-9B24-2A909524829C}"/>
              </a:ext>
            </a:extLst>
          </p:cNvPr>
          <p:cNvSpPr txBox="1"/>
          <p:nvPr/>
        </p:nvSpPr>
        <p:spPr>
          <a:xfrm>
            <a:off x="4464000" y="3788133"/>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IC: Sub-standard condition</a:t>
            </a:r>
          </a:p>
        </p:txBody>
      </p:sp>
      <p:sp>
        <p:nvSpPr>
          <p:cNvPr id="20" name="TextBox 19">
            <a:extLst>
              <a:ext uri="{FF2B5EF4-FFF2-40B4-BE49-F238E27FC236}">
                <a16:creationId xmlns:a16="http://schemas.microsoft.com/office/drawing/2014/main" id="{B1F2CE11-419B-4068-876B-1D4883344F86}"/>
              </a:ext>
            </a:extLst>
          </p:cNvPr>
          <p:cNvSpPr txBox="1"/>
          <p:nvPr/>
        </p:nvSpPr>
        <p:spPr>
          <a:xfrm>
            <a:off x="4464000" y="1212477"/>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Third intermediate</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1" name="TextBox 20">
            <a:extLst>
              <a:ext uri="{FF2B5EF4-FFF2-40B4-BE49-F238E27FC236}">
                <a16:creationId xmlns:a16="http://schemas.microsoft.com/office/drawing/2014/main" id="{0351B377-A90C-4AEF-8A43-7B2497142024}"/>
              </a:ext>
            </a:extLst>
          </p:cNvPr>
          <p:cNvSpPr txBox="1"/>
          <p:nvPr/>
        </p:nvSpPr>
        <p:spPr>
          <a:xfrm>
            <a:off x="4464000" y="4585054"/>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smtClean="0">
                <a:ln>
                  <a:noFill/>
                </a:ln>
                <a:solidFill>
                  <a:srgbClr val="000000"/>
                </a:solidFill>
                <a:effectLst/>
                <a:uLnTx/>
                <a:uFillTx/>
                <a:latin typeface="Arial" panose="020B0604020202020204" pitchFamily="34" charset="0"/>
                <a:ea typeface="+mn-ea"/>
                <a:cs typeface="Arial" panose="020B0604020202020204" pitchFamily="34" charset="0"/>
              </a:rPr>
              <a:t>First intermediate</a:t>
            </a:r>
            <a:endPar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2" name="TextBox 21">
            <a:extLst>
              <a:ext uri="{FF2B5EF4-FFF2-40B4-BE49-F238E27FC236}">
                <a16:creationId xmlns:a16="http://schemas.microsoft.com/office/drawing/2014/main" id="{6E5553D4-7E7F-4B72-9DA0-6481652B4994}"/>
              </a:ext>
            </a:extLst>
          </p:cNvPr>
          <p:cNvSpPr txBox="1"/>
          <p:nvPr/>
        </p:nvSpPr>
        <p:spPr>
          <a:xfrm>
            <a:off x="4464000" y="2514600"/>
            <a:ext cx="4191000" cy="672525"/>
          </a:xfrm>
          <a:prstGeom prst="leftArrow">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BC: Design – inadequate tech. design  </a:t>
            </a:r>
          </a:p>
        </p:txBody>
      </p:sp>
      <p:sp>
        <p:nvSpPr>
          <p:cNvPr id="23" name="TextBox 22">
            <a:extLst>
              <a:ext uri="{FF2B5EF4-FFF2-40B4-BE49-F238E27FC236}">
                <a16:creationId xmlns:a16="http://schemas.microsoft.com/office/drawing/2014/main" id="{1232868B-221B-4B1A-8545-E441EF46318E}"/>
              </a:ext>
            </a:extLst>
          </p:cNvPr>
          <p:cNvSpPr txBox="1"/>
          <p:nvPr/>
        </p:nvSpPr>
        <p:spPr>
          <a:xfrm>
            <a:off x="4464000" y="1842075"/>
            <a:ext cx="4191000" cy="672525"/>
          </a:xfrm>
          <a:prstGeom prst="leftArrow">
            <a:avLst/>
          </a:prstGeom>
          <a:solidFill>
            <a:srgbClr val="CCFFCC"/>
          </a:solidFill>
          <a:ln>
            <a:solidFill>
              <a:srgbClr val="000000"/>
            </a:solidFill>
          </a:ln>
        </p:spPr>
        <p:txBody>
          <a:bodyPr wrap="square" rtlCol="0">
            <a:spAutoFit/>
          </a:bodyPr>
          <a:lstStyle>
            <a:defPPr>
              <a:defRPr lang="en-US"/>
            </a:defPPr>
            <a:lvl1pPr marL="0" marR="0" lvl="0" indent="0" algn="ctr" defTabSz="914400" eaLnBrk="1" fontAlgn="auto" latinLnBrk="0" hangingPunct="1">
              <a:lnSpc>
                <a:spcPct val="100000"/>
              </a:lnSpc>
              <a:spcBef>
                <a:spcPts val="0"/>
              </a:spcBef>
              <a:spcAft>
                <a:spcPts val="0"/>
              </a:spcAft>
              <a:buClrTx/>
              <a:buSzTx/>
              <a:buFontTx/>
              <a:buNone/>
              <a:tabLst/>
              <a:defRPr kumimoji="0" sz="1600" i="0" u="none" strike="noStrike" kern="0" cap="none" spc="0" normalizeH="0" baseline="0">
                <a:ln>
                  <a:noFill/>
                </a:ln>
                <a:solidFill>
                  <a:srgbClr val="000000"/>
                </a:solidFill>
                <a:effectLst/>
                <a:uLnTx/>
                <a:uFillTx/>
                <a:latin typeface="Arial" panose="020B0604020202020204" pitchFamily="34" charset="0"/>
                <a:cs typeface="Arial" panose="020B0604020202020204" pitchFamily="34" charset="0"/>
              </a:defRPr>
            </a:lvl1pPr>
          </a:lstStyle>
          <a:p>
            <a:r>
              <a:rPr lang="en-US" b="0" dirty="0"/>
              <a:t>LC-S: RME#7 </a:t>
            </a:r>
            <a:r>
              <a:rPr lang="en-US" b="0" dirty="0"/>
              <a:t>DC&amp;SU</a:t>
            </a:r>
          </a:p>
        </p:txBody>
      </p:sp>
      <p:sp>
        <p:nvSpPr>
          <p:cNvPr id="24" name="TextBox 23">
            <a:extLst>
              <a:ext uri="{FF2B5EF4-FFF2-40B4-BE49-F238E27FC236}">
                <a16:creationId xmlns:a16="http://schemas.microsoft.com/office/drawing/2014/main" id="{0A7173F6-47C8-47C4-9F51-EC04D9641316}"/>
              </a:ext>
            </a:extLst>
          </p:cNvPr>
          <p:cNvSpPr txBox="1"/>
          <p:nvPr/>
        </p:nvSpPr>
        <p:spPr>
          <a:xfrm>
            <a:off x="4464000" y="838200"/>
            <a:ext cx="4191000" cy="338554"/>
          </a:xfrm>
          <a:prstGeom prst="rect">
            <a:avLst/>
          </a:prstGeom>
          <a:solidFill>
            <a:srgbClr val="CCFFCC"/>
          </a:solidFill>
          <a:ln>
            <a:solidFill>
              <a:srgbClr val="000000"/>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CATEGORIES</a:t>
            </a:r>
          </a:p>
        </p:txBody>
      </p:sp>
    </p:spTree>
    <p:extLst>
      <p:ext uri="{BB962C8B-B14F-4D97-AF65-F5344CB8AC3E}">
        <p14:creationId xmlns:p14="http://schemas.microsoft.com/office/powerpoint/2010/main" val="626488379"/>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69861</TotalTime>
  <Words>3795</Words>
  <Application>Microsoft Office PowerPoint</Application>
  <PresentationFormat>On-screen Show (4:3)</PresentationFormat>
  <Paragraphs>424</Paragraphs>
  <Slides>22</Slides>
  <Notes>22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ＭＳ Ｐゴシック</vt:lpstr>
      <vt:lpstr>Arial</vt:lpstr>
      <vt:lpstr>Calibri</vt:lpstr>
      <vt:lpstr>Noto Sans Symbols</vt:lpstr>
      <vt:lpstr>Times New Roman</vt:lpstr>
      <vt:lpstr>Wingdings</vt:lpstr>
      <vt:lpstr>Default Design</vt:lpstr>
      <vt:lpstr>1_Default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University of Texas at Austin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MSB</dc:creator>
  <cp:lastModifiedBy>John Cocchio</cp:lastModifiedBy>
  <cp:revision>2001</cp:revision>
  <cp:lastPrinted>2018-12-17T22:21:47Z</cp:lastPrinted>
  <dcterms:created xsi:type="dcterms:W3CDTF">2007-03-28T16:18:47Z</dcterms:created>
  <dcterms:modified xsi:type="dcterms:W3CDTF">2022-05-31T17:07:48Z</dcterms:modified>
</cp:coreProperties>
</file>