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954825" cy="93091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12">
          <p15:clr>
            <a:srgbClr val="A4A3A4"/>
          </p15:clr>
        </p15:guide>
        <p15:guide id="2" pos="2880">
          <p15:clr>
            <a:srgbClr val="A4A3A4"/>
          </p15:clr>
        </p15:guide>
      </p15:sldGuideLst>
    </p:ext>
    <p:ext uri="{2D200454-40CA-4A62-9FC3-DE9A4176ACB9}">
      <p15:notesGuideLst>
        <p15:guide id="1" orient="horz" pos="2933">
          <p15:clr>
            <a:srgbClr val="A4A3A4"/>
          </p15:clr>
        </p15:guide>
        <p15:guide id="2" pos="2191">
          <p15:clr>
            <a:srgbClr val="A4A3A4"/>
          </p15:clr>
        </p15:guide>
      </p15:notesGuideLst>
    </p:ext>
    <p:ext uri="http://customooxmlschemas.google.com/">
      <go:slidesCustomData xmlns:go="http://customooxmlschemas.google.com/" r:id="rId19" roundtripDataSignature="AMtx7miIl9D79GUlcIljjZauinhGCon/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12" orient="horz"/>
        <p:guide pos="2880"/>
      </p:guideLst>
    </p:cSldViewPr>
  </p:slideViewPr>
  <p:notesViewPr>
    <p:cSldViewPr snapToGrid="0">
      <p:cViewPr varScale="1">
        <p:scale>
          <a:sx n="100" d="100"/>
          <a:sy n="100" d="100"/>
        </p:scale>
        <p:origin x="0" y="0"/>
      </p:cViewPr>
      <p:guideLst>
        <p:guide pos="2933" orient="horz"/>
        <p:guide pos="2191"/>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14870" cy="467474"/>
          </a:xfrm>
          <a:prstGeom prst="rect">
            <a:avLst/>
          </a:prstGeom>
          <a:noFill/>
          <a:ln>
            <a:noFill/>
          </a:ln>
        </p:spPr>
        <p:txBody>
          <a:bodyPr anchorCtr="0" anchor="t" bIns="46450" lIns="92900" spcFirstLastPara="1" rIns="92900" wrap="square" tIns="464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39968" y="0"/>
            <a:ext cx="3014870" cy="467474"/>
          </a:xfrm>
          <a:prstGeom prst="rect">
            <a:avLst/>
          </a:prstGeom>
          <a:noFill/>
          <a:ln>
            <a:noFill/>
          </a:ln>
        </p:spPr>
        <p:txBody>
          <a:bodyPr anchorCtr="0" anchor="t" bIns="46450" lIns="92900" spcFirstLastPara="1" rIns="92900" wrap="square" tIns="464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27470" y="4421876"/>
            <a:ext cx="5099898" cy="4190263"/>
          </a:xfrm>
          <a:prstGeom prst="rect">
            <a:avLst/>
          </a:prstGeom>
          <a:noFill/>
          <a:ln>
            <a:noFill/>
          </a:ln>
        </p:spPr>
        <p:txBody>
          <a:bodyPr anchorCtr="0" anchor="t" bIns="46450" lIns="92900" spcFirstLastPara="1" rIns="92900" wrap="square" tIns="4645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41626"/>
            <a:ext cx="3014870" cy="467474"/>
          </a:xfrm>
          <a:prstGeom prst="rect">
            <a:avLst/>
          </a:prstGeom>
          <a:noFill/>
          <a:ln>
            <a:noFill/>
          </a:ln>
        </p:spPr>
        <p:txBody>
          <a:bodyPr anchorCtr="0" anchor="b" bIns="46450" lIns="92900" spcFirstLastPara="1" rIns="92900" wrap="square" tIns="464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39968" y="8841626"/>
            <a:ext cx="3014870" cy="467474"/>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30: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 name="Google Shape;30;p30:notes"/>
          <p:cNvSpPr txBox="1"/>
          <p:nvPr>
            <p:ph idx="1" type="body"/>
          </p:nvPr>
        </p:nvSpPr>
        <p:spPr>
          <a:xfrm>
            <a:off x="927470" y="4421876"/>
            <a:ext cx="5099898" cy="4190263"/>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53" name="Google Shape;53;p31: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31: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62" name="Google Shape;62;p32: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32: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71" name="Google Shape;71;p33: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33: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3" name="Google Shape;93;p34: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34: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5:notes"/>
          <p:cNvSpPr txBox="1"/>
          <p:nvPr>
            <p:ph idx="2" type="hdr"/>
          </p:nvPr>
        </p:nvSpPr>
        <p:spPr>
          <a:xfrm>
            <a:off x="0" y="0"/>
            <a:ext cx="3014870" cy="467474"/>
          </a:xfrm>
          <a:prstGeom prst="rect">
            <a:avLst/>
          </a:prstGeom>
          <a:noFill/>
          <a:ln>
            <a:noFill/>
          </a:ln>
        </p:spPr>
        <p:txBody>
          <a:bodyPr anchorCtr="0" anchor="t" bIns="46450" lIns="92900" spcFirstLastPara="1" rIns="92900" wrap="square" tIns="4645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137" name="Google Shape;137;p35:notes"/>
          <p:cNvSpPr txBox="1"/>
          <p:nvPr>
            <p:ph idx="11" type="ftr"/>
          </p:nvPr>
        </p:nvSpPr>
        <p:spPr>
          <a:xfrm>
            <a:off x="0" y="8841626"/>
            <a:ext cx="3014870" cy="467474"/>
          </a:xfrm>
          <a:prstGeom prst="rect">
            <a:avLst/>
          </a:prstGeom>
          <a:noFill/>
          <a:ln>
            <a:noFill/>
          </a:ln>
        </p:spPr>
        <p:txBody>
          <a:bodyPr anchorCtr="0" anchor="b" bIns="46450" lIns="92900" spcFirstLastPara="1" rIns="92900" wrap="square" tIns="4645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138" name="Google Shape;138;p35:notes"/>
          <p:cNvSpPr txBox="1"/>
          <p:nvPr>
            <p:ph idx="12" type="sldNum"/>
          </p:nvPr>
        </p:nvSpPr>
        <p:spPr>
          <a:xfrm>
            <a:off x="3939968" y="8841626"/>
            <a:ext cx="3014870" cy="467474"/>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39" name="Google Shape;139;p35: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140" name="Google Shape;140;p35: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35:notes"/>
          <p:cNvSpPr txBox="1"/>
          <p:nvPr>
            <p:ph idx="1" type="body"/>
          </p:nvPr>
        </p:nvSpPr>
        <p:spPr>
          <a:xfrm>
            <a:off x="927470" y="4421876"/>
            <a:ext cx="5099898" cy="4190263"/>
          </a:xfrm>
          <a:prstGeom prst="rect">
            <a:avLst/>
          </a:prstGeom>
          <a:noFill/>
          <a:ln>
            <a:noFill/>
          </a:ln>
        </p:spPr>
        <p:txBody>
          <a:bodyPr anchorCtr="0" anchor="t" bIns="46450" lIns="92900" spcFirstLastPara="1" rIns="92900" wrap="square" tIns="46450">
            <a:noAutofit/>
          </a:bodyPr>
          <a:lstStyle/>
          <a:p>
            <a:pPr indent="-228600" lvl="0" marL="457200" marR="0" rtl="0" algn="l">
              <a:lnSpc>
                <a:spcPct val="100000"/>
              </a:lnSpc>
              <a:spcBef>
                <a:spcPts val="36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9" name="Google Shape;149;p36: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36: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0" lvl="0" marL="0" rtl="0" algn="l">
              <a:lnSpc>
                <a:spcPct val="100000"/>
              </a:lnSpc>
              <a:spcBef>
                <a:spcPts val="0"/>
              </a:spcBef>
              <a:spcAft>
                <a:spcPts val="0"/>
              </a:spcAft>
              <a:buSzPts val="1400"/>
              <a:buNone/>
            </a:pPr>
            <a:r>
              <a:rPr lang="en-US">
                <a:latin typeface="Arial"/>
                <a:ea typeface="Arial"/>
                <a:cs typeface="Arial"/>
                <a:sym typeface="Arial"/>
              </a:rPr>
              <a:t>Immediately afterward</a:t>
            </a:r>
            <a:endParaRPr/>
          </a:p>
          <a:p>
            <a:pPr indent="0" lvl="0" marL="0" rtl="0" algn="l">
              <a:lnSpc>
                <a:spcPct val="100000"/>
              </a:lnSpc>
              <a:spcBef>
                <a:spcPts val="360"/>
              </a:spcBef>
              <a:spcAft>
                <a:spcPts val="0"/>
              </a:spcAft>
              <a:buSzPts val="1400"/>
              <a:buNone/>
            </a:pPr>
            <a:r>
              <a:rPr lang="en-US">
                <a:latin typeface="Arial"/>
                <a:ea typeface="Arial"/>
                <a:cs typeface="Arial"/>
                <a:sym typeface="Arial"/>
              </a:rPr>
              <a:t>Severity or potential severity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8" name="Google Shape;158;p37: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37: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7" name="Google Shape;167;p38: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38: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0" lvl="0" marL="0" rtl="0" algn="l">
              <a:lnSpc>
                <a:spcPct val="100000"/>
              </a:lnSpc>
              <a:spcBef>
                <a:spcPts val="0"/>
              </a:spcBef>
              <a:spcAft>
                <a:spcPts val="0"/>
              </a:spcAft>
              <a:buSzPts val="1400"/>
              <a:buNone/>
            </a:pPr>
            <a:r>
              <a:rPr lang="en-US" sz="1200">
                <a:latin typeface="Arial"/>
                <a:ea typeface="Arial"/>
                <a:cs typeface="Arial"/>
                <a:sym typeface="Arial"/>
              </a:rPr>
              <a:t>You now may be beginning to realize that unless your organization has some established practices in place the investigation will get off to a bad start. Until Syncrude established call out practices for investigators and “freeze evidence” protocols many investigation teams, formed days after the event, had a “cold trail” to follow. Consider the diagram above.</a:t>
            </a:r>
            <a:endParaRPr/>
          </a:p>
          <a:p>
            <a:pPr indent="0" lvl="0" marL="0" rtl="0" algn="l">
              <a:lnSpc>
                <a:spcPct val="100000"/>
              </a:lnSpc>
              <a:spcBef>
                <a:spcPts val="330"/>
              </a:spcBef>
              <a:spcAft>
                <a:spcPts val="0"/>
              </a:spcAft>
              <a:buSzPts val="1400"/>
              <a:buNone/>
            </a:pPr>
            <a:r>
              <a:rPr lang="en-US" sz="1200">
                <a:latin typeface="Arial"/>
                <a:ea typeface="Arial"/>
                <a:cs typeface="Arial"/>
                <a:sym typeface="Arial"/>
              </a:rPr>
              <a:t>Evidence is captured in four areas known as the “four P’s”, each evidence type will disappear or become disturbed if not “frozen” or preserved. Position evidence is destroyed in minutes if the first people on the scene are unaware of preservation techniques, </a:t>
            </a:r>
            <a:r>
              <a:rPr b="1" lang="en-US" sz="1200">
                <a:latin typeface="Arial"/>
                <a:ea typeface="Arial"/>
                <a:cs typeface="Arial"/>
                <a:sym typeface="Arial"/>
              </a:rPr>
              <a:t>therefore it is important that the scene is taped off immediately after an incident and entry restricted</a:t>
            </a:r>
            <a:r>
              <a:rPr lang="en-US" sz="1200">
                <a:latin typeface="Arial"/>
                <a:ea typeface="Arial"/>
                <a:cs typeface="Arial"/>
                <a:sym typeface="Arial"/>
              </a:rPr>
              <a:t>. People talk amongst themselves and modify their observations accordingly or even forget “short term” memory information, therefore a simple statement sheet can be handed to them immediately after the incident to record their observations. Parts will be disturbed or thrown away, fracture surfaces contaminated.   Computer generated data will not be printed and “second” data will be averaged out to “minute” data if practices are not established to dump data to hard copy. So it is important that an organization trains personnel in retention techniques and has established practices for evidence capture.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9" name="Google Shape;179;p39: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39: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9" name="Google Shape;189;p40: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40: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9" name="Google Shape;199;p41: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41: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4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3" name="Google Shape;213;p42:notes"/>
          <p:cNvSpPr/>
          <p:nvPr>
            <p:ph idx="2"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42:notes"/>
          <p:cNvSpPr txBox="1"/>
          <p:nvPr>
            <p:ph idx="1" type="body"/>
          </p:nvPr>
        </p:nvSpPr>
        <p:spPr>
          <a:xfrm>
            <a:off x="934880" y="4415844"/>
            <a:ext cx="5140641" cy="4182424"/>
          </a:xfrm>
          <a:prstGeom prst="rect">
            <a:avLst/>
          </a:prstGeom>
          <a:noFill/>
          <a:ln>
            <a:noFill/>
          </a:ln>
        </p:spPr>
        <p:txBody>
          <a:bodyPr anchorCtr="0" anchor="t" bIns="46450" lIns="92900" spcFirstLastPara="1" rIns="92900" wrap="square" tIns="46450">
            <a:noAutofit/>
          </a:bodyPr>
          <a:lstStyle/>
          <a:p>
            <a:pPr indent="-228600" lvl="0" marL="457200" rtl="0" algn="l">
              <a:lnSpc>
                <a:spcPct val="100000"/>
              </a:lnSpc>
              <a:spcBef>
                <a:spcPts val="360"/>
              </a:spcBef>
              <a:spcAft>
                <a:spcPts val="0"/>
              </a:spcAft>
              <a:buSzPts val="1400"/>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4"/>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44"/>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4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9" name="Google Shape;19;p4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 name="Google Shape;20;p4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6"/>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46"/>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47"/>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47"/>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47"/>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43"/>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43"/>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43"/>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rive.google.com/file/d/1D4dAsd1oo_rL5D_1ktDUy0tFwVmPkKyg/view?usp=sharing" TargetMode="External"/><Relationship Id="rId4" Type="http://schemas.openxmlformats.org/officeDocument/2006/relationships/hyperlink" Target="https://drive.google.com/file/d/1D4dAsd1oo_rL5D_1ktDUy0tFwVmPkKyg/view?usp=sharing" TargetMode="External"/><Relationship Id="rId9" Type="http://schemas.openxmlformats.org/officeDocument/2006/relationships/image" Target="../media/image2.jpg"/><Relationship Id="rId5" Type="http://schemas.openxmlformats.org/officeDocument/2006/relationships/hyperlink" Target="https://drive.google.com/file/d/1D4dAsd1oo_rL5D_1ktDUy0tFwVmPkKyg/view?usp=sharing" TargetMode="External"/><Relationship Id="rId6" Type="http://schemas.openxmlformats.org/officeDocument/2006/relationships/hyperlink" Target="https://drive.google.com/file/d/1D4dAsd1oo_rL5D_1ktDUy0tFwVmPkKyg/view?usp=sharing" TargetMode="External"/><Relationship Id="rId7" Type="http://schemas.openxmlformats.org/officeDocument/2006/relationships/hyperlink" Target="https://drive.google.com/file/d/1D4dAsd1oo_rL5D_1ktDUy0tFwVmPkKyg/view?usp=sharing" TargetMode="External"/><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3.png"/><Relationship Id="rId7"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30"/>
          <p:cNvSpPr txBox="1"/>
          <p:nvPr/>
        </p:nvSpPr>
        <p:spPr>
          <a:xfrm>
            <a:off x="228600" y="838200"/>
            <a:ext cx="8610600" cy="166214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99"/>
              </a:buClr>
              <a:buSzPts val="3600"/>
              <a:buFont typeface="Arial"/>
              <a:buNone/>
            </a:pPr>
            <a:r>
              <a:rPr b="1" i="1" lang="en-US" sz="3600" u="none" cap="none" strike="noStrike">
                <a:solidFill>
                  <a:srgbClr val="000099"/>
                </a:solidFill>
                <a:latin typeface="Arial"/>
                <a:ea typeface="Arial"/>
                <a:cs typeface="Arial"/>
                <a:sym typeface="Arial"/>
              </a:rPr>
              <a:t>On Becoming a </a:t>
            </a:r>
            <a:br>
              <a:rPr b="1" i="1" lang="en-US" sz="3600" u="none" cap="none" strike="noStrike">
                <a:solidFill>
                  <a:srgbClr val="000099"/>
                </a:solidFill>
                <a:latin typeface="Arial"/>
                <a:ea typeface="Arial"/>
                <a:cs typeface="Arial"/>
                <a:sym typeface="Arial"/>
              </a:rPr>
            </a:br>
            <a:r>
              <a:rPr b="1" i="1" lang="en-US" sz="3600" u="none" cap="none" strike="noStrike">
                <a:solidFill>
                  <a:srgbClr val="000099"/>
                </a:solidFill>
                <a:latin typeface="Arial"/>
                <a:ea typeface="Arial"/>
                <a:cs typeface="Arial"/>
                <a:sym typeface="Arial"/>
              </a:rPr>
              <a:t>Leader in Risk Management</a:t>
            </a:r>
            <a:endParaRPr/>
          </a:p>
          <a:p>
            <a:pPr indent="0" lvl="0" marL="0" marR="0" rtl="0" algn="ctr">
              <a:lnSpc>
                <a:spcPct val="100000"/>
              </a:lnSpc>
              <a:spcBef>
                <a:spcPts val="0"/>
              </a:spcBef>
              <a:spcAft>
                <a:spcPts val="0"/>
              </a:spcAft>
              <a:buClr>
                <a:srgbClr val="AA9C8F"/>
              </a:buClr>
              <a:buSzPts val="3200"/>
              <a:buFont typeface="Arial"/>
              <a:buNone/>
            </a:pPr>
            <a:r>
              <a:rPr b="1" i="0" lang="en-US" sz="3200" u="none" cap="none" strike="noStrike">
                <a:solidFill>
                  <a:srgbClr val="000000"/>
                </a:solidFill>
                <a:latin typeface="Arial"/>
                <a:ea typeface="Arial"/>
                <a:cs typeface="Arial"/>
                <a:sym typeface="Arial"/>
              </a:rPr>
              <a:t>ENGG404 - Lecture</a:t>
            </a:r>
            <a:endParaRPr b="1" i="1" sz="3600" u="none" cap="none" strike="noStrike">
              <a:solidFill>
                <a:srgbClr val="000099"/>
              </a:solidFill>
              <a:latin typeface="Arial"/>
              <a:ea typeface="Arial"/>
              <a:cs typeface="Arial"/>
              <a:sym typeface="Arial"/>
            </a:endParaRPr>
          </a:p>
        </p:txBody>
      </p:sp>
      <p:sp>
        <p:nvSpPr>
          <p:cNvPr id="33" name="Google Shape;33;p30"/>
          <p:cNvSpPr txBox="1"/>
          <p:nvPr>
            <p:ph idx="1" type="subTitle"/>
          </p:nvPr>
        </p:nvSpPr>
        <p:spPr>
          <a:xfrm>
            <a:off x="838200" y="2421685"/>
            <a:ext cx="7315201" cy="363498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Chapter 4.1: The Work Processes:</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Incident Investigation,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Root Cause Analysis, and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Managing Corrective Actions</a:t>
            </a:r>
            <a:endParaRPr/>
          </a:p>
          <a:p>
            <a:pPr indent="0" lvl="0" marL="0" marR="0" rtl="0" algn="ctr">
              <a:spcBef>
                <a:spcPts val="0"/>
              </a:spcBef>
              <a:spcAft>
                <a:spcPts val="0"/>
              </a:spcAft>
              <a:buClr>
                <a:srgbClr val="AA9C8F"/>
              </a:buClr>
              <a:buSzPts val="1400"/>
              <a:buFont typeface="Noto Sans Symbols"/>
              <a:buNone/>
            </a:pPr>
            <a:r>
              <a:t/>
            </a:r>
            <a:endParaRPr b="0" i="1" sz="1400" u="none" cap="none" strike="noStrike">
              <a:solidFill>
                <a:schemeClr val="dk2"/>
              </a:solidFill>
              <a:latin typeface="Arial"/>
              <a:ea typeface="Arial"/>
              <a:cs typeface="Arial"/>
              <a:sym typeface="Arial"/>
            </a:endParaRPr>
          </a:p>
          <a:p>
            <a:pPr indent="0" lvl="0" marL="0" marR="0" rtl="0" algn="ctr">
              <a:spcBef>
                <a:spcPts val="0"/>
              </a:spcBef>
              <a:spcAft>
                <a:spcPts val="0"/>
              </a:spcAft>
              <a:buClr>
                <a:srgbClr val="AA9C8F"/>
              </a:buClr>
              <a:buSzPts val="1400"/>
              <a:buFont typeface="Noto Sans Symbols"/>
              <a:buNone/>
            </a:pPr>
            <a:r>
              <a:rPr b="0" i="1" lang="en-US" sz="1400" u="none" cap="none" strike="noStrike">
                <a:solidFill>
                  <a:schemeClr val="dk2"/>
                </a:solidFill>
                <a:latin typeface="Arial"/>
                <a:ea typeface="Arial"/>
                <a:cs typeface="Arial"/>
                <a:sym typeface="Arial"/>
              </a:rPr>
              <a:t>At Instructor’s discretion, </a:t>
            </a:r>
            <a:br>
              <a:rPr b="0" i="1" lang="en-US" sz="1400" u="none" cap="none" strike="noStrike">
                <a:solidFill>
                  <a:schemeClr val="dk2"/>
                </a:solidFill>
                <a:latin typeface="Arial"/>
                <a:ea typeface="Arial"/>
                <a:cs typeface="Arial"/>
                <a:sym typeface="Arial"/>
              </a:rPr>
            </a:br>
            <a:r>
              <a:rPr b="0" i="1" lang="en-US" sz="1400" u="none" cap="none" strike="noStrike">
                <a:solidFill>
                  <a:schemeClr val="dk2"/>
                </a:solidFill>
                <a:latin typeface="Arial"/>
                <a:ea typeface="Arial"/>
                <a:cs typeface="Arial"/>
                <a:sym typeface="Arial"/>
              </a:rPr>
              <a:t>tee-up video:</a:t>
            </a:r>
            <a:endParaRPr/>
          </a:p>
          <a:p>
            <a:pPr indent="0" lvl="0" marL="0" marR="0" rtl="0" algn="ctr">
              <a:spcBef>
                <a:spcPts val="0"/>
              </a:spcBef>
              <a:spcAft>
                <a:spcPts val="0"/>
              </a:spcAft>
              <a:buClr>
                <a:srgbClr val="AA9C8F"/>
              </a:buClr>
              <a:buSzPts val="1400"/>
              <a:buFont typeface="Noto Sans Symbols"/>
              <a:buNone/>
            </a:pPr>
            <a:r>
              <a:rPr b="0" i="1" lang="en-US" sz="1400" u="sng" cap="none" strike="noStrike">
                <a:solidFill>
                  <a:schemeClr val="dk2"/>
                </a:solidFill>
                <a:latin typeface="Arial"/>
                <a:ea typeface="Arial"/>
                <a:cs typeface="Arial"/>
                <a:sym typeface="Arial"/>
                <a:hlinkClick r:id="rId3">
                  <a:extLst>
                    <a:ext uri="{A12FA001-AC4F-418D-AE19-62706E023703}">
                      <ahyp:hlinkClr val="tx"/>
                    </a:ext>
                  </a:extLst>
                </a:hlinkClick>
              </a:rPr>
              <a:t>“Elementary – Sherlock Holmes </a:t>
            </a:r>
            <a:br>
              <a:rPr b="0" i="1" lang="en-US" sz="1400" u="sng" cap="none" strike="noStrike">
                <a:solidFill>
                  <a:schemeClr val="dk2"/>
                </a:solidFill>
                <a:latin typeface="Arial"/>
                <a:ea typeface="Arial"/>
                <a:cs typeface="Arial"/>
                <a:sym typeface="Arial"/>
                <a:hlinkClick r:id="rId4">
                  <a:extLst>
                    <a:ext uri="{A12FA001-AC4F-418D-AE19-62706E023703}">
                      <ahyp:hlinkClr val="tx"/>
                    </a:ext>
                  </a:extLst>
                </a:hlinkClick>
              </a:rPr>
            </a:br>
            <a:r>
              <a:rPr b="0" i="1" lang="en-US" sz="1400" u="sng" cap="none" strike="noStrike">
                <a:solidFill>
                  <a:schemeClr val="dk2"/>
                </a:solidFill>
                <a:latin typeface="Arial"/>
                <a:ea typeface="Arial"/>
                <a:cs typeface="Arial"/>
                <a:sym typeface="Arial"/>
                <a:hlinkClick r:id="rId5">
                  <a:extLst>
                    <a:ext uri="{A12FA001-AC4F-418D-AE19-62706E023703}">
                      <ahyp:hlinkClr val="tx"/>
                    </a:ext>
                  </a:extLst>
                </a:hlinkClick>
              </a:rPr>
              <a:t>and Dr. Watson at the Scene of</a:t>
            </a:r>
            <a:br>
              <a:rPr b="0" i="1" lang="en-US" sz="1400" u="sng" cap="none" strike="noStrike">
                <a:solidFill>
                  <a:schemeClr val="dk2"/>
                </a:solidFill>
                <a:latin typeface="Arial"/>
                <a:ea typeface="Arial"/>
                <a:cs typeface="Arial"/>
                <a:sym typeface="Arial"/>
                <a:hlinkClick r:id="rId6">
                  <a:extLst>
                    <a:ext uri="{A12FA001-AC4F-418D-AE19-62706E023703}">
                      <ahyp:hlinkClr val="tx"/>
                    </a:ext>
                  </a:extLst>
                </a:hlinkClick>
              </a:rPr>
            </a:br>
            <a:r>
              <a:rPr b="0" i="1" lang="en-US" sz="1400" u="sng" cap="none" strike="noStrike">
                <a:solidFill>
                  <a:schemeClr val="dk2"/>
                </a:solidFill>
                <a:latin typeface="Arial"/>
                <a:ea typeface="Arial"/>
                <a:cs typeface="Arial"/>
                <a:sym typeface="Arial"/>
                <a:hlinkClick r:id="rId7">
                  <a:extLst>
                    <a:ext uri="{A12FA001-AC4F-418D-AE19-62706E023703}">
                      <ahyp:hlinkClr val="tx"/>
                    </a:ext>
                  </a:extLst>
                </a:hlinkClick>
              </a:rPr>
              <a:t>an Aircraft Crash”</a:t>
            </a:r>
            <a:endParaRPr b="0" i="1" sz="1400" u="none" cap="none" strike="noStrike">
              <a:solidFill>
                <a:schemeClr val="dk2"/>
              </a:solidFill>
              <a:latin typeface="Arial"/>
              <a:ea typeface="Arial"/>
              <a:cs typeface="Arial"/>
              <a:sym typeface="Arial"/>
            </a:endParaRPr>
          </a:p>
        </p:txBody>
      </p:sp>
      <p:sp>
        <p:nvSpPr>
          <p:cNvPr id="34" name="Google Shape;34;p30"/>
          <p:cNvSpPr txBox="1"/>
          <p:nvPr/>
        </p:nvSpPr>
        <p:spPr>
          <a:xfrm>
            <a:off x="152402" y="176015"/>
            <a:ext cx="1176817" cy="461665"/>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Fundamentals of RM</a:t>
            </a:r>
            <a:endParaRPr/>
          </a:p>
        </p:txBody>
      </p:sp>
      <p:sp>
        <p:nvSpPr>
          <p:cNvPr id="35" name="Google Shape;35;p30"/>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RM System and Process</a:t>
            </a:r>
            <a:endParaRPr/>
          </a:p>
        </p:txBody>
      </p:sp>
      <p:sp>
        <p:nvSpPr>
          <p:cNvPr id="36" name="Google Shape;36;p30"/>
          <p:cNvSpPr txBox="1"/>
          <p:nvPr/>
        </p:nvSpPr>
        <p:spPr>
          <a:xfrm>
            <a:off x="7874130" y="169908"/>
            <a:ext cx="1155550" cy="461665"/>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Application and Perspectives</a:t>
            </a:r>
            <a:endParaRPr/>
          </a:p>
        </p:txBody>
      </p:sp>
      <p:sp>
        <p:nvSpPr>
          <p:cNvPr id="37" name="Google Shape;37;p30"/>
          <p:cNvSpPr txBox="1"/>
          <p:nvPr/>
        </p:nvSpPr>
        <p:spPr>
          <a:xfrm>
            <a:off x="7051217" y="169908"/>
            <a:ext cx="671096"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People &amp; Org.</a:t>
            </a:r>
            <a:endParaRPr/>
          </a:p>
        </p:txBody>
      </p:sp>
      <p:sp>
        <p:nvSpPr>
          <p:cNvPr id="38" name="Google Shape;38;p30"/>
          <p:cNvSpPr txBox="1"/>
          <p:nvPr/>
        </p:nvSpPr>
        <p:spPr>
          <a:xfrm>
            <a:off x="3834670" y="169908"/>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Incident Investigation</a:t>
            </a:r>
            <a:endParaRPr/>
          </a:p>
        </p:txBody>
      </p:sp>
      <p:sp>
        <p:nvSpPr>
          <p:cNvPr id="39" name="Google Shape;39;p30"/>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RM Tools &amp; Challenges</a:t>
            </a:r>
            <a:endParaRPr/>
          </a:p>
        </p:txBody>
      </p:sp>
      <p:sp>
        <p:nvSpPr>
          <p:cNvPr id="40" name="Google Shape;40;p30"/>
          <p:cNvSpPr txBox="1"/>
          <p:nvPr/>
        </p:nvSpPr>
        <p:spPr>
          <a:xfrm>
            <a:off x="2657853" y="170432"/>
            <a:ext cx="1024999" cy="461665"/>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Leadership in RM</a:t>
            </a:r>
            <a:endParaRPr/>
          </a:p>
        </p:txBody>
      </p:sp>
      <p:cxnSp>
        <p:nvCxnSpPr>
          <p:cNvPr id="41" name="Google Shape;41;p30"/>
          <p:cNvCxnSpPr>
            <a:stCxn id="34" idx="3"/>
            <a:endCxn id="35" idx="1"/>
          </p:cNvCxnSpPr>
          <p:nvPr/>
        </p:nvCxnSpPr>
        <p:spPr>
          <a:xfrm flipH="1" rot="10800000">
            <a:off x="1329219" y="400847"/>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42" name="Google Shape;42;p30"/>
          <p:cNvCxnSpPr>
            <a:stCxn id="35" idx="3"/>
            <a:endCxn id="40" idx="1"/>
          </p:cNvCxnSpPr>
          <p:nvPr/>
        </p:nvCxnSpPr>
        <p:spPr>
          <a:xfrm>
            <a:off x="2506036" y="400740"/>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3" name="Google Shape;43;p30"/>
          <p:cNvCxnSpPr>
            <a:stCxn id="40" idx="3"/>
            <a:endCxn id="38" idx="1"/>
          </p:cNvCxnSpPr>
          <p:nvPr/>
        </p:nvCxnSpPr>
        <p:spPr>
          <a:xfrm flipH="1" rot="10800000">
            <a:off x="3682852" y="400664"/>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4" name="Google Shape;44;p30"/>
          <p:cNvCxnSpPr>
            <a:stCxn id="38" idx="3"/>
            <a:endCxn id="39" idx="1"/>
          </p:cNvCxnSpPr>
          <p:nvPr/>
        </p:nvCxnSpPr>
        <p:spPr>
          <a:xfrm>
            <a:off x="4859669"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5" name="Google Shape;45;p30"/>
          <p:cNvCxnSpPr>
            <a:stCxn id="39" idx="3"/>
          </p:cNvCxnSpPr>
          <p:nvPr/>
        </p:nvCxnSpPr>
        <p:spPr>
          <a:xfrm>
            <a:off x="6036485"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6" name="Google Shape;46;p30"/>
          <p:cNvCxnSpPr>
            <a:endCxn id="37" idx="1"/>
          </p:cNvCxnSpPr>
          <p:nvPr/>
        </p:nvCxnSpPr>
        <p:spPr>
          <a:xfrm>
            <a:off x="6899417"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7" name="Google Shape;47;p30"/>
          <p:cNvCxnSpPr>
            <a:stCxn id="37" idx="3"/>
            <a:endCxn id="36" idx="1"/>
          </p:cNvCxnSpPr>
          <p:nvPr/>
        </p:nvCxnSpPr>
        <p:spPr>
          <a:xfrm>
            <a:off x="7722313" y="400740"/>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48" name="Google Shape;48;p30"/>
          <p:cNvSpPr txBox="1"/>
          <p:nvPr/>
        </p:nvSpPr>
        <p:spPr>
          <a:xfrm>
            <a:off x="6188301" y="169907"/>
            <a:ext cx="692362" cy="461665"/>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RM in Industry</a:t>
            </a:r>
            <a:endParaRPr/>
          </a:p>
        </p:txBody>
      </p:sp>
      <p:pic>
        <p:nvPicPr>
          <p:cNvPr id="49" name="Google Shape;49;p30"/>
          <p:cNvPicPr preferRelativeResize="0"/>
          <p:nvPr/>
        </p:nvPicPr>
        <p:blipFill rotWithShape="1">
          <a:blip r:embed="rId8">
            <a:alphaModFix/>
          </a:blip>
          <a:srcRect b="0" l="0" r="0" t="0"/>
          <a:stretch/>
        </p:blipFill>
        <p:spPr>
          <a:xfrm>
            <a:off x="891182" y="4405529"/>
            <a:ext cx="1766671" cy="1766671"/>
          </a:xfrm>
          <a:prstGeom prst="rect">
            <a:avLst/>
          </a:prstGeom>
          <a:noFill/>
          <a:ln>
            <a:noFill/>
          </a:ln>
        </p:spPr>
      </p:pic>
      <p:pic>
        <p:nvPicPr>
          <p:cNvPr descr="Introduction to Sociology - 2013 - The Collaboratory" id="50" name="Google Shape;50;p30"/>
          <p:cNvPicPr preferRelativeResize="0"/>
          <p:nvPr/>
        </p:nvPicPr>
        <p:blipFill rotWithShape="1">
          <a:blip r:embed="rId9">
            <a:alphaModFix/>
          </a:blip>
          <a:srcRect b="0" l="0" r="0" t="0"/>
          <a:stretch/>
        </p:blipFill>
        <p:spPr>
          <a:xfrm>
            <a:off x="6096500" y="4405342"/>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the need to investigate the scene and collect evidence.</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and apply the general II-RCA-MCA Work Process to lead an Incident Investigation immediately after an incident happens, through the RCA and MCA work processes, and to conclude with a final check on the effectiveness of the process. </a:t>
            </a:r>
            <a:endParaRPr/>
          </a:p>
        </p:txBody>
      </p:sp>
      <p:sp>
        <p:nvSpPr>
          <p:cNvPr id="57" name="Google Shape;57;p3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Learning Outcomes:</a:t>
            </a:r>
            <a:endParaRPr/>
          </a:p>
        </p:txBody>
      </p:sp>
      <p:sp>
        <p:nvSpPr>
          <p:cNvPr id="58" name="Google Shape;58;p3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9" name="Google Shape;59;p3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Incidents do happen. If the causes leading to an incident are not addressed, the incident can potentially repeat itself.</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Most organizations have systems in place for incident investigation and follow-up.</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lecture presents a framework for the overall work process for Incident Investigation (II), Root Cause Analysis and to Manage the (proposed) Corrective Actions.</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Tools for analysis that we will see in the following lectures include Root Cause Analysis (RCA), Cause and Effect Models (C&amp;E), and Manage Corrective Actions (MCA).</a:t>
            </a:r>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66" name="Google Shape;66;p3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Introduction:</a:t>
            </a:r>
            <a:endParaRPr/>
          </a:p>
        </p:txBody>
      </p:sp>
      <p:sp>
        <p:nvSpPr>
          <p:cNvPr id="67" name="Google Shape;67;p3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8" name="Google Shape;68;p3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75" name="Google Shape;75;p3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Overall II-RCA-MA Work Process (general workflow):</a:t>
            </a:r>
            <a:endParaRPr/>
          </a:p>
        </p:txBody>
      </p:sp>
      <p:sp>
        <p:nvSpPr>
          <p:cNvPr id="76" name="Google Shape;76;p3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7" name="Google Shape;77;p3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sp>
        <p:nvSpPr>
          <p:cNvPr id="78" name="Google Shape;78;p33"/>
          <p:cNvSpPr/>
          <p:nvPr/>
        </p:nvSpPr>
        <p:spPr>
          <a:xfrm>
            <a:off x="4171764" y="1139905"/>
            <a:ext cx="4113213" cy="129648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lnSpc>
                <a:spcPct val="110000"/>
              </a:lnSpc>
              <a:spcBef>
                <a:spcPts val="0"/>
              </a:spcBef>
              <a:spcAft>
                <a:spcPts val="0"/>
              </a:spcAft>
              <a:buClr>
                <a:srgbClr val="FFFFFF"/>
              </a:buClr>
              <a:buSzPts val="1800"/>
              <a:buFont typeface="Noto Sans Symbols"/>
              <a:buChar char="⮚"/>
            </a:pPr>
            <a:r>
              <a:rPr b="1" i="0" lang="en-US" sz="1800" u="none" cap="none" strike="noStrike">
                <a:solidFill>
                  <a:srgbClr val="FFFFFF"/>
                </a:solidFill>
                <a:latin typeface="Arial"/>
                <a:ea typeface="Arial"/>
                <a:cs typeface="Arial"/>
                <a:sym typeface="Arial"/>
              </a:rPr>
              <a:t>Incident Investigation</a:t>
            </a:r>
            <a:r>
              <a:rPr b="0" i="0" lang="en-US" sz="1800" u="none" cap="none" strike="noStrike">
                <a:solidFill>
                  <a:srgbClr val="FFFFFF"/>
                </a:solidFill>
                <a:latin typeface="Arial"/>
                <a:ea typeface="Arial"/>
                <a:cs typeface="Arial"/>
                <a:sym typeface="Arial"/>
              </a:rPr>
              <a:t>: collect evidence relating to an event (i.e. the discovery and ascertainment of the facts of a loss incident). </a:t>
            </a:r>
            <a:endParaRPr b="0" i="0" sz="1800" u="none" cap="none" strike="noStrike">
              <a:solidFill>
                <a:srgbClr val="FFFFFF"/>
              </a:solidFill>
              <a:latin typeface="Arial"/>
              <a:ea typeface="Arial"/>
              <a:cs typeface="Arial"/>
              <a:sym typeface="Arial"/>
            </a:endParaRPr>
          </a:p>
        </p:txBody>
      </p:sp>
      <p:cxnSp>
        <p:nvCxnSpPr>
          <p:cNvPr id="79" name="Google Shape;79;p33"/>
          <p:cNvCxnSpPr>
            <a:stCxn id="80" idx="2"/>
            <a:endCxn id="81" idx="0"/>
          </p:cNvCxnSpPr>
          <p:nvPr/>
        </p:nvCxnSpPr>
        <p:spPr>
          <a:xfrm>
            <a:off x="2174533" y="1785846"/>
            <a:ext cx="0" cy="221700"/>
          </a:xfrm>
          <a:prstGeom prst="straightConnector1">
            <a:avLst/>
          </a:prstGeom>
          <a:noFill/>
          <a:ln cap="sq" cmpd="sng" w="31750">
            <a:solidFill>
              <a:srgbClr val="000000"/>
            </a:solidFill>
            <a:prstDash val="solid"/>
            <a:round/>
            <a:headEnd len="sm" w="sm" type="none"/>
            <a:tailEnd len="med" w="med" type="triangle"/>
          </a:ln>
        </p:spPr>
      </p:cxnSp>
      <p:cxnSp>
        <p:nvCxnSpPr>
          <p:cNvPr id="82" name="Google Shape;82;p33"/>
          <p:cNvCxnSpPr>
            <a:stCxn id="83" idx="2"/>
            <a:endCxn id="84" idx="0"/>
          </p:cNvCxnSpPr>
          <p:nvPr/>
        </p:nvCxnSpPr>
        <p:spPr>
          <a:xfrm>
            <a:off x="2174533" y="3579887"/>
            <a:ext cx="0" cy="280500"/>
          </a:xfrm>
          <a:prstGeom prst="straightConnector1">
            <a:avLst/>
          </a:prstGeom>
          <a:noFill/>
          <a:ln cap="sq" cmpd="sng" w="31750">
            <a:solidFill>
              <a:srgbClr val="000000"/>
            </a:solidFill>
            <a:prstDash val="solid"/>
            <a:round/>
            <a:headEnd len="sm" w="sm" type="none"/>
            <a:tailEnd len="med" w="med" type="triangle"/>
          </a:ln>
        </p:spPr>
      </p:cxnSp>
      <p:sp>
        <p:nvSpPr>
          <p:cNvPr id="80" name="Google Shape;80;p33"/>
          <p:cNvSpPr/>
          <p:nvPr/>
        </p:nvSpPr>
        <p:spPr>
          <a:xfrm>
            <a:off x="665773" y="1139906"/>
            <a:ext cx="3017520" cy="645940"/>
          </a:xfrm>
          <a:prstGeom prst="flowChartProcess">
            <a:avLst/>
          </a:prstGeom>
          <a:solidFill>
            <a:srgbClr val="FFFFFF"/>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2000" u="none" cap="none" strike="noStrike">
                <a:solidFill>
                  <a:srgbClr val="000000"/>
                </a:solidFill>
                <a:latin typeface="Arial"/>
                <a:ea typeface="Arial"/>
                <a:cs typeface="Arial"/>
                <a:sym typeface="Arial"/>
              </a:rPr>
              <a:t>Incident Happens</a:t>
            </a:r>
            <a:endParaRPr b="0" i="0" sz="2000" u="none" cap="none" strike="noStrike">
              <a:solidFill>
                <a:srgbClr val="000000"/>
              </a:solidFill>
              <a:latin typeface="Arial"/>
              <a:ea typeface="Arial"/>
              <a:cs typeface="Arial"/>
              <a:sym typeface="Arial"/>
            </a:endParaRPr>
          </a:p>
        </p:txBody>
      </p:sp>
      <p:sp>
        <p:nvSpPr>
          <p:cNvPr id="81" name="Google Shape;81;p33"/>
          <p:cNvSpPr/>
          <p:nvPr/>
        </p:nvSpPr>
        <p:spPr>
          <a:xfrm>
            <a:off x="665773" y="2007450"/>
            <a:ext cx="3017520" cy="645940"/>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2000" u="none" cap="none" strike="noStrike">
                <a:solidFill>
                  <a:srgbClr val="FFFFFF"/>
                </a:solidFill>
                <a:latin typeface="Arial"/>
                <a:ea typeface="Arial"/>
                <a:cs typeface="Arial"/>
                <a:sym typeface="Arial"/>
              </a:rPr>
              <a:t>Incident Investigation</a:t>
            </a:r>
            <a:endParaRPr b="0" i="0" sz="2000" u="none" cap="none" strike="noStrike">
              <a:solidFill>
                <a:srgbClr val="000000"/>
              </a:solidFill>
              <a:latin typeface="Arial"/>
              <a:ea typeface="Arial"/>
              <a:cs typeface="Arial"/>
              <a:sym typeface="Arial"/>
            </a:endParaRPr>
          </a:p>
        </p:txBody>
      </p:sp>
      <p:sp>
        <p:nvSpPr>
          <p:cNvPr id="83" name="Google Shape;83;p33"/>
          <p:cNvSpPr/>
          <p:nvPr/>
        </p:nvSpPr>
        <p:spPr>
          <a:xfrm>
            <a:off x="665773" y="2933947"/>
            <a:ext cx="3017520" cy="645940"/>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2000" u="none" cap="none" strike="noStrike">
                <a:solidFill>
                  <a:srgbClr val="FFFFFF"/>
                </a:solidFill>
                <a:latin typeface="Arial"/>
                <a:ea typeface="Arial"/>
                <a:cs typeface="Arial"/>
                <a:sym typeface="Arial"/>
              </a:rPr>
              <a:t>Root Cause Analysis</a:t>
            </a:r>
            <a:endParaRPr b="0" i="0" sz="2000" u="none" cap="none" strike="noStrike">
              <a:solidFill>
                <a:srgbClr val="000000"/>
              </a:solidFill>
              <a:latin typeface="Arial"/>
              <a:ea typeface="Arial"/>
              <a:cs typeface="Arial"/>
              <a:sym typeface="Arial"/>
            </a:endParaRPr>
          </a:p>
        </p:txBody>
      </p:sp>
      <p:sp>
        <p:nvSpPr>
          <p:cNvPr id="85" name="Google Shape;85;p33"/>
          <p:cNvSpPr/>
          <p:nvPr/>
        </p:nvSpPr>
        <p:spPr>
          <a:xfrm>
            <a:off x="665773" y="4893396"/>
            <a:ext cx="3017520" cy="645940"/>
          </a:xfrm>
          <a:prstGeom prst="flowChartProcess">
            <a:avLst/>
          </a:prstGeom>
          <a:solidFill>
            <a:srgbClr val="FFFFFF"/>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2000" u="none" cap="none" strike="noStrike">
                <a:solidFill>
                  <a:srgbClr val="000000"/>
                </a:solidFill>
                <a:latin typeface="Arial"/>
                <a:ea typeface="Arial"/>
                <a:cs typeface="Arial"/>
                <a:sym typeface="Arial"/>
              </a:rPr>
              <a:t>Check Process Effectiveness</a:t>
            </a:r>
            <a:endParaRPr b="0" i="0" sz="2000" u="none" cap="none" strike="noStrike">
              <a:solidFill>
                <a:srgbClr val="000000"/>
              </a:solidFill>
              <a:latin typeface="Arial"/>
              <a:ea typeface="Arial"/>
              <a:cs typeface="Arial"/>
              <a:sym typeface="Arial"/>
            </a:endParaRPr>
          </a:p>
        </p:txBody>
      </p:sp>
      <p:cxnSp>
        <p:nvCxnSpPr>
          <p:cNvPr id="86" name="Google Shape;86;p33"/>
          <p:cNvCxnSpPr>
            <a:stCxn id="84" idx="2"/>
          </p:cNvCxnSpPr>
          <p:nvPr/>
        </p:nvCxnSpPr>
        <p:spPr>
          <a:xfrm rot="10800000">
            <a:off x="2174533" y="3948985"/>
            <a:ext cx="0" cy="557400"/>
          </a:xfrm>
          <a:prstGeom prst="straightConnector1">
            <a:avLst/>
          </a:prstGeom>
          <a:noFill/>
          <a:ln cap="sq" cmpd="sng" w="31750">
            <a:solidFill>
              <a:srgbClr val="000000"/>
            </a:solidFill>
            <a:prstDash val="solid"/>
            <a:round/>
            <a:headEnd len="sm" w="sm" type="none"/>
            <a:tailEnd len="med" w="med" type="triangle"/>
          </a:ln>
        </p:spPr>
      </p:cxnSp>
      <p:sp>
        <p:nvSpPr>
          <p:cNvPr id="84" name="Google Shape;84;p33"/>
          <p:cNvSpPr/>
          <p:nvPr/>
        </p:nvSpPr>
        <p:spPr>
          <a:xfrm>
            <a:off x="665773" y="3860445"/>
            <a:ext cx="3017520" cy="645940"/>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2000" u="none" cap="none" strike="noStrike">
                <a:solidFill>
                  <a:srgbClr val="FFFFFF"/>
                </a:solidFill>
                <a:latin typeface="Arial"/>
                <a:ea typeface="Arial"/>
                <a:cs typeface="Arial"/>
                <a:sym typeface="Arial"/>
              </a:rPr>
              <a:t>Manage Corrective Actions</a:t>
            </a:r>
            <a:endParaRPr b="0" i="0" sz="2000" u="none" cap="none" strike="noStrike">
              <a:solidFill>
                <a:srgbClr val="000000"/>
              </a:solidFill>
              <a:latin typeface="Arial"/>
              <a:ea typeface="Arial"/>
              <a:cs typeface="Arial"/>
              <a:sym typeface="Arial"/>
            </a:endParaRPr>
          </a:p>
        </p:txBody>
      </p:sp>
      <p:cxnSp>
        <p:nvCxnSpPr>
          <p:cNvPr id="87" name="Google Shape;87;p33"/>
          <p:cNvCxnSpPr>
            <a:stCxn id="81" idx="2"/>
            <a:endCxn id="83" idx="0"/>
          </p:cNvCxnSpPr>
          <p:nvPr/>
        </p:nvCxnSpPr>
        <p:spPr>
          <a:xfrm>
            <a:off x="2174533" y="2653390"/>
            <a:ext cx="0" cy="280500"/>
          </a:xfrm>
          <a:prstGeom prst="straightConnector1">
            <a:avLst/>
          </a:prstGeom>
          <a:noFill/>
          <a:ln cap="sq" cmpd="sng" w="31750">
            <a:solidFill>
              <a:srgbClr val="000000"/>
            </a:solidFill>
            <a:prstDash val="solid"/>
            <a:round/>
            <a:headEnd len="sm" w="sm" type="none"/>
            <a:tailEnd len="med" w="med" type="triangle"/>
          </a:ln>
        </p:spPr>
      </p:cxnSp>
      <p:cxnSp>
        <p:nvCxnSpPr>
          <p:cNvPr id="88" name="Google Shape;88;p33"/>
          <p:cNvCxnSpPr>
            <a:stCxn id="84" idx="2"/>
            <a:endCxn id="85" idx="0"/>
          </p:cNvCxnSpPr>
          <p:nvPr/>
        </p:nvCxnSpPr>
        <p:spPr>
          <a:xfrm>
            <a:off x="2174533" y="4506385"/>
            <a:ext cx="0" cy="387000"/>
          </a:xfrm>
          <a:prstGeom prst="straightConnector1">
            <a:avLst/>
          </a:prstGeom>
          <a:noFill/>
          <a:ln cap="sq" cmpd="sng" w="31750">
            <a:solidFill>
              <a:srgbClr val="000000"/>
            </a:solidFill>
            <a:prstDash val="solid"/>
            <a:round/>
            <a:headEnd len="sm" w="sm" type="none"/>
            <a:tailEnd len="med" w="med" type="triangle"/>
          </a:ln>
        </p:spPr>
      </p:cxnSp>
      <p:sp>
        <p:nvSpPr>
          <p:cNvPr id="89" name="Google Shape;89;p33"/>
          <p:cNvSpPr/>
          <p:nvPr/>
        </p:nvSpPr>
        <p:spPr>
          <a:xfrm>
            <a:off x="4166787" y="2593421"/>
            <a:ext cx="4113213" cy="112932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lnSpc>
                <a:spcPct val="110000"/>
              </a:lnSpc>
              <a:spcBef>
                <a:spcPts val="0"/>
              </a:spcBef>
              <a:spcAft>
                <a:spcPts val="0"/>
              </a:spcAft>
              <a:buClr>
                <a:srgbClr val="FFFFFF"/>
              </a:buClr>
              <a:buSzPts val="1800"/>
              <a:buFont typeface="Noto Sans Symbols"/>
              <a:buChar char="⮚"/>
            </a:pPr>
            <a:r>
              <a:rPr b="1" i="0" lang="en-US" sz="1800" u="none" cap="none" strike="noStrike">
                <a:solidFill>
                  <a:srgbClr val="FFFFFF"/>
                </a:solidFill>
                <a:latin typeface="Arial"/>
                <a:ea typeface="Arial"/>
                <a:cs typeface="Arial"/>
                <a:sym typeface="Arial"/>
              </a:rPr>
              <a:t>Root Cause Analysis (RCA)</a:t>
            </a:r>
            <a:r>
              <a:rPr b="0" i="0" lang="en-US" sz="1800" u="none" cap="none" strike="noStrike">
                <a:solidFill>
                  <a:srgbClr val="FFFFFF"/>
                </a:solidFill>
                <a:latin typeface="Arial"/>
                <a:ea typeface="Arial"/>
                <a:cs typeface="Arial"/>
                <a:sym typeface="Arial"/>
              </a:rPr>
              <a:t>: determine the causes of an incident. </a:t>
            </a:r>
            <a:endParaRPr b="0" i="0" sz="1800" u="none" cap="none" strike="noStrike">
              <a:solidFill>
                <a:srgbClr val="000000"/>
              </a:solidFill>
              <a:latin typeface="Arial"/>
              <a:ea typeface="Arial"/>
              <a:cs typeface="Arial"/>
              <a:sym typeface="Arial"/>
            </a:endParaRPr>
          </a:p>
        </p:txBody>
      </p:sp>
      <p:sp>
        <p:nvSpPr>
          <p:cNvPr id="90" name="Google Shape;90;p33"/>
          <p:cNvSpPr/>
          <p:nvPr/>
        </p:nvSpPr>
        <p:spPr>
          <a:xfrm>
            <a:off x="4166787" y="3879782"/>
            <a:ext cx="4113213" cy="165955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lnSpc>
                <a:spcPct val="110000"/>
              </a:lnSpc>
              <a:spcBef>
                <a:spcPts val="0"/>
              </a:spcBef>
              <a:spcAft>
                <a:spcPts val="0"/>
              </a:spcAft>
              <a:buClr>
                <a:srgbClr val="FFFFFF"/>
              </a:buClr>
              <a:buSzPts val="1800"/>
              <a:buFont typeface="Noto Sans Symbols"/>
              <a:buChar char="⮚"/>
            </a:pPr>
            <a:r>
              <a:rPr b="1" i="0" lang="en-US" sz="1800" u="none" cap="none" strike="noStrike">
                <a:solidFill>
                  <a:srgbClr val="FFFFFF"/>
                </a:solidFill>
                <a:latin typeface="Arial"/>
                <a:ea typeface="Arial"/>
                <a:cs typeface="Arial"/>
                <a:sym typeface="Arial"/>
              </a:rPr>
              <a:t>Manage Corrective Actions</a:t>
            </a:r>
            <a:r>
              <a:rPr b="0" i="0" lang="en-US" sz="1800" u="none" cap="none" strike="noStrike">
                <a:solidFill>
                  <a:srgbClr val="FFFFFF"/>
                </a:solidFill>
                <a:latin typeface="Arial"/>
                <a:ea typeface="Arial"/>
                <a:cs typeface="Arial"/>
                <a:sym typeface="Arial"/>
              </a:rPr>
              <a:t>: manages the corrective and preventative actions that address the latent causes identified in the RCA</a:t>
            </a:r>
            <a:endParaRPr b="0" i="0" sz="18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97" name="Google Shape;97;p3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Detailed II-RCA-MA Work Process (typical):</a:t>
            </a:r>
            <a:endParaRPr/>
          </a:p>
        </p:txBody>
      </p:sp>
      <p:sp>
        <p:nvSpPr>
          <p:cNvPr id="98" name="Google Shape;98;p3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9" name="Google Shape;99;p3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cxnSp>
        <p:nvCxnSpPr>
          <p:cNvPr id="100" name="Google Shape;100;p34"/>
          <p:cNvCxnSpPr>
            <a:stCxn id="101" idx="2"/>
            <a:endCxn id="102" idx="0"/>
          </p:cNvCxnSpPr>
          <p:nvPr/>
        </p:nvCxnSpPr>
        <p:spPr>
          <a:xfrm>
            <a:off x="3086100" y="1234162"/>
            <a:ext cx="0" cy="339000"/>
          </a:xfrm>
          <a:prstGeom prst="straightConnector1">
            <a:avLst/>
          </a:prstGeom>
          <a:noFill/>
          <a:ln cap="sq" cmpd="sng" w="31750">
            <a:solidFill>
              <a:srgbClr val="000000"/>
            </a:solidFill>
            <a:prstDash val="solid"/>
            <a:round/>
            <a:headEnd len="sm" w="sm" type="none"/>
            <a:tailEnd len="med" w="med" type="triangle"/>
          </a:ln>
        </p:spPr>
      </p:cxnSp>
      <p:cxnSp>
        <p:nvCxnSpPr>
          <p:cNvPr id="103" name="Google Shape;103;p34"/>
          <p:cNvCxnSpPr>
            <a:stCxn id="104" idx="2"/>
            <a:endCxn id="105" idx="0"/>
          </p:cNvCxnSpPr>
          <p:nvPr/>
        </p:nvCxnSpPr>
        <p:spPr>
          <a:xfrm>
            <a:off x="3085588" y="2798187"/>
            <a:ext cx="600" cy="407400"/>
          </a:xfrm>
          <a:prstGeom prst="straightConnector1">
            <a:avLst/>
          </a:prstGeom>
          <a:noFill/>
          <a:ln cap="sq" cmpd="sng" w="31750">
            <a:solidFill>
              <a:srgbClr val="000000"/>
            </a:solidFill>
            <a:prstDash val="solid"/>
            <a:round/>
            <a:headEnd len="sm" w="sm" type="none"/>
            <a:tailEnd len="med" w="med" type="triangle"/>
          </a:ln>
        </p:spPr>
      </p:cxnSp>
      <p:cxnSp>
        <p:nvCxnSpPr>
          <p:cNvPr id="106" name="Google Shape;106;p34"/>
          <p:cNvCxnSpPr>
            <a:stCxn id="102" idx="2"/>
            <a:endCxn id="104" idx="0"/>
          </p:cNvCxnSpPr>
          <p:nvPr/>
        </p:nvCxnSpPr>
        <p:spPr>
          <a:xfrm flipH="1">
            <a:off x="3085500" y="1880862"/>
            <a:ext cx="600" cy="306000"/>
          </a:xfrm>
          <a:prstGeom prst="straightConnector1">
            <a:avLst/>
          </a:prstGeom>
          <a:noFill/>
          <a:ln cap="sq" cmpd="sng" w="31750">
            <a:solidFill>
              <a:srgbClr val="000000"/>
            </a:solidFill>
            <a:prstDash val="solid"/>
            <a:round/>
            <a:headEnd len="sm" w="sm" type="none"/>
            <a:tailEnd len="med" w="med" type="triangle"/>
          </a:ln>
        </p:spPr>
      </p:cxnSp>
      <p:cxnSp>
        <p:nvCxnSpPr>
          <p:cNvPr id="107" name="Google Shape;107;p34"/>
          <p:cNvCxnSpPr>
            <a:stCxn id="105" idx="2"/>
            <a:endCxn id="108" idx="0"/>
          </p:cNvCxnSpPr>
          <p:nvPr/>
        </p:nvCxnSpPr>
        <p:spPr>
          <a:xfrm>
            <a:off x="3086100" y="3513383"/>
            <a:ext cx="0" cy="328200"/>
          </a:xfrm>
          <a:prstGeom prst="straightConnector1">
            <a:avLst/>
          </a:prstGeom>
          <a:noFill/>
          <a:ln cap="sq" cmpd="sng" w="31750">
            <a:solidFill>
              <a:srgbClr val="000000"/>
            </a:solidFill>
            <a:prstDash val="solid"/>
            <a:round/>
            <a:headEnd len="sm" w="sm" type="none"/>
            <a:tailEnd len="med" w="med" type="triangle"/>
          </a:ln>
        </p:spPr>
      </p:cxnSp>
      <p:cxnSp>
        <p:nvCxnSpPr>
          <p:cNvPr id="109" name="Google Shape;109;p34"/>
          <p:cNvCxnSpPr>
            <a:stCxn id="110" idx="2"/>
            <a:endCxn id="111" idx="0"/>
          </p:cNvCxnSpPr>
          <p:nvPr/>
        </p:nvCxnSpPr>
        <p:spPr>
          <a:xfrm>
            <a:off x="6934200" y="1599989"/>
            <a:ext cx="0" cy="331800"/>
          </a:xfrm>
          <a:prstGeom prst="straightConnector1">
            <a:avLst/>
          </a:prstGeom>
          <a:noFill/>
          <a:ln cap="sq" cmpd="sng" w="31750">
            <a:solidFill>
              <a:srgbClr val="000000"/>
            </a:solidFill>
            <a:prstDash val="solid"/>
            <a:round/>
            <a:headEnd len="sm" w="sm" type="none"/>
            <a:tailEnd len="med" w="med" type="triangle"/>
          </a:ln>
        </p:spPr>
      </p:cxnSp>
      <p:cxnSp>
        <p:nvCxnSpPr>
          <p:cNvPr id="112" name="Google Shape;112;p34"/>
          <p:cNvCxnSpPr>
            <a:stCxn id="111" idx="2"/>
            <a:endCxn id="113" idx="0"/>
          </p:cNvCxnSpPr>
          <p:nvPr/>
        </p:nvCxnSpPr>
        <p:spPr>
          <a:xfrm>
            <a:off x="6934200" y="2239442"/>
            <a:ext cx="18300" cy="565200"/>
          </a:xfrm>
          <a:prstGeom prst="straightConnector1">
            <a:avLst/>
          </a:prstGeom>
          <a:noFill/>
          <a:ln cap="sq" cmpd="sng" w="31750">
            <a:solidFill>
              <a:srgbClr val="000000"/>
            </a:solidFill>
            <a:prstDash val="solid"/>
            <a:round/>
            <a:headEnd len="sm" w="sm" type="none"/>
            <a:tailEnd len="med" w="med" type="triangle"/>
          </a:ln>
        </p:spPr>
      </p:cxnSp>
      <p:cxnSp>
        <p:nvCxnSpPr>
          <p:cNvPr id="114" name="Google Shape;114;p34"/>
          <p:cNvCxnSpPr>
            <a:stCxn id="115" idx="2"/>
            <a:endCxn id="116" idx="0"/>
          </p:cNvCxnSpPr>
          <p:nvPr/>
        </p:nvCxnSpPr>
        <p:spPr>
          <a:xfrm>
            <a:off x="6952545" y="3742189"/>
            <a:ext cx="0" cy="365100"/>
          </a:xfrm>
          <a:prstGeom prst="straightConnector1">
            <a:avLst/>
          </a:prstGeom>
          <a:noFill/>
          <a:ln cap="sq" cmpd="sng" w="31750">
            <a:solidFill>
              <a:srgbClr val="000000"/>
            </a:solidFill>
            <a:prstDash val="solid"/>
            <a:round/>
            <a:headEnd len="sm" w="sm" type="none"/>
            <a:tailEnd len="med" w="med" type="triangle"/>
          </a:ln>
        </p:spPr>
      </p:cxnSp>
      <p:sp>
        <p:nvSpPr>
          <p:cNvPr id="101" name="Google Shape;101;p34"/>
          <p:cNvSpPr/>
          <p:nvPr/>
        </p:nvSpPr>
        <p:spPr>
          <a:xfrm>
            <a:off x="1981200" y="926426"/>
            <a:ext cx="22098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Incident Happens</a:t>
            </a:r>
            <a:endParaRPr b="0" i="0" sz="1400" u="none" cap="none" strike="noStrike">
              <a:solidFill>
                <a:srgbClr val="000000"/>
              </a:solidFill>
              <a:latin typeface="Arial"/>
              <a:ea typeface="Arial"/>
              <a:cs typeface="Arial"/>
              <a:sym typeface="Arial"/>
            </a:endParaRPr>
          </a:p>
        </p:txBody>
      </p:sp>
      <p:sp>
        <p:nvSpPr>
          <p:cNvPr id="104" name="Google Shape;104;p34"/>
          <p:cNvSpPr/>
          <p:nvPr/>
        </p:nvSpPr>
        <p:spPr>
          <a:xfrm>
            <a:off x="1828288" y="2186881"/>
            <a:ext cx="2514600" cy="611306"/>
          </a:xfrm>
          <a:prstGeom prst="flowChartDecision">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Investigate?</a:t>
            </a:r>
            <a:endParaRPr b="0" i="0" sz="1400" u="none" cap="none" strike="noStrike">
              <a:solidFill>
                <a:srgbClr val="000000"/>
              </a:solidFill>
              <a:latin typeface="Arial"/>
              <a:ea typeface="Arial"/>
              <a:cs typeface="Arial"/>
              <a:sym typeface="Arial"/>
            </a:endParaRPr>
          </a:p>
        </p:txBody>
      </p:sp>
      <p:sp>
        <p:nvSpPr>
          <p:cNvPr id="102" name="Google Shape;102;p34"/>
          <p:cNvSpPr/>
          <p:nvPr/>
        </p:nvSpPr>
        <p:spPr>
          <a:xfrm>
            <a:off x="2133600" y="1573126"/>
            <a:ext cx="19050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Appraise situation</a:t>
            </a:r>
            <a:endParaRPr b="0" i="0" sz="1400" u="none" cap="none" strike="noStrike">
              <a:solidFill>
                <a:srgbClr val="000000"/>
              </a:solidFill>
              <a:latin typeface="Arial"/>
              <a:ea typeface="Arial"/>
              <a:cs typeface="Arial"/>
              <a:sym typeface="Arial"/>
            </a:endParaRPr>
          </a:p>
        </p:txBody>
      </p:sp>
      <p:sp>
        <p:nvSpPr>
          <p:cNvPr id="105" name="Google Shape;105;p34"/>
          <p:cNvSpPr/>
          <p:nvPr/>
        </p:nvSpPr>
        <p:spPr>
          <a:xfrm>
            <a:off x="1828800" y="3205647"/>
            <a:ext cx="25146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Start collecting evidence</a:t>
            </a:r>
            <a:endParaRPr b="0" i="0" sz="1400" u="none" cap="none" strike="noStrike">
              <a:solidFill>
                <a:srgbClr val="000000"/>
              </a:solidFill>
              <a:latin typeface="Arial"/>
              <a:ea typeface="Arial"/>
              <a:cs typeface="Arial"/>
              <a:sym typeface="Arial"/>
            </a:endParaRPr>
          </a:p>
        </p:txBody>
      </p:sp>
      <p:sp>
        <p:nvSpPr>
          <p:cNvPr id="117" name="Google Shape;117;p34"/>
          <p:cNvSpPr/>
          <p:nvPr/>
        </p:nvSpPr>
        <p:spPr>
          <a:xfrm>
            <a:off x="1295400" y="4955322"/>
            <a:ext cx="3581400" cy="611306"/>
          </a:xfrm>
          <a:prstGeom prst="flowChartDecision">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All details known?</a:t>
            </a:r>
            <a:endParaRPr b="0" i="0" sz="1400" u="none" cap="none" strike="noStrike">
              <a:solidFill>
                <a:srgbClr val="000000"/>
              </a:solidFill>
              <a:latin typeface="Arial"/>
              <a:ea typeface="Arial"/>
              <a:cs typeface="Arial"/>
              <a:sym typeface="Arial"/>
            </a:endParaRPr>
          </a:p>
        </p:txBody>
      </p:sp>
      <p:sp>
        <p:nvSpPr>
          <p:cNvPr id="110" name="Google Shape;110;p34"/>
          <p:cNvSpPr/>
          <p:nvPr/>
        </p:nvSpPr>
        <p:spPr>
          <a:xfrm>
            <a:off x="5791200" y="1076809"/>
            <a:ext cx="2286000" cy="523180"/>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Conduct the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Root Cause Analysis</a:t>
            </a:r>
            <a:endParaRPr b="0" i="0" sz="1400" u="none" cap="none" strike="noStrike">
              <a:solidFill>
                <a:srgbClr val="000000"/>
              </a:solidFill>
              <a:latin typeface="Arial"/>
              <a:ea typeface="Arial"/>
              <a:cs typeface="Arial"/>
              <a:sym typeface="Arial"/>
            </a:endParaRPr>
          </a:p>
        </p:txBody>
      </p:sp>
      <p:sp>
        <p:nvSpPr>
          <p:cNvPr id="111" name="Google Shape;111;p34"/>
          <p:cNvSpPr/>
          <p:nvPr/>
        </p:nvSpPr>
        <p:spPr>
          <a:xfrm>
            <a:off x="5791200" y="1931706"/>
            <a:ext cx="22860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Reach conclusions</a:t>
            </a:r>
            <a:endParaRPr b="0" i="0" sz="1400" u="none" cap="none" strike="noStrike">
              <a:solidFill>
                <a:srgbClr val="000000"/>
              </a:solidFill>
              <a:latin typeface="Arial"/>
              <a:ea typeface="Arial"/>
              <a:cs typeface="Arial"/>
              <a:sym typeface="Arial"/>
            </a:endParaRPr>
          </a:p>
        </p:txBody>
      </p:sp>
      <p:sp>
        <p:nvSpPr>
          <p:cNvPr id="115" name="Google Shape;115;p34"/>
          <p:cNvSpPr/>
          <p:nvPr/>
        </p:nvSpPr>
        <p:spPr>
          <a:xfrm>
            <a:off x="5580945" y="3434453"/>
            <a:ext cx="27432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Report and Communicate</a:t>
            </a:r>
            <a:endParaRPr b="0" i="0" sz="1400" u="none" cap="none" strike="noStrike">
              <a:solidFill>
                <a:srgbClr val="000000"/>
              </a:solidFill>
              <a:latin typeface="Arial"/>
              <a:ea typeface="Arial"/>
              <a:cs typeface="Arial"/>
              <a:sym typeface="Arial"/>
            </a:endParaRPr>
          </a:p>
        </p:txBody>
      </p:sp>
      <p:cxnSp>
        <p:nvCxnSpPr>
          <p:cNvPr id="118" name="Google Shape;118;p34"/>
          <p:cNvCxnSpPr>
            <a:stCxn id="108" idx="2"/>
            <a:endCxn id="119" idx="0"/>
          </p:cNvCxnSpPr>
          <p:nvPr/>
        </p:nvCxnSpPr>
        <p:spPr>
          <a:xfrm>
            <a:off x="3086100" y="4149379"/>
            <a:ext cx="6000" cy="300000"/>
          </a:xfrm>
          <a:prstGeom prst="straightConnector1">
            <a:avLst/>
          </a:prstGeom>
          <a:noFill/>
          <a:ln cap="sq" cmpd="sng" w="31750">
            <a:solidFill>
              <a:srgbClr val="000000"/>
            </a:solidFill>
            <a:prstDash val="solid"/>
            <a:round/>
            <a:headEnd len="sm" w="sm" type="none"/>
            <a:tailEnd len="med" w="med" type="triangle"/>
          </a:ln>
        </p:spPr>
      </p:cxnSp>
      <p:cxnSp>
        <p:nvCxnSpPr>
          <p:cNvPr id="120" name="Google Shape;120;p34"/>
          <p:cNvCxnSpPr>
            <a:stCxn id="119" idx="2"/>
            <a:endCxn id="117" idx="0"/>
          </p:cNvCxnSpPr>
          <p:nvPr/>
        </p:nvCxnSpPr>
        <p:spPr>
          <a:xfrm flipH="1">
            <a:off x="3085957" y="4757053"/>
            <a:ext cx="6000" cy="198300"/>
          </a:xfrm>
          <a:prstGeom prst="straightConnector1">
            <a:avLst/>
          </a:prstGeom>
          <a:noFill/>
          <a:ln cap="sq" cmpd="sng" w="31750">
            <a:solidFill>
              <a:srgbClr val="000000"/>
            </a:solidFill>
            <a:prstDash val="solid"/>
            <a:round/>
            <a:headEnd len="sm" w="sm" type="none"/>
            <a:tailEnd len="med" w="med" type="triangle"/>
          </a:ln>
        </p:spPr>
      </p:cxnSp>
      <p:sp>
        <p:nvSpPr>
          <p:cNvPr id="121" name="Google Shape;121;p34"/>
          <p:cNvSpPr/>
          <p:nvPr/>
        </p:nvSpPr>
        <p:spPr>
          <a:xfrm>
            <a:off x="5598581" y="4763955"/>
            <a:ext cx="2743200" cy="523180"/>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Check effectiveness of the Investigation Process</a:t>
            </a:r>
            <a:endParaRPr b="0" i="0" sz="1400" u="none" cap="none" strike="noStrike">
              <a:solidFill>
                <a:srgbClr val="000000"/>
              </a:solidFill>
              <a:latin typeface="Arial"/>
              <a:ea typeface="Arial"/>
              <a:cs typeface="Arial"/>
              <a:sym typeface="Arial"/>
            </a:endParaRPr>
          </a:p>
        </p:txBody>
      </p:sp>
      <p:cxnSp>
        <p:nvCxnSpPr>
          <p:cNvPr id="122" name="Google Shape;122;p34"/>
          <p:cNvCxnSpPr>
            <a:stCxn id="117" idx="3"/>
            <a:endCxn id="110" idx="1"/>
          </p:cNvCxnSpPr>
          <p:nvPr/>
        </p:nvCxnSpPr>
        <p:spPr>
          <a:xfrm flipH="1" rot="10800000">
            <a:off x="4876800" y="1338475"/>
            <a:ext cx="914400" cy="3922500"/>
          </a:xfrm>
          <a:prstGeom prst="bentConnector3">
            <a:avLst>
              <a:gd fmla="val 50000" name="adj1"/>
            </a:avLst>
          </a:prstGeom>
          <a:noFill/>
          <a:ln cap="sq" cmpd="sng" w="31750">
            <a:solidFill>
              <a:srgbClr val="000000"/>
            </a:solidFill>
            <a:prstDash val="solid"/>
            <a:miter lim="800000"/>
            <a:headEnd len="sm" w="sm" type="none"/>
            <a:tailEnd len="med" w="med" type="triangle"/>
          </a:ln>
        </p:spPr>
      </p:cxnSp>
      <p:cxnSp>
        <p:nvCxnSpPr>
          <p:cNvPr id="123" name="Google Shape;123;p34"/>
          <p:cNvCxnSpPr>
            <a:stCxn id="117" idx="1"/>
            <a:endCxn id="119" idx="1"/>
          </p:cNvCxnSpPr>
          <p:nvPr/>
        </p:nvCxnSpPr>
        <p:spPr>
          <a:xfrm flipH="1" rot="10800000">
            <a:off x="1295400" y="4603075"/>
            <a:ext cx="387000" cy="657900"/>
          </a:xfrm>
          <a:prstGeom prst="bentConnector3">
            <a:avLst>
              <a:gd fmla="val -59070" name="adj1"/>
            </a:avLst>
          </a:prstGeom>
          <a:noFill/>
          <a:ln cap="sq" cmpd="sng" w="31750">
            <a:solidFill>
              <a:srgbClr val="000000"/>
            </a:solidFill>
            <a:prstDash val="solid"/>
            <a:miter lim="800000"/>
            <a:headEnd len="sm" w="sm" type="none"/>
            <a:tailEnd len="med" w="med" type="triangle"/>
          </a:ln>
        </p:spPr>
      </p:cxnSp>
      <p:cxnSp>
        <p:nvCxnSpPr>
          <p:cNvPr id="124" name="Google Shape;124;p34"/>
          <p:cNvCxnSpPr>
            <a:stCxn id="116" idx="2"/>
            <a:endCxn id="121" idx="0"/>
          </p:cNvCxnSpPr>
          <p:nvPr/>
        </p:nvCxnSpPr>
        <p:spPr>
          <a:xfrm>
            <a:off x="6952545" y="4415003"/>
            <a:ext cx="17700" cy="348900"/>
          </a:xfrm>
          <a:prstGeom prst="straightConnector1">
            <a:avLst/>
          </a:prstGeom>
          <a:noFill/>
          <a:ln cap="sq" cmpd="sng" w="31750">
            <a:solidFill>
              <a:srgbClr val="000000"/>
            </a:solidFill>
            <a:prstDash val="solid"/>
            <a:round/>
            <a:headEnd len="sm" w="sm" type="none"/>
            <a:tailEnd len="med" w="med" type="triangle"/>
          </a:ln>
        </p:spPr>
      </p:cxnSp>
      <p:sp>
        <p:nvSpPr>
          <p:cNvPr id="125" name="Google Shape;125;p34"/>
          <p:cNvSpPr txBox="1"/>
          <p:nvPr/>
        </p:nvSpPr>
        <p:spPr>
          <a:xfrm>
            <a:off x="3118343" y="2848049"/>
            <a:ext cx="6858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US" sz="1400" u="none" cap="none" strike="noStrike">
                <a:solidFill>
                  <a:srgbClr val="000000"/>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26" name="Google Shape;126;p34"/>
          <p:cNvSpPr txBox="1"/>
          <p:nvPr/>
        </p:nvSpPr>
        <p:spPr>
          <a:xfrm>
            <a:off x="4289680" y="4782865"/>
            <a:ext cx="685800" cy="30773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1" lang="en-US" sz="1400" u="none" cap="none" strike="noStrike">
                <a:solidFill>
                  <a:srgbClr val="000000"/>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27" name="Google Shape;127;p34"/>
          <p:cNvSpPr txBox="1"/>
          <p:nvPr/>
        </p:nvSpPr>
        <p:spPr>
          <a:xfrm>
            <a:off x="1149107" y="4741750"/>
            <a:ext cx="6858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US" sz="1400" u="none" cap="none" strike="noStrike">
                <a:solidFill>
                  <a:srgbClr val="000000"/>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128" name="Google Shape;128;p34"/>
          <p:cNvSpPr txBox="1"/>
          <p:nvPr/>
        </p:nvSpPr>
        <p:spPr>
          <a:xfrm>
            <a:off x="1504693" y="2432391"/>
            <a:ext cx="6858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1" lang="en-US" sz="1400" u="none" cap="none" strike="noStrike">
                <a:solidFill>
                  <a:srgbClr val="000000"/>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129" name="Google Shape;129;p34"/>
          <p:cNvSpPr/>
          <p:nvPr/>
        </p:nvSpPr>
        <p:spPr>
          <a:xfrm>
            <a:off x="838200" y="2722682"/>
            <a:ext cx="6858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Stop</a:t>
            </a:r>
            <a:endParaRPr b="0" i="0" sz="1400" u="none" cap="none" strike="noStrike">
              <a:solidFill>
                <a:srgbClr val="000000"/>
              </a:solidFill>
              <a:latin typeface="Arial"/>
              <a:ea typeface="Arial"/>
              <a:cs typeface="Arial"/>
              <a:sym typeface="Arial"/>
            </a:endParaRPr>
          </a:p>
        </p:txBody>
      </p:sp>
      <p:cxnSp>
        <p:nvCxnSpPr>
          <p:cNvPr id="130" name="Google Shape;130;p34"/>
          <p:cNvCxnSpPr>
            <a:stCxn id="104" idx="1"/>
            <a:endCxn id="129" idx="0"/>
          </p:cNvCxnSpPr>
          <p:nvPr/>
        </p:nvCxnSpPr>
        <p:spPr>
          <a:xfrm flipH="1">
            <a:off x="1181188" y="2492534"/>
            <a:ext cx="647100" cy="230100"/>
          </a:xfrm>
          <a:prstGeom prst="bentConnector2">
            <a:avLst/>
          </a:prstGeom>
          <a:noFill/>
          <a:ln cap="sq" cmpd="sng" w="31750">
            <a:solidFill>
              <a:srgbClr val="000000"/>
            </a:solidFill>
            <a:prstDash val="solid"/>
            <a:miter lim="800000"/>
            <a:headEnd len="sm" w="sm" type="none"/>
            <a:tailEnd len="med" w="med" type="triangle"/>
          </a:ln>
        </p:spPr>
      </p:cxnSp>
      <p:sp>
        <p:nvSpPr>
          <p:cNvPr id="116" name="Google Shape;116;p34"/>
          <p:cNvSpPr/>
          <p:nvPr/>
        </p:nvSpPr>
        <p:spPr>
          <a:xfrm>
            <a:off x="5580945" y="4107267"/>
            <a:ext cx="27432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Follow-up to a conclusion</a:t>
            </a:r>
            <a:endParaRPr b="0" i="0" sz="1400" u="none" cap="none" strike="noStrike">
              <a:solidFill>
                <a:srgbClr val="000000"/>
              </a:solidFill>
              <a:latin typeface="Arial"/>
              <a:ea typeface="Arial"/>
              <a:cs typeface="Arial"/>
              <a:sym typeface="Arial"/>
            </a:endParaRPr>
          </a:p>
        </p:txBody>
      </p:sp>
      <p:cxnSp>
        <p:nvCxnSpPr>
          <p:cNvPr id="131" name="Google Shape;131;p34"/>
          <p:cNvCxnSpPr>
            <a:stCxn id="113" idx="2"/>
            <a:endCxn id="115" idx="0"/>
          </p:cNvCxnSpPr>
          <p:nvPr/>
        </p:nvCxnSpPr>
        <p:spPr>
          <a:xfrm>
            <a:off x="6952545" y="3112523"/>
            <a:ext cx="0" cy="321900"/>
          </a:xfrm>
          <a:prstGeom prst="straightConnector1">
            <a:avLst/>
          </a:prstGeom>
          <a:noFill/>
          <a:ln cap="sq" cmpd="sng" w="31750">
            <a:solidFill>
              <a:srgbClr val="000000"/>
            </a:solidFill>
            <a:prstDash val="solid"/>
            <a:round/>
            <a:headEnd len="sm" w="sm" type="none"/>
            <a:tailEnd len="med" w="med" type="triangle"/>
          </a:ln>
        </p:spPr>
      </p:cxnSp>
      <p:sp>
        <p:nvSpPr>
          <p:cNvPr id="113" name="Google Shape;113;p34"/>
          <p:cNvSpPr/>
          <p:nvPr/>
        </p:nvSpPr>
        <p:spPr>
          <a:xfrm>
            <a:off x="5580945" y="2804787"/>
            <a:ext cx="27432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Make Recommendations</a:t>
            </a:r>
            <a:endParaRPr b="0" i="0" sz="1400" u="none" cap="none" strike="noStrike">
              <a:solidFill>
                <a:srgbClr val="000000"/>
              </a:solidFill>
              <a:latin typeface="Arial"/>
              <a:ea typeface="Arial"/>
              <a:cs typeface="Arial"/>
              <a:sym typeface="Arial"/>
            </a:endParaRPr>
          </a:p>
        </p:txBody>
      </p:sp>
      <p:sp>
        <p:nvSpPr>
          <p:cNvPr id="119" name="Google Shape;119;p34"/>
          <p:cNvSpPr/>
          <p:nvPr/>
        </p:nvSpPr>
        <p:spPr>
          <a:xfrm>
            <a:off x="1682257" y="4449317"/>
            <a:ext cx="28194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Continue collecting evidence</a:t>
            </a:r>
            <a:endParaRPr b="0" i="0" sz="1400" u="none" cap="none" strike="noStrike">
              <a:solidFill>
                <a:srgbClr val="000000"/>
              </a:solidFill>
              <a:latin typeface="Arial"/>
              <a:ea typeface="Arial"/>
              <a:cs typeface="Arial"/>
              <a:sym typeface="Arial"/>
            </a:endParaRPr>
          </a:p>
        </p:txBody>
      </p:sp>
      <p:sp>
        <p:nvSpPr>
          <p:cNvPr id="108" name="Google Shape;108;p34"/>
          <p:cNvSpPr/>
          <p:nvPr/>
        </p:nvSpPr>
        <p:spPr>
          <a:xfrm>
            <a:off x="2286000" y="3841643"/>
            <a:ext cx="1600200" cy="307736"/>
          </a:xfrm>
          <a:prstGeom prst="flowChartProcess">
            <a:avLst/>
          </a:prstGeom>
          <a:solidFill>
            <a:srgbClr val="000000"/>
          </a:solidFill>
          <a:ln cap="sq" cmpd="sng" w="12700">
            <a:solidFill>
              <a:srgbClr val="000000"/>
            </a:solidFill>
            <a:prstDash val="solid"/>
            <a:miter lim="800000"/>
            <a:headEnd len="sm" w="sm" type="none"/>
            <a:tailEnd len="sm" w="sm" type="none"/>
          </a:ln>
          <a:effectLst>
            <a:outerShdw rotWithShape="0" algn="ctr" dir="2700000" dist="35921">
              <a:srgbClr val="000000"/>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Noto Sans Symbols"/>
              <a:buNone/>
            </a:pPr>
            <a:r>
              <a:rPr b="0" i="0" lang="en-US" sz="1400" u="none" cap="none" strike="noStrike">
                <a:solidFill>
                  <a:srgbClr val="FFFFFF"/>
                </a:solidFill>
                <a:latin typeface="Arial"/>
                <a:ea typeface="Arial"/>
                <a:cs typeface="Arial"/>
                <a:sym typeface="Arial"/>
              </a:rPr>
              <a:t>Pick Team</a:t>
            </a:r>
            <a:endParaRPr b="0" i="0" sz="1400" u="none" cap="none" strike="noStrike">
              <a:solidFill>
                <a:srgbClr val="000000"/>
              </a:solidFill>
              <a:latin typeface="Arial"/>
              <a:ea typeface="Arial"/>
              <a:cs typeface="Arial"/>
              <a:sym typeface="Arial"/>
            </a:endParaRPr>
          </a:p>
        </p:txBody>
      </p:sp>
      <p:sp>
        <p:nvSpPr>
          <p:cNvPr id="132" name="Google Shape;132;p34"/>
          <p:cNvSpPr/>
          <p:nvPr/>
        </p:nvSpPr>
        <p:spPr>
          <a:xfrm>
            <a:off x="657277" y="1406525"/>
            <a:ext cx="4508935" cy="4435227"/>
          </a:xfrm>
          <a:prstGeom prst="roundRect">
            <a:avLst>
              <a:gd fmla="val 4352" name="adj"/>
            </a:avLst>
          </a:prstGeom>
          <a:noFill/>
          <a:ln cap="flat" cmpd="sng" w="571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3634"/>
              </a:buClr>
              <a:buSzPts val="2400"/>
              <a:buFont typeface="Times New Roman"/>
              <a:buNone/>
            </a:pPr>
            <a:r>
              <a:t/>
            </a:r>
            <a:endParaRPr b="0" i="0" sz="1400" u="none" cap="none" strike="noStrike">
              <a:solidFill>
                <a:srgbClr val="463634"/>
              </a:solidFill>
              <a:latin typeface="Arial"/>
              <a:ea typeface="Arial"/>
              <a:cs typeface="Arial"/>
              <a:sym typeface="Arial"/>
            </a:endParaRPr>
          </a:p>
        </p:txBody>
      </p:sp>
      <p:sp>
        <p:nvSpPr>
          <p:cNvPr id="133" name="Google Shape;133;p34"/>
          <p:cNvSpPr/>
          <p:nvPr/>
        </p:nvSpPr>
        <p:spPr>
          <a:xfrm>
            <a:off x="5476201" y="2657589"/>
            <a:ext cx="2993307" cy="2996993"/>
          </a:xfrm>
          <a:prstGeom prst="roundRect">
            <a:avLst>
              <a:gd fmla="val 7306" name="adj"/>
            </a:avLst>
          </a:prstGeom>
          <a:noFill/>
          <a:ln cap="flat" cmpd="sng" w="571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3634"/>
              </a:buClr>
              <a:buSzPts val="2400"/>
              <a:buFont typeface="Times New Roman"/>
              <a:buNone/>
            </a:pPr>
            <a:r>
              <a:t/>
            </a:r>
            <a:endParaRPr b="0" i="0" sz="1400" u="none" cap="none" strike="noStrike">
              <a:solidFill>
                <a:srgbClr val="463634"/>
              </a:solidFill>
              <a:latin typeface="Arial"/>
              <a:ea typeface="Arial"/>
              <a:cs typeface="Arial"/>
              <a:sym typeface="Arial"/>
            </a:endParaRPr>
          </a:p>
        </p:txBody>
      </p:sp>
      <p:sp>
        <p:nvSpPr>
          <p:cNvPr id="134" name="Google Shape;134;p34"/>
          <p:cNvSpPr/>
          <p:nvPr/>
        </p:nvSpPr>
        <p:spPr>
          <a:xfrm>
            <a:off x="5486393" y="936180"/>
            <a:ext cx="2993307" cy="1498600"/>
          </a:xfrm>
          <a:prstGeom prst="roundRect">
            <a:avLst>
              <a:gd fmla="val 7306" name="adj"/>
            </a:avLst>
          </a:prstGeom>
          <a:noFill/>
          <a:ln cap="flat" cmpd="sng" w="571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63634"/>
              </a:buClr>
              <a:buSzPts val="2400"/>
              <a:buFont typeface="Times New Roman"/>
              <a:buNone/>
            </a:pPr>
            <a:r>
              <a:t/>
            </a:r>
            <a:endParaRPr b="0" i="0" sz="1400" u="none" cap="none" strike="noStrike">
              <a:solidFill>
                <a:srgbClr val="463634"/>
              </a:solidFill>
              <a:latin typeface="Arial"/>
              <a:ea typeface="Arial"/>
              <a:cs typeface="Arial"/>
              <a:sym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5"/>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Why should I learn how to …?</a:t>
            </a:r>
            <a:endParaRPr/>
          </a:p>
        </p:txBody>
      </p:sp>
      <p:sp>
        <p:nvSpPr>
          <p:cNvPr id="144" name="Google Shape;144;p3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5" name="Google Shape;145;p3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sp>
        <p:nvSpPr>
          <p:cNvPr id="146" name="Google Shape;146;p35"/>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12700" lvl="0" marL="1270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FFFFFF"/>
                </a:solidFill>
                <a:latin typeface="Arial"/>
                <a:ea typeface="Arial"/>
                <a:cs typeface="Arial"/>
                <a:sym typeface="Arial"/>
              </a:rPr>
              <a:t>Q: Why should I learn how to </a:t>
            </a:r>
            <a:r>
              <a:rPr b="0" i="0" lang="en-US" sz="2000" u="sng" cap="none" strike="noStrike">
                <a:solidFill>
                  <a:srgbClr val="FFFFFF"/>
                </a:solidFill>
                <a:latin typeface="Arial"/>
                <a:ea typeface="Arial"/>
                <a:cs typeface="Arial"/>
                <a:sym typeface="Arial"/>
              </a:rPr>
              <a:t>investigate incidents</a:t>
            </a:r>
            <a:r>
              <a:rPr b="0" i="0" lang="en-US" sz="2000" u="none" cap="none" strike="noStrike">
                <a:solidFill>
                  <a:srgbClr val="FFFFFF"/>
                </a:solidFill>
                <a:latin typeface="Arial"/>
                <a:ea typeface="Arial"/>
                <a:cs typeface="Arial"/>
                <a:sym typeface="Arial"/>
              </a:rPr>
              <a:t>, </a:t>
            </a:r>
            <a:r>
              <a:rPr b="0" i="0" lang="en-US" sz="2000" u="sng" cap="none" strike="noStrike">
                <a:solidFill>
                  <a:srgbClr val="FFFFFF"/>
                </a:solidFill>
                <a:latin typeface="Arial"/>
                <a:ea typeface="Arial"/>
                <a:cs typeface="Arial"/>
                <a:sym typeface="Arial"/>
              </a:rPr>
              <a:t>conduct a root cause analysis</a:t>
            </a:r>
            <a:r>
              <a:rPr b="0" i="0" lang="en-US" sz="2000" u="none" cap="none" strike="noStrike">
                <a:solidFill>
                  <a:srgbClr val="FFFFFF"/>
                </a:solidFill>
                <a:latin typeface="Arial"/>
                <a:ea typeface="Arial"/>
                <a:cs typeface="Arial"/>
                <a:sym typeface="Arial"/>
              </a:rPr>
              <a:t>, and </a:t>
            </a:r>
            <a:r>
              <a:rPr b="0" i="0" lang="en-US" sz="2000" u="sng" cap="none" strike="noStrike">
                <a:solidFill>
                  <a:srgbClr val="FFFFFF"/>
                </a:solidFill>
                <a:latin typeface="Arial"/>
                <a:ea typeface="Arial"/>
                <a:cs typeface="Arial"/>
                <a:sym typeface="Arial"/>
              </a:rPr>
              <a:t>manage corrective actions</a:t>
            </a:r>
            <a:r>
              <a:rPr b="0" i="0" lang="en-US" sz="2000" u="none" cap="none" strike="noStrike">
                <a:solidFill>
                  <a:srgbClr val="FFFFFF"/>
                </a:solidFill>
                <a:latin typeface="Arial"/>
                <a:ea typeface="Arial"/>
                <a:cs typeface="Arial"/>
                <a:sym typeface="Arial"/>
              </a:rPr>
              <a:t>?</a:t>
            </a:r>
            <a:endParaRPr/>
          </a:p>
          <a:p>
            <a:pPr indent="-12700" lvl="0" marL="127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FFFFFF"/>
              </a:solidFill>
              <a:latin typeface="Arial"/>
              <a:ea typeface="Arial"/>
              <a:cs typeface="Arial"/>
              <a:sym typeface="Arial"/>
            </a:endParaRPr>
          </a:p>
          <a:p>
            <a:pPr indent="-12700" lvl="0" marL="1270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FFFFFF"/>
                </a:solidFill>
                <a:latin typeface="Arial"/>
                <a:ea typeface="Arial"/>
                <a:cs typeface="Arial"/>
                <a:sym typeface="Arial"/>
              </a:rPr>
              <a:t>A: It is an essential leadership process!</a:t>
            </a:r>
            <a:endParaRPr/>
          </a:p>
          <a:p>
            <a:pPr indent="-360000" lvl="0" marL="360000" marR="0" rtl="0" algn="l">
              <a:lnSpc>
                <a:spcPct val="10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You will likely need it </a:t>
            </a:r>
            <a:r>
              <a:rPr b="0" i="0" lang="en-US" sz="2000" u="sng" cap="none" strike="noStrike">
                <a:solidFill>
                  <a:srgbClr val="F8F8F8"/>
                </a:solidFill>
                <a:latin typeface="Arial"/>
                <a:ea typeface="Arial"/>
                <a:cs typeface="Arial"/>
                <a:sym typeface="Arial"/>
              </a:rPr>
              <a:t>in your job</a:t>
            </a:r>
            <a:r>
              <a:rPr b="0" i="0" lang="en-US" sz="2000" u="none" cap="none" strike="noStrike">
                <a:solidFill>
                  <a:srgbClr val="F8F8F8"/>
                </a:solidFill>
                <a:latin typeface="Arial"/>
                <a:ea typeface="Arial"/>
                <a:cs typeface="Arial"/>
                <a:sym typeface="Arial"/>
              </a:rPr>
              <a:t>: you will make decisions of technical and administrative nature in the future.</a:t>
            </a:r>
            <a:endParaRPr/>
          </a:p>
          <a:p>
            <a:pPr indent="-360000" lvl="0" marL="360000" marR="0" rtl="0" algn="l">
              <a:lnSpc>
                <a:spcPct val="10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Because </a:t>
            </a:r>
            <a:r>
              <a:rPr b="1" i="0" lang="en-US" sz="2000" u="none" cap="none" strike="noStrike">
                <a:solidFill>
                  <a:srgbClr val="F8F8F8"/>
                </a:solidFill>
                <a:latin typeface="Arial"/>
                <a:ea typeface="Arial"/>
                <a:cs typeface="Arial"/>
                <a:sym typeface="Arial"/>
              </a:rPr>
              <a:t>all incidents are preventable </a:t>
            </a:r>
            <a:r>
              <a:rPr b="0" i="0" lang="en-US" sz="2000" u="none" cap="none" strike="noStrike">
                <a:solidFill>
                  <a:srgbClr val="F8F8F8"/>
                </a:solidFill>
                <a:latin typeface="Arial"/>
                <a:ea typeface="Arial"/>
                <a:cs typeface="Arial"/>
                <a:sym typeface="Arial"/>
              </a:rPr>
              <a:t>and we need to prevent them from recurring that is </a:t>
            </a:r>
            <a:r>
              <a:rPr b="0" i="0" lang="en-US" sz="2000" u="sng" cap="none" strike="noStrike">
                <a:solidFill>
                  <a:srgbClr val="F8F8F8"/>
                </a:solidFill>
                <a:latin typeface="Arial"/>
                <a:ea typeface="Arial"/>
                <a:cs typeface="Arial"/>
                <a:sym typeface="Arial"/>
              </a:rPr>
              <a:t>your role as a leader in risk management!</a:t>
            </a:r>
            <a:endParaRPr/>
          </a:p>
          <a:p>
            <a:pPr indent="-360000" lvl="0" marL="360000" marR="0" rtl="0" algn="l">
              <a:lnSpc>
                <a:spcPct val="10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In your future role as a leader, you will recognize the effectiveness of applying these work processes in shaping the culture of your organization. </a:t>
            </a:r>
            <a:endParaRPr b="0" i="0" sz="20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F8F8F8"/>
                </a:solidFill>
                <a:latin typeface="Arial"/>
                <a:ea typeface="Arial"/>
                <a:cs typeface="Arial"/>
                <a:sym typeface="Arial"/>
              </a:rPr>
              <a:t>Therefore:</a:t>
            </a:r>
            <a:endParaRPr/>
          </a:p>
          <a:p>
            <a:pPr indent="-432000" lvl="0" marL="432000" marR="0" rtl="0" algn="l">
              <a:lnSpc>
                <a:spcPct val="10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Investigation is source for learning (proactive).</a:t>
            </a:r>
            <a:endParaRPr/>
          </a:p>
          <a:p>
            <a:pPr indent="-432000" lvl="0" marL="432000" marR="0" rtl="0" algn="l">
              <a:lnSpc>
                <a:spcPct val="10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Must determine the root causes to prevent recurrence (reactive).</a:t>
            </a:r>
            <a:endParaRPr/>
          </a:p>
          <a:p>
            <a:pPr indent="-432000" lvl="0" marL="432000" marR="0" rtl="0" algn="l">
              <a:lnSpc>
                <a:spcPct val="100000"/>
              </a:lnSpc>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Conduct investigations with a sense of urgency and a sense of commitment!</a:t>
            </a:r>
            <a:endParaRPr/>
          </a:p>
          <a:p>
            <a:pPr indent="0" lvl="0" marL="0" marR="0" rtl="0" algn="l">
              <a:lnSpc>
                <a:spcPct val="100000"/>
              </a:lnSpc>
              <a:spcBef>
                <a:spcPts val="0"/>
              </a:spcBef>
              <a:spcAft>
                <a:spcPts val="0"/>
              </a:spcAft>
              <a:buNone/>
            </a:pPr>
            <a:r>
              <a:t/>
            </a:r>
            <a:endParaRPr b="0" i="0" sz="20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8F8F8"/>
              </a:solidFill>
              <a:latin typeface="Arial"/>
              <a:ea typeface="Arial"/>
              <a:cs typeface="Arial"/>
              <a:sym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When should you investigate an incident? (Leading organisations)</a:t>
            </a:r>
            <a:endParaRPr b="1"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it must be reported to the government as required by law.</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Whenever there is an incident with consequences (impacts on PEAP).</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there is some value or lesson to be learned from an incident even if there were no consequences.</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Can all incidents be investigated?</a:t>
            </a:r>
            <a:endParaRPr b="1"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Most likely not all incidents can be investigated and managed, so how do you choose which incidents to investigate?</a:t>
            </a:r>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Investigations require resources. </a:t>
            </a:r>
            <a:endParaRPr/>
          </a:p>
          <a:p>
            <a:pPr indent="-359999" lvl="0"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Need to define “threshold criteria” in order to assign and use resources effectively!</a:t>
            </a:r>
            <a:endParaRPr/>
          </a:p>
          <a:p>
            <a:pPr indent="-305000" lvl="0" marL="432000" marR="0" rtl="0" algn="l">
              <a:lnSpc>
                <a:spcPct val="9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Challenges: </a:t>
            </a:r>
            <a:endParaRPr/>
          </a:p>
          <a:p>
            <a:pPr indent="-432000" lvl="0" marL="432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Some organizations: </a:t>
            </a:r>
            <a:r>
              <a:rPr b="0" i="0" lang="en-US" sz="2000" u="sng" cap="none" strike="noStrike">
                <a:solidFill>
                  <a:srgbClr val="000000"/>
                </a:solidFill>
                <a:latin typeface="Arial"/>
                <a:ea typeface="Arial"/>
                <a:cs typeface="Arial"/>
                <a:sym typeface="Arial"/>
              </a:rPr>
              <a:t>may do nothing except</a:t>
            </a:r>
            <a:r>
              <a:rPr b="0" i="0" lang="en-US" sz="2000" u="none" cap="none" strike="noStrike">
                <a:solidFill>
                  <a:srgbClr val="000000"/>
                </a:solidFill>
                <a:latin typeface="Arial"/>
                <a:ea typeface="Arial"/>
                <a:cs typeface="Arial"/>
                <a:sym typeface="Arial"/>
              </a:rPr>
              <a:t> the bare minimum as may be required by law.</a:t>
            </a:r>
            <a:endParaRPr/>
          </a:p>
          <a:p>
            <a:pPr indent="-432000" lvl="0" marL="432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Others have </a:t>
            </a:r>
            <a:r>
              <a:rPr b="0" i="0" lang="en-US" sz="2000" u="sng" cap="none" strike="noStrike">
                <a:solidFill>
                  <a:srgbClr val="000000"/>
                </a:solidFill>
                <a:latin typeface="Arial"/>
                <a:ea typeface="Arial"/>
                <a:cs typeface="Arial"/>
                <a:sym typeface="Arial"/>
              </a:rPr>
              <a:t>explicit criteria</a:t>
            </a:r>
            <a:r>
              <a:rPr b="0" i="0" lang="en-US" sz="2000" u="none" cap="none" strike="noStrike">
                <a:solidFill>
                  <a:srgbClr val="000000"/>
                </a:solidFill>
                <a:latin typeface="Arial"/>
                <a:ea typeface="Arial"/>
                <a:cs typeface="Arial"/>
                <a:sym typeface="Arial"/>
              </a:rPr>
              <a:t> as to what requires an investigation.  </a:t>
            </a:r>
            <a:endParaRPr/>
          </a:p>
          <a:p>
            <a:pPr indent="-432000" lvl="0" marL="432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Can only investigate when an incident is reported – </a:t>
            </a:r>
            <a:r>
              <a:rPr b="0" i="0" lang="en-US" sz="2000" u="sng" cap="none" strike="noStrike">
                <a:solidFill>
                  <a:srgbClr val="000000"/>
                </a:solidFill>
                <a:latin typeface="Arial"/>
                <a:ea typeface="Arial"/>
                <a:cs typeface="Arial"/>
                <a:sym typeface="Arial"/>
              </a:rPr>
              <a:t>strong culture that encourages reporting</a:t>
            </a:r>
            <a:r>
              <a:rPr b="0" i="0" lang="en-US"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sp>
        <p:nvSpPr>
          <p:cNvPr id="153" name="Google Shape;153;p3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Incidents Investigated (or Managed) Using this Work Process:</a:t>
            </a:r>
            <a:endParaRPr/>
          </a:p>
        </p:txBody>
      </p:sp>
      <p:sp>
        <p:nvSpPr>
          <p:cNvPr id="154" name="Google Shape;154;p3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5" name="Google Shape;155;p3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Impartial leader, familiar with the processes, has credibility.</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Investigation Team composition (not involved in the incident):</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One or more experts in the incident investigation process and the root cause analysis process </a:t>
            </a:r>
            <a:endParaRPr/>
          </a:p>
          <a:p>
            <a:pPr indent="-232999" lvl="0" marL="72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One or more technical experts or specialists familiar with the work process being undertaken</a:t>
            </a:r>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162" name="Google Shape;162;p3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Who Undertakes the Overall II-RCA-MCA Work Process?</a:t>
            </a:r>
            <a:endParaRPr/>
          </a:p>
        </p:txBody>
      </p:sp>
      <p:sp>
        <p:nvSpPr>
          <p:cNvPr id="163" name="Google Shape;163;p3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64" name="Google Shape;164;p3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gathering evidence, time is most important!</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Evidence can reveal what happened and how, but evidence can deteriorate, or degrade, or disappear with time.</a:t>
            </a:r>
            <a:endParaRPr/>
          </a:p>
          <a:p>
            <a:pPr indent="0" lvl="0" marL="0" marR="0" rtl="0" algn="l">
              <a:lnSpc>
                <a:spcPct val="100000"/>
              </a:lnSpc>
              <a:spcBef>
                <a:spcPts val="0"/>
              </a:spcBef>
              <a:spcAft>
                <a:spcPts val="0"/>
              </a:spcAft>
              <a:buClr>
                <a:schemeClr val="dk1"/>
              </a:buClr>
              <a:buSzPts val="2000"/>
              <a:buFont typeface="Arial"/>
              <a:buNone/>
            </a:pPr>
            <a:r>
              <a:t/>
            </a:r>
            <a:endParaRPr b="0" i="1"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1" lang="en-US" sz="2000" u="sng" cap="none" strike="noStrike">
                <a:solidFill>
                  <a:srgbClr val="000000"/>
                </a:solidFill>
                <a:latin typeface="Arial"/>
                <a:ea typeface="Arial"/>
                <a:cs typeface="Arial"/>
                <a:sym typeface="Arial"/>
              </a:rPr>
              <a:t>Preservation of evidence:</a:t>
            </a:r>
            <a:endParaRPr b="1" i="0" sz="20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71" name="Google Shape;171;p3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Evidence – You Need to Know What Happened and How:</a:t>
            </a:r>
            <a:endParaRPr/>
          </a:p>
        </p:txBody>
      </p:sp>
      <p:sp>
        <p:nvSpPr>
          <p:cNvPr id="172" name="Google Shape;172;p3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3" name="Google Shape;173;p3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grpSp>
        <p:nvGrpSpPr>
          <p:cNvPr id="174" name="Google Shape;174;p38"/>
          <p:cNvGrpSpPr/>
          <p:nvPr/>
        </p:nvGrpSpPr>
        <p:grpSpPr>
          <a:xfrm>
            <a:off x="338040" y="1834257"/>
            <a:ext cx="6581717" cy="4329787"/>
            <a:chOff x="1018242" y="-445816"/>
            <a:chExt cx="7086600" cy="4499429"/>
          </a:xfrm>
        </p:grpSpPr>
        <p:graphicFrame>
          <p:nvGraphicFramePr>
            <p:cNvPr id="175" name="Google Shape;175;p38"/>
            <p:cNvGraphicFramePr/>
            <p:nvPr/>
          </p:nvGraphicFramePr>
          <p:xfrm>
            <a:off x="1018242" y="-445816"/>
            <a:ext cx="7086600" cy="4499429"/>
          </p:xfrm>
          <a:graphic>
            <a:graphicData uri="http://schemas.openxmlformats.org/presentationml/2006/ole">
              <mc:AlternateContent>
                <mc:Choice Requires="v">
                  <p:oleObj r:id="rId4" imgH="4499429" imgW="7086600" progId="MSDraw.Drawing.8.2" spid="_x0000_s1">
                    <p:embed/>
                  </p:oleObj>
                </mc:Choice>
                <mc:Fallback>
                  <p:oleObj r:id="rId5" imgH="4499429" imgW="7086600" progId="MSDraw.Drawing.8.2">
                    <p:embed/>
                    <p:pic>
                      <p:nvPicPr>
                        <p:cNvPr id="175" name="Google Shape;175;p38"/>
                        <p:cNvPicPr preferRelativeResize="0"/>
                        <p:nvPr/>
                      </p:nvPicPr>
                      <p:blipFill rotWithShape="1">
                        <a:blip r:embed="rId6">
                          <a:alphaModFix/>
                        </a:blip>
                        <a:srcRect b="0" l="0" r="0" t="0"/>
                        <a:stretch/>
                      </p:blipFill>
                      <p:spPr>
                        <a:xfrm>
                          <a:off x="1018242" y="-445816"/>
                          <a:ext cx="7086600" cy="4499429"/>
                        </a:xfrm>
                        <a:prstGeom prst="rect">
                          <a:avLst/>
                        </a:prstGeom>
                        <a:noFill/>
                        <a:ln>
                          <a:noFill/>
                        </a:ln>
                      </p:spPr>
                    </p:pic>
                  </p:oleObj>
                </mc:Fallback>
              </mc:AlternateContent>
            </a:graphicData>
          </a:graphic>
        </p:graphicFrame>
        <p:pic>
          <p:nvPicPr>
            <p:cNvPr id="176" name="Google Shape;176;p38"/>
            <p:cNvPicPr preferRelativeResize="0"/>
            <p:nvPr/>
          </p:nvPicPr>
          <p:blipFill rotWithShape="1">
            <a:blip r:embed="rId7">
              <a:alphaModFix/>
            </a:blip>
            <a:srcRect b="0" l="0" r="0" t="0"/>
            <a:stretch/>
          </p:blipFill>
          <p:spPr>
            <a:xfrm>
              <a:off x="2858761" y="555327"/>
              <a:ext cx="609600" cy="2878137"/>
            </a:xfrm>
            <a:prstGeom prst="rect">
              <a:avLst/>
            </a:prstGeom>
            <a:noFill/>
            <a:ln>
              <a:noFill/>
            </a:ln>
          </p:spPr>
        </p:pic>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 Cat D12 dozer has gotten stuck in unexpected soft and wet clay.</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operator is all right, but the dozer requires repairs (down time).</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 broken water pipe was found adjacent to the dozer. The dozer was within its planned route and the area had just been regraded.</a:t>
            </a:r>
            <a:endParaRPr/>
          </a:p>
          <a:p>
            <a:pPr indent="-305000" lvl="0" marL="432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183" name="Google Shape;183;p3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 The Caterpillar D12 Dozer Loss Incident</a:t>
            </a:r>
            <a:endParaRPr/>
          </a:p>
        </p:txBody>
      </p:sp>
      <p:sp>
        <p:nvSpPr>
          <p:cNvPr id="184" name="Google Shape;184;p3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85" name="Google Shape;185;p3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pic>
        <p:nvPicPr>
          <p:cNvPr id="186" name="Google Shape;186;p39"/>
          <p:cNvPicPr preferRelativeResize="0"/>
          <p:nvPr/>
        </p:nvPicPr>
        <p:blipFill rotWithShape="1">
          <a:blip r:embed="rId3">
            <a:alphaModFix/>
          </a:blip>
          <a:srcRect b="0" l="0" r="0" t="0"/>
          <a:stretch/>
        </p:blipFill>
        <p:spPr>
          <a:xfrm>
            <a:off x="2352092" y="3055169"/>
            <a:ext cx="4267200" cy="3104541"/>
          </a:xfrm>
          <a:prstGeom prst="rect">
            <a:avLst/>
          </a:prstGeom>
          <a:noFill/>
          <a:ln cap="flat" cmpd="sng" w="9525">
            <a:solidFill>
              <a:srgbClr val="000000"/>
            </a:solidFill>
            <a:prstDash val="solid"/>
            <a:round/>
            <a:headEnd len="sm" w="sm" type="none"/>
            <a:tailEnd len="sm" w="sm" type="none"/>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Specialists on the Loss Incident Investigation Team (and rationale):</a:t>
            </a:r>
            <a:endParaRPr b="1"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ESRM II-RCA Expert</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Guides the team through the work processes</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Dozer Operator(s)</a:t>
            </a:r>
            <a:r>
              <a:rPr b="0" i="0" lang="en-US" sz="1800" u="none" cap="none" strike="noStrike">
                <a:solidFill>
                  <a:srgbClr val="000000"/>
                </a:solidFill>
                <a:latin typeface="Arial"/>
                <a:ea typeface="Arial"/>
                <a:cs typeface="Arial"/>
                <a:sym typeface="Arial"/>
              </a:rPr>
              <a:t> NOT involved in the LI</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Expertise in operations but NOT personally at stake</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Supervisor of the Dozer Operator(s)</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Has responsibility (and is accountable) for the dozer operators</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Civil / Works Engineer</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Expertise for the plot plans / drawings / underground services and surveys</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Site / Project Manager</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Has overall site/project responsibility, accountable for the loss incident</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Dozer operator involved</a:t>
            </a:r>
            <a:r>
              <a:rPr b="0" i="1" lang="en-US" sz="1800" u="none" cap="none" strike="noStrike">
                <a:solidFill>
                  <a:srgbClr val="000000"/>
                </a:solidFill>
                <a:latin typeface="Arial"/>
                <a:ea typeface="Arial"/>
                <a:cs typeface="Arial"/>
                <a:sym typeface="Arial"/>
              </a:rPr>
              <a:t> in the LI </a:t>
            </a:r>
            <a:endParaRPr/>
          </a:p>
          <a:p>
            <a:pPr indent="-359999" lvl="0" marL="720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as a witness / to be interviewed, but</a:t>
            </a:r>
            <a:br>
              <a:rPr b="0" i="1" lang="en-US" sz="1800" u="none" cap="none" strike="noStrike">
                <a:solidFill>
                  <a:srgbClr val="000000"/>
                </a:solidFill>
                <a:latin typeface="Arial"/>
                <a:ea typeface="Arial"/>
                <a:cs typeface="Arial"/>
                <a:sym typeface="Arial"/>
              </a:rPr>
            </a:br>
            <a:r>
              <a:rPr b="0" i="1" lang="en-US" sz="1800" u="none" cap="none" strike="noStrike">
                <a:solidFill>
                  <a:srgbClr val="000000"/>
                </a:solidFill>
                <a:latin typeface="Arial"/>
                <a:ea typeface="Arial"/>
                <a:cs typeface="Arial"/>
                <a:sym typeface="Arial"/>
              </a:rPr>
              <a:t>NOT as a member of the team</a:t>
            </a:r>
            <a:endParaRPr/>
          </a:p>
          <a:p>
            <a:pPr indent="-360000" lvl="0" marL="360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Surveyor who marked the route and services</a:t>
            </a:r>
            <a:endParaRPr/>
          </a:p>
          <a:p>
            <a:pPr indent="-359999" lvl="0" marL="720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as a witness / to be interviewed, but</a:t>
            </a:r>
            <a:br>
              <a:rPr b="0" i="1" lang="en-US" sz="1800" u="none" cap="none" strike="noStrike">
                <a:solidFill>
                  <a:srgbClr val="000000"/>
                </a:solidFill>
                <a:latin typeface="Arial"/>
                <a:ea typeface="Arial"/>
                <a:cs typeface="Arial"/>
                <a:sym typeface="Arial"/>
              </a:rPr>
            </a:br>
            <a:r>
              <a:rPr b="0" i="1" lang="en-US" sz="1800" u="none" cap="none" strike="noStrike">
                <a:solidFill>
                  <a:srgbClr val="000000"/>
                </a:solidFill>
                <a:latin typeface="Arial"/>
                <a:ea typeface="Arial"/>
                <a:cs typeface="Arial"/>
                <a:sym typeface="Arial"/>
              </a:rPr>
              <a:t>NOT as a member of the team</a:t>
            </a:r>
            <a:endParaRPr/>
          </a:p>
          <a:p>
            <a:pPr indent="-360000" lvl="0" marL="360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Why not these two individuals?</a:t>
            </a:r>
            <a:endParaRPr b="0" i="1" sz="1800" u="none" cap="none" strike="noStrike">
              <a:solidFill>
                <a:srgbClr val="000000"/>
              </a:solidFill>
              <a:latin typeface="Arial"/>
              <a:ea typeface="Arial"/>
              <a:cs typeface="Arial"/>
              <a:sym typeface="Arial"/>
            </a:endParaRPr>
          </a:p>
          <a:p>
            <a:pPr indent="-245699" lvl="0" marL="72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193" name="Google Shape;193;p4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 The Caterpillar D12 Dozer Loss Incident</a:t>
            </a:r>
            <a:endParaRPr/>
          </a:p>
        </p:txBody>
      </p:sp>
      <p:sp>
        <p:nvSpPr>
          <p:cNvPr id="194" name="Google Shape;194;p4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95" name="Google Shape;195;p4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pic>
        <p:nvPicPr>
          <p:cNvPr id="196" name="Google Shape;196;p40"/>
          <p:cNvPicPr preferRelativeResize="0"/>
          <p:nvPr/>
        </p:nvPicPr>
        <p:blipFill rotWithShape="1">
          <a:blip r:embed="rId3">
            <a:alphaModFix/>
          </a:blip>
          <a:srcRect b="0" l="0" r="0" t="0"/>
          <a:stretch/>
        </p:blipFill>
        <p:spPr>
          <a:xfrm>
            <a:off x="6132628" y="4156810"/>
            <a:ext cx="2687372" cy="1999190"/>
          </a:xfrm>
          <a:prstGeom prst="rect">
            <a:avLst/>
          </a:prstGeom>
          <a:noFill/>
          <a:ln cap="flat" cmpd="sng" w="9525">
            <a:solidFill>
              <a:srgbClr val="000000"/>
            </a:solidFill>
            <a:prstDash val="solid"/>
            <a:round/>
            <a:headEnd len="sm" w="sm" type="none"/>
            <a:tailEnd len="sm" w="sm" type="none"/>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1"/>
          <p:cNvSpPr/>
          <p:nvPr/>
        </p:nvSpPr>
        <p:spPr>
          <a:xfrm>
            <a:off x="576000" y="2252490"/>
            <a:ext cx="6012000" cy="298755"/>
          </a:xfrm>
          <a:prstGeom prst="rect">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3" name="Google Shape;203;p41"/>
          <p:cNvSpPr/>
          <p:nvPr/>
        </p:nvSpPr>
        <p:spPr>
          <a:xfrm>
            <a:off x="576000" y="1156138"/>
            <a:ext cx="6012000" cy="786962"/>
          </a:xfrm>
          <a:prstGeom prst="rect">
            <a:avLst/>
          </a:prstGeom>
          <a:solidFill>
            <a:srgbClr val="FF0000">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4" name="Google Shape;204;p41"/>
          <p:cNvSpPr/>
          <p:nvPr/>
        </p:nvSpPr>
        <p:spPr>
          <a:xfrm>
            <a:off x="576000" y="1942440"/>
            <a:ext cx="6012000" cy="298755"/>
          </a:xfrm>
          <a:prstGeom prst="rect">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5" name="Google Shape;205;p41"/>
          <p:cNvSpPr/>
          <p:nvPr/>
        </p:nvSpPr>
        <p:spPr>
          <a:xfrm>
            <a:off x="576000" y="2538021"/>
            <a:ext cx="6012000" cy="1115370"/>
          </a:xfrm>
          <a:prstGeom prst="rect">
            <a:avLst/>
          </a:prstGeom>
          <a:solidFill>
            <a:srgbClr val="66FF33"/>
          </a:solidFill>
          <a:ln cap="flat" cmpd="sng" w="25400">
            <a:solidFill>
              <a:srgbClr val="66FF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6" name="Google Shape;206;p4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Evidence that should be collected and in the priority order:</a:t>
            </a:r>
            <a:endParaRPr b="1"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Detailed photographs of the scene </a:t>
            </a:r>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Locations of the flagging of the planned route </a:t>
            </a:r>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Locations of the flags marking the underground waterline </a:t>
            </a:r>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People interviews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Mechanical parts</a:t>
            </a:r>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FLRA's </a:t>
            </a:r>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Procedure for the planned route </a:t>
            </a:r>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Underground drawings</a:t>
            </a:r>
            <a:endParaRPr/>
          </a:p>
          <a:p>
            <a:pPr indent="-360000" lvl="0" marL="360000" marR="0" rtl="0" algn="l">
              <a:lnSpc>
                <a:spcPct val="100000"/>
              </a:lnSpc>
              <a:spcBef>
                <a:spcPts val="0"/>
              </a:spcBef>
              <a:spcAft>
                <a:spcPts val="0"/>
              </a:spcAft>
              <a:buClr>
                <a:srgbClr val="000000"/>
              </a:buClr>
              <a:buSzPts val="1800"/>
              <a:buFont typeface="Arial"/>
              <a:buAutoNum type="arabicParenR"/>
            </a:pPr>
            <a:r>
              <a:rPr b="0" i="0" lang="en-US" sz="1800" u="none" cap="none" strike="noStrike">
                <a:solidFill>
                  <a:srgbClr val="000000"/>
                </a:solidFill>
                <a:latin typeface="Arial"/>
                <a:ea typeface="Arial"/>
                <a:cs typeface="Arial"/>
                <a:sym typeface="Arial"/>
              </a:rPr>
              <a:t>Weather bulletins</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Why? …because the evidence can </a:t>
            </a:r>
            <a:br>
              <a:rPr b="0" i="1" lang="en-US" sz="1800" u="none" cap="none" strike="noStrike">
                <a:solidFill>
                  <a:srgbClr val="000000"/>
                </a:solidFill>
                <a:latin typeface="Arial"/>
                <a:ea typeface="Arial"/>
                <a:cs typeface="Arial"/>
                <a:sym typeface="Arial"/>
              </a:rPr>
            </a:br>
            <a:r>
              <a:rPr b="0" i="1" lang="en-US" sz="1800" u="none" cap="none" strike="noStrike">
                <a:solidFill>
                  <a:srgbClr val="000000"/>
                </a:solidFill>
                <a:latin typeface="Arial"/>
                <a:ea typeface="Arial"/>
                <a:cs typeface="Arial"/>
                <a:sym typeface="Arial"/>
              </a:rPr>
              <a:t>“decay” or “degrade” as time passes:</a:t>
            </a:r>
            <a:endParaRPr/>
          </a:p>
          <a:p>
            <a:pPr indent="-288000" lvl="0" marL="288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The site and location flags can be disturbed.</a:t>
            </a:r>
            <a:endParaRPr/>
          </a:p>
          <a:p>
            <a:pPr indent="-288000" lvl="0" marL="288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People’s memories can fade or be influenced.</a:t>
            </a:r>
            <a:endParaRPr/>
          </a:p>
          <a:p>
            <a:pPr indent="-288000" lvl="0" marL="288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Parts?</a:t>
            </a:r>
            <a:endParaRPr/>
          </a:p>
          <a:p>
            <a:pPr indent="-288000" lvl="0" marL="288000" marR="0" rtl="0" algn="l">
              <a:lnSpc>
                <a:spcPct val="100000"/>
              </a:lnSpc>
              <a:spcBef>
                <a:spcPts val="0"/>
              </a:spcBef>
              <a:spcAft>
                <a:spcPts val="0"/>
              </a:spcAft>
              <a:buClr>
                <a:srgbClr val="000000"/>
              </a:buClr>
              <a:buSzPts val="1800"/>
              <a:buFont typeface="Noto Sans Symbols"/>
              <a:buChar char="⮚"/>
            </a:pPr>
            <a:r>
              <a:rPr b="0" i="1" lang="en-US" sz="1800" u="none" cap="none" strike="noStrike">
                <a:solidFill>
                  <a:srgbClr val="000000"/>
                </a:solidFill>
                <a:latin typeface="Arial"/>
                <a:ea typeface="Arial"/>
                <a:cs typeface="Arial"/>
                <a:sym typeface="Arial"/>
              </a:rPr>
              <a:t>FLRA’s first, then other documents are less likely to be tampered</a:t>
            </a:r>
            <a:endParaRPr/>
          </a:p>
          <a:p>
            <a:pPr indent="0" lvl="0" marL="0" marR="0" rtl="0" algn="l">
              <a:lnSpc>
                <a:spcPct val="100000"/>
              </a:lnSpc>
              <a:spcBef>
                <a:spcPts val="0"/>
              </a:spcBef>
              <a:spcAft>
                <a:spcPts val="0"/>
              </a:spcAft>
              <a:buClr>
                <a:schemeClr val="dk1"/>
              </a:buClr>
              <a:buSzPts val="1800"/>
              <a:buFont typeface="Arial"/>
              <a:buNone/>
            </a:pPr>
            <a:r>
              <a:t/>
            </a:r>
            <a:endParaRPr b="0" i="1"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1" sz="1800" u="none" cap="none" strike="noStrike">
              <a:solidFill>
                <a:srgbClr val="000000"/>
              </a:solidFill>
              <a:latin typeface="Arial"/>
              <a:ea typeface="Arial"/>
              <a:cs typeface="Arial"/>
              <a:sym typeface="Arial"/>
            </a:endParaRPr>
          </a:p>
        </p:txBody>
      </p:sp>
      <p:sp>
        <p:nvSpPr>
          <p:cNvPr id="207" name="Google Shape;207;p4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Example: The Caterpillar D12 Dozer Loss Incident</a:t>
            </a:r>
            <a:endParaRPr/>
          </a:p>
        </p:txBody>
      </p:sp>
      <p:sp>
        <p:nvSpPr>
          <p:cNvPr id="208" name="Google Shape;208;p4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09" name="Google Shape;209;p4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pic>
        <p:nvPicPr>
          <p:cNvPr id="210" name="Google Shape;210;p41"/>
          <p:cNvPicPr preferRelativeResize="0"/>
          <p:nvPr/>
        </p:nvPicPr>
        <p:blipFill rotWithShape="1">
          <a:blip r:embed="rId3">
            <a:alphaModFix/>
          </a:blip>
          <a:srcRect b="0" l="0" r="0" t="0"/>
          <a:stretch/>
        </p:blipFill>
        <p:spPr>
          <a:xfrm>
            <a:off x="5517930" y="2931210"/>
            <a:ext cx="3302069" cy="2170804"/>
          </a:xfrm>
          <a:prstGeom prst="rect">
            <a:avLst/>
          </a:prstGeom>
          <a:solidFill>
            <a:schemeClr val="lt1"/>
          </a:solid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These processes will be effective only if </a:t>
            </a:r>
            <a:r>
              <a:rPr b="1" i="0" lang="en-US" sz="2000" u="none" cap="none" strike="noStrike">
                <a:solidFill>
                  <a:srgbClr val="000000"/>
                </a:solidFill>
                <a:latin typeface="Arial"/>
                <a:ea typeface="Arial"/>
                <a:cs typeface="Arial"/>
                <a:sym typeface="Arial"/>
              </a:rPr>
              <a:t>all components are complete, accurate, and thorough.</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1"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Process is a learning experience for all. </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Must </a:t>
            </a:r>
            <a:r>
              <a:rPr b="1" i="0" lang="en-US" sz="2000" u="none" cap="none" strike="noStrike">
                <a:solidFill>
                  <a:srgbClr val="000000"/>
                </a:solidFill>
                <a:latin typeface="Arial"/>
                <a:ea typeface="Arial"/>
                <a:cs typeface="Arial"/>
                <a:sym typeface="Arial"/>
              </a:rPr>
              <a:t>commit</a:t>
            </a:r>
            <a:r>
              <a:rPr b="0" i="0" lang="en-US" sz="2000" u="none" cap="none" strike="noStrike">
                <a:solidFill>
                  <a:srgbClr val="000000"/>
                </a:solidFill>
                <a:latin typeface="Arial"/>
                <a:ea typeface="Arial"/>
                <a:cs typeface="Arial"/>
                <a:sym typeface="Arial"/>
              </a:rPr>
              <a:t> to the process with </a:t>
            </a:r>
            <a:r>
              <a:rPr b="1" i="0" lang="en-US" sz="2000" u="none" cap="none" strike="noStrike">
                <a:solidFill>
                  <a:srgbClr val="000000"/>
                </a:solidFill>
                <a:latin typeface="Arial"/>
                <a:ea typeface="Arial"/>
                <a:cs typeface="Arial"/>
                <a:sym typeface="Arial"/>
              </a:rPr>
              <a:t>people and resources</a:t>
            </a:r>
            <a:r>
              <a:rPr b="0" i="0" lang="en-US" sz="2000" u="none" cap="none" strike="noStrike">
                <a:solidFill>
                  <a:srgbClr val="000000"/>
                </a:solidFill>
                <a:latin typeface="Arial"/>
                <a:ea typeface="Arial"/>
                <a:cs typeface="Arial"/>
                <a:sym typeface="Arial"/>
              </a:rPr>
              <a:t> for investigations. </a:t>
            </a:r>
            <a:endParaRPr/>
          </a:p>
        </p:txBody>
      </p:sp>
      <p:sp>
        <p:nvSpPr>
          <p:cNvPr id="217" name="Google Shape;217;p4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Summary and Key Lessons:</a:t>
            </a:r>
            <a:endParaRPr/>
          </a:p>
        </p:txBody>
      </p:sp>
      <p:sp>
        <p:nvSpPr>
          <p:cNvPr id="218" name="Google Shape;218;p4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19" name="Google Shape;219;p4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4.1: II-RCA-MCA Work Processes</a:t>
            </a:r>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2011-09-07T03:22:54Z</dcterms:created>
  <dc:creator>JR Cocchio</dc:creator>
</cp:coreProperties>
</file>