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47" roundtripDataSignature="AMtx7mhegGL7J17Oe9NF100uc6JVZYw6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 name="Google Shape;30;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53" name="Google Shape;53;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4" name="Google Shape;64;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APEGA Script: There are two pillars on which professionalism is built. The first pillar is skilled practice. Education allows the development of skills and knowledge—that is the foundation for competency. Continued study is imperative to maintain and enhance our knowledge, and to ensure we continue to practise skillfully.</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The second pillar is professional conduct. APEGA’s Code of Ethics lays out the professional expectations of licensed professionals. Personal values, ethics, and integrity are key to set the conditions for acceptable professional conduct.</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These two pillars—skilled practice and professional conduct—are the core elements to support the behaviour expected by your fellow licensed professionals.</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APEGA’s responsibility is to ensure its licensed professionals, members-in-training, and permit holders demonstrate good judgement, provide capable leadership, establish and meet high standards, and fulfil their professional duties.</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Success in all of these areas will maintain and strengthen the trust and respect the public has for our professions.</a:t>
            </a:r>
            <a:endParaRPr/>
          </a:p>
        </p:txBody>
      </p:sp>
      <p:sp>
        <p:nvSpPr>
          <p:cNvPr id="74" name="Google Shape;74;p4: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t>APEGA Script: The citizens of Alberta trust the Government of Alberta to protect their public interest and safety. Because of this, the government passed the Engineering and Geoscience Professions Act (EGP Act). The EGP Act provides the framework under which engineering and geoscience work is performed, and it establishes APEGA as the body to regulate the professions. There is no consideration for member self-interest written into the EGP Act or the General Regulation.</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The EGP Act outlines who and what needs to be regulated, and how APEGA can regulate. APEGA regulates to maintain the public confidence, protecting our professional reputation and the social licence granted to the professions. All licensed professionals and permit holders are regulated, along with the right to practise and the right to title.</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An elected council of APEGA licensed professionals and public members is empowered to establish how APEGA regulates under the constraints of the EGP Act. The council selects the Registrar and CEO, who provides APEGA staff and volunteers with support.</a:t>
            </a:r>
            <a:endParaRPr/>
          </a:p>
          <a:p>
            <a:pPr indent="0" lvl="0" marL="0" rtl="0" algn="l">
              <a:spcBef>
                <a:spcPts val="300"/>
              </a:spcBef>
              <a:spcAft>
                <a:spcPts val="0"/>
              </a:spcAft>
              <a:buNone/>
            </a:pPr>
            <a:r>
              <a:t/>
            </a:r>
            <a:endParaRPr/>
          </a:p>
          <a:p>
            <a:pPr indent="0" lvl="0" marL="0" rtl="0" algn="l">
              <a:spcBef>
                <a:spcPts val="300"/>
              </a:spcBef>
              <a:spcAft>
                <a:spcPts val="0"/>
              </a:spcAft>
              <a:buNone/>
            </a:pPr>
            <a:r>
              <a:rPr lang="en-US"/>
              <a:t>This relationship creates a constant feedback loop and support system.</a:t>
            </a:r>
            <a:endParaRPr/>
          </a:p>
        </p:txBody>
      </p:sp>
      <p:sp>
        <p:nvSpPr>
          <p:cNvPr id="84" name="Google Shape;84;p5: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4" name="Google Shape;94;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4" name="Google Shape;104;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9" name="Google Shape;119;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9" name="Google Shape;129;p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9" name="Google Shape;139;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1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48" name="Google Shape;148;p1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7" name="Google Shape;157;p1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1" name="Google Shape;171;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180" name="Google Shape;180;p14: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181" name="Google Shape;181;p14: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82" name="Google Shape;182;p14: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183" name="Google Shape;183;p14: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4: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3" name="Google Shape;193;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2" name="Google Shape;202;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2" name="Google Shape;212;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8: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221" name="Google Shape;221;p18: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222" name="Google Shape;222;p18: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23" name="Google Shape;223;p18: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224" name="Google Shape;224;p18: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8: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33" name="Google Shape;233;p1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42" name="Google Shape;242;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51" name="Google Shape;251;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60" name="Google Shape;260;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69" name="Google Shape;269;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79" name="Google Shape;279;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p2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89" name="Google Shape;289;p2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99" name="Google Shape;299;p2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09" name="Google Shape;309;p2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2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20" name="Google Shape;320;p2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2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31" name="Google Shape;331;p2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2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41" name="Google Shape;341;p3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3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50" name="Google Shape;350;p3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3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60" name="Google Shape;360;p3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3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69" name="Google Shape;369;p3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3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79" name="Google Shape;379;p3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3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88" name="Google Shape;388;p3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3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397" name="Google Shape;397;p3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3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06" name="Google Shape;406;p3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3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8: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415" name="Google Shape;415;p38: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416" name="Google Shape;416;p38: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17" name="Google Shape;417;p38: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418" name="Google Shape;418;p38: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38: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9: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28" name="Google Shape;428;p39: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39: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37" name="Google Shape;437;p4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4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446" name="Google Shape;446;p4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4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3"/>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43"/>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4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4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4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45"/>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46"/>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46"/>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46"/>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42"/>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42"/>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42"/>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youtube.com/watch?v=7xjpUIEwVUM"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
          <p:cNvSpPr txBox="1"/>
          <p:nvPr/>
        </p:nvSpPr>
        <p:spPr>
          <a:xfrm>
            <a:off x="228600" y="838200"/>
            <a:ext cx="8610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1" i="1" sz="3600" u="none" cap="none" strike="noStrike">
              <a:solidFill>
                <a:srgbClr val="000099"/>
              </a:solidFill>
              <a:latin typeface="Calibri"/>
              <a:ea typeface="Calibri"/>
              <a:cs typeface="Calibri"/>
              <a:sym typeface="Calibri"/>
            </a:endParaRPr>
          </a:p>
        </p:txBody>
      </p:sp>
      <p:sp>
        <p:nvSpPr>
          <p:cNvPr id="33" name="Google Shape;33;p1"/>
          <p:cNvSpPr txBox="1"/>
          <p:nvPr>
            <p:ph idx="1" type="subTitle"/>
          </p:nvPr>
        </p:nvSpPr>
        <p:spPr>
          <a:xfrm>
            <a:off x="838200" y="2105520"/>
            <a:ext cx="7315201" cy="216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ENGG404 - Lecture</a:t>
            </a:r>
            <a:endParaRPr/>
          </a:p>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Chapter 6.10: Professionalism, </a:t>
            </a:r>
            <a:br>
              <a:rPr b="1" i="0" lang="en-US" sz="3200" u="none" cap="none" strike="noStrike">
                <a:solidFill>
                  <a:schemeClr val="dk2"/>
                </a:solidFill>
                <a:latin typeface="Arial"/>
                <a:ea typeface="Arial"/>
                <a:cs typeface="Arial"/>
                <a:sym typeface="Arial"/>
              </a:rPr>
            </a:br>
            <a:r>
              <a:rPr b="1" i="0" lang="en-US" sz="3200" u="none" cap="none" strike="noStrike">
                <a:solidFill>
                  <a:schemeClr val="dk2"/>
                </a:solidFill>
                <a:latin typeface="Arial"/>
                <a:ea typeface="Arial"/>
                <a:cs typeface="Arial"/>
                <a:sym typeface="Arial"/>
              </a:rPr>
              <a:t>Ethics and Equity, Integrity, and Conflict Of Interest</a:t>
            </a:r>
            <a:endParaRPr/>
          </a:p>
        </p:txBody>
      </p:sp>
      <p:sp>
        <p:nvSpPr>
          <p:cNvPr id="34" name="Google Shape;34;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35" name="Google Shape;35;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36" name="Google Shape;36;p1"/>
          <p:cNvSpPr txBox="1"/>
          <p:nvPr/>
        </p:nvSpPr>
        <p:spPr>
          <a:xfrm>
            <a:off x="7874130" y="169908"/>
            <a:ext cx="1155550"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37" name="Google Shape;37;p1"/>
          <p:cNvSpPr txBox="1"/>
          <p:nvPr/>
        </p:nvSpPr>
        <p:spPr>
          <a:xfrm>
            <a:off x="7051217" y="169908"/>
            <a:ext cx="671096"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38" name="Google Shape;38;p1"/>
          <p:cNvSpPr txBox="1"/>
          <p:nvPr/>
        </p:nvSpPr>
        <p:spPr>
          <a:xfrm>
            <a:off x="3834670"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39" name="Google Shape;39;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40" name="Google Shape;40;p1"/>
          <p:cNvSpPr txBox="1"/>
          <p:nvPr/>
        </p:nvSpPr>
        <p:spPr>
          <a:xfrm>
            <a:off x="2657853" y="170432"/>
            <a:ext cx="1024999"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41" name="Google Shape;41;p1"/>
          <p:cNvCxnSpPr>
            <a:stCxn id="34" idx="3"/>
            <a:endCxn id="35" idx="1"/>
          </p:cNvCxnSpPr>
          <p:nvPr/>
        </p:nvCxnSpPr>
        <p:spPr>
          <a:xfrm flipH="1" rot="10800000">
            <a:off x="1329219" y="400847"/>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42" name="Google Shape;42;p1"/>
          <p:cNvCxnSpPr>
            <a:stCxn id="35" idx="3"/>
            <a:endCxn id="40" idx="1"/>
          </p:cNvCxnSpPr>
          <p:nvPr/>
        </p:nvCxnSpPr>
        <p:spPr>
          <a:xfrm>
            <a:off x="2506036" y="400740"/>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3" name="Google Shape;43;p1"/>
          <p:cNvCxnSpPr>
            <a:stCxn id="40" idx="3"/>
            <a:endCxn id="38" idx="1"/>
          </p:cNvCxnSpPr>
          <p:nvPr/>
        </p:nvCxnSpPr>
        <p:spPr>
          <a:xfrm flipH="1" rot="10800000">
            <a:off x="3682852" y="400664"/>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4" name="Google Shape;44;p1"/>
          <p:cNvCxnSpPr>
            <a:stCxn id="38" idx="3"/>
            <a:endCxn id="39" idx="1"/>
          </p:cNvCxnSpPr>
          <p:nvPr/>
        </p:nvCxnSpPr>
        <p:spPr>
          <a:xfrm>
            <a:off x="4859669"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5" name="Google Shape;45;p1"/>
          <p:cNvCxnSpPr>
            <a:stCxn id="39" idx="3"/>
          </p:cNvCxnSpPr>
          <p:nvPr/>
        </p:nvCxnSpPr>
        <p:spPr>
          <a:xfrm>
            <a:off x="6036485"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6" name="Google Shape;46;p1"/>
          <p:cNvCxnSpPr>
            <a:endCxn id="37" idx="1"/>
          </p:cNvCxnSpPr>
          <p:nvPr/>
        </p:nvCxnSpPr>
        <p:spPr>
          <a:xfrm>
            <a:off x="6899417"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7" name="Google Shape;47;p1"/>
          <p:cNvCxnSpPr>
            <a:stCxn id="37" idx="3"/>
            <a:endCxn id="36" idx="1"/>
          </p:cNvCxnSpPr>
          <p:nvPr/>
        </p:nvCxnSpPr>
        <p:spPr>
          <a:xfrm>
            <a:off x="7722313" y="400740"/>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48" name="Google Shape;48;p1"/>
          <p:cNvSpPr txBox="1"/>
          <p:nvPr/>
        </p:nvSpPr>
        <p:spPr>
          <a:xfrm>
            <a:off x="6188301" y="169907"/>
            <a:ext cx="692362" cy="461665"/>
          </a:xfrm>
          <a:prstGeom prst="rect">
            <a:avLst/>
          </a:prstGeom>
          <a:solidFill>
            <a:srgbClr val="FFFF00"/>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49" name="Google Shape;49;p1"/>
          <p:cNvPicPr preferRelativeResize="0"/>
          <p:nvPr/>
        </p:nvPicPr>
        <p:blipFill rotWithShape="1">
          <a:blip r:embed="rId3">
            <a:alphaModFix/>
          </a:blip>
          <a:srcRect b="0" l="0" r="0" t="0"/>
          <a:stretch/>
        </p:blipFill>
        <p:spPr>
          <a:xfrm>
            <a:off x="891182" y="4114800"/>
            <a:ext cx="1766671" cy="1766671"/>
          </a:xfrm>
          <a:prstGeom prst="rect">
            <a:avLst/>
          </a:prstGeom>
          <a:noFill/>
          <a:ln>
            <a:noFill/>
          </a:ln>
        </p:spPr>
      </p:pic>
      <p:pic>
        <p:nvPicPr>
          <p:cNvPr descr="Introduction to Sociology - 2013 - The Collaboratory" id="50" name="Google Shape;50;p1"/>
          <p:cNvPicPr preferRelativeResize="0"/>
          <p:nvPr/>
        </p:nvPicPr>
        <p:blipFill rotWithShape="1">
          <a:blip r:embed="rId4">
            <a:alphaModFix/>
          </a:blip>
          <a:srcRect b="0" l="0" r="0" t="0"/>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txBox="1"/>
          <p:nvPr/>
        </p:nvSpPr>
        <p:spPr>
          <a:xfrm>
            <a:off x="180000" y="828000"/>
            <a:ext cx="8640000" cy="5232202"/>
          </a:xfrm>
          <a:prstGeom prst="rect">
            <a:avLst/>
          </a:prstGeom>
          <a:solidFill>
            <a:srgbClr val="FFFFFF"/>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“Leading the Way to a Safer World” </a:t>
            </a:r>
            <a:endParaRPr/>
          </a:p>
          <a:p>
            <a:pPr indent="0" lvl="0" marL="0" marR="0" rtl="0" algn="l">
              <a:lnSpc>
                <a:spcPct val="100000"/>
              </a:lnSpc>
              <a:spcBef>
                <a:spcPts val="0"/>
              </a:spcBef>
              <a:spcAft>
                <a:spcPts val="0"/>
              </a:spcAft>
              <a:buClr>
                <a:srgbClr val="FF0000"/>
              </a:buClr>
              <a:buSzPts val="1400"/>
              <a:buFont typeface="Arial"/>
              <a:buNone/>
            </a:pPr>
            <a:r>
              <a:rPr b="0" i="0" lang="en-US" sz="1400" u="none" cap="none" strike="noStrike">
                <a:solidFill>
                  <a:srgbClr val="FF0000"/>
                </a:solidFill>
                <a:latin typeface="Arial"/>
                <a:ea typeface="Arial"/>
                <a:cs typeface="Arial"/>
                <a:sym typeface="Arial"/>
              </a:rPr>
              <a:t>https://drive.google.com/open?id=1HbT-vllIsbYmhUBU4TbNzLMtyACmKDo8</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Pathway: </a:t>
            </a:r>
            <a:r>
              <a:rPr b="0" i="0" lang="en-US" sz="1600" u="none" cap="none" strike="noStrike">
                <a:solidFill>
                  <a:srgbClr val="FF0000"/>
                </a:solidFill>
                <a:latin typeface="Arial"/>
                <a:ea typeface="Arial"/>
                <a:cs typeface="Arial"/>
                <a:sym typeface="Arial"/>
              </a:rPr>
              <a:t>TeamDrive &gt; ESRM Instruction Team Resources &gt; Video Clips &gt; </a:t>
            </a:r>
            <a:endParaRPr/>
          </a:p>
          <a:p>
            <a:pPr indent="0" lvl="0" marL="0" marR="0" rtl="0" algn="l">
              <a:lnSpc>
                <a:spcPct val="100000"/>
              </a:lnSpc>
              <a:spcBef>
                <a:spcPts val="0"/>
              </a:spcBef>
              <a:spcAft>
                <a:spcPts val="0"/>
              </a:spcAft>
              <a:buClr>
                <a:srgbClr val="FF0000"/>
              </a:buClr>
              <a:buSzPts val="1600"/>
              <a:buFont typeface="Arial"/>
              <a:buNone/>
            </a:pPr>
            <a:r>
              <a:rPr b="0" i="0" lang="en-US" sz="1600" u="none" cap="none" strike="noStrike">
                <a:solidFill>
                  <a:srgbClr val="FF0000"/>
                </a:solidFill>
                <a:latin typeface="Arial"/>
                <a:ea typeface="Arial"/>
                <a:cs typeface="Arial"/>
                <a:sym typeface="Arial"/>
              </a:rPr>
              <a:t>52 Ch6.10 Professionalism CCPS Leading the Way to a Safer World.mp4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Arial"/>
              <a:buNone/>
            </a:pPr>
            <a:r>
              <a:rPr b="1" i="0" lang="en-US" sz="1800" u="none" cap="none" strike="noStrike">
                <a:solidFill>
                  <a:srgbClr val="FF0000"/>
                </a:solidFill>
                <a:latin typeface="Arial"/>
                <a:ea typeface="Arial"/>
                <a:cs typeface="Arial"/>
                <a:sym typeface="Arial"/>
              </a:rPr>
              <a:t>Center for Chemical Process Safety</a:t>
            </a:r>
            <a:r>
              <a:rPr b="0" i="0" lang="en-US" sz="1800" u="none" cap="none" strike="noStrike">
                <a:solidFill>
                  <a:srgbClr val="FF0000"/>
                </a:solidFill>
                <a:latin typeface="Arial"/>
                <a:ea typeface="Arial"/>
                <a:cs typeface="Arial"/>
                <a:sym typeface="Arial"/>
              </a:rPr>
              <a:t>, a technological community </a:t>
            </a:r>
            <a:br>
              <a:rPr b="0" i="0" lang="en-US" sz="1800" u="none" cap="none" strike="noStrike">
                <a:solidFill>
                  <a:srgbClr val="FF0000"/>
                </a:solidFill>
                <a:latin typeface="Arial"/>
                <a:ea typeface="Arial"/>
                <a:cs typeface="Arial"/>
                <a:sym typeface="Arial"/>
              </a:rPr>
            </a:br>
            <a:r>
              <a:rPr b="0" i="0" lang="en-US" sz="1800" u="none" cap="none" strike="noStrike">
                <a:solidFill>
                  <a:srgbClr val="FF0000"/>
                </a:solidFill>
                <a:latin typeface="Arial"/>
                <a:ea typeface="Arial"/>
                <a:cs typeface="Arial"/>
                <a:sym typeface="Arial"/>
              </a:rPr>
              <a:t>within the American Institute for Chemical Engineering</a:t>
            </a:r>
            <a:endParaRPr/>
          </a:p>
          <a:p>
            <a:pPr indent="0" lvl="0" marL="0" marR="0" rtl="0" algn="l">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00:00 – 02:20</a:t>
            </a:r>
            <a:endParaRPr/>
          </a:p>
          <a:p>
            <a:pPr indent="0" lvl="0" marL="0" marR="0" rtl="0" algn="l">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At 2:20, pause and look for familiar firms as the credits roll.</a:t>
            </a:r>
            <a:endParaRPr/>
          </a:p>
          <a:p>
            <a:pPr indent="0" lvl="0" marL="0" marR="0" rtl="0" algn="l">
              <a:lnSpc>
                <a:spcPct val="100000"/>
              </a:lnSpc>
              <a:spcBef>
                <a:spcPts val="0"/>
              </a:spcBef>
              <a:spcAft>
                <a:spcPts val="0"/>
              </a:spcAft>
              <a:buClr>
                <a:srgbClr val="FF0000"/>
              </a:buClr>
              <a:buSzPts val="1800"/>
              <a:buFont typeface="Arial"/>
              <a:buNone/>
            </a:pPr>
            <a:r>
              <a:rPr b="0" i="0" lang="en-US" sz="1800" u="none" cap="none" strike="noStrike">
                <a:solidFill>
                  <a:srgbClr val="FF0000"/>
                </a:solidFill>
                <a:latin typeface="Arial"/>
                <a:ea typeface="Arial"/>
                <a:cs typeface="Arial"/>
                <a:sym typeface="Arial"/>
              </a:rPr>
              <a:t>02:21 – 02:45</a:t>
            </a:r>
            <a:endParaRPr/>
          </a:p>
          <a:p>
            <a:pPr indent="0" lvl="0" marL="0" marR="0" rtl="0" algn="l">
              <a:lnSpc>
                <a:spcPct val="100000"/>
              </a:lnSpc>
              <a:spcBef>
                <a:spcPts val="0"/>
              </a:spcBef>
              <a:spcAft>
                <a:spcPts val="0"/>
              </a:spcAft>
              <a:buClr>
                <a:srgbClr val="FF0000"/>
              </a:buClr>
              <a:buSzPts val="1600"/>
              <a:buFont typeface="Arial"/>
              <a:buNone/>
            </a:pPr>
            <a:r>
              <a:rPr b="0" i="0" lang="en-US" sz="1600" u="sng" cap="none" strike="noStrike">
                <a:solidFill>
                  <a:srgbClr val="FF0000"/>
                </a:solidFill>
                <a:latin typeface="Arial"/>
                <a:ea typeface="Arial"/>
                <a:cs typeface="Arial"/>
                <a:sym typeface="Arial"/>
                <a:hlinkClick r:id="rId3">
                  <a:extLst>
                    <a:ext uri="{A12FA001-AC4F-418D-AE19-62706E023703}">
                      <ahyp:hlinkClr val="tx"/>
                    </a:ext>
                  </a:extLst>
                </a:hlinkClick>
              </a:rPr>
              <a:t>https://www.youtube.com/watch?v=7xjpUIEwVUM</a:t>
            </a:r>
            <a:r>
              <a:rPr b="0" i="0" lang="en-US" sz="1600" u="none" cap="none" strike="noStrike">
                <a:solidFill>
                  <a:srgbClr val="FF0000"/>
                </a:solidFill>
                <a:latin typeface="Arial"/>
                <a:ea typeface="Arial"/>
                <a:cs typeface="Arial"/>
                <a:sym typeface="Arial"/>
              </a:rPr>
              <a:t> </a:t>
            </a:r>
            <a:endParaRPr b="0" i="0" sz="16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Note: Although this video may seem centric to chemical engineering, all petrochemical manufacturing industries </a:t>
            </a:r>
            <a:r>
              <a:rPr b="0" i="1" lang="en-US" sz="1400" u="sng" cap="none" strike="noStrike">
                <a:solidFill>
                  <a:srgbClr val="000000"/>
                </a:solidFill>
                <a:latin typeface="Arial"/>
                <a:ea typeface="Arial"/>
                <a:cs typeface="Arial"/>
                <a:sym typeface="Arial"/>
              </a:rPr>
              <a:t>require and rely on the expertise of all engineering disciplines</a:t>
            </a:r>
            <a:r>
              <a:rPr b="0" i="1"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Consider: excavations, foundations and infrastructure, power distribution, waste water treatment, air pollution controls, computer and automatic process controls, networks and information technologies, structures, pressure vessels and piping systems, materials of construction, machines and machinery, instrumentation and electrical systems, chemical process units, resource extraction for raw materials, conversion of raw materials to finished products, logistics and transportation; design, fabrication, construction, start-up, operations, maintenance, financial management, and operations management. </a:t>
            </a:r>
            <a:endParaRPr/>
          </a:p>
        </p:txBody>
      </p:sp>
      <p:sp>
        <p:nvSpPr>
          <p:cNvPr id="57" name="Google Shape;57;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Chapter 6.10: Professionalism, Ethics and Equity, Integrity</a:t>
            </a:r>
            <a:endParaRPr/>
          </a:p>
        </p:txBody>
      </p:sp>
      <p:sp>
        <p:nvSpPr>
          <p:cNvPr id="58" name="Google Shape;58;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9" name="Google Shape;59;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pic>
        <p:nvPicPr>
          <p:cNvPr descr="EN00500_" id="60" name="Google Shape;60;p2"/>
          <p:cNvPicPr preferRelativeResize="0"/>
          <p:nvPr/>
        </p:nvPicPr>
        <p:blipFill rotWithShape="1">
          <a:blip r:embed="rId4">
            <a:alphaModFix/>
          </a:blip>
          <a:srcRect b="0" l="0" r="0" t="0"/>
          <a:stretch/>
        </p:blipFill>
        <p:spPr>
          <a:xfrm>
            <a:off x="7617372" y="1905000"/>
            <a:ext cx="1130275" cy="1066800"/>
          </a:xfrm>
          <a:prstGeom prst="rect">
            <a:avLst/>
          </a:prstGeom>
          <a:noFill/>
          <a:ln>
            <a:noFill/>
          </a:ln>
        </p:spPr>
      </p:pic>
      <p:sp>
        <p:nvSpPr>
          <p:cNvPr id="61" name="Google Shape;61;p2"/>
          <p:cNvSpPr txBox="1"/>
          <p:nvPr/>
        </p:nvSpPr>
        <p:spPr>
          <a:xfrm>
            <a:off x="6629400" y="838200"/>
            <a:ext cx="2286000" cy="646331"/>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Show this video before class starts.</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We will explore the question, </a:t>
            </a:r>
            <a:endParaRPr b="0" i="0" sz="2000" u="none" cap="none" strike="noStrike">
              <a:solidFill>
                <a:schemeClr val="dk1"/>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What does it mean to be an upstanding and </a:t>
            </a:r>
            <a:br>
              <a:rPr b="0" i="1" lang="en-US" sz="2000" u="none" cap="none" strike="noStrike">
                <a:solidFill>
                  <a:schemeClr val="dk1"/>
                </a:solidFill>
                <a:latin typeface="Arial"/>
                <a:ea typeface="Arial"/>
                <a:cs typeface="Arial"/>
                <a:sym typeface="Arial"/>
              </a:rPr>
            </a:br>
            <a:r>
              <a:rPr b="0" i="1" lang="en-US" sz="2000" u="none" cap="none" strike="noStrike">
                <a:solidFill>
                  <a:schemeClr val="dk1"/>
                </a:solidFill>
                <a:latin typeface="Arial"/>
                <a:ea typeface="Arial"/>
                <a:cs typeface="Arial"/>
                <a:sym typeface="Arial"/>
              </a:rPr>
              <a:t>outstanding professional engineer?”</a:t>
            </a:r>
            <a:endParaRPr b="0" i="1" sz="2000" u="none" cap="none" strike="noStrike">
              <a:solidFill>
                <a:schemeClr val="dk1"/>
              </a:solidFill>
              <a:latin typeface="Arial"/>
              <a:ea typeface="Arial"/>
              <a:cs typeface="Arial"/>
              <a:sym typeface="Arial"/>
            </a:endParaRPr>
          </a:p>
          <a:p>
            <a:pPr indent="-482600" lvl="0" marL="609600" marR="0" rtl="0" algn="l">
              <a:lnSpc>
                <a:spcPct val="120000"/>
              </a:lnSpc>
              <a:spcBef>
                <a:spcPts val="0"/>
              </a:spcBef>
              <a:spcAft>
                <a:spcPts val="0"/>
              </a:spcAft>
              <a:buClr>
                <a:srgbClr val="000000"/>
              </a:buClr>
              <a:buSzPts val="2000"/>
              <a:buFont typeface="Noto Sans Symbols"/>
              <a:buNone/>
            </a:pPr>
            <a:r>
              <a:t/>
            </a:r>
            <a:endParaRPr b="0" i="0" sz="20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a:t>
            </a:r>
            <a:r>
              <a:rPr b="0" i="0" lang="en-US" sz="2000" u="sng" cap="none" strike="noStrike">
                <a:solidFill>
                  <a:srgbClr val="000000"/>
                </a:solidFill>
                <a:latin typeface="Arial"/>
                <a:ea typeface="Arial"/>
                <a:cs typeface="Arial"/>
                <a:sym typeface="Arial"/>
              </a:rPr>
              <a:t>professionalism</a:t>
            </a:r>
            <a:r>
              <a:rPr b="0" i="0" lang="en-US" sz="2000" u="none" cap="none" strike="noStrike">
                <a:solidFill>
                  <a:srgbClr val="000000"/>
                </a:solidFill>
                <a:latin typeface="Arial"/>
                <a:ea typeface="Arial"/>
                <a:cs typeface="Arial"/>
                <a:sym typeface="Arial"/>
              </a:rPr>
              <a:t> and </a:t>
            </a:r>
            <a:r>
              <a:rPr b="0" i="0" lang="en-US" sz="2000" u="sng" cap="none" strike="noStrike">
                <a:solidFill>
                  <a:srgbClr val="000000"/>
                </a:solidFill>
                <a:latin typeface="Arial"/>
                <a:ea typeface="Arial"/>
                <a:cs typeface="Arial"/>
                <a:sym typeface="Arial"/>
              </a:rPr>
              <a:t>assess</a:t>
            </a:r>
            <a:r>
              <a:rPr b="0" i="0" lang="en-US" sz="2000" u="none" cap="none" strike="noStrike">
                <a:solidFill>
                  <a:srgbClr val="000000"/>
                </a:solidFill>
                <a:latin typeface="Arial"/>
                <a:ea typeface="Arial"/>
                <a:cs typeface="Arial"/>
                <a:sym typeface="Arial"/>
              </a:rPr>
              <a:t> a situation about professionalism.</a:t>
            </a:r>
            <a:endParaRPr/>
          </a:p>
          <a:p>
            <a:pPr indent="-482600" lvl="0" marL="609600" marR="0" rtl="0" algn="l">
              <a:lnSpc>
                <a:spcPct val="120000"/>
              </a:lnSpc>
              <a:spcBef>
                <a:spcPts val="0"/>
              </a:spcBef>
              <a:spcAft>
                <a:spcPts val="0"/>
              </a:spcAft>
              <a:buClr>
                <a:srgbClr val="000000"/>
              </a:buClr>
              <a:buSzPts val="2000"/>
              <a:buFont typeface="Noto Sans Symbols"/>
              <a:buNone/>
            </a:pPr>
            <a:r>
              <a:t/>
            </a:r>
            <a:endParaRPr b="0" i="0" sz="2000" u="sng"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Explain </a:t>
            </a:r>
            <a:r>
              <a:rPr b="0" i="0" lang="en-US" sz="2000" u="sng" cap="none" strike="noStrike">
                <a:solidFill>
                  <a:srgbClr val="000000"/>
                </a:solidFill>
                <a:latin typeface="Arial"/>
                <a:ea typeface="Arial"/>
                <a:cs typeface="Arial"/>
                <a:sym typeface="Arial"/>
              </a:rPr>
              <a:t>ethics</a:t>
            </a:r>
            <a:r>
              <a:rPr b="0" i="0" lang="en-US" sz="2000" u="none" cap="none" strike="noStrike">
                <a:solidFill>
                  <a:srgbClr val="000000"/>
                </a:solidFill>
                <a:latin typeface="Arial"/>
                <a:ea typeface="Arial"/>
                <a:cs typeface="Arial"/>
                <a:sym typeface="Arial"/>
              </a:rPr>
              <a:t>, and </a:t>
            </a:r>
            <a:r>
              <a:rPr b="0" i="0" lang="en-US" sz="2000" u="sng" cap="none" strike="noStrike">
                <a:solidFill>
                  <a:srgbClr val="000000"/>
                </a:solidFill>
                <a:latin typeface="Arial"/>
                <a:ea typeface="Arial"/>
                <a:cs typeface="Arial"/>
                <a:sym typeface="Arial"/>
              </a:rPr>
              <a:t>assess</a:t>
            </a:r>
            <a:r>
              <a:rPr b="0" i="0" lang="en-US" sz="2000" u="none" cap="none" strike="noStrike">
                <a:solidFill>
                  <a:srgbClr val="000000"/>
                </a:solidFill>
                <a:latin typeface="Arial"/>
                <a:ea typeface="Arial"/>
                <a:cs typeface="Arial"/>
                <a:sym typeface="Arial"/>
              </a:rPr>
              <a:t> a situation about ethical (and unethical) behaviour:</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Examine and critique a situation</a:t>
            </a:r>
            <a:r>
              <a:rPr b="0" i="0" lang="en-US" sz="2000" u="none" cap="none" strike="noStrike">
                <a:solidFill>
                  <a:srgbClr val="000000"/>
                </a:solidFill>
                <a:latin typeface="Arial"/>
                <a:ea typeface="Arial"/>
                <a:cs typeface="Arial"/>
                <a:sym typeface="Arial"/>
              </a:rPr>
              <a:t> where an engineer’s professional ethics, integrity, or professional practice may be called into question, and </a:t>
            </a:r>
            <a:r>
              <a:rPr b="0" i="0" lang="en-US" sz="2000" u="sng" cap="none" strike="noStrike">
                <a:solidFill>
                  <a:srgbClr val="000000"/>
                </a:solidFill>
                <a:latin typeface="Arial"/>
                <a:ea typeface="Arial"/>
                <a:cs typeface="Arial"/>
                <a:sym typeface="Arial"/>
              </a:rPr>
              <a:t>recommend the best course of action</a:t>
            </a:r>
            <a:r>
              <a:rPr b="0" i="0" lang="en-US" sz="2000" u="none" cap="none" strike="noStrike">
                <a:solidFill>
                  <a:srgbClr val="000000"/>
                </a:solidFill>
                <a:latin typeface="Arial"/>
                <a:ea typeface="Arial"/>
                <a:cs typeface="Arial"/>
                <a:sym typeface="Arial"/>
              </a:rPr>
              <a:t>. </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Gauge</a:t>
            </a:r>
            <a:r>
              <a:rPr b="0" i="0" lang="en-US" sz="2000" u="none" cap="none" strike="noStrike">
                <a:solidFill>
                  <a:srgbClr val="000000"/>
                </a:solidFill>
                <a:latin typeface="Arial"/>
                <a:ea typeface="Arial"/>
                <a:cs typeface="Arial"/>
                <a:sym typeface="Arial"/>
              </a:rPr>
              <a:t> an organization’s or a leader’s </a:t>
            </a:r>
            <a:r>
              <a:rPr b="0" i="0" lang="en-US" sz="2000" u="sng" cap="none" strike="noStrike">
                <a:solidFill>
                  <a:srgbClr val="000000"/>
                </a:solidFill>
                <a:latin typeface="Arial"/>
                <a:ea typeface="Arial"/>
                <a:cs typeface="Arial"/>
                <a:sym typeface="Arial"/>
              </a:rPr>
              <a:t>decision-making process</a:t>
            </a:r>
            <a:r>
              <a:rPr b="0" i="0" lang="en-US" sz="2000" u="none" cap="none" strike="noStrike">
                <a:solidFill>
                  <a:srgbClr val="000000"/>
                </a:solidFill>
                <a:latin typeface="Arial"/>
                <a:ea typeface="Arial"/>
                <a:cs typeface="Arial"/>
                <a:sym typeface="Arial"/>
              </a:rPr>
              <a:t> on a scale of ethical behaviour. </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Manage apparent contradictions and ambiguities</a:t>
            </a:r>
            <a:r>
              <a:rPr b="0" i="0" lang="en-US" sz="2000" u="none" cap="none" strike="noStrike">
                <a:solidFill>
                  <a:srgbClr val="000000"/>
                </a:solidFill>
                <a:latin typeface="Arial"/>
                <a:ea typeface="Arial"/>
                <a:cs typeface="Arial"/>
                <a:sym typeface="Arial"/>
              </a:rPr>
              <a:t> during your career within your organization. </a:t>
            </a:r>
            <a:endParaRPr/>
          </a:p>
        </p:txBody>
      </p:sp>
      <p:sp>
        <p:nvSpPr>
          <p:cNvPr id="68" name="Google Shape;68;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Learning Outcomes </a:t>
            </a:r>
            <a:endParaRPr/>
          </a:p>
        </p:txBody>
      </p:sp>
      <p:sp>
        <p:nvSpPr>
          <p:cNvPr id="69" name="Google Shape;69;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0" name="Google Shape;70;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4"/>
          <p:cNvPicPr preferRelativeResize="0"/>
          <p:nvPr/>
        </p:nvPicPr>
        <p:blipFill rotWithShape="1">
          <a:blip r:embed="rId3">
            <a:alphaModFix/>
          </a:blip>
          <a:srcRect b="0" l="0" r="0" t="0"/>
          <a:stretch/>
        </p:blipFill>
        <p:spPr>
          <a:xfrm>
            <a:off x="1524000" y="762000"/>
            <a:ext cx="5925826" cy="5407621"/>
          </a:xfrm>
          <a:prstGeom prst="rect">
            <a:avLst/>
          </a:prstGeom>
          <a:noFill/>
          <a:ln>
            <a:noFill/>
          </a:ln>
        </p:spPr>
      </p:pic>
      <p:sp>
        <p:nvSpPr>
          <p:cNvPr id="77" name="Google Shape;77;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APEGA Mandate is “Duty to the Public”:</a:t>
            </a:r>
            <a:endParaRPr b="0" i="0" sz="2400" u="none" cap="none" strike="noStrike">
              <a:solidFill>
                <a:srgbClr val="333399"/>
              </a:solidFill>
              <a:latin typeface="Arial"/>
              <a:ea typeface="Arial"/>
              <a:cs typeface="Arial"/>
              <a:sym typeface="Arial"/>
            </a:endParaRPr>
          </a:p>
        </p:txBody>
      </p:sp>
      <p:sp>
        <p:nvSpPr>
          <p:cNvPr id="78" name="Google Shape;78;p4"/>
          <p:cNvSpPr/>
          <p:nvPr/>
        </p:nvSpPr>
        <p:spPr>
          <a:xfrm>
            <a:off x="3505200" y="2514600"/>
            <a:ext cx="1905000" cy="1295400"/>
          </a:xfrm>
          <a:prstGeom prst="leftRightArrow">
            <a:avLst>
              <a:gd fmla="val 77907" name="adj1"/>
              <a:gd fmla="val 40698" name="adj2"/>
            </a:avLst>
          </a:prstGeom>
          <a:solidFill>
            <a:srgbClr val="0000FF"/>
          </a:solidFill>
          <a:ln cap="flat" cmpd="sng" w="25400">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See Chapter 6.9</a:t>
            </a:r>
            <a:endParaRPr b="1" i="0" sz="1800" u="none" cap="none" strike="noStrike">
              <a:solidFill>
                <a:schemeClr val="lt1"/>
              </a:solidFill>
              <a:latin typeface="Arial"/>
              <a:ea typeface="Arial"/>
              <a:cs typeface="Arial"/>
              <a:sym typeface="Arial"/>
            </a:endParaRPr>
          </a:p>
        </p:txBody>
      </p:sp>
      <p:sp>
        <p:nvSpPr>
          <p:cNvPr id="79" name="Google Shape;79;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0" name="Google Shape;80;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grpSp>
        <p:nvGrpSpPr>
          <p:cNvPr id="86" name="Google Shape;86;p5"/>
          <p:cNvGrpSpPr/>
          <p:nvPr/>
        </p:nvGrpSpPr>
        <p:grpSpPr>
          <a:xfrm>
            <a:off x="94100" y="908085"/>
            <a:ext cx="8955800" cy="5041829"/>
            <a:chOff x="94100" y="908085"/>
            <a:chExt cx="8955800" cy="5041829"/>
          </a:xfrm>
        </p:grpSpPr>
        <p:pic>
          <p:nvPicPr>
            <p:cNvPr id="87" name="Google Shape;87;p5"/>
            <p:cNvPicPr preferRelativeResize="0"/>
            <p:nvPr/>
          </p:nvPicPr>
          <p:blipFill rotWithShape="1">
            <a:blip r:embed="rId3">
              <a:alphaModFix/>
            </a:blip>
            <a:srcRect b="0" l="0" r="0" t="0"/>
            <a:stretch/>
          </p:blipFill>
          <p:spPr>
            <a:xfrm>
              <a:off x="94100" y="908085"/>
              <a:ext cx="8955800" cy="5041829"/>
            </a:xfrm>
            <a:prstGeom prst="rect">
              <a:avLst/>
            </a:prstGeom>
            <a:noFill/>
            <a:ln>
              <a:noFill/>
            </a:ln>
          </p:spPr>
        </p:pic>
        <p:cxnSp>
          <p:nvCxnSpPr>
            <p:cNvPr id="88" name="Google Shape;88;p5"/>
            <p:cNvCxnSpPr/>
            <p:nvPr/>
          </p:nvCxnSpPr>
          <p:spPr>
            <a:xfrm>
              <a:off x="7596000" y="4032000"/>
              <a:ext cx="0" cy="252000"/>
            </a:xfrm>
            <a:prstGeom prst="straightConnector1">
              <a:avLst/>
            </a:prstGeom>
            <a:noFill/>
            <a:ln cap="flat" cmpd="sng" w="9525">
              <a:solidFill>
                <a:srgbClr val="B5DADD"/>
              </a:solidFill>
              <a:prstDash val="solid"/>
              <a:round/>
              <a:headEnd len="sm" w="sm" type="none"/>
              <a:tailEnd len="med" w="med" type="triangle"/>
            </a:ln>
          </p:spPr>
        </p:cxnSp>
      </p:grpSp>
      <p:sp>
        <p:nvSpPr>
          <p:cNvPr id="89" name="Google Shape;89;p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APEGA is Empowered through the EGP Act:</a:t>
            </a:r>
            <a:endParaRPr b="0" i="0" sz="2400" u="none" cap="none" strike="noStrike">
              <a:solidFill>
                <a:srgbClr val="333399"/>
              </a:solidFill>
              <a:latin typeface="Arial"/>
              <a:ea typeface="Arial"/>
              <a:cs typeface="Arial"/>
              <a:sym typeface="Arial"/>
            </a:endParaRPr>
          </a:p>
        </p:txBody>
      </p:sp>
      <p:sp>
        <p:nvSpPr>
          <p:cNvPr id="90" name="Google Shape;90;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1" name="Google Shape;91;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Some points about the practice of engineering:</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Technologically complex</a:t>
            </a:r>
            <a:endParaRPr/>
          </a:p>
          <a:p>
            <a:pPr indent="-232999" lvl="2" marL="72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Large contribution to society, and for the benefit of society</a:t>
            </a:r>
            <a:endParaRPr/>
          </a:p>
          <a:p>
            <a:pPr indent="-232999" lvl="2" marL="72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Ethical obligations.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98" name="Google Shape;98;p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Practice of Engineering:</a:t>
            </a:r>
            <a:endParaRPr/>
          </a:p>
        </p:txBody>
      </p:sp>
      <p:sp>
        <p:nvSpPr>
          <p:cNvPr id="99" name="Google Shape;99;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00" name="Google Shape;100;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101" name="Google Shape;101;p6"/>
          <p:cNvSpPr txBox="1"/>
          <p:nvPr/>
        </p:nvSpPr>
        <p:spPr>
          <a:xfrm>
            <a:off x="180000" y="3096000"/>
            <a:ext cx="8640000" cy="2916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You could be asked to choose one of the first two, and describe in terms relevant to the practice of engineering; however, the CCPS video clearly illustrated these two. </a:t>
            </a:r>
            <a:endParaRPr/>
          </a:p>
          <a:p>
            <a:pPr indent="-215900" lvl="0" marL="342900" marR="0" rtl="0" algn="l">
              <a:lnSpc>
                <a:spcPct val="100000"/>
              </a:lnSpc>
              <a:spcBef>
                <a:spcPts val="0"/>
              </a:spcBef>
              <a:spcAft>
                <a:spcPts val="0"/>
              </a:spcAft>
              <a:buClr>
                <a:schemeClr val="dk1"/>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Having said this, you should take an opportunity to reflect on the relevancy of “technologically complex” or “large contribution to society” that involved the organization from your team project.</a:t>
            </a:r>
            <a:endParaRPr/>
          </a:p>
          <a:p>
            <a:pPr indent="-215900" lvl="0" marL="342900" marR="0" rtl="0" algn="l">
              <a:lnSpc>
                <a:spcPct val="100000"/>
              </a:lnSpc>
              <a:spcBef>
                <a:spcPts val="0"/>
              </a:spcBef>
              <a:spcAft>
                <a:spcPts val="0"/>
              </a:spcAft>
              <a:buClr>
                <a:schemeClr val="dk1"/>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The third item will be discussed further in this lecture.  </a:t>
            </a:r>
            <a:endParaRPr b="0" i="1" sz="20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Professionalism in Engineering</a:t>
            </a:r>
            <a:endParaRPr/>
          </a:p>
        </p:txBody>
      </p:sp>
      <p:sp>
        <p:nvSpPr>
          <p:cNvPr id="108" name="Google Shape;108;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09" name="Google Shape;109;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110" name="Google Shape;110;p7"/>
          <p:cNvSpPr txBox="1"/>
          <p:nvPr/>
        </p:nvSpPr>
        <p:spPr>
          <a:xfrm>
            <a:off x="180000" y="864000"/>
            <a:ext cx="8640000" cy="5328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rmAutofit/>
          </a:bodyPr>
          <a:lstStyle/>
          <a:p>
            <a:pPr indent="-482600" lvl="0" marL="6096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 profession is a </a:t>
            </a:r>
            <a:r>
              <a:rPr b="0" i="0" lang="en-US" sz="2000" u="sng" cap="none" strike="noStrike">
                <a:solidFill>
                  <a:srgbClr val="000000"/>
                </a:solidFill>
                <a:latin typeface="Arial"/>
                <a:ea typeface="Arial"/>
                <a:cs typeface="Arial"/>
                <a:sym typeface="Arial"/>
              </a:rPr>
              <a:t>calling</a:t>
            </a:r>
            <a:r>
              <a:rPr b="0" i="0" lang="en-US" sz="2000" u="none" cap="none" strike="noStrike">
                <a:solidFill>
                  <a:srgbClr val="000000"/>
                </a:solidFill>
                <a:latin typeface="Arial"/>
                <a:ea typeface="Arial"/>
                <a:cs typeface="Arial"/>
                <a:sym typeface="Arial"/>
              </a:rPr>
              <a:t> that requires: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Specialized knowledge,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Intensive preparation,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High standards of achievement,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High standards of practice,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Continued study, </a:t>
            </a:r>
            <a:endParaRPr/>
          </a:p>
          <a:p>
            <a:pPr indent="-232999" lvl="1" marL="72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Ethical conduct</a:t>
            </a:r>
            <a:r>
              <a:rPr b="0" i="0" lang="en-US" sz="2000" u="none" cap="none" strike="noStrike">
                <a:solidFill>
                  <a:srgbClr val="FF0000"/>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and</a:t>
            </a:r>
            <a:endParaRPr/>
          </a:p>
          <a:p>
            <a:pPr indent="-232999" lvl="1" marL="72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Public service (duty to the public). </a:t>
            </a:r>
            <a:endParaRPr/>
          </a:p>
          <a:p>
            <a:pPr indent="0" lvl="1" marL="457200" marR="0" rtl="0" algn="l">
              <a:lnSpc>
                <a:spcPct val="100000"/>
              </a:lnSpc>
              <a:spcBef>
                <a:spcPts val="0"/>
              </a:spcBef>
              <a:spcAft>
                <a:spcPts val="0"/>
              </a:spcAft>
              <a:buClr>
                <a:srgbClr val="000000"/>
              </a:buClr>
              <a:buSzPts val="2000"/>
              <a:buFont typeface="Arial"/>
              <a:buNone/>
            </a:pPr>
            <a:r>
              <a:t/>
            </a:r>
            <a:endParaRPr b="0" i="1" sz="20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2000"/>
              <a:buFont typeface="Arial"/>
              <a:buNone/>
            </a:pPr>
            <a:r>
              <a:rPr b="0" i="1" lang="en-US" sz="2000" u="none" cap="none" strike="noStrike">
                <a:solidFill>
                  <a:srgbClr val="000000"/>
                </a:solidFill>
                <a:latin typeface="Arial"/>
                <a:ea typeface="Arial"/>
                <a:cs typeface="Arial"/>
                <a:sym typeface="Arial"/>
              </a:rPr>
              <a:t>Http://www.apega.ca/pdf/guidelines/professionalism.pdf </a:t>
            </a:r>
            <a:endParaRPr b="0" i="1" sz="2000" u="none" cap="none" strike="noStrike">
              <a:solidFill>
                <a:srgbClr val="000000"/>
              </a:solidFill>
              <a:latin typeface="Arial"/>
              <a:ea typeface="Arial"/>
              <a:cs typeface="Arial"/>
              <a:sym typeface="Arial"/>
            </a:endParaRPr>
          </a:p>
        </p:txBody>
      </p:sp>
      <p:sp>
        <p:nvSpPr>
          <p:cNvPr id="111" name="Google Shape;111;p7"/>
          <p:cNvSpPr/>
          <p:nvPr/>
        </p:nvSpPr>
        <p:spPr>
          <a:xfrm>
            <a:off x="432000" y="1524000"/>
            <a:ext cx="4392000" cy="1504200"/>
          </a:xfrm>
          <a:prstGeom prst="bracePair">
            <a:avLst/>
          </a:prstGeom>
          <a:noFill/>
          <a:ln cap="flat" cmpd="sng" w="57150">
            <a:solidFill>
              <a:srgbClr val="0033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2400">
              <a:solidFill>
                <a:srgbClr val="000000"/>
              </a:solidFill>
              <a:latin typeface="Times New Roman"/>
              <a:ea typeface="Times New Roman"/>
              <a:cs typeface="Times New Roman"/>
              <a:sym typeface="Times New Roman"/>
            </a:endParaRPr>
          </a:p>
        </p:txBody>
      </p:sp>
      <p:sp>
        <p:nvSpPr>
          <p:cNvPr id="112" name="Google Shape;112;p7"/>
          <p:cNvSpPr/>
          <p:nvPr/>
        </p:nvSpPr>
        <p:spPr>
          <a:xfrm>
            <a:off x="6156000" y="990600"/>
            <a:ext cx="2484000" cy="824948"/>
          </a:xfrm>
          <a:prstGeom prst="wedgeRectCallout">
            <a:avLst>
              <a:gd fmla="val -93890" name="adj1"/>
              <a:gd fmla="val 99826" name="adj2"/>
            </a:avLst>
          </a:prstGeom>
          <a:solidFill>
            <a:srgbClr val="FFFFFF"/>
          </a:solidFill>
          <a:ln cap="flat" cmpd="sng" w="38100">
            <a:solidFill>
              <a:srgbClr val="0033C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1600">
                <a:solidFill>
                  <a:srgbClr val="000000"/>
                </a:solidFill>
                <a:latin typeface="Arial"/>
                <a:ea typeface="Arial"/>
                <a:cs typeface="Arial"/>
                <a:sym typeface="Arial"/>
              </a:rPr>
              <a:t>As engineering students, you can readily identify with these.</a:t>
            </a:r>
            <a:endParaRPr/>
          </a:p>
        </p:txBody>
      </p:sp>
      <p:sp>
        <p:nvSpPr>
          <p:cNvPr id="113" name="Google Shape;113;p7"/>
          <p:cNvSpPr/>
          <p:nvPr/>
        </p:nvSpPr>
        <p:spPr>
          <a:xfrm>
            <a:off x="432000" y="3246000"/>
            <a:ext cx="4392000" cy="487800"/>
          </a:xfrm>
          <a:prstGeom prst="bracePair">
            <a:avLst/>
          </a:prstGeom>
          <a:noFill/>
          <a:ln cap="flat" cmpd="sng" w="571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2400">
              <a:solidFill>
                <a:srgbClr val="000000"/>
              </a:solidFill>
              <a:latin typeface="Times New Roman"/>
              <a:ea typeface="Times New Roman"/>
              <a:cs typeface="Times New Roman"/>
              <a:sym typeface="Times New Roman"/>
            </a:endParaRPr>
          </a:p>
        </p:txBody>
      </p:sp>
      <p:sp>
        <p:nvSpPr>
          <p:cNvPr id="114" name="Google Shape;114;p7"/>
          <p:cNvSpPr/>
          <p:nvPr/>
        </p:nvSpPr>
        <p:spPr>
          <a:xfrm>
            <a:off x="6156000" y="2209800"/>
            <a:ext cx="2484000" cy="610748"/>
          </a:xfrm>
          <a:prstGeom prst="wedgeRectCallout">
            <a:avLst>
              <a:gd fmla="val -94911" name="adj1"/>
              <a:gd fmla="val 149220" name="adj2"/>
            </a:avLst>
          </a:prstGeom>
          <a:solidFill>
            <a:srgbClr val="FFFFFF"/>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1600">
                <a:solidFill>
                  <a:srgbClr val="000000"/>
                </a:solidFill>
                <a:latin typeface="Arial"/>
                <a:ea typeface="Arial"/>
                <a:cs typeface="Arial"/>
                <a:sym typeface="Arial"/>
              </a:rPr>
              <a:t>So we will explore this in this topics.</a:t>
            </a:r>
            <a:endParaRPr b="0" i="1" sz="1600">
              <a:solidFill>
                <a:srgbClr val="000000"/>
              </a:solidFill>
              <a:latin typeface="Arial"/>
              <a:ea typeface="Arial"/>
              <a:cs typeface="Arial"/>
              <a:sym typeface="Arial"/>
            </a:endParaRPr>
          </a:p>
        </p:txBody>
      </p:sp>
      <p:sp>
        <p:nvSpPr>
          <p:cNvPr id="115" name="Google Shape;115;p7"/>
          <p:cNvSpPr/>
          <p:nvPr/>
        </p:nvSpPr>
        <p:spPr>
          <a:xfrm>
            <a:off x="6156000" y="3352800"/>
            <a:ext cx="2484000" cy="672548"/>
          </a:xfrm>
          <a:prstGeom prst="wedgeRectCallout">
            <a:avLst>
              <a:gd fmla="val -93687" name="adj1"/>
              <a:gd fmla="val 55777" name="adj2"/>
            </a:avLst>
          </a:prstGeom>
          <a:solidFill>
            <a:srgbClr val="FFFFFF"/>
          </a:solidFill>
          <a:ln cap="flat" cmpd="sng" w="38100">
            <a:solidFill>
              <a:srgbClr val="0033C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1600">
                <a:solidFill>
                  <a:srgbClr val="000000"/>
                </a:solidFill>
                <a:latin typeface="Arial"/>
                <a:ea typeface="Arial"/>
                <a:cs typeface="Arial"/>
                <a:sym typeface="Arial"/>
              </a:rPr>
              <a:t>As explained in APEGA Introductory content.</a:t>
            </a:r>
            <a:endParaRPr b="0" i="1" sz="1600">
              <a:solidFill>
                <a:srgbClr val="000000"/>
              </a:solidFill>
              <a:latin typeface="Arial"/>
              <a:ea typeface="Arial"/>
              <a:cs typeface="Arial"/>
              <a:sym typeface="Arial"/>
            </a:endParaRPr>
          </a:p>
        </p:txBody>
      </p:sp>
      <p:sp>
        <p:nvSpPr>
          <p:cNvPr id="116" name="Google Shape;116;p7"/>
          <p:cNvSpPr/>
          <p:nvPr/>
        </p:nvSpPr>
        <p:spPr>
          <a:xfrm>
            <a:off x="457200" y="3886200"/>
            <a:ext cx="4392000" cy="487800"/>
          </a:xfrm>
          <a:prstGeom prst="bracePair">
            <a:avLst/>
          </a:prstGeom>
          <a:noFill/>
          <a:ln cap="flat" cmpd="sng" w="57150">
            <a:solidFill>
              <a:srgbClr val="0033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sz="2400">
              <a:solidFill>
                <a:srgbClr val="000000"/>
              </a:solidFill>
              <a:latin typeface="Times New Roman"/>
              <a:ea typeface="Times New Roman"/>
              <a:cs typeface="Times New Roman"/>
              <a:sym typeface="Times New Roman"/>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Definition:</a:t>
            </a:r>
            <a:endParaRPr/>
          </a:p>
          <a:p>
            <a:pPr indent="-609600" lvl="0" marL="6096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CCPE defines the “practice of engineering” as:</a:t>
            </a:r>
            <a:br>
              <a:rPr b="0" lang="en-US" sz="2000">
                <a:solidFill>
                  <a:srgbClr val="000000"/>
                </a:solidFill>
                <a:latin typeface="Arial"/>
                <a:ea typeface="Arial"/>
                <a:cs typeface="Arial"/>
                <a:sym typeface="Arial"/>
              </a:rPr>
            </a:br>
            <a:r>
              <a:rPr b="0" i="1" lang="en-US" sz="2000">
                <a:solidFill>
                  <a:srgbClr val="000000"/>
                </a:solidFill>
                <a:latin typeface="Arial"/>
                <a:ea typeface="Arial"/>
                <a:cs typeface="Arial"/>
                <a:sym typeface="Arial"/>
              </a:rPr>
              <a:t>“the practice of professional engineering means any act of </a:t>
            </a:r>
            <a:r>
              <a:rPr b="1" i="1" lang="en-US" sz="2000">
                <a:solidFill>
                  <a:srgbClr val="000000"/>
                </a:solidFill>
                <a:latin typeface="Arial"/>
                <a:ea typeface="Arial"/>
                <a:cs typeface="Arial"/>
                <a:sym typeface="Arial"/>
              </a:rPr>
              <a:t>planning</a:t>
            </a:r>
            <a:r>
              <a:rPr b="0" i="1" lang="en-US" sz="2000">
                <a:solidFill>
                  <a:srgbClr val="000000"/>
                </a:solidFill>
                <a:latin typeface="Arial"/>
                <a:ea typeface="Arial"/>
                <a:cs typeface="Arial"/>
                <a:sym typeface="Arial"/>
              </a:rPr>
              <a:t>, </a:t>
            </a:r>
            <a:r>
              <a:rPr b="1" i="1" lang="en-US" sz="2000">
                <a:solidFill>
                  <a:srgbClr val="000000"/>
                </a:solidFill>
                <a:latin typeface="Arial"/>
                <a:ea typeface="Arial"/>
                <a:cs typeface="Arial"/>
                <a:sym typeface="Arial"/>
              </a:rPr>
              <a:t>designing</a:t>
            </a:r>
            <a:r>
              <a:rPr b="0" i="1" lang="en-US" sz="2000">
                <a:solidFill>
                  <a:srgbClr val="000000"/>
                </a:solidFill>
                <a:latin typeface="Arial"/>
                <a:ea typeface="Arial"/>
                <a:cs typeface="Arial"/>
                <a:sym typeface="Arial"/>
              </a:rPr>
              <a:t>, </a:t>
            </a:r>
            <a:r>
              <a:rPr b="1" i="1" lang="en-US" sz="2000">
                <a:solidFill>
                  <a:srgbClr val="000000"/>
                </a:solidFill>
                <a:latin typeface="Arial"/>
                <a:ea typeface="Arial"/>
                <a:cs typeface="Arial"/>
                <a:sym typeface="Arial"/>
              </a:rPr>
              <a:t>evaluating</a:t>
            </a:r>
            <a:r>
              <a:rPr b="0" i="1" lang="en-US" sz="2000">
                <a:solidFill>
                  <a:srgbClr val="000000"/>
                </a:solidFill>
                <a:latin typeface="Arial"/>
                <a:ea typeface="Arial"/>
                <a:cs typeface="Arial"/>
                <a:sym typeface="Arial"/>
              </a:rPr>
              <a:t>, </a:t>
            </a:r>
            <a:r>
              <a:rPr b="1" i="1" lang="en-US" sz="2000">
                <a:solidFill>
                  <a:srgbClr val="000000"/>
                </a:solidFill>
                <a:latin typeface="Arial"/>
                <a:ea typeface="Arial"/>
                <a:cs typeface="Arial"/>
                <a:sym typeface="Arial"/>
              </a:rPr>
              <a:t>advising</a:t>
            </a:r>
            <a:r>
              <a:rPr b="0" i="1" lang="en-US" sz="2000">
                <a:solidFill>
                  <a:srgbClr val="000000"/>
                </a:solidFill>
                <a:latin typeface="Arial"/>
                <a:ea typeface="Arial"/>
                <a:cs typeface="Arial"/>
                <a:sym typeface="Arial"/>
              </a:rPr>
              <a:t>, </a:t>
            </a:r>
            <a:r>
              <a:rPr b="1" i="1" lang="en-US" sz="2000">
                <a:solidFill>
                  <a:srgbClr val="000000"/>
                </a:solidFill>
                <a:latin typeface="Arial"/>
                <a:ea typeface="Arial"/>
                <a:cs typeface="Arial"/>
                <a:sym typeface="Arial"/>
              </a:rPr>
              <a:t>reporting</a:t>
            </a:r>
            <a:r>
              <a:rPr b="0" i="1" lang="en-US" sz="2000">
                <a:solidFill>
                  <a:srgbClr val="000000"/>
                </a:solidFill>
                <a:latin typeface="Arial"/>
                <a:ea typeface="Arial"/>
                <a:cs typeface="Arial"/>
                <a:sym typeface="Arial"/>
              </a:rPr>
              <a:t>, </a:t>
            </a:r>
            <a:r>
              <a:rPr b="1" i="1" lang="en-US" sz="2000">
                <a:solidFill>
                  <a:srgbClr val="000000"/>
                </a:solidFill>
                <a:latin typeface="Arial"/>
                <a:ea typeface="Arial"/>
                <a:cs typeface="Arial"/>
                <a:sym typeface="Arial"/>
              </a:rPr>
              <a:t>directing</a:t>
            </a:r>
            <a:r>
              <a:rPr b="0" i="1" lang="en-US" sz="2000">
                <a:solidFill>
                  <a:srgbClr val="000000"/>
                </a:solidFill>
                <a:latin typeface="Arial"/>
                <a:ea typeface="Arial"/>
                <a:cs typeface="Arial"/>
                <a:sym typeface="Arial"/>
              </a:rPr>
              <a:t> or </a:t>
            </a:r>
            <a:r>
              <a:rPr b="1" i="1" lang="en-US" sz="2000">
                <a:solidFill>
                  <a:srgbClr val="000000"/>
                </a:solidFill>
                <a:latin typeface="Arial"/>
                <a:ea typeface="Arial"/>
                <a:cs typeface="Arial"/>
                <a:sym typeface="Arial"/>
              </a:rPr>
              <a:t>supervising</a:t>
            </a:r>
            <a:r>
              <a:rPr b="0" i="1" lang="en-US" sz="2000">
                <a:solidFill>
                  <a:srgbClr val="000000"/>
                </a:solidFill>
                <a:latin typeface="Arial"/>
                <a:ea typeface="Arial"/>
                <a:cs typeface="Arial"/>
                <a:sym typeface="Arial"/>
              </a:rPr>
              <a:t>, or </a:t>
            </a:r>
            <a:r>
              <a:rPr b="1" i="1" lang="en-US" sz="2000">
                <a:solidFill>
                  <a:srgbClr val="000000"/>
                </a:solidFill>
                <a:latin typeface="Arial"/>
                <a:ea typeface="Arial"/>
                <a:cs typeface="Arial"/>
                <a:sym typeface="Arial"/>
              </a:rPr>
              <a:t>managing</a:t>
            </a:r>
            <a:r>
              <a:rPr b="0" i="1" lang="en-US" sz="2000">
                <a:solidFill>
                  <a:srgbClr val="000000"/>
                </a:solidFill>
                <a:latin typeface="Arial"/>
                <a:ea typeface="Arial"/>
                <a:cs typeface="Arial"/>
                <a:sym typeface="Arial"/>
              </a:rPr>
              <a:t> any of the foregoing, that requires the application of engineering principles, and that concerns the </a:t>
            </a:r>
            <a:r>
              <a:rPr b="0" i="1" lang="en-US" sz="2000" u="sng">
                <a:solidFill>
                  <a:srgbClr val="000000"/>
                </a:solidFill>
                <a:latin typeface="Arial"/>
                <a:ea typeface="Arial"/>
                <a:cs typeface="Arial"/>
                <a:sym typeface="Arial"/>
              </a:rPr>
              <a:t>safeguarding of life, health, property, economic interests, the public welfare, or the environment</a:t>
            </a:r>
            <a:r>
              <a:rPr b="0" i="1" lang="en-US" sz="2000">
                <a:solidFill>
                  <a:srgbClr val="000000"/>
                </a:solidFill>
                <a:latin typeface="Arial"/>
                <a:ea typeface="Arial"/>
                <a:cs typeface="Arial"/>
                <a:sym typeface="Arial"/>
              </a:rPr>
              <a: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123" name="Google Shape;123;p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Professionalism in Engineering</a:t>
            </a:r>
            <a:endParaRPr/>
          </a:p>
        </p:txBody>
      </p:sp>
      <p:sp>
        <p:nvSpPr>
          <p:cNvPr id="124" name="Google Shape;124;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25" name="Google Shape;125;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126" name="Google Shape;126;p8"/>
          <p:cNvSpPr txBox="1"/>
          <p:nvPr/>
        </p:nvSpPr>
        <p:spPr>
          <a:xfrm>
            <a:off x="180000" y="3580200"/>
            <a:ext cx="8640000" cy="2592000"/>
          </a:xfrm>
          <a:prstGeom prst="rect">
            <a:avLst/>
          </a:prstGeom>
          <a:solidFill>
            <a:srgbClr val="000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Consider the bold-text words in relation to the BP-DWH Loss Incident. Choose one, and think about some aspect as it relates to the underlying latent cause and related RME. </a:t>
            </a:r>
            <a:endParaRPr/>
          </a:p>
          <a:p>
            <a:pPr indent="0" lvl="0" marL="0" marR="0" rtl="0" algn="l">
              <a:lnSpc>
                <a:spcPct val="100000"/>
              </a:lnSpc>
              <a:spcBef>
                <a:spcPts val="0"/>
              </a:spcBef>
              <a:spcAft>
                <a:spcPts val="0"/>
              </a:spcAft>
              <a:buClr>
                <a:srgbClr val="FFFFFF"/>
              </a:buClr>
              <a:buSzPts val="2000"/>
              <a:buFont typeface="Arial"/>
              <a:buNone/>
            </a:pPr>
            <a:r>
              <a:t/>
            </a:r>
            <a:endParaRPr b="0" i="1"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Think about framing your response as:</a:t>
            </a:r>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&lt;the selected bold-text word&gt;</a:t>
            </a:r>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&lt;latent cause relative to the bold-text word&gt;</a:t>
            </a:r>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&lt;the related risk management system element&gt;</a:t>
            </a:r>
            <a:endParaRPr/>
          </a:p>
          <a:p>
            <a:pPr indent="0" lvl="0" marL="0" marR="0" rtl="0" algn="l">
              <a:lnSpc>
                <a:spcPct val="100000"/>
              </a:lnSpc>
              <a:spcBef>
                <a:spcPts val="0"/>
              </a:spcBef>
              <a:spcAft>
                <a:spcPts val="0"/>
              </a:spcAft>
              <a:buClr>
                <a:srgbClr val="FFFFFF"/>
              </a:buClr>
              <a:buSzPts val="2000"/>
              <a:buFont typeface="Arial"/>
              <a:buNone/>
            </a:pPr>
            <a:r>
              <a:t/>
            </a:r>
            <a:endParaRPr b="0" i="1" sz="20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Definition:</a:t>
            </a:r>
            <a:endParaRPr/>
          </a:p>
          <a:p>
            <a:pPr indent="-609600" lvl="0" marL="609600" marR="0" rtl="0" algn="l">
              <a:lnSpc>
                <a:spcPct val="100000"/>
              </a:lnSpc>
              <a:spcBef>
                <a:spcPts val="0"/>
              </a:spcBef>
              <a:spcAft>
                <a:spcPts val="0"/>
              </a:spcAft>
              <a:buClr>
                <a:srgbClr val="000000"/>
              </a:buClr>
              <a:buSzPts val="1400"/>
              <a:buFont typeface="Noto Sans Symbols"/>
              <a:buChar char="⮚"/>
            </a:pPr>
            <a:r>
              <a:rPr b="0" lang="en-US" sz="1400">
                <a:solidFill>
                  <a:srgbClr val="000000"/>
                </a:solidFill>
                <a:latin typeface="Arial"/>
                <a:ea typeface="Arial"/>
                <a:cs typeface="Arial"/>
                <a:sym typeface="Arial"/>
              </a:rPr>
              <a:t>CCPE defines the “practice of engineering” as:</a:t>
            </a:r>
            <a:br>
              <a:rPr b="0" lang="en-US" sz="1400">
                <a:solidFill>
                  <a:srgbClr val="000000"/>
                </a:solidFill>
                <a:latin typeface="Arial"/>
                <a:ea typeface="Arial"/>
                <a:cs typeface="Arial"/>
                <a:sym typeface="Arial"/>
              </a:rPr>
            </a:br>
            <a:r>
              <a:rPr b="0" i="1" lang="en-US" sz="1400">
                <a:solidFill>
                  <a:srgbClr val="000000"/>
                </a:solidFill>
                <a:latin typeface="Arial"/>
                <a:ea typeface="Arial"/>
                <a:cs typeface="Arial"/>
                <a:sym typeface="Arial"/>
              </a:rPr>
              <a:t>“the practice of professional engineering means any act of </a:t>
            </a:r>
            <a:r>
              <a:rPr b="1" i="1" lang="en-US" sz="1400">
                <a:solidFill>
                  <a:srgbClr val="000000"/>
                </a:solidFill>
                <a:latin typeface="Arial"/>
                <a:ea typeface="Arial"/>
                <a:cs typeface="Arial"/>
                <a:sym typeface="Arial"/>
              </a:rPr>
              <a:t>planning</a:t>
            </a:r>
            <a:r>
              <a:rPr b="0" i="1" lang="en-US" sz="1400">
                <a:solidFill>
                  <a:srgbClr val="000000"/>
                </a:solidFill>
                <a:latin typeface="Arial"/>
                <a:ea typeface="Arial"/>
                <a:cs typeface="Arial"/>
                <a:sym typeface="Arial"/>
              </a:rPr>
              <a:t>, </a:t>
            </a:r>
            <a:r>
              <a:rPr b="1" i="1" lang="en-US" sz="1400">
                <a:solidFill>
                  <a:srgbClr val="000000"/>
                </a:solidFill>
                <a:latin typeface="Arial"/>
                <a:ea typeface="Arial"/>
                <a:cs typeface="Arial"/>
                <a:sym typeface="Arial"/>
              </a:rPr>
              <a:t>designing</a:t>
            </a:r>
            <a:r>
              <a:rPr b="0" i="1" lang="en-US" sz="1400">
                <a:solidFill>
                  <a:srgbClr val="000000"/>
                </a:solidFill>
                <a:latin typeface="Arial"/>
                <a:ea typeface="Arial"/>
                <a:cs typeface="Arial"/>
                <a:sym typeface="Arial"/>
              </a:rPr>
              <a:t>, </a:t>
            </a:r>
            <a:r>
              <a:rPr b="1" i="1" lang="en-US" sz="1400">
                <a:solidFill>
                  <a:srgbClr val="000000"/>
                </a:solidFill>
                <a:latin typeface="Arial"/>
                <a:ea typeface="Arial"/>
                <a:cs typeface="Arial"/>
                <a:sym typeface="Arial"/>
              </a:rPr>
              <a:t>evaluating</a:t>
            </a:r>
            <a:r>
              <a:rPr b="0" i="1" lang="en-US" sz="1400">
                <a:solidFill>
                  <a:srgbClr val="000000"/>
                </a:solidFill>
                <a:latin typeface="Arial"/>
                <a:ea typeface="Arial"/>
                <a:cs typeface="Arial"/>
                <a:sym typeface="Arial"/>
              </a:rPr>
              <a:t>, </a:t>
            </a:r>
            <a:r>
              <a:rPr b="1" i="1" lang="en-US" sz="1400">
                <a:solidFill>
                  <a:srgbClr val="000000"/>
                </a:solidFill>
                <a:latin typeface="Arial"/>
                <a:ea typeface="Arial"/>
                <a:cs typeface="Arial"/>
                <a:sym typeface="Arial"/>
              </a:rPr>
              <a:t>advising</a:t>
            </a:r>
            <a:r>
              <a:rPr b="0" i="1" lang="en-US" sz="1400">
                <a:solidFill>
                  <a:srgbClr val="000000"/>
                </a:solidFill>
                <a:latin typeface="Arial"/>
                <a:ea typeface="Arial"/>
                <a:cs typeface="Arial"/>
                <a:sym typeface="Arial"/>
              </a:rPr>
              <a:t>, </a:t>
            </a:r>
            <a:r>
              <a:rPr b="1" i="1" lang="en-US" sz="1400">
                <a:solidFill>
                  <a:srgbClr val="000000"/>
                </a:solidFill>
                <a:latin typeface="Arial"/>
                <a:ea typeface="Arial"/>
                <a:cs typeface="Arial"/>
                <a:sym typeface="Arial"/>
              </a:rPr>
              <a:t>reporting</a:t>
            </a:r>
            <a:r>
              <a:rPr b="0" i="1" lang="en-US" sz="1400">
                <a:solidFill>
                  <a:srgbClr val="000000"/>
                </a:solidFill>
                <a:latin typeface="Arial"/>
                <a:ea typeface="Arial"/>
                <a:cs typeface="Arial"/>
                <a:sym typeface="Arial"/>
              </a:rPr>
              <a:t>, </a:t>
            </a:r>
            <a:r>
              <a:rPr b="1" i="1" lang="en-US" sz="1400">
                <a:solidFill>
                  <a:srgbClr val="000000"/>
                </a:solidFill>
                <a:latin typeface="Arial"/>
                <a:ea typeface="Arial"/>
                <a:cs typeface="Arial"/>
                <a:sym typeface="Arial"/>
              </a:rPr>
              <a:t>directing</a:t>
            </a:r>
            <a:r>
              <a:rPr b="0" i="1" lang="en-US" sz="1400">
                <a:solidFill>
                  <a:srgbClr val="000000"/>
                </a:solidFill>
                <a:latin typeface="Arial"/>
                <a:ea typeface="Arial"/>
                <a:cs typeface="Arial"/>
                <a:sym typeface="Arial"/>
              </a:rPr>
              <a:t> or </a:t>
            </a:r>
            <a:r>
              <a:rPr b="1" i="1" lang="en-US" sz="1400">
                <a:solidFill>
                  <a:srgbClr val="000000"/>
                </a:solidFill>
                <a:latin typeface="Arial"/>
                <a:ea typeface="Arial"/>
                <a:cs typeface="Arial"/>
                <a:sym typeface="Arial"/>
              </a:rPr>
              <a:t>supervising</a:t>
            </a:r>
            <a:r>
              <a:rPr b="0" i="1" lang="en-US" sz="1400">
                <a:solidFill>
                  <a:srgbClr val="000000"/>
                </a:solidFill>
                <a:latin typeface="Arial"/>
                <a:ea typeface="Arial"/>
                <a:cs typeface="Arial"/>
                <a:sym typeface="Arial"/>
              </a:rPr>
              <a:t>, or </a:t>
            </a:r>
            <a:r>
              <a:rPr b="1" i="1" lang="en-US" sz="1400">
                <a:solidFill>
                  <a:srgbClr val="000000"/>
                </a:solidFill>
                <a:latin typeface="Arial"/>
                <a:ea typeface="Arial"/>
                <a:cs typeface="Arial"/>
                <a:sym typeface="Arial"/>
              </a:rPr>
              <a:t>managing</a:t>
            </a:r>
            <a:r>
              <a:rPr b="0" i="1" lang="en-US" sz="1400">
                <a:solidFill>
                  <a:srgbClr val="000000"/>
                </a:solidFill>
                <a:latin typeface="Arial"/>
                <a:ea typeface="Arial"/>
                <a:cs typeface="Arial"/>
                <a:sym typeface="Arial"/>
              </a:rPr>
              <a:t> any of the foregoing, that requires the application of engineering principles, and that concerns the </a:t>
            </a:r>
            <a:r>
              <a:rPr b="0" i="1" lang="en-US" sz="1400" u="sng">
                <a:solidFill>
                  <a:srgbClr val="000000"/>
                </a:solidFill>
                <a:latin typeface="Arial"/>
                <a:ea typeface="Arial"/>
                <a:cs typeface="Arial"/>
                <a:sym typeface="Arial"/>
              </a:rPr>
              <a:t>safeguarding of life, health, property, economic interests, the public welfare, or the environment</a:t>
            </a:r>
            <a:r>
              <a:rPr b="0" i="1" lang="en-US" sz="1400">
                <a:solidFill>
                  <a:srgbClr val="000000"/>
                </a:solidFill>
                <a:latin typeface="Arial"/>
                <a:ea typeface="Arial"/>
                <a:cs typeface="Arial"/>
                <a:sym typeface="Arial"/>
              </a:rPr>
              <a:t>.”</a:t>
            </a:r>
            <a:endParaRPr/>
          </a:p>
          <a:p>
            <a:pPr indent="-271100" lvl="0" marL="36000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
        <p:nvSpPr>
          <p:cNvPr id="133" name="Google Shape;133;p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Professionalism in Engineering</a:t>
            </a:r>
            <a:endParaRPr/>
          </a:p>
        </p:txBody>
      </p:sp>
      <p:sp>
        <p:nvSpPr>
          <p:cNvPr id="134" name="Google Shape;134;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5" name="Google Shape;135;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136" name="Google Shape;136;p9"/>
          <p:cNvSpPr txBox="1"/>
          <p:nvPr/>
        </p:nvSpPr>
        <p:spPr>
          <a:xfrm>
            <a:off x="180000" y="2194200"/>
            <a:ext cx="8640000" cy="40542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000">
                <a:solidFill>
                  <a:srgbClr val="FFFFFF"/>
                </a:solidFill>
                <a:latin typeface="Arial"/>
                <a:ea typeface="Arial"/>
                <a:cs typeface="Arial"/>
                <a:sym typeface="Arial"/>
              </a:rPr>
              <a:t>Think about framing your response as:</a:t>
            </a:r>
            <a:endParaRPr/>
          </a:p>
          <a:p>
            <a:pPr indent="-342900" lvl="0" marL="342900" marR="0" rtl="0" algn="l">
              <a:spcBef>
                <a:spcPts val="0"/>
              </a:spcBef>
              <a:spcAft>
                <a:spcPts val="0"/>
              </a:spcAft>
              <a:buClr>
                <a:srgbClr val="FFFFFF"/>
              </a:buClr>
              <a:buSzPts val="2000"/>
              <a:buFont typeface="Noto Sans Symbols"/>
              <a:buChar char="⮚"/>
            </a:pPr>
            <a:r>
              <a:rPr b="0" i="1" lang="en-US" sz="2000">
                <a:solidFill>
                  <a:srgbClr val="FFFFFF"/>
                </a:solidFill>
                <a:latin typeface="Arial"/>
                <a:ea typeface="Arial"/>
                <a:cs typeface="Arial"/>
                <a:sym typeface="Arial"/>
              </a:rPr>
              <a:t>&lt;the selected bold-text word&gt;</a:t>
            </a:r>
            <a:endParaRPr/>
          </a:p>
          <a:p>
            <a:pPr indent="-342900" lvl="0" marL="342900" marR="0" rtl="0" algn="l">
              <a:spcBef>
                <a:spcPts val="0"/>
              </a:spcBef>
              <a:spcAft>
                <a:spcPts val="0"/>
              </a:spcAft>
              <a:buClr>
                <a:srgbClr val="FFFFFF"/>
              </a:buClr>
              <a:buSzPts val="2000"/>
              <a:buFont typeface="Noto Sans Symbols"/>
              <a:buChar char="⮚"/>
            </a:pPr>
            <a:r>
              <a:rPr b="0" i="1" lang="en-US" sz="2000">
                <a:solidFill>
                  <a:srgbClr val="FFFFFF"/>
                </a:solidFill>
                <a:latin typeface="Arial"/>
                <a:ea typeface="Arial"/>
                <a:cs typeface="Arial"/>
                <a:sym typeface="Arial"/>
              </a:rPr>
              <a:t>&lt;latent cause relative to the bold-text word&gt;</a:t>
            </a:r>
            <a:endParaRPr/>
          </a:p>
          <a:p>
            <a:pPr indent="-342900" lvl="0" marL="342900" marR="0" rtl="0" algn="l">
              <a:spcBef>
                <a:spcPts val="0"/>
              </a:spcBef>
              <a:spcAft>
                <a:spcPts val="0"/>
              </a:spcAft>
              <a:buClr>
                <a:srgbClr val="FFFFFF"/>
              </a:buClr>
              <a:buSzPts val="2000"/>
              <a:buFont typeface="Noto Sans Symbols"/>
              <a:buChar char="⮚"/>
            </a:pPr>
            <a:r>
              <a:rPr b="0" i="1" lang="en-US" sz="2000">
                <a:solidFill>
                  <a:srgbClr val="FFFFFF"/>
                </a:solidFill>
                <a:latin typeface="Arial"/>
                <a:ea typeface="Arial"/>
                <a:cs typeface="Arial"/>
                <a:sym typeface="Arial"/>
              </a:rPr>
              <a:t>&lt;the related risk management system element&gt;</a:t>
            </a:r>
            <a:endParaRPr b="0" i="1" sz="2000">
              <a:solidFill>
                <a:srgbClr val="FFFFFF"/>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t/>
            </a:r>
            <a:endParaRPr b="0" i="1" sz="2000" u="none" cap="none" strike="noStrike">
              <a:solidFill>
                <a:srgbClr val="FFFFFF"/>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An example from BP-DWH:</a:t>
            </a:r>
            <a:endParaRPr b="0" i="1" sz="2000" u="none" cap="none" strike="noStrike">
              <a:solidFill>
                <a:srgbClr val="FFFFFF"/>
              </a:solidFill>
              <a:latin typeface="Arial"/>
              <a:ea typeface="Arial"/>
              <a:cs typeface="Arial"/>
              <a:sym typeface="Arial"/>
            </a:endParaRPr>
          </a:p>
          <a:p>
            <a:pPr indent="-457200" lvl="0" marL="457200" marR="0" rtl="0" algn="l">
              <a:spcBef>
                <a:spcPts val="0"/>
              </a:spcBef>
              <a:spcAft>
                <a:spcPts val="0"/>
              </a:spcAft>
              <a:buClr>
                <a:srgbClr val="FFFFFF"/>
              </a:buClr>
              <a:buSzPts val="2000"/>
              <a:buFont typeface="Arial"/>
              <a:buAutoNum type="alphaLcParenR"/>
            </a:pPr>
            <a:r>
              <a:rPr b="0" i="1" lang="en-US" sz="2000" u="none" cap="none" strike="noStrike">
                <a:solidFill>
                  <a:srgbClr val="FFFFFF"/>
                </a:solidFill>
                <a:latin typeface="Arial"/>
                <a:ea typeface="Arial"/>
                <a:cs typeface="Arial"/>
                <a:sym typeface="Arial"/>
              </a:rPr>
              <a:t>Directing or Supervising</a:t>
            </a:r>
            <a:endParaRPr/>
          </a:p>
          <a:p>
            <a:pPr indent="-457200" lvl="0" marL="457200" marR="0" rtl="0" algn="l">
              <a:spcBef>
                <a:spcPts val="0"/>
              </a:spcBef>
              <a:spcAft>
                <a:spcPts val="0"/>
              </a:spcAft>
              <a:buClr>
                <a:srgbClr val="FFFFFF"/>
              </a:buClr>
              <a:buSzPts val="2000"/>
              <a:buFont typeface="Arial"/>
              <a:buAutoNum type="alphaLcParenR"/>
            </a:pPr>
            <a:r>
              <a:rPr b="0" i="1" lang="en-US" sz="2000" u="none" cap="none" strike="noStrike">
                <a:solidFill>
                  <a:srgbClr val="FFFFFF"/>
                </a:solidFill>
                <a:latin typeface="Arial"/>
                <a:ea typeface="Arial"/>
                <a:cs typeface="Arial"/>
                <a:sym typeface="Arial"/>
              </a:rPr>
              <a:t>Although there were many reports about the failures in the BOP, there was </a:t>
            </a:r>
            <a:r>
              <a:rPr b="0" i="1" lang="en-US" sz="2000" u="sng" cap="none" strike="noStrike">
                <a:solidFill>
                  <a:srgbClr val="FFFFFF"/>
                </a:solidFill>
                <a:latin typeface="Arial"/>
                <a:ea typeface="Arial"/>
                <a:cs typeface="Arial"/>
                <a:sym typeface="Arial"/>
              </a:rPr>
              <a:t>insufficient management oversight</a:t>
            </a:r>
            <a:r>
              <a:rPr b="0" i="1" lang="en-US" sz="2000" u="none" cap="none" strike="noStrike">
                <a:solidFill>
                  <a:srgbClr val="FFFFFF"/>
                </a:solidFill>
                <a:latin typeface="Arial"/>
                <a:ea typeface="Arial"/>
                <a:cs typeface="Arial"/>
                <a:sym typeface="Arial"/>
              </a:rPr>
              <a:t> (direction and supervision) about i) the possible impacts if there was a blow-out that could not be mitigated, and ii) the appropriate actions to restore the BOP to effective operation or to delay “production” (well completion) until restored.</a:t>
            </a:r>
            <a:endParaRPr/>
          </a:p>
          <a:p>
            <a:pPr indent="-457200" lvl="0" marL="457200" marR="0" rtl="0" algn="l">
              <a:spcBef>
                <a:spcPts val="0"/>
              </a:spcBef>
              <a:spcAft>
                <a:spcPts val="0"/>
              </a:spcAft>
              <a:buClr>
                <a:srgbClr val="FFFFFF"/>
              </a:buClr>
              <a:buSzPts val="2000"/>
              <a:buFont typeface="Arial"/>
              <a:buAutoNum type="alphaLcParenR"/>
            </a:pPr>
            <a:r>
              <a:rPr b="0" i="1" lang="en-US" sz="2000" u="none" cap="none" strike="noStrike">
                <a:solidFill>
                  <a:srgbClr val="FFFFFF"/>
                </a:solidFill>
                <a:latin typeface="Arial"/>
                <a:ea typeface="Arial"/>
                <a:cs typeface="Arial"/>
                <a:sym typeface="Arial"/>
              </a:rPr>
              <a:t>Incident Reporting, Investigation, Analysis, and Actions</a:t>
            </a:r>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Administers the Engineering, Geological And Geophysical Professions Act Of Alberta</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Self governing: APEGA is empowered by the act to govern its members without oversight or intervention by the provincial government. </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Serves </a:t>
            </a:r>
            <a:r>
              <a:rPr b="0" i="0" lang="en-US" sz="2000" u="sng" cap="none" strike="noStrike">
                <a:solidFill>
                  <a:srgbClr val="000000"/>
                </a:solidFill>
                <a:latin typeface="Arial"/>
                <a:ea typeface="Arial"/>
                <a:cs typeface="Arial"/>
                <a:sym typeface="Arial"/>
              </a:rPr>
              <a:t>the public interest</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Ensures high standards of practice</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Ensures only properly qualified people are allowed to practice</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sng" cap="none" strike="noStrike">
                <a:solidFill>
                  <a:srgbClr val="000000"/>
                </a:solidFill>
                <a:latin typeface="Arial"/>
                <a:ea typeface="Arial"/>
                <a:cs typeface="Arial"/>
                <a:sym typeface="Arial"/>
              </a:rPr>
              <a:t>Enforceable code of ethics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As professionals, we have a responsibility under the professional engineers act to </a:t>
            </a:r>
            <a:r>
              <a:rPr b="0" lang="en-US" sz="2000" u="sng">
                <a:solidFill>
                  <a:srgbClr val="000000"/>
                </a:solidFill>
                <a:latin typeface="Arial"/>
                <a:ea typeface="Arial"/>
                <a:cs typeface="Arial"/>
                <a:sym typeface="Arial"/>
              </a:rPr>
              <a:t>perform our roles appropriately and ethically</a:t>
            </a:r>
            <a:r>
              <a:rPr b="0" lang="en-US" sz="2000">
                <a:solidFill>
                  <a:srgbClr val="000000"/>
                </a:solidFill>
                <a:latin typeface="Arial"/>
                <a:ea typeface="Arial"/>
                <a:cs typeface="Arial"/>
                <a:sym typeface="Arial"/>
              </a:rPr>
              <a:t>. </a:t>
            </a:r>
            <a:endParaRPr/>
          </a:p>
        </p:txBody>
      </p:sp>
      <p:sp>
        <p:nvSpPr>
          <p:cNvPr id="143" name="Google Shape;143;p1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Recall: The Role of APEGA</a:t>
            </a:r>
            <a:endParaRPr/>
          </a:p>
        </p:txBody>
      </p:sp>
      <p:sp>
        <p:nvSpPr>
          <p:cNvPr id="144" name="Google Shape;144;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5" name="Google Shape;145;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US" sz="1800">
                <a:solidFill>
                  <a:srgbClr val="000000"/>
                </a:solidFill>
                <a:latin typeface="Arial"/>
                <a:ea typeface="Arial"/>
                <a:cs typeface="Arial"/>
                <a:sym typeface="Arial"/>
              </a:rPr>
              <a:t>Relevant portions of the Act:</a:t>
            </a:r>
            <a:endParaRPr b="1" sz="1800">
              <a:solidFill>
                <a:srgbClr val="000000"/>
              </a:solidFill>
              <a:latin typeface="Arial"/>
              <a:ea typeface="Arial"/>
              <a:cs typeface="Arial"/>
              <a:sym typeface="Arial"/>
            </a:endParaRPr>
          </a:p>
          <a:p>
            <a:pPr indent="-245700" lvl="1" marL="49335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1" lang="en-US" sz="1800">
                <a:solidFill>
                  <a:srgbClr val="000000"/>
                </a:solidFill>
                <a:latin typeface="Arial"/>
                <a:ea typeface="Arial"/>
                <a:cs typeface="Arial"/>
                <a:sym typeface="Arial"/>
              </a:rPr>
              <a:t>2(1): No individual…except a professional engineer … shall engage in the practice of engineering … </a:t>
            </a:r>
            <a:endParaRPr b="0" i="1" sz="1800">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i="1" sz="18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1" lang="en-US" sz="1800">
                <a:solidFill>
                  <a:srgbClr val="000000"/>
                </a:solidFill>
                <a:latin typeface="Arial"/>
                <a:ea typeface="Arial"/>
                <a:cs typeface="Arial"/>
                <a:sym typeface="Arial"/>
              </a:rPr>
              <a:t>3(2): No individual…except a professional engineer….shall affix the stamp or seal of a professional engineer…or allow that stamp, seal or permit number to be affixed to a plan, drawing, detail drawing, specification or other document…unless:</a:t>
            </a:r>
            <a:endParaRPr/>
          </a:p>
          <a:p>
            <a:pPr indent="0" lvl="2" marL="36000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(a) that plan, drawing, detail drawing, specification, other document or reproduction was prepared by or under the supervision and control of, and</a:t>
            </a:r>
            <a:endParaRPr/>
          </a:p>
          <a:p>
            <a:pPr indent="0" lvl="2" marL="36000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(b) the stamp, seal or permit number is affixed with the knowledge and consent or in accordance with the direction of the professional engineer or licensee to whom or the permit holder to which the stamp, seal or permit number was issued.</a:t>
            </a:r>
            <a:endParaRPr b="0" i="1" sz="1800" u="none" cap="none" strike="noStrike">
              <a:solidFill>
                <a:srgbClr val="000000"/>
              </a:solidFill>
              <a:latin typeface="Arial"/>
              <a:ea typeface="Arial"/>
              <a:cs typeface="Arial"/>
              <a:sym typeface="Arial"/>
            </a:endParaRPr>
          </a:p>
          <a:p>
            <a:pPr indent="-495300" lvl="0" marL="609600" marR="0" rtl="0" algn="l">
              <a:lnSpc>
                <a:spcPct val="10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And the APEGA Code of Ethics…</a:t>
            </a:r>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p:txBody>
      </p:sp>
      <p:sp>
        <p:nvSpPr>
          <p:cNvPr id="152" name="Google Shape;152;p1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Revisiting the APEGA Engineering &amp; Geoscience Act</a:t>
            </a:r>
            <a:endParaRPr b="0" sz="2400">
              <a:solidFill>
                <a:srgbClr val="333399"/>
              </a:solidFill>
              <a:latin typeface="Arial"/>
              <a:ea typeface="Arial"/>
              <a:cs typeface="Arial"/>
              <a:sym typeface="Arial"/>
            </a:endParaRPr>
          </a:p>
        </p:txBody>
      </p:sp>
      <p:sp>
        <p:nvSpPr>
          <p:cNvPr id="153" name="Google Shape;153;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4" name="Google Shape;154;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APEGA Code of Ethics – An Excerpt</a:t>
            </a:r>
            <a:endParaRPr/>
          </a:p>
        </p:txBody>
      </p:sp>
      <p:sp>
        <p:nvSpPr>
          <p:cNvPr id="161" name="Google Shape;161;p1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2" name="Google Shape;162;p1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pic>
        <p:nvPicPr>
          <p:cNvPr descr="AB_EGP_CodeofEthics" id="163" name="Google Shape;163;p12"/>
          <p:cNvPicPr preferRelativeResize="0"/>
          <p:nvPr/>
        </p:nvPicPr>
        <p:blipFill rotWithShape="1">
          <a:blip r:embed="rId3">
            <a:alphaModFix/>
          </a:blip>
          <a:srcRect b="0" l="0" r="0" t="0"/>
          <a:stretch/>
        </p:blipFill>
        <p:spPr>
          <a:xfrm>
            <a:off x="2029836" y="914400"/>
            <a:ext cx="6123564" cy="5212080"/>
          </a:xfrm>
          <a:prstGeom prst="rect">
            <a:avLst/>
          </a:prstGeom>
          <a:noFill/>
          <a:ln cap="flat" cmpd="sng" w="9525">
            <a:solidFill>
              <a:srgbClr val="000000"/>
            </a:solidFill>
            <a:prstDash val="solid"/>
            <a:miter lim="800000"/>
            <a:headEnd len="sm" w="sm" type="none"/>
            <a:tailEnd len="sm" w="sm" type="none"/>
          </a:ln>
        </p:spPr>
      </p:pic>
      <p:sp>
        <p:nvSpPr>
          <p:cNvPr id="164" name="Google Shape;164;p12"/>
          <p:cNvSpPr/>
          <p:nvPr/>
        </p:nvSpPr>
        <p:spPr>
          <a:xfrm>
            <a:off x="490596" y="2956290"/>
            <a:ext cx="1600200" cy="693191"/>
          </a:xfrm>
          <a:prstGeom prst="rightArrow">
            <a:avLst>
              <a:gd fmla="val 50000" name="adj1"/>
              <a:gd fmla="val 50000" name="adj2"/>
            </a:avLst>
          </a:prstGeom>
          <a:solidFill>
            <a:srgbClr val="0033CC"/>
          </a:solidFill>
          <a:ln cap="flat" cmpd="sng" w="9525">
            <a:solidFill>
              <a:srgbClr val="00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cap="none" strike="noStrike">
                <a:solidFill>
                  <a:srgbClr val="FFFFFF"/>
                </a:solidFill>
                <a:latin typeface="Times New Roman"/>
                <a:ea typeface="Times New Roman"/>
                <a:cs typeface="Times New Roman"/>
                <a:sym typeface="Times New Roman"/>
              </a:rPr>
              <a:t>Engineering</a:t>
            </a:r>
            <a:endParaRPr/>
          </a:p>
        </p:txBody>
      </p:sp>
      <p:sp>
        <p:nvSpPr>
          <p:cNvPr id="165" name="Google Shape;165;p12"/>
          <p:cNvSpPr/>
          <p:nvPr/>
        </p:nvSpPr>
        <p:spPr>
          <a:xfrm>
            <a:off x="527903" y="3526022"/>
            <a:ext cx="1600200" cy="693191"/>
          </a:xfrm>
          <a:prstGeom prst="rightArrow">
            <a:avLst>
              <a:gd fmla="val 50000" name="adj1"/>
              <a:gd fmla="val 50000" name="adj2"/>
            </a:avLst>
          </a:prstGeom>
          <a:solidFill>
            <a:srgbClr val="0033CC"/>
          </a:solidFill>
          <a:ln cap="flat" cmpd="sng" w="9525">
            <a:solidFill>
              <a:srgbClr val="00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cap="none" strike="noStrike">
                <a:solidFill>
                  <a:srgbClr val="FFFFFF"/>
                </a:solidFill>
                <a:latin typeface="Times New Roman"/>
                <a:ea typeface="Times New Roman"/>
                <a:cs typeface="Times New Roman"/>
                <a:sym typeface="Times New Roman"/>
              </a:rPr>
              <a:t>Flixborough</a:t>
            </a:r>
            <a:endParaRPr b="0" i="0" sz="2000" u="none" cap="none" strike="noStrike">
              <a:solidFill>
                <a:srgbClr val="FFFFFF"/>
              </a:solidFill>
              <a:latin typeface="Times New Roman"/>
              <a:ea typeface="Times New Roman"/>
              <a:cs typeface="Times New Roman"/>
              <a:sym typeface="Times New Roman"/>
            </a:endParaRPr>
          </a:p>
        </p:txBody>
      </p:sp>
      <p:sp>
        <p:nvSpPr>
          <p:cNvPr id="166" name="Google Shape;166;p12"/>
          <p:cNvSpPr/>
          <p:nvPr/>
        </p:nvSpPr>
        <p:spPr>
          <a:xfrm rot="-1173550">
            <a:off x="250371" y="4495800"/>
            <a:ext cx="1910796" cy="1825080"/>
          </a:xfrm>
          <a:prstGeom prst="rightArrow">
            <a:avLst>
              <a:gd fmla="val 50000" name="adj1"/>
              <a:gd fmla="val 50000" name="adj2"/>
            </a:avLst>
          </a:prstGeom>
          <a:solidFill>
            <a:srgbClr val="0033CC"/>
          </a:solidFill>
          <a:ln cap="flat" cmpd="sng" w="9525">
            <a:solidFill>
              <a:srgbClr val="00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000">
                <a:solidFill>
                  <a:srgbClr val="FFFFFF"/>
                </a:solidFill>
                <a:latin typeface="Times New Roman"/>
                <a:ea typeface="Times New Roman"/>
                <a:cs typeface="Times New Roman"/>
                <a:sym typeface="Times New Roman"/>
              </a:rPr>
              <a:t>APEGA Act, </a:t>
            </a:r>
            <a:endParaRPr/>
          </a:p>
          <a:p>
            <a:pPr indent="0" lvl="0" marL="0" marR="0" rtl="0" algn="l">
              <a:spcBef>
                <a:spcPts val="0"/>
              </a:spcBef>
              <a:spcAft>
                <a:spcPts val="0"/>
              </a:spcAft>
              <a:buNone/>
            </a:pPr>
            <a:r>
              <a:rPr b="0" lang="en-US" sz="2000">
                <a:solidFill>
                  <a:srgbClr val="FFFFFF"/>
                </a:solidFill>
                <a:latin typeface="Times New Roman"/>
                <a:ea typeface="Times New Roman"/>
                <a:cs typeface="Times New Roman"/>
                <a:sym typeface="Times New Roman"/>
              </a:rPr>
              <a:t>Provincial Laws</a:t>
            </a:r>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cap="none" strike="noStrike">
                <a:solidFill>
                  <a:srgbClr val="FFFFFF"/>
                </a:solidFill>
                <a:latin typeface="Times New Roman"/>
                <a:ea typeface="Times New Roman"/>
                <a:cs typeface="Times New Roman"/>
                <a:sym typeface="Times New Roman"/>
              </a:rPr>
              <a:t>MMA RW</a:t>
            </a:r>
            <a:r>
              <a:rPr b="0" i="0" lang="en-US" sz="2000" u="none" cap="none" strike="noStrike">
                <a:solidFill>
                  <a:srgbClr val="FFFFFF"/>
                </a:solidFill>
                <a:latin typeface="Times New Roman"/>
                <a:ea typeface="Times New Roman"/>
                <a:cs typeface="Times New Roman"/>
                <a:sym typeface="Times New Roman"/>
              </a:rPr>
              <a:t> LI</a:t>
            </a:r>
            <a:endParaRPr b="0" i="0" sz="2000" u="none" cap="none" strike="noStrike">
              <a:solidFill>
                <a:srgbClr val="FFFFFF"/>
              </a:solidFill>
              <a:latin typeface="Times New Roman"/>
              <a:ea typeface="Times New Roman"/>
              <a:cs typeface="Times New Roman"/>
              <a:sym typeface="Times New Roman"/>
            </a:endParaRPr>
          </a:p>
        </p:txBody>
      </p:sp>
      <p:sp>
        <p:nvSpPr>
          <p:cNvPr id="167" name="Google Shape;167;p12"/>
          <p:cNvSpPr/>
          <p:nvPr/>
        </p:nvSpPr>
        <p:spPr>
          <a:xfrm>
            <a:off x="2090796" y="4206240"/>
            <a:ext cx="6062604" cy="640080"/>
          </a:xfrm>
          <a:prstGeom prst="roundRect">
            <a:avLst>
              <a:gd fmla="val 16667" name="adj"/>
            </a:avLst>
          </a:prstGeom>
          <a:noFill/>
          <a:ln cap="flat" cmpd="sng" w="5715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68" name="Google Shape;168;p12"/>
          <p:cNvSpPr/>
          <p:nvPr/>
        </p:nvSpPr>
        <p:spPr>
          <a:xfrm>
            <a:off x="433050" y="4115118"/>
            <a:ext cx="1600200" cy="693191"/>
          </a:xfrm>
          <a:prstGeom prst="right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000"/>
              <a:buFont typeface="Times New Roman"/>
              <a:buNone/>
            </a:pPr>
            <a:r>
              <a:rPr b="0" i="1" lang="en-US" sz="2000" u="none" cap="none" strike="noStrike">
                <a:solidFill>
                  <a:srgbClr val="FFFFFF"/>
                </a:solidFill>
                <a:latin typeface="Times New Roman"/>
                <a:ea typeface="Times New Roman"/>
                <a:cs typeface="Times New Roman"/>
                <a:sym typeface="Times New Roman"/>
              </a:rPr>
              <a:t>Discuss</a:t>
            </a:r>
            <a:endParaRPr b="0" i="1" sz="20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Without due care and diligence, our </a:t>
            </a:r>
            <a:r>
              <a:rPr b="0" lang="en-US" sz="2000" u="sng">
                <a:solidFill>
                  <a:srgbClr val="000000"/>
                </a:solidFill>
                <a:latin typeface="Arial"/>
                <a:ea typeface="Arial"/>
                <a:cs typeface="Arial"/>
                <a:sym typeface="Arial"/>
              </a:rPr>
              <a:t>professionalism and ethics</a:t>
            </a:r>
            <a:r>
              <a:rPr b="0" lang="en-US" sz="2000">
                <a:solidFill>
                  <a:srgbClr val="000000"/>
                </a:solidFill>
                <a:latin typeface="Arial"/>
                <a:ea typeface="Arial"/>
                <a:cs typeface="Arial"/>
                <a:sym typeface="Arial"/>
              </a:rPr>
              <a:t>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could be called into question!</a:t>
            </a:r>
            <a:endParaRPr/>
          </a:p>
          <a:p>
            <a:pPr indent="-359999" lvl="2"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No one wants this to happen in their careers.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Cases of alleged professional misconduct, unethical behaviours, incompetence, negligence, corruption, have lead to investigations and charges against professional engineers.</a:t>
            </a:r>
            <a:endParaRPr/>
          </a:p>
          <a:p>
            <a:pPr indent="-359999" lvl="2"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Such actions are far from the standards of professionalism, ethics, integrity and avoidance of conflict of interest that the public and our profession demand of its members.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lang="en-US" sz="2000">
                <a:solidFill>
                  <a:srgbClr val="000000"/>
                </a:solidFill>
                <a:latin typeface="Arial"/>
                <a:ea typeface="Arial"/>
                <a:cs typeface="Arial"/>
                <a:sym typeface="Arial"/>
              </a:rPr>
              <a:t>At stake: </a:t>
            </a:r>
            <a:r>
              <a:rPr b="0" lang="en-US" sz="2000" u="sng">
                <a:solidFill>
                  <a:srgbClr val="000000"/>
                </a:solidFill>
                <a:latin typeface="Arial"/>
                <a:ea typeface="Arial"/>
                <a:cs typeface="Arial"/>
                <a:sym typeface="Arial"/>
              </a:rPr>
              <a:t>our</a:t>
            </a:r>
            <a:r>
              <a:rPr b="0" lang="en-US" sz="2000">
                <a:solidFill>
                  <a:srgbClr val="000000"/>
                </a:solidFill>
                <a:latin typeface="Arial"/>
                <a:ea typeface="Arial"/>
                <a:cs typeface="Arial"/>
                <a:sym typeface="Arial"/>
              </a:rPr>
              <a:t> reputation, </a:t>
            </a:r>
            <a:r>
              <a:rPr b="0" lang="en-US" sz="2000" u="sng">
                <a:solidFill>
                  <a:srgbClr val="000000"/>
                </a:solidFill>
                <a:latin typeface="Arial"/>
                <a:ea typeface="Arial"/>
                <a:cs typeface="Arial"/>
                <a:sym typeface="Arial"/>
              </a:rPr>
              <a:t>our</a:t>
            </a:r>
            <a:r>
              <a:rPr b="0" lang="en-US" sz="2000">
                <a:solidFill>
                  <a:srgbClr val="000000"/>
                </a:solidFill>
                <a:latin typeface="Arial"/>
                <a:ea typeface="Arial"/>
                <a:cs typeface="Arial"/>
                <a:sym typeface="Arial"/>
              </a:rPr>
              <a:t> credibility, </a:t>
            </a:r>
            <a:r>
              <a:rPr b="0" lang="en-US" sz="2000" u="sng">
                <a:solidFill>
                  <a:srgbClr val="000000"/>
                </a:solidFill>
                <a:latin typeface="Arial"/>
                <a:ea typeface="Arial"/>
                <a:cs typeface="Arial"/>
                <a:sym typeface="Arial"/>
              </a:rPr>
              <a:t>our</a:t>
            </a:r>
            <a:r>
              <a:rPr b="0" lang="en-US" sz="2000">
                <a:solidFill>
                  <a:srgbClr val="000000"/>
                </a:solidFill>
                <a:latin typeface="Arial"/>
                <a:ea typeface="Arial"/>
                <a:cs typeface="Arial"/>
                <a:sym typeface="Arial"/>
              </a:rPr>
              <a:t> career, and </a:t>
            </a:r>
            <a:br>
              <a:rPr b="0" lang="en-US" sz="2000">
                <a:solidFill>
                  <a:srgbClr val="000000"/>
                </a:solidFill>
                <a:latin typeface="Arial"/>
                <a:ea typeface="Arial"/>
                <a:cs typeface="Arial"/>
                <a:sym typeface="Arial"/>
              </a:rPr>
            </a:br>
            <a:r>
              <a:rPr b="0" lang="en-US" sz="2000" u="sng">
                <a:solidFill>
                  <a:srgbClr val="000000"/>
                </a:solidFill>
                <a:latin typeface="Arial"/>
                <a:ea typeface="Arial"/>
                <a:cs typeface="Arial"/>
                <a:sym typeface="Arial"/>
              </a:rPr>
              <a:t>our</a:t>
            </a:r>
            <a:r>
              <a:rPr b="0" lang="en-US" sz="2000">
                <a:solidFill>
                  <a:srgbClr val="000000"/>
                </a:solidFill>
                <a:latin typeface="Arial"/>
                <a:ea typeface="Arial"/>
                <a:cs typeface="Arial"/>
                <a:sym typeface="Arial"/>
              </a:rPr>
              <a:t> ability to work in the profession.</a:t>
            </a:r>
            <a:endParaRPr/>
          </a:p>
        </p:txBody>
      </p:sp>
      <p:sp>
        <p:nvSpPr>
          <p:cNvPr id="175" name="Google Shape;175;p1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Why Professionalism and Ethics in Engineering?</a:t>
            </a:r>
            <a:endParaRPr/>
          </a:p>
        </p:txBody>
      </p:sp>
      <p:sp>
        <p:nvSpPr>
          <p:cNvPr id="176" name="Google Shape;176;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7" name="Google Shape;177;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F8F8F8"/>
                </a:solidFill>
                <a:latin typeface="Arial"/>
                <a:ea typeface="Arial"/>
                <a:cs typeface="Arial"/>
                <a:sym typeface="Arial"/>
              </a:rPr>
              <a:t>Example: Consider this Case (Actual 2018 Case)</a:t>
            </a:r>
            <a:endParaRPr b="0" sz="2400">
              <a:solidFill>
                <a:srgbClr val="F8F8F8"/>
              </a:solidFill>
              <a:latin typeface="Arial"/>
              <a:ea typeface="Arial"/>
              <a:cs typeface="Arial"/>
              <a:sym typeface="Arial"/>
            </a:endParaRPr>
          </a:p>
        </p:txBody>
      </p:sp>
      <p:sp>
        <p:nvSpPr>
          <p:cNvPr id="187" name="Google Shape;187;p14"/>
          <p:cNvSpPr/>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0" lang="en-US" sz="1200">
                <a:solidFill>
                  <a:srgbClr val="F8F8F8"/>
                </a:solidFill>
                <a:latin typeface="Arial"/>
                <a:ea typeface="Arial"/>
                <a:cs typeface="Arial"/>
                <a:sym typeface="Arial"/>
              </a:rPr>
              <a:t>Mr. Smith, a mechanical engineer registered as a Professional Engineer (P.Eng.) in Alberta, allowed permitted documents to be authenticated by an EIT (Engineer in Training). The EIT stated that she had an agreement with Mr. Smith from 2007 to 2017 to apply his “electronic stamp and signature to professional documents” and send numerous structural/civil design plans to a custom home builder without Mr. Smith having to conduct a review. </a:t>
            </a:r>
            <a:endParaRPr b="0" sz="1200">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t/>
            </a:r>
            <a:endParaRPr b="0" sz="1600">
              <a:solidFill>
                <a:srgbClr val="F8F8F8"/>
              </a:solidFill>
              <a:latin typeface="Arial"/>
              <a:ea typeface="Arial"/>
              <a:cs typeface="Arial"/>
              <a:sym typeface="Arial"/>
            </a:endParaRPr>
          </a:p>
          <a:p>
            <a:pPr indent="0" lvl="0" marL="0" marR="0" rtl="0" algn="l">
              <a:lnSpc>
                <a:spcPct val="90000"/>
              </a:lnSpc>
              <a:spcBef>
                <a:spcPts val="0"/>
              </a:spcBef>
              <a:spcAft>
                <a:spcPts val="0"/>
              </a:spcAft>
              <a:buNone/>
            </a:pPr>
            <a:r>
              <a:rPr b="0" lang="en-US" sz="1600">
                <a:solidFill>
                  <a:srgbClr val="F8F8F8"/>
                </a:solidFill>
                <a:latin typeface="Arial"/>
                <a:ea typeface="Arial"/>
                <a:cs typeface="Arial"/>
                <a:sym typeface="Arial"/>
              </a:rPr>
              <a:t>The Code of Ethics Rules of Conduct that were breached in this case are 1 through 4, and in consideration of both Mr. Smith and the EIT:</a:t>
            </a:r>
            <a:endParaRPr/>
          </a:p>
          <a:p>
            <a:pPr indent="-457200" lvl="0" marL="457200" marR="0" rtl="0" algn="l">
              <a:lnSpc>
                <a:spcPct val="90000"/>
              </a:lnSpc>
              <a:spcBef>
                <a:spcPts val="0"/>
              </a:spcBef>
              <a:spcAft>
                <a:spcPts val="0"/>
              </a:spcAft>
              <a:buClr>
                <a:srgbClr val="F8F8F8"/>
              </a:buClr>
              <a:buSzPts val="1600"/>
              <a:buFont typeface="Arial"/>
              <a:buAutoNum type="arabicParenR"/>
            </a:pPr>
            <a:r>
              <a:rPr b="0" lang="en-US" sz="1600">
                <a:solidFill>
                  <a:srgbClr val="F8F8F8"/>
                </a:solidFill>
                <a:latin typeface="Arial"/>
                <a:ea typeface="Arial"/>
                <a:cs typeface="Arial"/>
                <a:sym typeface="Arial"/>
              </a:rPr>
              <a:t>Without reviews of the structure by the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P.Eng., the design could be deficient and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could collapse; thus both the P.Eng. and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EIT did not hold paramount public safety.</a:t>
            </a:r>
            <a:endParaRPr/>
          </a:p>
          <a:p>
            <a:pPr indent="-457200" lvl="0" marL="457200" marR="0" rtl="0" algn="l">
              <a:lnSpc>
                <a:spcPct val="90000"/>
              </a:lnSpc>
              <a:spcBef>
                <a:spcPts val="0"/>
              </a:spcBef>
              <a:spcAft>
                <a:spcPts val="0"/>
              </a:spcAft>
              <a:buClr>
                <a:srgbClr val="F8F8F8"/>
              </a:buClr>
              <a:buSzPts val="1600"/>
              <a:buFont typeface="Arial"/>
              <a:buAutoNum type="arabicParenR"/>
            </a:pPr>
            <a:r>
              <a:rPr b="0" lang="en-US" sz="1600">
                <a:solidFill>
                  <a:srgbClr val="F8F8F8"/>
                </a:solidFill>
                <a:latin typeface="Arial"/>
                <a:ea typeface="Arial"/>
                <a:cs typeface="Arial"/>
                <a:sym typeface="Arial"/>
              </a:rPr>
              <a:t>The mechanical engineer is working on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civil/structural engineering plans, outside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their scope of competency. The EIT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undertook work for which they are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not recognized as being competent.</a:t>
            </a:r>
            <a:endParaRPr/>
          </a:p>
          <a:p>
            <a:pPr indent="-457200" lvl="0" marL="457200" marR="0" rtl="0" algn="l">
              <a:lnSpc>
                <a:spcPct val="90000"/>
              </a:lnSpc>
              <a:spcBef>
                <a:spcPts val="0"/>
              </a:spcBef>
              <a:spcAft>
                <a:spcPts val="0"/>
              </a:spcAft>
              <a:buClr>
                <a:srgbClr val="F8F8F8"/>
              </a:buClr>
              <a:buSzPts val="1600"/>
              <a:buFont typeface="Arial"/>
              <a:buAutoNum type="arabicParenR"/>
            </a:pPr>
            <a:r>
              <a:rPr b="0" lang="en-US" sz="1600">
                <a:solidFill>
                  <a:srgbClr val="F8F8F8"/>
                </a:solidFill>
                <a:latin typeface="Arial"/>
                <a:ea typeface="Arial"/>
                <a:cs typeface="Arial"/>
                <a:sym typeface="Arial"/>
              </a:rPr>
              <a:t>Both the P.Eng. And the EIT are misleading,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perhaps deceiving the clients that the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documents were authenticated by Mr. Smith,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which they were not. </a:t>
            </a:r>
            <a:endParaRPr/>
          </a:p>
          <a:p>
            <a:pPr indent="-457200" lvl="0" marL="457200" marR="0" rtl="0" algn="l">
              <a:lnSpc>
                <a:spcPct val="90000"/>
              </a:lnSpc>
              <a:spcBef>
                <a:spcPts val="0"/>
              </a:spcBef>
              <a:spcAft>
                <a:spcPts val="0"/>
              </a:spcAft>
              <a:buClr>
                <a:srgbClr val="F8F8F8"/>
              </a:buClr>
              <a:buSzPts val="1600"/>
              <a:buFont typeface="Arial"/>
              <a:buAutoNum type="arabicParenR"/>
            </a:pPr>
            <a:r>
              <a:rPr b="0" lang="en-US" sz="1600">
                <a:solidFill>
                  <a:srgbClr val="F8F8F8"/>
                </a:solidFill>
                <a:latin typeface="Arial"/>
                <a:ea typeface="Arial"/>
                <a:cs typeface="Arial"/>
                <a:sym typeface="Arial"/>
              </a:rPr>
              <a:t>Neither the P.Eng.  nor the EIT complied </a:t>
            </a:r>
            <a:br>
              <a:rPr b="0" lang="en-US" sz="1600">
                <a:solidFill>
                  <a:srgbClr val="F8F8F8"/>
                </a:solidFill>
                <a:latin typeface="Arial"/>
                <a:ea typeface="Arial"/>
                <a:cs typeface="Arial"/>
                <a:sym typeface="Arial"/>
              </a:rPr>
            </a:br>
            <a:r>
              <a:rPr b="0" lang="en-US" sz="1600">
                <a:solidFill>
                  <a:srgbClr val="F8F8F8"/>
                </a:solidFill>
                <a:latin typeface="Arial"/>
                <a:ea typeface="Arial"/>
                <a:cs typeface="Arial"/>
                <a:sym typeface="Arial"/>
              </a:rPr>
              <a:t>with requirements of The Act:</a:t>
            </a:r>
            <a:br>
              <a:rPr b="0" lang="en-US" sz="1600">
                <a:solidFill>
                  <a:srgbClr val="F8F8F8"/>
                </a:solidFill>
                <a:latin typeface="Arial"/>
                <a:ea typeface="Arial"/>
                <a:cs typeface="Arial"/>
                <a:sym typeface="Arial"/>
              </a:rPr>
            </a:br>
            <a:r>
              <a:rPr b="0" i="1" lang="en-US" sz="1600">
                <a:solidFill>
                  <a:srgbClr val="F8F8F8"/>
                </a:solidFill>
                <a:latin typeface="Arial"/>
                <a:ea typeface="Arial"/>
                <a:cs typeface="Arial"/>
                <a:sym typeface="Arial"/>
              </a:rPr>
              <a:t>3(2): No individual…except a professional </a:t>
            </a:r>
            <a:br>
              <a:rPr b="0" i="1" lang="en-US" sz="1600">
                <a:solidFill>
                  <a:srgbClr val="F8F8F8"/>
                </a:solidFill>
                <a:latin typeface="Arial"/>
                <a:ea typeface="Arial"/>
                <a:cs typeface="Arial"/>
                <a:sym typeface="Arial"/>
              </a:rPr>
            </a:br>
            <a:r>
              <a:rPr b="0" i="1" lang="en-US" sz="1600">
                <a:solidFill>
                  <a:srgbClr val="F8F8F8"/>
                </a:solidFill>
                <a:latin typeface="Arial"/>
                <a:ea typeface="Arial"/>
                <a:cs typeface="Arial"/>
                <a:sym typeface="Arial"/>
              </a:rPr>
              <a:t>engineer….shall affix the stamp or seal of a </a:t>
            </a:r>
            <a:br>
              <a:rPr b="0" i="1" lang="en-US" sz="1600">
                <a:solidFill>
                  <a:srgbClr val="F8F8F8"/>
                </a:solidFill>
                <a:latin typeface="Arial"/>
                <a:ea typeface="Arial"/>
                <a:cs typeface="Arial"/>
                <a:sym typeface="Arial"/>
              </a:rPr>
            </a:br>
            <a:r>
              <a:rPr b="0" i="1" lang="en-US" sz="1600">
                <a:solidFill>
                  <a:srgbClr val="F8F8F8"/>
                </a:solidFill>
                <a:latin typeface="Arial"/>
                <a:ea typeface="Arial"/>
                <a:cs typeface="Arial"/>
                <a:sym typeface="Arial"/>
              </a:rPr>
              <a:t>professional engineer…or allow that stamp…</a:t>
            </a:r>
            <a:r>
              <a:rPr b="0" lang="en-US" sz="1600">
                <a:solidFill>
                  <a:srgbClr val="F8F8F8"/>
                </a:solidFill>
                <a:latin typeface="Arial"/>
                <a:ea typeface="Arial"/>
                <a:cs typeface="Arial"/>
                <a:sym typeface="Arial"/>
              </a:rPr>
              <a:t> </a:t>
            </a:r>
            <a:endParaRPr b="0" sz="1600">
              <a:solidFill>
                <a:srgbClr val="F8F8F8"/>
              </a:solidFill>
              <a:latin typeface="Arial"/>
              <a:ea typeface="Arial"/>
              <a:cs typeface="Arial"/>
              <a:sym typeface="Arial"/>
            </a:endParaRPr>
          </a:p>
        </p:txBody>
      </p:sp>
      <p:sp>
        <p:nvSpPr>
          <p:cNvPr id="188" name="Google Shape;188;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9" name="Google Shape;189;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190" name="Google Shape;190;p14"/>
          <p:cNvSpPr txBox="1"/>
          <p:nvPr/>
        </p:nvSpPr>
        <p:spPr>
          <a:xfrm>
            <a:off x="4871485" y="2133600"/>
            <a:ext cx="3920650" cy="378565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sng">
                <a:solidFill>
                  <a:srgbClr val="0000CC"/>
                </a:solidFill>
                <a:latin typeface="Arial"/>
                <a:ea typeface="Arial"/>
                <a:cs typeface="Arial"/>
                <a:sym typeface="Arial"/>
              </a:rPr>
              <a:t>Code of Ethics</a:t>
            </a:r>
            <a:r>
              <a:rPr b="0" i="1" lang="en-US" sz="1600">
                <a:solidFill>
                  <a:srgbClr val="0000CC"/>
                </a:solidFill>
                <a:latin typeface="Arial"/>
                <a:ea typeface="Arial"/>
                <a:cs typeface="Arial"/>
                <a:sym typeface="Arial"/>
              </a:rPr>
              <a:t> states “Professional Engineers shall:</a:t>
            </a:r>
            <a:endParaRPr/>
          </a:p>
          <a:p>
            <a:pPr indent="0" lvl="0" marL="0" marR="0" rtl="0" algn="l">
              <a:spcBef>
                <a:spcPts val="0"/>
              </a:spcBef>
              <a:spcAft>
                <a:spcPts val="0"/>
              </a:spcAft>
              <a:buNone/>
            </a:pPr>
            <a:r>
              <a:rPr b="0" i="1" lang="en-US" sz="1600">
                <a:solidFill>
                  <a:srgbClr val="0000CC"/>
                </a:solidFill>
                <a:latin typeface="Arial"/>
                <a:ea typeface="Arial"/>
                <a:cs typeface="Arial"/>
                <a:sym typeface="Arial"/>
              </a:rPr>
              <a:t>1. in their areas of practice, hold paramount the health, safety and welfare of the public and have regard for the environment.</a:t>
            </a:r>
            <a:endParaRPr/>
          </a:p>
          <a:p>
            <a:pPr indent="0" lvl="0" marL="0" marR="0" rtl="0" algn="l">
              <a:spcBef>
                <a:spcPts val="0"/>
              </a:spcBef>
              <a:spcAft>
                <a:spcPts val="0"/>
              </a:spcAft>
              <a:buNone/>
            </a:pPr>
            <a:r>
              <a:rPr b="0" i="1" lang="en-US" sz="1600">
                <a:solidFill>
                  <a:srgbClr val="0000CC"/>
                </a:solidFill>
                <a:latin typeface="Arial"/>
                <a:ea typeface="Arial"/>
                <a:cs typeface="Arial"/>
                <a:sym typeface="Arial"/>
              </a:rPr>
              <a:t>2. undertake only work that they are competent to perform by virtue of their training and experience.</a:t>
            </a:r>
            <a:endParaRPr/>
          </a:p>
          <a:p>
            <a:pPr indent="0" lvl="0" marL="0" marR="0" rtl="0" algn="l">
              <a:spcBef>
                <a:spcPts val="0"/>
              </a:spcBef>
              <a:spcAft>
                <a:spcPts val="0"/>
              </a:spcAft>
              <a:buNone/>
            </a:pPr>
            <a:r>
              <a:rPr b="0" i="1" lang="en-US" sz="1600">
                <a:solidFill>
                  <a:srgbClr val="0000CC"/>
                </a:solidFill>
                <a:latin typeface="Arial"/>
                <a:ea typeface="Arial"/>
                <a:cs typeface="Arial"/>
                <a:sym typeface="Arial"/>
              </a:rPr>
              <a:t>3. conduct themselves with integrity, honesty, fairness and objectivity in their professional activities.</a:t>
            </a:r>
            <a:endParaRPr/>
          </a:p>
          <a:p>
            <a:pPr indent="0" lvl="0" marL="0" marR="0" rtl="0" algn="l">
              <a:spcBef>
                <a:spcPts val="0"/>
              </a:spcBef>
              <a:spcAft>
                <a:spcPts val="0"/>
              </a:spcAft>
              <a:buNone/>
            </a:pPr>
            <a:r>
              <a:rPr b="0" i="1" lang="en-US" sz="1600">
                <a:solidFill>
                  <a:srgbClr val="0000CC"/>
                </a:solidFill>
                <a:latin typeface="Arial"/>
                <a:ea typeface="Arial"/>
                <a:cs typeface="Arial"/>
                <a:sym typeface="Arial"/>
              </a:rPr>
              <a:t>4. comply with applicable statutes, regulations and bylaws in their professional practices.”</a:t>
            </a:r>
            <a:endParaRPr b="0" i="1" sz="1600">
              <a:solidFill>
                <a:srgbClr val="0000CC"/>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Revisit: “… </a:t>
            </a:r>
            <a:r>
              <a:rPr b="0" i="1" lang="en-US" sz="2000">
                <a:solidFill>
                  <a:srgbClr val="000000"/>
                </a:solidFill>
                <a:latin typeface="Arial"/>
                <a:ea typeface="Arial"/>
                <a:cs typeface="Arial"/>
                <a:sym typeface="Arial"/>
              </a:rPr>
              <a:t>that concerns the </a:t>
            </a:r>
            <a:r>
              <a:rPr b="0" i="1" lang="en-US" sz="2000" u="sng">
                <a:solidFill>
                  <a:srgbClr val="000000"/>
                </a:solidFill>
                <a:latin typeface="Arial"/>
                <a:ea typeface="Arial"/>
                <a:cs typeface="Arial"/>
                <a:sym typeface="Arial"/>
              </a:rPr>
              <a:t>safeguarding</a:t>
            </a:r>
            <a:r>
              <a:rPr b="0" i="1" lang="en-US" sz="2000">
                <a:solidFill>
                  <a:srgbClr val="000000"/>
                </a:solidFill>
                <a:latin typeface="Arial"/>
                <a:ea typeface="Arial"/>
                <a:cs typeface="Arial"/>
                <a:sym typeface="Arial"/>
              </a:rPr>
              <a:t> of life, health, </a:t>
            </a:r>
            <a:r>
              <a:rPr b="0" i="1" lang="en-US" sz="2000" u="sng">
                <a:solidFill>
                  <a:srgbClr val="000000"/>
                </a:solidFill>
                <a:latin typeface="Arial"/>
                <a:ea typeface="Arial"/>
                <a:cs typeface="Arial"/>
                <a:sym typeface="Arial"/>
              </a:rPr>
              <a:t>property, economic interests</a:t>
            </a:r>
            <a:r>
              <a:rPr b="0" i="1" lang="en-US" sz="2000">
                <a:solidFill>
                  <a:srgbClr val="000000"/>
                </a:solidFill>
                <a:latin typeface="Arial"/>
                <a:ea typeface="Arial"/>
                <a:cs typeface="Arial"/>
                <a:sym typeface="Arial"/>
              </a:rPr>
              <a:t>, the public welfare or the environment</a:t>
            </a:r>
            <a:r>
              <a:rPr b="0" lang="en-US" sz="2000">
                <a:solidFill>
                  <a:srgbClr val="000000"/>
                </a:solidFill>
                <a:latin typeface="Arial"/>
                <a:ea typeface="Arial"/>
                <a:cs typeface="Arial"/>
                <a:sym typeface="Arial"/>
              </a:rPr>
              <a: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 “Safeguarding” means “the protection of”</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“Economic interests” means: </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A&amp;P part of </a:t>
            </a:r>
            <a:r>
              <a:rPr b="1" lang="en-US" sz="2000">
                <a:solidFill>
                  <a:srgbClr val="000000"/>
                </a:solidFill>
                <a:latin typeface="Arial"/>
                <a:ea typeface="Arial"/>
                <a:cs typeface="Arial"/>
                <a:sym typeface="Arial"/>
              </a:rPr>
              <a:t>PEAP</a:t>
            </a:r>
            <a:r>
              <a:rPr b="0" lang="en-US" sz="2000">
                <a:solidFill>
                  <a:srgbClr val="000000"/>
                </a:solidFill>
                <a:latin typeface="Arial"/>
                <a:ea typeface="Arial"/>
                <a:cs typeface="Arial"/>
                <a:sym typeface="Arial"/>
              </a:rPr>
              <a:t> - assets and production / productive capacity</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Business interests</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funds and resources (including confidential </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information and data) entrusted to us. </a:t>
            </a:r>
            <a:endParaRPr/>
          </a:p>
        </p:txBody>
      </p:sp>
      <p:sp>
        <p:nvSpPr>
          <p:cNvPr id="197" name="Google Shape;197;p1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Revisit the Definition of Professional Engineering:</a:t>
            </a:r>
            <a:endParaRPr/>
          </a:p>
        </p:txBody>
      </p:sp>
      <p:sp>
        <p:nvSpPr>
          <p:cNvPr id="198" name="Google Shape;198;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9" name="Google Shape;199;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a:t>
            </a:r>
            <a:r>
              <a:rPr b="0" lang="en-US" sz="2000" u="sng">
                <a:solidFill>
                  <a:srgbClr val="000000"/>
                </a:solidFill>
                <a:latin typeface="Arial"/>
                <a:ea typeface="Arial"/>
                <a:cs typeface="Arial"/>
                <a:sym typeface="Arial"/>
              </a:rPr>
              <a:t>manner</a:t>
            </a:r>
            <a:r>
              <a:rPr b="0" lang="en-US" sz="2000">
                <a:solidFill>
                  <a:srgbClr val="000000"/>
                </a:solidFill>
                <a:latin typeface="Arial"/>
                <a:ea typeface="Arial"/>
                <a:cs typeface="Arial"/>
                <a:sym typeface="Arial"/>
              </a:rPr>
              <a:t> in which we manage those resources and </a:t>
            </a:r>
            <a:r>
              <a:rPr b="0" lang="en-US" sz="2000" u="sng">
                <a:solidFill>
                  <a:srgbClr val="000000"/>
                </a:solidFill>
                <a:latin typeface="Arial"/>
                <a:ea typeface="Arial"/>
                <a:cs typeface="Arial"/>
                <a:sym typeface="Arial"/>
              </a:rPr>
              <a:t>the decisions we make</a:t>
            </a:r>
            <a:r>
              <a:rPr b="0" lang="en-US" sz="2000">
                <a:solidFill>
                  <a:srgbClr val="000000"/>
                </a:solidFill>
                <a:latin typeface="Arial"/>
                <a:ea typeface="Arial"/>
                <a:cs typeface="Arial"/>
                <a:sym typeface="Arial"/>
              </a:rPr>
              <a:t> concerning those funds are fundamentally based on </a:t>
            </a:r>
            <a:r>
              <a:rPr b="0" lang="en-US" sz="2000" u="sng">
                <a:solidFill>
                  <a:srgbClr val="000000"/>
                </a:solidFill>
                <a:latin typeface="Arial"/>
                <a:ea typeface="Arial"/>
                <a:cs typeface="Arial"/>
                <a:sym typeface="Arial"/>
              </a:rPr>
              <a:t>our values</a:t>
            </a:r>
            <a:r>
              <a:rPr b="0" lang="en-US" sz="2000">
                <a:solidFill>
                  <a:srgbClr val="000000"/>
                </a:solidFill>
                <a:latin typeface="Arial"/>
                <a:ea typeface="Arial"/>
                <a:cs typeface="Arial"/>
                <a:sym typeface="Arial"/>
              </a:rPr>
              <a:t>.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Revisit this thought experiment … a lesson in “values”:</a:t>
            </a:r>
            <a:br>
              <a:rPr b="0" lang="en-US" sz="2000">
                <a:solidFill>
                  <a:srgbClr val="000000"/>
                </a:solidFill>
                <a:latin typeface="Arial"/>
                <a:ea typeface="Arial"/>
                <a:cs typeface="Arial"/>
                <a:sym typeface="Arial"/>
              </a:rPr>
            </a:br>
            <a:r>
              <a:rPr b="0" i="1" lang="en-US" sz="2000">
                <a:solidFill>
                  <a:srgbClr val="000000"/>
                </a:solidFill>
                <a:latin typeface="Arial"/>
                <a:ea typeface="Arial"/>
                <a:cs typeface="Arial"/>
                <a:sym typeface="Arial"/>
              </a:rPr>
              <a:t>“you are walking the down the hall-way …”</a:t>
            </a:r>
            <a:br>
              <a:rPr b="0" i="1" lang="en-US" sz="2000">
                <a:solidFill>
                  <a:srgbClr val="000000"/>
                </a:solidFill>
                <a:latin typeface="Arial"/>
                <a:ea typeface="Arial"/>
                <a:cs typeface="Arial"/>
                <a:sym typeface="Arial"/>
              </a:rPr>
            </a:br>
            <a:endParaRPr b="0" i="1"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lang="en-US" sz="2000" u="sng">
                <a:solidFill>
                  <a:srgbClr val="000000"/>
                </a:solidFill>
                <a:latin typeface="Arial"/>
                <a:ea typeface="Arial"/>
                <a:cs typeface="Arial"/>
                <a:sym typeface="Arial"/>
              </a:rPr>
              <a:t>Our values drive our decisions!</a:t>
            </a:r>
            <a:endParaRPr/>
          </a:p>
        </p:txBody>
      </p:sp>
      <p:sp>
        <p:nvSpPr>
          <p:cNvPr id="206" name="Google Shape;206;p1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Revisit the Definition of Professional Engineering:</a:t>
            </a:r>
            <a:endParaRPr/>
          </a:p>
        </p:txBody>
      </p:sp>
      <p:sp>
        <p:nvSpPr>
          <p:cNvPr id="207" name="Google Shape;207;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08" name="Google Shape;208;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pic>
        <p:nvPicPr>
          <p:cNvPr id="209" name="Google Shape;209;p16"/>
          <p:cNvPicPr preferRelativeResize="0"/>
          <p:nvPr/>
        </p:nvPicPr>
        <p:blipFill rotWithShape="1">
          <a:blip r:embed="rId3">
            <a:alphaModFix/>
          </a:blip>
          <a:srcRect b="0" l="0" r="0" t="0"/>
          <a:stretch/>
        </p:blipFill>
        <p:spPr>
          <a:xfrm>
            <a:off x="1219200" y="2971800"/>
            <a:ext cx="4703491" cy="2216912"/>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We may be </a:t>
            </a:r>
            <a:r>
              <a:rPr b="0" lang="en-US" sz="2000" u="sng">
                <a:solidFill>
                  <a:srgbClr val="000000"/>
                </a:solidFill>
                <a:latin typeface="Arial"/>
                <a:ea typeface="Arial"/>
                <a:cs typeface="Arial"/>
                <a:sym typeface="Arial"/>
              </a:rPr>
              <a:t>entrusted with sensitive (confidential, proprietary, private, personal) information</a:t>
            </a:r>
            <a:r>
              <a:rPr b="0" lang="en-US" sz="2000">
                <a:solidFill>
                  <a:srgbClr val="000000"/>
                </a:solidFill>
                <a:latin typeface="Arial"/>
                <a:ea typeface="Arial"/>
                <a:cs typeface="Arial"/>
                <a:sym typeface="Arial"/>
              </a:rPr>
              <a:t> that could give an unfair advantage to one party over another.</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This </a:t>
            </a:r>
            <a:r>
              <a:rPr b="0" lang="en-US" sz="2000" u="sng">
                <a:solidFill>
                  <a:srgbClr val="000000"/>
                </a:solidFill>
                <a:latin typeface="Arial"/>
                <a:ea typeface="Arial"/>
                <a:cs typeface="Arial"/>
                <a:sym typeface="Arial"/>
              </a:rPr>
              <a:t>unfair advantage</a:t>
            </a:r>
            <a:r>
              <a:rPr b="0" lang="en-US" sz="2000">
                <a:solidFill>
                  <a:srgbClr val="000000"/>
                </a:solidFill>
                <a:latin typeface="Arial"/>
                <a:ea typeface="Arial"/>
                <a:cs typeface="Arial"/>
                <a:sym typeface="Arial"/>
              </a:rPr>
              <a:t> could be unethical or illegal!</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u="sng">
                <a:solidFill>
                  <a:srgbClr val="000000"/>
                </a:solidFill>
                <a:latin typeface="Arial"/>
                <a:ea typeface="Arial"/>
                <a:cs typeface="Arial"/>
                <a:sym typeface="Arial"/>
              </a:rPr>
              <a:t>Our decisions</a:t>
            </a:r>
            <a:r>
              <a:rPr b="0" lang="en-US" sz="2000">
                <a:solidFill>
                  <a:srgbClr val="000000"/>
                </a:solidFill>
                <a:latin typeface="Arial"/>
                <a:ea typeface="Arial"/>
                <a:cs typeface="Arial"/>
                <a:sym typeface="Arial"/>
              </a:rPr>
              <a:t> about using that information or decisions based on that information </a:t>
            </a:r>
            <a:r>
              <a:rPr b="0" lang="en-US" sz="2000" u="sng">
                <a:solidFill>
                  <a:srgbClr val="000000"/>
                </a:solidFill>
                <a:latin typeface="Arial"/>
                <a:ea typeface="Arial"/>
                <a:cs typeface="Arial"/>
                <a:sym typeface="Arial"/>
              </a:rPr>
              <a:t>must adhere to our principles and our ethics</a:t>
            </a:r>
            <a:r>
              <a:rPr b="0" lang="en-US" sz="2000">
                <a:solidFill>
                  <a:srgbClr val="000000"/>
                </a:solidFill>
                <a:latin typeface="Arial"/>
                <a:ea typeface="Arial"/>
                <a:cs typeface="Arial"/>
                <a:sym typeface="Arial"/>
              </a:rPr>
              <a:t>.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lang="en-US" sz="2000">
                <a:solidFill>
                  <a:srgbClr val="000000"/>
                </a:solidFill>
                <a:latin typeface="Arial"/>
                <a:ea typeface="Arial"/>
                <a:cs typeface="Arial"/>
                <a:sym typeface="Arial"/>
              </a:rPr>
              <a:t>Professionalism, ethics and equity (accountability) means that your decisions as a professional engineer must fall within the meaning of professional engineering. </a:t>
            </a:r>
            <a:endParaRPr/>
          </a:p>
        </p:txBody>
      </p:sp>
      <p:sp>
        <p:nvSpPr>
          <p:cNvPr id="216" name="Google Shape;216;p1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Areas of Potential Ethical Problems</a:t>
            </a:r>
            <a:endParaRPr/>
          </a:p>
        </p:txBody>
      </p:sp>
      <p:sp>
        <p:nvSpPr>
          <p:cNvPr id="217" name="Google Shape;217;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18" name="Google Shape;218;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8"/>
          <p:cNvSpPr/>
          <p:nvPr/>
        </p:nvSpPr>
        <p:spPr>
          <a:xfrm>
            <a:off x="180000" y="180000"/>
            <a:ext cx="8640000" cy="504000"/>
          </a:xfrm>
          <a:prstGeom prst="rect">
            <a:avLst/>
          </a:prstGeom>
          <a:solidFill>
            <a:schemeClr val="dk1"/>
          </a:solidFill>
          <a:ln cap="flat" cmpd="sng" w="9525">
            <a:solidFill>
              <a:srgbClr val="0000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F8F8F8"/>
                </a:solidFill>
                <a:latin typeface="Arial"/>
                <a:ea typeface="Arial"/>
                <a:cs typeface="Arial"/>
                <a:sym typeface="Arial"/>
              </a:rPr>
              <a:t>Example: </a:t>
            </a:r>
            <a:r>
              <a:rPr b="0" lang="en-US" sz="2400">
                <a:solidFill>
                  <a:srgbClr val="F8F8F8"/>
                </a:solidFill>
                <a:latin typeface="Arial"/>
                <a:ea typeface="Arial"/>
                <a:cs typeface="Arial"/>
                <a:sym typeface="Arial"/>
              </a:rPr>
              <a:t>Areas of Potential Ethical Problems</a:t>
            </a:r>
            <a:endParaRPr b="0" i="0" sz="2400" u="none" cap="none" strike="noStrike">
              <a:solidFill>
                <a:srgbClr val="F8F8F8"/>
              </a:solidFill>
              <a:latin typeface="Arial"/>
              <a:ea typeface="Arial"/>
              <a:cs typeface="Arial"/>
              <a:sym typeface="Arial"/>
            </a:endParaRPr>
          </a:p>
        </p:txBody>
      </p:sp>
      <p:sp>
        <p:nvSpPr>
          <p:cNvPr id="228" name="Google Shape;228;p18"/>
          <p:cNvSpPr/>
          <p:nvPr/>
        </p:nvSpPr>
        <p:spPr>
          <a:xfrm>
            <a:off x="180000" y="828000"/>
            <a:ext cx="8640000" cy="5328000"/>
          </a:xfrm>
          <a:prstGeom prst="rect">
            <a:avLst/>
          </a:prstGeom>
          <a:solidFill>
            <a:schemeClr val="dk1"/>
          </a:solidFill>
          <a:ln cap="flat" cmpd="sng" w="9525">
            <a:solidFill>
              <a:srgbClr val="0000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rgbClr val="F8F8F8"/>
                </a:solidFill>
                <a:latin typeface="Arial"/>
                <a:ea typeface="Arial"/>
                <a:cs typeface="Arial"/>
                <a:sym typeface="Arial"/>
              </a:rPr>
              <a:t>Case Study: </a:t>
            </a:r>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You are a petroleum engineer working for a well-survey company.</a:t>
            </a:r>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You learn about much higher than expected reserves through a report that comes across your desk. </a:t>
            </a:r>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The client of the well survey company owns this intellectual property, the report.  </a:t>
            </a:r>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You recognize that this information is valuable to yourself and/or someone outside of the organization. </a:t>
            </a:r>
            <a:endParaRPr/>
          </a:p>
          <a:p>
            <a:pPr indent="-233000" lvl="0" marL="360000" marR="0" rtl="0" algn="l">
              <a:spcBef>
                <a:spcPts val="0"/>
              </a:spcBef>
              <a:spcAft>
                <a:spcPts val="0"/>
              </a:spcAft>
              <a:buClr>
                <a:schemeClr val="dk1"/>
              </a:buClr>
              <a:buSzPts val="2000"/>
              <a:buFont typeface="Noto Sans Symbols"/>
              <a:buNone/>
            </a:pPr>
            <a:r>
              <a:t/>
            </a:r>
            <a:endParaRPr b="0" sz="2000">
              <a:solidFill>
                <a:srgbClr val="F8F8F8"/>
              </a:solidFill>
              <a:latin typeface="Arial"/>
              <a:ea typeface="Arial"/>
              <a:cs typeface="Arial"/>
              <a:sym typeface="Arial"/>
            </a:endParaRPr>
          </a:p>
          <a:p>
            <a:pPr indent="0" lvl="0" marL="0" marR="0" rtl="0" algn="l">
              <a:spcBef>
                <a:spcPts val="0"/>
              </a:spcBef>
              <a:spcAft>
                <a:spcPts val="0"/>
              </a:spcAft>
              <a:buNone/>
            </a:pPr>
            <a:r>
              <a:rPr b="1" lang="en-US" sz="2000">
                <a:solidFill>
                  <a:srgbClr val="F8F8F8"/>
                </a:solidFill>
                <a:latin typeface="Arial"/>
                <a:ea typeface="Arial"/>
                <a:cs typeface="Arial"/>
                <a:sym typeface="Arial"/>
              </a:rPr>
              <a:t>Please think about these questions:</a:t>
            </a:r>
            <a:endParaRPr b="1" sz="2000">
              <a:solidFill>
                <a:srgbClr val="F8F8F8"/>
              </a:solidFill>
              <a:latin typeface="Arial"/>
              <a:ea typeface="Arial"/>
              <a:cs typeface="Arial"/>
              <a:sym typeface="Arial"/>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What are three possible decisions that you can make?</a:t>
            </a:r>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What decision would (should) you make? </a:t>
            </a:r>
            <a:endParaRPr/>
          </a:p>
          <a:p>
            <a:pPr indent="-360000" lvl="0" marL="360000" marR="0" rtl="0" algn="l">
              <a:spcBef>
                <a:spcPts val="0"/>
              </a:spcBef>
              <a:spcAft>
                <a:spcPts val="0"/>
              </a:spcAft>
              <a:buClr>
                <a:srgbClr val="F8F8F8"/>
              </a:buClr>
              <a:buSzPts val="2000"/>
              <a:buFont typeface="Noto Sans Symbols"/>
              <a:buChar char="⮚"/>
            </a:pPr>
            <a:r>
              <a:rPr b="0" lang="en-US" sz="2000">
                <a:solidFill>
                  <a:srgbClr val="F8F8F8"/>
                </a:solidFill>
                <a:latin typeface="Arial"/>
                <a:ea typeface="Arial"/>
                <a:cs typeface="Arial"/>
                <a:sym typeface="Arial"/>
              </a:rPr>
              <a:t>What are the values on which you base those decisions? </a:t>
            </a:r>
            <a:endParaRPr/>
          </a:p>
          <a:p>
            <a:pPr indent="-233000" lvl="0" marL="360000" marR="0" rtl="0" algn="l">
              <a:spcBef>
                <a:spcPts val="0"/>
              </a:spcBef>
              <a:spcAft>
                <a:spcPts val="0"/>
              </a:spcAft>
              <a:buClr>
                <a:schemeClr val="dk1"/>
              </a:buClr>
              <a:buSzPts val="2000"/>
              <a:buFont typeface="Noto Sans Symbols"/>
              <a:buNone/>
            </a:pPr>
            <a:r>
              <a:t/>
            </a:r>
            <a:endParaRPr b="0" sz="2000">
              <a:solidFill>
                <a:srgbClr val="F8F8F8"/>
              </a:solidFill>
              <a:latin typeface="Arial"/>
              <a:ea typeface="Arial"/>
              <a:cs typeface="Arial"/>
              <a:sym typeface="Arial"/>
            </a:endParaRPr>
          </a:p>
        </p:txBody>
      </p:sp>
      <p:sp>
        <p:nvSpPr>
          <p:cNvPr id="229" name="Google Shape;229;p1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0" name="Google Shape;230;p1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609600" lvl="0" marL="609600" marR="0" rtl="0" algn="l">
              <a:spcBef>
                <a:spcPts val="0"/>
              </a:spcBef>
              <a:spcAft>
                <a:spcPts val="0"/>
              </a:spcAft>
              <a:buNone/>
            </a:pPr>
            <a:r>
              <a:rPr b="0" lang="en-US" sz="2400">
                <a:solidFill>
                  <a:schemeClr val="lt1"/>
                </a:solidFill>
                <a:latin typeface="Arial"/>
                <a:ea typeface="Arial"/>
                <a:cs typeface="Arial"/>
                <a:sym typeface="Arial"/>
              </a:rPr>
              <a:t>Example: Areas of Potential Ethical Problems</a:t>
            </a:r>
            <a:endParaRPr/>
          </a:p>
        </p:txBody>
      </p:sp>
      <p:sp>
        <p:nvSpPr>
          <p:cNvPr id="237" name="Google Shape;237;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8" name="Google Shape;238;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239" name="Google Shape;239;p19"/>
          <p:cNvSpPr txBox="1"/>
          <p:nvPr/>
        </p:nvSpPr>
        <p:spPr>
          <a:xfrm>
            <a:off x="180000" y="828000"/>
            <a:ext cx="8640000" cy="5328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609600" lvl="0" marL="609600" marR="0" rtl="0" algn="l">
              <a:spcBef>
                <a:spcPts val="0"/>
              </a:spcBef>
              <a:spcAft>
                <a:spcPts val="0"/>
              </a:spcAft>
              <a:buNone/>
            </a:pPr>
            <a:r>
              <a:rPr b="1" i="0" lang="en-US" sz="1800">
                <a:solidFill>
                  <a:schemeClr val="lt1"/>
                </a:solidFill>
                <a:latin typeface="Arial"/>
                <a:ea typeface="Arial"/>
                <a:cs typeface="Arial"/>
                <a:sym typeface="Arial"/>
              </a:rPr>
              <a:t>Case Study: </a:t>
            </a:r>
            <a:endParaRPr/>
          </a:p>
          <a:p>
            <a:pPr indent="-360000" lvl="0" marL="360000" marR="0" rtl="0" algn="l">
              <a:spcBef>
                <a:spcPts val="0"/>
              </a:spcBef>
              <a:spcAft>
                <a:spcPts val="0"/>
              </a:spcAft>
              <a:buClr>
                <a:schemeClr val="lt1"/>
              </a:buClr>
              <a:buSzPts val="1800"/>
              <a:buFont typeface="Noto Sans Symbols"/>
              <a:buChar char="⮚"/>
            </a:pPr>
            <a:r>
              <a:rPr b="0" i="0" lang="en-US" sz="1800">
                <a:solidFill>
                  <a:schemeClr val="lt1"/>
                </a:solidFill>
                <a:latin typeface="Arial"/>
                <a:ea typeface="Arial"/>
                <a:cs typeface="Arial"/>
                <a:sym typeface="Arial"/>
              </a:rPr>
              <a:t>You of the are a </a:t>
            </a:r>
            <a:r>
              <a:rPr b="0" i="0" lang="en-US" sz="1800" u="sng">
                <a:solidFill>
                  <a:schemeClr val="lt1"/>
                </a:solidFill>
                <a:latin typeface="Arial"/>
                <a:ea typeface="Arial"/>
                <a:cs typeface="Arial"/>
                <a:sym typeface="Arial"/>
              </a:rPr>
              <a:t>petroleum engineer</a:t>
            </a:r>
            <a:r>
              <a:rPr b="0" i="0" lang="en-US" sz="1800">
                <a:solidFill>
                  <a:schemeClr val="lt1"/>
                </a:solidFill>
                <a:latin typeface="Arial"/>
                <a:ea typeface="Arial"/>
                <a:cs typeface="Arial"/>
                <a:sym typeface="Arial"/>
              </a:rPr>
              <a:t> working for a well-survey company.</a:t>
            </a:r>
            <a:endParaRPr/>
          </a:p>
          <a:p>
            <a:pPr indent="-360000" lvl="0" marL="360000" marR="0" rtl="0" algn="l">
              <a:spcBef>
                <a:spcPts val="0"/>
              </a:spcBef>
              <a:spcAft>
                <a:spcPts val="0"/>
              </a:spcAft>
              <a:buClr>
                <a:schemeClr val="lt1"/>
              </a:buClr>
              <a:buSzPts val="1800"/>
              <a:buFont typeface="Noto Sans Symbols"/>
              <a:buChar char="⮚"/>
            </a:pPr>
            <a:r>
              <a:rPr b="0" i="0" lang="en-US" sz="1800">
                <a:solidFill>
                  <a:schemeClr val="lt1"/>
                </a:solidFill>
                <a:latin typeface="Arial"/>
                <a:ea typeface="Arial"/>
                <a:cs typeface="Arial"/>
                <a:sym typeface="Arial"/>
              </a:rPr>
              <a:t>You learn about much higher than expected reserves through a report that comes across your desk. </a:t>
            </a:r>
            <a:endParaRPr/>
          </a:p>
          <a:p>
            <a:pPr indent="-360000" lvl="0" marL="360000" marR="0" rtl="0" algn="l">
              <a:spcBef>
                <a:spcPts val="0"/>
              </a:spcBef>
              <a:spcAft>
                <a:spcPts val="0"/>
              </a:spcAft>
              <a:buClr>
                <a:schemeClr val="lt1"/>
              </a:buClr>
              <a:buSzPts val="1800"/>
              <a:buFont typeface="Noto Sans Symbols"/>
              <a:buChar char="⮚"/>
            </a:pPr>
            <a:r>
              <a:rPr b="0" i="0" lang="en-US" sz="1800">
                <a:solidFill>
                  <a:schemeClr val="lt1"/>
                </a:solidFill>
                <a:latin typeface="Arial"/>
                <a:ea typeface="Arial"/>
                <a:cs typeface="Arial"/>
                <a:sym typeface="Arial"/>
              </a:rPr>
              <a:t>The client of the well survey company owns this intellectual property, the report.  </a:t>
            </a:r>
            <a:endParaRPr/>
          </a:p>
          <a:p>
            <a:pPr indent="-360000" lvl="0" marL="360000" marR="0" rtl="0" algn="l">
              <a:spcBef>
                <a:spcPts val="0"/>
              </a:spcBef>
              <a:spcAft>
                <a:spcPts val="0"/>
              </a:spcAft>
              <a:buClr>
                <a:schemeClr val="lt1"/>
              </a:buClr>
              <a:buSzPts val="1800"/>
              <a:buFont typeface="Noto Sans Symbols"/>
              <a:buChar char="⮚"/>
            </a:pPr>
            <a:r>
              <a:rPr b="0" i="0" lang="en-US" sz="1800">
                <a:solidFill>
                  <a:schemeClr val="lt1"/>
                </a:solidFill>
                <a:latin typeface="Arial"/>
                <a:ea typeface="Arial"/>
                <a:cs typeface="Arial"/>
                <a:sym typeface="Arial"/>
              </a:rPr>
              <a:t>You recognize that this information is valuable to yourself and/or someone outside organization. </a:t>
            </a:r>
            <a:endParaRPr b="0" i="0" sz="1800">
              <a:solidFill>
                <a:schemeClr val="lt1"/>
              </a:solidFill>
              <a:latin typeface="Arial"/>
              <a:ea typeface="Arial"/>
              <a:cs typeface="Arial"/>
              <a:sym typeface="Arial"/>
            </a:endParaRPr>
          </a:p>
          <a:p>
            <a:pPr indent="-245700" lvl="0" marL="360000" marR="0" rtl="0" algn="l">
              <a:spcBef>
                <a:spcPts val="0"/>
              </a:spcBef>
              <a:spcAft>
                <a:spcPts val="0"/>
              </a:spcAft>
              <a:buClr>
                <a:srgbClr val="FFFFFF"/>
              </a:buClr>
              <a:buSzPts val="1800"/>
              <a:buFont typeface="Noto Sans Symbols"/>
              <a:buNone/>
            </a:pPr>
            <a:r>
              <a:t/>
            </a:r>
            <a:endParaRPr b="0" i="1" sz="1800" u="sng" cap="none" strike="noStrike">
              <a:solidFill>
                <a:schemeClr val="lt1"/>
              </a:solidFill>
              <a:latin typeface="Arial"/>
              <a:ea typeface="Arial"/>
              <a:cs typeface="Arial"/>
              <a:sym typeface="Arial"/>
            </a:endParaRPr>
          </a:p>
          <a:p>
            <a:pPr indent="-360000" lvl="0" marL="360000" marR="0" rtl="0" algn="l">
              <a:spcBef>
                <a:spcPts val="0"/>
              </a:spcBef>
              <a:spcAft>
                <a:spcPts val="0"/>
              </a:spcAft>
              <a:buClr>
                <a:schemeClr val="lt1"/>
              </a:buClr>
              <a:buSzPts val="1800"/>
              <a:buFont typeface="Noto Sans Symbols"/>
              <a:buChar char="⮚"/>
            </a:pPr>
            <a:r>
              <a:rPr b="0" i="1" lang="en-US" sz="1800" u="sng" cap="none" strike="noStrike">
                <a:solidFill>
                  <a:schemeClr val="lt1"/>
                </a:solidFill>
                <a:latin typeface="Arial"/>
                <a:ea typeface="Arial"/>
                <a:cs typeface="Arial"/>
                <a:sym typeface="Arial"/>
              </a:rPr>
              <a:t>Possible decisions</a:t>
            </a:r>
            <a:r>
              <a:rPr b="0" i="1" lang="en-US" sz="1800" u="none" cap="none" strike="noStrike">
                <a:solidFill>
                  <a:schemeClr val="lt1"/>
                </a:solidFill>
                <a:latin typeface="Arial"/>
                <a:ea typeface="Arial"/>
                <a:cs typeface="Arial"/>
                <a:sym typeface="Arial"/>
              </a:rPr>
              <a:t>: </a:t>
            </a:r>
            <a:endParaRPr b="0" i="1" sz="1800" u="none" cap="none" strike="noStrike">
              <a:solidFill>
                <a:schemeClr val="lt1"/>
              </a:solidFill>
              <a:latin typeface="Arial"/>
              <a:ea typeface="Arial"/>
              <a:cs typeface="Arial"/>
              <a:sym typeface="Arial"/>
            </a:endParaRPr>
          </a:p>
          <a:p>
            <a:pPr indent="-342900" lvl="1" marL="800100" marR="0" rtl="0" algn="l">
              <a:spcBef>
                <a:spcPts val="0"/>
              </a:spcBef>
              <a:spcAft>
                <a:spcPts val="0"/>
              </a:spcAft>
              <a:buClr>
                <a:schemeClr val="lt1"/>
              </a:buClr>
              <a:buSzPts val="1800"/>
              <a:buFont typeface="Noto Sans Symbols"/>
              <a:buChar char="❑"/>
            </a:pPr>
            <a:r>
              <a:rPr b="0" i="0" lang="en-US" sz="1800" u="none" cap="none" strike="noStrike">
                <a:solidFill>
                  <a:schemeClr val="lt1"/>
                </a:solidFill>
                <a:latin typeface="Arial"/>
                <a:ea typeface="Arial"/>
                <a:cs typeface="Arial"/>
                <a:sym typeface="Arial"/>
              </a:rPr>
              <a:t>Call your broker to buy stock in the client company. </a:t>
            </a:r>
            <a:endParaRPr/>
          </a:p>
          <a:p>
            <a:pPr indent="-342900" lvl="1" marL="800100" marR="0" rtl="0" algn="l">
              <a:spcBef>
                <a:spcPts val="0"/>
              </a:spcBef>
              <a:spcAft>
                <a:spcPts val="0"/>
              </a:spcAft>
              <a:buClr>
                <a:schemeClr val="lt1"/>
              </a:buClr>
              <a:buSzPts val="1800"/>
              <a:buFont typeface="Noto Sans Symbols"/>
              <a:buChar char="❑"/>
            </a:pPr>
            <a:r>
              <a:rPr b="0" i="0" lang="en-US" sz="1800" u="none" cap="none" strike="noStrike">
                <a:solidFill>
                  <a:schemeClr val="lt1"/>
                </a:solidFill>
                <a:latin typeface="Arial"/>
                <a:ea typeface="Arial"/>
                <a:cs typeface="Arial"/>
                <a:sym typeface="Arial"/>
              </a:rPr>
              <a:t>Contact a competitor and sell the information. </a:t>
            </a:r>
            <a:endParaRPr/>
          </a:p>
          <a:p>
            <a:pPr indent="-342900" lvl="1" marL="800100" marR="0" rtl="0" algn="l">
              <a:spcBef>
                <a:spcPts val="0"/>
              </a:spcBef>
              <a:spcAft>
                <a:spcPts val="0"/>
              </a:spcAft>
              <a:buClr>
                <a:schemeClr val="lt1"/>
              </a:buClr>
              <a:buSzPts val="1800"/>
              <a:buFont typeface="Noto Sans Symbols"/>
              <a:buChar char="❑"/>
            </a:pPr>
            <a:r>
              <a:rPr b="0" i="0" lang="en-US" sz="1800" u="none" cap="none" strike="noStrike">
                <a:solidFill>
                  <a:schemeClr val="lt1"/>
                </a:solidFill>
                <a:latin typeface="Arial"/>
                <a:ea typeface="Arial"/>
                <a:cs typeface="Arial"/>
                <a:sym typeface="Arial"/>
              </a:rPr>
              <a:t>Discuss the information only with authorized persons in your company.  </a:t>
            </a:r>
            <a:endParaRPr/>
          </a:p>
          <a:p>
            <a:pPr indent="-228600" lvl="0" marL="342900" marR="0" rtl="0" algn="l">
              <a:spcBef>
                <a:spcPts val="0"/>
              </a:spcBef>
              <a:spcAft>
                <a:spcPts val="0"/>
              </a:spcAft>
              <a:buClr>
                <a:srgbClr val="FFFFFF"/>
              </a:buClr>
              <a:buSzPts val="1800"/>
              <a:buFont typeface="Noto Sans Symbols"/>
              <a:buNone/>
            </a:pPr>
            <a:r>
              <a:t/>
            </a:r>
            <a:endParaRPr b="0" i="1" sz="1800" u="sng" cap="none" strike="noStrike">
              <a:solidFill>
                <a:schemeClr val="lt1"/>
              </a:solidFill>
              <a:latin typeface="Arial"/>
              <a:ea typeface="Arial"/>
              <a:cs typeface="Arial"/>
              <a:sym typeface="Arial"/>
            </a:endParaRPr>
          </a:p>
          <a:p>
            <a:pPr indent="-360000" lvl="0" marL="360000" marR="0" rtl="0" algn="l">
              <a:spcBef>
                <a:spcPts val="0"/>
              </a:spcBef>
              <a:spcAft>
                <a:spcPts val="0"/>
              </a:spcAft>
              <a:buClr>
                <a:schemeClr val="lt1"/>
              </a:buClr>
              <a:buSzPts val="1800"/>
              <a:buFont typeface="Noto Sans Symbols"/>
              <a:buChar char="⮚"/>
            </a:pPr>
            <a:r>
              <a:rPr b="0" i="1" lang="en-US" sz="1800" u="sng" cap="none" strike="noStrike">
                <a:solidFill>
                  <a:schemeClr val="lt1"/>
                </a:solidFill>
                <a:latin typeface="Arial"/>
                <a:ea typeface="Arial"/>
                <a:cs typeface="Arial"/>
                <a:sym typeface="Arial"/>
              </a:rPr>
              <a:t>The right and only decision:</a:t>
            </a:r>
            <a:endParaRPr b="0" i="1" sz="1800" u="none" cap="none" strike="noStrike">
              <a:solidFill>
                <a:schemeClr val="lt1"/>
              </a:solidFill>
              <a:latin typeface="Arial"/>
              <a:ea typeface="Arial"/>
              <a:cs typeface="Arial"/>
              <a:sym typeface="Arial"/>
            </a:endParaRPr>
          </a:p>
          <a:p>
            <a:pPr indent="-342900" lvl="1" marL="800100" marR="0" rtl="0" algn="l">
              <a:spcBef>
                <a:spcPts val="0"/>
              </a:spcBef>
              <a:spcAft>
                <a:spcPts val="0"/>
              </a:spcAft>
              <a:buClr>
                <a:schemeClr val="lt1"/>
              </a:buClr>
              <a:buSzPts val="1800"/>
              <a:buFont typeface="Noto Sans Symbols"/>
              <a:buChar char="✔"/>
            </a:pPr>
            <a:r>
              <a:rPr b="0" i="0" lang="en-US" sz="1800" u="none" cap="none" strike="noStrike">
                <a:solidFill>
                  <a:schemeClr val="lt1"/>
                </a:solidFill>
                <a:latin typeface="Arial"/>
                <a:ea typeface="Arial"/>
                <a:cs typeface="Arial"/>
                <a:sym typeface="Arial"/>
              </a:rPr>
              <a:t>Discuss the information only with authorized persons in your company.  </a:t>
            </a:r>
            <a:endParaRPr/>
          </a:p>
          <a:p>
            <a:pPr indent="-228600" lvl="0" marL="342900" marR="0" rtl="0" algn="l">
              <a:spcBef>
                <a:spcPts val="0"/>
              </a:spcBef>
              <a:spcAft>
                <a:spcPts val="0"/>
              </a:spcAft>
              <a:buClr>
                <a:srgbClr val="FFFFFF"/>
              </a:buClr>
              <a:buSzPts val="1800"/>
              <a:buFont typeface="Noto Sans Symbols"/>
              <a:buNone/>
            </a:pPr>
            <a:r>
              <a:t/>
            </a:r>
            <a:endParaRPr b="0" i="1" sz="1800" u="sng" cap="none" strike="noStrike">
              <a:solidFill>
                <a:schemeClr val="lt1"/>
              </a:solidFill>
              <a:latin typeface="Arial"/>
              <a:ea typeface="Arial"/>
              <a:cs typeface="Arial"/>
              <a:sym typeface="Arial"/>
            </a:endParaRPr>
          </a:p>
          <a:p>
            <a:pPr indent="-360000" lvl="0" marL="360000" marR="0" rtl="0" algn="l">
              <a:spcBef>
                <a:spcPts val="0"/>
              </a:spcBef>
              <a:spcAft>
                <a:spcPts val="0"/>
              </a:spcAft>
              <a:buClr>
                <a:schemeClr val="lt1"/>
              </a:buClr>
              <a:buSzPts val="1800"/>
              <a:buFont typeface="Noto Sans Symbols"/>
              <a:buChar char="⮚"/>
            </a:pPr>
            <a:r>
              <a:rPr b="0" i="1" lang="en-US" sz="1800" u="sng" cap="none" strike="noStrike">
                <a:solidFill>
                  <a:schemeClr val="lt1"/>
                </a:solidFill>
                <a:latin typeface="Arial"/>
                <a:ea typeface="Arial"/>
                <a:cs typeface="Arial"/>
                <a:sym typeface="Arial"/>
              </a:rPr>
              <a:t>Values:</a:t>
            </a:r>
            <a:r>
              <a:rPr b="0" i="1" lang="en-US" sz="1800" u="none" cap="none" strike="noStrike">
                <a:solidFill>
                  <a:schemeClr val="lt1"/>
                </a:solidFill>
                <a:latin typeface="Arial"/>
                <a:ea typeface="Arial"/>
                <a:cs typeface="Arial"/>
                <a:sym typeface="Arial"/>
              </a:rPr>
              <a:t> Rightful ownership of intellectual property. Client confidentiality and secured IP. Honesty. Integrity. Accountability in your job as an employee.  </a:t>
            </a: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Ethics is the study of the moral issues and making decisions that  confront individuals and organizations i.e. “right and wrong”.</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Ethics can be further refined as:</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Virtue ethics – </a:t>
            </a:r>
            <a:r>
              <a:rPr b="0" i="0" lang="en-US" sz="2000" u="none" cap="none" strike="noStrike">
                <a:solidFill>
                  <a:srgbClr val="0000FF"/>
                </a:solidFill>
                <a:latin typeface="Arial"/>
                <a:ea typeface="Arial"/>
                <a:cs typeface="Arial"/>
                <a:sym typeface="Arial"/>
              </a:rPr>
              <a:t>values, internally imposed codes</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Utilitarianism – </a:t>
            </a:r>
            <a:r>
              <a:rPr b="0" i="0" lang="en-US" sz="2000" u="none" cap="none" strike="noStrike">
                <a:solidFill>
                  <a:srgbClr val="0000FF"/>
                </a:solidFill>
                <a:latin typeface="Arial"/>
                <a:ea typeface="Arial"/>
                <a:cs typeface="Arial"/>
                <a:sym typeface="Arial"/>
              </a:rPr>
              <a:t>greatest good for largest number</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Duty ethics – </a:t>
            </a:r>
            <a:r>
              <a:rPr b="0" i="0" lang="en-US" sz="2000" u="none" cap="none" strike="noStrike">
                <a:solidFill>
                  <a:srgbClr val="0000FF"/>
                </a:solidFill>
                <a:latin typeface="Arial"/>
                <a:ea typeface="Arial"/>
                <a:cs typeface="Arial"/>
                <a:sym typeface="Arial"/>
              </a:rPr>
              <a:t>externally imposed codes &amp; laws</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Rights ethics – </a:t>
            </a:r>
            <a:r>
              <a:rPr b="0" i="0" lang="en-US" sz="2000" u="none" cap="none" strike="noStrike">
                <a:solidFill>
                  <a:srgbClr val="0000FF"/>
                </a:solidFill>
                <a:latin typeface="Arial"/>
                <a:ea typeface="Arial"/>
                <a:cs typeface="Arial"/>
                <a:sym typeface="Arial"/>
              </a:rPr>
              <a:t>human rights trump all</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Ethical Egotism – </a:t>
            </a:r>
            <a:r>
              <a:rPr b="0" i="0" lang="en-US" sz="2000" u="none" cap="none" strike="noStrike">
                <a:solidFill>
                  <a:srgbClr val="0000FF"/>
                </a:solidFill>
                <a:latin typeface="Arial"/>
                <a:ea typeface="Arial"/>
                <a:cs typeface="Arial"/>
                <a:sym typeface="Arial"/>
              </a:rPr>
              <a:t>do what is best for you</a:t>
            </a:r>
            <a:endParaRPr/>
          </a:p>
        </p:txBody>
      </p:sp>
      <p:sp>
        <p:nvSpPr>
          <p:cNvPr id="246" name="Google Shape;246;p2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Ethical Approaches (APEGA):</a:t>
            </a:r>
            <a:endParaRPr/>
          </a:p>
        </p:txBody>
      </p:sp>
      <p:sp>
        <p:nvSpPr>
          <p:cNvPr id="247" name="Google Shape;247;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48" name="Google Shape;248;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Our Hierarchy in Applying Our Ethics – Five Discrete Ethics:</a:t>
            </a:r>
            <a:endParaRPr b="0" sz="2400">
              <a:solidFill>
                <a:srgbClr val="333399"/>
              </a:solidFill>
              <a:latin typeface="Arial"/>
              <a:ea typeface="Arial"/>
              <a:cs typeface="Arial"/>
              <a:sym typeface="Arial"/>
            </a:endParaRPr>
          </a:p>
        </p:txBody>
      </p:sp>
      <p:sp>
        <p:nvSpPr>
          <p:cNvPr id="255" name="Google Shape;255;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56" name="Google Shape;256;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257" name="Google Shape;257;p21"/>
          <p:cNvSpPr txBox="1"/>
          <p:nvPr/>
        </p:nvSpPr>
        <p:spPr>
          <a:xfrm>
            <a:off x="180000" y="828000"/>
            <a:ext cx="8640000" cy="5328000"/>
          </a:xfrm>
          <a:prstGeom prst="rect">
            <a:avLst/>
          </a:prstGeom>
          <a:solidFill>
            <a:schemeClr val="lt1"/>
          </a:solid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As professional engineers, and to one extent or another, most of us apply this “ethics hierarchy” in our decision making using </a:t>
            </a:r>
            <a:r>
              <a:rPr b="0" lang="en-US" sz="2000" u="sng">
                <a:solidFill>
                  <a:srgbClr val="000000"/>
                </a:solidFill>
                <a:latin typeface="Arial"/>
                <a:ea typeface="Arial"/>
                <a:cs typeface="Arial"/>
                <a:sym typeface="Arial"/>
              </a:rPr>
              <a:t>these five discrete ethics</a:t>
            </a:r>
            <a:r>
              <a:rPr b="0" lang="en-US" sz="2000">
                <a:solidFill>
                  <a:srgbClr val="000000"/>
                </a:solidFill>
                <a:latin typeface="Arial"/>
                <a:ea typeface="Arial"/>
                <a:cs typeface="Arial"/>
                <a:sym typeface="Arial"/>
              </a:rPr>
              <a:t>:</a:t>
            </a:r>
            <a:endParaRPr b="0" i="1" sz="2000">
              <a:solidFill>
                <a:srgbClr val="000000"/>
              </a:solidFill>
              <a:latin typeface="Arial"/>
              <a:ea typeface="Arial"/>
              <a:cs typeface="Arial"/>
              <a:sym typeface="Arial"/>
            </a:endParaRPr>
          </a:p>
          <a:p>
            <a:pPr indent="-359999" lvl="1" marL="720000" marR="0" rtl="0" algn="l">
              <a:lnSpc>
                <a:spcPct val="90000"/>
              </a:lnSpc>
              <a:spcBef>
                <a:spcPts val="0"/>
              </a:spcBef>
              <a:spcAft>
                <a:spcPts val="0"/>
              </a:spcAft>
              <a:buClr>
                <a:srgbClr val="000000"/>
              </a:buClr>
              <a:buSzPts val="2000"/>
              <a:buFont typeface="Arial"/>
              <a:buAutoNum type="arabicParenR"/>
            </a:pPr>
            <a:r>
              <a:rPr b="1" i="1" lang="en-US" sz="2000" u="none" cap="none" strike="noStrike">
                <a:solidFill>
                  <a:srgbClr val="000000"/>
                </a:solidFill>
                <a:latin typeface="Arial"/>
                <a:ea typeface="Arial"/>
                <a:cs typeface="Arial"/>
                <a:sym typeface="Arial"/>
              </a:rPr>
              <a:t>I comply with the law.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(Duty ethics – externally imposed codes &amp; laws)</a:t>
            </a:r>
            <a:endParaRPr/>
          </a:p>
          <a:p>
            <a:pPr indent="-359999" lvl="1" marL="720000" marR="0" rtl="0" algn="l">
              <a:lnSpc>
                <a:spcPct val="90000"/>
              </a:lnSpc>
              <a:spcBef>
                <a:spcPts val="0"/>
              </a:spcBef>
              <a:spcAft>
                <a:spcPts val="0"/>
              </a:spcAft>
              <a:buClr>
                <a:srgbClr val="000000"/>
              </a:buClr>
              <a:buSzPts val="2000"/>
              <a:buFont typeface="Arial"/>
              <a:buAutoNum type="arabicParenR"/>
            </a:pPr>
            <a:r>
              <a:rPr b="1" i="1" lang="en-US" sz="2000" u="none" cap="none" strike="noStrike">
                <a:solidFill>
                  <a:srgbClr val="000000"/>
                </a:solidFill>
                <a:latin typeface="Arial"/>
                <a:ea typeface="Arial"/>
                <a:cs typeface="Arial"/>
                <a:sym typeface="Arial"/>
              </a:rPr>
              <a:t>I comply with the professional code.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(Duty ethics – externally imposed codes &amp; laws)</a:t>
            </a:r>
            <a:endParaRPr/>
          </a:p>
          <a:p>
            <a:pPr indent="-359999" lvl="1" marL="720000" marR="0" rtl="0" algn="l">
              <a:lnSpc>
                <a:spcPct val="90000"/>
              </a:lnSpc>
              <a:spcBef>
                <a:spcPts val="0"/>
              </a:spcBef>
              <a:spcAft>
                <a:spcPts val="0"/>
              </a:spcAft>
              <a:buClr>
                <a:srgbClr val="000000"/>
              </a:buClr>
              <a:buSzPts val="2000"/>
              <a:buFont typeface="Arial"/>
              <a:buAutoNum type="arabicParenR"/>
            </a:pPr>
            <a:r>
              <a:rPr b="1" i="1" lang="en-US" sz="2000" u="none" cap="none" strike="noStrike">
                <a:solidFill>
                  <a:srgbClr val="000000"/>
                </a:solidFill>
                <a:latin typeface="Arial"/>
                <a:ea typeface="Arial"/>
                <a:cs typeface="Arial"/>
                <a:sym typeface="Arial"/>
              </a:rPr>
              <a:t>I protect the public welfare.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(Utilitarianism – greatest good for largest number)</a:t>
            </a:r>
            <a:endParaRPr/>
          </a:p>
          <a:p>
            <a:pPr indent="-359999" lvl="1" marL="720000" marR="0" rtl="0" algn="l">
              <a:lnSpc>
                <a:spcPct val="90000"/>
              </a:lnSpc>
              <a:spcBef>
                <a:spcPts val="0"/>
              </a:spcBef>
              <a:spcAft>
                <a:spcPts val="0"/>
              </a:spcAft>
              <a:buClr>
                <a:srgbClr val="000000"/>
              </a:buClr>
              <a:buSzPts val="2000"/>
              <a:buFont typeface="Arial"/>
              <a:buAutoNum type="arabicParenR"/>
            </a:pPr>
            <a:r>
              <a:rPr b="1" i="1" lang="en-US" sz="2000" u="none" cap="none" strike="noStrike">
                <a:solidFill>
                  <a:srgbClr val="000000"/>
                </a:solidFill>
                <a:latin typeface="Arial"/>
                <a:ea typeface="Arial"/>
                <a:cs typeface="Arial"/>
                <a:sym typeface="Arial"/>
              </a:rPr>
              <a:t>I acknowledge the rights of people.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(Rights ethics – human rights trump all)</a:t>
            </a:r>
            <a:endParaRPr/>
          </a:p>
          <a:p>
            <a:pPr indent="-359999" lvl="1" marL="720000" marR="0" rtl="0" algn="l">
              <a:lnSpc>
                <a:spcPct val="90000"/>
              </a:lnSpc>
              <a:spcBef>
                <a:spcPts val="0"/>
              </a:spcBef>
              <a:spcAft>
                <a:spcPts val="0"/>
              </a:spcAft>
              <a:buClr>
                <a:srgbClr val="000000"/>
              </a:buClr>
              <a:buSzPts val="2000"/>
              <a:buFont typeface="Arial"/>
              <a:buAutoNum type="arabicParenR"/>
            </a:pPr>
            <a:r>
              <a:rPr b="1" i="1" lang="en-US" sz="2000" u="none" cap="none" strike="noStrike">
                <a:solidFill>
                  <a:srgbClr val="000000"/>
                </a:solidFill>
                <a:latin typeface="Arial"/>
                <a:ea typeface="Arial"/>
                <a:cs typeface="Arial"/>
                <a:sym typeface="Arial"/>
              </a:rPr>
              <a:t>I will not compromise my personal values. </a:t>
            </a:r>
            <a:br>
              <a:rPr b="0" i="1" lang="en-US" sz="2000" u="none" cap="none" strike="noStrike">
                <a:solidFill>
                  <a:srgbClr val="000000"/>
                </a:solidFill>
                <a:latin typeface="Arial"/>
                <a:ea typeface="Arial"/>
                <a:cs typeface="Arial"/>
                <a:sym typeface="Arial"/>
              </a:rPr>
            </a:br>
            <a:r>
              <a:rPr b="0" i="1" lang="en-US" sz="2000" u="none" cap="none" strike="noStrike">
                <a:solidFill>
                  <a:srgbClr val="000000"/>
                </a:solidFill>
                <a:latin typeface="Arial"/>
                <a:ea typeface="Arial"/>
                <a:cs typeface="Arial"/>
                <a:sym typeface="Arial"/>
              </a:rPr>
              <a:t>(Virtue ethics – values, internally imposed codes)</a:t>
            </a:r>
            <a:endParaRPr/>
          </a:p>
          <a:p>
            <a:pPr indent="0" lvl="0" marL="0" marR="0" rtl="0" algn="l">
              <a:lnSpc>
                <a:spcPct val="90000"/>
              </a:lnSpc>
              <a:spcBef>
                <a:spcPts val="0"/>
              </a:spcBef>
              <a:spcAft>
                <a:spcPts val="0"/>
              </a:spcAft>
              <a:buClr>
                <a:srgbClr val="000000"/>
              </a:buClr>
              <a:buSzPts val="2000"/>
              <a:buFont typeface="Noto Sans Symbols"/>
              <a:buNone/>
            </a:pPr>
            <a:r>
              <a:rPr b="0" i="1" lang="en-US" sz="2000">
                <a:solidFill>
                  <a:srgbClr val="000000"/>
                </a:solidFill>
                <a:latin typeface="Arial"/>
                <a:ea typeface="Arial"/>
                <a:cs typeface="Arial"/>
                <a:sym typeface="Arial"/>
              </a:rPr>
              <a:t>Note: This is a model for applying ethics, and is NOT an exhaustive list.</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When we apply our ethics to make a decision, we ask ourselves:</a:t>
            </a:r>
            <a:endParaRPr/>
          </a:p>
          <a:p>
            <a:pPr indent="-359999" lvl="2"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 what order do our ethics hierarchy occur?</a:t>
            </a:r>
            <a:endParaRPr/>
          </a:p>
          <a:p>
            <a:pPr indent="-359999" lvl="2"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Which discrete ethics are used or not used? Missing categories?</a:t>
            </a:r>
            <a:endParaRPr b="0" i="0" sz="2000" u="none" cap="none" strike="noStrike">
              <a:solidFill>
                <a:srgbClr val="000000"/>
              </a:solidFill>
              <a:latin typeface="Arial"/>
              <a:ea typeface="Arial"/>
              <a:cs typeface="Arial"/>
              <a:sym typeface="Arial"/>
            </a:endParaRPr>
          </a:p>
          <a:p>
            <a:pPr indent="-359999" lvl="2"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What is our personal bottom line?</a:t>
            </a:r>
            <a:endParaRPr b="0" i="0" sz="20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2"/>
          <p:cNvSpPr/>
          <p:nvPr/>
        </p:nvSpPr>
        <p:spPr>
          <a:xfrm>
            <a:off x="180000" y="180000"/>
            <a:ext cx="8640000" cy="504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Noto Sans Symbols"/>
              <a:buNone/>
            </a:pPr>
            <a:r>
              <a:rPr b="0" i="0" lang="en-US" sz="2400" u="none" cap="none" strike="noStrike">
                <a:solidFill>
                  <a:srgbClr val="FFFFFF"/>
                </a:solidFill>
                <a:latin typeface="Arial"/>
                <a:ea typeface="Arial"/>
                <a:cs typeface="Arial"/>
                <a:sym typeface="Arial"/>
              </a:rPr>
              <a:t>Example: Our Hierarchy in Applying Our Ethics:</a:t>
            </a:r>
            <a:endParaRPr/>
          </a:p>
        </p:txBody>
      </p:sp>
      <p:sp>
        <p:nvSpPr>
          <p:cNvPr id="264" name="Google Shape;264;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r>
              <a:rPr b="1" i="1" lang="en-US" sz="1200" u="none" cap="none" strike="noStrike">
                <a:solidFill>
                  <a:srgbClr val="000000"/>
                </a:solidFill>
                <a:latin typeface="Arial"/>
                <a:ea typeface="Arial"/>
                <a:cs typeface="Arial"/>
                <a:sym typeface="Arial"/>
              </a:rPr>
              <a:t>25</a:t>
            </a:r>
            <a:endParaRPr b="1" i="1" sz="1200" u="none" cap="none" strike="noStrike">
              <a:solidFill>
                <a:srgbClr val="000000"/>
              </a:solidFill>
              <a:latin typeface="Arial"/>
              <a:ea typeface="Arial"/>
              <a:cs typeface="Arial"/>
              <a:sym typeface="Arial"/>
            </a:endParaRPr>
          </a:p>
        </p:txBody>
      </p:sp>
      <p:sp>
        <p:nvSpPr>
          <p:cNvPr id="265" name="Google Shape;265;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266" name="Google Shape;266;p22"/>
          <p:cNvSpPr txBox="1"/>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000"/>
              <a:buFont typeface="Noto Sans Symbols"/>
              <a:buNone/>
            </a:pPr>
            <a:r>
              <a:rPr b="1" i="0" lang="en-US" sz="2000" u="none" cap="none" strike="noStrike">
                <a:solidFill>
                  <a:srgbClr val="FFFFFF"/>
                </a:solidFill>
                <a:latin typeface="Arial"/>
                <a:ea typeface="Arial"/>
                <a:cs typeface="Arial"/>
                <a:sym typeface="Arial"/>
              </a:rPr>
              <a:t>Case Study:</a:t>
            </a:r>
            <a:endParaRPr/>
          </a:p>
          <a:p>
            <a:pPr indent="-482600" lvl="0" marL="609600" marR="0" rtl="0" algn="l">
              <a:lnSpc>
                <a:spcPct val="90000"/>
              </a:lnSpc>
              <a:spcBef>
                <a:spcPts val="0"/>
              </a:spcBef>
              <a:spcAft>
                <a:spcPts val="0"/>
              </a:spcAft>
              <a:buClr>
                <a:srgbClr val="4D4D4D"/>
              </a:buClr>
              <a:buSzPts val="2000"/>
              <a:buFont typeface="Noto Sans Symbols"/>
              <a:buNone/>
            </a:pPr>
            <a:r>
              <a:t/>
            </a:r>
            <a:endParaRPr b="0" i="0" sz="2000" u="none" cap="none" strike="noStrike">
              <a:solidFill>
                <a:srgbClr val="FFFFFF"/>
              </a:solidFill>
              <a:latin typeface="Arial"/>
              <a:ea typeface="Arial"/>
              <a:cs typeface="Arial"/>
              <a:sym typeface="Arial"/>
            </a:endParaRPr>
          </a:p>
          <a:p>
            <a:pPr indent="-360000" lvl="0" marL="360000" marR="0" rtl="0" algn="l">
              <a:lnSpc>
                <a:spcPct val="9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Arial"/>
                <a:ea typeface="Arial"/>
                <a:cs typeface="Arial"/>
                <a:sym typeface="Arial"/>
              </a:rPr>
              <a:t>Now consider the ethics that you applied in reaching the right and only decision: “Discuss the information only with authorized persons in your company.”</a:t>
            </a:r>
            <a:endParaRPr/>
          </a:p>
          <a:p>
            <a:pPr indent="-360000" lvl="0" marL="360000" marR="0" rtl="0" algn="l">
              <a:lnSpc>
                <a:spcPct val="90000"/>
              </a:lnSpc>
              <a:spcBef>
                <a:spcPts val="0"/>
              </a:spcBef>
              <a:spcAft>
                <a:spcPts val="0"/>
              </a:spcAft>
              <a:buClr>
                <a:srgbClr val="4D4D4D"/>
              </a:buClr>
              <a:buSzPts val="2000"/>
              <a:buFont typeface="Noto Sans Symbols"/>
              <a:buNone/>
            </a:pPr>
            <a:r>
              <a:t/>
            </a:r>
            <a:endParaRPr b="0" i="0" sz="2000" u="none" cap="none" strike="noStrike">
              <a:solidFill>
                <a:srgbClr val="FFFFFF"/>
              </a:solidFill>
              <a:latin typeface="Arial"/>
              <a:ea typeface="Arial"/>
              <a:cs typeface="Arial"/>
              <a:sym typeface="Arial"/>
            </a:endParaRPr>
          </a:p>
          <a:p>
            <a:pPr indent="-360000" lvl="0" marL="360000" marR="0" rtl="0" algn="l">
              <a:lnSpc>
                <a:spcPct val="9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Arial"/>
                <a:ea typeface="Arial"/>
                <a:cs typeface="Arial"/>
                <a:sym typeface="Arial"/>
              </a:rPr>
              <a:t>We applied our ethics as follows (note that not all were applied):</a:t>
            </a:r>
            <a:endParaRPr/>
          </a:p>
          <a:p>
            <a:pPr indent="-482600" lvl="0" marL="609600" marR="0" rtl="0" algn="l">
              <a:lnSpc>
                <a:spcPct val="90000"/>
              </a:lnSpc>
              <a:spcBef>
                <a:spcPts val="0"/>
              </a:spcBef>
              <a:spcAft>
                <a:spcPts val="0"/>
              </a:spcAft>
              <a:buClr>
                <a:srgbClr val="000000"/>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59999" lvl="1" marL="720000" marR="0" rtl="0" algn="l">
              <a:lnSpc>
                <a:spcPct val="9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I comply with the professional code. </a:t>
            </a:r>
            <a:br>
              <a:rPr b="0" i="1" lang="en-US" sz="2000" u="none" cap="none" strike="noStrike">
                <a:solidFill>
                  <a:srgbClr val="FFFFFF"/>
                </a:solidFill>
                <a:latin typeface="Arial"/>
                <a:ea typeface="Arial"/>
                <a:cs typeface="Arial"/>
                <a:sym typeface="Arial"/>
              </a:rPr>
            </a:br>
            <a:r>
              <a:rPr b="0" i="1" lang="en-US" sz="2000" u="none" cap="none" strike="noStrike">
                <a:solidFill>
                  <a:srgbClr val="FFFFFF"/>
                </a:solidFill>
                <a:latin typeface="Arial"/>
                <a:ea typeface="Arial"/>
                <a:cs typeface="Arial"/>
                <a:sym typeface="Arial"/>
              </a:rPr>
              <a:t>(Duty ethics – externally imposed codes &amp; laws)</a:t>
            </a:r>
            <a:endParaRPr/>
          </a:p>
          <a:p>
            <a:pPr indent="-232999" lvl="1" marL="720000" marR="0" rtl="0" algn="l">
              <a:lnSpc>
                <a:spcPct val="90000"/>
              </a:lnSpc>
              <a:spcBef>
                <a:spcPts val="0"/>
              </a:spcBef>
              <a:spcAft>
                <a:spcPts val="0"/>
              </a:spcAft>
              <a:buClr>
                <a:schemeClr val="dk1"/>
              </a:buClr>
              <a:buSzPts val="2000"/>
              <a:buFont typeface="Arial"/>
              <a:buNone/>
            </a:pPr>
            <a:r>
              <a:t/>
            </a:r>
            <a:endParaRPr b="0" i="1" sz="2000" u="none" cap="none" strike="noStrike">
              <a:solidFill>
                <a:srgbClr val="FFFFFF"/>
              </a:solidFill>
              <a:latin typeface="Arial"/>
              <a:ea typeface="Arial"/>
              <a:cs typeface="Arial"/>
              <a:sym typeface="Arial"/>
            </a:endParaRPr>
          </a:p>
          <a:p>
            <a:pPr indent="-359999" lvl="1" marL="720000" marR="0" rtl="0" algn="l">
              <a:lnSpc>
                <a:spcPct val="9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I comply with the law. </a:t>
            </a:r>
            <a:br>
              <a:rPr b="0" i="1" lang="en-US" sz="2000" u="none" cap="none" strike="noStrike">
                <a:solidFill>
                  <a:srgbClr val="FFFFFF"/>
                </a:solidFill>
                <a:latin typeface="Arial"/>
                <a:ea typeface="Arial"/>
                <a:cs typeface="Arial"/>
                <a:sym typeface="Arial"/>
              </a:rPr>
            </a:br>
            <a:r>
              <a:rPr b="0" i="1" lang="en-US" sz="2000" u="none" cap="none" strike="noStrike">
                <a:solidFill>
                  <a:srgbClr val="FFFFFF"/>
                </a:solidFill>
                <a:latin typeface="Arial"/>
                <a:ea typeface="Arial"/>
                <a:cs typeface="Arial"/>
                <a:sym typeface="Arial"/>
              </a:rPr>
              <a:t>(Duty ethics – externally imposed codes &amp; laws)</a:t>
            </a:r>
            <a:endParaRPr/>
          </a:p>
          <a:p>
            <a:pPr indent="-232999" lvl="1" marL="720000" marR="0" rtl="0" algn="l">
              <a:lnSpc>
                <a:spcPct val="90000"/>
              </a:lnSpc>
              <a:spcBef>
                <a:spcPts val="0"/>
              </a:spcBef>
              <a:spcAft>
                <a:spcPts val="0"/>
              </a:spcAft>
              <a:buClr>
                <a:schemeClr val="dk1"/>
              </a:buClr>
              <a:buSzPts val="2000"/>
              <a:buFont typeface="Arial"/>
              <a:buNone/>
            </a:pPr>
            <a:r>
              <a:t/>
            </a:r>
            <a:endParaRPr b="0" i="1" sz="2000" u="none" cap="none" strike="noStrike">
              <a:solidFill>
                <a:srgbClr val="FFFFFF"/>
              </a:solidFill>
              <a:latin typeface="Arial"/>
              <a:ea typeface="Arial"/>
              <a:cs typeface="Arial"/>
              <a:sym typeface="Arial"/>
            </a:endParaRPr>
          </a:p>
          <a:p>
            <a:pPr indent="-359999" lvl="1" marL="720000" marR="0" rtl="0" algn="l">
              <a:lnSpc>
                <a:spcPct val="9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I will not compromise my personal values. </a:t>
            </a:r>
            <a:br>
              <a:rPr b="0" i="1" lang="en-US" sz="2000" u="none" cap="none" strike="noStrike">
                <a:solidFill>
                  <a:srgbClr val="FFFFFF"/>
                </a:solidFill>
                <a:latin typeface="Arial"/>
                <a:ea typeface="Arial"/>
                <a:cs typeface="Arial"/>
                <a:sym typeface="Arial"/>
              </a:rPr>
            </a:br>
            <a:r>
              <a:rPr b="0" i="1" lang="en-US" sz="2000" u="none" cap="none" strike="noStrike">
                <a:solidFill>
                  <a:srgbClr val="FFFFFF"/>
                </a:solidFill>
                <a:latin typeface="Arial"/>
                <a:ea typeface="Arial"/>
                <a:cs typeface="Arial"/>
                <a:sym typeface="Arial"/>
              </a:rPr>
              <a:t>(Virtue ethics – values, internally imposed codes)</a:t>
            </a:r>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Two “ideas” about of integrity and ethical conduct: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1) Doing the right thing at the right time.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This is very easy to do if it is a positive or a pleasant choice. </a:t>
            </a:r>
            <a:endParaRPr b="0" i="1"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It is not easy to do when it is not positive, nor pleasant, nor popular.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2) Doing the right thing at the right time when nobody is watching.</a:t>
            </a:r>
            <a:endParaRPr b="0" i="0" sz="2000" u="none" cap="none" strike="noStrike">
              <a:solidFill>
                <a:srgbClr val="000000"/>
              </a:solidFill>
              <a:latin typeface="Arial"/>
              <a:ea typeface="Arial"/>
              <a:cs typeface="Arial"/>
              <a:sym typeface="Arial"/>
            </a:endParaRPr>
          </a:p>
        </p:txBody>
      </p:sp>
      <p:sp>
        <p:nvSpPr>
          <p:cNvPr id="273" name="Google Shape;273;p2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Integrity and Ethical Behaviour: </a:t>
            </a:r>
            <a:endParaRPr/>
          </a:p>
        </p:txBody>
      </p:sp>
      <p:sp>
        <p:nvSpPr>
          <p:cNvPr id="274" name="Google Shape;274;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75" name="Google Shape;275;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276" name="Google Shape;276;p23"/>
          <p:cNvSpPr txBox="1"/>
          <p:nvPr/>
        </p:nvSpPr>
        <p:spPr>
          <a:xfrm>
            <a:off x="180000" y="3060000"/>
            <a:ext cx="8640000" cy="3060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Consider these questions:</a:t>
            </a:r>
            <a:endParaRPr b="0" i="1" sz="2000" u="none" cap="none" strike="noStrike">
              <a:solidFill>
                <a:srgbClr val="FFFFFF"/>
              </a:solidFill>
              <a:latin typeface="Arial"/>
              <a:ea typeface="Arial"/>
              <a:cs typeface="Arial"/>
              <a:sym typeface="Arial"/>
            </a:endParaRPr>
          </a:p>
          <a:p>
            <a:pPr indent="-330200" lvl="0" marL="457200" marR="0" rtl="0" algn="l">
              <a:lnSpc>
                <a:spcPct val="100000"/>
              </a:lnSpc>
              <a:spcBef>
                <a:spcPts val="0"/>
              </a:spcBef>
              <a:spcAft>
                <a:spcPts val="0"/>
              </a:spcAft>
              <a:buClr>
                <a:srgbClr val="FFFFFF"/>
              </a:buClr>
              <a:buSzPts val="2000"/>
              <a:buFont typeface="Arial"/>
              <a:buNone/>
            </a:pPr>
            <a:r>
              <a:t/>
            </a:r>
            <a:endParaRPr b="0" i="1" sz="2000" u="none" cap="none" strike="noStrike">
              <a:solidFill>
                <a:srgbClr val="FFFFFF"/>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Have you ever been in a situation where your integrity </a:t>
            </a:r>
            <a:br>
              <a:rPr b="0" i="1" lang="en-US" sz="2000" u="none" cap="none" strike="noStrike">
                <a:solidFill>
                  <a:srgbClr val="FFFFFF"/>
                </a:solidFill>
                <a:latin typeface="Arial"/>
                <a:ea typeface="Arial"/>
                <a:cs typeface="Arial"/>
                <a:sym typeface="Arial"/>
              </a:rPr>
            </a:br>
            <a:r>
              <a:rPr b="0" i="1" lang="en-US" sz="2000" u="none" cap="none" strike="noStrike">
                <a:solidFill>
                  <a:srgbClr val="FFFFFF"/>
                </a:solidFill>
                <a:latin typeface="Arial"/>
                <a:ea typeface="Arial"/>
                <a:cs typeface="Arial"/>
                <a:sym typeface="Arial"/>
              </a:rPr>
              <a:t>or your ethics were challenged? </a:t>
            </a:r>
            <a:r>
              <a:rPr b="0" i="1" lang="en-US" sz="2000" u="none" cap="none" strike="noStrike">
                <a:solidFill>
                  <a:srgbClr val="FFFF00"/>
                </a:solidFill>
                <a:latin typeface="Arial"/>
                <a:ea typeface="Arial"/>
                <a:cs typeface="Arial"/>
                <a:sym typeface="Arial"/>
              </a:rPr>
              <a:t>(Hint: What was the situation?)</a:t>
            </a:r>
            <a:endParaRPr/>
          </a:p>
          <a:p>
            <a:pPr indent="-330200" lvl="0" marL="457200" marR="0" rtl="0" algn="l">
              <a:lnSpc>
                <a:spcPct val="100000"/>
              </a:lnSpc>
              <a:spcBef>
                <a:spcPts val="0"/>
              </a:spcBef>
              <a:spcAft>
                <a:spcPts val="0"/>
              </a:spcAft>
              <a:buClr>
                <a:srgbClr val="FFFFFF"/>
              </a:buClr>
              <a:buSzPts val="2000"/>
              <a:buFont typeface="Arial"/>
              <a:buNone/>
            </a:pPr>
            <a:r>
              <a:t/>
            </a:r>
            <a:endParaRPr b="0" i="1" sz="2000" u="none" cap="none" strike="noStrike">
              <a:solidFill>
                <a:srgbClr val="FFFFFF"/>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If so, what was it? </a:t>
            </a:r>
            <a:r>
              <a:rPr b="0" i="1" lang="en-US" sz="2000" u="none" cap="none" strike="noStrike">
                <a:solidFill>
                  <a:srgbClr val="FFFF00"/>
                </a:solidFill>
                <a:latin typeface="Arial"/>
                <a:ea typeface="Arial"/>
                <a:cs typeface="Arial"/>
                <a:sym typeface="Arial"/>
              </a:rPr>
              <a:t>(Hint: What was the issue with that situation?)</a:t>
            </a:r>
            <a:endParaRPr/>
          </a:p>
          <a:p>
            <a:pPr indent="-330200" lvl="0" marL="457200" marR="0" rtl="0" algn="l">
              <a:lnSpc>
                <a:spcPct val="100000"/>
              </a:lnSpc>
              <a:spcBef>
                <a:spcPts val="0"/>
              </a:spcBef>
              <a:spcAft>
                <a:spcPts val="0"/>
              </a:spcAft>
              <a:buClr>
                <a:srgbClr val="FFFFFF"/>
              </a:buClr>
              <a:buSzPts val="2000"/>
              <a:buFont typeface="Arial"/>
              <a:buNone/>
            </a:pPr>
            <a:r>
              <a:t/>
            </a:r>
            <a:endParaRPr b="0" i="1" sz="2000" u="none" cap="none" strike="noStrike">
              <a:solidFill>
                <a:srgbClr val="FFFFFF"/>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2000"/>
              <a:buFont typeface="Arial"/>
              <a:buAutoNum type="arabicParenR"/>
            </a:pPr>
            <a:r>
              <a:rPr b="0" i="1" lang="en-US" sz="2000" u="none" cap="none" strike="noStrike">
                <a:solidFill>
                  <a:srgbClr val="FFFFFF"/>
                </a:solidFill>
                <a:latin typeface="Arial"/>
                <a:ea typeface="Arial"/>
                <a:cs typeface="Arial"/>
                <a:sym typeface="Arial"/>
              </a:rPr>
              <a:t>How did you manage it? </a:t>
            </a:r>
            <a:r>
              <a:rPr b="0" i="1" lang="en-US" sz="2000" u="none" cap="none" strike="noStrike">
                <a:solidFill>
                  <a:srgbClr val="FFFF00"/>
                </a:solidFill>
                <a:latin typeface="Arial"/>
                <a:ea typeface="Arial"/>
                <a:cs typeface="Arial"/>
                <a:sym typeface="Arial"/>
              </a:rPr>
              <a:t>(Hint: What did you do in that situation?)</a:t>
            </a:r>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83" name="Google Shape;283;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284" name="Google Shape;284;p2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Two “ideas” about of integrity and ethical conduct: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1) Doing the right thing at the right time.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This is very easy to do if it is a positive or a pleasant choice. </a:t>
            </a:r>
            <a:endParaRPr b="0" i="1"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It is not easy to do when it is not positive, nor pleasant, nor popular.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2) Doing the right thing at the right time when nobody is watching.</a:t>
            </a:r>
            <a:endParaRPr b="0" i="0" sz="2000" u="none" cap="none" strike="noStrike">
              <a:solidFill>
                <a:srgbClr val="000000"/>
              </a:solidFill>
              <a:latin typeface="Arial"/>
              <a:ea typeface="Arial"/>
              <a:cs typeface="Arial"/>
              <a:sym typeface="Arial"/>
            </a:endParaRPr>
          </a:p>
        </p:txBody>
      </p:sp>
      <p:sp>
        <p:nvSpPr>
          <p:cNvPr id="285" name="Google Shape;285;p2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Integrity and Ethical Behaviour: </a:t>
            </a:r>
            <a:endParaRPr/>
          </a:p>
        </p:txBody>
      </p:sp>
      <p:sp>
        <p:nvSpPr>
          <p:cNvPr id="286" name="Google Shape;286;p24"/>
          <p:cNvSpPr txBox="1"/>
          <p:nvPr/>
        </p:nvSpPr>
        <p:spPr>
          <a:xfrm>
            <a:off x="180000" y="3060000"/>
            <a:ext cx="8640000" cy="3060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situation: </a:t>
            </a:r>
            <a:r>
              <a:rPr b="0" i="1" lang="en-US" sz="1800" u="none" cap="none" strike="noStrike">
                <a:solidFill>
                  <a:srgbClr val="FFFFFF"/>
                </a:solidFill>
                <a:latin typeface="Arial"/>
                <a:ea typeface="Arial"/>
                <a:cs typeface="Arial"/>
                <a:sym typeface="Arial"/>
              </a:rPr>
              <a:t>The regional </a:t>
            </a:r>
            <a:r>
              <a:rPr b="0" i="1" lang="en-US" sz="1800" u="sng" cap="none" strike="noStrike">
                <a:solidFill>
                  <a:srgbClr val="FFFFFF"/>
                </a:solidFill>
                <a:latin typeface="Arial"/>
                <a:ea typeface="Arial"/>
                <a:cs typeface="Arial"/>
                <a:sym typeface="Arial"/>
              </a:rPr>
              <a:t>Investigations and Enforcement Branch</a:t>
            </a:r>
            <a:r>
              <a:rPr b="0" i="1" lang="en-US" sz="1800" u="none" cap="none" strike="noStrike">
                <a:solidFill>
                  <a:srgbClr val="FFFFFF"/>
                </a:solidFill>
                <a:latin typeface="Arial"/>
                <a:ea typeface="Arial"/>
                <a:cs typeface="Arial"/>
                <a:sym typeface="Arial"/>
              </a:rPr>
              <a:t> of the provincial </a:t>
            </a:r>
            <a:r>
              <a:rPr b="0" i="1" lang="en-US" sz="1800" u="sng" cap="none" strike="noStrike">
                <a:solidFill>
                  <a:srgbClr val="FFFFFF"/>
                </a:solidFill>
                <a:latin typeface="Arial"/>
                <a:ea typeface="Arial"/>
                <a:cs typeface="Arial"/>
                <a:sym typeface="Arial"/>
              </a:rPr>
              <a:t>Ministry of the Environment</a:t>
            </a:r>
            <a:r>
              <a:rPr b="0" i="1" lang="en-US" sz="1800" u="none" cap="none" strike="noStrike">
                <a:solidFill>
                  <a:srgbClr val="FFFFFF"/>
                </a:solidFill>
                <a:latin typeface="Arial"/>
                <a:ea typeface="Arial"/>
                <a:cs typeface="Arial"/>
                <a:sym typeface="Arial"/>
              </a:rPr>
              <a:t> calls on your plant with a search warrant. You and your supervisor are tasked with aiding the search. </a:t>
            </a:r>
            <a:endParaRPr/>
          </a:p>
          <a:p>
            <a:pPr indent="0" lvl="0" marL="0" marR="0" rtl="0" algn="l">
              <a:lnSpc>
                <a:spcPct val="100000"/>
              </a:lnSpc>
              <a:spcBef>
                <a:spcPts val="0"/>
              </a:spcBef>
              <a:spcAft>
                <a:spcPts val="0"/>
              </a:spcAft>
              <a:buClr>
                <a:srgbClr val="FFFFFF"/>
              </a:buClr>
              <a:buSzPts val="1800"/>
              <a:buFont typeface="Arial"/>
              <a:buNone/>
            </a:pPr>
            <a:r>
              <a:t/>
            </a:r>
            <a:endParaRPr b="1"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issue: </a:t>
            </a:r>
            <a:r>
              <a:rPr b="0" i="1" lang="en-US" sz="1800" u="none" cap="none" strike="noStrike">
                <a:solidFill>
                  <a:srgbClr val="FFFFFF"/>
                </a:solidFill>
                <a:latin typeface="Arial"/>
                <a:ea typeface="Arial"/>
                <a:cs typeface="Arial"/>
                <a:sym typeface="Arial"/>
              </a:rPr>
              <a:t>You find a “compromising document”, and both</a:t>
            </a:r>
            <a:r>
              <a:rPr b="0" i="1" lang="en-US" sz="1800" u="none" cap="none" strike="noStrike">
                <a:solidFill>
                  <a:srgbClr val="FFFFFF"/>
                </a:solidFill>
                <a:latin typeface="Arial"/>
                <a:ea typeface="Arial"/>
                <a:cs typeface="Arial"/>
                <a:sym typeface="Arial"/>
              </a:rPr>
              <a:t> of </a:t>
            </a:r>
            <a:r>
              <a:rPr b="0" i="1" lang="en-US" sz="1800" u="none" cap="none" strike="noStrike">
                <a:solidFill>
                  <a:srgbClr val="FFFFFF"/>
                </a:solidFill>
                <a:latin typeface="Arial"/>
                <a:ea typeface="Arial"/>
                <a:cs typeface="Arial"/>
                <a:sym typeface="Arial"/>
              </a:rPr>
              <a:t>you realize it can be harmful to the company. </a:t>
            </a:r>
            <a:endParaRPr/>
          </a:p>
          <a:p>
            <a:pPr indent="0" lvl="0" marL="0" marR="0" rtl="0" algn="l">
              <a:lnSpc>
                <a:spcPct val="100000"/>
              </a:lnSpc>
              <a:spcBef>
                <a:spcPts val="0"/>
              </a:spcBef>
              <a:spcAft>
                <a:spcPts val="0"/>
              </a:spcAft>
              <a:buClr>
                <a:srgbClr val="FFFFFF"/>
              </a:buClr>
              <a:buSzPts val="1800"/>
              <a:buFont typeface="Arial"/>
              <a:buNone/>
            </a:pPr>
            <a:r>
              <a:t/>
            </a:r>
            <a:endParaRPr b="1"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Possible decisions: </a:t>
            </a:r>
            <a:endParaRPr b="1" i="1" sz="1800" u="none" cap="none" strike="noStrike">
              <a:solidFill>
                <a:srgbClr val="FFFFFF"/>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What are some possible decisions?</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What are the unethical, ethical, and legal decisions?</a:t>
            </a:r>
            <a:endParaRPr b="0" i="1" sz="18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93" name="Google Shape;293;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294" name="Google Shape;294;p2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Two “ideas” about of integrity and ethical conduct: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1) Doing the right thing at the right time.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This is very easy to do if it is a positive or a pleasant choice. </a:t>
            </a:r>
            <a:endParaRPr b="0" i="1"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It is not easy to do when it is not positive, nor pleasant, nor popular.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2) Doing the right thing at the right time when nobody is watching.</a:t>
            </a:r>
            <a:endParaRPr b="0" i="0" sz="2000" u="none" cap="none" strike="noStrike">
              <a:solidFill>
                <a:srgbClr val="000000"/>
              </a:solidFill>
              <a:latin typeface="Arial"/>
              <a:ea typeface="Arial"/>
              <a:cs typeface="Arial"/>
              <a:sym typeface="Arial"/>
            </a:endParaRPr>
          </a:p>
        </p:txBody>
      </p:sp>
      <p:sp>
        <p:nvSpPr>
          <p:cNvPr id="295" name="Google Shape;295;p2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Integrity and Ethical Behaviour: </a:t>
            </a:r>
            <a:endParaRPr/>
          </a:p>
        </p:txBody>
      </p:sp>
      <p:sp>
        <p:nvSpPr>
          <p:cNvPr id="296" name="Google Shape;296;p25"/>
          <p:cNvSpPr txBox="1"/>
          <p:nvPr/>
        </p:nvSpPr>
        <p:spPr>
          <a:xfrm>
            <a:off x="180000" y="3060000"/>
            <a:ext cx="8640000" cy="3060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situation: </a:t>
            </a:r>
            <a:r>
              <a:rPr b="0" i="1" lang="en-US" sz="1800" u="none" cap="none" strike="noStrike">
                <a:solidFill>
                  <a:srgbClr val="FFFFFF"/>
                </a:solidFill>
                <a:latin typeface="Arial"/>
                <a:ea typeface="Arial"/>
                <a:cs typeface="Arial"/>
                <a:sym typeface="Arial"/>
              </a:rPr>
              <a:t>The regional </a:t>
            </a:r>
            <a:r>
              <a:rPr b="0" i="1" lang="en-US" sz="1800" u="sng" cap="none" strike="noStrike">
                <a:solidFill>
                  <a:srgbClr val="FFFFFF"/>
                </a:solidFill>
                <a:latin typeface="Arial"/>
                <a:ea typeface="Arial"/>
                <a:cs typeface="Arial"/>
                <a:sym typeface="Arial"/>
              </a:rPr>
              <a:t>IEB</a:t>
            </a:r>
            <a:r>
              <a:rPr b="0" i="1" lang="en-US" sz="1800" u="none" cap="none" strike="noStrike">
                <a:solidFill>
                  <a:srgbClr val="FFFFFF"/>
                </a:solidFill>
                <a:latin typeface="Arial"/>
                <a:ea typeface="Arial"/>
                <a:cs typeface="Arial"/>
                <a:sym typeface="Arial"/>
              </a:rPr>
              <a:t> of the </a:t>
            </a:r>
            <a:r>
              <a:rPr b="0" i="1" lang="en-US" sz="1800" u="sng" cap="none" strike="noStrike">
                <a:solidFill>
                  <a:srgbClr val="FFFFFF"/>
                </a:solidFill>
                <a:latin typeface="Arial"/>
                <a:ea typeface="Arial"/>
                <a:cs typeface="Arial"/>
                <a:sym typeface="Arial"/>
              </a:rPr>
              <a:t>MoE</a:t>
            </a:r>
            <a:r>
              <a:rPr b="0" i="1" lang="en-US" sz="1800" u="none" cap="none" strike="noStrike">
                <a:solidFill>
                  <a:srgbClr val="FFFFFF"/>
                </a:solidFill>
                <a:latin typeface="Arial"/>
                <a:ea typeface="Arial"/>
                <a:cs typeface="Arial"/>
                <a:sym typeface="Arial"/>
              </a:rPr>
              <a:t> calls on your plant …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t/>
            </a:r>
            <a:endParaRPr b="0" i="1" sz="1800" u="none" cap="none" strike="noStrike">
              <a:solidFill>
                <a:srgbClr val="FFFFFF"/>
              </a:solidFill>
              <a:latin typeface="Arial"/>
              <a:ea typeface="Arial"/>
              <a:cs typeface="Arial"/>
              <a:sym typeface="Arial"/>
            </a:endParaRPr>
          </a:p>
          <a:p>
            <a:pPr indent="0" lvl="0" marL="0" marR="0" rtl="0" algn="l">
              <a:spcBef>
                <a:spcPts val="0"/>
              </a:spcBef>
              <a:spcAft>
                <a:spcPts val="0"/>
              </a:spcAft>
              <a:buNone/>
            </a:pPr>
            <a:r>
              <a:rPr b="1" i="1" lang="en-US" sz="1800">
                <a:solidFill>
                  <a:srgbClr val="FFFFFF"/>
                </a:solidFill>
                <a:latin typeface="Arial"/>
                <a:ea typeface="Arial"/>
                <a:cs typeface="Arial"/>
                <a:sym typeface="Arial"/>
              </a:rPr>
              <a:t>The issue:</a:t>
            </a:r>
            <a:r>
              <a:rPr b="0" i="1" lang="en-US" sz="1800">
                <a:solidFill>
                  <a:srgbClr val="FFFFFF"/>
                </a:solidFill>
                <a:latin typeface="Arial"/>
                <a:ea typeface="Arial"/>
                <a:cs typeface="Arial"/>
                <a:sym typeface="Arial"/>
              </a:rPr>
              <a:t> You find a “compromising document”, and both of you realize it can be harmful to the company. </a:t>
            </a:r>
            <a:endParaRPr/>
          </a:p>
          <a:p>
            <a:pPr indent="0" lvl="0" marL="0" marR="0" rtl="0" algn="l">
              <a:lnSpc>
                <a:spcPct val="100000"/>
              </a:lnSpc>
              <a:spcBef>
                <a:spcPts val="0"/>
              </a:spcBef>
              <a:spcAft>
                <a:spcPts val="0"/>
              </a:spcAft>
              <a:buClr>
                <a:srgbClr val="FFFFFF"/>
              </a:buClr>
              <a:buSzPts val="1800"/>
              <a:buFont typeface="Arial"/>
              <a:buNone/>
            </a:pPr>
            <a:r>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Possible decisions: </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Destroy the document. </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Replace the document for their discovery.</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Give the document to the investigators.</a:t>
            </a:r>
            <a:endParaRPr/>
          </a:p>
          <a:p>
            <a:pPr indent="0" lvl="0" marL="0" marR="0" rtl="0" algn="l">
              <a:lnSpc>
                <a:spcPct val="100000"/>
              </a:lnSpc>
              <a:spcBef>
                <a:spcPts val="0"/>
              </a:spcBef>
              <a:spcAft>
                <a:spcPts val="0"/>
              </a:spcAft>
              <a:buClr>
                <a:srgbClr val="FFFF00"/>
              </a:buClr>
              <a:buSzPts val="1800"/>
              <a:buFont typeface="Arial"/>
              <a:buNone/>
            </a:pPr>
            <a:r>
              <a:rPr b="0" i="1" lang="en-US" sz="1800" u="none" cap="none" strike="noStrike">
                <a:solidFill>
                  <a:srgbClr val="FFFF00"/>
                </a:solidFill>
                <a:latin typeface="Arial"/>
                <a:ea typeface="Arial"/>
                <a:cs typeface="Arial"/>
                <a:sym typeface="Arial"/>
              </a:rPr>
              <a:t>Which of the above possible decisions is: Unethical? Ethical? Legal?</a:t>
            </a:r>
            <a:endParaRPr b="0" i="1" sz="1800" u="none" cap="none" strike="noStrike">
              <a:solidFill>
                <a:srgbClr val="FFFF00"/>
              </a:solidFill>
              <a:latin typeface="Arial"/>
              <a:ea typeface="Arial"/>
              <a:cs typeface="Arial"/>
              <a:sym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03" name="Google Shape;303;p2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04" name="Google Shape;304;p2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Two “ideas” about of integrity and ethical conduct: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1) Doing the right thing at the right time.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This is very easy to do if it is a positive or a pleasant choice. </a:t>
            </a:r>
            <a:endParaRPr b="0" i="1"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It is not easy to do when it is not positive, nor pleasant, nor popular.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2) Doing the right thing at the right time when nobody is watching.</a:t>
            </a:r>
            <a:endParaRPr b="0" i="0" sz="2000" u="none" cap="none" strike="noStrike">
              <a:solidFill>
                <a:srgbClr val="000000"/>
              </a:solidFill>
              <a:latin typeface="Arial"/>
              <a:ea typeface="Arial"/>
              <a:cs typeface="Arial"/>
              <a:sym typeface="Arial"/>
            </a:endParaRPr>
          </a:p>
        </p:txBody>
      </p:sp>
      <p:sp>
        <p:nvSpPr>
          <p:cNvPr id="305" name="Google Shape;305;p2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Integrity and Ethical Behaviour: </a:t>
            </a:r>
            <a:endParaRPr/>
          </a:p>
        </p:txBody>
      </p:sp>
      <p:sp>
        <p:nvSpPr>
          <p:cNvPr id="306" name="Google Shape;306;p26"/>
          <p:cNvSpPr txBox="1"/>
          <p:nvPr/>
        </p:nvSpPr>
        <p:spPr>
          <a:xfrm>
            <a:off x="180000" y="3060000"/>
            <a:ext cx="8640000" cy="3060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situation: </a:t>
            </a:r>
            <a:r>
              <a:rPr b="0" i="1" lang="en-US" sz="1800" u="none" cap="none" strike="noStrike">
                <a:solidFill>
                  <a:srgbClr val="FFFFFF"/>
                </a:solidFill>
                <a:latin typeface="Arial"/>
                <a:ea typeface="Arial"/>
                <a:cs typeface="Arial"/>
                <a:sym typeface="Arial"/>
              </a:rPr>
              <a:t>The regional </a:t>
            </a:r>
            <a:r>
              <a:rPr b="0" i="1" lang="en-US" sz="1800" u="sng" cap="none" strike="noStrike">
                <a:solidFill>
                  <a:srgbClr val="FFFFFF"/>
                </a:solidFill>
                <a:latin typeface="Arial"/>
                <a:ea typeface="Arial"/>
                <a:cs typeface="Arial"/>
                <a:sym typeface="Arial"/>
              </a:rPr>
              <a:t>IEB</a:t>
            </a:r>
            <a:r>
              <a:rPr b="0" i="1" lang="en-US" sz="1800" u="none" cap="none" strike="noStrike">
                <a:solidFill>
                  <a:srgbClr val="FFFFFF"/>
                </a:solidFill>
                <a:latin typeface="Arial"/>
                <a:ea typeface="Arial"/>
                <a:cs typeface="Arial"/>
                <a:sym typeface="Arial"/>
              </a:rPr>
              <a:t> of the </a:t>
            </a:r>
            <a:r>
              <a:rPr b="0" i="1" lang="en-US" sz="1800" u="sng" cap="none" strike="noStrike">
                <a:solidFill>
                  <a:srgbClr val="FFFFFF"/>
                </a:solidFill>
                <a:latin typeface="Arial"/>
                <a:ea typeface="Arial"/>
                <a:cs typeface="Arial"/>
                <a:sym typeface="Arial"/>
              </a:rPr>
              <a:t>MoE</a:t>
            </a:r>
            <a:r>
              <a:rPr b="0" i="1" lang="en-US" sz="1800" u="none" cap="none" strike="noStrike">
                <a:solidFill>
                  <a:srgbClr val="FFFFFF"/>
                </a:solidFill>
                <a:latin typeface="Arial"/>
                <a:ea typeface="Arial"/>
                <a:cs typeface="Arial"/>
                <a:sym typeface="Arial"/>
              </a:rPr>
              <a:t> calls on your plant …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t/>
            </a:r>
            <a:endParaRPr b="1"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issue:</a:t>
            </a:r>
            <a:r>
              <a:rPr b="0" i="1" lang="en-US" sz="1800" u="none" cap="none" strike="noStrike">
                <a:solidFill>
                  <a:srgbClr val="FFFFFF"/>
                </a:solidFill>
                <a:latin typeface="Arial"/>
                <a:ea typeface="Arial"/>
                <a:cs typeface="Arial"/>
                <a:sym typeface="Arial"/>
              </a:rPr>
              <a:t> You find a “compromising document”, and both of you realize it can be harmful to the company. </a:t>
            </a:r>
            <a:endParaRPr/>
          </a:p>
          <a:p>
            <a:pPr indent="0" lvl="0" marL="0" marR="0" rtl="0" algn="l">
              <a:lnSpc>
                <a:spcPct val="100000"/>
              </a:lnSpc>
              <a:spcBef>
                <a:spcPts val="0"/>
              </a:spcBef>
              <a:spcAft>
                <a:spcPts val="0"/>
              </a:spcAft>
              <a:buClr>
                <a:srgbClr val="FFFFFF"/>
              </a:buClr>
              <a:buSzPts val="1800"/>
              <a:buFont typeface="Arial"/>
              <a:buNone/>
            </a:pPr>
            <a:r>
              <a:t/>
            </a:r>
            <a:endParaRPr b="1"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Possible decisions:</a:t>
            </a:r>
            <a:r>
              <a:rPr b="0" i="1" lang="en-US" sz="1800" u="none" cap="none" strike="noStrike">
                <a:solidFill>
                  <a:srgbClr val="FFFFFF"/>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Destroy the document.</a:t>
            </a:r>
            <a:r>
              <a:rPr b="1" i="1" lang="en-US" sz="1800" u="none" cap="none" strike="noStrike">
                <a:solidFill>
                  <a:srgbClr val="FFFF00"/>
                </a:solidFill>
                <a:latin typeface="Arial"/>
                <a:ea typeface="Arial"/>
                <a:cs typeface="Arial"/>
                <a:sym typeface="Arial"/>
              </a:rPr>
              <a:t> Unethical, possibly illegal!</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Replace the document for their discovery. </a:t>
            </a:r>
            <a:r>
              <a:rPr b="1" i="1" lang="en-US" sz="1800" u="none" cap="none" strike="noStrike">
                <a:solidFill>
                  <a:srgbClr val="FFFF00"/>
                </a:solidFill>
                <a:latin typeface="Arial"/>
                <a:ea typeface="Arial"/>
                <a:cs typeface="Arial"/>
                <a:sym typeface="Arial"/>
              </a:rPr>
              <a:t>Ethical AND legal.</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Give the document to the investigators. </a:t>
            </a:r>
            <a:r>
              <a:rPr b="1" i="1" lang="en-US" sz="1800" u="none" cap="none" strike="noStrike">
                <a:solidFill>
                  <a:srgbClr val="FFFF00"/>
                </a:solidFill>
                <a:latin typeface="Arial"/>
                <a:ea typeface="Arial"/>
                <a:cs typeface="Arial"/>
                <a:sym typeface="Arial"/>
              </a:rPr>
              <a:t>Ethical or unethical?  </a:t>
            </a:r>
            <a:br>
              <a:rPr b="1" i="1" lang="en-US" sz="1800" u="none" cap="none" strike="noStrike">
                <a:solidFill>
                  <a:srgbClr val="FFFF00"/>
                </a:solidFill>
                <a:latin typeface="Arial"/>
                <a:ea typeface="Arial"/>
                <a:cs typeface="Arial"/>
                <a:sym typeface="Arial"/>
              </a:rPr>
            </a:br>
            <a:r>
              <a:rPr b="1" i="1" lang="en-US" sz="1800" u="none" cap="none" strike="noStrike">
                <a:solidFill>
                  <a:srgbClr val="FFFF00"/>
                </a:solidFill>
                <a:latin typeface="Arial"/>
                <a:ea typeface="Arial"/>
                <a:cs typeface="Arial"/>
                <a:sym typeface="Arial"/>
              </a:rPr>
              <a:t>From your employer’s perspective, this is certainly contrary to your employer’s interests, and therefore they may consider it unethical. </a:t>
            </a:r>
            <a:endParaRPr b="1" i="1" sz="1800" u="none" cap="none" strike="noStrike">
              <a:solidFill>
                <a:srgbClr val="FFFF00"/>
              </a:solidFill>
              <a:latin typeface="Arial"/>
              <a:ea typeface="Arial"/>
              <a:cs typeface="Arial"/>
              <a:sym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Ethical Behaviour &amp; the Decision-Making Process:</a:t>
            </a:r>
            <a:endParaRPr/>
          </a:p>
        </p:txBody>
      </p:sp>
      <p:sp>
        <p:nvSpPr>
          <p:cNvPr id="313" name="Google Shape;313;p2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14" name="Google Shape;314;p2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15" name="Google Shape;315;p27"/>
          <p:cNvSpPr txBox="1"/>
          <p:nvPr/>
        </p:nvSpPr>
        <p:spPr>
          <a:xfrm>
            <a:off x="180000" y="888213"/>
            <a:ext cx="8640000" cy="5328000"/>
          </a:xfrm>
          <a:prstGeom prst="rect">
            <a:avLst/>
          </a:prstGeom>
          <a:solidFill>
            <a:schemeClr val="lt1"/>
          </a:solidFill>
          <a:ln>
            <a:noFill/>
          </a:ln>
        </p:spPr>
        <p:txBody>
          <a:bodyPr anchorCtr="0" anchor="t" bIns="45700" lIns="91425" spcFirstLastPara="1" rIns="91425" wrap="square" tIns="45700">
            <a:normAutofit/>
          </a:bodyPr>
          <a:lstStyle/>
          <a:p>
            <a:pPr indent="-609600" lvl="0" marL="609600" marR="0" rtl="0" algn="l">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Consider applying ethics in the span of decision making:</a:t>
            </a:r>
            <a:endParaRPr/>
          </a:p>
          <a:p>
            <a:pPr indent="-482600" lvl="0" marL="609600" marR="0" rtl="0" algn="l">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609600" lvl="0" marL="609600" marR="0" rtl="0" algn="ctr">
              <a:spcBef>
                <a:spcPts val="0"/>
              </a:spcBef>
              <a:spcAft>
                <a:spcPts val="0"/>
              </a:spcAft>
              <a:buClr>
                <a:srgbClr val="000000"/>
              </a:buClr>
              <a:buSzPts val="2000"/>
              <a:buFont typeface="Noto Sans Symbols"/>
              <a:buNone/>
            </a:pPr>
            <a:r>
              <a:rPr b="1" lang="en-US" sz="2000">
                <a:solidFill>
                  <a:srgbClr val="000000"/>
                </a:solidFill>
                <a:latin typeface="Arial"/>
                <a:ea typeface="Arial"/>
                <a:cs typeface="Arial"/>
                <a:sym typeface="Arial"/>
              </a:rPr>
              <a:t>Unethical                                                                                   Ethical</a:t>
            </a:r>
            <a:endParaRPr/>
          </a:p>
          <a:p>
            <a:pPr indent="-609600" lvl="0" marL="609600" marR="0" rtl="0" algn="ctr">
              <a:spcBef>
                <a:spcPts val="0"/>
              </a:spcBef>
              <a:spcAft>
                <a:spcPts val="0"/>
              </a:spcAft>
              <a:buClr>
                <a:srgbClr val="000000"/>
              </a:buClr>
              <a:buSzPts val="2000"/>
              <a:buFont typeface="Noto Sans Symbols"/>
              <a:buNone/>
            </a:pPr>
            <a:r>
              <a:t/>
            </a:r>
            <a:endParaRPr b="1" sz="2000">
              <a:solidFill>
                <a:srgbClr val="000000"/>
              </a:solidFill>
              <a:latin typeface="Arial"/>
              <a:ea typeface="Arial"/>
              <a:cs typeface="Arial"/>
              <a:sym typeface="Arial"/>
            </a:endParaRPr>
          </a:p>
          <a:p>
            <a:pPr indent="-609600" lvl="0" marL="609600" marR="0" rtl="0" algn="ctr">
              <a:spcBef>
                <a:spcPts val="0"/>
              </a:spcBef>
              <a:spcAft>
                <a:spcPts val="0"/>
              </a:spcAft>
              <a:buClr>
                <a:srgbClr val="000000"/>
              </a:buClr>
              <a:buSzPts val="2000"/>
              <a:buFont typeface="Noto Sans Symbols"/>
              <a:buNone/>
            </a:pPr>
            <a:r>
              <a:t/>
            </a:r>
            <a:endParaRPr b="1" sz="2000">
              <a:solidFill>
                <a:srgbClr val="000000"/>
              </a:solidFill>
              <a:latin typeface="Arial"/>
              <a:ea typeface="Arial"/>
              <a:cs typeface="Arial"/>
              <a:sym typeface="Arial"/>
            </a:endParaRPr>
          </a:p>
          <a:p>
            <a:pPr indent="-609600" lvl="0" marL="609600" marR="0" rtl="0" algn="ctr">
              <a:spcBef>
                <a:spcPts val="0"/>
              </a:spcBef>
              <a:spcAft>
                <a:spcPts val="0"/>
              </a:spcAft>
              <a:buClr>
                <a:srgbClr val="000000"/>
              </a:buClr>
              <a:buSzPts val="2000"/>
              <a:buFont typeface="Noto Sans Symbols"/>
              <a:buNone/>
            </a:pPr>
            <a:r>
              <a:t/>
            </a:r>
            <a:endParaRPr b="1" sz="2000">
              <a:solidFill>
                <a:srgbClr val="000000"/>
              </a:solidFill>
              <a:latin typeface="Arial"/>
              <a:ea typeface="Arial"/>
              <a:cs typeface="Arial"/>
              <a:sym typeface="Arial"/>
            </a:endParaRPr>
          </a:p>
          <a:p>
            <a:pPr indent="-609600" lvl="0" marL="609600" marR="0" rtl="0" algn="ctr">
              <a:spcBef>
                <a:spcPts val="0"/>
              </a:spcBef>
              <a:spcAft>
                <a:spcPts val="0"/>
              </a:spcAft>
              <a:buClr>
                <a:srgbClr val="000000"/>
              </a:buClr>
              <a:buSzPts val="2000"/>
              <a:buFont typeface="Noto Sans Symbols"/>
              <a:buNone/>
            </a:pPr>
            <a:r>
              <a:rPr b="1" lang="en-US" sz="2000">
                <a:solidFill>
                  <a:srgbClr val="000000"/>
                </a:solidFill>
                <a:latin typeface="Arial"/>
                <a:ea typeface="Arial"/>
                <a:cs typeface="Arial"/>
                <a:sym typeface="Arial"/>
              </a:rPr>
              <a:t>Collusion … Coercion … Co-option … Co-operation … Collaboration</a:t>
            </a:r>
            <a:endParaRPr/>
          </a:p>
          <a:p>
            <a:pPr indent="-609600" lvl="0" marL="609600" marR="0" rtl="0" algn="r">
              <a:spcBef>
                <a:spcPts val="0"/>
              </a:spcBef>
              <a:spcAft>
                <a:spcPts val="0"/>
              </a:spcAft>
              <a:buClr>
                <a:srgbClr val="000000"/>
              </a:buClr>
              <a:buSzPts val="2000"/>
              <a:buFont typeface="Noto Sans Symbols"/>
              <a:buNone/>
            </a:pPr>
            <a:r>
              <a:t/>
            </a:r>
            <a:endParaRPr b="0" i="1" sz="2000">
              <a:solidFill>
                <a:srgbClr val="000000"/>
              </a:solidFill>
              <a:latin typeface="Arial"/>
              <a:ea typeface="Arial"/>
              <a:cs typeface="Arial"/>
              <a:sym typeface="Arial"/>
            </a:endParaRPr>
          </a:p>
          <a:p>
            <a:pPr indent="-609600" lvl="0" marL="609600" marR="0" rtl="0" algn="r">
              <a:spcBef>
                <a:spcPts val="0"/>
              </a:spcBef>
              <a:spcAft>
                <a:spcPts val="0"/>
              </a:spcAft>
              <a:buClr>
                <a:srgbClr val="000000"/>
              </a:buClr>
              <a:buSzPts val="2000"/>
              <a:buFont typeface="Noto Sans Symbols"/>
              <a:buNone/>
            </a:pPr>
            <a:r>
              <a:rPr b="0" i="1" lang="en-US" sz="2000">
                <a:solidFill>
                  <a:srgbClr val="000000"/>
                </a:solidFill>
                <a:latin typeface="Arial"/>
                <a:ea typeface="Arial"/>
                <a:cs typeface="Arial"/>
                <a:sym typeface="Arial"/>
              </a:rPr>
              <a:t>On ideas expressed By Mark Flint, P.Eng., Former CEO APEGA</a:t>
            </a:r>
            <a:endParaRPr b="0" i="1" sz="2000">
              <a:solidFill>
                <a:srgbClr val="000000"/>
              </a:solidFill>
              <a:latin typeface="Arial"/>
              <a:ea typeface="Arial"/>
              <a:cs typeface="Arial"/>
              <a:sym typeface="Arial"/>
            </a:endParaRPr>
          </a:p>
        </p:txBody>
      </p:sp>
      <p:sp>
        <p:nvSpPr>
          <p:cNvPr id="316" name="Google Shape;316;p27"/>
          <p:cNvSpPr txBox="1"/>
          <p:nvPr/>
        </p:nvSpPr>
        <p:spPr>
          <a:xfrm>
            <a:off x="180000" y="3886200"/>
            <a:ext cx="8640000" cy="23058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Q: As professionals, where must we be?</a:t>
            </a:r>
            <a:endParaRPr/>
          </a:p>
          <a:p>
            <a:pPr indent="-215900" lvl="0" marL="342900" marR="0" rtl="0" algn="l">
              <a:lnSpc>
                <a:spcPct val="100000"/>
              </a:lnSpc>
              <a:spcBef>
                <a:spcPts val="0"/>
              </a:spcBef>
              <a:spcAft>
                <a:spcPts val="0"/>
              </a:spcAft>
              <a:buClr>
                <a:srgbClr val="FFFFFF"/>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We must strive to be at the green end – </a:t>
            </a:r>
            <a:r>
              <a:rPr b="0" i="1" lang="en-US" sz="2000" u="sng" cap="none" strike="noStrike">
                <a:solidFill>
                  <a:srgbClr val="FFFFFF"/>
                </a:solidFill>
                <a:latin typeface="Arial"/>
                <a:ea typeface="Arial"/>
                <a:cs typeface="Arial"/>
                <a:sym typeface="Arial"/>
              </a:rPr>
              <a:t>cooperation</a:t>
            </a:r>
            <a:r>
              <a:rPr b="0" i="1" lang="en-US" sz="2000" u="none" cap="none" strike="noStrike">
                <a:solidFill>
                  <a:srgbClr val="FFFFFF"/>
                </a:solidFill>
                <a:latin typeface="Arial"/>
                <a:ea typeface="Arial"/>
                <a:cs typeface="Arial"/>
                <a:sym typeface="Arial"/>
              </a:rPr>
              <a:t> and </a:t>
            </a:r>
            <a:r>
              <a:rPr b="0" i="1" lang="en-US" sz="2000" u="sng" cap="none" strike="noStrike">
                <a:solidFill>
                  <a:srgbClr val="FFFFFF"/>
                </a:solidFill>
                <a:latin typeface="Arial"/>
                <a:ea typeface="Arial"/>
                <a:cs typeface="Arial"/>
                <a:sym typeface="Arial"/>
              </a:rPr>
              <a:t>collaboration</a:t>
            </a:r>
            <a:r>
              <a:rPr b="0" i="1" lang="en-US" sz="2000" u="none" cap="none" strike="noStrike">
                <a:solidFill>
                  <a:srgbClr val="FFFFFF"/>
                </a:solidFill>
                <a:latin typeface="Arial"/>
                <a:ea typeface="Arial"/>
                <a:cs typeface="Arial"/>
                <a:sym typeface="Arial"/>
              </a:rPr>
              <a:t>!</a:t>
            </a:r>
            <a:endParaRPr b="0" i="1" sz="2000" u="none" cap="none" strike="noStrike">
              <a:solidFill>
                <a:srgbClr val="FFFFFF"/>
              </a:solidFill>
              <a:latin typeface="Arial"/>
              <a:ea typeface="Arial"/>
              <a:cs typeface="Arial"/>
              <a:sym typeface="Arial"/>
            </a:endParaRPr>
          </a:p>
          <a:p>
            <a:pPr indent="-215900" lvl="0" marL="342900" marR="0" rtl="0" algn="l">
              <a:lnSpc>
                <a:spcPct val="100000"/>
              </a:lnSpc>
              <a:spcBef>
                <a:spcPts val="0"/>
              </a:spcBef>
              <a:spcAft>
                <a:spcPts val="0"/>
              </a:spcAft>
              <a:buClr>
                <a:srgbClr val="FFFFFF"/>
              </a:buClr>
              <a:buSzPts val="2000"/>
              <a:buFont typeface="Noto Sans Symbols"/>
              <a:buNone/>
            </a:pPr>
            <a:r>
              <a:t/>
            </a:r>
            <a:endParaRPr b="0" i="1" sz="2000" u="none" cap="none" strike="noStrike">
              <a:solidFill>
                <a:srgbClr val="FFFFFF"/>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Usually most teams are at </a:t>
            </a:r>
            <a:r>
              <a:rPr b="0" i="1" lang="en-US" sz="2000" u="sng" cap="none" strike="noStrike">
                <a:solidFill>
                  <a:srgbClr val="FFFFFF"/>
                </a:solidFill>
                <a:latin typeface="Arial"/>
                <a:ea typeface="Arial"/>
                <a:cs typeface="Arial"/>
                <a:sym typeface="Arial"/>
              </a:rPr>
              <a:t>co-operation</a:t>
            </a:r>
            <a:r>
              <a:rPr b="0" i="1" lang="en-US" sz="2000" u="none" cap="none" strike="noStrike">
                <a:solidFill>
                  <a:srgbClr val="FFFFFF"/>
                </a:solidFill>
                <a:latin typeface="Arial"/>
                <a:ea typeface="Arial"/>
                <a:cs typeface="Arial"/>
                <a:sym typeface="Arial"/>
              </a:rPr>
              <a:t>. Certainly </a:t>
            </a:r>
            <a:r>
              <a:rPr b="0" i="1" lang="en-US" sz="2000" u="sng" cap="none" strike="noStrike">
                <a:solidFill>
                  <a:srgbClr val="FFFFFF"/>
                </a:solidFill>
                <a:latin typeface="Arial"/>
                <a:ea typeface="Arial"/>
                <a:cs typeface="Arial"/>
                <a:sym typeface="Arial"/>
              </a:rPr>
              <a:t>collaboration</a:t>
            </a:r>
            <a:r>
              <a:rPr b="0" i="1" lang="en-US" sz="2000" u="none" cap="none" strike="noStrike">
                <a:solidFill>
                  <a:srgbClr val="FFFFFF"/>
                </a:solidFill>
                <a:latin typeface="Arial"/>
                <a:ea typeface="Arial"/>
                <a:cs typeface="Arial"/>
                <a:sym typeface="Arial"/>
              </a:rPr>
              <a:t> is most desirable. We coach for this and teams strive for this. </a:t>
            </a:r>
            <a:endParaRPr/>
          </a:p>
        </p:txBody>
      </p:sp>
      <p:sp>
        <p:nvSpPr>
          <p:cNvPr id="317" name="Google Shape;317;p27"/>
          <p:cNvSpPr/>
          <p:nvPr/>
        </p:nvSpPr>
        <p:spPr>
          <a:xfrm>
            <a:off x="723900" y="1676400"/>
            <a:ext cx="7696200" cy="914400"/>
          </a:xfrm>
          <a:prstGeom prst="rightArrow">
            <a:avLst>
              <a:gd fmla="val 50000" name="adj1"/>
              <a:gd fmla="val 210417" name="adj2"/>
            </a:avLst>
          </a:prstGeom>
          <a:gradFill>
            <a:gsLst>
              <a:gs pos="0">
                <a:srgbClr val="CC0000"/>
              </a:gs>
              <a:gs pos="100000">
                <a:srgbClr val="00FF00"/>
              </a:gs>
            </a:gsLst>
            <a:lin ang="0" scaled="0"/>
          </a:gradFill>
          <a:ln cap="flat" cmpd="sng" w="9525">
            <a:solidFill>
              <a:srgbClr val="000000"/>
            </a:solidFill>
            <a:prstDash val="solid"/>
            <a:miter lim="800000"/>
            <a:headEnd len="sm" w="sm" type="none"/>
            <a:tailEnd len="sm" w="sm" type="none"/>
          </a:ln>
          <a:effectLst>
            <a:outerShdw rotWithShape="0" algn="ctr" dir="2700000" dist="107763">
              <a:srgbClr val="808080">
                <a:alpha val="4980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Two “ideas” about of integrity and ethical conduct: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1) Doing the right thing at the right time.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This is very easy to do if it is a positive or a pleasant choice. </a:t>
            </a:r>
            <a:endParaRPr b="0" i="1" sz="2000" u="none" cap="none" strike="noStrike">
              <a:solidFill>
                <a:srgbClr val="000000"/>
              </a:solidFill>
              <a:latin typeface="Arial"/>
              <a:ea typeface="Arial"/>
              <a:cs typeface="Arial"/>
              <a:sym typeface="Arial"/>
            </a:endParaRPr>
          </a:p>
          <a:p>
            <a:pPr indent="-359999" lvl="1" marL="720000" marR="0" rtl="0" algn="l">
              <a:lnSpc>
                <a:spcPct val="100000"/>
              </a:lnSpc>
              <a:spcBef>
                <a:spcPts val="0"/>
              </a:spcBef>
              <a:spcAft>
                <a:spcPts val="0"/>
              </a:spcAft>
              <a:buClr>
                <a:srgbClr val="000000"/>
              </a:buClr>
              <a:buSzPts val="2000"/>
              <a:buFont typeface="Noto Sans Symbols"/>
              <a:buChar char="⮚"/>
            </a:pPr>
            <a:r>
              <a:rPr b="0" i="1" lang="en-US" sz="2000" u="none" cap="none" strike="noStrike">
                <a:solidFill>
                  <a:srgbClr val="000000"/>
                </a:solidFill>
                <a:latin typeface="Arial"/>
                <a:ea typeface="Arial"/>
                <a:cs typeface="Arial"/>
                <a:sym typeface="Arial"/>
              </a:rPr>
              <a:t>It is not easy to do when it is not positive, nor pleasant, nor popular.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2) Doing the right thing at the right time when nobody is watching.</a:t>
            </a:r>
            <a:endParaRPr b="0" i="0" sz="2000" u="none" cap="none" strike="noStrike">
              <a:solidFill>
                <a:srgbClr val="000000"/>
              </a:solidFill>
              <a:latin typeface="Arial"/>
              <a:ea typeface="Arial"/>
              <a:cs typeface="Arial"/>
              <a:sym typeface="Arial"/>
            </a:endParaRPr>
          </a:p>
        </p:txBody>
      </p:sp>
      <p:sp>
        <p:nvSpPr>
          <p:cNvPr id="324" name="Google Shape;324;p2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Integrity and Ethical Behaviour: </a:t>
            </a:r>
            <a:endParaRPr/>
          </a:p>
        </p:txBody>
      </p:sp>
      <p:sp>
        <p:nvSpPr>
          <p:cNvPr id="325" name="Google Shape;325;p2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26" name="Google Shape;326;p2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27" name="Google Shape;327;p28"/>
          <p:cNvSpPr txBox="1"/>
          <p:nvPr/>
        </p:nvSpPr>
        <p:spPr>
          <a:xfrm>
            <a:off x="180000" y="3060000"/>
            <a:ext cx="8640000" cy="3060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situation: </a:t>
            </a:r>
            <a:r>
              <a:rPr b="0" i="1" lang="en-US" sz="1800" u="none" cap="none" strike="noStrike">
                <a:solidFill>
                  <a:srgbClr val="FFFFFF"/>
                </a:solidFill>
                <a:latin typeface="Arial"/>
                <a:ea typeface="Arial"/>
                <a:cs typeface="Arial"/>
                <a:sym typeface="Arial"/>
              </a:rPr>
              <a:t>The regional regional </a:t>
            </a:r>
            <a:r>
              <a:rPr b="0" i="1" lang="en-US" sz="1800" u="sng" cap="none" strike="noStrike">
                <a:solidFill>
                  <a:srgbClr val="FFFFFF"/>
                </a:solidFill>
                <a:latin typeface="Arial"/>
                <a:ea typeface="Arial"/>
                <a:cs typeface="Arial"/>
                <a:sym typeface="Arial"/>
              </a:rPr>
              <a:t>IEB</a:t>
            </a:r>
            <a:r>
              <a:rPr b="0" i="1" lang="en-US" sz="1800" u="none" cap="none" strike="noStrike">
                <a:solidFill>
                  <a:srgbClr val="FFFFFF"/>
                </a:solidFill>
                <a:latin typeface="Arial"/>
                <a:ea typeface="Arial"/>
                <a:cs typeface="Arial"/>
                <a:sym typeface="Arial"/>
              </a:rPr>
              <a:t> of the </a:t>
            </a:r>
            <a:r>
              <a:rPr b="0" i="1" lang="en-US" sz="1800" u="sng" cap="none" strike="noStrike">
                <a:solidFill>
                  <a:srgbClr val="FFFFFF"/>
                </a:solidFill>
                <a:latin typeface="Arial"/>
                <a:ea typeface="Arial"/>
                <a:cs typeface="Arial"/>
                <a:sym typeface="Arial"/>
              </a:rPr>
              <a:t>MoE</a:t>
            </a:r>
            <a:r>
              <a:rPr b="0" i="1" lang="en-US" sz="1800" u="none" cap="none" strike="noStrike">
                <a:solidFill>
                  <a:srgbClr val="FFFFFF"/>
                </a:solidFill>
                <a:latin typeface="Arial"/>
                <a:ea typeface="Arial"/>
                <a:cs typeface="Arial"/>
                <a:sym typeface="Arial"/>
              </a:rPr>
              <a:t> calls on your plant … </a:t>
            </a:r>
            <a:endParaRPr b="0"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t/>
            </a:r>
            <a:endParaRPr b="1"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The issue:</a:t>
            </a:r>
            <a:r>
              <a:rPr b="0" i="1" lang="en-US" sz="1800" u="none" cap="none" strike="noStrike">
                <a:solidFill>
                  <a:srgbClr val="FFFFFF"/>
                </a:solidFill>
                <a:latin typeface="Arial"/>
                <a:ea typeface="Arial"/>
                <a:cs typeface="Arial"/>
                <a:sym typeface="Arial"/>
              </a:rPr>
              <a:t> You find a “compromising document”, and both of you realize it can be harmful to the company. </a:t>
            </a:r>
            <a:endParaRPr/>
          </a:p>
          <a:p>
            <a:pPr indent="0" lvl="0" marL="0" marR="0" rtl="0" algn="l">
              <a:lnSpc>
                <a:spcPct val="100000"/>
              </a:lnSpc>
              <a:spcBef>
                <a:spcPts val="0"/>
              </a:spcBef>
              <a:spcAft>
                <a:spcPts val="0"/>
              </a:spcAft>
              <a:buClr>
                <a:srgbClr val="FFFFFF"/>
              </a:buClr>
              <a:buSzPts val="1800"/>
              <a:buFont typeface="Arial"/>
              <a:buNone/>
            </a:pPr>
            <a:r>
              <a:t/>
            </a:r>
            <a:endParaRPr b="1" i="1"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1" i="1" lang="en-US" sz="1800" u="none" cap="none" strike="noStrike">
                <a:solidFill>
                  <a:srgbClr val="FFFFFF"/>
                </a:solidFill>
                <a:latin typeface="Arial"/>
                <a:ea typeface="Arial"/>
                <a:cs typeface="Arial"/>
                <a:sym typeface="Arial"/>
              </a:rPr>
              <a:t>Possible decisions:</a:t>
            </a:r>
            <a:r>
              <a:rPr b="0" i="1" lang="en-US" sz="1800" u="none" cap="none" strike="noStrike">
                <a:solidFill>
                  <a:srgbClr val="FFFFFF"/>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Destroy the document. </a:t>
            </a:r>
            <a:r>
              <a:rPr b="1" i="1" lang="en-US" sz="1800" u="none" cap="none" strike="noStrike">
                <a:solidFill>
                  <a:srgbClr val="FFFF00"/>
                </a:solidFill>
                <a:latin typeface="Arial"/>
                <a:ea typeface="Arial"/>
                <a:cs typeface="Arial"/>
                <a:sym typeface="Arial"/>
              </a:rPr>
              <a:t>Unethical, possibly illegal! </a:t>
            </a:r>
            <a:r>
              <a:rPr b="1" i="1" lang="en-US" sz="1800" u="sng" cap="none" strike="noStrike">
                <a:solidFill>
                  <a:srgbClr val="FFFF00"/>
                </a:solidFill>
                <a:latin typeface="Arial"/>
                <a:ea typeface="Arial"/>
                <a:cs typeface="Arial"/>
                <a:sym typeface="Arial"/>
              </a:rPr>
              <a:t>Collusion</a:t>
            </a:r>
            <a:r>
              <a:rPr b="1" i="1" lang="en-US" sz="1800" u="none" cap="none" strike="noStrike">
                <a:solidFill>
                  <a:srgbClr val="FFFF0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Replace the document for their discovery. </a:t>
            </a:r>
            <a:r>
              <a:rPr b="1" i="1" lang="en-US" sz="1800" u="none" cap="none" strike="noStrike">
                <a:solidFill>
                  <a:srgbClr val="FFFF00"/>
                </a:solidFill>
                <a:latin typeface="Arial"/>
                <a:ea typeface="Arial"/>
                <a:cs typeface="Arial"/>
                <a:sym typeface="Arial"/>
              </a:rPr>
              <a:t>Ethical AND legal. </a:t>
            </a:r>
            <a:r>
              <a:rPr b="1" i="1" lang="en-US" sz="1800" u="sng" cap="none" strike="noStrike">
                <a:solidFill>
                  <a:srgbClr val="FFFF00"/>
                </a:solidFill>
                <a:latin typeface="Arial"/>
                <a:ea typeface="Arial"/>
                <a:cs typeface="Arial"/>
                <a:sym typeface="Arial"/>
              </a:rPr>
              <a:t>Cooperation</a:t>
            </a:r>
            <a:r>
              <a:rPr b="1" i="1" lang="en-US" sz="1800" cap="none" strike="noStrike">
                <a:solidFill>
                  <a:srgbClr val="FFFF00"/>
                </a:solidFill>
                <a:latin typeface="Arial"/>
                <a:ea typeface="Arial"/>
                <a:cs typeface="Arial"/>
                <a:sym typeface="Arial"/>
              </a:rPr>
              <a:t> </a:t>
            </a:r>
            <a:br>
              <a:rPr b="1" i="1" lang="en-US" sz="1800" cap="none" strike="noStrike">
                <a:solidFill>
                  <a:srgbClr val="FFFF00"/>
                </a:solidFill>
                <a:latin typeface="Arial"/>
                <a:ea typeface="Arial"/>
                <a:cs typeface="Arial"/>
                <a:sym typeface="Arial"/>
              </a:rPr>
            </a:br>
            <a:r>
              <a:rPr b="1" i="1" lang="en-US" sz="1800" cap="none" strike="noStrike">
                <a:solidFill>
                  <a:srgbClr val="FFFF00"/>
                </a:solidFill>
                <a:latin typeface="Arial"/>
                <a:ea typeface="Arial"/>
                <a:cs typeface="Arial"/>
                <a:sym typeface="Arial"/>
              </a:rPr>
              <a:t>(you and your supervisor; the company and the IEB</a:t>
            </a:r>
            <a:r>
              <a:rPr b="1" i="1" lang="en-US" sz="1800" u="none" cap="none" strike="noStrike">
                <a:solidFill>
                  <a:srgbClr val="FFFF00"/>
                </a:solidFill>
                <a:latin typeface="Arial"/>
                <a:ea typeface="Arial"/>
                <a:cs typeface="Arial"/>
                <a:sym typeface="Arial"/>
              </a:rPr>
              <a:t>.</a:t>
            </a:r>
            <a:endParaRPr b="1" i="1" sz="1800" u="none" cap="none" strike="noStrike">
              <a:solidFill>
                <a:srgbClr val="FFFF00"/>
              </a:solidFill>
              <a:latin typeface="Arial"/>
              <a:ea typeface="Arial"/>
              <a:cs typeface="Arial"/>
              <a:sym typeface="Arial"/>
            </a:endParaRPr>
          </a:p>
          <a:p>
            <a:pPr indent="-171450" lvl="0" marL="285750" marR="0" rtl="0" algn="l">
              <a:lnSpc>
                <a:spcPct val="100000"/>
              </a:lnSpc>
              <a:spcBef>
                <a:spcPts val="0"/>
              </a:spcBef>
              <a:spcAft>
                <a:spcPts val="0"/>
              </a:spcAft>
              <a:buClr>
                <a:srgbClr val="FFFFFF"/>
              </a:buClr>
              <a:buSzPts val="1800"/>
              <a:buFont typeface="Noto Sans Symbols"/>
              <a:buNone/>
            </a:pPr>
            <a:r>
              <a:t/>
            </a:r>
            <a:endParaRPr b="0" i="1" sz="1800" u="none" cap="none" strike="noStrike">
              <a:solidFill>
                <a:srgbClr val="FFFFFF"/>
              </a:solidFill>
              <a:latin typeface="Arial"/>
              <a:ea typeface="Arial"/>
              <a:cs typeface="Arial"/>
              <a:sym typeface="Arial"/>
            </a:endParaRPr>
          </a:p>
          <a:p>
            <a:pPr indent="-285750" lvl="0" marL="285750" marR="0" rtl="0" algn="l">
              <a:lnSpc>
                <a:spcPct val="100000"/>
              </a:lnSpc>
              <a:spcBef>
                <a:spcPts val="0"/>
              </a:spcBef>
              <a:spcAft>
                <a:spcPts val="0"/>
              </a:spcAft>
              <a:buClr>
                <a:srgbClr val="FFFFFF"/>
              </a:buClr>
              <a:buSzPts val="1800"/>
              <a:buFont typeface="Noto Sans Symbols"/>
              <a:buChar char="⮚"/>
            </a:pPr>
            <a:r>
              <a:rPr b="0" i="1" lang="en-US" sz="1800" u="none" cap="none" strike="noStrike">
                <a:solidFill>
                  <a:srgbClr val="FFFFFF"/>
                </a:solidFill>
                <a:latin typeface="Arial"/>
                <a:ea typeface="Arial"/>
                <a:cs typeface="Arial"/>
                <a:sym typeface="Arial"/>
              </a:rPr>
              <a:t>Give the document to the investigators.</a:t>
            </a:r>
            <a:endParaRPr b="1" i="1" sz="1800" u="none" cap="none" strike="noStrike">
              <a:solidFill>
                <a:srgbClr val="FFFF00"/>
              </a:solidFill>
              <a:latin typeface="Arial"/>
              <a:ea typeface="Arial"/>
              <a:cs typeface="Arial"/>
              <a:sym typeface="Arial"/>
            </a:endParaRPr>
          </a:p>
        </p:txBody>
      </p:sp>
      <p:sp>
        <p:nvSpPr>
          <p:cNvPr id="328" name="Google Shape;328;p28"/>
          <p:cNvSpPr/>
          <p:nvPr/>
        </p:nvSpPr>
        <p:spPr>
          <a:xfrm>
            <a:off x="180000" y="4724400"/>
            <a:ext cx="8640000" cy="1431600"/>
          </a:xfrm>
          <a:prstGeom prst="roundRect">
            <a:avLst>
              <a:gd fmla="val 16667" name="adj"/>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FFFFFF"/>
              </a:solidFill>
              <a:latin typeface="Twentieth Century"/>
              <a:ea typeface="Twentieth Century"/>
              <a:cs typeface="Twentieth Century"/>
              <a:sym typeface="Twentieth Century"/>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Integrity and Ethical Behaviour </a:t>
            </a:r>
            <a:endParaRPr/>
          </a:p>
        </p:txBody>
      </p:sp>
      <p:sp>
        <p:nvSpPr>
          <p:cNvPr id="335" name="Google Shape;335;p2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36" name="Google Shape;336;p2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37" name="Google Shape;337;p29"/>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Two “ideas” about of integrity and ethical conduct: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1) Doing the right thing at the right time.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lang="en-US" sz="2000">
                <a:solidFill>
                  <a:srgbClr val="000000"/>
                </a:solidFill>
                <a:latin typeface="Arial"/>
                <a:ea typeface="Arial"/>
                <a:cs typeface="Arial"/>
                <a:sym typeface="Arial"/>
              </a:rPr>
              <a:t>2) Doing the right thing at the right time </a:t>
            </a:r>
            <a:r>
              <a:rPr b="0" lang="en-US" sz="2000" u="sng">
                <a:solidFill>
                  <a:srgbClr val="000000"/>
                </a:solidFill>
                <a:latin typeface="Arial"/>
                <a:ea typeface="Arial"/>
                <a:cs typeface="Arial"/>
                <a:sym typeface="Arial"/>
              </a:rPr>
              <a:t>when nobody is watching</a:t>
            </a:r>
            <a:r>
              <a:rPr b="0" lang="en-US" sz="2000">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338" name="Google Shape;338;p29"/>
          <p:cNvSpPr txBox="1"/>
          <p:nvPr/>
        </p:nvSpPr>
        <p:spPr>
          <a:xfrm>
            <a:off x="180000" y="2514600"/>
            <a:ext cx="8640000" cy="36054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FFFF"/>
              </a:buClr>
              <a:buSzPts val="1800"/>
              <a:buFont typeface="Arial"/>
              <a:buNone/>
            </a:pPr>
            <a:r>
              <a:rPr b="0" i="1" lang="en-US" sz="1800" u="none" cap="none" strike="noStrike">
                <a:solidFill>
                  <a:srgbClr val="FFFFFF"/>
                </a:solidFill>
                <a:latin typeface="Arial"/>
                <a:ea typeface="Arial"/>
                <a:cs typeface="Arial"/>
                <a:sym typeface="Arial"/>
              </a:rPr>
              <a:t>Both, indeed, are ideal and challenging; however, the latter can be more challenging because it presents an opportunity to make an unethical decisions, or a decision lacking integrity.  </a:t>
            </a:r>
            <a:endParaRPr/>
          </a:p>
          <a:p>
            <a:pPr indent="0" lvl="0" marL="0" marR="0" rtl="0" algn="l">
              <a:lnSpc>
                <a:spcPct val="90000"/>
              </a:lnSpc>
              <a:spcBef>
                <a:spcPts val="0"/>
              </a:spcBef>
              <a:spcAft>
                <a:spcPts val="0"/>
              </a:spcAft>
              <a:buClr>
                <a:srgbClr val="FFFFFF"/>
              </a:buClr>
              <a:buSzPts val="1800"/>
              <a:buFont typeface="Arial"/>
              <a:buNone/>
            </a:pPr>
            <a:r>
              <a:t/>
            </a:r>
            <a:endParaRPr b="0" i="1" sz="1800">
              <a:solidFill>
                <a:srgbClr val="FFFFFF"/>
              </a:solidFill>
              <a:latin typeface="Arial"/>
              <a:ea typeface="Arial"/>
              <a:cs typeface="Arial"/>
              <a:sym typeface="Arial"/>
            </a:endParaRPr>
          </a:p>
          <a:p>
            <a:pPr indent="0" lvl="0" marL="0" marR="0" rtl="0" algn="l">
              <a:lnSpc>
                <a:spcPct val="90000"/>
              </a:lnSpc>
              <a:spcBef>
                <a:spcPts val="0"/>
              </a:spcBef>
              <a:spcAft>
                <a:spcPts val="0"/>
              </a:spcAft>
              <a:buNone/>
            </a:pPr>
            <a:r>
              <a:rPr b="1" i="1" lang="en-US" sz="1800" u="none" cap="none" strike="noStrike">
                <a:solidFill>
                  <a:srgbClr val="FFFFFF"/>
                </a:solidFill>
                <a:latin typeface="Arial"/>
                <a:ea typeface="Arial"/>
                <a:cs typeface="Arial"/>
                <a:sym typeface="Arial"/>
              </a:rPr>
              <a:t>Given </a:t>
            </a:r>
            <a:r>
              <a:rPr b="1" i="1" lang="en-US" sz="1800">
                <a:solidFill>
                  <a:srgbClr val="FFFFFF"/>
                </a:solidFill>
                <a:latin typeface="Arial"/>
                <a:ea typeface="Arial"/>
                <a:cs typeface="Arial"/>
                <a:sym typeface="Arial"/>
              </a:rPr>
              <a:t>the previous situation: </a:t>
            </a:r>
            <a:r>
              <a:rPr b="0" i="1" lang="en-US" sz="1800">
                <a:solidFill>
                  <a:srgbClr val="FFFFFF"/>
                </a:solidFill>
                <a:latin typeface="Arial"/>
                <a:ea typeface="Arial"/>
                <a:cs typeface="Arial"/>
                <a:sym typeface="Arial"/>
              </a:rPr>
              <a:t>The </a:t>
            </a:r>
            <a:r>
              <a:rPr b="0" i="1" lang="en-US" sz="1800" u="sng">
                <a:solidFill>
                  <a:srgbClr val="FFFFFF"/>
                </a:solidFill>
                <a:latin typeface="Arial"/>
                <a:ea typeface="Arial"/>
                <a:cs typeface="Arial"/>
                <a:sym typeface="Arial"/>
              </a:rPr>
              <a:t>IEB</a:t>
            </a:r>
            <a:r>
              <a:rPr b="0" i="1" lang="en-US" sz="1800">
                <a:solidFill>
                  <a:srgbClr val="FFFFFF"/>
                </a:solidFill>
                <a:latin typeface="Arial"/>
                <a:ea typeface="Arial"/>
                <a:cs typeface="Arial"/>
                <a:sym typeface="Arial"/>
              </a:rPr>
              <a:t> of the </a:t>
            </a:r>
            <a:r>
              <a:rPr b="0" i="1" lang="en-US" sz="1800" u="sng">
                <a:solidFill>
                  <a:srgbClr val="FFFFFF"/>
                </a:solidFill>
                <a:latin typeface="Arial"/>
                <a:ea typeface="Arial"/>
                <a:cs typeface="Arial"/>
                <a:sym typeface="Arial"/>
              </a:rPr>
              <a:t>MoE</a:t>
            </a:r>
            <a:r>
              <a:rPr b="0" i="1" lang="en-US" sz="1800">
                <a:solidFill>
                  <a:srgbClr val="FFFFFF"/>
                </a:solidFill>
                <a:latin typeface="Arial"/>
                <a:ea typeface="Arial"/>
                <a:cs typeface="Arial"/>
                <a:sym typeface="Arial"/>
              </a:rPr>
              <a:t> calls on your plant … </a:t>
            </a:r>
            <a:endParaRPr/>
          </a:p>
          <a:p>
            <a:pPr indent="0" lvl="0" marL="0" marR="0" rtl="0" algn="l">
              <a:lnSpc>
                <a:spcPct val="90000"/>
              </a:lnSpc>
              <a:spcBef>
                <a:spcPts val="0"/>
              </a:spcBef>
              <a:spcAft>
                <a:spcPts val="0"/>
              </a:spcAft>
              <a:buNone/>
            </a:pPr>
            <a:r>
              <a:t/>
            </a:r>
            <a:endParaRPr b="1" i="1" sz="1800">
              <a:solidFill>
                <a:srgbClr val="FFFFFF"/>
              </a:solidFill>
              <a:latin typeface="Arial"/>
              <a:ea typeface="Arial"/>
              <a:cs typeface="Arial"/>
              <a:sym typeface="Arial"/>
            </a:endParaRPr>
          </a:p>
          <a:p>
            <a:pPr indent="0" lvl="0" marL="0" marR="0" rtl="0" algn="l">
              <a:lnSpc>
                <a:spcPct val="90000"/>
              </a:lnSpc>
              <a:spcBef>
                <a:spcPts val="0"/>
              </a:spcBef>
              <a:spcAft>
                <a:spcPts val="0"/>
              </a:spcAft>
              <a:buNone/>
            </a:pPr>
            <a:r>
              <a:rPr b="1" i="1" lang="en-US" sz="1800">
                <a:solidFill>
                  <a:srgbClr val="FFFFFF"/>
                </a:solidFill>
                <a:latin typeface="Arial"/>
                <a:ea typeface="Arial"/>
                <a:cs typeface="Arial"/>
                <a:sym typeface="Arial"/>
              </a:rPr>
              <a:t>The issue:</a:t>
            </a:r>
            <a:r>
              <a:rPr b="0" i="1" lang="en-US" sz="1800">
                <a:solidFill>
                  <a:srgbClr val="FFFFFF"/>
                </a:solidFill>
                <a:latin typeface="Arial"/>
                <a:ea typeface="Arial"/>
                <a:cs typeface="Arial"/>
                <a:sym typeface="Arial"/>
              </a:rPr>
              <a:t> You find a “compromising document”, but suppose</a:t>
            </a:r>
            <a:r>
              <a:rPr b="0" i="1" lang="en-US" sz="1800" u="none" cap="none" strike="noStrike">
                <a:solidFill>
                  <a:srgbClr val="FFFFFF"/>
                </a:solidFill>
                <a:latin typeface="Arial"/>
                <a:ea typeface="Arial"/>
                <a:cs typeface="Arial"/>
                <a:sym typeface="Arial"/>
              </a:rPr>
              <a:t> you were by yourself when you found it?</a:t>
            </a:r>
            <a:endParaRPr/>
          </a:p>
          <a:p>
            <a:pPr indent="0" lvl="0" marL="0" marR="0" rtl="0" algn="l">
              <a:lnSpc>
                <a:spcPct val="90000"/>
              </a:lnSpc>
              <a:spcBef>
                <a:spcPts val="0"/>
              </a:spcBef>
              <a:spcAft>
                <a:spcPts val="0"/>
              </a:spcAft>
              <a:buNone/>
            </a:pPr>
            <a:r>
              <a:t/>
            </a:r>
            <a:endParaRPr b="0" i="1" sz="1800">
              <a:solidFill>
                <a:srgbClr val="FFFFFF"/>
              </a:solidFill>
              <a:latin typeface="Arial"/>
              <a:ea typeface="Arial"/>
              <a:cs typeface="Arial"/>
              <a:sym typeface="Arial"/>
            </a:endParaRPr>
          </a:p>
          <a:p>
            <a:pPr indent="0" lvl="0" marL="0" marR="0" rtl="0" algn="l">
              <a:lnSpc>
                <a:spcPct val="90000"/>
              </a:lnSpc>
              <a:spcBef>
                <a:spcPts val="0"/>
              </a:spcBef>
              <a:spcAft>
                <a:spcPts val="0"/>
              </a:spcAft>
              <a:buNone/>
            </a:pPr>
            <a:r>
              <a:rPr b="1" i="1" lang="en-US" sz="1800" u="none" cap="none" strike="noStrike">
                <a:solidFill>
                  <a:srgbClr val="FFFFFF"/>
                </a:solidFill>
                <a:latin typeface="Arial"/>
                <a:ea typeface="Arial"/>
                <a:cs typeface="Arial"/>
                <a:sym typeface="Arial"/>
              </a:rPr>
              <a:t>The Challenge: </a:t>
            </a:r>
            <a:r>
              <a:rPr b="0" i="1" lang="en-US" sz="1800" u="none" cap="none" strike="noStrike">
                <a:solidFill>
                  <a:srgbClr val="FFFFFF"/>
                </a:solidFill>
                <a:latin typeface="Arial"/>
                <a:ea typeface="Arial"/>
                <a:cs typeface="Arial"/>
                <a:sym typeface="Arial"/>
              </a:rPr>
              <a:t>You might be tempted to destroy the document and no one would ever know</a:t>
            </a:r>
            <a:r>
              <a:rPr b="0" i="1" lang="en-US" sz="1800" u="none" cap="none" strike="noStrike">
                <a:solidFill>
                  <a:srgbClr val="FFFFFF"/>
                </a:solidFill>
                <a:latin typeface="Arial"/>
                <a:ea typeface="Arial"/>
                <a:cs typeface="Arial"/>
                <a:sym typeface="Arial"/>
              </a:rPr>
              <a:t> … but if it ever came to light, </a:t>
            </a:r>
            <a:r>
              <a:rPr b="0" i="1" lang="en-US" sz="1800" u="sng" cap="none" strike="noStrike">
                <a:solidFill>
                  <a:srgbClr val="FFFFFF"/>
                </a:solidFill>
                <a:latin typeface="Arial"/>
                <a:ea typeface="Arial"/>
                <a:cs typeface="Arial"/>
                <a:sym typeface="Arial"/>
              </a:rPr>
              <a:t>your actions were unethical</a:t>
            </a:r>
            <a:r>
              <a:rPr b="0" i="1" lang="en-US" sz="1800" u="none" cap="none" strike="noStrike">
                <a:solidFill>
                  <a:srgbClr val="FFFFFF"/>
                </a:solidFill>
                <a:latin typeface="Arial"/>
                <a:ea typeface="Arial"/>
                <a:cs typeface="Arial"/>
                <a:sym typeface="Arial"/>
              </a:rPr>
              <a:t> and possibly illegal. </a:t>
            </a:r>
            <a:endParaRPr/>
          </a:p>
          <a:p>
            <a:pPr indent="0" lvl="0" marL="0" marR="0" rtl="0" algn="l">
              <a:lnSpc>
                <a:spcPct val="90000"/>
              </a:lnSpc>
              <a:spcBef>
                <a:spcPts val="0"/>
              </a:spcBef>
              <a:spcAft>
                <a:spcPts val="0"/>
              </a:spcAft>
              <a:buNone/>
            </a:pPr>
            <a:r>
              <a:t/>
            </a:r>
            <a:endParaRPr b="0" i="1" sz="1800">
              <a:solidFill>
                <a:srgbClr val="FFFFFF"/>
              </a:solidFill>
              <a:latin typeface="Arial"/>
              <a:ea typeface="Arial"/>
              <a:cs typeface="Arial"/>
              <a:sym typeface="Arial"/>
            </a:endParaRPr>
          </a:p>
          <a:p>
            <a:pPr indent="0" lvl="0" marL="0" marR="0" rtl="0" algn="l">
              <a:lnSpc>
                <a:spcPct val="90000"/>
              </a:lnSpc>
              <a:spcBef>
                <a:spcPts val="0"/>
              </a:spcBef>
              <a:spcAft>
                <a:spcPts val="0"/>
              </a:spcAft>
              <a:buNone/>
            </a:pPr>
            <a:r>
              <a:rPr b="1" i="1" lang="en-US" sz="1800" u="none" cap="none" strike="noStrike">
                <a:solidFill>
                  <a:srgbClr val="FFFFFF"/>
                </a:solidFill>
                <a:latin typeface="Arial"/>
                <a:ea typeface="Arial"/>
                <a:cs typeface="Arial"/>
                <a:sym typeface="Arial"/>
              </a:rPr>
              <a:t>The Lesson in all of this: Never do anything unethical!</a:t>
            </a:r>
            <a:endParaRPr b="1" i="1" sz="18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Challenges in your career:</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Pressure created by conflicting values.</a:t>
            </a:r>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Temptation to benefit. </a:t>
            </a:r>
            <a:endParaRPr/>
          </a:p>
          <a:p>
            <a:pPr indent="0" lvl="0" marL="0" marR="0" rtl="0" algn="l">
              <a:lnSpc>
                <a:spcPct val="100000"/>
              </a:lnSpc>
              <a:spcBef>
                <a:spcPts val="0"/>
              </a:spcBef>
              <a:spcAft>
                <a:spcPts val="0"/>
              </a:spcAft>
              <a:buClr>
                <a:srgbClr val="000000"/>
              </a:buClr>
              <a:buSzPts val="2000"/>
              <a:buFont typeface="Arial"/>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Will you:</a:t>
            </a:r>
            <a:endParaRPr b="1"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Uphold: Will you have the courage to make the right ethical decision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when there is pressure to compromise?</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OR</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Acquiesce: Will you give in to pressure or temptation?</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Q: How will you assess such an ethical challenge? </a:t>
            </a:r>
            <a:endParaRPr b="1"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sz="2000">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A: By applying the principles reviewed!</a:t>
            </a:r>
            <a:endParaRPr/>
          </a:p>
        </p:txBody>
      </p:sp>
      <p:sp>
        <p:nvSpPr>
          <p:cNvPr id="345" name="Google Shape;345;p3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The Dilemma: Uphold Ethical Conduct or Acquiesce?</a:t>
            </a:r>
            <a:endParaRPr/>
          </a:p>
        </p:txBody>
      </p:sp>
      <p:sp>
        <p:nvSpPr>
          <p:cNvPr id="346" name="Google Shape;346;p3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47" name="Google Shape;347;p3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You may be able to discuss an ethical challenge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you have faced already.</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Consider these questions in regard to your personal work experience or team project:</a:t>
            </a:r>
            <a:endParaRPr/>
          </a:p>
          <a:p>
            <a:pPr indent="-359999" lvl="1" marL="720000" marR="0" rtl="0" algn="l">
              <a:lnSpc>
                <a:spcPct val="90000"/>
              </a:lnSpc>
              <a:spcBef>
                <a:spcPts val="0"/>
              </a:spcBef>
              <a:spcAft>
                <a:spcPts val="0"/>
              </a:spcAft>
              <a:buClr>
                <a:srgbClr val="000000"/>
              </a:buClr>
              <a:buSzPts val="2000"/>
              <a:buFont typeface="Arial"/>
              <a:buAutoNum type="alphaLcParenR"/>
            </a:pPr>
            <a:r>
              <a:rPr b="0" i="0" lang="en-US" sz="2000" u="none" cap="none" strike="noStrike">
                <a:solidFill>
                  <a:srgbClr val="000000"/>
                </a:solidFill>
                <a:latin typeface="Arial"/>
                <a:ea typeface="Arial"/>
                <a:cs typeface="Arial"/>
                <a:sym typeface="Arial"/>
              </a:rPr>
              <a:t>What is the situation? </a:t>
            </a:r>
            <a:endParaRPr/>
          </a:p>
          <a:p>
            <a:pPr indent="-359999" lvl="1" marL="720000" marR="0" rtl="0" algn="l">
              <a:lnSpc>
                <a:spcPct val="90000"/>
              </a:lnSpc>
              <a:spcBef>
                <a:spcPts val="0"/>
              </a:spcBef>
              <a:spcAft>
                <a:spcPts val="0"/>
              </a:spcAft>
              <a:buClr>
                <a:srgbClr val="000000"/>
              </a:buClr>
              <a:buSzPts val="2000"/>
              <a:buFont typeface="Arial"/>
              <a:buAutoNum type="alphaLcParenR"/>
            </a:pPr>
            <a:r>
              <a:rPr b="0" i="0" lang="en-US" sz="2000" u="none" cap="none" strike="noStrike">
                <a:solidFill>
                  <a:srgbClr val="000000"/>
                </a:solidFill>
                <a:latin typeface="Arial"/>
                <a:ea typeface="Arial"/>
                <a:cs typeface="Arial"/>
                <a:sym typeface="Arial"/>
              </a:rPr>
              <a:t>What is the issue with that situation in terms relative to ethical conduct? </a:t>
            </a:r>
            <a:endParaRPr/>
          </a:p>
          <a:p>
            <a:pPr indent="-359999" lvl="1" marL="720000" marR="0" rtl="0" algn="l">
              <a:lnSpc>
                <a:spcPct val="90000"/>
              </a:lnSpc>
              <a:spcBef>
                <a:spcPts val="0"/>
              </a:spcBef>
              <a:spcAft>
                <a:spcPts val="0"/>
              </a:spcAft>
              <a:buClr>
                <a:srgbClr val="000000"/>
              </a:buClr>
              <a:buSzPts val="2000"/>
              <a:buFont typeface="Arial"/>
              <a:buAutoNum type="alphaLcParenR"/>
            </a:pPr>
            <a:r>
              <a:rPr b="0" i="0" lang="en-US" sz="2000" u="none" cap="none" strike="noStrike">
                <a:solidFill>
                  <a:srgbClr val="000000"/>
                </a:solidFill>
                <a:latin typeface="Arial"/>
                <a:ea typeface="Arial"/>
                <a:cs typeface="Arial"/>
                <a:sym typeface="Arial"/>
              </a:rPr>
              <a:t>What are your possible decisions; identify as ethical or unethical?</a:t>
            </a:r>
            <a:endParaRPr/>
          </a:p>
          <a:p>
            <a:pPr indent="-359999" lvl="1" marL="720000" marR="0" rtl="0" algn="l">
              <a:lnSpc>
                <a:spcPct val="90000"/>
              </a:lnSpc>
              <a:spcBef>
                <a:spcPts val="0"/>
              </a:spcBef>
              <a:spcAft>
                <a:spcPts val="0"/>
              </a:spcAft>
              <a:buClr>
                <a:srgbClr val="000000"/>
              </a:buClr>
              <a:buSzPts val="2000"/>
              <a:buFont typeface="Arial"/>
              <a:buAutoNum type="alphaLcParenR"/>
            </a:pPr>
            <a:r>
              <a:rPr b="0" i="0" lang="en-US" sz="2000" u="none" cap="none" strike="noStrike">
                <a:solidFill>
                  <a:srgbClr val="000000"/>
                </a:solidFill>
                <a:latin typeface="Arial"/>
                <a:ea typeface="Arial"/>
                <a:cs typeface="Arial"/>
                <a:sym typeface="Arial"/>
              </a:rPr>
              <a:t>What did you do (or what should you have done), again, in terms relative to ethical conduct? </a:t>
            </a:r>
            <a:endParaRPr/>
          </a:p>
          <a:p>
            <a:pPr indent="-359999" lvl="1" marL="720000" marR="0" rtl="0" algn="l">
              <a:lnSpc>
                <a:spcPct val="90000"/>
              </a:lnSpc>
              <a:spcBef>
                <a:spcPts val="0"/>
              </a:spcBef>
              <a:spcAft>
                <a:spcPts val="0"/>
              </a:spcAft>
              <a:buClr>
                <a:srgbClr val="000000"/>
              </a:buClr>
              <a:buSzPts val="2000"/>
              <a:buFont typeface="Arial"/>
              <a:buAutoNum type="alphaLcParenR"/>
            </a:pPr>
            <a:r>
              <a:rPr b="0" i="0" lang="en-US" sz="2000" u="none" cap="none" strike="noStrike">
                <a:solidFill>
                  <a:srgbClr val="000000"/>
                </a:solidFill>
                <a:latin typeface="Arial"/>
                <a:ea typeface="Arial"/>
                <a:cs typeface="Arial"/>
                <a:sym typeface="Arial"/>
              </a:rPr>
              <a:t>What was (or would have been) the final result or outcome (as it pertains to the person / persons / organization making the decision) and state two </a:t>
            </a:r>
            <a:r>
              <a:rPr b="0" i="0" lang="en-US" sz="2000" u="sng" cap="none" strike="noStrike">
                <a:solidFill>
                  <a:srgbClr val="000000"/>
                </a:solidFill>
                <a:latin typeface="Arial"/>
                <a:ea typeface="Arial"/>
                <a:cs typeface="Arial"/>
                <a:sym typeface="Arial"/>
              </a:rPr>
              <a:t>discrete ethics</a:t>
            </a:r>
            <a:r>
              <a:rPr b="0" i="0" lang="en-US" sz="2000" u="none" cap="none" strike="noStrike">
                <a:solidFill>
                  <a:srgbClr val="000000"/>
                </a:solidFill>
                <a:latin typeface="Arial"/>
                <a:ea typeface="Arial"/>
                <a:cs typeface="Arial"/>
                <a:sym typeface="Arial"/>
              </a:rPr>
              <a:t> that were applied? (Although more than 2 may have applied, you need only state two.) </a:t>
            </a:r>
            <a:endParaRPr b="0" i="0" sz="2000" u="none" cap="none" strike="noStrike">
              <a:solidFill>
                <a:srgbClr val="000000"/>
              </a:solidFill>
              <a:latin typeface="Arial"/>
              <a:ea typeface="Arial"/>
              <a:cs typeface="Arial"/>
              <a:sym typeface="Arial"/>
            </a:endParaRPr>
          </a:p>
          <a:p>
            <a:pPr indent="-232999" lvl="0" marL="720000" marR="0" rtl="0" algn="l">
              <a:lnSpc>
                <a:spcPct val="9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p:txBody>
      </p:sp>
      <p:sp>
        <p:nvSpPr>
          <p:cNvPr id="354" name="Google Shape;354;p3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The Dilemma: Uphold Ethical Conduct or Acquiesce?</a:t>
            </a:r>
            <a:endParaRPr/>
          </a:p>
        </p:txBody>
      </p:sp>
      <p:sp>
        <p:nvSpPr>
          <p:cNvPr id="355" name="Google Shape;355;p3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56" name="Google Shape;356;p3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57" name="Google Shape;357;p31"/>
          <p:cNvSpPr txBox="1"/>
          <p:nvPr/>
        </p:nvSpPr>
        <p:spPr>
          <a:xfrm>
            <a:off x="180000" y="5105400"/>
            <a:ext cx="8640000" cy="10866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You should be prepared to discuss your ethical challenge relative to your work experience or your team project loss incident …</a:t>
            </a:r>
            <a:endParaRPr b="0" i="1" sz="20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64" name="Google Shape;364;p3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65" name="Google Shape;365;p32"/>
          <p:cNvSpPr txBox="1"/>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600"/>
              <a:buFont typeface="Arial"/>
              <a:buNone/>
            </a:pPr>
            <a:r>
              <a:rPr b="1" i="1" lang="en-US" sz="1600" u="none" cap="none" strike="noStrike">
                <a:solidFill>
                  <a:srgbClr val="FFFFFF"/>
                </a:solidFill>
                <a:latin typeface="Arial"/>
                <a:ea typeface="Arial"/>
                <a:cs typeface="Arial"/>
                <a:sym typeface="Arial"/>
              </a:rPr>
              <a:t>The situation: </a:t>
            </a:r>
            <a:r>
              <a:rPr b="0" i="1" lang="en-US" sz="1600" u="none" cap="none" strike="noStrike">
                <a:solidFill>
                  <a:srgbClr val="FFFFFF"/>
                </a:solidFill>
                <a:latin typeface="Arial"/>
                <a:ea typeface="Arial"/>
                <a:cs typeface="Arial"/>
                <a:sym typeface="Arial"/>
              </a:rPr>
              <a:t>The regional </a:t>
            </a:r>
            <a:r>
              <a:rPr b="0" i="1" lang="en-US" sz="1600" u="sng" cap="none" strike="noStrike">
                <a:solidFill>
                  <a:srgbClr val="FFFFFF"/>
                </a:solidFill>
                <a:latin typeface="Arial"/>
                <a:ea typeface="Arial"/>
                <a:cs typeface="Arial"/>
                <a:sym typeface="Arial"/>
              </a:rPr>
              <a:t>Investigations and Enforcement Branch</a:t>
            </a:r>
            <a:r>
              <a:rPr b="0" i="1" lang="en-US" sz="1600" u="none" cap="none" strike="noStrike">
                <a:solidFill>
                  <a:srgbClr val="FFFFFF"/>
                </a:solidFill>
                <a:latin typeface="Arial"/>
                <a:ea typeface="Arial"/>
                <a:cs typeface="Arial"/>
                <a:sym typeface="Arial"/>
              </a:rPr>
              <a:t> </a:t>
            </a:r>
            <a:br>
              <a:rPr b="0" i="1" lang="en-US" sz="1600" u="none" cap="none" strike="noStrike">
                <a:solidFill>
                  <a:srgbClr val="FFFFFF"/>
                </a:solidFill>
                <a:latin typeface="Arial"/>
                <a:ea typeface="Arial"/>
                <a:cs typeface="Arial"/>
                <a:sym typeface="Arial"/>
              </a:rPr>
            </a:br>
            <a:r>
              <a:rPr b="0" i="1" lang="en-US" sz="1600" u="none" cap="none" strike="noStrike">
                <a:solidFill>
                  <a:srgbClr val="FFFFFF"/>
                </a:solidFill>
                <a:latin typeface="Arial"/>
                <a:ea typeface="Arial"/>
                <a:cs typeface="Arial"/>
                <a:sym typeface="Arial"/>
              </a:rPr>
              <a:t>of the provincial </a:t>
            </a:r>
            <a:r>
              <a:rPr b="0" i="1" lang="en-US" sz="1600" u="sng" cap="none" strike="noStrike">
                <a:solidFill>
                  <a:srgbClr val="FFFFFF"/>
                </a:solidFill>
                <a:latin typeface="Arial"/>
                <a:ea typeface="Arial"/>
                <a:cs typeface="Arial"/>
                <a:sym typeface="Arial"/>
              </a:rPr>
              <a:t>Ministry of the Environment</a:t>
            </a:r>
            <a:r>
              <a:rPr b="0" i="1" lang="en-US" sz="1600" u="none" cap="none" strike="noStrike">
                <a:solidFill>
                  <a:srgbClr val="FFFFFF"/>
                </a:solidFill>
                <a:latin typeface="Arial"/>
                <a:ea typeface="Arial"/>
                <a:cs typeface="Arial"/>
                <a:sym typeface="Arial"/>
              </a:rPr>
              <a:t> calls on your plant with a </a:t>
            </a:r>
            <a:br>
              <a:rPr b="0" i="1" lang="en-US" sz="1600" u="none" cap="none" strike="noStrike">
                <a:solidFill>
                  <a:srgbClr val="FFFFFF"/>
                </a:solidFill>
                <a:latin typeface="Arial"/>
                <a:ea typeface="Arial"/>
                <a:cs typeface="Arial"/>
                <a:sym typeface="Arial"/>
              </a:rPr>
            </a:br>
            <a:r>
              <a:rPr b="0" i="1" lang="en-US" sz="1600" u="none" cap="none" strike="noStrike">
                <a:solidFill>
                  <a:srgbClr val="FFFFFF"/>
                </a:solidFill>
                <a:latin typeface="Arial"/>
                <a:ea typeface="Arial"/>
                <a:cs typeface="Arial"/>
                <a:sym typeface="Arial"/>
              </a:rPr>
              <a:t>search warrant. You and your supervisor are tasked with aiding </a:t>
            </a:r>
            <a:br>
              <a:rPr b="0" i="1" lang="en-US" sz="1600" u="none" cap="none" strike="noStrike">
                <a:solidFill>
                  <a:srgbClr val="FFFFFF"/>
                </a:solidFill>
                <a:latin typeface="Arial"/>
                <a:ea typeface="Arial"/>
                <a:cs typeface="Arial"/>
                <a:sym typeface="Arial"/>
              </a:rPr>
            </a:br>
            <a:r>
              <a:rPr b="0" i="1" lang="en-US" sz="1600" u="none" cap="none" strike="noStrike">
                <a:solidFill>
                  <a:srgbClr val="FFFFFF"/>
                </a:solidFill>
                <a:latin typeface="Arial"/>
                <a:ea typeface="Arial"/>
                <a:cs typeface="Arial"/>
                <a:sym typeface="Arial"/>
              </a:rPr>
              <a:t>the search. </a:t>
            </a:r>
            <a:endParaRPr/>
          </a:p>
          <a:p>
            <a:pPr indent="0" lvl="0" marL="0" marR="0" rtl="0" algn="l">
              <a:spcBef>
                <a:spcPts val="0"/>
              </a:spcBef>
              <a:spcAft>
                <a:spcPts val="0"/>
              </a:spcAft>
              <a:buClr>
                <a:srgbClr val="FFFFFF"/>
              </a:buClr>
              <a:buSzPts val="1600"/>
              <a:buFont typeface="Arial"/>
              <a:buNone/>
            </a:pPr>
            <a:r>
              <a:t/>
            </a:r>
            <a:endParaRPr b="1" i="1" sz="1600" u="none" cap="none" strike="noStrike">
              <a:solidFill>
                <a:srgbClr val="FFFFFF"/>
              </a:solidFill>
              <a:latin typeface="Arial"/>
              <a:ea typeface="Arial"/>
              <a:cs typeface="Arial"/>
              <a:sym typeface="Arial"/>
            </a:endParaRPr>
          </a:p>
          <a:p>
            <a:pPr indent="0" lvl="0" marL="0" marR="0" rtl="0" algn="l">
              <a:spcBef>
                <a:spcPts val="0"/>
              </a:spcBef>
              <a:spcAft>
                <a:spcPts val="0"/>
              </a:spcAft>
              <a:buClr>
                <a:srgbClr val="FFFFFF"/>
              </a:buClr>
              <a:buSzPts val="1600"/>
              <a:buFont typeface="Arial"/>
              <a:buNone/>
            </a:pPr>
            <a:r>
              <a:rPr b="1" i="1" lang="en-US" sz="1600" u="none" cap="none" strike="noStrike">
                <a:solidFill>
                  <a:srgbClr val="FFFFFF"/>
                </a:solidFill>
                <a:latin typeface="Arial"/>
                <a:ea typeface="Arial"/>
                <a:cs typeface="Arial"/>
                <a:sym typeface="Arial"/>
              </a:rPr>
              <a:t>The issue: </a:t>
            </a:r>
            <a:r>
              <a:rPr b="0" i="1" lang="en-US" sz="1600" u="none" cap="none" strike="noStrike">
                <a:solidFill>
                  <a:srgbClr val="FFFFFF"/>
                </a:solidFill>
                <a:latin typeface="Arial"/>
                <a:ea typeface="Arial"/>
                <a:cs typeface="Arial"/>
                <a:sym typeface="Arial"/>
              </a:rPr>
              <a:t>You find a “compromising document” in a filing cabinet, and both of you realize it can be harmful to the company. </a:t>
            </a:r>
            <a:endParaRPr/>
          </a:p>
          <a:p>
            <a:pPr indent="0" lvl="0" marL="0" marR="0" rtl="0" algn="l">
              <a:spcBef>
                <a:spcPts val="0"/>
              </a:spcBef>
              <a:spcAft>
                <a:spcPts val="0"/>
              </a:spcAft>
              <a:buClr>
                <a:srgbClr val="FFFFFF"/>
              </a:buClr>
              <a:buSzPts val="1600"/>
              <a:buFont typeface="Arial"/>
              <a:buNone/>
            </a:pPr>
            <a:r>
              <a:t/>
            </a:r>
            <a:endParaRPr b="1" i="1" sz="1600" u="none" cap="none" strike="noStrike">
              <a:solidFill>
                <a:srgbClr val="FFFFFF"/>
              </a:solidFill>
              <a:latin typeface="Arial"/>
              <a:ea typeface="Arial"/>
              <a:cs typeface="Arial"/>
              <a:sym typeface="Arial"/>
            </a:endParaRPr>
          </a:p>
          <a:p>
            <a:pPr indent="0" lvl="0" marL="0" marR="0" rtl="0" algn="l">
              <a:spcBef>
                <a:spcPts val="0"/>
              </a:spcBef>
              <a:spcAft>
                <a:spcPts val="0"/>
              </a:spcAft>
              <a:buNone/>
            </a:pPr>
            <a:r>
              <a:rPr b="1" i="1" lang="en-US" sz="1600" u="none" cap="none" strike="noStrike">
                <a:solidFill>
                  <a:srgbClr val="FFFFFF"/>
                </a:solidFill>
                <a:latin typeface="Arial"/>
                <a:ea typeface="Arial"/>
                <a:cs typeface="Arial"/>
                <a:sym typeface="Arial"/>
              </a:rPr>
              <a:t>Possible </a:t>
            </a:r>
            <a:r>
              <a:rPr b="1" i="1" lang="en-US" sz="1600">
                <a:solidFill>
                  <a:srgbClr val="FFFFFF"/>
                </a:solidFill>
                <a:latin typeface="Arial"/>
                <a:ea typeface="Arial"/>
                <a:cs typeface="Arial"/>
                <a:sym typeface="Arial"/>
              </a:rPr>
              <a:t>decisions (state at least two, no more than three, and identify as ethical or unethical):</a:t>
            </a:r>
            <a:r>
              <a:rPr b="0" i="1" lang="en-US" sz="1600">
                <a:solidFill>
                  <a:srgbClr val="FFFFFF"/>
                </a:solidFill>
                <a:latin typeface="Arial"/>
                <a:ea typeface="Arial"/>
                <a:cs typeface="Arial"/>
                <a:sym typeface="Arial"/>
              </a:rPr>
              <a:t> </a:t>
            </a:r>
            <a:endParaRPr/>
          </a:p>
          <a:p>
            <a:pPr indent="-285750" lvl="0" marL="285750" marR="0" rtl="0" algn="l">
              <a:spcBef>
                <a:spcPts val="0"/>
              </a:spcBef>
              <a:spcAft>
                <a:spcPts val="0"/>
              </a:spcAft>
              <a:buClr>
                <a:srgbClr val="FFFFFF"/>
              </a:buClr>
              <a:buSzPts val="1600"/>
              <a:buFont typeface="Noto Sans Symbols"/>
              <a:buChar char="⮚"/>
            </a:pPr>
            <a:r>
              <a:rPr b="0" i="1" lang="en-US" sz="1600">
                <a:solidFill>
                  <a:srgbClr val="FFFFFF"/>
                </a:solidFill>
                <a:latin typeface="Arial"/>
                <a:ea typeface="Arial"/>
                <a:cs typeface="Arial"/>
                <a:sym typeface="Arial"/>
              </a:rPr>
              <a:t>Destroy the document. Unethical.</a:t>
            </a:r>
            <a:endParaRPr b="0" i="1" sz="1600">
              <a:solidFill>
                <a:srgbClr val="FFFFFF"/>
              </a:solidFill>
              <a:latin typeface="Arial"/>
              <a:ea typeface="Arial"/>
              <a:cs typeface="Arial"/>
              <a:sym typeface="Arial"/>
            </a:endParaRPr>
          </a:p>
          <a:p>
            <a:pPr indent="-285750" lvl="0" marL="285750" marR="0" rtl="0" algn="l">
              <a:spcBef>
                <a:spcPts val="0"/>
              </a:spcBef>
              <a:spcAft>
                <a:spcPts val="0"/>
              </a:spcAft>
              <a:buClr>
                <a:srgbClr val="FFFFFF"/>
              </a:buClr>
              <a:buSzPts val="1600"/>
              <a:buFont typeface="Noto Sans Symbols"/>
              <a:buChar char="⮚"/>
            </a:pPr>
            <a:r>
              <a:rPr b="0" i="1" lang="en-US" sz="1600">
                <a:solidFill>
                  <a:srgbClr val="FFFFFF"/>
                </a:solidFill>
                <a:latin typeface="Arial"/>
                <a:ea typeface="Arial"/>
                <a:cs typeface="Arial"/>
                <a:sym typeface="Arial"/>
              </a:rPr>
              <a:t>Replace the document for their discovery. Ethical.</a:t>
            </a:r>
            <a:endParaRPr/>
          </a:p>
          <a:p>
            <a:pPr indent="-285750" lvl="0" marL="285750" marR="0" rtl="0" algn="l">
              <a:spcBef>
                <a:spcPts val="0"/>
              </a:spcBef>
              <a:spcAft>
                <a:spcPts val="0"/>
              </a:spcAft>
              <a:buClr>
                <a:srgbClr val="FFFFFF"/>
              </a:buClr>
              <a:buSzPts val="1600"/>
              <a:buFont typeface="Noto Sans Symbols"/>
              <a:buChar char="⮚"/>
            </a:pPr>
            <a:r>
              <a:rPr b="0" i="1" lang="en-US" sz="1600">
                <a:solidFill>
                  <a:srgbClr val="FFFFFF"/>
                </a:solidFill>
                <a:latin typeface="Arial"/>
                <a:ea typeface="Arial"/>
                <a:cs typeface="Arial"/>
                <a:sym typeface="Arial"/>
              </a:rPr>
              <a:t>Give the document to the investigators. Can be either ethical or unethical – depends on how the employer views this action. </a:t>
            </a:r>
            <a:endParaRPr/>
          </a:p>
          <a:p>
            <a:pPr indent="0" lvl="0" marL="0" marR="0" rtl="0" algn="l">
              <a:spcBef>
                <a:spcPts val="0"/>
              </a:spcBef>
              <a:spcAft>
                <a:spcPts val="0"/>
              </a:spcAft>
              <a:buClr>
                <a:srgbClr val="FFFFFF"/>
              </a:buClr>
              <a:buSzPts val="1600"/>
              <a:buFont typeface="Arial"/>
              <a:buNone/>
            </a:pPr>
            <a:r>
              <a:t/>
            </a:r>
            <a:endParaRPr b="1" i="1" sz="1600" u="none" cap="none" strike="noStrike">
              <a:solidFill>
                <a:srgbClr val="FFFFFF"/>
              </a:solidFill>
              <a:latin typeface="Arial"/>
              <a:ea typeface="Arial"/>
              <a:cs typeface="Arial"/>
              <a:sym typeface="Arial"/>
            </a:endParaRPr>
          </a:p>
          <a:p>
            <a:pPr indent="0" lvl="0" marL="0" marR="0" rtl="0" algn="l">
              <a:spcBef>
                <a:spcPts val="0"/>
              </a:spcBef>
              <a:spcAft>
                <a:spcPts val="0"/>
              </a:spcAft>
              <a:buClr>
                <a:srgbClr val="FFFFFF"/>
              </a:buClr>
              <a:buSzPts val="1600"/>
              <a:buFont typeface="Arial"/>
              <a:buNone/>
            </a:pPr>
            <a:r>
              <a:rPr b="1" i="1" lang="en-US" sz="1600" u="none" cap="none" strike="noStrike">
                <a:solidFill>
                  <a:srgbClr val="FFFFFF"/>
                </a:solidFill>
                <a:latin typeface="Arial"/>
                <a:ea typeface="Arial"/>
                <a:cs typeface="Arial"/>
                <a:sym typeface="Arial"/>
              </a:rPr>
              <a:t>Your Decision:</a:t>
            </a:r>
            <a:endParaRPr/>
          </a:p>
          <a:p>
            <a:pPr indent="-285750" lvl="0" marL="285750" marR="0" rtl="0" algn="l">
              <a:spcBef>
                <a:spcPts val="0"/>
              </a:spcBef>
              <a:spcAft>
                <a:spcPts val="0"/>
              </a:spcAft>
              <a:buClr>
                <a:srgbClr val="FFFFFF"/>
              </a:buClr>
              <a:buSzPts val="1600"/>
              <a:buFont typeface="Noto Sans Symbols"/>
              <a:buChar char="⮚"/>
            </a:pPr>
            <a:r>
              <a:rPr b="0" i="1" lang="en-US" sz="1600">
                <a:solidFill>
                  <a:srgbClr val="FFFFFF"/>
                </a:solidFill>
                <a:latin typeface="Arial"/>
                <a:ea typeface="Arial"/>
                <a:cs typeface="Arial"/>
                <a:sym typeface="Arial"/>
              </a:rPr>
              <a:t>Replace the document for their discovery.</a:t>
            </a:r>
            <a:endParaRPr/>
          </a:p>
          <a:p>
            <a:pPr indent="0" lvl="0" marL="0" marR="0" rtl="0" algn="l">
              <a:spcBef>
                <a:spcPts val="0"/>
              </a:spcBef>
              <a:spcAft>
                <a:spcPts val="0"/>
              </a:spcAft>
              <a:buNone/>
            </a:pPr>
            <a:r>
              <a:t/>
            </a:r>
            <a:endParaRPr b="1" i="1" sz="1600">
              <a:solidFill>
                <a:srgbClr val="FFFFFF"/>
              </a:solidFill>
              <a:latin typeface="Arial"/>
              <a:ea typeface="Arial"/>
              <a:cs typeface="Arial"/>
              <a:sym typeface="Arial"/>
            </a:endParaRPr>
          </a:p>
          <a:p>
            <a:pPr indent="0" lvl="0" marL="0" marR="0" rtl="0" algn="l">
              <a:spcBef>
                <a:spcPts val="0"/>
              </a:spcBef>
              <a:spcAft>
                <a:spcPts val="0"/>
              </a:spcAft>
              <a:buNone/>
            </a:pPr>
            <a:r>
              <a:rPr b="1" i="1" lang="en-US" sz="1600">
                <a:solidFill>
                  <a:srgbClr val="FFFFFF"/>
                </a:solidFill>
                <a:latin typeface="Arial"/>
                <a:ea typeface="Arial"/>
                <a:cs typeface="Arial"/>
                <a:sym typeface="Arial"/>
              </a:rPr>
              <a:t>Outcome (state an outcome and two discrete ethics that were applied):</a:t>
            </a:r>
            <a:endParaRPr b="1" i="1" sz="1600">
              <a:solidFill>
                <a:srgbClr val="FFFFFF"/>
              </a:solidFill>
              <a:latin typeface="Arial"/>
              <a:ea typeface="Arial"/>
              <a:cs typeface="Arial"/>
              <a:sym typeface="Arial"/>
            </a:endParaRPr>
          </a:p>
          <a:p>
            <a:pPr indent="-285750" lvl="0" marL="285750" marR="0" rtl="0" algn="l">
              <a:spcBef>
                <a:spcPts val="0"/>
              </a:spcBef>
              <a:spcAft>
                <a:spcPts val="0"/>
              </a:spcAft>
              <a:buClr>
                <a:srgbClr val="FFFFFF"/>
              </a:buClr>
              <a:buSzPts val="1600"/>
              <a:buFont typeface="Noto Sans Symbols"/>
              <a:buChar char="⮚"/>
            </a:pPr>
            <a:r>
              <a:rPr b="0" i="1" lang="en-US" sz="1600">
                <a:solidFill>
                  <a:srgbClr val="FFFFFF"/>
                </a:solidFill>
                <a:latin typeface="Arial"/>
                <a:ea typeface="Arial"/>
                <a:cs typeface="Arial"/>
                <a:sym typeface="Arial"/>
              </a:rPr>
              <a:t>The company and the employees did not collude in any attempt to hide or destroy the document. The employees complied with the law and upheld professional ethics. </a:t>
            </a:r>
            <a:endParaRPr b="0" i="1" sz="1600">
              <a:solidFill>
                <a:srgbClr val="FFFFFF"/>
              </a:solidFill>
              <a:latin typeface="Arial"/>
              <a:ea typeface="Arial"/>
              <a:cs typeface="Arial"/>
              <a:sym typeface="Arial"/>
            </a:endParaRPr>
          </a:p>
        </p:txBody>
      </p:sp>
      <p:sp>
        <p:nvSpPr>
          <p:cNvPr id="366" name="Google Shape;366;p32"/>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lang="en-US" sz="2400">
                <a:solidFill>
                  <a:schemeClr val="lt1"/>
                </a:solidFill>
                <a:latin typeface="Arial"/>
                <a:ea typeface="Arial"/>
                <a:cs typeface="Arial"/>
                <a:sym typeface="Arial"/>
              </a:rPr>
              <a:t>Example: Apply Integrity and Ethical Behaviour: </a:t>
            </a:r>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predicament: how will you manage apparent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contradictions and ambiguities in your new workplace?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Your situation: you are a new graduate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Your predicament: </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Actions of the organization seem to contradict the values of the organization, or </a:t>
            </a:r>
            <a:endParaRPr/>
          </a:p>
          <a:p>
            <a:pPr indent="-359999" lvl="2"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Organizational values seem to contradict your sound set of risk management principles and values.</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373" name="Google Shape;373;p3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Predicament: Manage Apparent Contradictions &amp; Ambiguities?</a:t>
            </a:r>
            <a:endParaRPr b="0" sz="2400">
              <a:solidFill>
                <a:srgbClr val="333399"/>
              </a:solidFill>
              <a:latin typeface="Arial"/>
              <a:ea typeface="Arial"/>
              <a:cs typeface="Arial"/>
              <a:sym typeface="Arial"/>
            </a:endParaRPr>
          </a:p>
        </p:txBody>
      </p:sp>
      <p:sp>
        <p:nvSpPr>
          <p:cNvPr id="374" name="Google Shape;374;p3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75" name="Google Shape;375;p3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376" name="Google Shape;376;p33"/>
          <p:cNvSpPr txBox="1"/>
          <p:nvPr/>
        </p:nvSpPr>
        <p:spPr>
          <a:xfrm>
            <a:off x="180000" y="4608000"/>
            <a:ext cx="8640000" cy="158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0" i="1" lang="en-US" sz="2000" u="none" cap="none" strike="noStrike">
                <a:solidFill>
                  <a:srgbClr val="FFFFFF"/>
                </a:solidFill>
                <a:latin typeface="Arial"/>
                <a:ea typeface="Arial"/>
                <a:cs typeface="Arial"/>
                <a:sym typeface="Arial"/>
              </a:rPr>
              <a:t>Please think about your predicament. </a:t>
            </a:r>
            <a:endParaRPr b="0" i="1" sz="2000" u="none" cap="none" strike="noStrike">
              <a:solidFill>
                <a:srgbClr val="FFFFFF"/>
              </a:solidFill>
              <a:latin typeface="Arial"/>
              <a:ea typeface="Arial"/>
              <a:cs typeface="Arial"/>
              <a:sym typeface="Arial"/>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What are three possible decisions you could make? </a:t>
            </a:r>
            <a:endParaRPr/>
          </a:p>
          <a:p>
            <a:pPr indent="-342900" lvl="0" marL="342900" marR="0" rtl="0" algn="l">
              <a:lnSpc>
                <a:spcPct val="100000"/>
              </a:lnSpc>
              <a:spcBef>
                <a:spcPts val="0"/>
              </a:spcBef>
              <a:spcAft>
                <a:spcPts val="0"/>
              </a:spcAft>
              <a:buClr>
                <a:srgbClr val="FFFFFF"/>
              </a:buClr>
              <a:buSzPts val="2000"/>
              <a:buFont typeface="Noto Sans Symbols"/>
              <a:buChar char="⮚"/>
            </a:pPr>
            <a:r>
              <a:rPr b="0" i="1" lang="en-US" sz="2000" u="none" cap="none" strike="noStrike">
                <a:solidFill>
                  <a:srgbClr val="FFFFFF"/>
                </a:solidFill>
                <a:latin typeface="Arial"/>
                <a:ea typeface="Arial"/>
                <a:cs typeface="Arial"/>
                <a:sym typeface="Arial"/>
              </a:rPr>
              <a:t>What do you need to consider in making a decision as to what to do? </a:t>
            </a:r>
            <a:endParaRPr b="0" i="1" sz="2000" u="none" cap="none" strike="noStrike">
              <a:solidFill>
                <a:srgbClr val="FFFFFF"/>
              </a:solidFill>
              <a:latin typeface="Arial"/>
              <a:ea typeface="Arial"/>
              <a:cs typeface="Arial"/>
              <a:sym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What do you do? </a:t>
            </a:r>
            <a:endParaRPr b="1"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Three possible choices:</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Degrade your values?</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Leave the organization?</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Undertake initiative?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We implore you … </a:t>
            </a:r>
            <a:r>
              <a:rPr b="0" lang="en-US" sz="2000" u="sng">
                <a:solidFill>
                  <a:srgbClr val="000000"/>
                </a:solidFill>
                <a:latin typeface="Arial"/>
                <a:ea typeface="Arial"/>
                <a:cs typeface="Arial"/>
                <a:sym typeface="Arial"/>
              </a:rPr>
              <a:t>do not degrade your values</a:t>
            </a:r>
            <a:r>
              <a:rPr b="0" lang="en-US" sz="2000">
                <a:solidFill>
                  <a:srgbClr val="000000"/>
                </a:solidFill>
                <a:latin typeface="Arial"/>
                <a:ea typeface="Arial"/>
                <a:cs typeface="Arial"/>
                <a:sym typeface="Arial"/>
              </a:rPr>
              <a:t>!</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If and when </a:t>
            </a:r>
            <a:r>
              <a:rPr b="0" lang="en-US" sz="2000" u="sng">
                <a:solidFill>
                  <a:srgbClr val="000000"/>
                </a:solidFill>
                <a:latin typeface="Arial"/>
                <a:ea typeface="Arial"/>
                <a:cs typeface="Arial"/>
                <a:sym typeface="Arial"/>
              </a:rPr>
              <a:t>you degrade or compromise your values</a:t>
            </a:r>
            <a:r>
              <a:rPr b="0" lang="en-US" sz="2000">
                <a:solidFill>
                  <a:srgbClr val="000000"/>
                </a:solidFill>
                <a:latin typeface="Arial"/>
                <a:ea typeface="Arial"/>
                <a:cs typeface="Arial"/>
                <a:sym typeface="Arial"/>
              </a:rPr>
              <a:t>, you may allow such things as condoning unacceptable behaviours, or you may be motivated to meet objectives that could put PEAP at risk; </a:t>
            </a:r>
            <a:r>
              <a:rPr b="0" lang="en-US" sz="2000" u="sng">
                <a:solidFill>
                  <a:srgbClr val="000000"/>
                </a:solidFill>
                <a:latin typeface="Arial"/>
                <a:ea typeface="Arial"/>
                <a:cs typeface="Arial"/>
                <a:sym typeface="Arial"/>
              </a:rPr>
              <a:t>ultimately</a:t>
            </a:r>
            <a:r>
              <a:rPr b="0" lang="en-US" sz="2000">
                <a:solidFill>
                  <a:srgbClr val="000000"/>
                </a:solidFill>
                <a:latin typeface="Arial"/>
                <a:ea typeface="Arial"/>
                <a:cs typeface="Arial"/>
                <a:sym typeface="Arial"/>
              </a:rPr>
              <a:t> this could result in </a:t>
            </a:r>
            <a:r>
              <a:rPr b="0" lang="en-US" sz="2000" u="sng">
                <a:solidFill>
                  <a:srgbClr val="000000"/>
                </a:solidFill>
                <a:latin typeface="Arial"/>
                <a:ea typeface="Arial"/>
                <a:cs typeface="Arial"/>
                <a:sym typeface="Arial"/>
              </a:rPr>
              <a:t>a significant loss incident</a:t>
            </a:r>
            <a:r>
              <a:rPr b="0" lang="en-US" sz="2000">
                <a:solidFill>
                  <a:srgbClr val="000000"/>
                </a:solidFill>
                <a:latin typeface="Arial"/>
                <a:ea typeface="Arial"/>
                <a:cs typeface="Arial"/>
                <a:sym typeface="Arial"/>
              </a:rPr>
              <a:t>. </a:t>
            </a:r>
            <a:endParaRPr/>
          </a:p>
        </p:txBody>
      </p:sp>
      <p:sp>
        <p:nvSpPr>
          <p:cNvPr id="383" name="Google Shape;383;p3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Predicament: Manage Apparent Contradictions &amp; Ambiguities?</a:t>
            </a:r>
            <a:endParaRPr b="0" sz="2400">
              <a:solidFill>
                <a:srgbClr val="333399"/>
              </a:solidFill>
              <a:latin typeface="Arial"/>
              <a:ea typeface="Arial"/>
              <a:cs typeface="Arial"/>
              <a:sym typeface="Arial"/>
            </a:endParaRPr>
          </a:p>
        </p:txBody>
      </p:sp>
      <p:sp>
        <p:nvSpPr>
          <p:cNvPr id="384" name="Google Shape;384;p3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85" name="Google Shape;385;p3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So, two choices remain:</a:t>
            </a:r>
            <a:endParaRPr/>
          </a:p>
          <a:p>
            <a:pPr indent="-457200" lvl="0" marL="457200" marR="0" rtl="0" algn="l">
              <a:lnSpc>
                <a:spcPct val="100000"/>
              </a:lnSpc>
              <a:spcBef>
                <a:spcPts val="0"/>
              </a:spcBef>
              <a:spcAft>
                <a:spcPts val="0"/>
              </a:spcAft>
              <a:buClr>
                <a:srgbClr val="7F7F7F"/>
              </a:buClr>
              <a:buSzPts val="2000"/>
              <a:buFont typeface="Arial"/>
              <a:buAutoNum type="alphaLcParenR"/>
            </a:pPr>
            <a:r>
              <a:rPr b="0" lang="en-US" sz="2000" strike="sngStrike">
                <a:solidFill>
                  <a:srgbClr val="7F7F7F"/>
                </a:solidFill>
                <a:latin typeface="Arial"/>
                <a:ea typeface="Arial"/>
                <a:cs typeface="Arial"/>
                <a:sym typeface="Arial"/>
              </a:rPr>
              <a:t>Degrade your values?</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Leave the organization?</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Undertake initiative?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For b) and c), it ultimately depends on your position in your career,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your scope of responsibility, and your level of influence.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lang="en-US" sz="2000">
                <a:solidFill>
                  <a:srgbClr val="000000"/>
                </a:solidFill>
                <a:latin typeface="Arial"/>
                <a:ea typeface="Arial"/>
                <a:cs typeface="Arial"/>
                <a:sym typeface="Arial"/>
              </a:rPr>
              <a:t>New graduate, newly hired, early in your career: </a:t>
            </a:r>
            <a:endParaRPr/>
          </a:p>
          <a:p>
            <a:pPr indent="-232999" lvl="0" marL="72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Can you influence your small organization, your area of responsibility, your circle of influence? Will it make a difference? Do you feel up to the challenge? If so, undertake initiative.  </a:t>
            </a:r>
            <a:endParaRPr/>
          </a:p>
          <a:p>
            <a:pPr indent="-232999" lvl="0" marL="72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If none of these, then an acceptable decision is to leave the organization. This is neither a wrong nor less than desirable decision.</a:t>
            </a:r>
            <a:endParaRPr/>
          </a:p>
        </p:txBody>
      </p:sp>
      <p:sp>
        <p:nvSpPr>
          <p:cNvPr id="392" name="Google Shape;392;p3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Predicament: Manage Apparent Contradictions &amp; Ambiguities?</a:t>
            </a:r>
            <a:endParaRPr b="0" sz="2400">
              <a:solidFill>
                <a:srgbClr val="333399"/>
              </a:solidFill>
              <a:latin typeface="Arial"/>
              <a:ea typeface="Arial"/>
              <a:cs typeface="Arial"/>
              <a:sym typeface="Arial"/>
            </a:endParaRPr>
          </a:p>
        </p:txBody>
      </p:sp>
      <p:sp>
        <p:nvSpPr>
          <p:cNvPr id="393" name="Google Shape;393;p3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94" name="Google Shape;394;p3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So, two choices remain:</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strike="sngStrike">
                <a:solidFill>
                  <a:srgbClr val="A5A5A5"/>
                </a:solidFill>
                <a:latin typeface="Arial"/>
                <a:ea typeface="Arial"/>
                <a:cs typeface="Arial"/>
                <a:sym typeface="Arial"/>
              </a:rPr>
              <a:t>Degrade your values?</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Leave the organization?</a:t>
            </a:r>
            <a:endParaRPr/>
          </a:p>
          <a:p>
            <a:pPr indent="-457200" lvl="0" marL="457200" marR="0" rtl="0" algn="l">
              <a:lnSpc>
                <a:spcPct val="100000"/>
              </a:lnSpc>
              <a:spcBef>
                <a:spcPts val="0"/>
              </a:spcBef>
              <a:spcAft>
                <a:spcPts val="0"/>
              </a:spcAft>
              <a:buClr>
                <a:srgbClr val="000000"/>
              </a:buClr>
              <a:buSzPts val="2000"/>
              <a:buFont typeface="Arial"/>
              <a:buAutoNum type="alphaLcParenR"/>
            </a:pPr>
            <a:r>
              <a:rPr b="0" lang="en-US" sz="2000">
                <a:solidFill>
                  <a:srgbClr val="000000"/>
                </a:solidFill>
                <a:latin typeface="Arial"/>
                <a:ea typeface="Arial"/>
                <a:cs typeface="Arial"/>
                <a:sym typeface="Arial"/>
              </a:rPr>
              <a:t>Undertake initiative?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1" lang="en-US" sz="2000">
                <a:solidFill>
                  <a:srgbClr val="000000"/>
                </a:solidFill>
                <a:latin typeface="Arial"/>
                <a:ea typeface="Arial"/>
                <a:cs typeface="Arial"/>
                <a:sym typeface="Arial"/>
              </a:rPr>
              <a:t>Fast-forward … a highly competent leader in risk management: </a:t>
            </a:r>
            <a:br>
              <a:rPr b="1" lang="en-US" sz="2000">
                <a:solidFill>
                  <a:srgbClr val="000000"/>
                </a:solidFill>
                <a:latin typeface="Arial"/>
                <a:ea typeface="Arial"/>
                <a:cs typeface="Arial"/>
                <a:sym typeface="Arial"/>
              </a:rPr>
            </a:br>
            <a:r>
              <a:rPr b="1" lang="en-US" sz="2000">
                <a:solidFill>
                  <a:srgbClr val="000000"/>
                </a:solidFill>
                <a:latin typeface="Arial"/>
                <a:ea typeface="Arial"/>
                <a:cs typeface="Arial"/>
                <a:sym typeface="Arial"/>
              </a:rPr>
              <a:t>How will you respond in your future role as a competent leader?</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You have the ability to influence change within your area of responsibility. It depends on:</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a) your willingness to take on the challenge and </a:t>
            </a:r>
            <a:br>
              <a:rPr b="0" lang="en-US" sz="2000">
                <a:solidFill>
                  <a:srgbClr val="000000"/>
                </a:solidFill>
                <a:latin typeface="Arial"/>
                <a:ea typeface="Arial"/>
                <a:cs typeface="Arial"/>
                <a:sym typeface="Arial"/>
              </a:rPr>
            </a:br>
            <a:r>
              <a:rPr b="0" lang="en-US" sz="2000">
                <a:solidFill>
                  <a:srgbClr val="000000"/>
                </a:solidFill>
                <a:latin typeface="Arial"/>
                <a:ea typeface="Arial"/>
                <a:cs typeface="Arial"/>
                <a:sym typeface="Arial"/>
              </a:rPr>
              <a:t>b) any other factors that may support or hinder your success. </a:t>
            </a:r>
            <a:endParaRPr b="0" sz="2000">
              <a:solidFill>
                <a:srgbClr val="000000"/>
              </a:solidFill>
              <a:latin typeface="Arial"/>
              <a:ea typeface="Arial"/>
              <a:cs typeface="Arial"/>
              <a:sym typeface="Arial"/>
            </a:endParaRPr>
          </a:p>
          <a:p>
            <a:pPr indent="-360000" lvl="3" marL="11772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Are you being set up for success? </a:t>
            </a:r>
            <a:endParaRPr/>
          </a:p>
          <a:p>
            <a:pPr indent="-359999" lvl="1" marL="12133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If factors support, undertake initiative. </a:t>
            </a:r>
            <a:endParaRPr/>
          </a:p>
          <a:p>
            <a:pPr indent="-360000" lvl="1" marL="8533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Are you being set up for failure? </a:t>
            </a:r>
            <a:endParaRPr/>
          </a:p>
          <a:p>
            <a:pPr indent="-359999" lvl="1" marL="121335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If factors are barriers to success, leave the organization.</a:t>
            </a:r>
            <a:endParaRPr/>
          </a:p>
          <a:p>
            <a:pPr indent="-359999" lvl="0" marL="720000" marR="0" rtl="0" algn="l">
              <a:lnSpc>
                <a:spcPct val="100000"/>
              </a:lnSpc>
              <a:spcBef>
                <a:spcPts val="0"/>
              </a:spcBef>
              <a:spcAft>
                <a:spcPts val="0"/>
              </a:spcAft>
              <a:buClr>
                <a:srgbClr val="000000"/>
              </a:buClr>
              <a:buSzPts val="2000"/>
              <a:buFont typeface="Noto Sans Symbols"/>
              <a:buChar char="⮚"/>
            </a:pPr>
            <a:r>
              <a:rPr b="0" lang="en-US" sz="2000">
                <a:solidFill>
                  <a:srgbClr val="000000"/>
                </a:solidFill>
                <a:latin typeface="Arial"/>
                <a:ea typeface="Arial"/>
                <a:cs typeface="Arial"/>
                <a:sym typeface="Arial"/>
              </a:rPr>
              <a:t>The final decision is ultimately a personal decision, and what is the best fit for you in your career and your personal life. </a:t>
            </a:r>
            <a:endParaRPr/>
          </a:p>
        </p:txBody>
      </p:sp>
      <p:sp>
        <p:nvSpPr>
          <p:cNvPr id="401" name="Google Shape;401;p3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Predicament: Manage Apparent Contradictions &amp; Ambiguities?</a:t>
            </a:r>
            <a:endParaRPr b="0" sz="2400">
              <a:solidFill>
                <a:srgbClr val="333399"/>
              </a:solidFill>
              <a:latin typeface="Arial"/>
              <a:ea typeface="Arial"/>
              <a:cs typeface="Arial"/>
              <a:sym typeface="Arial"/>
            </a:endParaRPr>
          </a:p>
        </p:txBody>
      </p:sp>
      <p:sp>
        <p:nvSpPr>
          <p:cNvPr id="402" name="Google Shape;402;p3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03" name="Google Shape;403;p3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7"/>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Your situation: </a:t>
            </a:r>
            <a:endParaRPr b="0" sz="2000">
              <a:solidFill>
                <a:schemeClr val="lt1"/>
              </a:solidFill>
              <a:latin typeface="Arial"/>
              <a:ea typeface="Arial"/>
              <a:cs typeface="Arial"/>
              <a:sym typeface="Arial"/>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Soon after graduating … you are a new hire  </a:t>
            </a:r>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Fast-forward … you are a highly competent leader</a:t>
            </a:r>
            <a:endParaRPr/>
          </a:p>
          <a:p>
            <a:pPr indent="-232999" lvl="0" marL="720000" marR="0" rtl="0" algn="l">
              <a:lnSpc>
                <a:spcPct val="90000"/>
              </a:lnSpc>
              <a:spcBef>
                <a:spcPts val="0"/>
              </a:spcBef>
              <a:spcAft>
                <a:spcPts val="0"/>
              </a:spcAft>
              <a:buClr>
                <a:schemeClr val="dk1"/>
              </a:buClr>
              <a:buSzPts val="2000"/>
              <a:buFont typeface="Noto Sans Symbols"/>
              <a:buNone/>
            </a:pPr>
            <a:r>
              <a:t/>
            </a:r>
            <a:endParaRPr b="0" sz="2000">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Your predicament: </a:t>
            </a:r>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Actions of the organization seem to contradict the values of the organization, or </a:t>
            </a:r>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Organizational values seem to contradict your sound set of risk management principles and values.</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sz="2000">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You need to make a decision:</a:t>
            </a:r>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Leave the organization?</a:t>
            </a:r>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Undertake initiative?</a:t>
            </a:r>
            <a:endParaRPr/>
          </a:p>
          <a:p>
            <a:pPr indent="-233000" lvl="0" marL="360000" marR="0" rtl="0" algn="l">
              <a:lnSpc>
                <a:spcPct val="90000"/>
              </a:lnSpc>
              <a:spcBef>
                <a:spcPts val="0"/>
              </a:spcBef>
              <a:spcAft>
                <a:spcPts val="0"/>
              </a:spcAft>
              <a:buClr>
                <a:schemeClr val="dk1"/>
              </a:buClr>
              <a:buSzPts val="2000"/>
              <a:buFont typeface="Noto Sans Symbols"/>
              <a:buNone/>
            </a:pPr>
            <a:r>
              <a:t/>
            </a:r>
            <a:endParaRPr b="0" sz="2000">
              <a:solidFill>
                <a:schemeClr val="lt1"/>
              </a:solidFill>
              <a:latin typeface="Arial"/>
              <a:ea typeface="Arial"/>
              <a:cs typeface="Arial"/>
              <a:sym typeface="Arial"/>
            </a:endParaRPr>
          </a:p>
          <a:p>
            <a:pPr indent="-360000" lvl="0" marL="36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What factors do you need to consider in making your decision?</a:t>
            </a:r>
            <a:endParaRPr b="0" sz="2000">
              <a:solidFill>
                <a:schemeClr val="lt1"/>
              </a:solidFill>
              <a:latin typeface="Arial"/>
              <a:ea typeface="Arial"/>
              <a:cs typeface="Arial"/>
              <a:sym typeface="Arial"/>
            </a:endParaRPr>
          </a:p>
          <a:p>
            <a:pPr indent="-359999" lvl="0" marL="720000" marR="0" rtl="0" algn="l">
              <a:lnSpc>
                <a:spcPct val="9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Both personal factors and professional factors such as:</a:t>
            </a:r>
            <a:br>
              <a:rPr b="0" lang="en-US" sz="2000">
                <a:solidFill>
                  <a:schemeClr val="lt1"/>
                </a:solidFill>
                <a:latin typeface="Arial"/>
                <a:ea typeface="Arial"/>
                <a:cs typeface="Arial"/>
                <a:sym typeface="Arial"/>
              </a:rPr>
            </a:br>
            <a:r>
              <a:rPr b="0" lang="en-US" sz="2000">
                <a:solidFill>
                  <a:schemeClr val="lt1"/>
                </a:solidFill>
                <a:latin typeface="Arial"/>
                <a:ea typeface="Arial"/>
                <a:cs typeface="Arial"/>
                <a:sym typeface="Arial"/>
              </a:rPr>
              <a:t>Pay; personal life-style (work-life balance); support within the organization (peers, supervisor, person you replace); motivation; confidence of others and in yourself; career advancement, etc.</a:t>
            </a:r>
            <a:endParaRPr b="0" sz="2000">
              <a:solidFill>
                <a:schemeClr val="lt1"/>
              </a:solidFill>
              <a:latin typeface="Arial"/>
              <a:ea typeface="Arial"/>
              <a:cs typeface="Arial"/>
              <a:sym typeface="Arial"/>
            </a:endParaRPr>
          </a:p>
        </p:txBody>
      </p:sp>
      <p:sp>
        <p:nvSpPr>
          <p:cNvPr id="410" name="Google Shape;410;p37"/>
          <p:cNvSpPr/>
          <p:nvPr/>
        </p:nvSpPr>
        <p:spPr>
          <a:xfrm>
            <a:off x="180000" y="216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0" lang="en-US" sz="2000">
                <a:solidFill>
                  <a:schemeClr val="lt1"/>
                </a:solidFill>
                <a:latin typeface="Arial"/>
                <a:ea typeface="Arial"/>
                <a:cs typeface="Arial"/>
                <a:sym typeface="Arial"/>
              </a:rPr>
              <a:t>Example Predicament: Manage Apparent Contradictions &amp; Ambiguities</a:t>
            </a:r>
            <a:endParaRPr b="0" sz="2000">
              <a:solidFill>
                <a:schemeClr val="lt1"/>
              </a:solidFill>
              <a:latin typeface="Arial"/>
              <a:ea typeface="Arial"/>
              <a:cs typeface="Arial"/>
              <a:sym typeface="Arial"/>
            </a:endParaRPr>
          </a:p>
        </p:txBody>
      </p:sp>
      <p:sp>
        <p:nvSpPr>
          <p:cNvPr id="411" name="Google Shape;411;p3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12" name="Google Shape;412;p3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8"/>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F8F8F8"/>
                </a:solidFill>
                <a:latin typeface="Arial"/>
                <a:ea typeface="Arial"/>
                <a:cs typeface="Arial"/>
                <a:sym typeface="Arial"/>
              </a:rPr>
              <a:t>Ex: Dilemma: Work with Your Organization or Whistle-blow?</a:t>
            </a:r>
            <a:endParaRPr/>
          </a:p>
        </p:txBody>
      </p:sp>
      <p:sp>
        <p:nvSpPr>
          <p:cNvPr id="422" name="Google Shape;422;p3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23" name="Google Shape;423;p3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424" name="Google Shape;424;p38"/>
          <p:cNvSpPr txBox="1"/>
          <p:nvPr/>
        </p:nvSpPr>
        <p:spPr>
          <a:xfrm>
            <a:off x="180000" y="828000"/>
            <a:ext cx="8640000" cy="532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Case Study - The Dilemma:  </a:t>
            </a:r>
            <a:endParaRPr b="1"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000"/>
              <a:buFont typeface="Arial"/>
              <a:buNone/>
            </a:pPr>
            <a:r>
              <a:rPr b="0" i="0" lang="en-US" sz="2000" u="none" cap="none" strike="noStrike">
                <a:solidFill>
                  <a:schemeClr val="lt1"/>
                </a:solidFill>
                <a:latin typeface="Arial"/>
                <a:ea typeface="Arial"/>
                <a:cs typeface="Arial"/>
                <a:sym typeface="Arial"/>
              </a:rPr>
              <a:t>You are on a project, and you observe that due to time constraints for the project, an intermediate engineer is allowed to provide road design drawings to the contractor without senior review and approval.</a:t>
            </a:r>
            <a:endParaRPr/>
          </a:p>
          <a:p>
            <a:pPr indent="-342900" lvl="0" marL="342900" marR="0" rtl="0" algn="l">
              <a:lnSpc>
                <a:spcPct val="10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Arial"/>
                <a:ea typeface="Arial"/>
                <a:cs typeface="Arial"/>
                <a:sym typeface="Arial"/>
              </a:rPr>
              <a:t>This action </a:t>
            </a:r>
            <a:r>
              <a:rPr b="0" i="0" lang="en-US" sz="2000" u="sng" cap="none" strike="noStrike">
                <a:solidFill>
                  <a:schemeClr val="lt1"/>
                </a:solidFill>
                <a:latin typeface="Arial"/>
                <a:ea typeface="Arial"/>
                <a:cs typeface="Arial"/>
                <a:sym typeface="Arial"/>
              </a:rPr>
              <a:t>appears</a:t>
            </a:r>
            <a:r>
              <a:rPr b="0" i="0" lang="en-US" sz="2000" u="none" cap="none" strike="noStrike">
                <a:solidFill>
                  <a:schemeClr val="lt1"/>
                </a:solidFill>
                <a:latin typeface="Arial"/>
                <a:ea typeface="Arial"/>
                <a:cs typeface="Arial"/>
                <a:sym typeface="Arial"/>
              </a:rPr>
              <a:t> in </a:t>
            </a:r>
            <a:r>
              <a:rPr b="0" i="0" lang="en-US" sz="2000" u="sng" cap="none" strike="noStrike">
                <a:solidFill>
                  <a:schemeClr val="lt1"/>
                </a:solidFill>
                <a:latin typeface="Arial"/>
                <a:ea typeface="Arial"/>
                <a:cs typeface="Arial"/>
                <a:sym typeface="Arial"/>
              </a:rPr>
              <a:t>clear conflict</a:t>
            </a:r>
            <a:r>
              <a:rPr b="0" i="0" lang="en-US" sz="2000" cap="none" strike="noStrike">
                <a:solidFill>
                  <a:schemeClr val="lt1"/>
                </a:solidFill>
                <a:latin typeface="Arial"/>
                <a:ea typeface="Arial"/>
                <a:cs typeface="Arial"/>
                <a:sym typeface="Arial"/>
              </a:rPr>
              <a:t> with professional requirements and legal requirements. </a:t>
            </a:r>
            <a:endParaRPr/>
          </a:p>
          <a:p>
            <a:pPr indent="-215900" lvl="0" marL="342900" marR="0" rtl="0" algn="l">
              <a:lnSpc>
                <a:spcPct val="100000"/>
              </a:lnSpc>
              <a:spcBef>
                <a:spcPts val="0"/>
              </a:spcBef>
              <a:spcAft>
                <a:spcPts val="0"/>
              </a:spcAft>
              <a:buClr>
                <a:srgbClr val="FFFFFF"/>
              </a:buClr>
              <a:buSzPts val="2000"/>
              <a:buFont typeface="Noto Sans Symbols"/>
              <a:buNone/>
            </a:pPr>
            <a:r>
              <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What do you do?</a:t>
            </a:r>
            <a:endParaRPr/>
          </a:p>
          <a:p>
            <a:pPr indent="-342900" lvl="0" marL="342900" marR="0" rtl="0" algn="l">
              <a:spcBef>
                <a:spcPts val="0"/>
              </a:spcBef>
              <a:spcAft>
                <a:spcPts val="0"/>
              </a:spcAft>
              <a:buClr>
                <a:schemeClr val="lt1"/>
              </a:buClr>
              <a:buSzPts val="2000"/>
              <a:buFont typeface="Noto Sans Symbols"/>
              <a:buChar char="⮚"/>
            </a:pPr>
            <a:r>
              <a:rPr b="0" i="0" lang="en-US" sz="2000">
                <a:solidFill>
                  <a:schemeClr val="lt1"/>
                </a:solidFill>
                <a:latin typeface="Arial"/>
                <a:ea typeface="Arial"/>
                <a:cs typeface="Arial"/>
                <a:sym typeface="Arial"/>
              </a:rPr>
              <a:t>Recall the discussion on the relationship </a:t>
            </a:r>
            <a:br>
              <a:rPr b="0" i="0" lang="en-US" sz="2000">
                <a:solidFill>
                  <a:schemeClr val="lt1"/>
                </a:solidFill>
                <a:latin typeface="Arial"/>
                <a:ea typeface="Arial"/>
                <a:cs typeface="Arial"/>
                <a:sym typeface="Arial"/>
              </a:rPr>
            </a:br>
            <a:r>
              <a:rPr b="0" i="0" lang="en-US" sz="2000">
                <a:solidFill>
                  <a:schemeClr val="lt1"/>
                </a:solidFill>
                <a:latin typeface="Arial"/>
                <a:ea typeface="Arial"/>
                <a:cs typeface="Arial"/>
                <a:sym typeface="Arial"/>
              </a:rPr>
              <a:t>between you and your supervisor:</a:t>
            </a:r>
            <a:endParaRPr/>
          </a:p>
          <a:p>
            <a:pPr indent="-215900" lvl="0" marL="342900" marR="0" rtl="0" algn="l">
              <a:lnSpc>
                <a:spcPct val="100000"/>
              </a:lnSpc>
              <a:spcBef>
                <a:spcPts val="0"/>
              </a:spcBef>
              <a:spcAft>
                <a:spcPts val="0"/>
              </a:spcAft>
              <a:buClr>
                <a:srgbClr val="FFFFFF"/>
              </a:buClr>
              <a:buSzPts val="2000"/>
              <a:buFont typeface="Noto Sans Symbols"/>
              <a:buNone/>
            </a:pPr>
            <a:r>
              <a:t/>
            </a:r>
            <a:endParaRPr b="0" i="0" sz="2000" u="none" cap="none" strike="noStrike">
              <a:solidFill>
                <a:schemeClr val="lt1"/>
              </a:solidFill>
              <a:latin typeface="Arial"/>
              <a:ea typeface="Arial"/>
              <a:cs typeface="Arial"/>
              <a:sym typeface="Arial"/>
            </a:endParaRPr>
          </a:p>
          <a:p>
            <a:pPr indent="-342900" lvl="0" marL="342900" marR="0" rtl="0" algn="l">
              <a:lnSpc>
                <a:spcPct val="10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Arial"/>
                <a:ea typeface="Arial"/>
                <a:cs typeface="Arial"/>
                <a:sym typeface="Arial"/>
              </a:rPr>
              <a:t>Thus, seek clarity from within your organization</a:t>
            </a:r>
            <a:r>
              <a:rPr b="0" i="0" lang="en-US" sz="2000">
                <a:solidFill>
                  <a:schemeClr val="lt1"/>
                </a:solidFill>
                <a:latin typeface="Arial"/>
                <a:ea typeface="Arial"/>
                <a:cs typeface="Arial"/>
                <a:sym typeface="Arial"/>
              </a:rPr>
              <a:t>!</a:t>
            </a:r>
            <a:endParaRPr/>
          </a:p>
          <a:p>
            <a:pPr indent="-457200" lvl="2" marL="817200" marR="0" rtl="0" algn="l">
              <a:spcBef>
                <a:spcPts val="0"/>
              </a:spcBef>
              <a:spcAft>
                <a:spcPts val="0"/>
              </a:spcAft>
              <a:buClr>
                <a:schemeClr val="lt1"/>
              </a:buClr>
              <a:buSzPts val="2000"/>
              <a:buFont typeface="Arial"/>
              <a:buAutoNum type="arabicParenR"/>
            </a:pPr>
            <a:r>
              <a:rPr b="0" i="0" lang="en-US" sz="2000" u="none" cap="none" strike="noStrike">
                <a:solidFill>
                  <a:schemeClr val="lt1"/>
                </a:solidFill>
                <a:latin typeface="Arial"/>
                <a:ea typeface="Arial"/>
                <a:cs typeface="Arial"/>
                <a:sym typeface="Arial"/>
              </a:rPr>
              <a:t>Your </a:t>
            </a:r>
            <a:r>
              <a:rPr b="0" i="0" lang="en-US" sz="2000" u="sng" cap="none" strike="noStrike">
                <a:solidFill>
                  <a:schemeClr val="lt1"/>
                </a:solidFill>
                <a:latin typeface="Arial"/>
                <a:ea typeface="Arial"/>
                <a:cs typeface="Arial"/>
                <a:sym typeface="Arial"/>
              </a:rPr>
              <a:t>first step</a:t>
            </a:r>
            <a:r>
              <a:rPr b="0" i="0" lang="en-US" sz="2000" u="none" cap="none" strike="noStrike">
                <a:solidFill>
                  <a:schemeClr val="lt1"/>
                </a:solidFill>
                <a:latin typeface="Arial"/>
                <a:ea typeface="Arial"/>
                <a:cs typeface="Arial"/>
                <a:sym typeface="Arial"/>
              </a:rPr>
              <a:t> should be to work with your supervisor and within the organization – it could be a misunderstanding or miscommunication.</a:t>
            </a:r>
            <a:endParaRPr/>
          </a:p>
          <a:p>
            <a:pPr indent="-457200" lvl="2" marL="817200" marR="0" rtl="0" algn="l">
              <a:spcBef>
                <a:spcPts val="0"/>
              </a:spcBef>
              <a:spcAft>
                <a:spcPts val="0"/>
              </a:spcAft>
              <a:buClr>
                <a:schemeClr val="lt1"/>
              </a:buClr>
              <a:buSzPts val="2000"/>
              <a:buFont typeface="Arial"/>
              <a:buAutoNum type="arabicParenR"/>
            </a:pPr>
            <a:r>
              <a:rPr b="0" i="0" lang="en-US" sz="2000" u="none" cap="none" strike="noStrike">
                <a:solidFill>
                  <a:schemeClr val="lt1"/>
                </a:solidFill>
                <a:latin typeface="Arial"/>
                <a:ea typeface="Arial"/>
                <a:cs typeface="Arial"/>
                <a:sym typeface="Arial"/>
              </a:rPr>
              <a:t>Your </a:t>
            </a:r>
            <a:r>
              <a:rPr b="0" i="0" lang="en-US" sz="2000" u="sng" cap="none" strike="noStrike">
                <a:solidFill>
                  <a:schemeClr val="lt1"/>
                </a:solidFill>
                <a:latin typeface="Arial"/>
                <a:ea typeface="Arial"/>
                <a:cs typeface="Arial"/>
                <a:sym typeface="Arial"/>
              </a:rPr>
              <a:t>second ste</a:t>
            </a:r>
            <a:r>
              <a:rPr b="0" i="0" lang="en-US" sz="2000" u="none" cap="none" strike="noStrike">
                <a:solidFill>
                  <a:schemeClr val="lt1"/>
                </a:solidFill>
                <a:latin typeface="Arial"/>
                <a:ea typeface="Arial"/>
                <a:cs typeface="Arial"/>
                <a:sym typeface="Arial"/>
              </a:rPr>
              <a:t>p should be to work with and within your organization’s corporate policies to resolve the issue.</a:t>
            </a:r>
            <a:endParaRPr b="0" i="0" sz="2000" u="none" cap="none" strike="noStrike">
              <a:solidFill>
                <a:schemeClr val="lt1"/>
              </a:solidFill>
              <a:latin typeface="Arial"/>
              <a:ea typeface="Arial"/>
              <a:cs typeface="Arial"/>
              <a:sym typeface="Arial"/>
            </a:endParaRPr>
          </a:p>
        </p:txBody>
      </p:sp>
      <p:pic>
        <p:nvPicPr>
          <p:cNvPr id="425" name="Google Shape;425;p38"/>
          <p:cNvPicPr preferRelativeResize="0"/>
          <p:nvPr/>
        </p:nvPicPr>
        <p:blipFill rotWithShape="1">
          <a:blip r:embed="rId3">
            <a:alphaModFix/>
          </a:blip>
          <a:srcRect b="0" l="0" r="0" t="0"/>
          <a:stretch/>
        </p:blipFill>
        <p:spPr>
          <a:xfrm>
            <a:off x="5928865" y="2667000"/>
            <a:ext cx="2356451" cy="1494079"/>
          </a:xfrm>
          <a:prstGeom prst="rect">
            <a:avLst/>
          </a:prstGeom>
          <a:solidFill>
            <a:schemeClr val="lt1"/>
          </a:solidFill>
          <a:ln>
            <a:noFill/>
          </a:ln>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9"/>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1" lang="en-US" sz="2000">
                <a:solidFill>
                  <a:srgbClr val="FFFFFF"/>
                </a:solidFill>
                <a:latin typeface="Arial"/>
                <a:ea typeface="Arial"/>
                <a:cs typeface="Arial"/>
                <a:sym typeface="Arial"/>
              </a:rPr>
              <a:t>What do you do? </a:t>
            </a:r>
            <a:r>
              <a:rPr b="1" i="1" lang="en-US" sz="2000">
                <a:solidFill>
                  <a:srgbClr val="FFFFFF"/>
                </a:solidFill>
                <a:latin typeface="Arial"/>
                <a:ea typeface="Arial"/>
                <a:cs typeface="Arial"/>
                <a:sym typeface="Arial"/>
              </a:rPr>
              <a:t>(continued)</a:t>
            </a:r>
            <a:endParaRPr b="1" i="1" sz="2000">
              <a:solidFill>
                <a:srgbClr val="FFFFFF"/>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chemeClr val="lt1"/>
              </a:solidFill>
              <a:latin typeface="Arial"/>
              <a:ea typeface="Arial"/>
              <a:cs typeface="Arial"/>
              <a:sym typeface="Arial"/>
            </a:endParaRPr>
          </a:p>
          <a:p>
            <a:pPr indent="-359999" lvl="1" marL="720000" marR="0" rtl="0" algn="l">
              <a:lnSpc>
                <a:spcPct val="100000"/>
              </a:lnSpc>
              <a:spcBef>
                <a:spcPts val="0"/>
              </a:spcBef>
              <a:spcAft>
                <a:spcPts val="0"/>
              </a:spcAft>
              <a:buClr>
                <a:schemeClr val="lt1"/>
              </a:buClr>
              <a:buSzPts val="2000"/>
              <a:buFont typeface="Arial"/>
              <a:buAutoNum type="arabicParenR" startAt="3"/>
            </a:pPr>
            <a:r>
              <a:rPr b="0" i="0" lang="en-US" sz="2000" u="none" cap="none" strike="noStrike">
                <a:solidFill>
                  <a:schemeClr val="lt1"/>
                </a:solidFill>
                <a:latin typeface="Arial"/>
                <a:ea typeface="Arial"/>
                <a:cs typeface="Arial"/>
                <a:sym typeface="Arial"/>
              </a:rPr>
              <a:t>Your </a:t>
            </a:r>
            <a:r>
              <a:rPr b="0" i="0" lang="en-US" sz="2000" u="sng" cap="none" strike="noStrike">
                <a:solidFill>
                  <a:schemeClr val="lt1"/>
                </a:solidFill>
                <a:latin typeface="Arial"/>
                <a:ea typeface="Arial"/>
                <a:cs typeface="Arial"/>
                <a:sym typeface="Arial"/>
              </a:rPr>
              <a:t>third step</a:t>
            </a:r>
            <a:r>
              <a:rPr b="0" i="0" lang="en-US" sz="2000" u="none" cap="none" strike="noStrike">
                <a:solidFill>
                  <a:schemeClr val="lt1"/>
                </a:solidFill>
                <a:latin typeface="Arial"/>
                <a:ea typeface="Arial"/>
                <a:cs typeface="Arial"/>
                <a:sym typeface="Arial"/>
              </a:rPr>
              <a:t>: Go external from your organization:</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chemeClr val="lt1"/>
              </a:solidFill>
              <a:latin typeface="Arial"/>
              <a:ea typeface="Arial"/>
              <a:cs typeface="Arial"/>
              <a:sym typeface="Arial"/>
            </a:endParaRPr>
          </a:p>
          <a:p>
            <a:pPr indent="-360000" lvl="0" marL="360000" marR="0" rtl="0" algn="l">
              <a:lnSpc>
                <a:spcPct val="10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Ultimately, if you cannot resolve the apparent conflict, </a:t>
            </a:r>
            <a:r>
              <a:rPr b="0" lang="en-US" sz="2000" u="sng">
                <a:solidFill>
                  <a:schemeClr val="lt1"/>
                </a:solidFill>
                <a:latin typeface="Arial"/>
                <a:ea typeface="Arial"/>
                <a:cs typeface="Arial"/>
                <a:sym typeface="Arial"/>
              </a:rPr>
              <a:t>you may be motivated to seek external avenues of inquiry</a:t>
            </a:r>
            <a:r>
              <a:rPr b="0" lang="en-US" sz="2000">
                <a:solidFill>
                  <a:schemeClr val="lt1"/>
                </a:solidFill>
                <a:latin typeface="Arial"/>
                <a:ea typeface="Arial"/>
                <a:cs typeface="Arial"/>
                <a:sym typeface="Arial"/>
              </a:rPr>
              <a:t> (government authorities and regulators, professional associations) as a last resort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chemeClr val="lt1"/>
              </a:solidFill>
              <a:latin typeface="Arial"/>
              <a:ea typeface="Arial"/>
              <a:cs typeface="Arial"/>
              <a:sym typeface="Arial"/>
            </a:endParaRPr>
          </a:p>
          <a:p>
            <a:pPr indent="-360000" lvl="0" marL="360000" marR="0" rtl="0" algn="l">
              <a:lnSpc>
                <a:spcPct val="10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This action is termed “whistle-blowing”.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chemeClr val="lt1"/>
              </a:solidFill>
              <a:latin typeface="Arial"/>
              <a:ea typeface="Arial"/>
              <a:cs typeface="Arial"/>
              <a:sym typeface="Arial"/>
            </a:endParaRPr>
          </a:p>
          <a:p>
            <a:pPr indent="-360000" lvl="0" marL="360000" marR="0" rtl="0" algn="l">
              <a:lnSpc>
                <a:spcPct val="10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This is </a:t>
            </a:r>
            <a:r>
              <a:rPr b="1" lang="en-US" sz="2000">
                <a:solidFill>
                  <a:schemeClr val="lt1"/>
                </a:solidFill>
                <a:latin typeface="Arial"/>
                <a:ea typeface="Arial"/>
                <a:cs typeface="Arial"/>
                <a:sym typeface="Arial"/>
              </a:rPr>
              <a:t>not a trivial action</a:t>
            </a:r>
            <a:r>
              <a:rPr b="0" lang="en-US" sz="2000">
                <a:solidFill>
                  <a:schemeClr val="lt1"/>
                </a:solidFill>
                <a:latin typeface="Arial"/>
                <a:ea typeface="Arial"/>
                <a:cs typeface="Arial"/>
                <a:sym typeface="Arial"/>
              </a:rPr>
              <a:t>. </a:t>
            </a:r>
            <a:endParaRPr/>
          </a:p>
          <a:p>
            <a:pPr indent="-359999" lvl="0" marL="720000" marR="0" rtl="0" algn="l">
              <a:lnSpc>
                <a:spcPct val="10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The process calls into question the integrity and ethics of the organization under scrutiny and of the whistle-blower.</a:t>
            </a:r>
            <a:endParaRPr/>
          </a:p>
          <a:p>
            <a:pPr indent="-359999" lvl="0" marL="720000" marR="0" rtl="0" algn="l">
              <a:lnSpc>
                <a:spcPct val="100000"/>
              </a:lnSpc>
              <a:spcBef>
                <a:spcPts val="0"/>
              </a:spcBef>
              <a:spcAft>
                <a:spcPts val="0"/>
              </a:spcAft>
              <a:buClr>
                <a:schemeClr val="lt1"/>
              </a:buClr>
              <a:buSzPts val="2000"/>
              <a:buFont typeface="Noto Sans Symbols"/>
              <a:buChar char="⮚"/>
            </a:pPr>
            <a:r>
              <a:rPr b="0" lang="en-US" sz="2000">
                <a:solidFill>
                  <a:schemeClr val="lt1"/>
                </a:solidFill>
                <a:latin typeface="Arial"/>
                <a:ea typeface="Arial"/>
                <a:cs typeface="Arial"/>
                <a:sym typeface="Arial"/>
              </a:rPr>
              <a:t>Personal motivators may come into question: </a:t>
            </a:r>
            <a:br>
              <a:rPr b="0" lang="en-US" sz="2000">
                <a:solidFill>
                  <a:schemeClr val="lt1"/>
                </a:solidFill>
                <a:latin typeface="Arial"/>
                <a:ea typeface="Arial"/>
                <a:cs typeface="Arial"/>
                <a:sym typeface="Arial"/>
              </a:rPr>
            </a:br>
            <a:r>
              <a:rPr b="0" lang="en-US" sz="2000">
                <a:solidFill>
                  <a:schemeClr val="lt1"/>
                </a:solidFill>
                <a:latin typeface="Arial"/>
                <a:ea typeface="Arial"/>
                <a:cs typeface="Arial"/>
                <a:sym typeface="Arial"/>
              </a:rPr>
              <a:t>is it a grudge or an honest concern?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sz="2000">
              <a:solidFill>
                <a:schemeClr val="lt1"/>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sz="2000">
              <a:solidFill>
                <a:schemeClr val="lt1"/>
              </a:solidFill>
              <a:latin typeface="Arial"/>
              <a:ea typeface="Arial"/>
              <a:cs typeface="Arial"/>
              <a:sym typeface="Arial"/>
            </a:endParaRPr>
          </a:p>
        </p:txBody>
      </p:sp>
      <p:sp>
        <p:nvSpPr>
          <p:cNvPr id="432" name="Google Shape;432;p3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33" name="Google Shape;433;p3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
        <p:nvSpPr>
          <p:cNvPr id="434" name="Google Shape;434;p39"/>
          <p:cNvSpPr/>
          <p:nvPr/>
        </p:nvSpPr>
        <p:spPr>
          <a:xfrm>
            <a:off x="180000" y="180000"/>
            <a:ext cx="8640000" cy="5040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2400">
                <a:solidFill>
                  <a:srgbClr val="F8F8F8"/>
                </a:solidFill>
                <a:latin typeface="Arial"/>
                <a:ea typeface="Arial"/>
                <a:cs typeface="Arial"/>
                <a:sym typeface="Arial"/>
              </a:rPr>
              <a:t>Ex: Dilemma: Work with Your Organization or Whistle-blow?</a:t>
            </a:r>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Challenges, Dilemmas,</a:t>
            </a:r>
            <a:r>
              <a:rPr b="1" i="0" lang="en-US" sz="1800" u="none" cap="none" strike="noStrike">
                <a:solidFill>
                  <a:srgbClr val="000000"/>
                </a:solidFill>
                <a:latin typeface="Arial"/>
                <a:ea typeface="Arial"/>
                <a:cs typeface="Arial"/>
                <a:sym typeface="Arial"/>
              </a:rPr>
              <a:t> Predicaments:</a:t>
            </a:r>
            <a:endParaRPr b="1"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You may find yourself in a challenging or compromising situation:</a:t>
            </a:r>
            <a:endParaRPr/>
          </a:p>
          <a:p>
            <a:pPr indent="-359999" lvl="2"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Unskilled practice in engineering,</a:t>
            </a:r>
            <a:endParaRPr/>
          </a:p>
          <a:p>
            <a:pPr indent="-359999" lvl="2"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Unprofessional conduct,</a:t>
            </a:r>
            <a:endParaRPr/>
          </a:p>
          <a:p>
            <a:pPr indent="-359999" lvl="2"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Unethical behaviours,</a:t>
            </a:r>
            <a:endParaRPr/>
          </a:p>
          <a:p>
            <a:pPr indent="-359999" lvl="2"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Betray values of honesty, privilege and confidentialities,</a:t>
            </a:r>
            <a:endParaRPr/>
          </a:p>
          <a:p>
            <a:pPr indent="-359999" lvl="2"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Conflict of interest, </a:t>
            </a:r>
            <a:endParaRPr/>
          </a:p>
          <a:p>
            <a:pPr indent="-359999" lvl="2" marL="108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Corruption. </a:t>
            </a:r>
            <a:endParaRPr/>
          </a:p>
          <a:p>
            <a:pPr indent="-245700" lvl="0" marL="360000" marR="0" rtl="0" algn="l">
              <a:lnSpc>
                <a:spcPct val="10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If you </a:t>
            </a:r>
            <a:r>
              <a:rPr b="0" lang="en-US" sz="1800" u="sng">
                <a:solidFill>
                  <a:srgbClr val="000000"/>
                </a:solidFill>
                <a:latin typeface="Arial"/>
                <a:ea typeface="Arial"/>
                <a:cs typeface="Arial"/>
                <a:sym typeface="Arial"/>
              </a:rPr>
              <a:t>give your decision options careful thought</a:t>
            </a:r>
            <a:r>
              <a:rPr b="0" lang="en-US" sz="1800">
                <a:solidFill>
                  <a:srgbClr val="000000"/>
                </a:solidFill>
                <a:latin typeface="Arial"/>
                <a:ea typeface="Arial"/>
                <a:cs typeface="Arial"/>
                <a:sym typeface="Arial"/>
              </a:rPr>
              <a:t>, make the </a:t>
            </a:r>
            <a:r>
              <a:rPr b="0" lang="en-US" sz="1800" u="sng">
                <a:solidFill>
                  <a:srgbClr val="000000"/>
                </a:solidFill>
                <a:latin typeface="Arial"/>
                <a:ea typeface="Arial"/>
                <a:cs typeface="Arial"/>
                <a:sym typeface="Arial"/>
              </a:rPr>
              <a:t>ethical decision</a:t>
            </a:r>
            <a:r>
              <a:rPr b="0" lang="en-US" sz="1800">
                <a:solidFill>
                  <a:srgbClr val="000000"/>
                </a:solidFill>
                <a:latin typeface="Arial"/>
                <a:ea typeface="Arial"/>
                <a:cs typeface="Arial"/>
                <a:sym typeface="Arial"/>
              </a:rPr>
              <a:t> based on the appropriate </a:t>
            </a:r>
            <a:r>
              <a:rPr b="0" lang="en-US" sz="1800" u="sng">
                <a:solidFill>
                  <a:srgbClr val="000000"/>
                </a:solidFill>
                <a:latin typeface="Arial"/>
                <a:ea typeface="Arial"/>
                <a:cs typeface="Arial"/>
                <a:sym typeface="Arial"/>
              </a:rPr>
              <a:t>set of positive values</a:t>
            </a:r>
            <a:r>
              <a:rPr b="0" lang="en-US" sz="1800">
                <a:solidFill>
                  <a:srgbClr val="000000"/>
                </a:solidFill>
                <a:latin typeface="Arial"/>
                <a:ea typeface="Arial"/>
                <a:cs typeface="Arial"/>
                <a:sym typeface="Arial"/>
              </a:rPr>
              <a:t>, on the hierarchy of five discrete ethics, check with others, and act on your values accordingly, …</a:t>
            </a:r>
            <a:br>
              <a:rPr b="0" lang="en-US" sz="1800">
                <a:solidFill>
                  <a:srgbClr val="000000"/>
                </a:solidFill>
                <a:latin typeface="Arial"/>
                <a:ea typeface="Arial"/>
                <a:cs typeface="Arial"/>
                <a:sym typeface="Arial"/>
              </a:rPr>
            </a:br>
            <a:br>
              <a:rPr b="0" lang="en-US" sz="1800">
                <a:solidFill>
                  <a:srgbClr val="000000"/>
                </a:solidFill>
                <a:latin typeface="Arial"/>
                <a:ea typeface="Arial"/>
                <a:cs typeface="Arial"/>
                <a:sym typeface="Arial"/>
              </a:rPr>
            </a:br>
            <a:r>
              <a:rPr b="0" lang="en-US" sz="1800">
                <a:solidFill>
                  <a:srgbClr val="000000"/>
                </a:solidFill>
                <a:latin typeface="Arial"/>
                <a:ea typeface="Arial"/>
                <a:cs typeface="Arial"/>
                <a:sym typeface="Arial"/>
              </a:rPr>
              <a:t>… then </a:t>
            </a:r>
            <a:r>
              <a:rPr b="0" lang="en-US" sz="1800" u="sng">
                <a:solidFill>
                  <a:srgbClr val="000000"/>
                </a:solidFill>
                <a:latin typeface="Arial"/>
                <a:ea typeface="Arial"/>
                <a:cs typeface="Arial"/>
                <a:sym typeface="Arial"/>
              </a:rPr>
              <a:t>you can manage yourself through obstacles</a:t>
            </a:r>
            <a:r>
              <a:rPr b="0" lang="en-US" sz="1800">
                <a:solidFill>
                  <a:srgbClr val="000000"/>
                </a:solidFill>
                <a:latin typeface="Arial"/>
                <a:ea typeface="Arial"/>
                <a:cs typeface="Arial"/>
                <a:sym typeface="Arial"/>
              </a:rPr>
              <a:t> like these with little difficulty and gain the admiration and respect of your fellow workers.</a:t>
            </a:r>
            <a:endParaRPr/>
          </a:p>
        </p:txBody>
      </p:sp>
      <p:sp>
        <p:nvSpPr>
          <p:cNvPr id="441" name="Google Shape;441;p4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Summary and Key Points: </a:t>
            </a:r>
            <a:endParaRPr/>
          </a:p>
        </p:txBody>
      </p:sp>
      <p:sp>
        <p:nvSpPr>
          <p:cNvPr id="442" name="Google Shape;442;p4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43" name="Google Shape;443;p4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You may be presented with a situation where your professional conduct or professional practice may be called into question. </a:t>
            </a:r>
            <a:endParaRPr/>
          </a:p>
          <a:p>
            <a:pPr indent="-359999" lvl="0" marL="72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To avoid this, you need to assess that situation, apply the hierarchy of ethics, and recommend the best course of action. </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An organization’s or a leader’s </a:t>
            </a:r>
            <a:r>
              <a:rPr b="0" lang="en-US" sz="1800" u="sng">
                <a:solidFill>
                  <a:srgbClr val="000000"/>
                </a:solidFill>
                <a:latin typeface="Arial"/>
                <a:ea typeface="Arial"/>
                <a:cs typeface="Arial"/>
                <a:sym typeface="Arial"/>
              </a:rPr>
              <a:t>decision-making process can be gauged on a scale of ethical behaviour</a:t>
            </a:r>
            <a:r>
              <a:rPr b="0" lang="en-US" sz="1800">
                <a:solidFill>
                  <a:srgbClr val="000000"/>
                </a:solidFill>
                <a:latin typeface="Arial"/>
                <a:ea typeface="Arial"/>
                <a:cs typeface="Arial"/>
                <a:sym typeface="Arial"/>
              </a:rPr>
              <a:t>. </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Apparent contradictions and ambiguities need to be managed during your career within your organization. </a:t>
            </a:r>
            <a:endParaRPr b="0" sz="1800">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sz="1800" u="sng">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u="sng">
                <a:solidFill>
                  <a:srgbClr val="000000"/>
                </a:solidFill>
                <a:latin typeface="Arial"/>
                <a:ea typeface="Arial"/>
                <a:cs typeface="Arial"/>
                <a:sym typeface="Arial"/>
              </a:rPr>
              <a:t>Our professionalism</a:t>
            </a:r>
            <a:r>
              <a:rPr b="0" lang="en-US" sz="1800">
                <a:solidFill>
                  <a:srgbClr val="000000"/>
                </a:solidFill>
                <a:latin typeface="Arial"/>
                <a:ea typeface="Arial"/>
                <a:cs typeface="Arial"/>
                <a:sym typeface="Arial"/>
              </a:rPr>
              <a:t> spans beyond our technical competencies, and </a:t>
            </a:r>
            <a:r>
              <a:rPr b="0" lang="en-US" sz="1800" u="sng">
                <a:solidFill>
                  <a:srgbClr val="000000"/>
                </a:solidFill>
                <a:latin typeface="Arial"/>
                <a:ea typeface="Arial"/>
                <a:cs typeface="Arial"/>
                <a:sym typeface="Arial"/>
              </a:rPr>
              <a:t>includes ethical conduct, integrity, and public service</a:t>
            </a:r>
            <a:r>
              <a:rPr b="0" lang="en-US" sz="1800">
                <a:solidFill>
                  <a:srgbClr val="000000"/>
                </a:solidFill>
                <a:latin typeface="Arial"/>
                <a:ea typeface="Arial"/>
                <a:cs typeface="Arial"/>
                <a:sym typeface="Arial"/>
              </a:rPr>
              <a:t> (duty to the public). </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a:solidFill>
                  <a:srgbClr val="000000"/>
                </a:solidFill>
                <a:latin typeface="Arial"/>
                <a:ea typeface="Arial"/>
                <a:cs typeface="Arial"/>
                <a:sym typeface="Arial"/>
              </a:rPr>
              <a:t>Our </a:t>
            </a:r>
            <a:r>
              <a:rPr b="0" lang="en-US" sz="1800" u="sng">
                <a:solidFill>
                  <a:srgbClr val="000000"/>
                </a:solidFill>
                <a:latin typeface="Arial"/>
                <a:ea typeface="Arial"/>
                <a:cs typeface="Arial"/>
                <a:sym typeface="Arial"/>
              </a:rPr>
              <a:t>moral compass</a:t>
            </a:r>
            <a:r>
              <a:rPr b="0" lang="en-US" sz="1800">
                <a:solidFill>
                  <a:srgbClr val="000000"/>
                </a:solidFill>
                <a:latin typeface="Arial"/>
                <a:ea typeface="Arial"/>
                <a:cs typeface="Arial"/>
                <a:sym typeface="Arial"/>
              </a:rPr>
              <a:t> as professionals is grounded in </a:t>
            </a:r>
            <a:r>
              <a:rPr b="0" lang="en-US" sz="1800" u="sng">
                <a:solidFill>
                  <a:srgbClr val="000000"/>
                </a:solidFill>
                <a:latin typeface="Arial"/>
                <a:ea typeface="Arial"/>
                <a:cs typeface="Arial"/>
                <a:sym typeface="Arial"/>
              </a:rPr>
              <a:t>our hierarchy for applying ethics</a:t>
            </a:r>
            <a:r>
              <a:rPr b="0" lang="en-US" sz="1800">
                <a:solidFill>
                  <a:srgbClr val="000000"/>
                </a:solidFill>
                <a:latin typeface="Arial"/>
                <a:ea typeface="Arial"/>
                <a:cs typeface="Arial"/>
                <a:sym typeface="Arial"/>
              </a:rPr>
              <a:t> </a:t>
            </a:r>
            <a:r>
              <a:rPr b="0" i="1" lang="en-US" sz="1800">
                <a:solidFill>
                  <a:srgbClr val="000000"/>
                </a:solidFill>
                <a:latin typeface="Arial"/>
                <a:ea typeface="Arial"/>
                <a:cs typeface="Arial"/>
                <a:sym typeface="Arial"/>
              </a:rPr>
              <a:t>[1) I comply with the law. 2) I comply with the professional code. 3) etc.]</a:t>
            </a:r>
            <a:r>
              <a:rPr b="0" lang="en-US" sz="1800">
                <a:solidFill>
                  <a:srgbClr val="000000"/>
                </a:solidFill>
                <a:latin typeface="Arial"/>
                <a:ea typeface="Arial"/>
                <a:cs typeface="Arial"/>
                <a:sym typeface="Arial"/>
              </a:rPr>
              <a:t> </a:t>
            </a:r>
            <a:r>
              <a:rPr b="0" lang="en-US" sz="1800" u="sng">
                <a:solidFill>
                  <a:srgbClr val="000000"/>
                </a:solidFill>
                <a:latin typeface="Arial"/>
                <a:ea typeface="Arial"/>
                <a:cs typeface="Arial"/>
                <a:sym typeface="Arial"/>
              </a:rPr>
              <a:t>in our making decisions</a:t>
            </a:r>
            <a:r>
              <a:rPr b="0" lang="en-US" sz="1800">
                <a:solidFill>
                  <a:srgbClr val="000000"/>
                </a:solidFill>
                <a:latin typeface="Arial"/>
                <a:ea typeface="Arial"/>
                <a:cs typeface="Arial"/>
                <a:sym typeface="Arial"/>
              </a:rPr>
              <a:t>. </a:t>
            </a:r>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sz="1800">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lang="en-US" sz="1800" u="sng">
                <a:solidFill>
                  <a:srgbClr val="000000"/>
                </a:solidFill>
                <a:latin typeface="Arial"/>
                <a:ea typeface="Arial"/>
                <a:cs typeface="Arial"/>
                <a:sym typeface="Arial"/>
              </a:rPr>
              <a:t>If you are questioning</a:t>
            </a:r>
            <a:r>
              <a:rPr b="0" lang="en-US" sz="1800">
                <a:solidFill>
                  <a:srgbClr val="000000"/>
                </a:solidFill>
                <a:latin typeface="Arial"/>
                <a:ea typeface="Arial"/>
                <a:cs typeface="Arial"/>
                <a:sym typeface="Arial"/>
              </a:rPr>
              <a:t> whether the pending action (decision and/or behaviour) is ethical, and you cannot resolve that question, </a:t>
            </a:r>
            <a:r>
              <a:rPr b="0" lang="en-US" sz="1800" u="sng">
                <a:solidFill>
                  <a:srgbClr val="000000"/>
                </a:solidFill>
                <a:latin typeface="Arial"/>
                <a:ea typeface="Arial"/>
                <a:cs typeface="Arial"/>
                <a:sym typeface="Arial"/>
              </a:rPr>
              <a:t>then ask for help</a:t>
            </a:r>
            <a:r>
              <a:rPr b="0" lang="en-US" sz="1800">
                <a:solidFill>
                  <a:srgbClr val="000000"/>
                </a:solidFill>
                <a:latin typeface="Arial"/>
                <a:ea typeface="Arial"/>
                <a:cs typeface="Arial"/>
                <a:sym typeface="Arial"/>
              </a:rPr>
              <a:t> to discuss and review the ethics of that decision. </a:t>
            </a:r>
            <a:endParaRPr/>
          </a:p>
        </p:txBody>
      </p:sp>
      <p:sp>
        <p:nvSpPr>
          <p:cNvPr id="450" name="Google Shape;450;p4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lang="en-US" sz="2400">
                <a:solidFill>
                  <a:srgbClr val="333399"/>
                </a:solidFill>
                <a:latin typeface="Arial"/>
                <a:ea typeface="Arial"/>
                <a:cs typeface="Arial"/>
                <a:sym typeface="Arial"/>
              </a:rPr>
              <a:t>Summary and Key Points: </a:t>
            </a:r>
            <a:endParaRPr/>
          </a:p>
        </p:txBody>
      </p:sp>
      <p:sp>
        <p:nvSpPr>
          <p:cNvPr id="451" name="Google Shape;451;p4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452" name="Google Shape;452;p4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Chapter 6.10: Professionalism, Ethics and Equity</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