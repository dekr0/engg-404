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7" r:id="rId2"/>
    <p:sldMasterId id="2147483682" r:id="rId3"/>
  </p:sldMasterIdLst>
  <p:notesMasterIdLst>
    <p:notesMasterId r:id="rId44"/>
  </p:notesMasterIdLst>
  <p:sldIdLst>
    <p:sldId id="991" r:id="rId4"/>
    <p:sldId id="986" r:id="rId5"/>
    <p:sldId id="952" r:id="rId6"/>
    <p:sldId id="953" r:id="rId7"/>
    <p:sldId id="955" r:id="rId8"/>
    <p:sldId id="1004" r:id="rId9"/>
    <p:sldId id="999" r:id="rId10"/>
    <p:sldId id="1000" r:id="rId11"/>
    <p:sldId id="957" r:id="rId12"/>
    <p:sldId id="993" r:id="rId13"/>
    <p:sldId id="1007" r:id="rId14"/>
    <p:sldId id="1006" r:id="rId15"/>
    <p:sldId id="960" r:id="rId16"/>
    <p:sldId id="961" r:id="rId17"/>
    <p:sldId id="963" r:id="rId18"/>
    <p:sldId id="964" r:id="rId19"/>
    <p:sldId id="965" r:id="rId20"/>
    <p:sldId id="967" r:id="rId21"/>
    <p:sldId id="1014" r:id="rId22"/>
    <p:sldId id="966" r:id="rId23"/>
    <p:sldId id="992" r:id="rId24"/>
    <p:sldId id="1015" r:id="rId25"/>
    <p:sldId id="968" r:id="rId26"/>
    <p:sldId id="969" r:id="rId27"/>
    <p:sldId id="970" r:id="rId28"/>
    <p:sldId id="971" r:id="rId29"/>
    <p:sldId id="973" r:id="rId30"/>
    <p:sldId id="1013" r:id="rId31"/>
    <p:sldId id="974" r:id="rId32"/>
    <p:sldId id="1012" r:id="rId33"/>
    <p:sldId id="1009" r:id="rId34"/>
    <p:sldId id="995" r:id="rId35"/>
    <p:sldId id="998" r:id="rId36"/>
    <p:sldId id="1001" r:id="rId37"/>
    <p:sldId id="1002" r:id="rId38"/>
    <p:sldId id="976" r:id="rId39"/>
    <p:sldId id="923" r:id="rId40"/>
    <p:sldId id="979" r:id="rId41"/>
    <p:sldId id="978" r:id="rId42"/>
    <p:sldId id="900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  <a:srgbClr val="0000FF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91473" autoAdjust="0"/>
  </p:normalViewPr>
  <p:slideViewPr>
    <p:cSldViewPr snapToGrid="0">
      <p:cViewPr varScale="1">
        <p:scale>
          <a:sx n="64" d="100"/>
          <a:sy n="64" d="100"/>
        </p:scale>
        <p:origin x="6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92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BC5D4-F8CE-41A3-9AF1-BA3B209D5275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2D229-C060-489A-B63B-97F78F7E5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1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463355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81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293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dirty="0">
                <a:ea typeface="ＭＳ Ｐゴシック" panose="020B0600070205080204" pitchFamily="34" charset="-128"/>
              </a:rPr>
              <a:t>This is meant to drive class discussion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976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118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536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160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006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834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29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637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413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485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933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615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125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650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449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175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148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86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0118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507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397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898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8513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4166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73212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6733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92318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4860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97153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3039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41097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09691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1320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411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034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1137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067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488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027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7/4/2022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7795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5333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38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03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7/4/2022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395539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4978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1569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0834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7/4/2022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4993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20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819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33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kumimoji="0" lang="en-US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28600" y="2500342"/>
            <a:ext cx="8610600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4.2: Cause and Effect 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Model for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Analysis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endParaRPr lang="en-US" altLang="en-US" sz="2400" b="1" dirty="0" smtClean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4.3: Root Cause Analysis 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Incident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endParaRPr lang="en-US" altLang="en-US" sz="2400" b="1" dirty="0" smtClean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 Latent Causes -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9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topic: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Builds on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Topic #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19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4.2: Cause and Effect Model for Incident Analysis and Chapter 4.3: Root Cause Analysis of an Incident - Fundamentals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Examines the </a:t>
            </a: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  <a:r>
              <a:rPr kumimoji="0" lang="en-US" altLang="en-US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as discovered in a </a:t>
            </a: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Cause Analysis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Learning</a:t>
            </a:r>
            <a:r>
              <a:rPr kumimoji="0" lang="en-US" altLang="en-US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Outcomes:</a:t>
            </a:r>
            <a:endParaRPr kumimoji="0" lang="en-US" altLang="en-US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Develop a thorough,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comprehensive, and logical RCA Chart.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Explain the parts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of and w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rite an acceptable statement of a latent cause in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an RCA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Link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latent cause to a management system 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element.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Set the stage with a well-written</a:t>
            </a:r>
            <a:r>
              <a:rPr lang="en-US" altLang="en-US" dirty="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 acceptable 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latent cause statement in order to c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reate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recommendation to address that latent cause.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81299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 are </a:t>
            </a:r>
            <a:r>
              <a:rPr kumimoji="0" lang="en-CA" alt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weaknesses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the elements of the Risk Management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are NOT: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System Elements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failures i.e. “management failed to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…”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See “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Factors often missed or completed incorrectly for the RCA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chart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 in the </a:t>
            </a:r>
            <a:r>
              <a:rPr lang="en-CA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Team Project Instruction Manual</a:t>
            </a:r>
            <a:endParaRPr lang="en-CA" alt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identified, the latent causes: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 to the elements of the management system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Reflect inadequacies in the management system and program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stated in unique terms specific to the root in the RCA for that loss incident.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Thus, meaningful management action and management control can be undertaken to address a latent cause.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 must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drive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cause analysis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 to effectively find the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Latent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Causes – The What and Why: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785963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Practice –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DBECC22-1013-44DA-8BDE-34C3DB39F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828000"/>
            <a:ext cx="5030787" cy="5328000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209800" indent="-3810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Let’s redraw the RCA and focus on three basic causes to discover the root causes on the RCA!</a:t>
            </a: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Mining LI: “You are called to a scene where a mining haul truck and a shovel have been crushed with debris from an adjacent slope. You find one individual with a severe injury. You know the slopes are being monitored, you know there are procedures for safe work near the slopes, you know it had been raining for the last week.”</a:t>
            </a: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41831444-25D7-4445-AB66-026DC28DDD1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814" r="9391" b="53455"/>
          <a:stretch/>
        </p:blipFill>
        <p:spPr bwMode="auto">
          <a:xfrm>
            <a:off x="5346299" y="828000"/>
            <a:ext cx="3242529" cy="53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5837F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38108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D625A-E6AC-4380-982D-4988625CA7FE}"/>
              </a:ext>
            </a:extLst>
          </p:cNvPr>
          <p:cNvSpPr txBox="1"/>
          <p:nvPr/>
        </p:nvSpPr>
        <p:spPr>
          <a:xfrm>
            <a:off x="3456000" y="864000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C90EE-BF62-47C3-98D2-000393755EFE}"/>
              </a:ext>
            </a:extLst>
          </p:cNvPr>
          <p:cNvSpPr txBox="1"/>
          <p:nvPr/>
        </p:nvSpPr>
        <p:spPr>
          <a:xfrm>
            <a:off x="3456000" y="1582598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60E03-FB73-41D6-998A-3B99FACF2C6D}"/>
              </a:ext>
            </a:extLst>
          </p:cNvPr>
          <p:cNvSpPr txBox="1"/>
          <p:nvPr/>
        </p:nvSpPr>
        <p:spPr>
          <a:xfrm>
            <a:off x="3456000" y="2314199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2D6A3-2933-4B04-8708-0543D204A0DB}"/>
              </a:ext>
            </a:extLst>
          </p:cNvPr>
          <p:cNvSpPr txBox="1"/>
          <p:nvPr/>
        </p:nvSpPr>
        <p:spPr>
          <a:xfrm>
            <a:off x="151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was not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aware of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53D3-A06F-4467-9B3E-5BBCAC38F73E}"/>
              </a:ext>
            </a:extLst>
          </p:cNvPr>
          <p:cNvSpPr txBox="1"/>
          <p:nvPr/>
        </p:nvSpPr>
        <p:spPr>
          <a:xfrm>
            <a:off x="385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CF7B46C1-C0AE-4455-8B06-AF19021CDA0D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7939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386DAC5C-38A7-44ED-A006-707EEC4777F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91939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184027-A80C-4B77-84BE-B3E5753C2FA4}"/>
              </a:ext>
            </a:extLst>
          </p:cNvPr>
          <p:cNvSpPr txBox="1"/>
          <p:nvPr/>
        </p:nvSpPr>
        <p:spPr>
          <a:xfrm>
            <a:off x="6120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ECEC8-FEEA-4AE9-A4EF-E49CF3A73CE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5818"/>
            <a:ext cx="0" cy="2083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3E818F-393F-4338-8903-B13C3847181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7220"/>
            <a:ext cx="0" cy="19537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C0B811-6724-482B-AD62-E37375FB26C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8199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Flowchart: Punched Tape 22">
            <a:extLst>
              <a:ext uri="{FF2B5EF4-FFF2-40B4-BE49-F238E27FC236}">
                <a16:creationId xmlns:a16="http://schemas.microsoft.com/office/drawing/2014/main" id="{9D886577-F06C-4BA2-8027-956FB861266F}"/>
              </a:ext>
            </a:extLst>
          </p:cNvPr>
          <p:cNvSpPr/>
          <p:nvPr/>
        </p:nvSpPr>
        <p:spPr bwMode="auto">
          <a:xfrm flipH="1">
            <a:off x="4772880" y="2916365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B871EA-6A9A-480B-9EA5-B79F8816B537}"/>
              </a:ext>
            </a:extLst>
          </p:cNvPr>
          <p:cNvCxnSpPr/>
          <p:nvPr/>
        </p:nvCxnSpPr>
        <p:spPr>
          <a:xfrm flipH="1">
            <a:off x="2475166" y="4280992"/>
            <a:ext cx="2148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E1CE27-A345-460C-A06F-6AC99D2C1FC9}"/>
              </a:ext>
            </a:extLst>
          </p:cNvPr>
          <p:cNvCxnSpPr/>
          <p:nvPr/>
        </p:nvCxnSpPr>
        <p:spPr>
          <a:xfrm>
            <a:off x="4817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06ABC0-047F-4F51-B693-ED73203E9DCA}"/>
              </a:ext>
            </a:extLst>
          </p:cNvPr>
          <p:cNvCxnSpPr/>
          <p:nvPr/>
        </p:nvCxnSpPr>
        <p:spPr>
          <a:xfrm>
            <a:off x="7085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sp>
        <p:nvSpPr>
          <p:cNvPr id="24" name="Rectangle 3">
            <a:extLst>
              <a:ext uri="{FF2B5EF4-FFF2-40B4-BE49-F238E27FC236}">
                <a16:creationId xmlns:a16="http://schemas.microsoft.com/office/drawing/2014/main" id="{ADBECC22-1013-44DA-8BDE-34C3DB39F227}"/>
              </a:ext>
            </a:extLst>
          </p:cNvPr>
          <p:cNvSpPr>
            <a:spLocks noChangeArrowheads="1"/>
          </p:cNvSpPr>
          <p:nvPr/>
        </p:nvSpPr>
        <p:spPr bwMode="auto">
          <a:xfrm rot="19952274">
            <a:off x="271091" y="1458020"/>
            <a:ext cx="3276000" cy="1342199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209800" indent="-3810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Let’s redraw the RCA and focus on three basic causes to discover the root causes on the RCA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!</a:t>
            </a: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47291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D625A-E6AC-4380-982D-4988625CA7FE}"/>
              </a:ext>
            </a:extLst>
          </p:cNvPr>
          <p:cNvSpPr txBox="1"/>
          <p:nvPr/>
        </p:nvSpPr>
        <p:spPr>
          <a:xfrm>
            <a:off x="3456000" y="864000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C90EE-BF62-47C3-98D2-000393755EFE}"/>
              </a:ext>
            </a:extLst>
          </p:cNvPr>
          <p:cNvSpPr txBox="1"/>
          <p:nvPr/>
        </p:nvSpPr>
        <p:spPr>
          <a:xfrm>
            <a:off x="3456000" y="1582598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60E03-FB73-41D6-998A-3B99FACF2C6D}"/>
              </a:ext>
            </a:extLst>
          </p:cNvPr>
          <p:cNvSpPr txBox="1"/>
          <p:nvPr/>
        </p:nvSpPr>
        <p:spPr>
          <a:xfrm>
            <a:off x="3456000" y="2314199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2D6A3-2933-4B04-8708-0543D204A0DB}"/>
              </a:ext>
            </a:extLst>
          </p:cNvPr>
          <p:cNvSpPr txBox="1"/>
          <p:nvPr/>
        </p:nvSpPr>
        <p:spPr>
          <a:xfrm>
            <a:off x="151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was not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aware of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53D3-A06F-4467-9B3E-5BBCAC38F73E}"/>
              </a:ext>
            </a:extLst>
          </p:cNvPr>
          <p:cNvSpPr txBox="1"/>
          <p:nvPr/>
        </p:nvSpPr>
        <p:spPr>
          <a:xfrm>
            <a:off x="385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CF7B46C1-C0AE-4455-8B06-AF19021CDA0D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7939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386DAC5C-38A7-44ED-A006-707EEC4777F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91939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184027-A80C-4B77-84BE-B3E5753C2FA4}"/>
              </a:ext>
            </a:extLst>
          </p:cNvPr>
          <p:cNvSpPr txBox="1"/>
          <p:nvPr/>
        </p:nvSpPr>
        <p:spPr>
          <a:xfrm>
            <a:off x="6120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ECEC8-FEEA-4AE9-A4EF-E49CF3A73CE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5818"/>
            <a:ext cx="0" cy="2083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3E818F-393F-4338-8903-B13C3847181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7220"/>
            <a:ext cx="0" cy="19537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C0B811-6724-482B-AD62-E37375FB26C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8199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Flowchart: Punched Tape 22">
            <a:extLst>
              <a:ext uri="{FF2B5EF4-FFF2-40B4-BE49-F238E27FC236}">
                <a16:creationId xmlns:a16="http://schemas.microsoft.com/office/drawing/2014/main" id="{9D886577-F06C-4BA2-8027-956FB861266F}"/>
              </a:ext>
            </a:extLst>
          </p:cNvPr>
          <p:cNvSpPr/>
          <p:nvPr/>
        </p:nvSpPr>
        <p:spPr bwMode="auto">
          <a:xfrm flipH="1">
            <a:off x="4772880" y="2916365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ALE #1: State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B871EA-6A9A-480B-9EA5-B79F8816B537}"/>
              </a:ext>
            </a:extLst>
          </p:cNvPr>
          <p:cNvCxnSpPr/>
          <p:nvPr/>
        </p:nvCxnSpPr>
        <p:spPr>
          <a:xfrm flipH="1">
            <a:off x="2475166" y="4280992"/>
            <a:ext cx="2148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E1CE27-A345-460C-A06F-6AC99D2C1FC9}"/>
              </a:ext>
            </a:extLst>
          </p:cNvPr>
          <p:cNvCxnSpPr/>
          <p:nvPr/>
        </p:nvCxnSpPr>
        <p:spPr>
          <a:xfrm>
            <a:off x="4817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06ABC0-047F-4F51-B693-ED73203E9DCA}"/>
              </a:ext>
            </a:extLst>
          </p:cNvPr>
          <p:cNvCxnSpPr/>
          <p:nvPr/>
        </p:nvCxnSpPr>
        <p:spPr>
          <a:xfrm>
            <a:off x="7085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sp>
        <p:nvSpPr>
          <p:cNvPr id="24" name="Rectangle 3">
            <a:extLst>
              <a:ext uri="{FF2B5EF4-FFF2-40B4-BE49-F238E27FC236}">
                <a16:creationId xmlns:a16="http://schemas.microsoft.com/office/drawing/2014/main" id="{ADBECC22-1013-44DA-8BDE-34C3DB39F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08" y="1721557"/>
            <a:ext cx="3276000" cy="1342199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00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</a:t>
            </a:r>
            <a:r>
              <a:rPr lang="en-US" alt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confer and select an appropriate latent cause statement </a:t>
            </a:r>
            <a:r>
              <a:rPr lang="en-US" altLang="en-US" sz="200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indicated basic cause (MM-Poll):</a:t>
            </a:r>
            <a:endParaRPr lang="en-US" altLang="en-US" sz="20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99753" y="3419946"/>
            <a:ext cx="3644247" cy="2764053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581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D625A-E6AC-4380-982D-4988625CA7FE}"/>
              </a:ext>
            </a:extLst>
          </p:cNvPr>
          <p:cNvSpPr txBox="1"/>
          <p:nvPr/>
        </p:nvSpPr>
        <p:spPr>
          <a:xfrm>
            <a:off x="3456000" y="864000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C90EE-BF62-47C3-98D2-000393755EFE}"/>
              </a:ext>
            </a:extLst>
          </p:cNvPr>
          <p:cNvSpPr txBox="1"/>
          <p:nvPr/>
        </p:nvSpPr>
        <p:spPr>
          <a:xfrm>
            <a:off x="3456000" y="1582597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60E03-FB73-41D6-998A-3B99FACF2C6D}"/>
              </a:ext>
            </a:extLst>
          </p:cNvPr>
          <p:cNvSpPr txBox="1"/>
          <p:nvPr/>
        </p:nvSpPr>
        <p:spPr>
          <a:xfrm>
            <a:off x="3456000" y="2314199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2D6A3-2933-4B04-8708-0543D204A0DB}"/>
              </a:ext>
            </a:extLst>
          </p:cNvPr>
          <p:cNvSpPr txBox="1"/>
          <p:nvPr/>
        </p:nvSpPr>
        <p:spPr>
          <a:xfrm>
            <a:off x="151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was not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aware of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53D3-A06F-4467-9B3E-5BBCAC38F73E}"/>
              </a:ext>
            </a:extLst>
          </p:cNvPr>
          <p:cNvSpPr txBox="1"/>
          <p:nvPr/>
        </p:nvSpPr>
        <p:spPr>
          <a:xfrm>
            <a:off x="385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CF7B46C1-C0AE-4455-8B06-AF19021CDA0D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7939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386DAC5C-38A7-44ED-A006-707EEC4777F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91939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184027-A80C-4B77-84BE-B3E5753C2FA4}"/>
              </a:ext>
            </a:extLst>
          </p:cNvPr>
          <p:cNvSpPr txBox="1"/>
          <p:nvPr/>
        </p:nvSpPr>
        <p:spPr>
          <a:xfrm>
            <a:off x="6120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DE8046-8706-426F-97A4-527B5FB5FDB0}"/>
              </a:ext>
            </a:extLst>
          </p:cNvPr>
          <p:cNvSpPr txBox="1"/>
          <p:nvPr/>
        </p:nvSpPr>
        <p:spPr>
          <a:xfrm>
            <a:off x="1512000" y="5167107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There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mining operations.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38A1E8-3D07-46DD-8AAF-D7634A0AEF5C}"/>
              </a:ext>
            </a:extLst>
          </p:cNvPr>
          <p:cNvCxnSpPr>
            <a:stCxn id="11" idx="2"/>
            <a:endCxn id="18" idx="0"/>
          </p:cNvCxnSpPr>
          <p:nvPr/>
        </p:nvCxnSpPr>
        <p:spPr>
          <a:xfrm>
            <a:off x="2592000" y="4244344"/>
            <a:ext cx="0" cy="92276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ECEC8-FEEA-4AE9-A4EF-E49CF3A73CE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5817"/>
            <a:ext cx="0" cy="2083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3E818F-393F-4338-8903-B13C3847181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7220"/>
            <a:ext cx="0" cy="19537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C0B811-6724-482B-AD62-E37375FB26C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8199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Flowchart: Punched Tape 22">
            <a:extLst>
              <a:ext uri="{FF2B5EF4-FFF2-40B4-BE49-F238E27FC236}">
                <a16:creationId xmlns:a16="http://schemas.microsoft.com/office/drawing/2014/main" id="{9D886577-F06C-4BA2-8027-956FB861266F}"/>
              </a:ext>
            </a:extLst>
          </p:cNvPr>
          <p:cNvSpPr/>
          <p:nvPr/>
        </p:nvSpPr>
        <p:spPr bwMode="auto">
          <a:xfrm flipH="1">
            <a:off x="4772880" y="2916365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1B72C6-F218-4114-8BCB-6F79D69D3077}"/>
              </a:ext>
            </a:extLst>
          </p:cNvPr>
          <p:cNvSpPr txBox="1"/>
          <p:nvPr/>
        </p:nvSpPr>
        <p:spPr>
          <a:xfrm>
            <a:off x="347135" y="3402651"/>
            <a:ext cx="1152777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</a:t>
            </a: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Cause?</a:t>
            </a:r>
            <a:endParaRPr lang="en-CA" sz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99753" y="3419946"/>
            <a:ext cx="3644247" cy="2764053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this </a:t>
            </a:r>
            <a:b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sense? </a:t>
            </a:r>
            <a:b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there a </a:t>
            </a:r>
            <a:b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 leap?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04754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D59BD-EB3B-4D7F-A7A9-0AE2BDFDE4BF}"/>
              </a:ext>
            </a:extLst>
          </p:cNvPr>
          <p:cNvSpPr txBox="1"/>
          <p:nvPr/>
        </p:nvSpPr>
        <p:spPr>
          <a:xfrm>
            <a:off x="3456000" y="861252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5C928-CC38-454E-8795-A8C1DBEC105D}"/>
              </a:ext>
            </a:extLst>
          </p:cNvPr>
          <p:cNvSpPr txBox="1"/>
          <p:nvPr/>
        </p:nvSpPr>
        <p:spPr>
          <a:xfrm>
            <a:off x="3456000" y="1578182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28A437-C1E3-474E-A526-F56414306009}"/>
              </a:ext>
            </a:extLst>
          </p:cNvPr>
          <p:cNvSpPr txBox="1"/>
          <p:nvPr/>
        </p:nvSpPr>
        <p:spPr>
          <a:xfrm>
            <a:off x="3456000" y="2311451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51731-B625-4045-96E2-230805AEB74B}"/>
              </a:ext>
            </a:extLst>
          </p:cNvPr>
          <p:cNvSpPr txBox="1"/>
          <p:nvPr/>
        </p:nvSpPr>
        <p:spPr>
          <a:xfrm>
            <a:off x="1512000" y="350293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B17F1-103B-40E5-8566-ECE2FD65DA2D}"/>
              </a:ext>
            </a:extLst>
          </p:cNvPr>
          <p:cNvSpPr txBox="1"/>
          <p:nvPr/>
        </p:nvSpPr>
        <p:spPr>
          <a:xfrm>
            <a:off x="3852000" y="350293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9449D279-CB43-4D04-82EC-C017EA7812F6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5191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899A9B8F-54A4-406C-9C10-17812CEB3DF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89191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8D03DE-9A55-4494-B2D3-7C1D2BDE7C2C}"/>
              </a:ext>
            </a:extLst>
          </p:cNvPr>
          <p:cNvSpPr txBox="1"/>
          <p:nvPr/>
        </p:nvSpPr>
        <p:spPr>
          <a:xfrm>
            <a:off x="6120000" y="350293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24479-13B4-4014-993C-EEC8B9CBD96A}"/>
              </a:ext>
            </a:extLst>
          </p:cNvPr>
          <p:cNvSpPr txBox="1"/>
          <p:nvPr/>
        </p:nvSpPr>
        <p:spPr>
          <a:xfrm>
            <a:off x="1512000" y="5164359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mining operations.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9A13DE-954E-49A4-8A09-48118BA5021D}"/>
              </a:ext>
            </a:extLst>
          </p:cNvPr>
          <p:cNvCxnSpPr>
            <a:stCxn id="11" idx="2"/>
            <a:endCxn id="20" idx="0"/>
          </p:cNvCxnSpPr>
          <p:nvPr/>
        </p:nvCxnSpPr>
        <p:spPr>
          <a:xfrm flipH="1">
            <a:off x="2589852" y="4241596"/>
            <a:ext cx="2148" cy="17232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34176DB-910F-467F-936E-BF2DBB8B14B5}"/>
              </a:ext>
            </a:extLst>
          </p:cNvPr>
          <p:cNvSpPr txBox="1"/>
          <p:nvPr/>
        </p:nvSpPr>
        <p:spPr>
          <a:xfrm>
            <a:off x="1509852" y="4413925"/>
            <a:ext cx="2160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Worker was not trained on those procedures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B268F9-12A6-4173-BD62-66107BA9DEB1}"/>
              </a:ext>
            </a:extLst>
          </p:cNvPr>
          <p:cNvCxnSpPr>
            <a:stCxn id="20" idx="2"/>
            <a:endCxn id="18" idx="0"/>
          </p:cNvCxnSpPr>
          <p:nvPr/>
        </p:nvCxnSpPr>
        <p:spPr>
          <a:xfrm>
            <a:off x="2589852" y="4953925"/>
            <a:ext cx="2148" cy="21043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8F5DE7-5433-4F2F-8556-2D38D5384E77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1402"/>
            <a:ext cx="0" cy="21004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4AFDF7-A884-4481-8221-E281E515BDED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4472"/>
            <a:ext cx="0" cy="19371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134410-61D1-465C-9FFA-E5E157D21919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5451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Flowchart: Punched Tape 24">
            <a:extLst>
              <a:ext uri="{FF2B5EF4-FFF2-40B4-BE49-F238E27FC236}">
                <a16:creationId xmlns:a16="http://schemas.microsoft.com/office/drawing/2014/main" id="{45ECA896-7B6A-4983-80A5-351188DDEDD8}"/>
              </a:ext>
            </a:extLst>
          </p:cNvPr>
          <p:cNvSpPr/>
          <p:nvPr/>
        </p:nvSpPr>
        <p:spPr bwMode="auto">
          <a:xfrm flipH="1">
            <a:off x="4772880" y="2913617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904696-2EF8-4E59-B13F-F612AB0BEC38}"/>
              </a:ext>
            </a:extLst>
          </p:cNvPr>
          <p:cNvSpPr txBox="1"/>
          <p:nvPr/>
        </p:nvSpPr>
        <p:spPr>
          <a:xfrm>
            <a:off x="188005" y="4154609"/>
            <a:ext cx="1311908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4B0EB2-A6F7-42D7-93B8-C69078EBF60D}"/>
              </a:ext>
            </a:extLst>
          </p:cNvPr>
          <p:cNvSpPr txBox="1"/>
          <p:nvPr/>
        </p:nvSpPr>
        <p:spPr>
          <a:xfrm>
            <a:off x="188004" y="5160563"/>
            <a:ext cx="1316110" cy="80532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99753" y="3419946"/>
            <a:ext cx="3644247" cy="2764053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717" y="4656667"/>
            <a:ext cx="2301413" cy="145624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904696-2EF8-4E59-B13F-F612AB0BEC38}"/>
              </a:ext>
            </a:extLst>
          </p:cNvPr>
          <p:cNvSpPr txBox="1"/>
          <p:nvPr/>
        </p:nvSpPr>
        <p:spPr>
          <a:xfrm>
            <a:off x="4057831" y="5520858"/>
            <a:ext cx="2405823" cy="550247"/>
          </a:xfrm>
          <a:prstGeom prst="rightArrow">
            <a:avLst/>
          </a:prstGeom>
          <a:solidFill>
            <a:srgbClr val="FFFFFF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BC sub-sub-category</a:t>
            </a:r>
            <a:endParaRPr kumimoji="0" lang="en-CA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3852000" y="4298900"/>
            <a:ext cx="4961400" cy="1921975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7030A0"/>
            </a:solidFill>
            <a:prstDash val="sysDash"/>
            <a:miter lim="800000"/>
          </a:ln>
          <a:effectLst/>
        </p:spPr>
        <p:txBody>
          <a:bodyPr rtlCol="0" anchor="t" anchorCtr="0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the C&amp;E Model to determine cause-category: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904696-2EF8-4E59-B13F-F612AB0BEC38}"/>
              </a:ext>
            </a:extLst>
          </p:cNvPr>
          <p:cNvSpPr txBox="1"/>
          <p:nvPr/>
        </p:nvSpPr>
        <p:spPr>
          <a:xfrm>
            <a:off x="182457" y="3384293"/>
            <a:ext cx="1471775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Intermediate </a:t>
            </a: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Cause</a:t>
            </a:r>
          </a:p>
        </p:txBody>
      </p:sp>
    </p:spTree>
    <p:extLst>
      <p:ext uri="{BB962C8B-B14F-4D97-AF65-F5344CB8AC3E}">
        <p14:creationId xmlns:p14="http://schemas.microsoft.com/office/powerpoint/2010/main" val="413247303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3EB78-514A-44A2-A9DC-0854CBA95196}"/>
              </a:ext>
            </a:extLst>
          </p:cNvPr>
          <p:cNvSpPr txBox="1"/>
          <p:nvPr/>
        </p:nvSpPr>
        <p:spPr>
          <a:xfrm>
            <a:off x="1512000" y="2382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F7CFF-14C1-4D79-AB84-4A149C73C048}"/>
              </a:ext>
            </a:extLst>
          </p:cNvPr>
          <p:cNvSpPr txBox="1"/>
          <p:nvPr/>
        </p:nvSpPr>
        <p:spPr>
          <a:xfrm>
            <a:off x="3852000" y="2382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DF266D5B-09A2-46EF-8A8C-AE494E4A7496}"/>
              </a:ext>
            </a:extLst>
          </p:cNvPr>
          <p:cNvCxnSpPr>
            <a:endCxn id="14" idx="0"/>
          </p:cNvCxnSpPr>
          <p:nvPr/>
        </p:nvCxnSpPr>
        <p:spPr>
          <a:xfrm rot="16200000" flipH="1">
            <a:off x="5722260" y="904823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4A97D833-5517-46E4-8192-118FFA57F123}"/>
              </a:ext>
            </a:extLst>
          </p:cNvPr>
          <p:cNvCxnSpPr>
            <a:endCxn id="6" idx="0"/>
          </p:cNvCxnSpPr>
          <p:nvPr/>
        </p:nvCxnSpPr>
        <p:spPr>
          <a:xfrm rot="5400000">
            <a:off x="3418260" y="868823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8C8BA3-DC56-420D-9BEA-0891632D158D}"/>
              </a:ext>
            </a:extLst>
          </p:cNvPr>
          <p:cNvSpPr txBox="1"/>
          <p:nvPr/>
        </p:nvSpPr>
        <p:spPr>
          <a:xfrm>
            <a:off x="6120000" y="2382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28128F-BB52-4FF9-B769-6EA015AE0218}"/>
              </a:ext>
            </a:extLst>
          </p:cNvPr>
          <p:cNvSpPr txBox="1"/>
          <p:nvPr/>
        </p:nvSpPr>
        <p:spPr>
          <a:xfrm>
            <a:off x="3852000" y="3426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Procedures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AA9BC-6C71-43E6-8400-00C6749434D2}"/>
              </a:ext>
            </a:extLst>
          </p:cNvPr>
          <p:cNvSpPr txBox="1"/>
          <p:nvPr/>
        </p:nvSpPr>
        <p:spPr>
          <a:xfrm>
            <a:off x="3852000" y="4218564"/>
            <a:ext cx="2160000" cy="1600438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evaluation program did not include a standard (an audit schedule) to list and schedule the exclusion zone procedures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7EA369-71CE-45F4-A11A-A2E7FA6C3316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932000" y="4165228"/>
            <a:ext cx="0" cy="53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B298CB-6818-4FC5-B6CE-EAF3E0AAB734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932000" y="3121228"/>
            <a:ext cx="0" cy="30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2C9864-0221-4C07-B4FF-B110DE5A9C3C}"/>
              </a:ext>
            </a:extLst>
          </p:cNvPr>
          <p:cNvCxnSpPr>
            <a:endCxn id="7" idx="0"/>
          </p:cNvCxnSpPr>
          <p:nvPr/>
        </p:nvCxnSpPr>
        <p:spPr>
          <a:xfrm>
            <a:off x="4932000" y="1695083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8622A3C3-6519-430C-9830-F917D5622330}"/>
              </a:ext>
            </a:extLst>
          </p:cNvPr>
          <p:cNvSpPr/>
          <p:nvPr/>
        </p:nvSpPr>
        <p:spPr bwMode="auto">
          <a:xfrm flipH="1">
            <a:off x="4772880" y="179324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0670D5-05D6-42EB-A840-399008392A38}"/>
              </a:ext>
            </a:extLst>
          </p:cNvPr>
          <p:cNvSpPr txBox="1"/>
          <p:nvPr/>
        </p:nvSpPr>
        <p:spPr>
          <a:xfrm>
            <a:off x="2261180" y="2454564"/>
            <a:ext cx="1584000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Immediate </a:t>
            </a: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Cause</a:t>
            </a:r>
          </a:p>
        </p:txBody>
      </p:sp>
      <p:sp>
        <p:nvSpPr>
          <p:cNvPr id="22" name="Rounded Rectangle 30">
            <a:extLst>
              <a:ext uri="{FF2B5EF4-FFF2-40B4-BE49-F238E27FC236}">
                <a16:creationId xmlns:a16="http://schemas.microsoft.com/office/drawing/2014/main" id="{D77E7127-9680-46B1-A950-839F2C1BE586}"/>
              </a:ext>
            </a:extLst>
          </p:cNvPr>
          <p:cNvSpPr/>
          <p:nvPr/>
        </p:nvSpPr>
        <p:spPr>
          <a:xfrm>
            <a:off x="1884758" y="2197290"/>
            <a:ext cx="4379495" cy="3773742"/>
          </a:xfrm>
          <a:prstGeom prst="roundRect">
            <a:avLst>
              <a:gd name="adj" fmla="val 9908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DEAB55-C805-43BC-A03E-465E8EDDD400}"/>
              </a:ext>
            </a:extLst>
          </p:cNvPr>
          <p:cNvSpPr txBox="1"/>
          <p:nvPr/>
        </p:nvSpPr>
        <p:spPr>
          <a:xfrm>
            <a:off x="2268000" y="440761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4973D4-D744-4FDF-9B6E-47332C068CC7}"/>
              </a:ext>
            </a:extLst>
          </p:cNvPr>
          <p:cNvSpPr txBox="1"/>
          <p:nvPr/>
        </p:nvSpPr>
        <p:spPr>
          <a:xfrm>
            <a:off x="2268000" y="3413943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  <a:endParaRPr lang="en-CA" sz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A519B8-391E-4DDE-8397-67239517313C}"/>
              </a:ext>
            </a:extLst>
          </p:cNvPr>
          <p:cNvSpPr txBox="1"/>
          <p:nvPr/>
        </p:nvSpPr>
        <p:spPr>
          <a:xfrm>
            <a:off x="3493147" y="1164550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12561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DBEE2-145C-4D10-9214-7F7CB67A9D71}"/>
              </a:ext>
            </a:extLst>
          </p:cNvPr>
          <p:cNvSpPr txBox="1"/>
          <p:nvPr/>
        </p:nvSpPr>
        <p:spPr>
          <a:xfrm>
            <a:off x="102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34FF9-F262-4EEC-89BE-77706F7B0E55}"/>
              </a:ext>
            </a:extLst>
          </p:cNvPr>
          <p:cNvSpPr txBox="1"/>
          <p:nvPr/>
        </p:nvSpPr>
        <p:spPr>
          <a:xfrm>
            <a:off x="336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E297E914-6915-4770-83CD-2C93694D54AC}"/>
              </a:ext>
            </a:extLst>
          </p:cNvPr>
          <p:cNvCxnSpPr>
            <a:stCxn id="20" idx="2"/>
            <a:endCxn id="14" idx="0"/>
          </p:cNvCxnSpPr>
          <p:nvPr/>
        </p:nvCxnSpPr>
        <p:spPr>
          <a:xfrm rot="16200000" flipH="1">
            <a:off x="5552638" y="537510"/>
            <a:ext cx="205958" cy="241899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0B038C1A-0586-4251-8617-AB61324489EC}"/>
              </a:ext>
            </a:extLst>
          </p:cNvPr>
          <p:cNvCxnSpPr>
            <a:stCxn id="20" idx="2"/>
            <a:endCxn id="6" idx="0"/>
          </p:cNvCxnSpPr>
          <p:nvPr/>
        </p:nvCxnSpPr>
        <p:spPr>
          <a:xfrm rot="5400000">
            <a:off x="3171195" y="575059"/>
            <a:ext cx="205958" cy="23438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22AB6-4794-4926-9F8A-DFBE22F15681}"/>
              </a:ext>
            </a:extLst>
          </p:cNvPr>
          <p:cNvSpPr txBox="1"/>
          <p:nvPr/>
        </p:nvSpPr>
        <p:spPr>
          <a:xfrm>
            <a:off x="5630226" y="1849985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391233"/>
            <a:ext cx="2469774" cy="68268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lIns="36000" tIns="36000" rIns="36000" bIns="0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Supervisor believed that production was paramount over safety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D37DA6-0923-498E-A172-534372CBE976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6865113" y="2373205"/>
            <a:ext cx="0" cy="2621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0B56D1-EADB-4041-B05B-A68316CF6EA7}"/>
              </a:ext>
            </a:extLst>
          </p:cNvPr>
          <p:cNvSpPr txBox="1"/>
          <p:nvPr/>
        </p:nvSpPr>
        <p:spPr>
          <a:xfrm>
            <a:off x="5630226" y="2635358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Supervisor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7" idx="2"/>
            <a:endCxn id="15" idx="0"/>
          </p:cNvCxnSpPr>
          <p:nvPr/>
        </p:nvCxnSpPr>
        <p:spPr>
          <a:xfrm>
            <a:off x="6865113" y="3158578"/>
            <a:ext cx="0" cy="23265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CEA7C4-5B36-4BEA-A14D-C54C7032D817}"/>
              </a:ext>
            </a:extLst>
          </p:cNvPr>
          <p:cNvCxnSpPr>
            <a:endCxn id="7" idx="0"/>
          </p:cNvCxnSpPr>
          <p:nvPr/>
        </p:nvCxnSpPr>
        <p:spPr>
          <a:xfrm>
            <a:off x="4442226" y="1353703"/>
            <a:ext cx="0" cy="4962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7DF51C37-E5C6-4F60-8614-D787F90B28BC}"/>
              </a:ext>
            </a:extLst>
          </p:cNvPr>
          <p:cNvSpPr/>
          <p:nvPr/>
        </p:nvSpPr>
        <p:spPr bwMode="auto">
          <a:xfrm flipH="1">
            <a:off x="4249854" y="136873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BE2B0-DA55-4FA6-A7CB-659534911A24}"/>
              </a:ext>
            </a:extLst>
          </p:cNvPr>
          <p:cNvSpPr txBox="1"/>
          <p:nvPr/>
        </p:nvSpPr>
        <p:spPr>
          <a:xfrm>
            <a:off x="4046226" y="263760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3470908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Latent Cause?</a:t>
            </a:r>
            <a:endParaRPr lang="en-CA" sz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8433F-EAAA-44D1-A313-E011DDD003EE}"/>
              </a:ext>
            </a:extLst>
          </p:cNvPr>
          <p:cNvSpPr txBox="1"/>
          <p:nvPr/>
        </p:nvSpPr>
        <p:spPr>
          <a:xfrm>
            <a:off x="3003373" y="823172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2B8E651-9E4B-4CED-B8B6-84025A9D5347}"/>
              </a:ext>
            </a:extLst>
          </p:cNvPr>
          <p:cNvSpPr/>
          <p:nvPr/>
        </p:nvSpPr>
        <p:spPr>
          <a:xfrm>
            <a:off x="3808011" y="1849985"/>
            <a:ext cx="4779036" cy="4067950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t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 smtClean="0">
              <a:solidFill>
                <a:srgbClr val="FF0000"/>
              </a:solidFill>
              <a:latin typeface="Calibri" panose="020F0502020204030204"/>
            </a:endParaRPr>
          </a:p>
          <a:p>
            <a:pPr lvl="0">
              <a:defRPr/>
            </a:pPr>
            <a:endParaRPr lang="en-US" sz="2400" b="1" kern="0" dirty="0" smtClean="0">
              <a:solidFill>
                <a:srgbClr val="FF0000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  <a:t>Is </a:t>
            </a:r>
            <a:r>
              <a:rPr lang="en-US" sz="2400" b="1" kern="0" dirty="0">
                <a:solidFill>
                  <a:srgbClr val="FF0000"/>
                </a:solidFill>
                <a:latin typeface="Calibri" panose="020F0502020204030204"/>
              </a:rPr>
              <a:t>this </a:t>
            </a:r>
            <a: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  <a:t>an acceptable statement </a:t>
            </a:r>
            <a:b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</a:br>
            <a: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  <a:t>for a </a:t>
            </a:r>
            <a:r>
              <a:rPr lang="en-US" sz="2400" b="1" kern="0" dirty="0">
                <a:solidFill>
                  <a:srgbClr val="FF0000"/>
                </a:solidFill>
                <a:latin typeface="Calibri" panose="020F0502020204030204"/>
              </a:rPr>
              <a:t>latent cause?</a:t>
            </a:r>
          </a:p>
        </p:txBody>
      </p:sp>
    </p:spTree>
    <p:extLst>
      <p:ext uri="{BB962C8B-B14F-4D97-AF65-F5344CB8AC3E}">
        <p14:creationId xmlns:p14="http://schemas.microsoft.com/office/powerpoint/2010/main" val="407742448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DBEE2-145C-4D10-9214-7F7CB67A9D71}"/>
              </a:ext>
            </a:extLst>
          </p:cNvPr>
          <p:cNvSpPr txBox="1"/>
          <p:nvPr/>
        </p:nvSpPr>
        <p:spPr>
          <a:xfrm>
            <a:off x="102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34FF9-F262-4EEC-89BE-77706F7B0E55}"/>
              </a:ext>
            </a:extLst>
          </p:cNvPr>
          <p:cNvSpPr txBox="1"/>
          <p:nvPr/>
        </p:nvSpPr>
        <p:spPr>
          <a:xfrm>
            <a:off x="336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E297E914-6915-4770-83CD-2C93694D54AC}"/>
              </a:ext>
            </a:extLst>
          </p:cNvPr>
          <p:cNvCxnSpPr>
            <a:stCxn id="20" idx="2"/>
            <a:endCxn id="14" idx="0"/>
          </p:cNvCxnSpPr>
          <p:nvPr/>
        </p:nvCxnSpPr>
        <p:spPr>
          <a:xfrm rot="16200000" flipH="1">
            <a:off x="5552638" y="537510"/>
            <a:ext cx="205958" cy="241899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0B038C1A-0586-4251-8617-AB61324489EC}"/>
              </a:ext>
            </a:extLst>
          </p:cNvPr>
          <p:cNvCxnSpPr>
            <a:stCxn id="20" idx="2"/>
            <a:endCxn id="6" idx="0"/>
          </p:cNvCxnSpPr>
          <p:nvPr/>
        </p:nvCxnSpPr>
        <p:spPr>
          <a:xfrm rot="5400000">
            <a:off x="3171195" y="575059"/>
            <a:ext cx="205958" cy="23438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22AB6-4794-4926-9F8A-DFBE22F15681}"/>
              </a:ext>
            </a:extLst>
          </p:cNvPr>
          <p:cNvSpPr txBox="1"/>
          <p:nvPr/>
        </p:nvSpPr>
        <p:spPr>
          <a:xfrm>
            <a:off x="5630226" y="1849985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391233"/>
            <a:ext cx="2469774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D37DA6-0923-498E-A172-534372CBE976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6865113" y="2373205"/>
            <a:ext cx="0" cy="2621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0B56D1-EADB-4041-B05B-A68316CF6EA7}"/>
              </a:ext>
            </a:extLst>
          </p:cNvPr>
          <p:cNvSpPr txBox="1"/>
          <p:nvPr/>
        </p:nvSpPr>
        <p:spPr>
          <a:xfrm>
            <a:off x="5630226" y="2635358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Supervisor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7" idx="2"/>
            <a:endCxn id="15" idx="0"/>
          </p:cNvCxnSpPr>
          <p:nvPr/>
        </p:nvCxnSpPr>
        <p:spPr>
          <a:xfrm>
            <a:off x="6865113" y="3158578"/>
            <a:ext cx="0" cy="23265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CEA7C4-5B36-4BEA-A14D-C54C7032D817}"/>
              </a:ext>
            </a:extLst>
          </p:cNvPr>
          <p:cNvCxnSpPr>
            <a:endCxn id="7" idx="0"/>
          </p:cNvCxnSpPr>
          <p:nvPr/>
        </p:nvCxnSpPr>
        <p:spPr>
          <a:xfrm>
            <a:off x="4442226" y="1353703"/>
            <a:ext cx="0" cy="4962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7DF51C37-E5C6-4F60-8614-D787F90B28BC}"/>
              </a:ext>
            </a:extLst>
          </p:cNvPr>
          <p:cNvSpPr/>
          <p:nvPr/>
        </p:nvSpPr>
        <p:spPr bwMode="auto">
          <a:xfrm flipH="1">
            <a:off x="4249854" y="136873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BE2B0-DA55-4FA6-A7CB-659534911A24}"/>
              </a:ext>
            </a:extLst>
          </p:cNvPr>
          <p:cNvSpPr txBox="1"/>
          <p:nvPr/>
        </p:nvSpPr>
        <p:spPr>
          <a:xfrm>
            <a:off x="4046226" y="263760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F9B77-67A7-4F56-8F64-0E807F0F4E50}"/>
              </a:ext>
            </a:extLst>
          </p:cNvPr>
          <p:cNvSpPr txBox="1"/>
          <p:nvPr/>
        </p:nvSpPr>
        <p:spPr>
          <a:xfrm>
            <a:off x="4046226" y="5296973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47483B-0FA0-4009-BFB6-B2CB20DE41EE}"/>
              </a:ext>
            </a:extLst>
          </p:cNvPr>
          <p:cNvSpPr txBox="1"/>
          <p:nvPr/>
        </p:nvSpPr>
        <p:spPr>
          <a:xfrm>
            <a:off x="5630226" y="5235253"/>
            <a:ext cx="2469774" cy="68268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Values Communications Program was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implemented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B3269B-933B-4EC9-B4D5-8EDAF45A5FCD}"/>
              </a:ext>
            </a:extLst>
          </p:cNvPr>
          <p:cNvCxnSpPr>
            <a:stCxn id="15" idx="2"/>
            <a:endCxn id="24" idx="0"/>
          </p:cNvCxnSpPr>
          <p:nvPr/>
        </p:nvCxnSpPr>
        <p:spPr>
          <a:xfrm>
            <a:off x="6865113" y="4129897"/>
            <a:ext cx="0" cy="110535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3470908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Intermediate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8433F-EAAA-44D1-A313-E011DDD003EE}"/>
              </a:ext>
            </a:extLst>
          </p:cNvPr>
          <p:cNvSpPr txBox="1"/>
          <p:nvPr/>
        </p:nvSpPr>
        <p:spPr>
          <a:xfrm>
            <a:off x="3003373" y="823172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2B8E651-9E4B-4CED-B8B6-84025A9D5347}"/>
              </a:ext>
            </a:extLst>
          </p:cNvPr>
          <p:cNvSpPr/>
          <p:nvPr/>
        </p:nvSpPr>
        <p:spPr>
          <a:xfrm>
            <a:off x="3808011" y="1849984"/>
            <a:ext cx="4779036" cy="4157623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t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 smtClean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</a:t>
            </a:r>
            <a:b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sense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6378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DBEE2-145C-4D10-9214-7F7CB67A9D71}"/>
              </a:ext>
            </a:extLst>
          </p:cNvPr>
          <p:cNvSpPr txBox="1"/>
          <p:nvPr/>
        </p:nvSpPr>
        <p:spPr>
          <a:xfrm>
            <a:off x="102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34FF9-F262-4EEC-89BE-77706F7B0E55}"/>
              </a:ext>
            </a:extLst>
          </p:cNvPr>
          <p:cNvSpPr txBox="1"/>
          <p:nvPr/>
        </p:nvSpPr>
        <p:spPr>
          <a:xfrm>
            <a:off x="336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E297E914-6915-4770-83CD-2C93694D54AC}"/>
              </a:ext>
            </a:extLst>
          </p:cNvPr>
          <p:cNvCxnSpPr>
            <a:stCxn id="20" idx="2"/>
            <a:endCxn id="14" idx="0"/>
          </p:cNvCxnSpPr>
          <p:nvPr/>
        </p:nvCxnSpPr>
        <p:spPr>
          <a:xfrm rot="16200000" flipH="1">
            <a:off x="5552638" y="537510"/>
            <a:ext cx="205958" cy="241899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0B038C1A-0586-4251-8617-AB61324489EC}"/>
              </a:ext>
            </a:extLst>
          </p:cNvPr>
          <p:cNvCxnSpPr>
            <a:stCxn id="20" idx="2"/>
            <a:endCxn id="6" idx="0"/>
          </p:cNvCxnSpPr>
          <p:nvPr/>
        </p:nvCxnSpPr>
        <p:spPr>
          <a:xfrm rot="5400000">
            <a:off x="3171195" y="575059"/>
            <a:ext cx="205958" cy="23438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22AB6-4794-4926-9F8A-DFBE22F15681}"/>
              </a:ext>
            </a:extLst>
          </p:cNvPr>
          <p:cNvSpPr txBox="1"/>
          <p:nvPr/>
        </p:nvSpPr>
        <p:spPr>
          <a:xfrm>
            <a:off x="5630226" y="1849985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391233"/>
            <a:ext cx="2469774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D37DA6-0923-498E-A172-534372CBE976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6865113" y="2373205"/>
            <a:ext cx="0" cy="2621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0B56D1-EADB-4041-B05B-A68316CF6EA7}"/>
              </a:ext>
            </a:extLst>
          </p:cNvPr>
          <p:cNvSpPr txBox="1"/>
          <p:nvPr/>
        </p:nvSpPr>
        <p:spPr>
          <a:xfrm>
            <a:off x="5630226" y="2635358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Supervisor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7" idx="2"/>
            <a:endCxn id="15" idx="0"/>
          </p:cNvCxnSpPr>
          <p:nvPr/>
        </p:nvCxnSpPr>
        <p:spPr>
          <a:xfrm>
            <a:off x="6865113" y="3158578"/>
            <a:ext cx="0" cy="23265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CEA7C4-5B36-4BEA-A14D-C54C7032D817}"/>
              </a:ext>
            </a:extLst>
          </p:cNvPr>
          <p:cNvCxnSpPr>
            <a:endCxn id="7" idx="0"/>
          </p:cNvCxnSpPr>
          <p:nvPr/>
        </p:nvCxnSpPr>
        <p:spPr>
          <a:xfrm>
            <a:off x="4442226" y="1353703"/>
            <a:ext cx="0" cy="4962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7DF51C37-E5C6-4F60-8614-D787F90B28BC}"/>
              </a:ext>
            </a:extLst>
          </p:cNvPr>
          <p:cNvSpPr/>
          <p:nvPr/>
        </p:nvSpPr>
        <p:spPr bwMode="auto">
          <a:xfrm flipH="1">
            <a:off x="4249854" y="136873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BE2B0-DA55-4FA6-A7CB-659534911A24}"/>
              </a:ext>
            </a:extLst>
          </p:cNvPr>
          <p:cNvSpPr txBox="1"/>
          <p:nvPr/>
        </p:nvSpPr>
        <p:spPr>
          <a:xfrm>
            <a:off x="4046226" y="263760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F9B77-67A7-4F56-8F64-0E807F0F4E50}"/>
              </a:ext>
            </a:extLst>
          </p:cNvPr>
          <p:cNvSpPr txBox="1"/>
          <p:nvPr/>
        </p:nvSpPr>
        <p:spPr>
          <a:xfrm>
            <a:off x="4046226" y="5296973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47483B-0FA0-4009-BFB6-B2CB20DE41EE}"/>
              </a:ext>
            </a:extLst>
          </p:cNvPr>
          <p:cNvSpPr txBox="1"/>
          <p:nvPr/>
        </p:nvSpPr>
        <p:spPr>
          <a:xfrm>
            <a:off x="5630226" y="5235253"/>
            <a:ext cx="2469774" cy="68268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Values Communications Program was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implemented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3470908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Intermediate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8433F-EAAA-44D1-A313-E011DDD003EE}"/>
              </a:ext>
            </a:extLst>
          </p:cNvPr>
          <p:cNvSpPr txBox="1"/>
          <p:nvPr/>
        </p:nvSpPr>
        <p:spPr>
          <a:xfrm>
            <a:off x="3003373" y="823172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32F4B3-F741-481F-9006-1905E5E5DFEE}"/>
              </a:ext>
            </a:extLst>
          </p:cNvPr>
          <p:cNvSpPr txBox="1"/>
          <p:nvPr/>
        </p:nvSpPr>
        <p:spPr>
          <a:xfrm>
            <a:off x="5630227" y="4300600"/>
            <a:ext cx="2469774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Sr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Mngmt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expectations were not in alignment with core safety values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5" idx="2"/>
            <a:endCxn id="30" idx="0"/>
          </p:cNvCxnSpPr>
          <p:nvPr/>
        </p:nvCxnSpPr>
        <p:spPr>
          <a:xfrm>
            <a:off x="6865113" y="4129897"/>
            <a:ext cx="1" cy="17070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30" idx="2"/>
            <a:endCxn id="24" idx="0"/>
          </p:cNvCxnSpPr>
          <p:nvPr/>
        </p:nvCxnSpPr>
        <p:spPr>
          <a:xfrm flipH="1">
            <a:off x="6865113" y="5039264"/>
            <a:ext cx="1" cy="19598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4361410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Intermediate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2B8E651-9E4B-4CED-B8B6-84025A9D5347}"/>
              </a:ext>
            </a:extLst>
          </p:cNvPr>
          <p:cNvSpPr/>
          <p:nvPr/>
        </p:nvSpPr>
        <p:spPr>
          <a:xfrm>
            <a:off x="3808011" y="1849984"/>
            <a:ext cx="4779036" cy="4067951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t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78676" y="5882532"/>
            <a:ext cx="680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kern="0" dirty="0">
                <a:solidFill>
                  <a:srgbClr val="FF0000"/>
                </a:solidFill>
                <a:latin typeface="Calibri" panose="020F0502020204030204"/>
              </a:rPr>
              <a:t>** Is this an acceptable latent cause statement</a:t>
            </a:r>
            <a:r>
              <a:rPr lang="en-US" b="1" kern="0" dirty="0" smtClean="0">
                <a:solidFill>
                  <a:srgbClr val="FF0000"/>
                </a:solidFill>
                <a:latin typeface="Calibri" panose="020F0502020204030204"/>
              </a:rPr>
              <a:t>? We will revisit this!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01588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4001976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632050"/>
            <a:ext cx="2772000" cy="116955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evaluation program did not include a standard (an audit schedule) to list and schedule the exclusion zone procedures.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not implemented.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324785" y="826708"/>
            <a:ext cx="926377" cy="523220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014000" y="4541976"/>
            <a:ext cx="0" cy="9007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164443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324000" y="182828"/>
            <a:ext cx="926377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687653"/>
            <a:ext cx="2180423" cy="695265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The RCA Chart </a:t>
            </a:r>
            <a:b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is developed!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>
            <a:off x="1618789" y="2566645"/>
            <a:ext cx="2180423" cy="981551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Improvements! Creating an RCA Chart is an iterative and collaborative activity!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3" name="Straight Arrow Connector 2"/>
          <p:cNvCxnSpPr>
            <a:stCxn id="43" idx="0"/>
            <a:endCxn id="7" idx="2"/>
          </p:cNvCxnSpPr>
          <p:nvPr/>
        </p:nvCxnSpPr>
        <p:spPr>
          <a:xfrm flipV="1">
            <a:off x="2709001" y="2357541"/>
            <a:ext cx="1304999" cy="27045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3" idx="3"/>
            <a:endCxn id="20" idx="1"/>
          </p:cNvCxnSpPr>
          <p:nvPr/>
        </p:nvCxnSpPr>
        <p:spPr>
          <a:xfrm flipV="1">
            <a:off x="3799212" y="2750593"/>
            <a:ext cx="1780788" cy="306828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3" idx="2"/>
            <a:endCxn id="23" idx="0"/>
          </p:cNvCxnSpPr>
          <p:nvPr/>
        </p:nvCxnSpPr>
        <p:spPr>
          <a:xfrm flipH="1">
            <a:off x="1404000" y="3486849"/>
            <a:ext cx="1305001" cy="70715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3"/>
            <a:endCxn id="19" idx="1"/>
          </p:cNvCxnSpPr>
          <p:nvPr/>
        </p:nvCxnSpPr>
        <p:spPr>
          <a:xfrm>
            <a:off x="3799212" y="3057421"/>
            <a:ext cx="1780788" cy="1406579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3" idx="2"/>
            <a:endCxn id="15" idx="0"/>
          </p:cNvCxnSpPr>
          <p:nvPr/>
        </p:nvCxnSpPr>
        <p:spPr>
          <a:xfrm>
            <a:off x="2709001" y="3486849"/>
            <a:ext cx="1304999" cy="515127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3" idx="3"/>
            <a:endCxn id="41" idx="1"/>
          </p:cNvCxnSpPr>
          <p:nvPr/>
        </p:nvCxnSpPr>
        <p:spPr>
          <a:xfrm>
            <a:off x="3799212" y="3057421"/>
            <a:ext cx="1831014" cy="494087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5122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Latent Causes and the Risk Management System Elements: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08A9CEE-3BC5-4DAC-8459-477090C6F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1760"/>
            <a:ext cx="8229600" cy="4968240"/>
          </a:xfrm>
          <a:prstGeom prst="rect">
            <a:avLst/>
          </a:prstGeom>
          <a:solidFill>
            <a:srgbClr val="5B9BD5">
              <a:alpha val="70195"/>
            </a:srgb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FCB479F9-FCF3-406D-99DC-A02745E6FB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814" b="53455"/>
          <a:stretch/>
        </p:blipFill>
        <p:spPr bwMode="auto">
          <a:xfrm>
            <a:off x="597154" y="1109886"/>
            <a:ext cx="4100102" cy="48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5837F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2B3D9F-14E4-413A-8C6B-9A2896D621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69249" y="996110"/>
            <a:ext cx="2467961" cy="2451453"/>
          </a:xfrm>
          <a:prstGeom prst="rect">
            <a:avLst/>
          </a:prstGeom>
        </p:spPr>
      </p:pic>
      <p:sp>
        <p:nvSpPr>
          <p:cNvPr id="11" name="Bent Arrow 1">
            <a:extLst>
              <a:ext uri="{FF2B5EF4-FFF2-40B4-BE49-F238E27FC236}">
                <a16:creationId xmlns:a16="http://schemas.microsoft.com/office/drawing/2014/main" id="{76D571C5-5DF7-4AF1-B483-E4FABA959022}"/>
              </a:ext>
            </a:extLst>
          </p:cNvPr>
          <p:cNvSpPr/>
          <p:nvPr/>
        </p:nvSpPr>
        <p:spPr>
          <a:xfrm rot="5400000">
            <a:off x="5156327" y="1199842"/>
            <a:ext cx="1133859" cy="1772095"/>
          </a:xfrm>
          <a:prstGeom prst="bentArrow">
            <a:avLst/>
          </a:prstGeom>
          <a:solidFill>
            <a:srgbClr val="FF00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12A915-4E4B-4189-9209-2A38CC8D2DC8}"/>
              </a:ext>
            </a:extLst>
          </p:cNvPr>
          <p:cNvSpPr txBox="1"/>
          <p:nvPr/>
        </p:nvSpPr>
        <p:spPr>
          <a:xfrm>
            <a:off x="4697257" y="2652816"/>
            <a:ext cx="398954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Categories of Latent Causes:</a:t>
            </a:r>
          </a:p>
          <a:p>
            <a:endParaRPr lang="en-US" sz="20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P = Inadequate Program</a:t>
            </a:r>
          </a:p>
          <a:p>
            <a:endParaRPr lang="en-US" sz="20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S = Inadequate Standards</a:t>
            </a:r>
            <a:b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</a:br>
            <a:r>
              <a:rPr lang="en-US" sz="1600" b="1" i="1" dirty="0">
                <a:solidFill>
                  <a:prstClr val="black"/>
                </a:solidFill>
                <a:cs typeface="Arial" panose="020B0604020202020204" pitchFamily="34" charset="0"/>
              </a:rPr>
              <a:t>(Standard = administrative </a:t>
            </a:r>
            <a:r>
              <a:rPr lang="en-US" sz="1600" b="1" i="1" dirty="0" smtClean="0">
                <a:solidFill>
                  <a:prstClr val="black"/>
                </a:solidFill>
                <a:cs typeface="Arial" panose="020B0604020202020204" pitchFamily="34" charset="0"/>
              </a:rPr>
              <a:t>control)</a:t>
            </a:r>
            <a:endParaRPr lang="en-US" sz="2000" b="1" i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endParaRPr lang="en-US" sz="20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C = Inadequate Compliance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597154" y="1591056"/>
            <a:ext cx="3023870" cy="4438944"/>
          </a:xfrm>
          <a:prstGeom prst="roundRect">
            <a:avLst>
              <a:gd name="adj" fmla="val 11224"/>
            </a:avLst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2288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[P] Inadequate Program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overall RM Program (policy or high-level direction) and RMS Element that relate to that particular latent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</a:t>
            </a:r>
            <a: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are n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on-existent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or lacking in large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part.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[S] Inadequate Standards </a:t>
            </a:r>
            <a:r>
              <a:rPr kumimoji="0" lang="en-CA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(of</a:t>
            </a:r>
            <a:r>
              <a:rPr kumimoji="0" lang="en-CA" altLang="en-US" sz="200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program)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exists but supporting administrative controls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non-existent or inadequate for that particular root of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analysis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administrative controls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policies, procedures, checklists, schedules)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document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detail the tasks /  instructions and roles / responsibilities for undertaking activities and managing the risks of those activities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[C] Inadequate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Compliance</a:t>
            </a: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(with </a:t>
            </a: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standards</a:t>
            </a:r>
            <a:r>
              <a:rPr kumimoji="0" lang="en-CA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supporting documentation exist, but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he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practices (the actual execution of the work)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comply with the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requirements as specified in the standard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not being done or not being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done correctly.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HINT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: Because the categories of latent causes are </a:t>
            </a:r>
            <a:r>
              <a:rPr kumimoji="0" lang="en-CA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inadequate program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CA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inadequate </a:t>
            </a:r>
            <a:r>
              <a:rPr kumimoji="0" lang="en-CA" alt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program standards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and </a:t>
            </a:r>
            <a:r>
              <a:rPr kumimoji="0" lang="en-CA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inadequate </a:t>
            </a:r>
            <a:r>
              <a:rPr kumimoji="0" lang="en-CA" alt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compliance </a:t>
            </a:r>
            <a:r>
              <a:rPr lang="en-CA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with program standards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then the latent cause must be expressed in similar terms.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Explanation of LC Categories and Hints on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405712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Which</a:t>
            </a:r>
            <a:r>
              <a:rPr kumimoji="0" lang="en-US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Category – P, S, or C?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P, S, or C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category for a latent cause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be determined in an RCA?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Yes – if you have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sufficient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information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which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will likely be the case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the workplace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investigate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lead an RCA, etc.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 – in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absence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information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i.e.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team project: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will not have sufficient information to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discern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P, S, or C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  <a:endParaRPr lang="en-CA" altLang="en-US" sz="20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your engineering know-how, your </a:t>
            </a:r>
            <a:b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expertise in risk management, and </a:t>
            </a:r>
            <a:b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knowledge of the incident to make reasonable suppositions.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manner in which you state your latent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may reveal whether it is P, S, or C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 the section “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b) The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Project Perspective,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Context, etc.” in the Team Project Instruction Manual, it should likely be a “S” category</a:t>
            </a:r>
            <a:r>
              <a:rPr lang="en-CA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Categories for Latent Causes – P, S, and C: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282" y="1542407"/>
            <a:ext cx="3202025" cy="298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8377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 Model for the Set of Categories of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525D440-980F-4AEE-9EB3-694E72F91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00" y="944880"/>
            <a:ext cx="8229600" cy="4968240"/>
          </a:xfrm>
          <a:prstGeom prst="rect">
            <a:avLst/>
          </a:prstGeom>
          <a:solidFill>
            <a:srgbClr val="5B9BD5">
              <a:alpha val="70195"/>
            </a:srgb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Large </a:t>
            </a:r>
            <a:r>
              <a:rPr lang="en-US" altLang="en-US" sz="2000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grey arrow is </a:t>
            </a:r>
            <a:br>
              <a:rPr lang="en-US" altLang="en-US" sz="2000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</a:br>
            <a:r>
              <a:rPr lang="en-US" altLang="en-US" sz="2000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the </a:t>
            </a:r>
            <a:r>
              <a:rPr lang="en-US" altLang="en-US" sz="2000" u="sng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d</a:t>
            </a:r>
            <a:r>
              <a:rPr kumimoji="0" lang="en-US" altLang="en-US" sz="2000" b="0" i="0" u="sng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esired</a:t>
            </a:r>
            <a:r>
              <a:rPr kumimoji="0" lang="en-US" altLang="en-US" sz="2000" b="0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 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path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 … 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but may deviate!</a:t>
            </a: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</p:txBody>
      </p:sp>
      <p:sp>
        <p:nvSpPr>
          <p:cNvPr id="14" name="Right Arrow 24">
            <a:extLst>
              <a:ext uri="{FF2B5EF4-FFF2-40B4-BE49-F238E27FC236}">
                <a16:creationId xmlns:a16="http://schemas.microsoft.com/office/drawing/2014/main" id="{6044564C-C5C7-47E8-9A4C-3F5C52EAEC70}"/>
              </a:ext>
            </a:extLst>
          </p:cNvPr>
          <p:cNvSpPr/>
          <p:nvPr/>
        </p:nvSpPr>
        <p:spPr>
          <a:xfrm rot="7376752">
            <a:off x="2006322" y="2262206"/>
            <a:ext cx="4032555" cy="1800713"/>
          </a:xfrm>
          <a:prstGeom prst="rightArrow">
            <a:avLst>
              <a:gd name="adj1" fmla="val 34470"/>
              <a:gd name="adj2" fmla="val 63833"/>
            </a:avLst>
          </a:prstGeom>
          <a:solidFill>
            <a:srgbClr val="E7E6E6">
              <a:alpha val="80000"/>
            </a:srgbClr>
          </a:solidFill>
          <a:ln w="38100" cap="flat" cmpd="sng" algn="ctr">
            <a:solidFill>
              <a:srgbClr val="E7E6E6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994750-31A5-49C7-8FA2-2B793120BD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9938" y="1160284"/>
            <a:ext cx="4929925" cy="459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3503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 Model for the Set of Categories of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105F52F-0D7A-4F25-8EE4-5DA3B58B8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430" y="828000"/>
            <a:ext cx="3772970" cy="5328000"/>
          </a:xfrm>
          <a:prstGeom prst="rect">
            <a:avLst/>
          </a:prstGeom>
          <a:solidFill>
            <a:sysClr val="windowText" lastClr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Apply this concept to our mining case study. For the latent causes, choose the category: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P – inadequate program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 – inadequate standards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 – inadequate compliance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8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#1: MLCA – </a:t>
            </a: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Core Safety Values Communications Program was not implemented.**  </a:t>
            </a:r>
            <a:r>
              <a:rPr kumimoji="0" lang="en-US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&gt;&gt;C</a:t>
            </a:r>
            <a:endParaRPr kumimoji="0" lang="en-US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8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#6: PE&amp;CI – </a:t>
            </a:r>
            <a:r>
              <a:rPr lang="en-US" altLang="en-US" sz="1800" i="1" kern="0" dirty="0">
                <a:solidFill>
                  <a:prstClr val="white"/>
                </a:solidFill>
                <a:latin typeface="Arial" panose="020B0604020202020204" pitchFamily="34" charset="0"/>
              </a:rPr>
              <a:t>The evaluation program did not include a standard to </a:t>
            </a:r>
            <a:r>
              <a:rPr lang="en-US" altLang="en-US" sz="1800" i="1" kern="0" dirty="0" smtClean="0">
                <a:solidFill>
                  <a:prstClr val="white"/>
                </a:solidFill>
                <a:latin typeface="Arial" panose="020B0604020202020204" pitchFamily="34" charset="0"/>
              </a:rPr>
              <a:t>list and schedule </a:t>
            </a:r>
            <a:r>
              <a:rPr lang="en-US" altLang="en-US" sz="1800" i="1" kern="0" dirty="0">
                <a:solidFill>
                  <a:prstClr val="white"/>
                </a:solidFill>
                <a:latin typeface="Arial" panose="020B0604020202020204" pitchFamily="34" charset="0"/>
              </a:rPr>
              <a:t>the exclusion zone procedures for auditing</a:t>
            </a:r>
            <a:r>
              <a:rPr lang="en-US" altLang="en-US" sz="1800" i="1" kern="0" dirty="0" smtClean="0">
                <a:solidFill>
                  <a:prstClr val="white"/>
                </a:solidFill>
                <a:latin typeface="Arial" panose="020B0604020202020204" pitchFamily="34" charset="0"/>
              </a:rPr>
              <a:t>.</a:t>
            </a:r>
            <a:r>
              <a:rPr kumimoji="0" lang="en-US" altLang="en-US" sz="1800" b="0" i="1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kumimoji="0" lang="en-US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&gt;&gt;S</a:t>
            </a:r>
            <a:endParaRPr kumimoji="0" lang="en-US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8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#9: EC&amp;T – There was no training program for </a:t>
            </a: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mining</a:t>
            </a:r>
            <a:r>
              <a:rPr kumimoji="0" lang="en-US" altLang="en-US" sz="1800" b="0" i="1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operations. </a:t>
            </a:r>
            <a:br>
              <a:rPr kumimoji="0" lang="en-US" altLang="en-US" sz="1800" b="0" i="1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r>
              <a:rPr kumimoji="0" lang="en-US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&gt;&gt;P</a:t>
            </a:r>
            <a:endParaRPr kumimoji="0" lang="en-CA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36EA0BD-D92C-4EF0-9029-9D3DCA444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828000"/>
            <a:ext cx="4860430" cy="5328000"/>
          </a:xfrm>
          <a:prstGeom prst="rect">
            <a:avLst/>
          </a:prstGeom>
          <a:solidFill>
            <a:srgbClr val="5B9BD5">
              <a:alpha val="70195"/>
            </a:srgb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3CBBC0-81EC-4CCA-9EAD-906B236BF8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274" y="970014"/>
            <a:ext cx="4093881" cy="41140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816" y="5100200"/>
            <a:ext cx="4662656" cy="102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5092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4001976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632050"/>
            <a:ext cx="2772000" cy="116955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LC2-S: The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evaluation program did not include a standard (an audit schedule) to list and schedule the exclusion zone procedures.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LC3-C: Core Safety Values Communications Program was not implemented.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LC1-P: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324785" y="826708"/>
            <a:ext cx="926377" cy="523220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014000" y="4541976"/>
            <a:ext cx="0" cy="9007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164443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324000" y="182828"/>
            <a:ext cx="926377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cxnSp>
        <p:nvCxnSpPr>
          <p:cNvPr id="3" name="Straight Arrow Connector 2"/>
          <p:cNvCxnSpPr>
            <a:stCxn id="47" idx="2"/>
            <a:endCxn id="21" idx="1"/>
          </p:cNvCxnSpPr>
          <p:nvPr/>
        </p:nvCxnSpPr>
        <p:spPr>
          <a:xfrm>
            <a:off x="3713902" y="3607538"/>
            <a:ext cx="1866098" cy="1819794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7" idx="2"/>
            <a:endCxn id="22" idx="0"/>
          </p:cNvCxnSpPr>
          <p:nvPr/>
        </p:nvCxnSpPr>
        <p:spPr>
          <a:xfrm flipH="1">
            <a:off x="1404000" y="3607538"/>
            <a:ext cx="2309902" cy="1450462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7" idx="2"/>
            <a:endCxn id="16" idx="0"/>
          </p:cNvCxnSpPr>
          <p:nvPr/>
        </p:nvCxnSpPr>
        <p:spPr>
          <a:xfrm>
            <a:off x="3713902" y="3607538"/>
            <a:ext cx="300098" cy="1024512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687653"/>
            <a:ext cx="2180423" cy="695265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The RCA Chart </a:t>
            </a:r>
            <a:b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is </a:t>
            </a:r>
            <a:r>
              <a:rPr lang="en-US" sz="1400" u="sng" kern="0" noProof="0" dirty="0" smtClean="0">
                <a:solidFill>
                  <a:prstClr val="black"/>
                </a:solidFill>
                <a:latin typeface="Calibri" panose="020F0502020204030204"/>
              </a:rPr>
              <a:t>further</a:t>
            </a: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 developed!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>
            <a:off x="2623690" y="2687334"/>
            <a:ext cx="2180423" cy="981551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Latent causes are numbered, categorized, and aligned with an RME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8168912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28BF6-C393-462B-B6BF-43934AF74B8B}"/>
              </a:ext>
            </a:extLst>
          </p:cNvPr>
          <p:cNvSpPr txBox="1"/>
          <p:nvPr/>
        </p:nvSpPr>
        <p:spPr>
          <a:xfrm>
            <a:off x="324000" y="257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DC645BFC-A53A-433A-A331-E9738EE5BB15}"/>
              </a:ext>
            </a:extLst>
          </p:cNvPr>
          <p:cNvCxnSpPr>
            <a:stCxn id="18" idx="2"/>
            <a:endCxn id="6" idx="0"/>
          </p:cNvCxnSpPr>
          <p:nvPr/>
        </p:nvCxnSpPr>
        <p:spPr>
          <a:xfrm rot="5400000">
            <a:off x="2540389" y="1112293"/>
            <a:ext cx="325319" cy="25980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EC9E394-BC26-4511-B1D1-26ADBF19649E}"/>
              </a:ext>
            </a:extLst>
          </p:cNvPr>
          <p:cNvSpPr/>
          <p:nvPr/>
        </p:nvSpPr>
        <p:spPr bwMode="auto">
          <a:xfrm>
            <a:off x="3783215" y="195694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189C8-3570-4889-8450-F7F4C36961C8}"/>
              </a:ext>
            </a:extLst>
          </p:cNvPr>
          <p:cNvSpPr txBox="1"/>
          <p:nvPr/>
        </p:nvSpPr>
        <p:spPr>
          <a:xfrm>
            <a:off x="324000" y="5182695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LC1-P: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There was no training program for mining operations.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5273BF-A824-4203-9910-398DBEB54A20}"/>
              </a:ext>
            </a:extLst>
          </p:cNvPr>
          <p:cNvSpPr txBox="1"/>
          <p:nvPr/>
        </p:nvSpPr>
        <p:spPr>
          <a:xfrm>
            <a:off x="324000" y="381161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12BCC-993B-4DA5-BA93-DB3BE0B0FBAB}"/>
              </a:ext>
            </a:extLst>
          </p:cNvPr>
          <p:cNvSpPr txBox="1"/>
          <p:nvPr/>
        </p:nvSpPr>
        <p:spPr>
          <a:xfrm>
            <a:off x="324000" y="5902695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FFAB3D-0C19-4C1C-A1DD-707BE54E15D1}"/>
              </a:ext>
            </a:extLst>
          </p:cNvPr>
          <p:cNvCxnSpPr/>
          <p:nvPr/>
        </p:nvCxnSpPr>
        <p:spPr>
          <a:xfrm>
            <a:off x="7182000" y="3114000"/>
            <a:ext cx="0" cy="24774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58B08E-EB4A-450F-992F-40DD734865BC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3312664"/>
            <a:ext cx="0" cy="49894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457820-8925-4DC7-A814-CCC9569E4DED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550274"/>
            <a:ext cx="0" cy="63242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C978834-B42F-4EA4-A5BD-C34E42CC02C7}"/>
              </a:ext>
            </a:extLst>
          </p:cNvPr>
          <p:cNvSpPr txBox="1"/>
          <p:nvPr/>
        </p:nvSpPr>
        <p:spPr>
          <a:xfrm>
            <a:off x="1656000" y="393780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9F7831-1718-4A4C-83DD-CBA8DE3DE8F0}"/>
              </a:ext>
            </a:extLst>
          </p:cNvPr>
          <p:cNvSpPr txBox="1"/>
          <p:nvPr/>
        </p:nvSpPr>
        <p:spPr>
          <a:xfrm>
            <a:off x="1656000" y="932771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373565-6748-4359-9A82-6531A1797149}"/>
              </a:ext>
            </a:extLst>
          </p:cNvPr>
          <p:cNvSpPr txBox="1"/>
          <p:nvPr/>
        </p:nvSpPr>
        <p:spPr>
          <a:xfrm>
            <a:off x="1656000" y="1418473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999633-6DA9-4246-B17C-E506CD4CFF21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1240548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6DE855-15A6-4D25-AE5C-CE7592B70C84}"/>
              </a:ext>
            </a:extLst>
          </p:cNvPr>
          <p:cNvCxnSpPr>
            <a:stCxn id="37" idx="2"/>
            <a:endCxn id="18" idx="0"/>
          </p:cNvCxnSpPr>
          <p:nvPr/>
        </p:nvCxnSpPr>
        <p:spPr>
          <a:xfrm>
            <a:off x="3996000" y="1706473"/>
            <a:ext cx="6095" cy="28288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20255873">
            <a:off x="3170861" y="2640923"/>
            <a:ext cx="4979235" cy="2576572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Revisit </a:t>
            </a:r>
            <a:r>
              <a:rPr kumimoji="0" 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One Basic Cause in 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the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“Mine Loss RCA”</a:t>
            </a:r>
          </a:p>
        </p:txBody>
      </p:sp>
      <p:sp>
        <p:nvSpPr>
          <p:cNvPr id="43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Examples of Latent Causes in Different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Categories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7423069" y="1232105"/>
            <a:ext cx="1496487" cy="30777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7423069" y="890913"/>
            <a:ext cx="1496487" cy="3077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</p:spTree>
    <p:extLst>
      <p:ext uri="{BB962C8B-B14F-4D97-AF65-F5344CB8AC3E}">
        <p14:creationId xmlns:p14="http://schemas.microsoft.com/office/powerpoint/2010/main" val="127696935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28BF6-C393-462B-B6BF-43934AF74B8B}"/>
              </a:ext>
            </a:extLst>
          </p:cNvPr>
          <p:cNvSpPr txBox="1"/>
          <p:nvPr/>
        </p:nvSpPr>
        <p:spPr>
          <a:xfrm>
            <a:off x="324000" y="2482557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DC645BFC-A53A-433A-A331-E9738EE5BB15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1084010" y="2162566"/>
            <a:ext cx="639981" cy="127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EC9E394-BC26-4511-B1D1-26ADBF19649E}"/>
              </a:ext>
            </a:extLst>
          </p:cNvPr>
          <p:cNvSpPr/>
          <p:nvPr/>
        </p:nvSpPr>
        <p:spPr bwMode="auto">
          <a:xfrm>
            <a:off x="1185120" y="195008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189C8-3570-4889-8450-F7F4C36961C8}"/>
              </a:ext>
            </a:extLst>
          </p:cNvPr>
          <p:cNvSpPr txBox="1"/>
          <p:nvPr/>
        </p:nvSpPr>
        <p:spPr>
          <a:xfrm>
            <a:off x="252000" y="496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LC1-P: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There was no training program for mining operations.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5273BF-A824-4203-9910-398DBEB54A20}"/>
              </a:ext>
            </a:extLst>
          </p:cNvPr>
          <p:cNvSpPr txBox="1"/>
          <p:nvPr/>
        </p:nvSpPr>
        <p:spPr>
          <a:xfrm>
            <a:off x="324000" y="342922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12BCC-993B-4DA5-BA93-DB3BE0B0FBAB}"/>
              </a:ext>
            </a:extLst>
          </p:cNvPr>
          <p:cNvSpPr txBox="1"/>
          <p:nvPr/>
        </p:nvSpPr>
        <p:spPr>
          <a:xfrm>
            <a:off x="252000" y="568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58B08E-EB4A-450F-992F-40DD734865BC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3221221"/>
            <a:ext cx="0" cy="20800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457820-8925-4DC7-A814-CCC9569E4DED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 flipH="1">
            <a:off x="1332000" y="4167888"/>
            <a:ext cx="72000" cy="80011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F373565-6748-4359-9A82-6531A1797149}"/>
              </a:ext>
            </a:extLst>
          </p:cNvPr>
          <p:cNvSpPr txBox="1"/>
          <p:nvPr/>
        </p:nvSpPr>
        <p:spPr>
          <a:xfrm>
            <a:off x="324000" y="110391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999633-6DA9-4246-B17C-E506CD4CFF21}"/>
              </a:ext>
            </a:extLst>
          </p:cNvPr>
          <p:cNvCxnSpPr>
            <a:endCxn id="37" idx="0"/>
          </p:cNvCxnSpPr>
          <p:nvPr/>
        </p:nvCxnSpPr>
        <p:spPr>
          <a:xfrm>
            <a:off x="1397650" y="769865"/>
            <a:ext cx="6350" cy="33404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dash"/>
            <a:miter lim="800000"/>
            <a:tailEnd type="triangle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3A4122D-0D6D-437C-8891-A00AD6D330D9}"/>
              </a:ext>
            </a:extLst>
          </p:cNvPr>
          <p:cNvSpPr txBox="1"/>
          <p:nvPr/>
        </p:nvSpPr>
        <p:spPr>
          <a:xfrm>
            <a:off x="2556000" y="4968000"/>
            <a:ext cx="2956959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LC4-S: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employee training program did not include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a standard to train the employees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on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exclusion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zone procedures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429F09-1D40-4F01-A8DC-CD621288E298}"/>
              </a:ext>
            </a:extLst>
          </p:cNvPr>
          <p:cNvSpPr txBox="1"/>
          <p:nvPr/>
        </p:nvSpPr>
        <p:spPr>
          <a:xfrm>
            <a:off x="2555999" y="5940000"/>
            <a:ext cx="2956959" cy="216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cxnSp>
        <p:nvCxnSpPr>
          <p:cNvPr id="43" name="Elbow Connector 71">
            <a:extLst>
              <a:ext uri="{FF2B5EF4-FFF2-40B4-BE49-F238E27FC236}">
                <a16:creationId xmlns:a16="http://schemas.microsoft.com/office/drawing/2014/main" id="{3BD3BC86-A75D-44DD-A48D-C6876A139EDC}"/>
              </a:ext>
            </a:extLst>
          </p:cNvPr>
          <p:cNvCxnSpPr>
            <a:stCxn id="42" idx="2"/>
            <a:endCxn id="29" idx="0"/>
          </p:cNvCxnSpPr>
          <p:nvPr/>
        </p:nvCxnSpPr>
        <p:spPr>
          <a:xfrm rot="16200000" flipH="1">
            <a:off x="2548042" y="3481561"/>
            <a:ext cx="342397" cy="263048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2" name="Flowchart: Punched Tape 41">
            <a:extLst>
              <a:ext uri="{FF2B5EF4-FFF2-40B4-BE49-F238E27FC236}">
                <a16:creationId xmlns:a16="http://schemas.microsoft.com/office/drawing/2014/main" id="{FEC9E394-BC26-4511-B1D1-26ADBF19649E}"/>
              </a:ext>
            </a:extLst>
          </p:cNvPr>
          <p:cNvSpPr/>
          <p:nvPr/>
        </p:nvSpPr>
        <p:spPr bwMode="auto">
          <a:xfrm>
            <a:off x="1185120" y="4333866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50876" y="925216"/>
            <a:ext cx="6261120" cy="35394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i="1" dirty="0" smtClean="0">
                <a:solidFill>
                  <a:schemeClr val="bg1"/>
                </a:solidFill>
              </a:rPr>
              <a:t>This example demonstrates how one basic cause “could” be caused by a weakness in the same element (</a:t>
            </a:r>
            <a:r>
              <a:rPr lang="en-US" sz="1400" b="1" i="1" dirty="0">
                <a:solidFill>
                  <a:schemeClr val="bg1"/>
                </a:solidFill>
              </a:rPr>
              <a:t>latent cause</a:t>
            </a:r>
            <a:r>
              <a:rPr lang="en-US" sz="1400" b="1" i="1" dirty="0" smtClean="0">
                <a:solidFill>
                  <a:schemeClr val="bg1"/>
                </a:solidFill>
              </a:rPr>
              <a:t>), but different categories of that latent cause.  Note the difference in LC1, LC4, &amp; LC5: </a:t>
            </a:r>
          </a:p>
          <a:p>
            <a:endParaRPr lang="en-US" sz="1400" i="1" dirty="0" smtClean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LC1: “no program”; therefore “P – inadequate program”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LC4: the existence of a program is implied, but it lacks </a:t>
            </a:r>
            <a:br>
              <a:rPr lang="en-US" sz="1400" i="1" dirty="0" smtClean="0">
                <a:solidFill>
                  <a:schemeClr val="bg1"/>
                </a:solidFill>
              </a:rPr>
            </a:br>
            <a:r>
              <a:rPr lang="en-US" sz="1400" i="1" dirty="0" smtClean="0">
                <a:solidFill>
                  <a:schemeClr val="bg1"/>
                </a:solidFill>
              </a:rPr>
              <a:t>in details; therefore “S – lack of program standards”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LC5: The program and standards are implemented, but </a:t>
            </a:r>
            <a:br>
              <a:rPr lang="en-US" sz="1400" i="1" dirty="0" smtClean="0">
                <a:solidFill>
                  <a:schemeClr val="bg1"/>
                </a:solidFill>
              </a:rPr>
            </a:br>
            <a:r>
              <a:rPr lang="en-US" sz="1400" i="1" dirty="0" smtClean="0">
                <a:solidFill>
                  <a:schemeClr val="bg1"/>
                </a:solidFill>
              </a:rPr>
              <a:t>were not executed as required; therefore </a:t>
            </a:r>
            <a:br>
              <a:rPr lang="en-US" sz="1400" i="1" dirty="0" smtClean="0">
                <a:solidFill>
                  <a:schemeClr val="bg1"/>
                </a:solidFill>
              </a:rPr>
            </a:br>
            <a:r>
              <a:rPr lang="en-US" sz="1400" i="1" dirty="0" smtClean="0">
                <a:solidFill>
                  <a:schemeClr val="bg1"/>
                </a:solidFill>
              </a:rPr>
              <a:t>“C – inadequate compliance with program standards”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A real investigation will only reveal one of these. 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b="1" i="1" dirty="0" smtClean="0">
                <a:solidFill>
                  <a:schemeClr val="bg1"/>
                </a:solidFill>
              </a:rPr>
              <a:t>Your team project need only identify ONE, not all three.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85" y="1958397"/>
            <a:ext cx="1434115" cy="1338271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3A4122D-0D6D-437C-8891-A00AD6D330D9}"/>
              </a:ext>
            </a:extLst>
          </p:cNvPr>
          <p:cNvSpPr txBox="1"/>
          <p:nvPr/>
        </p:nvSpPr>
        <p:spPr>
          <a:xfrm>
            <a:off x="5616000" y="4968000"/>
            <a:ext cx="3289332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LC5-C: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employee training program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on exclusion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zone procedures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not completed as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specified.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429F09-1D40-4F01-A8DC-CD621288E298}"/>
              </a:ext>
            </a:extLst>
          </p:cNvPr>
          <p:cNvSpPr txBox="1"/>
          <p:nvPr/>
        </p:nvSpPr>
        <p:spPr>
          <a:xfrm>
            <a:off x="5616000" y="5940000"/>
            <a:ext cx="3289333" cy="240921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63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Examples of Latent Causes in Different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Categories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66" name="Elbow Connector 71">
            <a:extLst>
              <a:ext uri="{FF2B5EF4-FFF2-40B4-BE49-F238E27FC236}">
                <a16:creationId xmlns:a16="http://schemas.microsoft.com/office/drawing/2014/main" id="{3BD3BC86-A75D-44DD-A48D-C6876A139EDC}"/>
              </a:ext>
            </a:extLst>
          </p:cNvPr>
          <p:cNvCxnSpPr>
            <a:stCxn id="42" idx="2"/>
            <a:endCxn id="45" idx="0"/>
          </p:cNvCxnSpPr>
          <p:nvPr/>
        </p:nvCxnSpPr>
        <p:spPr>
          <a:xfrm rot="16200000" flipH="1">
            <a:off x="4161135" y="1868468"/>
            <a:ext cx="342397" cy="585666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0829840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4194000"/>
            <a:ext cx="2841146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7999" y="4834707"/>
            <a:ext cx="2841147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LC2-S: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not include a standard to schedule the exclusion zone procedures for auditing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not implemented.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LC1-P: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841146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048573" y="4734000"/>
            <a:ext cx="0" cy="1007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34573" cy="183645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63166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Breadth and Depth of the Scope of a Root Cause 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 RCA:  Breadth and Depth Illustrated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98FF2722-A574-4A0C-BF49-C6D27A22E373}"/>
              </a:ext>
            </a:extLst>
          </p:cNvPr>
          <p:cNvSpPr/>
          <p:nvPr/>
        </p:nvSpPr>
        <p:spPr>
          <a:xfrm>
            <a:off x="6150980" y="1224000"/>
            <a:ext cx="1243584" cy="2693324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 deep enough</a:t>
            </a:r>
          </a:p>
        </p:txBody>
      </p:sp>
      <p:sp>
        <p:nvSpPr>
          <p:cNvPr id="3" name="Down Arrow 9">
            <a:extLst>
              <a:ext uri="{FF2B5EF4-FFF2-40B4-BE49-F238E27FC236}">
                <a16:creationId xmlns:a16="http://schemas.microsoft.com/office/drawing/2014/main" id="{6179E625-526B-4546-81B2-0106D7B123EE}"/>
              </a:ext>
            </a:extLst>
          </p:cNvPr>
          <p:cNvSpPr/>
          <p:nvPr/>
        </p:nvSpPr>
        <p:spPr>
          <a:xfrm>
            <a:off x="7129743" y="1224000"/>
            <a:ext cx="1536192" cy="3545645"/>
          </a:xfrm>
          <a:prstGeom prst="downArrow">
            <a:avLst>
              <a:gd name="adj1" fmla="val 50000"/>
              <a:gd name="adj2" fmla="val 39286"/>
            </a:avLst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Depth is right when you discover the LC</a:t>
            </a:r>
          </a:p>
        </p:txBody>
      </p:sp>
      <p:sp>
        <p:nvSpPr>
          <p:cNvPr id="4" name="Left-Right Arrow 2">
            <a:extLst>
              <a:ext uri="{FF2B5EF4-FFF2-40B4-BE49-F238E27FC236}">
                <a16:creationId xmlns:a16="http://schemas.microsoft.com/office/drawing/2014/main" id="{87F05FFE-9F91-4D03-B3A9-AE634E548BA4}"/>
              </a:ext>
            </a:extLst>
          </p:cNvPr>
          <p:cNvSpPr/>
          <p:nvPr/>
        </p:nvSpPr>
        <p:spPr>
          <a:xfrm>
            <a:off x="630642" y="4898777"/>
            <a:ext cx="5256000" cy="576000"/>
          </a:xfrm>
          <a:prstGeom prst="left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Breadth too narrow (3 LC’s)</a:t>
            </a:r>
          </a:p>
        </p:txBody>
      </p:sp>
      <p:sp>
        <p:nvSpPr>
          <p:cNvPr id="5" name="Left-Right Arrow 10">
            <a:extLst>
              <a:ext uri="{FF2B5EF4-FFF2-40B4-BE49-F238E27FC236}">
                <a16:creationId xmlns:a16="http://schemas.microsoft.com/office/drawing/2014/main" id="{D07B549F-47A1-4C4C-A019-3D91F8E17246}"/>
              </a:ext>
            </a:extLst>
          </p:cNvPr>
          <p:cNvSpPr/>
          <p:nvPr/>
        </p:nvSpPr>
        <p:spPr>
          <a:xfrm>
            <a:off x="658626" y="5248476"/>
            <a:ext cx="6693149" cy="576000"/>
          </a:xfrm>
          <a:prstGeom prst="leftRightArrow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Breadth about right (18+ LC’s)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41" y="1224000"/>
            <a:ext cx="5256000" cy="371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23235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16" y="899695"/>
            <a:ext cx="6696000" cy="4728568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1" name="Down Arrow 27">
            <a:extLst>
              <a:ext uri="{FF2B5EF4-FFF2-40B4-BE49-F238E27FC236}">
                <a16:creationId xmlns:a16="http://schemas.microsoft.com/office/drawing/2014/main" id="{78A60749-3248-42E4-9F3C-C9E3149611DD}"/>
              </a:ext>
            </a:extLst>
          </p:cNvPr>
          <p:cNvSpPr/>
          <p:nvPr/>
        </p:nvSpPr>
        <p:spPr>
          <a:xfrm>
            <a:off x="7569816" y="1077835"/>
            <a:ext cx="1243584" cy="3384643"/>
          </a:xfrm>
          <a:prstGeom prst="downArrow">
            <a:avLst/>
          </a:prstGeom>
          <a:solidFill>
            <a:srgbClr val="FFFF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vert="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Not  deep enough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 RCA: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Depth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Illustrated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E1C47A-D7DD-48C3-AF7B-038DA7E5787F}"/>
              </a:ext>
            </a:extLst>
          </p:cNvPr>
          <p:cNvSpPr txBox="1"/>
          <p:nvPr/>
        </p:nvSpPr>
        <p:spPr>
          <a:xfrm>
            <a:off x="324000" y="4712313"/>
            <a:ext cx="8534398" cy="147732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Importance of Depth in a Root Cause Analysis: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Did not drill deep enough. Ask yourself these questions: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this cause be linked to an RME in a meaningful and obvious way?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a recommendation relating to an RME be made?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the cause be categorized as a </a:t>
            </a:r>
            <a:r>
              <a:rPr lang="en-CA" i="1" u="sng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basic cause</a:t>
            </a: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? If so, it is NOT a latent cause!</a:t>
            </a:r>
          </a:p>
        </p:txBody>
      </p: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44AD6FED-1C60-49D1-8DF0-531434B007F3}"/>
              </a:ext>
            </a:extLst>
          </p:cNvPr>
          <p:cNvSpPr/>
          <p:nvPr/>
        </p:nvSpPr>
        <p:spPr>
          <a:xfrm>
            <a:off x="553744" y="4005673"/>
            <a:ext cx="7343347" cy="664052"/>
          </a:xfrm>
          <a:prstGeom prst="roundRect">
            <a:avLst/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820943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53" y="988621"/>
            <a:ext cx="6696000" cy="4728568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Left-Right Arrow 11">
            <a:extLst>
              <a:ext uri="{FF2B5EF4-FFF2-40B4-BE49-F238E27FC236}">
                <a16:creationId xmlns:a16="http://schemas.microsoft.com/office/drawing/2014/main" id="{05FD4045-A0E4-4D45-AFEA-6FF43D62664F}"/>
              </a:ext>
            </a:extLst>
          </p:cNvPr>
          <p:cNvSpPr/>
          <p:nvPr/>
        </p:nvSpPr>
        <p:spPr>
          <a:xfrm>
            <a:off x="683853" y="5672515"/>
            <a:ext cx="6913545" cy="576000"/>
          </a:xfrm>
          <a:prstGeom prst="leftRightArrow">
            <a:avLst/>
          </a:prstGeom>
          <a:solidFill>
            <a:srgbClr val="FFFF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Breadth too narrow (3 LC’s)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98AC14-47DA-4924-B184-82E4F721E125}"/>
              </a:ext>
            </a:extLst>
          </p:cNvPr>
          <p:cNvSpPr/>
          <p:nvPr/>
        </p:nvSpPr>
        <p:spPr>
          <a:xfrm>
            <a:off x="481701" y="4737239"/>
            <a:ext cx="7223761" cy="979950"/>
          </a:xfrm>
          <a:prstGeom prst="roundRect">
            <a:avLst/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 RCA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Breadth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Illustrated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E2380-0185-46ED-9820-3DDCBD880C3B}"/>
              </a:ext>
            </a:extLst>
          </p:cNvPr>
          <p:cNvSpPr txBox="1"/>
          <p:nvPr/>
        </p:nvSpPr>
        <p:spPr>
          <a:xfrm>
            <a:off x="180000" y="809599"/>
            <a:ext cx="8640000" cy="3819253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Importance of Breadth in a Root Cause Analysis: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This RCA spanned three (3) risk management system elements. 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Are these 3 LCs specific and unique? (A: YES)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sz="2000" i="1" kern="0" dirty="0">
                <a:solidFill>
                  <a:schemeClr val="bg1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Are these 3 LCs through 3 separate roots? (A: </a:t>
            </a:r>
            <a:r>
              <a:rPr lang="en-CA" sz="2000" i="1" kern="0" dirty="0" smtClean="0">
                <a:solidFill>
                  <a:schemeClr val="bg1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YES)</a:t>
            </a:r>
            <a:endParaRPr lang="en-CA" sz="2000" i="1" kern="0" dirty="0">
              <a:solidFill>
                <a:schemeClr val="bg1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other LCs relating to other RMEs be found? (A: YES)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en-CA" sz="2000" i="1" kern="0" dirty="0">
              <a:solidFill>
                <a:srgbClr val="FFFFFF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Team Project: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Preliminary RCA Chart – 3 separate roots to 3 unique LCs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Progress Report – at least 18 unique, specific </a:t>
            </a:r>
            <a: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LCs; </a:t>
            </a:r>
            <a:b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feedback provided for improvements</a:t>
            </a:r>
            <a:endParaRPr lang="en-CA" sz="2000" i="1" kern="0" dirty="0">
              <a:solidFill>
                <a:srgbClr val="FFFFFF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Final Technical Report – a completed RCA </a:t>
            </a:r>
            <a: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Chart with improvements!</a:t>
            </a:r>
            <a:endParaRPr lang="en-CA" sz="2000" i="1" kern="0" dirty="0">
              <a:solidFill>
                <a:srgbClr val="FFFFFF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56361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878181"/>
            <a:ext cx="6048000" cy="4270965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Drill down through causal analysis to determine latent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causes,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address weaknesses in the management system elements (the latent causes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);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this sets the stage for recommendations!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Root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Cause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Analysis – Down to Latent Causes: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Double Brace 1">
            <a:extLst>
              <a:ext uri="{FF2B5EF4-FFF2-40B4-BE49-F238E27FC236}">
                <a16:creationId xmlns:a16="http://schemas.microsoft.com/office/drawing/2014/main" id="{03D497BF-330F-436C-9FE2-3752A060AC96}"/>
              </a:ext>
            </a:extLst>
          </p:cNvPr>
          <p:cNvSpPr>
            <a:spLocks noChangeArrowheads="1"/>
          </p:cNvSpPr>
          <p:nvPr/>
        </p:nvSpPr>
        <p:spPr bwMode="auto">
          <a:xfrm rot="19427316">
            <a:off x="4319301" y="3096585"/>
            <a:ext cx="4343749" cy="1834158"/>
          </a:xfrm>
          <a:prstGeom prst="leftArrow">
            <a:avLst>
              <a:gd name="adj1" fmla="val 50000"/>
              <a:gd name="adj2" fmla="val 67720"/>
            </a:avLst>
          </a:prstGeom>
          <a:solidFill>
            <a:srgbClr val="FFFFFF"/>
          </a:solidFill>
          <a:ln w="38100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CA" altLang="en-US" sz="1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able to </a:t>
            </a:r>
            <a:r>
              <a:rPr lang="en-US" altLang="en-US" sz="1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a latent cause to a management system element </a:t>
            </a:r>
            <a:r>
              <a:rPr lang="en-US" altLang="en-US" sz="1800" b="1" u="sng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en-US" sz="1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create a recommendation</a:t>
            </a:r>
            <a:endParaRPr lang="en-CA" altLang="en-US" sz="18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Double Brace 1">
            <a:extLst>
              <a:ext uri="{FF2B5EF4-FFF2-40B4-BE49-F238E27FC236}">
                <a16:creationId xmlns:a16="http://schemas.microsoft.com/office/drawing/2014/main" id="{03D497BF-330F-436C-9FE2-3752A060A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175" y="4631345"/>
            <a:ext cx="2267481" cy="1477328"/>
          </a:xfrm>
          <a:prstGeom prst="rect">
            <a:avLst/>
          </a:prstGeom>
          <a:solidFill>
            <a:schemeClr val="tx1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en-US" sz="1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 </a:t>
            </a:r>
            <a:r>
              <a:rPr lang="en-US" altLang="en-US" sz="1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 statement be easily made for LC1? LC2? LC3?</a:t>
            </a:r>
            <a:endParaRPr lang="en-CA" alt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6171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Intermediate causes serve as links between the categories of causes in order to avoid leaps in logic!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the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narrative technique</a:t>
            </a:r>
            <a:r>
              <a:rPr kumimoji="0" lang="en-CA" altLang="en-US" sz="18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uncover logic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leaps!</a:t>
            </a:r>
            <a:endParaRPr lang="en-CA" altLang="en-US" sz="1800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Worker disregarded the exclusion zone procedures, because </a:t>
            </a:r>
            <a:endParaRPr kumimoji="0" lang="en-C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not include a </a:t>
            </a:r>
            <a:r>
              <a:rPr lang="en-US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standard </a:t>
            </a: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schedule the exclusion zone </a:t>
            </a:r>
            <a:r>
              <a:rPr lang="en-US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 </a:t>
            </a: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auditing.</a:t>
            </a:r>
            <a:endParaRPr kumimoji="0" lang="en-C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Practice: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Apply The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Narrative &amp; How to Avoid Logic Leaps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96AC9BC3-83FD-42D2-BC74-0AE56BA07EF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699789" y="3098960"/>
            <a:ext cx="2997518" cy="9144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819353200 h 21600"/>
              <a:gd name="T4" fmla="*/ 2147483646 w 21600"/>
              <a:gd name="T5" fmla="*/ 1638706400 h 21600"/>
              <a:gd name="T6" fmla="*/ 2147483646 w 21600"/>
              <a:gd name="T7" fmla="*/ 8193532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prstShdw prst="shdw17" dist="17961" dir="2700000">
              <a:srgbClr val="000000"/>
            </a:prstShdw>
          </a:effectLst>
        </p:spPr>
        <p:txBody>
          <a:bodyPr wrap="none" anchor="ctr"/>
          <a:lstStyle/>
          <a:p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7A81C-A184-4FBB-860A-0FB8C057C6DB}"/>
              </a:ext>
            </a:extLst>
          </p:cNvPr>
          <p:cNvSpPr txBox="1"/>
          <p:nvPr/>
        </p:nvSpPr>
        <p:spPr>
          <a:xfrm>
            <a:off x="5048842" y="2100166"/>
            <a:ext cx="3771158" cy="4055834"/>
          </a:xfrm>
          <a:prstGeom prst="rect">
            <a:avLst/>
          </a:prstGeom>
          <a:solidFill>
            <a:sysClr val="windowText" lastClr="000000"/>
          </a:solidFill>
          <a:ln>
            <a:solidFill>
              <a:sysClr val="windowText" lastClr="000000"/>
            </a:solidFill>
          </a:ln>
        </p:spPr>
        <p:txBody>
          <a:bodyPr wrap="square" rtlCol="0">
            <a:no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For this narrative of a root: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r>
              <a:rPr lang="en-US" sz="1600" i="1" kern="0" dirty="0">
                <a:solidFill>
                  <a:prstClr val="white"/>
                </a:solidFill>
                <a:cs typeface="Arial" panose="020B0604020202020204" pitchFamily="34" charset="0"/>
              </a:rPr>
              <a:t>The Worker disregarded the exclusion zone procedures</a:t>
            </a:r>
            <a:r>
              <a:rPr lang="en-US" sz="1600" i="1" kern="0" dirty="0" smtClean="0">
                <a:solidFill>
                  <a:prstClr val="white"/>
                </a:solidFill>
                <a:cs typeface="Arial" panose="020B0604020202020204" pitchFamily="34" charset="0"/>
              </a:rPr>
              <a:t>,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“ </a:t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because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(or was caused by)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r>
              <a:rPr lang="en-US" sz="1600" i="1" kern="0" dirty="0">
                <a:solidFill>
                  <a:prstClr val="white"/>
                </a:solidFill>
                <a:cs typeface="Arial" panose="020B0604020202020204" pitchFamily="34" charset="0"/>
              </a:rPr>
              <a:t>The evaluation program did not include a standard to schedule the exclusion zone procedures for auditing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”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Does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this statement make sense?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What details are needed to avoid this logic leap?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1837944" y="2147557"/>
            <a:ext cx="3040848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1837944" y="4022737"/>
            <a:ext cx="3040848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LC2-S: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evaluation program did not include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 standard to schedule the exclusion zone procedures for auditing.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1837944" y="4985799"/>
            <a:ext cx="3040848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3358368" y="2687557"/>
            <a:ext cx="0" cy="133518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950159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41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Is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narrative for a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</a:t>
            </a:r>
            <a:b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complete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logical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make sense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 </a:t>
            </a:r>
            <a:r>
              <a:rPr lang="en-CA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A: [NO]</a:t>
            </a:r>
            <a:endParaRPr kumimoji="0" lang="en-CA" altLang="en-US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Practice: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Narrative &amp; A Latent Cause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1800000"/>
            <a:ext cx="3960000" cy="2855008"/>
          </a:xfrm>
          <a:prstGeom prst="rect">
            <a:avLst/>
          </a:prstGeom>
          <a:solidFill>
            <a:srgbClr val="00FFFF"/>
          </a:solidFill>
          <a:ln>
            <a:solidFill>
              <a:srgbClr val="00FF00"/>
            </a:solidFill>
          </a:ln>
        </p:spPr>
      </p:pic>
    </p:spTree>
    <p:extLst>
      <p:ext uri="{BB962C8B-B14F-4D97-AF65-F5344CB8AC3E}">
        <p14:creationId xmlns:p14="http://schemas.microsoft.com/office/powerpoint/2010/main" val="26832770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“value” in doing the Root “Narrative”: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(You will practice</a:t>
            </a:r>
            <a:r>
              <a:rPr kumimoji="0" lang="en-US" altLang="en-US" sz="1600" b="0" i="1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this in your Prelim. RCA Chart Review Meeting)</a:t>
            </a:r>
            <a:endParaRPr kumimoji="0" lang="en-US" altLang="en-US" sz="16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Debris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fell on equipment, injuring </a:t>
            </a:r>
            <a:b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damaged equipment; </a:t>
            </a:r>
            <a:endParaRPr kumimoji="0" lang="en-CA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the Equipment &amp;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Were In Exclusion Zone;</a:t>
            </a:r>
          </a:p>
          <a:p>
            <a:pPr marL="360000" marR="0" lvl="0" indent="-36000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the Worker did not follow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procedures;</a:t>
            </a:r>
          </a:p>
          <a:p>
            <a:pPr marL="360000" marR="0" lvl="0" indent="-36000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the Worker disregarded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procedures;</a:t>
            </a:r>
          </a:p>
          <a:p>
            <a:pPr marL="360000" marR="0" indent="-360000" eaLnBrk="0" fontAlgn="base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Procedures were not </a:t>
            </a:r>
            <a:r>
              <a:rPr lang="en-CA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checked</a:t>
            </a:r>
            <a:br>
              <a:rPr lang="en-CA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enforced through </a:t>
            </a:r>
            <a:r>
              <a:rPr lang="en-CA" alt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audits;</a:t>
            </a:r>
          </a:p>
          <a:p>
            <a:pPr marL="360000" lvl="0" indent="-360000" eaLnBrk="0" fontAlgn="base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Audits were not done on </a:t>
            </a: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</a:t>
            </a: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</a:t>
            </a:r>
            <a:endParaRPr kumimoji="0" lang="en-CA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include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standard (an audit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schedule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that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listed the exclusion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zone procedures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 the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CA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Example: </a:t>
            </a:r>
            <a:r>
              <a:rPr lang="en-CA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Narrative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&amp; How to Avoid Logic Leaps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1F2C2-A014-451E-BC1A-F3205A180FC1}"/>
              </a:ext>
            </a:extLst>
          </p:cNvPr>
          <p:cNvSpPr txBox="1"/>
          <p:nvPr/>
        </p:nvSpPr>
        <p:spPr>
          <a:xfrm>
            <a:off x="6386700" y="1068373"/>
            <a:ext cx="2160000" cy="646331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494CF-2189-454B-8DBB-470B1DEAE4E8}"/>
              </a:ext>
            </a:extLst>
          </p:cNvPr>
          <p:cNvSpPr txBox="1"/>
          <p:nvPr/>
        </p:nvSpPr>
        <p:spPr>
          <a:xfrm>
            <a:off x="6386700" y="1968476"/>
            <a:ext cx="2160000" cy="461665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89FE8-EB7B-44C6-8280-6B42869EA864}"/>
              </a:ext>
            </a:extLst>
          </p:cNvPr>
          <p:cNvSpPr txBox="1"/>
          <p:nvPr/>
        </p:nvSpPr>
        <p:spPr>
          <a:xfrm>
            <a:off x="6386700" y="2657038"/>
            <a:ext cx="2160000" cy="432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2E6428-FA6F-4512-8197-CBD8146CBE77}"/>
              </a:ext>
            </a:extLst>
          </p:cNvPr>
          <p:cNvSpPr txBox="1"/>
          <p:nvPr/>
        </p:nvSpPr>
        <p:spPr>
          <a:xfrm>
            <a:off x="6386700" y="3342810"/>
            <a:ext cx="2160000" cy="432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disregarded exclusion zone procedures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AFE38F-9A38-4F54-8D7A-E17A757CD7B8}"/>
              </a:ext>
            </a:extLst>
          </p:cNvPr>
          <p:cNvSpPr txBox="1"/>
          <p:nvPr/>
        </p:nvSpPr>
        <p:spPr>
          <a:xfrm>
            <a:off x="6386700" y="4028582"/>
            <a:ext cx="2160000" cy="46166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R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1" kern="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Procedures 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8D989A-AD54-4687-9CE7-161D67A5D549}"/>
              </a:ext>
            </a:extLst>
          </p:cNvPr>
          <p:cNvSpPr txBox="1"/>
          <p:nvPr/>
        </p:nvSpPr>
        <p:spPr>
          <a:xfrm>
            <a:off x="5605670" y="5400126"/>
            <a:ext cx="3329608" cy="64633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LC2-S:</a:t>
            </a:r>
            <a:r>
              <a:rPr lang="en-US" sz="12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 The evaluation program did not include a </a:t>
            </a:r>
            <a:r>
              <a:rPr lang="en-US" sz="12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standard </a:t>
            </a:r>
            <a:r>
              <a:rPr lang="en-US" sz="12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that listed the exclusion zone procedures on the </a:t>
            </a:r>
            <a:r>
              <a:rPr lang="en-US" sz="12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CA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751058-D5D3-4C72-B72E-3B0FE1C8E3D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7466700" y="2430141"/>
            <a:ext cx="0" cy="22689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DBB99B-68BE-4B49-8346-7F664617BE7F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7466700" y="1714704"/>
            <a:ext cx="0" cy="25377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FBDE73-411C-4881-935B-BA922BA2FA8D}"/>
              </a:ext>
            </a:extLst>
          </p:cNvPr>
          <p:cNvSpPr txBox="1"/>
          <p:nvPr/>
        </p:nvSpPr>
        <p:spPr>
          <a:xfrm>
            <a:off x="6386700" y="4629290"/>
            <a:ext cx="2160000" cy="64633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kern="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Audits were not done on the exclusion zone procedures.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8D4BEA-77F0-4755-A03B-26118D21E052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7466700" y="3089038"/>
            <a:ext cx="0" cy="25377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0551EC-E026-4D27-A4FC-DCD47B0E4E3F}"/>
              </a:ext>
            </a:extLst>
          </p:cNvPr>
          <p:cNvCxnSpPr>
            <a:stCxn id="19" idx="2"/>
          </p:cNvCxnSpPr>
          <p:nvPr/>
        </p:nvCxnSpPr>
        <p:spPr>
          <a:xfrm>
            <a:off x="7466700" y="5275621"/>
            <a:ext cx="0" cy="12450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756F7C-35B6-4600-9D4A-804B816B7EDB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7466700" y="3774810"/>
            <a:ext cx="0" cy="25377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CAA8CC-A944-4846-AC7E-797E749D3CED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>
            <a:off x="7466700" y="4490247"/>
            <a:ext cx="0" cy="13904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AEF77C-6B32-416B-A0EF-934084153C18}"/>
              </a:ext>
            </a:extLst>
          </p:cNvPr>
          <p:cNvSpPr txBox="1"/>
          <p:nvPr/>
        </p:nvSpPr>
        <p:spPr>
          <a:xfrm>
            <a:off x="5215128" y="4690777"/>
            <a:ext cx="1122062" cy="485242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Improved!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AEF77C-6B32-416B-A0EF-934084153C18}"/>
              </a:ext>
            </a:extLst>
          </p:cNvPr>
          <p:cNvSpPr txBox="1"/>
          <p:nvPr/>
        </p:nvSpPr>
        <p:spPr>
          <a:xfrm>
            <a:off x="5230368" y="3983641"/>
            <a:ext cx="1122062" cy="485242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Improved!</a:t>
            </a:r>
          </a:p>
        </p:txBody>
      </p:sp>
    </p:spTree>
    <p:extLst>
      <p:ext uri="{BB962C8B-B14F-4D97-AF65-F5344CB8AC3E}">
        <p14:creationId xmlns:p14="http://schemas.microsoft.com/office/powerpoint/2010/main" val="403190748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4680000" y="828000"/>
            <a:ext cx="41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lang="en-CA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Is this an improvement?</a:t>
            </a:r>
          </a:p>
          <a:p>
            <a:pPr eaLnBrk="0" fontAlgn="base" hangingPunct="0">
              <a:spcAft>
                <a:spcPct val="0"/>
              </a:spcAft>
              <a:buSzPct val="100000"/>
              <a:defRPr/>
            </a:pPr>
            <a:r>
              <a:rPr lang="en-CA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CA" altLang="en-US" b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[YES]</a:t>
            </a:r>
            <a:endParaRPr lang="en-US" altLang="en-US" b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41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Is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narrative for a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</a:t>
            </a:r>
            <a:b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complete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logical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make sense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 </a:t>
            </a:r>
            <a:r>
              <a:rPr lang="en-CA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A: [NO]</a:t>
            </a:r>
            <a:endParaRPr kumimoji="0" lang="en-CA" altLang="en-US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Practice: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Narrative &amp; A Latent Cause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1800000"/>
            <a:ext cx="3960000" cy="2855008"/>
          </a:xfrm>
          <a:prstGeom prst="rect">
            <a:avLst/>
          </a:prstGeom>
          <a:solidFill>
            <a:srgbClr val="00FFFF"/>
          </a:solidFill>
          <a:ln>
            <a:solidFill>
              <a:srgbClr val="00FF00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95" y="1800000"/>
            <a:ext cx="3704197" cy="405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353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824084"/>
            <a:ext cx="2772000" cy="116955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LC2-S</a:t>
            </a:r>
            <a:r>
              <a:rPr kumimoji="0" 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sz="1400" b="1" kern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not include a standard (an audit schedule) that listed the exclusion zone procedures on the schedule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not implemented.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LC1-P: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7423069" y="409144"/>
            <a:ext cx="1496487" cy="30777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42" idx="2"/>
            <a:endCxn id="16" idx="0"/>
          </p:cNvCxnSpPr>
          <p:nvPr/>
        </p:nvCxnSpPr>
        <p:spPr>
          <a:xfrm flipH="1">
            <a:off x="4014000" y="4330346"/>
            <a:ext cx="1633" cy="49373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50642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7423069" y="67952"/>
            <a:ext cx="1496487" cy="3077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9633" y="3807126"/>
            <a:ext cx="2772000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Audits were not done on the exclusion zone procedures.</a:t>
            </a:r>
            <a:endParaRPr lang="en-US" sz="1400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544510"/>
            <a:ext cx="2180423" cy="981551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 smtClean="0">
                <a:solidFill>
                  <a:prstClr val="black"/>
                </a:solidFill>
                <a:latin typeface="Calibri" panose="020F0502020204030204"/>
              </a:rPr>
              <a:t>Now there is very little room for improvement … 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“Mine LI”!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2863965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15" idx="2"/>
            <a:endCxn id="42" idx="0"/>
          </p:cNvCxnSpPr>
          <p:nvPr/>
        </p:nvCxnSpPr>
        <p:spPr>
          <a:xfrm>
            <a:off x="4014000" y="3403965"/>
            <a:ext cx="1633" cy="40316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86918199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#3: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lvl="1" eaLnBrk="0" fontAlgn="base" hangingPunct="0">
              <a:spcAft>
                <a:spcPct val="0"/>
              </a:spcAft>
              <a:buSzPct val="100000"/>
            </a:pP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Please confer on these two questions:</a:t>
            </a: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Which </a:t>
            </a:r>
            <a:r>
              <a:rPr kumimoji="0" lang="en-CA" altLang="en-US" sz="200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</a:t>
            </a: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most appropriate form of a statement </a:t>
            </a:r>
            <a:r>
              <a:rPr kumimoji="0" lang="en-CA" altLang="en-US" sz="200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a </a:t>
            </a:r>
            <a:r>
              <a:rPr kumimoji="0" lang="en-CA" altLang="en-US" sz="2000" i="1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</a:t>
            </a:r>
            <a:r>
              <a:rPr kumimoji="0" lang="en-CA" altLang="en-US" sz="2000" i="1" u="sng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</a:t>
            </a: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  <a:b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(MM-Poll)</a:t>
            </a: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Why?  (Open discussion)</a:t>
            </a:r>
            <a:endParaRPr kumimoji="0" lang="en-CA" altLang="en-US" sz="200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US" altLang="en-US" sz="2000" i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A: Managers did not complete audits on exclusion zone 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procedures.</a:t>
            </a: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     </a:t>
            </a: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B: 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The evaluation program did not include a standard (an audit schedule) that listed the exclusion zone procedures on the schedule</a:t>
            </a: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C: The evaluation program was inadequate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D: 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The evaluation program did not include a standard (an audit schedule) to list and schedule the exclusion zone procedures.</a:t>
            </a:r>
          </a:p>
        </p:txBody>
      </p:sp>
    </p:spTree>
    <p:extLst>
      <p:ext uri="{BB962C8B-B14F-4D97-AF65-F5344CB8AC3E}">
        <p14:creationId xmlns:p14="http://schemas.microsoft.com/office/powerpoint/2010/main" val="52951626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Statement, page 1 of 3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lvl="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 for writing a latent cause statement:</a:t>
            </a:r>
          </a:p>
          <a:p>
            <a:pPr marL="360000" lvl="0" indent="-36000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Unique and specific to the root</a:t>
            </a:r>
          </a:p>
          <a:p>
            <a:pPr marL="360000" lvl="0" indent="-36000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Relates to one RM element </a:t>
            </a:r>
          </a:p>
          <a:p>
            <a:pPr marL="360000" lvl="0" indent="-36000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Expressed in terms relating to: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“P = Inadequate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rogram”, 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“S = Inadequate Program Standards”, or 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 = Inadequate Compliance with Program Standards”</a:t>
            </a: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fairly simple forms </a:t>
            </a:r>
            <a:r>
              <a:rPr lang="en-CA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a statement for a latent cause in this RCA</a:t>
            </a:r>
            <a:r>
              <a:rPr lang="en-CA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br>
              <a:rPr lang="en-CA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CA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Statement A is unacceptable – this “blames management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 AND it is NOT a latent cause statement.]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Managers did not complete audits on exclusion zone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procedures.</a:t>
            </a:r>
            <a:b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i="1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[Statement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 is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acceptable.]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</a:t>
            </a:r>
            <a:r>
              <a:rPr lang="en-US" altLang="en-US" i="1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i="1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not include a standard (an audit schedule) that listed the exclusion zone procedures on the schedule</a:t>
            </a:r>
            <a:endParaRPr lang="en-US" altLang="en-US" i="1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5507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Statement, page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2 of 3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lvl="0" eaLnBrk="0" fontAlgn="base" hangingPunct="0"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great examples of latent cause statement (from a different LI and RCA):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LC1-P: There was no training program for any engineers that were hired by the company. </a:t>
            </a:r>
            <a:r>
              <a:rPr lang="en-US" altLang="en-US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9 EC&amp;T</a:t>
            </a: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LC2-S: The incident reporting program did not include reporting criteria (standards) for minor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#5 IRIAA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LC3-S: The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program did not include a process or procedure (a standard) to communicate between management and training instructors about changes in training courses and requirements. #4 MOC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LC4-S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The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information and documentation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did not include a standard to describe how to manage and access the most current hydraulic standards.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#11 OFID</a:t>
            </a: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LC5-C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The community awareness program had standards that described the downstream risks of the dam operation but these standards were not communicated to the downstream residents. #3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CA&amp;EP</a:t>
            </a:r>
            <a:endParaRPr lang="en-US" altLang="en-US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322773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Statement, page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3 of 3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lvl="0" eaLnBrk="0" fontAlgn="base" hangingPunct="0"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do these great examples of latent cause statement have in common?</a:t>
            </a:r>
          </a:p>
          <a:p>
            <a:pPr lvl="0" eaLnBrk="0" fontAlgn="base" hangingPunct="0"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all have these items in common: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Labelled and numbered: LC1, LC2, etc.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Categorized as P, S, or C (The categorization with appropriately stated latent causes demonstrates the ability to differentiate among the three categories of latent causes.)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statement has four components, not specifically in this order: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Relates to an element “training”, “design”, “incident reporting”, etc.; 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Has the word “program”;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Gives some level or degree of inadequacy that relates to the LC category e.g. inadequate program, inadequate program standards, or inadequate compliance with program standards;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Specific and unique terms or phrases relevant to the root in question. 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stated latent cause then clearly links to a Risk Management System element. </a:t>
            </a: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99688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Once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think you are completed: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for any logic leaps or any roots that could benefit with more causation details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Take time to verify by looking for hard evidence for each and every one of your causes. </a:t>
            </a: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Note: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team project,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suppositions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i.e. what are the possible, reasonable, feasible, plausible causes?</a:t>
            </a:r>
            <a:endParaRPr kumimoji="0" lang="en-CA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Review the evidence and confirm your conclusions with your workplace colleagues. (Team project: check your suppositions with your team-mates; are they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possible, reasonable, feasible,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plausible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?)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activity validates the actual causes (or plausible causes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of your Team Project Loss Incident) and will be very supportive and valuable for determining recommendations and action items.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and Validating the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3647489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Categories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sub-categories of causes: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Immediate Causes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RCA Work Process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used to create a logical sequence and understanding of incident causation in an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RCA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Chart.</a:t>
            </a:r>
            <a:endParaRPr kumimoji="0" lang="en-CA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 and Effect Model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used to categorize causes and to </a:t>
            </a:r>
            <a:r>
              <a:rPr kumimoji="0" lang="en-CA" altLang="en-US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test the depth and breadth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Cause Analysis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  <a:endParaRPr lang="en-US" altLang="en-US" i="1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US" altLang="en-US" i="1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Note on loss incident team project, you will use </a:t>
            </a:r>
            <a:r>
              <a:rPr lang="en-US" altLang="en-US" i="1" u="sng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the available facts</a:t>
            </a: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 AND </a:t>
            </a:r>
            <a:r>
              <a:rPr lang="en-US" altLang="en-US" i="1" u="sng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your engineering know-how and deduction skills</a:t>
            </a: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 to analyze the potential sequences that can lead to the incident in a similar context; apply your skills of rationale and supposition to determine possible, reasonable, feasible, </a:t>
            </a:r>
            <a:r>
              <a:rPr lang="en-US" altLang="en-US" i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and plausible causes</a:t>
            </a: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. </a:t>
            </a:r>
            <a:endParaRPr lang="en-US" altLang="en-US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750564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altLang="en-US" sz="1800" b="1" i="1" dirty="0">
                <a:solidFill>
                  <a:srgbClr val="FF0000"/>
                </a:solidFill>
                <a:latin typeface="Arial" panose="020B0604020202020204" pitchFamily="34" charset="0"/>
              </a:rPr>
              <a:t>It is really, really easy to do a root cause analysis … badly.</a:t>
            </a:r>
            <a:br>
              <a:rPr lang="en-US" altLang="en-US" sz="1800" b="1" i="1" dirty="0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en-US" altLang="en-US" sz="1800" b="1" i="1" dirty="0">
                <a:solidFill>
                  <a:srgbClr val="FF0000"/>
                </a:solidFill>
                <a:latin typeface="Arial" panose="020B0604020202020204" pitchFamily="34" charset="0"/>
              </a:rPr>
              <a:t>It takes practice to do a root cause analysis well!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have causes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rooted in management system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weaknesses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</a:t>
            </a:r>
            <a:b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are called latent causes (also sometimes called root causes).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discovered through a rigourous and disciplined root cause analysis; thus, management can take action on the management system to address the latent causes.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Lessons: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97360FC2-F6E3-4AC1-8D53-88C5100C2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4056842"/>
            <a:ext cx="8633400" cy="1631216"/>
          </a:xfrm>
          <a:prstGeom prst="rect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  <a:effectLst>
            <a:prstShdw prst="shdw17" dist="17961" dir="2700000">
              <a:srgbClr val="00004D"/>
            </a:prstShdw>
          </a:effectLst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Latent Cause is synonymous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with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weakness a management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element, and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can be aligned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to any one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specific management system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element; thus,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one can begin to make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recommendation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to correct the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weakness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in the management system, and eliminate the latent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cause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that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can lead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to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an incident.</a:t>
            </a: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5891723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Must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 the basic causes to the latent causes.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Requires a bit of reverse logic. A trick to use when you are at that level of the analysis: </a:t>
            </a:r>
          </a:p>
          <a:p>
            <a:pPr marL="108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express each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weakness in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element as a failure, </a:t>
            </a:r>
          </a:p>
          <a:p>
            <a:pPr marL="108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then compare each of these failures with the basic causes.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latent cause has a direct link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one,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unique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element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that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failed. 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There is no universal set of latent causes; these must be expressed as weaknesses in the management system elements for the organization. </a:t>
            </a: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well-written, acceptable latent cause statement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enables the creation of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recommendation to address that latent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cause.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reporting all causes types, not so important to align causes with the detailed lists; it is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important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recognize cause type and in which major group a cause sits.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6459197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3034</TotalTime>
  <Words>4230</Words>
  <Application>Microsoft Office PowerPoint</Application>
  <PresentationFormat>On-screen Show (4:3)</PresentationFormat>
  <Paragraphs>608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ＭＳ Ｐゴシック</vt:lpstr>
      <vt:lpstr>Arial</vt:lpstr>
      <vt:lpstr>Calibri</vt:lpstr>
      <vt:lpstr>Times New Roman</vt:lpstr>
      <vt:lpstr>Wingdings</vt:lpstr>
      <vt:lpstr>Default Design</vt:lpstr>
      <vt:lpstr>1_Default Design</vt:lpstr>
      <vt:lpstr>2_Default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Faculty of engineering,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John Cocchio</cp:lastModifiedBy>
  <cp:revision>234</cp:revision>
  <dcterms:created xsi:type="dcterms:W3CDTF">2020-05-12T17:37:29Z</dcterms:created>
  <dcterms:modified xsi:type="dcterms:W3CDTF">2022-07-04T16:40:07Z</dcterms:modified>
</cp:coreProperties>
</file>