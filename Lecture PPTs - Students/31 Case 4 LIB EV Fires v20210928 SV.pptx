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895" r:id="rId2"/>
    <p:sldId id="880" r:id="rId3"/>
    <p:sldId id="923" r:id="rId4"/>
    <p:sldId id="981" r:id="rId5"/>
    <p:sldId id="982" r:id="rId6"/>
    <p:sldId id="908" r:id="rId7"/>
    <p:sldId id="984" r:id="rId8"/>
    <p:sldId id="924" r:id="rId9"/>
    <p:sldId id="985" r:id="rId10"/>
    <p:sldId id="928" r:id="rId11"/>
    <p:sldId id="987" r:id="rId12"/>
    <p:sldId id="990" r:id="rId13"/>
    <p:sldId id="991" r:id="rId14"/>
    <p:sldId id="986" r:id="rId15"/>
    <p:sldId id="942" r:id="rId16"/>
    <p:sldId id="980" r:id="rId17"/>
    <p:sldId id="995" r:id="rId18"/>
    <p:sldId id="994" r:id="rId19"/>
    <p:sldId id="988" r:id="rId20"/>
    <p:sldId id="989" r:id="rId21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9E92DFA-6333-4D24-89B4-B39EC0786CAA}">
          <p14:sldIdLst>
            <p14:sldId id="895"/>
            <p14:sldId id="880"/>
            <p14:sldId id="923"/>
            <p14:sldId id="981"/>
            <p14:sldId id="982"/>
            <p14:sldId id="908"/>
            <p14:sldId id="984"/>
            <p14:sldId id="924"/>
            <p14:sldId id="985"/>
            <p14:sldId id="928"/>
            <p14:sldId id="987"/>
            <p14:sldId id="990"/>
            <p14:sldId id="991"/>
            <p14:sldId id="986"/>
            <p14:sldId id="942"/>
            <p14:sldId id="980"/>
            <p14:sldId id="995"/>
            <p14:sldId id="994"/>
            <p14:sldId id="988"/>
            <p14:sldId id="9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">
          <p15:clr>
            <a:srgbClr val="A4A3A4"/>
          </p15:clr>
        </p15:guide>
        <p15:guide id="2" pos="379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9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Joel Gehman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0000"/>
    <a:srgbClr val="0000CC"/>
    <a:srgbClr val="F8F8F8"/>
    <a:srgbClr val="F5D7F1"/>
    <a:srgbClr val="5F5F5F"/>
    <a:srgbClr val="DDDDDD"/>
    <a:srgbClr val="FBA3E8"/>
    <a:srgbClr val="333333"/>
    <a:srgbClr val="BDB1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49" autoAdjust="0"/>
    <p:restoredTop sz="98116" autoAdjust="0"/>
  </p:normalViewPr>
  <p:slideViewPr>
    <p:cSldViewPr>
      <p:cViewPr varScale="1">
        <p:scale>
          <a:sx n="70" d="100"/>
          <a:sy n="70" d="100"/>
        </p:scale>
        <p:origin x="548" y="56"/>
      </p:cViewPr>
      <p:guideLst>
        <p:guide orient="horz" pos="576"/>
        <p:guide pos="379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452"/>
    </p:cViewPr>
  </p:sorterViewPr>
  <p:notesViewPr>
    <p:cSldViewPr>
      <p:cViewPr>
        <p:scale>
          <a:sx n="66" d="100"/>
          <a:sy n="66" d="100"/>
        </p:scale>
        <p:origin x="-2634" y="222"/>
      </p:cViewPr>
      <p:guideLst>
        <p:guide orient="horz" pos="2928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54" y="1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25E55AEC-8BF8-47AA-8A9C-C1CC4D3D3CD7}" type="datetimeFigureOut">
              <a:rPr lang="en-US"/>
              <a:pPr>
                <a:defRPr/>
              </a:pPr>
              <a:t>9/28/2021</a:t>
            </a:fld>
            <a:endParaRPr lang="en-US"/>
          </a:p>
        </p:txBody>
      </p:sp>
      <p:sp>
        <p:nvSpPr>
          <p:cNvPr id="2201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01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54" y="8830312"/>
            <a:ext cx="3037146" cy="4645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E75F24CD-7E4C-4840-9EE0-3BA263838C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716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1654" y="1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B38EBD9A-77E5-4352-9685-9DCF1AB5D0AE}" type="datetimeFigureOut">
              <a:rPr lang="en-US"/>
              <a:pPr>
                <a:defRPr/>
              </a:pPr>
              <a:t>9/28/2021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8500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36" tIns="46568" rIns="93136" bIns="46568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0881" y="4415157"/>
            <a:ext cx="5608640" cy="4183696"/>
          </a:xfrm>
          <a:prstGeom prst="rect">
            <a:avLst/>
          </a:prstGeom>
        </p:spPr>
        <p:txBody>
          <a:bodyPr vert="horz" wrap="square" lIns="93136" tIns="46568" rIns="93136" bIns="46568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1654" y="8830312"/>
            <a:ext cx="3037146" cy="464504"/>
          </a:xfrm>
          <a:prstGeom prst="rect">
            <a:avLst/>
          </a:prstGeom>
        </p:spPr>
        <p:txBody>
          <a:bodyPr vert="horz" wrap="square" lIns="93136" tIns="46568" rIns="93136" bIns="4656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pPr>
              <a:defRPr/>
            </a:pPr>
            <a:fld id="{4A7289C4-4137-4B30-96C9-7C06C822912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32138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269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22892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7873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ENGG404 2015W</a:t>
            </a:r>
            <a:endParaRPr/>
          </a:p>
        </p:txBody>
      </p:sp>
      <p:sp>
        <p:nvSpPr>
          <p:cNvPr id="179" name="Google Shape;179;p6:notes"/>
          <p:cNvSpPr txBox="1">
            <a:spLocks noGrp="1"/>
          </p:cNvSpPr>
          <p:nvPr>
            <p:ph type="ftr" idx="11"/>
          </p:nvPr>
        </p:nvSpPr>
        <p:spPr>
          <a:xfrm>
            <a:off x="0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15-Jan-2015</a:t>
            </a: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:notes"/>
          <p:cNvSpPr txBox="1">
            <a:spLocks noGrp="1"/>
          </p:cNvSpPr>
          <p:nvPr>
            <p:ph type="dt" idx="10"/>
          </p:nvPr>
        </p:nvSpPr>
        <p:spPr>
          <a:xfrm>
            <a:off x="3939968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6/26/2019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:notes"/>
          <p:cNvSpPr txBox="1"/>
          <p:nvPr/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:notes"/>
          <p:cNvSpPr txBox="1"/>
          <p:nvPr/>
        </p:nvSpPr>
        <p:spPr>
          <a:xfrm>
            <a:off x="3941155" y="884375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50938" y="696913"/>
            <a:ext cx="4652962" cy="3490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927470" y="4421876"/>
            <a:ext cx="5099898" cy="419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1342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>
            <a:spLocks noGrp="1"/>
          </p:cNvSpPr>
          <p:nvPr>
            <p:ph type="hdr" idx="2"/>
          </p:nvPr>
        </p:nvSpPr>
        <p:spPr>
          <a:xfrm>
            <a:off x="0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ENGG404 2015W</a:t>
            </a:r>
            <a:endParaRPr/>
          </a:p>
        </p:txBody>
      </p:sp>
      <p:sp>
        <p:nvSpPr>
          <p:cNvPr id="179" name="Google Shape;179;p6:notes"/>
          <p:cNvSpPr txBox="1">
            <a:spLocks noGrp="1"/>
          </p:cNvSpPr>
          <p:nvPr>
            <p:ph type="ftr" idx="11"/>
          </p:nvPr>
        </p:nvSpPr>
        <p:spPr>
          <a:xfrm>
            <a:off x="0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15-Jan-2015</a:t>
            </a:r>
            <a:endParaRPr/>
          </a:p>
        </p:txBody>
      </p:sp>
      <p:sp>
        <p:nvSpPr>
          <p:cNvPr id="180" name="Google Shape;180;p6:notes"/>
          <p:cNvSpPr txBox="1">
            <a:spLocks noGrp="1"/>
          </p:cNvSpPr>
          <p:nvPr>
            <p:ph type="sldNum" idx="12"/>
          </p:nvPr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:notes"/>
          <p:cNvSpPr txBox="1">
            <a:spLocks noGrp="1"/>
          </p:cNvSpPr>
          <p:nvPr>
            <p:ph type="dt" idx="10"/>
          </p:nvPr>
        </p:nvSpPr>
        <p:spPr>
          <a:xfrm>
            <a:off x="3939968" y="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6/26/2019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:notes"/>
          <p:cNvSpPr txBox="1"/>
          <p:nvPr/>
        </p:nvSpPr>
        <p:spPr>
          <a:xfrm>
            <a:off x="3939968" y="8843751"/>
            <a:ext cx="3013684" cy="46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6:notes"/>
          <p:cNvSpPr txBox="1"/>
          <p:nvPr/>
        </p:nvSpPr>
        <p:spPr>
          <a:xfrm>
            <a:off x="3941155" y="8843751"/>
            <a:ext cx="3013684" cy="4653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50938" y="696913"/>
            <a:ext cx="4652962" cy="349091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927470" y="4421876"/>
            <a:ext cx="5099898" cy="4190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275" tIns="46625" rIns="93275" bIns="466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02696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188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2312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0270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5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6248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161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5101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C41DADFD-3BE4-4AB0-B910-544CAFF0BCC2}" type="slidenum">
              <a:rPr lang="en-US" altLang="en-US"/>
              <a:pPr algn="r" eaLnBrk="1" hangingPunct="1"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76594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39439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7772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194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292287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40936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9349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0803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3579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9/28/2021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873712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9" r:id="rId1"/>
    <p:sldLayoutId id="2147484147" r:id="rId2"/>
    <p:sldLayoutId id="2147484148" r:id="rId3"/>
    <p:sldLayoutId id="2147484150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On Becoming a </a:t>
            </a:r>
            <a:b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</a:br>
            <a:r>
              <a:rPr lang="en-CA" altLang="en-US" i="1" kern="0" dirty="0" smtClean="0">
                <a:solidFill>
                  <a:srgbClr val="000099"/>
                </a:solidFill>
                <a:ea typeface="ＭＳ Ｐゴシック" panose="020B0600070205080204" pitchFamily="34" charset="-128"/>
              </a:rPr>
              <a:t>Leader in Risk Management</a:t>
            </a:r>
            <a:endParaRPr lang="en-US" altLang="en-US" i="1" kern="0" dirty="0">
              <a:solidFill>
                <a:srgbClr val="000099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1116887" y="2105520"/>
            <a:ext cx="6884113" cy="21616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</a:t>
            </a: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Lecture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US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16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altLang="en-US" sz="3200" b="1" dirty="0" smtClean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Lithium ion Battery Fires in Electric Vehicles</a:t>
            </a:r>
            <a:endParaRPr lang="en-US" altLang="en-US" sz="3200" b="1" dirty="0">
              <a:solidFill>
                <a:schemeClr val="tx2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r>
              <a:rPr lang="en-US" dirty="0"/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114800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114613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the technical safety aspects of lithium ion battery fires and why they are considered a low frequency, high consequence risk scenario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Describe the bow tie approach for depicting key concepts in risk management 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the prevention through design (PTD) concept for the future of electric vehicle batteries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Learning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Outcomes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Superior attributes of Lithium ion battery 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Higher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current, voltage, power and energy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density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Reduced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cost, weight and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pollution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Lack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memory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Excellent stability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Low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self-discharge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rate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Prolonged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life cycle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Used in a variety of applications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Small cells in consumer electronics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Large scale packs in the electrification of road transport and smart grids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Managing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peaks and valleys associated with output from wind and solar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Introduction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483011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" y="828000"/>
            <a:ext cx="4544400" cy="458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ells produce an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electric current by converting chemical energy into electrical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Two electrodes</a:t>
            </a:r>
          </a:p>
          <a:p>
            <a:pPr marL="49335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Negative (anode) -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typically made of carbon (graphite)</a:t>
            </a:r>
          </a:p>
          <a:p>
            <a:pPr marL="493350" lvl="1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Positive (cathode) -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generally consists of layers of lithium and metal oxide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ermeable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barrier between the electrodes prevents internal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short-circuiting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Electrolyte transfers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charged ions between the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electrodes. It consists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of a lithium salt dissolved in an organic solvent, mainly carbonates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Energy is related to the chemistry and construction of the LIB cell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Battery Design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6" name="Picture 5"/>
          <p:cNvPicPr/>
          <p:nvPr/>
        </p:nvPicPr>
        <p:blipFill rotWithShape="1">
          <a:blip r:embed="rId3"/>
          <a:srcRect l="50593" t="4088" r="2879" b="12534"/>
          <a:stretch/>
        </p:blipFill>
        <p:spPr bwMode="auto">
          <a:xfrm>
            <a:off x="4615071" y="1371600"/>
            <a:ext cx="4495799" cy="35597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8801799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" y="838200"/>
            <a:ext cx="8964000" cy="481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altLang="en-US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Overview </a:t>
            </a:r>
            <a:endParaRPr lang="en-US" altLang="en-US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Volatile organic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electrolyte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solution (hazardous)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Short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circuit or high operating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temp.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lead to exothermic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reactions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Worst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case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scenario - battery catches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fire or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explodes (low frequency)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Different fire in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terms of initiation, spread, duration,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toxicity &amp; suppression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Increase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fire risk is proportional to the increase in the mass and capacity of the battery (the fuel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Last two decades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Variety of fires (small consumer electronics to large power systems)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Initial concerns with portable devices (cell phones and laptops)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Sony (2006) recalled 9.6 million notebooks with LIBs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($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400 million)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Samsung (2016) recalled 2.5 million Note 7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smartphones ($17bn)</a:t>
            </a: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Boeing 787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Dreamliner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grounding in 2013 (1.1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million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USD/day loss)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Variety of electric vehicle fires including Chevy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Volt and Tesla Model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</a:t>
            </a: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indent="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None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LIB Fires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516909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4659313"/>
            <a:ext cx="26987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Electric Vehicle LIB related Fires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313" y="914400"/>
            <a:ext cx="8696325" cy="3333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585851"/>
            <a:ext cx="914399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eaLnBrk="0" hangingPunct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a) A 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Renault-Samsung </a:t>
            </a: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 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caught fire while driving (January 2016, Korea)</a:t>
            </a:r>
          </a:p>
          <a:p>
            <a:pPr marR="0" eaLnBrk="0" hangingPunct="0"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b) A </a:t>
            </a: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pure battery electric bus caught fire in a charging station (April 2015, Shenzhen, China)</a:t>
            </a: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514420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6"/>
          <p:cNvSpPr/>
          <p:nvPr/>
        </p:nvSpPr>
        <p:spPr>
          <a:xfrm>
            <a:off x="0" y="4659313"/>
            <a:ext cx="269875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 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Electric Vehicle LIB related Fires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1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56162"/>
            <a:ext cx="7658100" cy="45529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5497425"/>
            <a:ext cx="9143999" cy="75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eaLnBrk="0" hangingPunct="0">
              <a:lnSpc>
                <a:spcPct val="107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c) A Tesla Model S released smokes while being driven (June 2018, California)</a:t>
            </a:r>
          </a:p>
          <a:p>
            <a:pPr marL="0" eaLnBrk="0" hangingPunct="0">
              <a:lnSpc>
                <a:spcPct val="107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d) EV fire in a parking lot (May 2018, Hangzhou, China)</a:t>
            </a: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4626055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980400"/>
            <a:ext cx="8640000" cy="420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EV battery packs are usually composed of thousands of single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cells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thermal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runaway (TR)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can initiate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 a single cell and propagates to other cells in the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pack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LIB temp. reaches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critical value such that the reaction rate of an exothermic reaction increases the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temp. &amp; accelerates the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reaction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rate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fast process that occurs at a time scale &lt;2 s, leading in most cases to battery rupture in less &lt;0.01 </a:t>
            </a: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</a:t>
            </a: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Triggers for LIB TR</a:t>
            </a:r>
          </a:p>
          <a:p>
            <a:pPr marL="419100" lvl="1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External abuse (mechanical, thermal, electrical)</a:t>
            </a:r>
          </a:p>
          <a:p>
            <a:pPr marL="419100" lvl="1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Internal failure (defects, self-heating)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Critical for LIB to balance heat generation with heat dissipation</a:t>
            </a:r>
          </a:p>
          <a:p>
            <a:pPr marL="432000" indent="-432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Thermal Runaway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8886276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Chain of Events after abusing a LIB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 rotWithShape="1">
          <a:blip r:embed="rId3"/>
          <a:srcRect b="9251"/>
          <a:stretch/>
        </p:blipFill>
        <p:spPr bwMode="auto">
          <a:xfrm>
            <a:off x="246086" y="990600"/>
            <a:ext cx="8584800" cy="47244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563027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0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Methodology has been used for over 20 years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Builds on the Swiss cheese model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Shows how a hazard can be released, escalate &amp; controlled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Helps communicate how to control major accident hazards 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Barriers required to either manage hazard or prevent/mitigate consequences</a:t>
            </a: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Effective communication tool for leadership in ESRM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Bow tie components: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</a:t>
            </a: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: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source of energy has </a:t>
            </a: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potential to cause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harm</a:t>
            </a:r>
            <a:endParaRPr lang="en-US" sz="2000" b="0" i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Top Event: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what </a:t>
            </a: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happens when the hazard is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released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Threats: what </a:t>
            </a: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causes the hazard to be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released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Consequences: PEAP impacts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Threat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controls: prevent </a:t>
            </a: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hazard from being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released</a:t>
            </a:r>
          </a:p>
          <a:p>
            <a:pPr marL="72000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rabicPeriod"/>
            </a:pP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Recovery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measures: limit </a:t>
            </a:r>
            <a:r>
              <a:rPr lang="en-US" sz="2000" b="0" i="1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severity of the event and minimize </a:t>
            </a:r>
            <a:r>
              <a:rPr lang="en-US" sz="2000" b="0" i="1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impacts</a:t>
            </a:r>
            <a:endParaRPr lang="en-US" sz="2000" b="0" i="1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Bow Tie Risk Tool Overview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3858524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Simplified Bow Tie Diagram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33400" y="1066800"/>
            <a:ext cx="7848600" cy="4495800"/>
          </a:xfrm>
          <a:prstGeom prst="rect">
            <a:avLst/>
          </a:prstGeom>
        </p:spPr>
      </p:pic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02022196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Simplified Bow Tie Diagram for EV LIB fire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1008000"/>
            <a:ext cx="8640000" cy="2399084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2209800" y="3695084"/>
            <a:ext cx="4572000" cy="2400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02043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1066800"/>
            <a:ext cx="8633400" cy="420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Preventing battery failure which sometimes lead to TR &amp; fires has remained a challenge for LIBs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Recall PTD focus is to “engineer out the hazards” through our designs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PTD focus area is battery chemistry and design to prevent TR fires</a:t>
            </a: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20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lvl="1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sz="20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PTD with inherently safer materials: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Cathode chemistry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Modified separators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Modified electrolytes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</a:pPr>
            <a:r>
              <a:rPr lang="en-US" sz="1800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Solid state batteries</a:t>
            </a: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60050" lvl="2" indent="-360000" eaLnBrk="0" hangingPunct="0">
              <a:lnSpc>
                <a:spcPct val="9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sz="1800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indent="-432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72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Prevention Through Design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3352475"/>
            <a:ext cx="4317600" cy="243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96764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Potential PTD Opportunities for LIBs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246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893362"/>
            <a:ext cx="8191500" cy="522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75982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73400" y="990600"/>
            <a:ext cx="8640000" cy="336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LIB technology is superior but the current designs have the risk of a low frequency, high consequence risk event (fires to thermal runaway)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variety of LIB-related fires have occurred over the last two decades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bow tie diagram provides a</a:t>
            </a:r>
            <a:r>
              <a:rPr lang="en-CA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r>
              <a:rPr lang="en-CA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simple visual depiction of a complex </a:t>
            </a:r>
            <a:r>
              <a:rPr lang="en-CA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situation (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especially </a:t>
            </a:r>
            <a:r>
              <a:rPr lang="en-US" altLang="en-US" b="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when dealing with non-specialists</a:t>
            </a: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)</a:t>
            </a: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Prevention through design opportunities are in the area of inherently safer design that reduce the frequency of LIB-related fires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</a:pPr>
            <a:endParaRPr 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ClrTx/>
              <a:buNone/>
            </a:pPr>
            <a:r>
              <a:rPr lang="en-US" altLang="en-US" sz="2400" b="0" dirty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Summary &amp; Key </a:t>
            </a:r>
            <a:r>
              <a:rPr lang="en-US" altLang="en-US" sz="2400" b="0" dirty="0" smtClean="0">
                <a:solidFill>
                  <a:schemeClr val="accent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Lessons</a:t>
            </a:r>
            <a:endParaRPr lang="en-US" altLang="en-US" sz="2400" b="0" dirty="0">
              <a:solidFill>
                <a:schemeClr val="accent2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fld id="{B9AAC074-F6B9-4EA4-AE59-9F9DB0D8944F}" type="slidenum">
              <a:rPr lang="en-US" altLang="en-US" sz="1200" b="1" i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 b="1" i="1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4766490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Back up Slides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7073005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Typical EV Battery Cells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0" y="977400"/>
            <a:ext cx="5143500" cy="5029200"/>
          </a:xfrm>
          <a:prstGeom prst="rect">
            <a:avLst/>
          </a:prstGeom>
        </p:spPr>
      </p:pic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5323500" y="1295400"/>
            <a:ext cx="3630000" cy="415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Pouch cell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Prismatic cell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Cylindrical cell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Approximate battery size in popular EVs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Fully assembled LG 60kWh battery pack (288 prismatic cells)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Tesla battery module</a:t>
            </a:r>
          </a:p>
          <a:p>
            <a:pPr marL="457200" indent="-457200" eaLnBrk="0" hangingPunct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+mj-lt"/>
              <a:buAutoNum type="alphaLcParenR"/>
            </a:pPr>
            <a:r>
              <a:rPr lang="en-US" altLang="en-US" b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Nissan Leaf battery pack</a:t>
            </a:r>
            <a:endParaRPr lang="en-US" altLang="en-US" b="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90196888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Multi-cell pack for Tesla Model S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2383" t="1566" b="1"/>
          <a:stretch/>
        </p:blipFill>
        <p:spPr>
          <a:xfrm>
            <a:off x="457200" y="1879350"/>
            <a:ext cx="7663094" cy="3225300"/>
          </a:xfrm>
          <a:prstGeom prst="rect">
            <a:avLst/>
          </a:prstGeom>
        </p:spPr>
      </p:pic>
      <p:sp>
        <p:nvSpPr>
          <p:cNvPr id="6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13804293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LIB Fires with Significant Media coverage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2" y="2158430"/>
            <a:ext cx="8982075" cy="2667140"/>
          </a:xfrm>
          <a:prstGeom prst="rect">
            <a:avLst/>
          </a:prstGeom>
        </p:spPr>
      </p:pic>
      <p:sp>
        <p:nvSpPr>
          <p:cNvPr id="10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51719282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94200" y="180000"/>
            <a:ext cx="8811600" cy="504000"/>
          </a:xfrm>
          <a:prstGeom prst="rect">
            <a:avLst/>
          </a:prstGeom>
          <a:noFill/>
          <a:ln>
            <a:noFill/>
          </a:ln>
          <a:extLst/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LIB TR due to imbalance between heat generation &amp; dissipation 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14" y="994013"/>
            <a:ext cx="8850196" cy="5233987"/>
          </a:xfrm>
          <a:prstGeom prst="rect">
            <a:avLst/>
          </a:prstGeom>
        </p:spPr>
      </p:pic>
      <p:sp>
        <p:nvSpPr>
          <p:cNvPr id="7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 eaLnBrk="1" fontAlgn="auto" hangingPunct="1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</a:pP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Case 16: </a:t>
            </a:r>
            <a:r>
              <a:rPr lang="en-US" sz="1200" i="1" kern="0" dirty="0" smtClean="0">
                <a:solidFill>
                  <a:srgbClr val="000000"/>
                </a:solidFill>
                <a:ea typeface="Times New Roman"/>
                <a:cs typeface="Arial" panose="020B0604020202020204" pitchFamily="34" charset="0"/>
                <a:sym typeface="Times New Roman"/>
              </a:rPr>
              <a:t>Lithium Ion Battery Fires in Electric Vehicles </a:t>
            </a:r>
            <a:endParaRPr lang="en-US" sz="1200" i="1" kern="0" dirty="0">
              <a:solidFill>
                <a:srgbClr val="000000"/>
              </a:solidFill>
              <a:ea typeface="Times New Roman"/>
              <a:cs typeface="Arial" panose="020B0604020202020204" pitchFamily="34" charset="0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5679529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70406</TotalTime>
  <Words>1169</Words>
  <Application>Microsoft Office PowerPoint</Application>
  <PresentationFormat>On-screen Show (4:3)</PresentationFormat>
  <Paragraphs>209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ＭＳ Ｐゴシック</vt:lpstr>
      <vt:lpstr>Arial</vt:lpstr>
      <vt:lpstr>Calibri</vt:lpstr>
      <vt:lpstr>Times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The University of Texas at Austin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MSB</dc:creator>
  <cp:lastModifiedBy>JR Cocchio</cp:lastModifiedBy>
  <cp:revision>1988</cp:revision>
  <cp:lastPrinted>2018-12-17T22:21:47Z</cp:lastPrinted>
  <dcterms:created xsi:type="dcterms:W3CDTF">2007-03-28T16:18:47Z</dcterms:created>
  <dcterms:modified xsi:type="dcterms:W3CDTF">2021-09-28T21:14:16Z</dcterms:modified>
</cp:coreProperties>
</file>