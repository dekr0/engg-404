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792">
          <p15:clr>
            <a:srgbClr val="A4A3A4"/>
          </p15:clr>
        </p15:guide>
      </p15:sldGuideLst>
    </p:ext>
    <p:ext uri="{2D200454-40CA-4A62-9FC3-DE9A4176ACB9}">
      <p15:notesGuideLst>
        <p15:guide id="1" orient="horz" pos="2928">
          <p15:clr>
            <a:srgbClr val="A4A3A4"/>
          </p15:clr>
        </p15:guide>
        <p15:guide id="2" pos="2209">
          <p15:clr>
            <a:srgbClr val="A4A3A4"/>
          </p15:clr>
        </p15:guide>
      </p15:notesGuideLst>
    </p:ext>
    <p:ext uri="http://customooxmlschemas.google.com/">
      <go:slidesCustomData xmlns:go="http://customooxmlschemas.google.com/" r:id="rId32" roundtripDataSignature="AMtx7mhqUdL7ifUMLHkVNARA7p/xgFvm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792"/>
      </p:guideLst>
    </p:cSldViewPr>
  </p:slideViewPr>
  <p:notesViewPr>
    <p:cSldViewPr snapToGrid="0">
      <p:cViewPr varScale="1">
        <p:scale>
          <a:sx n="100" d="100"/>
          <a:sy n="100" d="100"/>
        </p:scale>
        <p:origin x="0" y="0"/>
      </p:cViewPr>
      <p:guideLst>
        <p:guide pos="2928" orient="horz"/>
        <p:guide pos="2209"/>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1654" y="1"/>
            <a:ext cx="3037146" cy="464504"/>
          </a:xfrm>
          <a:prstGeom prst="rect">
            <a:avLst/>
          </a:prstGeom>
          <a:noFill/>
          <a:ln>
            <a:noFill/>
          </a:ln>
        </p:spPr>
        <p:txBody>
          <a:bodyPr anchorCtr="0" anchor="t" bIns="46550" lIns="93125" spcFirstLastPara="1" rIns="93125" wrap="square" tIns="465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lvl1pPr indent="-228600" lvl="0" marL="4572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1pPr>
            <a:lvl2pPr indent="-228600" lvl="1" marL="9144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2pPr>
            <a:lvl3pPr indent="-228600" lvl="2" marL="13716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3pPr>
            <a:lvl4pPr indent="-228600" lvl="3" marL="18288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4pPr>
            <a:lvl5pPr indent="-228600" lvl="4" marL="22860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 name="Google Shape;49;p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72" name="Google Shape;72;p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81" name="Google Shape;81;p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90" name="Google Shape;90;p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01" name="Google Shape;101;p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Arial"/>
                <a:ea typeface="Arial"/>
                <a:cs typeface="Arial"/>
                <a:sym typeface="Arial"/>
              </a:rPr>
              <a:t>Military flights are high-speed (up to 3200 km/h) and commercial flights are not (up to 1000 km/h)</a:t>
            </a:r>
            <a:endParaRPr/>
          </a:p>
          <a:p>
            <a:pPr indent="0" lvl="0" marL="0" rtl="0" algn="l">
              <a:spcBef>
                <a:spcPts val="300"/>
              </a:spcBef>
              <a:spcAft>
                <a:spcPts val="0"/>
              </a:spcAft>
              <a:buNone/>
            </a:pPr>
            <a:r>
              <a:t/>
            </a:r>
            <a:endParaRPr>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12" name="Google Shape;112;p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rPr lang="en-US">
                <a:latin typeface="Arial"/>
                <a:ea typeface="Arial"/>
                <a:cs typeface="Arial"/>
                <a:sym typeface="Arial"/>
              </a:rPr>
              <a:t>AR = authorized representatives. Boeing employees who are granted special permission to represent the interests of the FAA and to act on the agency’s behalf in validating aircraft systems and design compliance with FAA requirements</a:t>
            </a:r>
            <a:endParaRPr/>
          </a:p>
          <a:p>
            <a:pPr indent="0" lvl="0" marL="0" rtl="0" algn="l">
              <a:spcBef>
                <a:spcPts val="300"/>
              </a:spcBef>
              <a:spcAft>
                <a:spcPts val="0"/>
              </a:spcAft>
              <a:buNone/>
            </a:pPr>
            <a:r>
              <a:t/>
            </a: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21" name="Google Shape;121;p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32" name="Google Shape;132;p8: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8: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927470" y="4421876"/>
            <a:ext cx="5099898" cy="4188138"/>
          </a:xfrm>
          <a:prstGeom prst="rect">
            <a:avLst/>
          </a:prstGeom>
          <a:noFill/>
          <a:ln>
            <a:noFill/>
          </a:ln>
        </p:spPr>
        <p:txBody>
          <a:bodyPr anchorCtr="0" anchor="t" bIns="46625" lIns="93275" spcFirstLastPara="1" rIns="93275" wrap="square" tIns="46625">
            <a:noAutofit/>
          </a:bodyPr>
          <a:lstStyle/>
          <a:p>
            <a:pPr indent="0" lvl="0" marL="0" rtl="0" algn="l">
              <a:spcBef>
                <a:spcPts val="360"/>
              </a:spcBef>
              <a:spcAft>
                <a:spcPts val="0"/>
              </a:spcAft>
              <a:buClr>
                <a:schemeClr val="dk1"/>
              </a:buClr>
              <a:buSzPts val="1000"/>
              <a:buFont typeface="Calibri"/>
              <a:buNone/>
            </a:pPr>
            <a:r>
              <a:t/>
            </a:r>
            <a:endParaRPr/>
          </a:p>
        </p:txBody>
      </p:sp>
      <p:sp>
        <p:nvSpPr>
          <p:cNvPr id="143" name="Google Shape;143;p9:notes"/>
          <p:cNvSpPr/>
          <p:nvPr>
            <p:ph idx="2" type="sldImg"/>
          </p:nvPr>
        </p:nvSpPr>
        <p:spPr>
          <a:xfrm>
            <a:off x="1152525" y="698500"/>
            <a:ext cx="4649788" cy="34893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51" name="Google Shape;151;p1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1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61" name="Google Shape;161;p1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1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0" name="Google Shape;170;p1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1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79" name="Google Shape;179;p1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1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88" name="Google Shape;188;p1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197" name="Google Shape;197;p1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1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6: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06" name="Google Shape;206;p16: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16: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7: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15" name="Google Shape;215;p17: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7: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224" name="Google Shape;224;p18: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225" name="Google Shape;225;p18: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226" name="Google Shape;226;p18: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227" name="Google Shape;227;p18: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8: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9:notes"/>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ENGG406 2015W</a:t>
            </a:r>
            <a:endParaRPr/>
          </a:p>
        </p:txBody>
      </p:sp>
      <p:sp>
        <p:nvSpPr>
          <p:cNvPr id="236" name="Google Shape;236;p19:notes"/>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3-March-2015</a:t>
            </a:r>
            <a:endParaRPr/>
          </a:p>
        </p:txBody>
      </p:sp>
      <p:sp>
        <p:nvSpPr>
          <p:cNvPr id="237" name="Google Shape;237;p19:notes"/>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238" name="Google Shape;238;p19:notes"/>
          <p:cNvSpPr txBox="1"/>
          <p:nvPr/>
        </p:nvSpPr>
        <p:spPr>
          <a:xfrm>
            <a:off x="3974250" y="8831898"/>
            <a:ext cx="3036150" cy="464503"/>
          </a:xfrm>
          <a:prstGeom prst="rect">
            <a:avLst/>
          </a:prstGeom>
          <a:noFill/>
          <a:ln>
            <a:noFill/>
          </a:ln>
        </p:spPr>
        <p:txBody>
          <a:bodyPr anchorCtr="0" anchor="b" bIns="46550" lIns="93100" spcFirstLastPara="1" rIns="93100" wrap="square" tIns="465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1" i="0" sz="1200" u="none" cap="none" strike="noStrike">
              <a:solidFill>
                <a:srgbClr val="000000"/>
              </a:solidFill>
              <a:latin typeface="Times New Roman"/>
              <a:ea typeface="Times New Roman"/>
              <a:cs typeface="Times New Roman"/>
              <a:sym typeface="Times New Roman"/>
            </a:endParaRPr>
          </a:p>
        </p:txBody>
      </p:sp>
      <p:sp>
        <p:nvSpPr>
          <p:cNvPr id="239" name="Google Shape;239;p19:notes"/>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 name="Google Shape;240;p19: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0: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48" name="Google Shape;248;p20: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20: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1: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58" name="Google Shape;258;p2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21: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67" name="Google Shape;267;p2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8" name="Google Shape;268;p2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76" name="Google Shape;276;p2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2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85" name="Google Shape;285;p2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2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sp>
        <p:nvSpPr>
          <p:cNvPr id="294" name="Google Shape;294;p2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2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7"/>
          <p:cNvSpPr txBox="1"/>
          <p:nvPr>
            <p:ph type="ctrTitle"/>
          </p:nvPr>
        </p:nvSpPr>
        <p:spPr>
          <a:xfrm>
            <a:off x="685800" y="1905004"/>
            <a:ext cx="7772400" cy="1470025"/>
          </a:xfrm>
          <a:prstGeom prst="rect">
            <a:avLst/>
          </a:prstGeom>
          <a:noFill/>
          <a:ln>
            <a:noFill/>
          </a:ln>
        </p:spPr>
        <p:txBody>
          <a:bodyPr anchorCtr="0" anchor="ctr" bIns="45700" lIns="91425" spcFirstLastPara="1" rIns="91425" wrap="square" tIns="45700">
            <a:noAutofit/>
          </a:bodyPr>
          <a:lstStyle>
            <a:lvl1pPr lvl="0" algn="ctr">
              <a:spcBef>
                <a:spcPts val="540"/>
              </a:spcBef>
              <a:spcAft>
                <a:spcPts val="0"/>
              </a:spcAft>
              <a:buSzPts val="1400"/>
              <a:buNone/>
              <a:defRPr sz="27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 name="Google Shape;16;p27"/>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420"/>
              </a:spcBef>
              <a:spcAft>
                <a:spcPts val="0"/>
              </a:spcAft>
              <a:buClr>
                <a:srgbClr val="AA9C8F"/>
              </a:buClr>
              <a:buSzPts val="2100"/>
              <a:buFont typeface="Noto Sans Symbols"/>
              <a:buNone/>
              <a:defRPr b="0" i="0" sz="2100" u="none" cap="none" strike="noStrike">
                <a:solidFill>
                  <a:srgbClr val="4D4D4D"/>
                </a:solidFill>
                <a:latin typeface="Calibri"/>
                <a:ea typeface="Calibri"/>
                <a:cs typeface="Calibri"/>
                <a:sym typeface="Calibri"/>
              </a:defRPr>
            </a:lvl1pPr>
            <a:lvl2pPr lvl="1" marR="0" rtl="0" algn="l">
              <a:spcBef>
                <a:spcPts val="390"/>
              </a:spcBef>
              <a:spcAft>
                <a:spcPts val="0"/>
              </a:spcAft>
              <a:buClr>
                <a:srgbClr val="C75B12"/>
              </a:buClr>
              <a:buSzPts val="1950"/>
              <a:buFont typeface="Noto Sans Symbols"/>
              <a:buChar char="▪"/>
              <a:defRPr b="0" i="0" sz="1950" u="none" cap="none" strike="noStrike">
                <a:solidFill>
                  <a:schemeClr val="dk1"/>
                </a:solidFill>
                <a:latin typeface="Calibri"/>
                <a:ea typeface="Calibri"/>
                <a:cs typeface="Calibri"/>
                <a:sym typeface="Calibri"/>
              </a:defRPr>
            </a:lvl2pPr>
            <a:lvl3pPr lvl="2" marR="0" rtl="0" algn="l">
              <a:spcBef>
                <a:spcPts val="360"/>
              </a:spcBef>
              <a:spcAft>
                <a:spcPts val="0"/>
              </a:spcAft>
              <a:buClr>
                <a:srgbClr val="C75B12"/>
              </a:buClr>
              <a:buSzPts val="1800"/>
              <a:buFont typeface="Noto Sans Symbols"/>
              <a:buChar char="▪"/>
              <a:defRPr b="0" i="0" sz="1800" u="none" cap="none" strike="noStrike">
                <a:solidFill>
                  <a:schemeClr val="dk1"/>
                </a:solidFill>
                <a:latin typeface="Calibri"/>
                <a:ea typeface="Calibri"/>
                <a:cs typeface="Calibri"/>
                <a:sym typeface="Calibri"/>
              </a:defRPr>
            </a:lvl3pPr>
            <a:lvl4pPr lvl="3"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Calibri"/>
                <a:ea typeface="Calibri"/>
                <a:cs typeface="Calibri"/>
                <a:sym typeface="Calibri"/>
              </a:defRPr>
            </a:lvl4pPr>
            <a:lvl5pPr lvl="4"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Calibri"/>
                <a:ea typeface="Calibri"/>
                <a:cs typeface="Calibri"/>
                <a:sym typeface="Calibri"/>
              </a:defRPr>
            </a:lvl5pPr>
            <a:lvl6pPr lvl="5"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6pPr>
            <a:lvl7pPr lvl="6"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7pPr>
            <a:lvl8pPr lvl="7"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8pPr>
            <a:lvl9pPr lvl="8"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2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19" name="Google Shape;19;p2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20" name="Google Shape;20;p2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1" i="0" sz="18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4"/>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2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4"/>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1pPr>
            <a:lvl2pPr indent="-333375" lvl="1" marL="914400" marR="0" rtl="0" algn="l">
              <a:spcBef>
                <a:spcPts val="330"/>
              </a:spcBef>
              <a:spcAft>
                <a:spcPts val="0"/>
              </a:spcAft>
              <a:buClr>
                <a:schemeClr val="dk1"/>
              </a:buClr>
              <a:buSzPts val="1650"/>
              <a:buFont typeface="Arial"/>
              <a:buChar char="•"/>
              <a:defRPr b="0" i="0" sz="1650" u="none" cap="none" strike="noStrike">
                <a:solidFill>
                  <a:schemeClr val="dk1"/>
                </a:solidFill>
                <a:latin typeface="Calibri"/>
                <a:ea typeface="Calibri"/>
                <a:cs typeface="Calibri"/>
                <a:sym typeface="Calibri"/>
              </a:defRPr>
            </a:lvl2pPr>
            <a:lvl3pPr indent="-323850" lvl="2" marL="1371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35"/>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35"/>
          <p:cNvSpPr txBox="1"/>
          <p:nvPr>
            <p:ph idx="1" type="body"/>
          </p:nvPr>
        </p:nvSpPr>
        <p:spPr>
          <a:xfrm>
            <a:off x="577850" y="758829"/>
            <a:ext cx="4038600" cy="5718175"/>
          </a:xfrm>
          <a:prstGeom prst="rect">
            <a:avLst/>
          </a:prstGeom>
          <a:noFill/>
          <a:ln>
            <a:noFill/>
          </a:ln>
        </p:spPr>
        <p:txBody>
          <a:bodyPr anchorCtr="0" anchor="t" bIns="45700" lIns="91425" spcFirstLastPara="1" rIns="91425" wrap="square" tIns="45700">
            <a:noAutofit/>
          </a:bodyPr>
          <a:lstStyle>
            <a:lvl1pPr indent="-361950" lvl="0" marL="457200" marR="0" rtl="0" algn="l">
              <a:spcBef>
                <a:spcPts val="420"/>
              </a:spcBef>
              <a:spcAft>
                <a:spcPts val="0"/>
              </a:spcAft>
              <a:buClr>
                <a:srgbClr val="AA9C8F"/>
              </a:buClr>
              <a:buSzPts val="2100"/>
              <a:buFont typeface="Noto Sans Symbols"/>
              <a:buChar char="▪"/>
              <a:defRPr b="0" i="0" sz="2100" u="none" cap="none" strike="noStrike">
                <a:solidFill>
                  <a:srgbClr val="4D4D4D"/>
                </a:solidFill>
                <a:latin typeface="Calibri"/>
                <a:ea typeface="Calibri"/>
                <a:cs typeface="Calibri"/>
                <a:sym typeface="Calibri"/>
              </a:defRPr>
            </a:lvl1pPr>
            <a:lvl2pPr indent="-352425" lvl="1" marL="914400" marR="0" rtl="0" algn="l">
              <a:spcBef>
                <a:spcPts val="390"/>
              </a:spcBef>
              <a:spcAft>
                <a:spcPts val="0"/>
              </a:spcAft>
              <a:buClr>
                <a:srgbClr val="C75B12"/>
              </a:buClr>
              <a:buSzPts val="1950"/>
              <a:buFont typeface="Noto Sans Symbols"/>
              <a:buChar char="▪"/>
              <a:defRPr b="0" i="0" sz="195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rgbClr val="C75B12"/>
              </a:buClr>
              <a:buSzPts val="1800"/>
              <a:buFont typeface="Noto Sans Symbols"/>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9pPr>
          </a:lstStyle>
          <a:p/>
        </p:txBody>
      </p:sp>
      <p:sp>
        <p:nvSpPr>
          <p:cNvPr id="27" name="Google Shape;27;p35"/>
          <p:cNvSpPr txBox="1"/>
          <p:nvPr>
            <p:ph idx="2" type="body"/>
          </p:nvPr>
        </p:nvSpPr>
        <p:spPr>
          <a:xfrm>
            <a:off x="4768850" y="758829"/>
            <a:ext cx="4038600" cy="5718175"/>
          </a:xfrm>
          <a:prstGeom prst="rect">
            <a:avLst/>
          </a:prstGeom>
          <a:noFill/>
          <a:ln>
            <a:noFill/>
          </a:ln>
        </p:spPr>
        <p:txBody>
          <a:bodyPr anchorCtr="0" anchor="t" bIns="45700" lIns="91425" spcFirstLastPara="1" rIns="91425" wrap="square" tIns="45700">
            <a:noAutofit/>
          </a:bodyPr>
          <a:lstStyle>
            <a:lvl1pPr indent="-361950" lvl="0" marL="457200" marR="0" rtl="0" algn="l">
              <a:spcBef>
                <a:spcPts val="420"/>
              </a:spcBef>
              <a:spcAft>
                <a:spcPts val="0"/>
              </a:spcAft>
              <a:buClr>
                <a:srgbClr val="AA9C8F"/>
              </a:buClr>
              <a:buSzPts val="2100"/>
              <a:buFont typeface="Noto Sans Symbols"/>
              <a:buChar char="▪"/>
              <a:defRPr b="0" i="0" sz="2100" u="none" cap="none" strike="noStrike">
                <a:solidFill>
                  <a:srgbClr val="4D4D4D"/>
                </a:solidFill>
                <a:latin typeface="Calibri"/>
                <a:ea typeface="Calibri"/>
                <a:cs typeface="Calibri"/>
                <a:sym typeface="Calibri"/>
              </a:defRPr>
            </a:lvl1pPr>
            <a:lvl2pPr indent="-352425" lvl="1" marL="914400" marR="0" rtl="0" algn="l">
              <a:spcBef>
                <a:spcPts val="390"/>
              </a:spcBef>
              <a:spcAft>
                <a:spcPts val="0"/>
              </a:spcAft>
              <a:buClr>
                <a:srgbClr val="C75B12"/>
              </a:buClr>
              <a:buSzPts val="1950"/>
              <a:buFont typeface="Noto Sans Symbols"/>
              <a:buChar char="▪"/>
              <a:defRPr b="0" i="0" sz="195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rgbClr val="C75B12"/>
              </a:buClr>
              <a:buSzPts val="1800"/>
              <a:buFont typeface="Noto Sans Symbols"/>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rgbClr val="C75B12"/>
              </a:buClr>
              <a:buSzPts val="1500"/>
              <a:buFont typeface="Noto Sans Symbols"/>
              <a:buChar char="▪"/>
              <a:defRPr b="0" i="0" sz="15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3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35" name="Google Shape;35;p3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36" name="Google Shape;36;p3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i="0" sz="1800" u="none" cap="none" strike="noStrike">
                <a:solidFill>
                  <a:schemeClr val="dk1"/>
                </a:solidFill>
                <a:latin typeface="Arial"/>
                <a:ea typeface="Arial"/>
                <a:cs typeface="Arial"/>
                <a:sym typeface="Arial"/>
              </a:defRPr>
            </a:lvl1pPr>
            <a:lvl2pPr indent="0" lvl="1" marL="0" marR="0" rtl="0" algn="l">
              <a:spcBef>
                <a:spcPts val="0"/>
              </a:spcBef>
              <a:spcAft>
                <a:spcPts val="0"/>
              </a:spcAft>
              <a:buNone/>
              <a:defRPr b="1" i="0" sz="1800" u="none" cap="none" strike="noStrike">
                <a:solidFill>
                  <a:schemeClr val="dk1"/>
                </a:solidFill>
                <a:latin typeface="Arial"/>
                <a:ea typeface="Arial"/>
                <a:cs typeface="Arial"/>
                <a:sym typeface="Arial"/>
              </a:defRPr>
            </a:lvl2pPr>
            <a:lvl3pPr indent="0" lvl="2" marL="0" marR="0" rtl="0" algn="l">
              <a:spcBef>
                <a:spcPts val="0"/>
              </a:spcBef>
              <a:spcAft>
                <a:spcPts val="0"/>
              </a:spcAft>
              <a:buNone/>
              <a:defRPr b="1" i="0" sz="1800" u="none" cap="none" strike="noStrike">
                <a:solidFill>
                  <a:schemeClr val="dk1"/>
                </a:solidFill>
                <a:latin typeface="Arial"/>
                <a:ea typeface="Arial"/>
                <a:cs typeface="Arial"/>
                <a:sym typeface="Arial"/>
              </a:defRPr>
            </a:lvl3pPr>
            <a:lvl4pPr indent="0" lvl="3" marL="0" marR="0" rtl="0" algn="l">
              <a:spcBef>
                <a:spcPts val="0"/>
              </a:spcBef>
              <a:spcAft>
                <a:spcPts val="0"/>
              </a:spcAft>
              <a:buNone/>
              <a:defRPr b="1" i="0" sz="1800" u="none" cap="none" strike="noStrike">
                <a:solidFill>
                  <a:schemeClr val="dk1"/>
                </a:solidFill>
                <a:latin typeface="Arial"/>
                <a:ea typeface="Arial"/>
                <a:cs typeface="Arial"/>
                <a:sym typeface="Arial"/>
              </a:defRPr>
            </a:lvl4pPr>
            <a:lvl5pPr indent="0" lvl="4" marL="0" marR="0" rtl="0" algn="l">
              <a:spcBef>
                <a:spcPts val="0"/>
              </a:spcBef>
              <a:spcAft>
                <a:spcPts val="0"/>
              </a:spcAft>
              <a:buNone/>
              <a:defRPr b="1" i="0" sz="1800" u="none" cap="none" strike="noStrike">
                <a:solidFill>
                  <a:schemeClr val="dk1"/>
                </a:solidFill>
                <a:latin typeface="Arial"/>
                <a:ea typeface="Arial"/>
                <a:cs typeface="Arial"/>
                <a:sym typeface="Arial"/>
              </a:defRPr>
            </a:lvl5pPr>
            <a:lvl6pPr indent="0" lvl="5" marL="0" marR="0" rtl="0" algn="l">
              <a:spcBef>
                <a:spcPts val="0"/>
              </a:spcBef>
              <a:spcAft>
                <a:spcPts val="0"/>
              </a:spcAft>
              <a:buNone/>
              <a:defRPr b="1" i="0" sz="1800" u="none" cap="none" strike="noStrike">
                <a:solidFill>
                  <a:schemeClr val="dk1"/>
                </a:solidFill>
                <a:latin typeface="Arial"/>
                <a:ea typeface="Arial"/>
                <a:cs typeface="Arial"/>
                <a:sym typeface="Arial"/>
              </a:defRPr>
            </a:lvl6pPr>
            <a:lvl7pPr indent="0" lvl="6" marL="0" marR="0" rtl="0" algn="l">
              <a:spcBef>
                <a:spcPts val="0"/>
              </a:spcBef>
              <a:spcAft>
                <a:spcPts val="0"/>
              </a:spcAft>
              <a:buNone/>
              <a:defRPr b="1" i="0" sz="1800" u="none" cap="none" strike="noStrike">
                <a:solidFill>
                  <a:schemeClr val="dk1"/>
                </a:solidFill>
                <a:latin typeface="Arial"/>
                <a:ea typeface="Arial"/>
                <a:cs typeface="Arial"/>
                <a:sym typeface="Arial"/>
              </a:defRPr>
            </a:lvl7pPr>
            <a:lvl8pPr indent="0" lvl="7" marL="0" marR="0" rtl="0" algn="l">
              <a:spcBef>
                <a:spcPts val="0"/>
              </a:spcBef>
              <a:spcAft>
                <a:spcPts val="0"/>
              </a:spcAft>
              <a:buNone/>
              <a:defRPr b="1" i="0" sz="1800" u="none" cap="none" strike="noStrike">
                <a:solidFill>
                  <a:schemeClr val="dk1"/>
                </a:solidFill>
                <a:latin typeface="Arial"/>
                <a:ea typeface="Arial"/>
                <a:cs typeface="Arial"/>
                <a:sym typeface="Arial"/>
              </a:defRPr>
            </a:lvl8pPr>
            <a:lvl9pPr indent="0" lvl="8" marL="0" marR="0" rtl="0" algn="l">
              <a:spcBef>
                <a:spcPts val="0"/>
              </a:spcBef>
              <a:spcAft>
                <a:spcPts val="0"/>
              </a:spcAft>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31"/>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31"/>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0" name="Shape 40"/>
        <p:cNvGrpSpPr/>
        <p:nvPr/>
      </p:nvGrpSpPr>
      <p:grpSpPr>
        <a:xfrm>
          <a:off x="0" y="0"/>
          <a:ext cx="0" cy="0"/>
          <a:chOff x="0" y="0"/>
          <a:chExt cx="0" cy="0"/>
        </a:xfrm>
      </p:grpSpPr>
      <p:sp>
        <p:nvSpPr>
          <p:cNvPr id="41" name="Google Shape;41;p32"/>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32"/>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43" name="Shape 43"/>
        <p:cNvGrpSpPr/>
        <p:nvPr/>
      </p:nvGrpSpPr>
      <p:grpSpPr>
        <a:xfrm>
          <a:off x="0" y="0"/>
          <a:ext cx="0" cy="0"/>
          <a:chOff x="0" y="0"/>
          <a:chExt cx="0" cy="0"/>
        </a:xfrm>
      </p:grpSpPr>
      <p:sp>
        <p:nvSpPr>
          <p:cNvPr id="44" name="Google Shape;44;p33"/>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33"/>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46" name="Google Shape;46;p33"/>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0.jp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27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27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27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27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27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27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27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27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2700" u="none" cap="none" strike="noStrike">
                <a:solidFill>
                  <a:srgbClr val="002C5F"/>
                </a:solidFill>
                <a:latin typeface="Arial"/>
                <a:ea typeface="Arial"/>
                <a:cs typeface="Arial"/>
                <a:sym typeface="Arial"/>
              </a:defRPr>
            </a:lvl9pPr>
          </a:lstStyle>
          <a:p/>
        </p:txBody>
      </p:sp>
      <p:cxnSp>
        <p:nvCxnSpPr>
          <p:cNvPr id="11" name="Google Shape;11;p26"/>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26"/>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26"/>
          <p:cNvPicPr preferRelativeResize="0"/>
          <p:nvPr/>
        </p:nvPicPr>
        <p:blipFill rotWithShape="1">
          <a:blip r:embed="rId1">
            <a:alphaModFix/>
          </a:blip>
          <a:srcRect b="0" l="0" r="0" t="0"/>
          <a:stretch/>
        </p:blipFill>
        <p:spPr>
          <a:xfrm>
            <a:off x="761999" y="6307042"/>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 name="Shape 28"/>
        <p:cNvGrpSpPr/>
        <p:nvPr/>
      </p:nvGrpSpPr>
      <p:grpSpPr>
        <a:xfrm>
          <a:off x="0" y="0"/>
          <a:ext cx="0" cy="0"/>
          <a:chOff x="0" y="0"/>
          <a:chExt cx="0" cy="0"/>
        </a:xfrm>
      </p:grpSpPr>
      <p:sp>
        <p:nvSpPr>
          <p:cNvPr id="29" name="Google Shape;29;p29"/>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30" name="Google Shape;30;p29"/>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31" name="Google Shape;31;p29"/>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32" name="Google Shape;32;p29"/>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www.pbs.org/wgbh/frontline/article/boeing-former-pilot-indicted-mark-forkner-pleads-not-guilty/" TargetMode="External"/><Relationship Id="rId4" Type="http://schemas.openxmlformats.org/officeDocument/2006/relationships/hyperlink" Target="https://apnews.com/article/business-texas-indictments-federal-aviation-administration-b5f4e0a403bc829cfdf249c80c8e4119"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
          <p:cNvSpPr txBox="1"/>
          <p:nvPr/>
        </p:nvSpPr>
        <p:spPr>
          <a:xfrm>
            <a:off x="180000" y="864000"/>
            <a:ext cx="8820000" cy="14400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99"/>
              </a:buClr>
              <a:buSzPts val="3200"/>
              <a:buFont typeface="Calibri"/>
              <a:buNone/>
            </a:pPr>
            <a:r>
              <a:rPr b="1" i="1" lang="en-US" sz="3200" u="none" cap="none" strike="noStrike">
                <a:solidFill>
                  <a:srgbClr val="000099"/>
                </a:solidFill>
                <a:latin typeface="Calibri"/>
                <a:ea typeface="Calibri"/>
                <a:cs typeface="Calibri"/>
                <a:sym typeface="Calibri"/>
              </a:rPr>
              <a:t>On Becoming a </a:t>
            </a:r>
            <a:br>
              <a:rPr b="1" i="1" lang="en-US" sz="3200" u="none" cap="none" strike="noStrike">
                <a:solidFill>
                  <a:srgbClr val="000099"/>
                </a:solidFill>
                <a:latin typeface="Calibri"/>
                <a:ea typeface="Calibri"/>
                <a:cs typeface="Calibri"/>
                <a:sym typeface="Calibri"/>
              </a:rPr>
            </a:br>
            <a:r>
              <a:rPr b="1" i="1" lang="en-US" sz="3200" u="none" cap="none" strike="noStrike">
                <a:solidFill>
                  <a:srgbClr val="000099"/>
                </a:solidFill>
                <a:latin typeface="Calibri"/>
                <a:ea typeface="Calibri"/>
                <a:cs typeface="Calibri"/>
                <a:sym typeface="Calibri"/>
              </a:rPr>
              <a:t>Leader in Risk Management</a:t>
            </a:r>
            <a:endParaRPr/>
          </a:p>
          <a:p>
            <a:pPr indent="0" lvl="0" marL="0" marR="0" rtl="0" algn="ctr">
              <a:lnSpc>
                <a:spcPct val="100000"/>
              </a:lnSpc>
              <a:spcBef>
                <a:spcPts val="0"/>
              </a:spcBef>
              <a:spcAft>
                <a:spcPts val="0"/>
              </a:spcAft>
              <a:buClr>
                <a:srgbClr val="AA9C8F"/>
              </a:buClr>
              <a:buSzPts val="3200"/>
              <a:buFont typeface="Arial"/>
              <a:buNone/>
            </a:pPr>
            <a:r>
              <a:rPr b="1" i="0" lang="en-US" sz="3200" u="none" cap="none" strike="noStrike">
                <a:solidFill>
                  <a:srgbClr val="000000"/>
                </a:solidFill>
                <a:latin typeface="Arial"/>
                <a:ea typeface="Arial"/>
                <a:cs typeface="Arial"/>
                <a:sym typeface="Arial"/>
              </a:rPr>
              <a:t>ENGG404 - Lecture</a:t>
            </a:r>
            <a:endParaRPr b="1" i="1" sz="3200" u="none" cap="none" strike="noStrike">
              <a:solidFill>
                <a:srgbClr val="000099"/>
              </a:solidFill>
              <a:latin typeface="Calibri"/>
              <a:ea typeface="Calibri"/>
              <a:cs typeface="Calibri"/>
              <a:sym typeface="Calibri"/>
            </a:endParaRPr>
          </a:p>
        </p:txBody>
      </p:sp>
      <p:sp>
        <p:nvSpPr>
          <p:cNvPr id="52" name="Google Shape;52;p1"/>
          <p:cNvSpPr txBox="1"/>
          <p:nvPr>
            <p:ph idx="1" type="subTitle"/>
          </p:nvPr>
        </p:nvSpPr>
        <p:spPr>
          <a:xfrm>
            <a:off x="180000" y="2412000"/>
            <a:ext cx="8820000" cy="18000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Case 13: The Imperative for Leadership and the Boeing 737 MAX MCAS Failure Loss Incidents 2018/2019 </a:t>
            </a:r>
            <a:endParaRPr b="1" i="0" sz="3200" u="none" cap="none" strike="noStrike">
              <a:solidFill>
                <a:schemeClr val="dk2"/>
              </a:solidFill>
              <a:latin typeface="Arial"/>
              <a:ea typeface="Arial"/>
              <a:cs typeface="Arial"/>
              <a:sym typeface="Arial"/>
            </a:endParaRPr>
          </a:p>
        </p:txBody>
      </p:sp>
      <p:sp>
        <p:nvSpPr>
          <p:cNvPr id="53" name="Google Shape;53;p1"/>
          <p:cNvSpPr txBox="1"/>
          <p:nvPr/>
        </p:nvSpPr>
        <p:spPr>
          <a:xfrm>
            <a:off x="135000" y="108000"/>
            <a:ext cx="991800" cy="540000"/>
          </a:xfrm>
          <a:prstGeom prst="rect">
            <a:avLst/>
          </a:prstGeom>
          <a:solidFill>
            <a:srgbClr val="FFFF00"/>
          </a:solidFill>
          <a:ln cap="flat" cmpd="sng" w="12700">
            <a:solidFill>
              <a:schemeClr val="dk1"/>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Fundamentals of Risk Management</a:t>
            </a:r>
            <a:endParaRPr b="0" i="0" sz="1000" u="none" cap="none" strike="noStrike">
              <a:solidFill>
                <a:srgbClr val="000000"/>
              </a:solidFill>
              <a:latin typeface="Calibri"/>
              <a:ea typeface="Calibri"/>
              <a:cs typeface="Calibri"/>
              <a:sym typeface="Calibri"/>
            </a:endParaRPr>
          </a:p>
        </p:txBody>
      </p:sp>
      <p:sp>
        <p:nvSpPr>
          <p:cNvPr id="54" name="Google Shape;54;p1"/>
          <p:cNvSpPr txBox="1"/>
          <p:nvPr/>
        </p:nvSpPr>
        <p:spPr>
          <a:xfrm>
            <a:off x="1215000" y="108000"/>
            <a:ext cx="900000" cy="540000"/>
          </a:xfrm>
          <a:prstGeom prst="rect">
            <a:avLst/>
          </a:prstGeom>
          <a:solidFill>
            <a:srgbClr val="FFFFFF"/>
          </a:solidFill>
          <a:ln cap="flat" cmpd="sng" w="12700">
            <a:solidFill>
              <a:schemeClr val="dk1"/>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RM System, Process, &amp; Program</a:t>
            </a:r>
            <a:endParaRPr/>
          </a:p>
        </p:txBody>
      </p:sp>
      <p:sp>
        <p:nvSpPr>
          <p:cNvPr id="55" name="Google Shape;55;p1"/>
          <p:cNvSpPr txBox="1"/>
          <p:nvPr/>
        </p:nvSpPr>
        <p:spPr>
          <a:xfrm>
            <a:off x="7695000" y="108000"/>
            <a:ext cx="991800" cy="540000"/>
          </a:xfrm>
          <a:prstGeom prst="rect">
            <a:avLst/>
          </a:prstGeom>
          <a:solidFill>
            <a:srgbClr val="FFFF00"/>
          </a:solidFill>
          <a:ln cap="flat" cmpd="sng" w="12700">
            <a:solidFill>
              <a:schemeClr val="dk1"/>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Applications &amp; Perspectives</a:t>
            </a:r>
            <a:endParaRPr/>
          </a:p>
        </p:txBody>
      </p:sp>
      <p:sp>
        <p:nvSpPr>
          <p:cNvPr id="56" name="Google Shape;56;p1"/>
          <p:cNvSpPr txBox="1"/>
          <p:nvPr/>
        </p:nvSpPr>
        <p:spPr>
          <a:xfrm>
            <a:off x="4455000" y="108000"/>
            <a:ext cx="900000" cy="540000"/>
          </a:xfrm>
          <a:prstGeom prst="rect">
            <a:avLst/>
          </a:prstGeom>
          <a:solidFill>
            <a:srgbClr val="FFFFFF"/>
          </a:solidFill>
          <a:ln cap="flat" cmpd="sng" w="12700">
            <a:solidFill>
              <a:schemeClr val="dk1"/>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People &amp; Organizations</a:t>
            </a:r>
            <a:endParaRPr/>
          </a:p>
        </p:txBody>
      </p:sp>
      <p:sp>
        <p:nvSpPr>
          <p:cNvPr id="57" name="Google Shape;57;p1"/>
          <p:cNvSpPr txBox="1"/>
          <p:nvPr/>
        </p:nvSpPr>
        <p:spPr>
          <a:xfrm>
            <a:off x="2295000" y="108000"/>
            <a:ext cx="900000" cy="540000"/>
          </a:xfrm>
          <a:prstGeom prst="rect">
            <a:avLst/>
          </a:prstGeom>
          <a:solidFill>
            <a:srgbClr val="FFFFFF"/>
          </a:solidFill>
          <a:ln cap="flat" cmpd="sng" w="12700">
            <a:solidFill>
              <a:schemeClr val="dk1"/>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Incident Investigation &amp; Analysis</a:t>
            </a:r>
            <a:endParaRPr/>
          </a:p>
        </p:txBody>
      </p:sp>
      <p:sp>
        <p:nvSpPr>
          <p:cNvPr id="58" name="Google Shape;58;p1"/>
          <p:cNvSpPr txBox="1"/>
          <p:nvPr/>
        </p:nvSpPr>
        <p:spPr>
          <a:xfrm>
            <a:off x="3375000" y="108000"/>
            <a:ext cx="810000" cy="540000"/>
          </a:xfrm>
          <a:prstGeom prst="rect">
            <a:avLst/>
          </a:prstGeom>
          <a:solidFill>
            <a:srgbClr val="FFFFFF"/>
          </a:solidFill>
          <a:ln cap="flat" cmpd="sng" w="12700">
            <a:solidFill>
              <a:schemeClr val="dk1"/>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RM Tools &amp; Challenges</a:t>
            </a:r>
            <a:endParaRPr/>
          </a:p>
        </p:txBody>
      </p:sp>
      <p:sp>
        <p:nvSpPr>
          <p:cNvPr id="59" name="Google Shape;59;p1"/>
          <p:cNvSpPr txBox="1"/>
          <p:nvPr/>
        </p:nvSpPr>
        <p:spPr>
          <a:xfrm>
            <a:off x="6615000" y="108000"/>
            <a:ext cx="810000" cy="540000"/>
          </a:xfrm>
          <a:prstGeom prst="rect">
            <a:avLst/>
          </a:prstGeom>
          <a:solidFill>
            <a:srgbClr val="FFFF00"/>
          </a:solidFill>
          <a:ln cap="flat" cmpd="sng" w="12700">
            <a:solidFill>
              <a:schemeClr val="dk1"/>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Leadership in RM</a:t>
            </a:r>
            <a:endParaRPr/>
          </a:p>
        </p:txBody>
      </p:sp>
      <p:sp>
        <p:nvSpPr>
          <p:cNvPr id="60" name="Google Shape;60;p1"/>
          <p:cNvSpPr txBox="1"/>
          <p:nvPr/>
        </p:nvSpPr>
        <p:spPr>
          <a:xfrm>
            <a:off x="5535000" y="108000"/>
            <a:ext cx="900000" cy="540000"/>
          </a:xfrm>
          <a:prstGeom prst="rect">
            <a:avLst/>
          </a:prstGeom>
          <a:solidFill>
            <a:srgbClr val="FFFF00"/>
          </a:solidFill>
          <a:ln cap="flat" cmpd="sng" w="12700">
            <a:solidFill>
              <a:schemeClr val="dk1"/>
            </a:solidFill>
            <a:prstDash val="solid"/>
            <a:miter lim="800000"/>
            <a:headEnd len="sm" w="sm" type="none"/>
            <a:tailEnd len="sm" w="sm" type="none"/>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RM as Applied in Industry</a:t>
            </a:r>
            <a:endParaRPr/>
          </a:p>
        </p:txBody>
      </p:sp>
      <p:pic>
        <p:nvPicPr>
          <p:cNvPr id="61" name="Google Shape;61;p1"/>
          <p:cNvPicPr preferRelativeResize="0"/>
          <p:nvPr/>
        </p:nvPicPr>
        <p:blipFill rotWithShape="1">
          <a:blip r:embed="rId3">
            <a:alphaModFix/>
          </a:blip>
          <a:srcRect b="0" l="0" r="0" t="0"/>
          <a:stretch/>
        </p:blipFill>
        <p:spPr>
          <a:xfrm>
            <a:off x="180000" y="4320000"/>
            <a:ext cx="1800000" cy="1800000"/>
          </a:xfrm>
          <a:prstGeom prst="rect">
            <a:avLst/>
          </a:prstGeom>
          <a:noFill/>
          <a:ln>
            <a:noFill/>
          </a:ln>
        </p:spPr>
      </p:pic>
      <p:pic>
        <p:nvPicPr>
          <p:cNvPr descr="Introduction to Sociology - 2013 - The Collaboratory" id="62" name="Google Shape;62;p1"/>
          <p:cNvPicPr preferRelativeResize="0"/>
          <p:nvPr/>
        </p:nvPicPr>
        <p:blipFill rotWithShape="1">
          <a:blip r:embed="rId4">
            <a:alphaModFix/>
          </a:blip>
          <a:srcRect b="0" l="0" r="0" t="0"/>
          <a:stretch/>
        </p:blipFill>
        <p:spPr>
          <a:xfrm>
            <a:off x="6200313" y="4320000"/>
            <a:ext cx="2638887" cy="1800000"/>
          </a:xfrm>
          <a:prstGeom prst="rect">
            <a:avLst/>
          </a:prstGeom>
          <a:noFill/>
          <a:ln>
            <a:noFill/>
          </a:ln>
        </p:spPr>
      </p:pic>
      <p:cxnSp>
        <p:nvCxnSpPr>
          <p:cNvPr id="63" name="Google Shape;63;p1"/>
          <p:cNvCxnSpPr>
            <a:stCxn id="53" idx="3"/>
            <a:endCxn id="54" idx="1"/>
          </p:cNvCxnSpPr>
          <p:nvPr/>
        </p:nvCxnSpPr>
        <p:spPr>
          <a:xfrm>
            <a:off x="1126800" y="378000"/>
            <a:ext cx="88200" cy="0"/>
          </a:xfrm>
          <a:prstGeom prst="straightConnector1">
            <a:avLst/>
          </a:prstGeom>
          <a:noFill/>
          <a:ln cap="flat" cmpd="sng" w="28575">
            <a:solidFill>
              <a:schemeClr val="dk1"/>
            </a:solidFill>
            <a:prstDash val="solid"/>
            <a:round/>
            <a:headEnd len="sm" w="sm" type="none"/>
            <a:tailEnd len="med" w="med" type="triangle"/>
          </a:ln>
        </p:spPr>
      </p:cxnSp>
      <p:cxnSp>
        <p:nvCxnSpPr>
          <p:cNvPr id="64" name="Google Shape;64;p1"/>
          <p:cNvCxnSpPr>
            <a:stCxn id="54" idx="3"/>
            <a:endCxn id="57" idx="1"/>
          </p:cNvCxnSpPr>
          <p:nvPr/>
        </p:nvCxnSpPr>
        <p:spPr>
          <a:xfrm>
            <a:off x="2115000" y="378000"/>
            <a:ext cx="180000" cy="0"/>
          </a:xfrm>
          <a:prstGeom prst="straightConnector1">
            <a:avLst/>
          </a:prstGeom>
          <a:noFill/>
          <a:ln cap="flat" cmpd="sng" w="28575">
            <a:solidFill>
              <a:schemeClr val="dk1"/>
            </a:solidFill>
            <a:prstDash val="solid"/>
            <a:round/>
            <a:headEnd len="sm" w="sm" type="none"/>
            <a:tailEnd len="med" w="med" type="triangle"/>
          </a:ln>
        </p:spPr>
      </p:cxnSp>
      <p:cxnSp>
        <p:nvCxnSpPr>
          <p:cNvPr id="65" name="Google Shape;65;p1"/>
          <p:cNvCxnSpPr>
            <a:stCxn id="57" idx="3"/>
            <a:endCxn id="58" idx="1"/>
          </p:cNvCxnSpPr>
          <p:nvPr/>
        </p:nvCxnSpPr>
        <p:spPr>
          <a:xfrm>
            <a:off x="3195000" y="378000"/>
            <a:ext cx="180000" cy="0"/>
          </a:xfrm>
          <a:prstGeom prst="straightConnector1">
            <a:avLst/>
          </a:prstGeom>
          <a:noFill/>
          <a:ln cap="flat" cmpd="sng" w="28575">
            <a:solidFill>
              <a:schemeClr val="dk1"/>
            </a:solidFill>
            <a:prstDash val="solid"/>
            <a:round/>
            <a:headEnd len="sm" w="sm" type="none"/>
            <a:tailEnd len="med" w="med" type="triangle"/>
          </a:ln>
        </p:spPr>
      </p:cxnSp>
      <p:cxnSp>
        <p:nvCxnSpPr>
          <p:cNvPr id="66" name="Google Shape;66;p1"/>
          <p:cNvCxnSpPr>
            <a:stCxn id="58" idx="3"/>
            <a:endCxn id="56" idx="1"/>
          </p:cNvCxnSpPr>
          <p:nvPr/>
        </p:nvCxnSpPr>
        <p:spPr>
          <a:xfrm>
            <a:off x="4185000" y="378000"/>
            <a:ext cx="270000" cy="0"/>
          </a:xfrm>
          <a:prstGeom prst="straightConnector1">
            <a:avLst/>
          </a:prstGeom>
          <a:noFill/>
          <a:ln cap="flat" cmpd="sng" w="28575">
            <a:solidFill>
              <a:schemeClr val="dk1"/>
            </a:solidFill>
            <a:prstDash val="solid"/>
            <a:round/>
            <a:headEnd len="sm" w="sm" type="none"/>
            <a:tailEnd len="med" w="med" type="triangle"/>
          </a:ln>
        </p:spPr>
      </p:cxnSp>
      <p:cxnSp>
        <p:nvCxnSpPr>
          <p:cNvPr id="67" name="Google Shape;67;p1"/>
          <p:cNvCxnSpPr>
            <a:stCxn id="56" idx="3"/>
            <a:endCxn id="60" idx="1"/>
          </p:cNvCxnSpPr>
          <p:nvPr/>
        </p:nvCxnSpPr>
        <p:spPr>
          <a:xfrm>
            <a:off x="5355000" y="378000"/>
            <a:ext cx="180000" cy="0"/>
          </a:xfrm>
          <a:prstGeom prst="straightConnector1">
            <a:avLst/>
          </a:prstGeom>
          <a:noFill/>
          <a:ln cap="flat" cmpd="sng" w="28575">
            <a:solidFill>
              <a:schemeClr val="dk1"/>
            </a:solidFill>
            <a:prstDash val="solid"/>
            <a:round/>
            <a:headEnd len="sm" w="sm" type="none"/>
            <a:tailEnd len="med" w="med" type="triangle"/>
          </a:ln>
        </p:spPr>
      </p:cxnSp>
      <p:cxnSp>
        <p:nvCxnSpPr>
          <p:cNvPr id="68" name="Google Shape;68;p1"/>
          <p:cNvCxnSpPr>
            <a:stCxn id="60" idx="3"/>
            <a:endCxn id="59" idx="1"/>
          </p:cNvCxnSpPr>
          <p:nvPr/>
        </p:nvCxnSpPr>
        <p:spPr>
          <a:xfrm>
            <a:off x="6435000" y="378000"/>
            <a:ext cx="180000" cy="0"/>
          </a:xfrm>
          <a:prstGeom prst="straightConnector1">
            <a:avLst/>
          </a:prstGeom>
          <a:noFill/>
          <a:ln cap="flat" cmpd="sng" w="28575">
            <a:solidFill>
              <a:schemeClr val="dk1"/>
            </a:solidFill>
            <a:prstDash val="solid"/>
            <a:round/>
            <a:headEnd len="sm" w="sm" type="none"/>
            <a:tailEnd len="med" w="med" type="triangle"/>
          </a:ln>
        </p:spPr>
      </p:cxnSp>
      <p:cxnSp>
        <p:nvCxnSpPr>
          <p:cNvPr id="69" name="Google Shape;69;p1"/>
          <p:cNvCxnSpPr>
            <a:stCxn id="59" idx="3"/>
            <a:endCxn id="55" idx="1"/>
          </p:cNvCxnSpPr>
          <p:nvPr/>
        </p:nvCxnSpPr>
        <p:spPr>
          <a:xfrm>
            <a:off x="7425000" y="378000"/>
            <a:ext cx="270000" cy="0"/>
          </a:xfrm>
          <a:prstGeom prst="straightConnector1">
            <a:avLst/>
          </a:prstGeom>
          <a:noFill/>
          <a:ln cap="flat" cmpd="sng" w="28575">
            <a:solidFill>
              <a:schemeClr val="dk1"/>
            </a:solidFill>
            <a:prstDash val="solid"/>
            <a:round/>
            <a:headEnd len="sm" w="sm"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Argue in favour of why leadership in risk management is critical to success of the organization:</a:t>
            </a:r>
            <a:endParaRPr b="0" i="0" sz="18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need for management leadership, commitment, and accountability at all levels, and </a:t>
            </a:r>
            <a:endParaRPr b="0" i="0" sz="18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Upholding the underlying safety values for what drives those needs.</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Critique management leadership (or lack thereof) in a major organization.</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Develop your personal commitment to safety, and carry this lesson forward especially when you are responsible for creating the right safety culture. “We, engineers and leaders in risk management, are in the business of risk management and we must never lose the imperative for safety.”</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Further develop latent cause statements.</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Create a recommendation for action for a latent cause.  </a:t>
            </a:r>
            <a:endParaRPr/>
          </a:p>
          <a:p>
            <a:pPr indent="-317700" lvl="0" marL="432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76" name="Google Shape;76;p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Learning Outcomes:</a:t>
            </a:r>
            <a:endParaRPr/>
          </a:p>
        </p:txBody>
      </p:sp>
      <p:sp>
        <p:nvSpPr>
          <p:cNvPr id="77" name="Google Shape;77;p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8" name="Google Shape;78;p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Competitive Pressures:</a:t>
            </a:r>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Boeing (an American company) was under competitive pressure from Airbus (a European consortium) to deliver a new 737 plane. </a:t>
            </a:r>
            <a:endParaRPr b="0" i="0" sz="1800" u="none" cap="none" strike="noStrike">
              <a:solidFill>
                <a:srgbClr val="000000"/>
              </a:solidFill>
              <a:latin typeface="Arial"/>
              <a:ea typeface="Arial"/>
              <a:cs typeface="Arial"/>
              <a:sym typeface="Arial"/>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This pressure caused Boeing and the Federal Aviation Administration (FAA, a US Government agency) to rush the approval process to push the new 737 MAX model to the market.</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Boeing decided to re-design the 737, as re-designing is faster, requires less training, requires a less thorough review and approval process by the FAA, is </a:t>
            </a:r>
            <a:r>
              <a:rPr b="0" i="0" lang="en-US" sz="1800" u="sng" cap="none" strike="noStrike">
                <a:solidFill>
                  <a:srgbClr val="000000"/>
                </a:solidFill>
                <a:latin typeface="Arial"/>
                <a:ea typeface="Arial"/>
                <a:cs typeface="Arial"/>
                <a:sym typeface="Arial"/>
              </a:rPr>
              <a:t>more cost effective</a:t>
            </a:r>
            <a:r>
              <a:rPr b="0" i="0" lang="en-US" sz="1800" u="none" cap="none" strike="noStrike">
                <a:solidFill>
                  <a:srgbClr val="000000"/>
                </a:solidFill>
                <a:latin typeface="Arial"/>
                <a:ea typeface="Arial"/>
                <a:cs typeface="Arial"/>
                <a:sym typeface="Arial"/>
              </a:rPr>
              <a:t> than designing a new aircraft, and as a re-design, costly upgrade training would be avoided, ~$1MM per jet.</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However, test pilots and engineers noticed the tendency for the re-designed aircraft to fly “nose-up” with increased potential to stall;</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This was caused by the relocation of the engines to the front of the wing </a:t>
            </a:r>
            <a:endParaRPr b="0" i="0" sz="1800" u="none" cap="none" strike="noStrike">
              <a:solidFill>
                <a:srgbClr val="000000"/>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Therefore, the Maneuvering Characteristics Augmentation System (MCAS) was installed. </a:t>
            </a:r>
            <a:endParaRPr b="0" i="0" sz="1800" u="none" cap="none" strike="noStrike">
              <a:solidFill>
                <a:srgbClr val="000000"/>
              </a:solidFill>
              <a:latin typeface="Arial"/>
              <a:ea typeface="Arial"/>
              <a:cs typeface="Arial"/>
              <a:sym typeface="Arial"/>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This was done to allow pilots to easily adapt flight characteristics of the jet to the new location of the engine.</a:t>
            </a:r>
            <a:endParaRPr b="0" i="0" sz="1800" u="none" cap="none" strike="noStrike">
              <a:solidFill>
                <a:srgbClr val="000000"/>
              </a:solidFill>
              <a:latin typeface="Arial"/>
              <a:ea typeface="Arial"/>
              <a:cs typeface="Arial"/>
              <a:sym typeface="Arial"/>
            </a:endParaRPr>
          </a:p>
        </p:txBody>
      </p:sp>
      <p:sp>
        <p:nvSpPr>
          <p:cNvPr id="85" name="Google Shape;85;p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Background:</a:t>
            </a:r>
            <a:endParaRPr/>
          </a:p>
        </p:txBody>
      </p:sp>
      <p:sp>
        <p:nvSpPr>
          <p:cNvPr id="86" name="Google Shape;86;p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7" name="Google Shape;87;p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Design Philosophy:</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MCAS was implemented to mimic the operation and handling of previous 737 models, thus allowing for easier transition to the 737 MAX.</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MCAS was not extensively tested on the 737 MAX. It was primarily used for military applications, meaning it needed modification and testing before being used in commercial airlines.</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Boeing </a:t>
            </a:r>
            <a:r>
              <a:rPr b="0" i="0" lang="en-US" sz="1800" u="sng" cap="none" strike="noStrike">
                <a:solidFill>
                  <a:srgbClr val="000000"/>
                </a:solidFill>
                <a:latin typeface="Arial"/>
                <a:ea typeface="Arial"/>
                <a:cs typeface="Arial"/>
                <a:sym typeface="Arial"/>
              </a:rPr>
              <a:t>chose to not include the MCAS</a:t>
            </a:r>
            <a:r>
              <a:rPr b="0" i="0" lang="en-US" sz="1800" u="none" cap="none" strike="noStrike">
                <a:solidFill>
                  <a:srgbClr val="000000"/>
                </a:solidFill>
                <a:latin typeface="Arial"/>
                <a:ea typeface="Arial"/>
                <a:cs typeface="Arial"/>
                <a:sym typeface="Arial"/>
              </a:rPr>
              <a:t> in pilot manuals and mandatory training. </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94" name="Google Shape;94;p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Background:</a:t>
            </a:r>
            <a:endParaRPr/>
          </a:p>
        </p:txBody>
      </p:sp>
      <p:sp>
        <p:nvSpPr>
          <p:cNvPr id="95" name="Google Shape;95;p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96" name="Google Shape;96;p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pic>
        <p:nvPicPr>
          <p:cNvPr id="97" name="Google Shape;97;p4"/>
          <p:cNvPicPr preferRelativeResize="0"/>
          <p:nvPr/>
        </p:nvPicPr>
        <p:blipFill rotWithShape="1">
          <a:blip r:embed="rId3">
            <a:alphaModFix/>
          </a:blip>
          <a:srcRect b="0" l="0" r="0" t="0"/>
          <a:stretch/>
        </p:blipFill>
        <p:spPr>
          <a:xfrm>
            <a:off x="401195" y="3429000"/>
            <a:ext cx="4442060" cy="2691000"/>
          </a:xfrm>
          <a:prstGeom prst="rect">
            <a:avLst/>
          </a:prstGeom>
          <a:noFill/>
          <a:ln>
            <a:noFill/>
          </a:ln>
        </p:spPr>
      </p:pic>
      <p:pic>
        <p:nvPicPr>
          <p:cNvPr id="98" name="Google Shape;98;p4"/>
          <p:cNvPicPr preferRelativeResize="0"/>
          <p:nvPr/>
        </p:nvPicPr>
        <p:blipFill rotWithShape="1">
          <a:blip r:embed="rId4">
            <a:alphaModFix/>
          </a:blip>
          <a:srcRect b="0" l="0" r="0" t="0"/>
          <a:stretch/>
        </p:blipFill>
        <p:spPr>
          <a:xfrm>
            <a:off x="4674964" y="3429000"/>
            <a:ext cx="3935636" cy="2691000"/>
          </a:xfrm>
          <a:prstGeom prst="rect">
            <a:avLst/>
          </a:prstGeom>
          <a:noFill/>
          <a:ln>
            <a:noFill/>
          </a:ln>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Boeing assumed the pilots would be able to mitigate any potential malfunction with the plane, even though MCAS was not included in pilot manuals and mandatory training. </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Boeing engineers decided to </a:t>
            </a:r>
            <a:r>
              <a:rPr b="0" i="0" lang="en-US" sz="1800" u="sng" cap="none" strike="noStrike">
                <a:solidFill>
                  <a:srgbClr val="000000"/>
                </a:solidFill>
                <a:latin typeface="Arial"/>
                <a:ea typeface="Arial"/>
                <a:cs typeface="Arial"/>
                <a:sym typeface="Arial"/>
              </a:rPr>
              <a:t>install a single sensor</a:t>
            </a:r>
            <a:r>
              <a:rPr b="0" i="0" lang="en-US" sz="1800" u="none" cap="none" strike="noStrike">
                <a:solidFill>
                  <a:srgbClr val="000000"/>
                </a:solidFill>
                <a:latin typeface="Arial"/>
                <a:ea typeface="Arial"/>
                <a:cs typeface="Arial"/>
                <a:sym typeface="Arial"/>
              </a:rPr>
              <a:t> to gather data on how the aircraft was angled during flight (AOA sensor). </a:t>
            </a:r>
            <a:r>
              <a:rPr b="0" i="0" lang="en-US" sz="1800" u="sng" cap="none" strike="noStrike">
                <a:solidFill>
                  <a:srgbClr val="000000"/>
                </a:solidFill>
                <a:latin typeface="Arial"/>
                <a:ea typeface="Arial"/>
                <a:cs typeface="Arial"/>
                <a:sym typeface="Arial"/>
              </a:rPr>
              <a:t>Two sensors are commonly used</a:t>
            </a:r>
            <a:r>
              <a:rPr b="0" i="0" lang="en-US" sz="1800" u="none" cap="none" strike="noStrike">
                <a:solidFill>
                  <a:srgbClr val="000000"/>
                </a:solidFill>
                <a:latin typeface="Arial"/>
                <a:ea typeface="Arial"/>
                <a:cs typeface="Arial"/>
                <a:sym typeface="Arial"/>
              </a:rPr>
              <a:t> to reduce the chance of error in reading the data. </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When the AOA sensor malfunctioned on takeoff, engaging the MCAS system (pushing the plane’s nose down), the pilots did not know the MCAS system was being activated and did not know how to respond.</a:t>
            </a:r>
            <a:endParaRPr b="0" i="0" sz="1800" u="none" cap="none" strike="noStrike">
              <a:solidFill>
                <a:srgbClr val="000000"/>
              </a:solidFill>
              <a:latin typeface="Arial"/>
              <a:ea typeface="Arial"/>
              <a:cs typeface="Arial"/>
              <a:sym typeface="Arial"/>
            </a:endParaRPr>
          </a:p>
        </p:txBody>
      </p:sp>
      <p:sp>
        <p:nvSpPr>
          <p:cNvPr id="105" name="Google Shape;105;p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The Situation:</a:t>
            </a:r>
            <a:endParaRPr/>
          </a:p>
        </p:txBody>
      </p:sp>
      <p:sp>
        <p:nvSpPr>
          <p:cNvPr id="106" name="Google Shape;106;p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07" name="Google Shape;107;p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pic>
        <p:nvPicPr>
          <p:cNvPr id="108" name="Google Shape;108;p5"/>
          <p:cNvPicPr preferRelativeResize="0"/>
          <p:nvPr/>
        </p:nvPicPr>
        <p:blipFill rotWithShape="1">
          <a:blip r:embed="rId3">
            <a:alphaModFix/>
          </a:blip>
          <a:srcRect b="0" l="0" r="0" t="0"/>
          <a:stretch/>
        </p:blipFill>
        <p:spPr>
          <a:xfrm>
            <a:off x="5081663" y="4038600"/>
            <a:ext cx="3308085" cy="2209800"/>
          </a:xfrm>
          <a:prstGeom prst="rect">
            <a:avLst/>
          </a:prstGeom>
          <a:noFill/>
          <a:ln>
            <a:noFill/>
          </a:ln>
        </p:spPr>
      </p:pic>
      <p:pic>
        <p:nvPicPr>
          <p:cNvPr id="109" name="Google Shape;109;p5"/>
          <p:cNvPicPr preferRelativeResize="0"/>
          <p:nvPr/>
        </p:nvPicPr>
        <p:blipFill rotWithShape="1">
          <a:blip r:embed="rId4">
            <a:alphaModFix/>
          </a:blip>
          <a:srcRect b="0" l="0" r="0" t="0"/>
          <a:stretch/>
        </p:blipFill>
        <p:spPr>
          <a:xfrm>
            <a:off x="338420" y="4038600"/>
            <a:ext cx="4614580" cy="2209799"/>
          </a:xfrm>
          <a:prstGeom prst="rect">
            <a:avLst/>
          </a:prstGeom>
          <a:noFill/>
          <a:ln>
            <a:noFill/>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Because Boeing and the FAA rushed the approval process, many risks were overlooked or not properly assessed. </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MCAS capabilities and what it was supposed to control were never fully revealed to the FAA.</a:t>
            </a:r>
            <a:endParaRPr b="0" i="0" sz="1800" u="none" cap="none" strike="noStrike">
              <a:solidFill>
                <a:srgbClr val="000000"/>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MCAS that was originally presented to FAA was not the system that ended up in the planes.</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a:t>
            </a:r>
            <a:r>
              <a:rPr b="0" i="0" lang="en-US" sz="1800" u="sng" cap="none" strike="noStrike">
                <a:solidFill>
                  <a:srgbClr val="000000"/>
                </a:solidFill>
                <a:latin typeface="Arial"/>
                <a:ea typeface="Arial"/>
                <a:cs typeface="Arial"/>
                <a:sym typeface="Arial"/>
              </a:rPr>
              <a:t>operation of MCAS violated Boeing’s own design guidelines</a:t>
            </a:r>
            <a:r>
              <a:rPr b="0" i="0" lang="en-US" sz="1800" u="none" cap="none" strike="noStrike">
                <a:solidFill>
                  <a:srgbClr val="000000"/>
                </a:solidFill>
                <a:latin typeface="Arial"/>
                <a:ea typeface="Arial"/>
                <a:cs typeface="Arial"/>
                <a:sym typeface="Arial"/>
              </a:rPr>
              <a:t>, which stated that the system should not have “any objectionable interaction with the piloting of the airplane” and “not interfere with dive recovery”; the MCAS was not designated as a safety-critical system.</a:t>
            </a:r>
            <a:endParaRPr b="0" i="0" sz="1800" u="none" cap="none" strike="noStrike">
              <a:solidFill>
                <a:srgbClr val="000000"/>
              </a:solidFill>
              <a:latin typeface="Arial"/>
              <a:ea typeface="Arial"/>
              <a:cs typeface="Arial"/>
              <a:sym typeface="Arial"/>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Boeing Authorized Representatives (BAR: Boeing employees who are granted special permission to represent the interests of the FAA) </a:t>
            </a:r>
            <a:r>
              <a:rPr b="0" i="0" lang="en-US" sz="1800" u="sng" cap="none" strike="noStrike">
                <a:solidFill>
                  <a:srgbClr val="000000"/>
                </a:solidFill>
                <a:latin typeface="Arial"/>
                <a:ea typeface="Arial"/>
                <a:cs typeface="Arial"/>
                <a:sym typeface="Arial"/>
              </a:rPr>
              <a:t>raised concerns</a:t>
            </a:r>
            <a:r>
              <a:rPr b="0" i="0" lang="en-US" sz="1800" u="none" cap="none" strike="noStrike">
                <a:solidFill>
                  <a:srgbClr val="000000"/>
                </a:solidFill>
                <a:latin typeface="Arial"/>
                <a:ea typeface="Arial"/>
                <a:cs typeface="Arial"/>
                <a:sym typeface="Arial"/>
              </a:rPr>
              <a:t> about the safety of the MCAS system within Boeing (which were </a:t>
            </a:r>
            <a:r>
              <a:rPr b="0" i="0" lang="en-US" sz="1800" u="sng" cap="none" strike="noStrike">
                <a:solidFill>
                  <a:srgbClr val="000000"/>
                </a:solidFill>
                <a:latin typeface="Arial"/>
                <a:ea typeface="Arial"/>
                <a:cs typeface="Arial"/>
                <a:sym typeface="Arial"/>
              </a:rPr>
              <a:t>ignored</a:t>
            </a:r>
            <a:r>
              <a:rPr b="0" i="0" lang="en-US" sz="1800" u="none" cap="none" strike="noStrike">
                <a:solidFill>
                  <a:srgbClr val="000000"/>
                </a:solidFill>
                <a:latin typeface="Arial"/>
                <a:ea typeface="Arial"/>
                <a:cs typeface="Arial"/>
                <a:sym typeface="Arial"/>
              </a:rPr>
              <a:t>), and </a:t>
            </a:r>
            <a:r>
              <a:rPr b="0" i="0" lang="en-US" sz="1800" u="sng" cap="none" strike="noStrike">
                <a:solidFill>
                  <a:srgbClr val="000000"/>
                </a:solidFill>
                <a:latin typeface="Arial"/>
                <a:ea typeface="Arial"/>
                <a:cs typeface="Arial"/>
                <a:sym typeface="Arial"/>
              </a:rPr>
              <a:t>did not disclose the issues to the FAA</a:t>
            </a:r>
            <a:r>
              <a:rPr b="0" i="0" lang="en-US" sz="1800" u="none" cap="none" strike="noStrike">
                <a:solidFill>
                  <a:srgbClr val="000000"/>
                </a:solidFill>
                <a:latin typeface="Arial"/>
                <a:ea typeface="Arial"/>
                <a:cs typeface="Arial"/>
                <a:sym typeface="Arial"/>
              </a:rPr>
              <a:t>. </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FAA management over ruled its own technical experts in favor of Boeing (detrimental impact on morale at FAA).</a:t>
            </a:r>
            <a:endParaRPr b="0" i="0" sz="1800" u="none" cap="none" strike="noStrike">
              <a:solidFill>
                <a:srgbClr val="000000"/>
              </a:solidFill>
              <a:latin typeface="Arial"/>
              <a:ea typeface="Arial"/>
              <a:cs typeface="Arial"/>
              <a:sym typeface="Arial"/>
            </a:endParaRPr>
          </a:p>
        </p:txBody>
      </p:sp>
      <p:sp>
        <p:nvSpPr>
          <p:cNvPr id="116" name="Google Shape;116;p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The Issue:</a:t>
            </a:r>
            <a:endParaRPr/>
          </a:p>
        </p:txBody>
      </p:sp>
      <p:sp>
        <p:nvSpPr>
          <p:cNvPr id="117" name="Google Shape;117;p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18" name="Google Shape;118;p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According to the FAA, the addition of the MCAS did not need a thorough assessment because it was not considered to be a critical safety component of the 737 MAX. </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Boeing believed the addition of the MCAS would resolve any issues with retrofitting the engines in the 737 MAX. </a:t>
            </a:r>
            <a:endParaRPr/>
          </a:p>
          <a:p>
            <a:pPr indent="-360000" lvl="0" marL="36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Neither Boeing nor the FAA fully understood how much control the MCAS had, and how this could impact the operation of the aircraft</a:t>
            </a:r>
            <a:endParaRPr/>
          </a:p>
        </p:txBody>
      </p:sp>
      <p:sp>
        <p:nvSpPr>
          <p:cNvPr id="125" name="Google Shape;125;p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The Issue:</a:t>
            </a:r>
            <a:endParaRPr/>
          </a:p>
        </p:txBody>
      </p:sp>
      <p:sp>
        <p:nvSpPr>
          <p:cNvPr id="126" name="Google Shape;126;p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27" name="Google Shape;127;p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pic>
        <p:nvPicPr>
          <p:cNvPr id="128" name="Google Shape;128;p7"/>
          <p:cNvPicPr preferRelativeResize="0"/>
          <p:nvPr/>
        </p:nvPicPr>
        <p:blipFill rotWithShape="1">
          <a:blip r:embed="rId3">
            <a:alphaModFix/>
          </a:blip>
          <a:srcRect b="0" l="0" r="0" t="0"/>
          <a:stretch/>
        </p:blipFill>
        <p:spPr>
          <a:xfrm>
            <a:off x="5002801" y="2969150"/>
            <a:ext cx="3787359" cy="2844065"/>
          </a:xfrm>
          <a:prstGeom prst="rect">
            <a:avLst/>
          </a:prstGeom>
          <a:noFill/>
          <a:ln>
            <a:noFill/>
          </a:ln>
        </p:spPr>
      </p:pic>
      <p:pic>
        <p:nvPicPr>
          <p:cNvPr id="129" name="Google Shape;129;p7"/>
          <p:cNvPicPr preferRelativeResize="0"/>
          <p:nvPr/>
        </p:nvPicPr>
        <p:blipFill rotWithShape="1">
          <a:blip r:embed="rId4">
            <a:alphaModFix/>
          </a:blip>
          <a:srcRect b="0" l="0" r="0" t="0"/>
          <a:stretch/>
        </p:blipFill>
        <p:spPr>
          <a:xfrm>
            <a:off x="180000" y="3286890"/>
            <a:ext cx="4495038" cy="2526325"/>
          </a:xfrm>
          <a:prstGeom prst="rect">
            <a:avLst/>
          </a:prstGeom>
          <a:noFill/>
          <a:ln>
            <a:no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Two Hull Losses and The Consequences:</a:t>
            </a:r>
            <a:endParaRPr b="0" i="0" sz="2400" u="none" cap="none" strike="noStrike">
              <a:solidFill>
                <a:srgbClr val="333399"/>
              </a:solidFill>
              <a:latin typeface="Arial"/>
              <a:ea typeface="Arial"/>
              <a:cs typeface="Arial"/>
              <a:sym typeface="Arial"/>
            </a:endParaRPr>
          </a:p>
        </p:txBody>
      </p:sp>
      <p:sp>
        <p:nvSpPr>
          <p:cNvPr id="136" name="Google Shape;136;p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37" name="Google Shape;137;p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pic>
        <p:nvPicPr>
          <p:cNvPr id="138" name="Google Shape;138;p8"/>
          <p:cNvPicPr preferRelativeResize="0"/>
          <p:nvPr/>
        </p:nvPicPr>
        <p:blipFill rotWithShape="1">
          <a:blip r:embed="rId3">
            <a:alphaModFix/>
          </a:blip>
          <a:srcRect b="0" l="0" r="0" t="0"/>
          <a:stretch/>
        </p:blipFill>
        <p:spPr>
          <a:xfrm>
            <a:off x="180000" y="838200"/>
            <a:ext cx="8640000" cy="5353800"/>
          </a:xfrm>
          <a:prstGeom prst="rect">
            <a:avLst/>
          </a:prstGeom>
          <a:noFill/>
          <a:ln>
            <a:noFill/>
          </a:ln>
        </p:spPr>
      </p:pic>
      <p:sp>
        <p:nvSpPr>
          <p:cNvPr id="139" name="Google Shape;139;p8"/>
          <p:cNvSpPr/>
          <p:nvPr/>
        </p:nvSpPr>
        <p:spPr>
          <a:xfrm>
            <a:off x="5943600" y="5627179"/>
            <a:ext cx="2818400" cy="33855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CBC News: 9-March-2020</a:t>
            </a:r>
            <a:endParaRPr b="1" i="0" sz="1600" u="none" cap="none" strike="noStrike">
              <a:solidFill>
                <a:srgbClr val="000000"/>
              </a:solidFill>
              <a:latin typeface="Arial"/>
              <a:ea typeface="Arial"/>
              <a:cs typeface="Arial"/>
              <a:sym typeface="Arial"/>
            </a:endParaRPr>
          </a:p>
        </p:txBody>
      </p:sp>
      <p:sp>
        <p:nvSpPr>
          <p:cNvPr id="140" name="Google Shape;140;p8"/>
          <p:cNvSpPr/>
          <p:nvPr/>
        </p:nvSpPr>
        <p:spPr>
          <a:xfrm>
            <a:off x="184200" y="838200"/>
            <a:ext cx="4387800" cy="1828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Consequences / Impact on PEAP:</a:t>
            </a:r>
            <a:endParaRPr/>
          </a:p>
          <a:p>
            <a:pPr indent="-360000" lvl="0" marL="36000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Lion Air – 189 dead</a:t>
            </a:r>
            <a:endParaRPr/>
          </a:p>
          <a:p>
            <a:pPr indent="-360000" lvl="0" marL="36000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Ethiopian Airlines – 157 dead</a:t>
            </a:r>
            <a:endParaRPr/>
          </a:p>
          <a:p>
            <a:pPr indent="-360000" lvl="0" marL="36000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2 aircraft completely destroyed</a:t>
            </a:r>
            <a:endParaRPr/>
          </a:p>
          <a:p>
            <a:pPr indent="-360000" lvl="0" marL="36000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Cleanup of crash site for Ethiopian Flight</a:t>
            </a:r>
            <a:endParaRPr/>
          </a:p>
          <a:p>
            <a:pPr indent="-360000" lvl="0" marL="36000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All 737 MAX aircrafts grounded</a:t>
            </a:r>
            <a:endParaRPr/>
          </a:p>
          <a:p>
            <a:pPr indent="-360000" lvl="0" marL="36000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Boeing stock price decreased by 40%</a:t>
            </a:r>
            <a:endParaRPr/>
          </a:p>
          <a:p>
            <a:pPr indent="-360000" lvl="0" marL="36000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Potentially tens of billions of $’s in litigation</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nvSpPr>
        <p:spPr>
          <a:xfrm>
            <a:off x="7767638" y="5236845"/>
            <a:ext cx="914400" cy="2286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0" lang="en-US" sz="1200" u="none" cap="none" strike="noStrike">
                <a:solidFill>
                  <a:srgbClr val="000000"/>
                </a:solidFill>
                <a:latin typeface="Arial"/>
                <a:ea typeface="Arial"/>
                <a:cs typeface="Arial"/>
                <a:sym typeface="Arial"/>
              </a:rPr>
              <a:t>‹#›</a:t>
            </a:fld>
            <a:endParaRPr b="1" i="0" sz="1200" u="none" cap="none" strike="noStrike">
              <a:solidFill>
                <a:srgbClr val="000000"/>
              </a:solidFill>
              <a:latin typeface="Arial"/>
              <a:ea typeface="Arial"/>
              <a:cs typeface="Arial"/>
              <a:sym typeface="Arial"/>
            </a:endParaRPr>
          </a:p>
        </p:txBody>
      </p:sp>
      <p:pic>
        <p:nvPicPr>
          <p:cNvPr id="146" name="Google Shape;146;p9"/>
          <p:cNvPicPr preferRelativeResize="0"/>
          <p:nvPr/>
        </p:nvPicPr>
        <p:blipFill rotWithShape="1">
          <a:blip r:embed="rId3">
            <a:alphaModFix/>
          </a:blip>
          <a:srcRect b="0" l="0" r="0" t="0"/>
          <a:stretch/>
        </p:blipFill>
        <p:spPr>
          <a:xfrm>
            <a:off x="47116" y="221106"/>
            <a:ext cx="9049767" cy="5951094"/>
          </a:xfrm>
          <a:prstGeom prst="rect">
            <a:avLst/>
          </a:prstGeom>
          <a:noFill/>
          <a:ln cap="flat" cmpd="sng" w="9525">
            <a:solidFill>
              <a:schemeClr val="dk1"/>
            </a:solidFill>
            <a:prstDash val="solid"/>
            <a:round/>
            <a:headEnd len="sm" w="sm" type="none"/>
            <a:tailEnd len="sm" w="sm" type="none"/>
          </a:ln>
        </p:spPr>
      </p:pic>
      <p:sp>
        <p:nvSpPr>
          <p:cNvPr id="147" name="Google Shape;147;p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48" name="Google Shape;148;p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Immediate Causes:</a:t>
            </a:r>
            <a:endParaRPr/>
          </a:p>
        </p:txBody>
      </p:sp>
      <p:sp>
        <p:nvSpPr>
          <p:cNvPr id="155" name="Google Shape;155;p1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56" name="Google Shape;156;p1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
        <p:nvSpPr>
          <p:cNvPr id="157" name="Google Shape;157;p10"/>
          <p:cNvSpPr txBox="1"/>
          <p:nvPr/>
        </p:nvSpPr>
        <p:spPr>
          <a:xfrm>
            <a:off x="180000" y="864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spcBef>
                <a:spcPts val="0"/>
              </a:spcBef>
              <a:spcAft>
                <a:spcPts val="0"/>
              </a:spcAft>
              <a:buClr>
                <a:srgbClr val="000000"/>
              </a:buClr>
              <a:buSzPts val="2000"/>
              <a:buFont typeface="Noto Sans Symbols"/>
              <a:buNone/>
            </a:pPr>
            <a:r>
              <a:rPr b="0" i="0" lang="en-US" sz="2000" u="sng" cap="none" strike="noStrike">
                <a:solidFill>
                  <a:srgbClr val="000000"/>
                </a:solidFill>
                <a:latin typeface="Arial"/>
                <a:ea typeface="Arial"/>
                <a:cs typeface="Arial"/>
                <a:sym typeface="Arial"/>
              </a:rPr>
              <a:t>Sub-standard Conditions:</a:t>
            </a:r>
            <a:endParaRPr b="0" i="0" sz="2000" u="none" cap="none" strike="noStrike">
              <a:solidFill>
                <a:srgbClr val="4D4D4D"/>
              </a:solidFill>
              <a:latin typeface="Arial"/>
              <a:ea typeface="Arial"/>
              <a:cs typeface="Arial"/>
              <a:sym typeface="Arial"/>
            </a:endParaRPr>
          </a:p>
          <a:p>
            <a:pPr indent="-360000" lvl="0" marL="360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Angle of Attack Sensor (AOAS) failed, AND</a:t>
            </a:r>
            <a:endParaRPr/>
          </a:p>
          <a:p>
            <a:pPr indent="-360000" lvl="0" marL="360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Maneuvering Characteristics Augmentation System (MCAS) responded by “pushing the nose down”, AND</a:t>
            </a:r>
            <a:endParaRPr/>
          </a:p>
          <a:p>
            <a:pPr indent="-360000" lvl="0" marL="360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MCAS could not be over-ridden.</a:t>
            </a:r>
            <a:endParaRPr/>
          </a:p>
          <a:p>
            <a:pPr indent="-233000" lvl="0" marL="360000" marR="0" rtl="0" algn="l">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spcBef>
                <a:spcPts val="0"/>
              </a:spcBef>
              <a:spcAft>
                <a:spcPts val="0"/>
              </a:spcAft>
              <a:buClr>
                <a:srgbClr val="000000"/>
              </a:buClr>
              <a:buSzPts val="2000"/>
              <a:buFont typeface="Noto Sans Symbols"/>
              <a:buNone/>
            </a:pPr>
            <a:r>
              <a:t/>
            </a:r>
            <a:endParaRPr b="0" i="0" sz="2000" u="sng" cap="none" strike="noStrike">
              <a:solidFill>
                <a:srgbClr val="000000"/>
              </a:solidFill>
              <a:latin typeface="Arial"/>
              <a:ea typeface="Arial"/>
              <a:cs typeface="Arial"/>
              <a:sym typeface="Arial"/>
            </a:endParaRPr>
          </a:p>
          <a:p>
            <a:pPr indent="-360000" lvl="0" marL="360000" marR="0" rtl="0" algn="l">
              <a:spcBef>
                <a:spcPts val="0"/>
              </a:spcBef>
              <a:spcAft>
                <a:spcPts val="0"/>
              </a:spcAft>
              <a:buClr>
                <a:srgbClr val="000000"/>
              </a:buClr>
              <a:buSzPts val="2000"/>
              <a:buFont typeface="Noto Sans Symbols"/>
              <a:buNone/>
            </a:pPr>
            <a:r>
              <a:t/>
            </a:r>
            <a:endParaRPr b="0" i="0" sz="2000" u="sng" cap="none" strike="noStrike">
              <a:solidFill>
                <a:srgbClr val="000000"/>
              </a:solidFill>
              <a:latin typeface="Arial"/>
              <a:ea typeface="Arial"/>
              <a:cs typeface="Arial"/>
              <a:sym typeface="Arial"/>
            </a:endParaRPr>
          </a:p>
          <a:p>
            <a:pPr indent="-360000" lvl="0" marL="360000" marR="0" rtl="0" algn="l">
              <a:spcBef>
                <a:spcPts val="0"/>
              </a:spcBef>
              <a:spcAft>
                <a:spcPts val="0"/>
              </a:spcAft>
              <a:buClr>
                <a:srgbClr val="000000"/>
              </a:buClr>
              <a:buSzPts val="2000"/>
              <a:buFont typeface="Noto Sans Symbols"/>
              <a:buNone/>
            </a:pPr>
            <a:r>
              <a:t/>
            </a:r>
            <a:endParaRPr b="0" i="0" sz="2000" u="sng" cap="none" strike="noStrike">
              <a:solidFill>
                <a:srgbClr val="000000"/>
              </a:solidFill>
              <a:latin typeface="Arial"/>
              <a:ea typeface="Arial"/>
              <a:cs typeface="Arial"/>
              <a:sym typeface="Arial"/>
            </a:endParaRPr>
          </a:p>
          <a:p>
            <a:pPr indent="-360000" lvl="0" marL="360000" marR="0" rtl="0" algn="l">
              <a:spcBef>
                <a:spcPts val="0"/>
              </a:spcBef>
              <a:spcAft>
                <a:spcPts val="0"/>
              </a:spcAft>
              <a:buClr>
                <a:srgbClr val="000000"/>
              </a:buClr>
              <a:buSzPts val="2000"/>
              <a:buFont typeface="Noto Sans Symbols"/>
              <a:buNone/>
            </a:pPr>
            <a:r>
              <a:t/>
            </a:r>
            <a:endParaRPr b="0" i="0" sz="2000" u="sng" cap="none" strike="noStrike">
              <a:solidFill>
                <a:srgbClr val="000000"/>
              </a:solidFill>
              <a:latin typeface="Arial"/>
              <a:ea typeface="Arial"/>
              <a:cs typeface="Arial"/>
              <a:sym typeface="Arial"/>
            </a:endParaRPr>
          </a:p>
          <a:p>
            <a:pPr indent="-360000" lvl="0" marL="360000" marR="0" rtl="0" algn="l">
              <a:spcBef>
                <a:spcPts val="0"/>
              </a:spcBef>
              <a:spcAft>
                <a:spcPts val="0"/>
              </a:spcAft>
              <a:buClr>
                <a:srgbClr val="000000"/>
              </a:buClr>
              <a:buSzPts val="2000"/>
              <a:buFont typeface="Noto Sans Symbols"/>
              <a:buNone/>
            </a:pPr>
            <a:r>
              <a:rPr b="0" i="0" lang="en-US" sz="2000" u="sng" cap="none" strike="noStrike">
                <a:solidFill>
                  <a:srgbClr val="000000"/>
                </a:solidFill>
                <a:latin typeface="Arial"/>
                <a:ea typeface="Arial"/>
                <a:cs typeface="Arial"/>
                <a:sym typeface="Arial"/>
              </a:rPr>
              <a:t>Sub-standard Practices:</a:t>
            </a:r>
            <a:endParaRPr/>
          </a:p>
          <a:p>
            <a:pPr indent="-360000" lvl="0" marL="360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There was no pilot error:</a:t>
            </a:r>
            <a:endParaRPr/>
          </a:p>
          <a:p>
            <a:pPr indent="-359999" lvl="0" marL="720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Any actions the pilots tried to take could not rectify a nose-down attitude (pitch) i.e. the pilots could not over-ride the MCAS.</a:t>
            </a:r>
            <a:endParaRPr/>
          </a:p>
          <a:p>
            <a:pPr indent="-359999" lvl="0" marL="720000" marR="0" rtl="0" algn="l">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Pilots were not only </a:t>
            </a:r>
            <a:r>
              <a:rPr b="0" i="0" lang="en-US" sz="2000" u="sng" cap="none" strike="noStrike">
                <a:solidFill>
                  <a:srgbClr val="000000"/>
                </a:solidFill>
                <a:latin typeface="Arial"/>
                <a:ea typeface="Arial"/>
                <a:cs typeface="Arial"/>
                <a:sym typeface="Arial"/>
              </a:rPr>
              <a:t>not trained</a:t>
            </a:r>
            <a:r>
              <a:rPr b="0" i="0" lang="en-US" sz="2000" u="none" cap="none" strike="noStrike">
                <a:solidFill>
                  <a:srgbClr val="000000"/>
                </a:solidFill>
                <a:latin typeface="Arial"/>
                <a:ea typeface="Arial"/>
                <a:cs typeface="Arial"/>
                <a:sym typeface="Arial"/>
              </a:rPr>
              <a:t> on how to over-ride the MCAS, they were </a:t>
            </a:r>
            <a:r>
              <a:rPr b="0" i="0" lang="en-US" sz="2000" u="sng" cap="none" strike="noStrike">
                <a:solidFill>
                  <a:srgbClr val="000000"/>
                </a:solidFill>
                <a:latin typeface="Arial"/>
                <a:ea typeface="Arial"/>
                <a:cs typeface="Arial"/>
                <a:sym typeface="Arial"/>
              </a:rPr>
              <a:t>not even informed</a:t>
            </a:r>
            <a:r>
              <a:rPr b="0" i="0" lang="en-US" sz="2000" u="none" cap="none" strike="noStrike">
                <a:solidFill>
                  <a:srgbClr val="000000"/>
                </a:solidFill>
                <a:latin typeface="Arial"/>
                <a:ea typeface="Arial"/>
                <a:cs typeface="Arial"/>
                <a:sym typeface="Arial"/>
              </a:rPr>
              <a:t> of the existence and functionality of the MCAS!</a:t>
            </a:r>
            <a:endParaRPr/>
          </a:p>
          <a:p>
            <a:pPr indent="-360000" lvl="0" marL="720000" marR="0" rtl="0" algn="l">
              <a:spcBef>
                <a:spcPts val="0"/>
              </a:spcBef>
              <a:spcAft>
                <a:spcPts val="0"/>
              </a:spcAft>
              <a:buClr>
                <a:srgbClr val="000000"/>
              </a:buClr>
              <a:buSzPts val="2000"/>
              <a:buFont typeface="Noto Sans Symbols"/>
              <a:buNone/>
            </a:pPr>
            <a:r>
              <a:t/>
            </a:r>
            <a:endParaRPr b="0" i="0" sz="2000" u="sng" cap="none" strike="noStrike">
              <a:solidFill>
                <a:srgbClr val="4D4D4D"/>
              </a:solidFill>
              <a:latin typeface="Arial"/>
              <a:ea typeface="Arial"/>
              <a:cs typeface="Arial"/>
              <a:sym typeface="Arial"/>
            </a:endParaRPr>
          </a:p>
          <a:p>
            <a:pPr indent="-360000" lvl="0" marL="360000" marR="0" rtl="0" algn="l">
              <a:spcBef>
                <a:spcPts val="0"/>
              </a:spcBef>
              <a:spcAft>
                <a:spcPts val="0"/>
              </a:spcAft>
              <a:buClr>
                <a:srgbClr val="000000"/>
              </a:buClr>
              <a:buSzPts val="2000"/>
              <a:buFont typeface="Noto Sans Symbols"/>
              <a:buNone/>
            </a:pPr>
            <a:r>
              <a:t/>
            </a:r>
            <a:endParaRPr b="0" i="0" sz="2000" u="sng" cap="none" strike="noStrike">
              <a:solidFill>
                <a:srgbClr val="4D4D4D"/>
              </a:solidFill>
              <a:latin typeface="Arial"/>
              <a:ea typeface="Arial"/>
              <a:cs typeface="Arial"/>
              <a:sym typeface="Arial"/>
            </a:endParaRPr>
          </a:p>
        </p:txBody>
      </p:sp>
      <p:pic>
        <p:nvPicPr>
          <p:cNvPr id="158" name="Google Shape;158;p10"/>
          <p:cNvPicPr preferRelativeResize="0"/>
          <p:nvPr/>
        </p:nvPicPr>
        <p:blipFill rotWithShape="1">
          <a:blip r:embed="rId3">
            <a:alphaModFix/>
          </a:blip>
          <a:srcRect b="0" l="0" r="0" t="0"/>
          <a:stretch/>
        </p:blipFill>
        <p:spPr>
          <a:xfrm>
            <a:off x="5029200" y="2209800"/>
            <a:ext cx="3360420" cy="2209800"/>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Basic Causes - Engineering and Design Factors:</a:t>
            </a:r>
            <a:endParaRPr b="0" i="0" sz="2400" u="none" cap="none" strike="noStrike">
              <a:solidFill>
                <a:srgbClr val="333399"/>
              </a:solidFill>
              <a:latin typeface="Arial"/>
              <a:ea typeface="Arial"/>
              <a:cs typeface="Arial"/>
              <a:sym typeface="Arial"/>
            </a:endParaRPr>
          </a:p>
        </p:txBody>
      </p:sp>
      <p:sp>
        <p:nvSpPr>
          <p:cNvPr id="165" name="Google Shape;165;p1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66" name="Google Shape;166;p1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
        <p:nvSpPr>
          <p:cNvPr id="167" name="Google Shape;167;p11"/>
          <p:cNvSpPr txBox="1"/>
          <p:nvPr/>
        </p:nvSpPr>
        <p:spPr>
          <a:xfrm>
            <a:off x="180000" y="864000"/>
            <a:ext cx="8640000" cy="5328000"/>
          </a:xfrm>
          <a:prstGeom prst="rect">
            <a:avLst/>
          </a:prstGeom>
          <a:noFill/>
          <a:ln>
            <a:noFill/>
          </a:ln>
        </p:spPr>
        <p:txBody>
          <a:bodyPr anchorCtr="0" anchor="t" bIns="45700" lIns="91425" spcFirstLastPara="1" rIns="91425" wrap="square" tIns="45700">
            <a:noAutofit/>
          </a:bodyPr>
          <a:lstStyle/>
          <a:p>
            <a:pPr indent="-233000" lvl="0" marL="360000" marR="0" rtl="0" algn="l">
              <a:lnSpc>
                <a:spcPct val="90000"/>
              </a:lnSpc>
              <a:spcBef>
                <a:spcPts val="0"/>
              </a:spcBef>
              <a:spcAft>
                <a:spcPts val="0"/>
              </a:spcAft>
              <a:buClr>
                <a:srgbClr val="000000"/>
              </a:buClr>
              <a:buSzPts val="2000"/>
              <a:buFont typeface="Noto Sans Symbols"/>
              <a:buNone/>
            </a:pPr>
            <a:r>
              <a:t/>
            </a:r>
            <a:endParaRPr b="1"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1" i="0" lang="en-US" sz="1800" u="none" cap="none" strike="noStrike">
                <a:solidFill>
                  <a:srgbClr val="000000"/>
                </a:solidFill>
                <a:latin typeface="Arial"/>
                <a:ea typeface="Arial"/>
                <a:cs typeface="Arial"/>
                <a:sym typeface="Arial"/>
              </a:rPr>
              <a:t>Inadequate inherently safe design / lack of redundancy: </a:t>
            </a:r>
            <a:r>
              <a:rPr b="0" i="0" lang="en-US" sz="1800" u="none" cap="none" strike="noStrike">
                <a:solidFill>
                  <a:srgbClr val="000000"/>
                </a:solidFill>
                <a:latin typeface="Arial"/>
                <a:ea typeface="Arial"/>
                <a:cs typeface="Arial"/>
                <a:sym typeface="Arial"/>
              </a:rPr>
              <a:t>Decision was made by Boeing engineers to use only one input sensor for the MCAS</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1"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1" i="0" lang="en-US" sz="1800" u="none" cap="none" strike="noStrike">
                <a:solidFill>
                  <a:srgbClr val="000000"/>
                </a:solidFill>
                <a:latin typeface="Arial"/>
                <a:ea typeface="Arial"/>
                <a:cs typeface="Arial"/>
                <a:sym typeface="Arial"/>
              </a:rPr>
              <a:t>Inadequate documentation of change: </a:t>
            </a:r>
            <a:r>
              <a:rPr b="0" i="0" lang="en-US" sz="1800" u="none" cap="none" strike="noStrike">
                <a:solidFill>
                  <a:srgbClr val="000000"/>
                </a:solidFill>
                <a:latin typeface="Arial"/>
                <a:ea typeface="Arial"/>
                <a:cs typeface="Arial"/>
                <a:sym typeface="Arial"/>
              </a:rPr>
              <a:t>Boeing (and the FAA) was not fully informed about how the MCAS system operated.</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1"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1" i="0" lang="en-US" sz="1800" u="none" cap="none" strike="noStrike">
                <a:solidFill>
                  <a:srgbClr val="000000"/>
                </a:solidFill>
                <a:latin typeface="Arial"/>
                <a:ea typeface="Arial"/>
                <a:cs typeface="Arial"/>
                <a:sym typeface="Arial"/>
              </a:rPr>
              <a:t>Inadequate assessment of loss exposures / risks / hazards: </a:t>
            </a:r>
            <a:r>
              <a:rPr b="0" i="0" lang="en-US" sz="1800" u="none" cap="none" strike="noStrike">
                <a:solidFill>
                  <a:srgbClr val="000000"/>
                </a:solidFill>
                <a:latin typeface="Arial"/>
                <a:ea typeface="Arial"/>
                <a:cs typeface="Arial"/>
                <a:sym typeface="Arial"/>
              </a:rPr>
              <a:t>Consequences of retrofitting engines not properly evaluated by Boeing engineers</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1"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1" i="0" lang="en-US" sz="1800" u="none" cap="none" strike="noStrike">
                <a:solidFill>
                  <a:srgbClr val="000000"/>
                </a:solidFill>
                <a:latin typeface="Arial"/>
                <a:ea typeface="Arial"/>
                <a:cs typeface="Arial"/>
                <a:sym typeface="Arial"/>
              </a:rPr>
              <a:t>Inadequate monitoring of initial operation: </a:t>
            </a:r>
            <a:r>
              <a:rPr b="0" i="0" lang="en-US" sz="1800" u="none" cap="none" strike="noStrike">
                <a:solidFill>
                  <a:srgbClr val="000000"/>
                </a:solidFill>
                <a:latin typeface="Arial"/>
                <a:ea typeface="Arial"/>
                <a:cs typeface="Arial"/>
                <a:sym typeface="Arial"/>
              </a:rPr>
              <a:t>Boeing wanted to limit changes to design to avoid additional pilot training</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1"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1" i="0" lang="en-US" sz="1800" u="none" cap="none" strike="noStrike">
                <a:solidFill>
                  <a:srgbClr val="000000"/>
                </a:solidFill>
                <a:latin typeface="Arial"/>
                <a:ea typeface="Arial"/>
                <a:cs typeface="Arial"/>
                <a:sym typeface="Arial"/>
              </a:rPr>
              <a:t>Inadequate training: </a:t>
            </a:r>
            <a:r>
              <a:rPr b="0" i="0" lang="en-US" sz="1800" u="none" cap="none" strike="noStrike">
                <a:solidFill>
                  <a:srgbClr val="000000"/>
                </a:solidFill>
                <a:latin typeface="Arial"/>
                <a:ea typeface="Arial"/>
                <a:cs typeface="Arial"/>
                <a:sym typeface="Arial"/>
              </a:rPr>
              <a:t>Pilots were not trained about the MCAS and had no skill capability to respond when the MCAS system engaged incorrectly.</a:t>
            </a:r>
            <a:endParaRPr b="0" i="0" sz="1800" u="none" cap="none" strike="noStrike">
              <a:solidFill>
                <a:srgbClr val="4D4D4D"/>
              </a:solidFill>
              <a:latin typeface="Arial"/>
              <a:ea typeface="Arial"/>
              <a:cs typeface="Arial"/>
              <a:sym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Basic Causes - Job Factors:</a:t>
            </a:r>
            <a:endParaRPr b="0" i="0" sz="2400" u="none" cap="none" strike="noStrike">
              <a:solidFill>
                <a:srgbClr val="333399"/>
              </a:solidFill>
              <a:latin typeface="Arial"/>
              <a:ea typeface="Arial"/>
              <a:cs typeface="Arial"/>
              <a:sym typeface="Arial"/>
            </a:endParaRPr>
          </a:p>
        </p:txBody>
      </p:sp>
      <p:sp>
        <p:nvSpPr>
          <p:cNvPr id="174" name="Google Shape;174;p1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75" name="Google Shape;175;p1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
        <p:nvSpPr>
          <p:cNvPr id="176" name="Google Shape;176;p12"/>
          <p:cNvSpPr txBox="1"/>
          <p:nvPr/>
        </p:nvSpPr>
        <p:spPr>
          <a:xfrm>
            <a:off x="180000" y="864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2000"/>
              <a:buFont typeface="Noto Sans Symbols"/>
              <a:buNone/>
            </a:pPr>
            <a:r>
              <a:t/>
            </a:r>
            <a:endParaRPr b="0" i="0" sz="1800" u="sng"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1" i="0" lang="en-US" sz="1800" u="none" cap="none" strike="noStrike">
                <a:solidFill>
                  <a:srgbClr val="000000"/>
                </a:solidFill>
                <a:latin typeface="Arial"/>
                <a:ea typeface="Arial"/>
                <a:cs typeface="Arial"/>
                <a:sym typeface="Arial"/>
              </a:rPr>
              <a:t>Inadequate communication: </a:t>
            </a:r>
            <a:r>
              <a:rPr b="0" i="0" lang="en-US" sz="1800" u="none" cap="none" strike="noStrike">
                <a:solidFill>
                  <a:srgbClr val="000000"/>
                </a:solidFill>
                <a:latin typeface="Arial"/>
                <a:ea typeface="Arial"/>
                <a:cs typeface="Arial"/>
                <a:sym typeface="Arial"/>
              </a:rPr>
              <a:t>Boeing did not properly communicate the design changes to the FAA.</a:t>
            </a:r>
            <a:endParaRPr/>
          </a:p>
          <a:p>
            <a:pPr indent="-233000" lvl="0" marL="360000" marR="0" rtl="0" algn="l">
              <a:lnSpc>
                <a:spcPct val="90000"/>
              </a:lnSpc>
              <a:spcBef>
                <a:spcPts val="0"/>
              </a:spcBef>
              <a:spcAft>
                <a:spcPts val="0"/>
              </a:spcAft>
              <a:buClr>
                <a:srgbClr val="000000"/>
              </a:buClr>
              <a:buSzPts val="2000"/>
              <a:buFont typeface="Noto Sans Symbols"/>
              <a:buNone/>
            </a:pPr>
            <a:r>
              <a:t/>
            </a:r>
            <a:endParaRPr b="1"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1" i="0" lang="en-US" sz="1800" u="none" cap="none" strike="noStrike">
                <a:solidFill>
                  <a:srgbClr val="000000"/>
                </a:solidFill>
                <a:latin typeface="Arial"/>
                <a:ea typeface="Arial"/>
                <a:cs typeface="Arial"/>
                <a:sym typeface="Arial"/>
              </a:rPr>
              <a:t>Inadequate job procedures: </a:t>
            </a:r>
            <a:r>
              <a:rPr b="0" i="0" lang="en-US" sz="1800" u="none" cap="none" strike="noStrike">
                <a:solidFill>
                  <a:srgbClr val="000000"/>
                </a:solidFill>
                <a:latin typeface="Arial"/>
                <a:ea typeface="Arial"/>
                <a:cs typeface="Arial"/>
                <a:sym typeface="Arial"/>
              </a:rPr>
              <a:t>Pilots were not aware of the addition of the MCAS to the aircrafts (not included in the training manuals).</a:t>
            </a:r>
            <a:endParaRPr b="1" i="0" sz="1800" u="none" cap="none" strike="noStrike">
              <a:solidFill>
                <a:srgbClr val="000000"/>
              </a:solidFill>
              <a:latin typeface="Arial"/>
              <a:ea typeface="Arial"/>
              <a:cs typeface="Arial"/>
              <a:sym typeface="Arial"/>
            </a:endParaRPr>
          </a:p>
          <a:p>
            <a:pPr indent="-233000" lvl="0" marL="360000" marR="0" rtl="0" algn="l">
              <a:lnSpc>
                <a:spcPct val="90000"/>
              </a:lnSpc>
              <a:spcBef>
                <a:spcPts val="0"/>
              </a:spcBef>
              <a:spcAft>
                <a:spcPts val="0"/>
              </a:spcAft>
              <a:buClr>
                <a:srgbClr val="000000"/>
              </a:buClr>
              <a:buSzPts val="2000"/>
              <a:buFont typeface="Noto Sans Symbols"/>
              <a:buNone/>
            </a:pPr>
            <a:r>
              <a:t/>
            </a:r>
            <a:endParaRPr b="1"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1" i="0" lang="en-US" sz="1800" u="none" cap="none" strike="noStrike">
                <a:solidFill>
                  <a:srgbClr val="000000"/>
                </a:solidFill>
                <a:latin typeface="Arial"/>
                <a:ea typeface="Arial"/>
                <a:cs typeface="Arial"/>
                <a:sym typeface="Arial"/>
              </a:rPr>
              <a:t>Organizational factors: </a:t>
            </a:r>
            <a:r>
              <a:rPr b="0" i="0" lang="en-US" sz="1800" u="none" cap="none" strike="noStrike">
                <a:solidFill>
                  <a:srgbClr val="000000"/>
                </a:solidFill>
                <a:latin typeface="Arial"/>
                <a:ea typeface="Arial"/>
                <a:cs typeface="Arial"/>
                <a:sym typeface="Arial"/>
              </a:rPr>
              <a:t>Boeing design change documents were not thoroughly reviewed by FAA</a:t>
            </a:r>
            <a:endParaRPr b="0" i="0" sz="1800" u="none" cap="none" strike="noStrike">
              <a:solidFill>
                <a:srgbClr val="4D4D4D"/>
              </a:solidFill>
              <a:latin typeface="Arial"/>
              <a:ea typeface="Arial"/>
              <a:cs typeface="Arial"/>
              <a:sym typeface="Arial"/>
            </a:endParaRPr>
          </a:p>
          <a:p>
            <a:pPr indent="-233000" lvl="0" marL="360000" marR="0" rtl="0" algn="l">
              <a:lnSpc>
                <a:spcPct val="90000"/>
              </a:lnSpc>
              <a:spcBef>
                <a:spcPts val="0"/>
              </a:spcBef>
              <a:spcAft>
                <a:spcPts val="0"/>
              </a:spcAft>
              <a:buClr>
                <a:srgbClr val="000000"/>
              </a:buClr>
              <a:buSzPts val="2000"/>
              <a:buFont typeface="Noto Sans Symbols"/>
              <a:buNone/>
            </a:pPr>
            <a:r>
              <a:t/>
            </a:r>
            <a:endParaRPr b="1"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1" i="0" lang="en-US" sz="1800" u="none" cap="none" strike="noStrike">
                <a:solidFill>
                  <a:srgbClr val="000000"/>
                </a:solidFill>
                <a:latin typeface="Arial"/>
                <a:ea typeface="Arial"/>
                <a:cs typeface="Arial"/>
                <a:sym typeface="Arial"/>
              </a:rPr>
              <a:t>Organizational factors / Incompatible Goals: </a:t>
            </a:r>
            <a:r>
              <a:rPr b="0" i="0" lang="en-US" sz="1800" u="none" cap="none" strike="noStrike">
                <a:solidFill>
                  <a:srgbClr val="000000"/>
                </a:solidFill>
                <a:latin typeface="Arial"/>
                <a:ea typeface="Arial"/>
                <a:cs typeface="Arial"/>
                <a:sym typeface="Arial"/>
              </a:rPr>
              <a:t>Boeing Authorized Reps were ignored by Boeing management and did not inform FAA of their concerns.</a:t>
            </a:r>
            <a:endParaRPr b="0" i="0" sz="1800" u="sng" cap="none" strike="noStrike">
              <a:solidFill>
                <a:srgbClr val="4D4D4D"/>
              </a:solidFill>
              <a:latin typeface="Arial"/>
              <a:ea typeface="Arial"/>
              <a:cs typeface="Arial"/>
              <a:sym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RME #4: Management of Change</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Boeing management assumed that the addition and re-design of the MCAS would not introduce additional risk to the operation of the aircraft.</a:t>
            </a:r>
            <a:endParaRPr b="0" i="0" sz="2000" u="none" cap="none" strike="noStrike">
              <a:solidFill>
                <a:srgbClr val="000000"/>
              </a:solidFill>
              <a:latin typeface="Arial"/>
              <a:ea typeface="Arial"/>
              <a:cs typeface="Arial"/>
              <a:sym typeface="Arial"/>
            </a:endParaRPr>
          </a:p>
          <a:p>
            <a:pPr indent="-342900" lvl="1" marL="914400" marR="0" rtl="0" algn="l">
              <a:lnSpc>
                <a:spcPct val="100000"/>
              </a:lnSpc>
              <a:spcBef>
                <a:spcPts val="0"/>
              </a:spcBef>
              <a:spcAft>
                <a:spcPts val="0"/>
              </a:spcAft>
              <a:buSzPts val="1800"/>
              <a:buChar char="○"/>
            </a:pPr>
            <a:r>
              <a:rPr lang="en-US" sz="1800"/>
              <a:t>This included changes such as using a single angle of attack sensor to collect data for MCAS engagement instead of two sensors, adding low speed stall scenarios to the scope and engagement rules of MCAS, and neglecting to add MCAS engagement scenarios to training manuals or mandatory training for pilots</a:t>
            </a:r>
            <a:endParaRPr sz="1800"/>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LC-S: The management of change program at Boeing did not include a standard to initiate a broad risk assessment of a new or revised engineered system, such as the MCAS system or re-positioned and more powerful engines, when being integrated into the Boeing 737 standard aircraft design. #4 MOC</a:t>
            </a:r>
            <a:endParaRPr/>
          </a:p>
        </p:txBody>
      </p:sp>
      <p:sp>
        <p:nvSpPr>
          <p:cNvPr id="183" name="Google Shape;183;p1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Latent Causes by Risk Management System Elements:</a:t>
            </a:r>
            <a:endParaRPr/>
          </a:p>
        </p:txBody>
      </p:sp>
      <p:sp>
        <p:nvSpPr>
          <p:cNvPr id="184" name="Google Shape;184;p1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85" name="Google Shape;185;p1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RME #7: Design, Construction, and Startup</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MCAS was only tested in situations where it would work ideally. This included: single use cases; no tests were performed in a case for continuous MCAS engagement; F.A.A. regulations did not require Boeing to further assess the MCAS as it was not considered a critical component of the 737 MAX.</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LC-S: The design program at Boeing did not include a standard to initiate a thorough design review of nor a flight test plan for proposed designs, new and revised, when being fully integrated into the Boeing 737 standard aircraft design.  #7 DCSU</a:t>
            </a:r>
            <a:endParaRPr/>
          </a:p>
        </p:txBody>
      </p:sp>
      <p:sp>
        <p:nvSpPr>
          <p:cNvPr id="192" name="Google Shape;192;p1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Latent Causes by Risk Management System Elements:</a:t>
            </a:r>
            <a:endParaRPr/>
          </a:p>
        </p:txBody>
      </p:sp>
      <p:sp>
        <p:nvSpPr>
          <p:cNvPr id="193" name="Google Shape;193;p1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194" name="Google Shape;194;p1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RME #11: Operations and Facilities Information and Documentation</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Information about the new MCAS system was not included in the pilot manual and mandatory training. </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Boeing management believed the MCAS would not have a major impact on the aircraft operation, therefore the pilots did not need to know about it.</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LC-S: The documentation program did not include a procedure to distribute new information for new and revised designs, such as the MCAS System, to pilot flight manuals and training programs. #11 OFID</a:t>
            </a:r>
            <a:endParaRPr/>
          </a:p>
        </p:txBody>
      </p:sp>
      <p:sp>
        <p:nvSpPr>
          <p:cNvPr id="201" name="Google Shape;201;p1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Latent Causes by Risk Management System Elements:</a:t>
            </a:r>
            <a:endParaRPr/>
          </a:p>
        </p:txBody>
      </p:sp>
      <p:sp>
        <p:nvSpPr>
          <p:cNvPr id="202" name="Google Shape;202;p1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03" name="Google Shape;203;p1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6"/>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RME #6: Program Evaluation and Continuous Improvement</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Boeing engineers did not re-evaluate the MCAS through either a design program or a management of change program. The updated MCAS never got a second-look as it was believed it would not significantly alter the characteristics of the aircraft.</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LC-S: The evaluation (auditing) program at Boeing did not include a standard to evaluate the effectiveness of the MOC program to initiate a formal risk assessment when integrating new or revised engineering controls such as the MCAS. #6 PECI</a:t>
            </a:r>
            <a:endParaRPr/>
          </a:p>
          <a:p>
            <a:pPr indent="-233000" lvl="0" marL="36000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LC-S: The evaluation (auditing) program at Boeing did not include a standard to evaluate the effectiveness of the Design program to initiate a formal design review when integrating new or revised engineering controls such as the MCAS. #6 PECI</a:t>
            </a:r>
            <a:endParaRPr b="0" i="0" sz="2000" u="none" cap="none" strike="noStrike">
              <a:solidFill>
                <a:srgbClr val="000000"/>
              </a:solidFill>
              <a:latin typeface="Arial"/>
              <a:ea typeface="Arial"/>
              <a:cs typeface="Arial"/>
              <a:sym typeface="Arial"/>
            </a:endParaRPr>
          </a:p>
        </p:txBody>
      </p:sp>
      <p:sp>
        <p:nvSpPr>
          <p:cNvPr id="210" name="Google Shape;210;p16"/>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Latent Causes by Risk Management System Elements:</a:t>
            </a:r>
            <a:endParaRPr/>
          </a:p>
        </p:txBody>
      </p:sp>
      <p:sp>
        <p:nvSpPr>
          <p:cNvPr id="211" name="Google Shape;211;p16"/>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12" name="Google Shape;212;p16"/>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7"/>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LC-S: The management of change program at Boeing did not include a standard to initiate a broad risk assessment of a new or revised engineered system, such as the MCAS system or re-positioned and more powerful engines, when being integrated into the Boeing 737 standard aircraft design. #4 MOC</a:t>
            </a:r>
            <a:endParaRPr/>
          </a:p>
          <a:p>
            <a:pPr indent="-258400" lvl="0" marL="36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LC-S: The design program at Boeing did not include a standard to initiate a thorough design review of nor a flight test plan for proposed designs, new and revised, when being fully integrated into the Boeing 737 standard aircraft design.  #7 DCSU</a:t>
            </a:r>
            <a:endParaRPr/>
          </a:p>
          <a:p>
            <a:pPr indent="-258400" lvl="0" marL="36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LC-S: The documentation program did not include a procedure to distribute new information for new and revised designs, such as the MCAS System, to pilot flight manuals and training programs. #11 OFID</a:t>
            </a:r>
            <a:endParaRPr/>
          </a:p>
          <a:p>
            <a:pPr indent="-258400" lvl="0" marL="36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LC-S: The evaluation (auditing) program at Boeing did not include a standard to evaluate the effectiveness of the MOC program to initiate a formal risk assessment when integrating new or revised engineering controls such as the MCAS. #6 PECI</a:t>
            </a:r>
            <a:endParaRPr/>
          </a:p>
          <a:p>
            <a:pPr indent="-258400" lvl="0" marL="36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LC-S: The evaluation (auditing) program at Boeing did not include a standard to evaluate the effectiveness of the Design program to initiate a formal design review when integrating new or revised engineering controls such as the MCAS. #6 PECI</a:t>
            </a:r>
            <a:endParaRPr/>
          </a:p>
          <a:p>
            <a:pPr indent="-258400" lvl="0" marL="36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000000"/>
              </a:solidFill>
              <a:latin typeface="Arial"/>
              <a:ea typeface="Arial"/>
              <a:cs typeface="Arial"/>
              <a:sym typeface="Arial"/>
            </a:endParaRPr>
          </a:p>
        </p:txBody>
      </p:sp>
      <p:sp>
        <p:nvSpPr>
          <p:cNvPr id="219" name="Google Shape;219;p17"/>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List of LC’s re: #4MOC, #7 DCSU, #11 OFID, #6 PECI</a:t>
            </a:r>
            <a:endParaRPr b="0" i="0" sz="2400" u="none" cap="none" strike="noStrike">
              <a:solidFill>
                <a:srgbClr val="333399"/>
              </a:solidFill>
              <a:latin typeface="Arial"/>
              <a:ea typeface="Arial"/>
              <a:cs typeface="Arial"/>
              <a:sym typeface="Arial"/>
            </a:endParaRPr>
          </a:p>
        </p:txBody>
      </p:sp>
      <p:sp>
        <p:nvSpPr>
          <p:cNvPr id="220" name="Google Shape;220;p17"/>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21" name="Google Shape;221;p17"/>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8"/>
          <p:cNvSpPr/>
          <p:nvPr/>
        </p:nvSpPr>
        <p:spPr>
          <a:xfrm>
            <a:off x="180000" y="180000"/>
            <a:ext cx="8640000" cy="50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8F8F8"/>
              </a:buClr>
              <a:buSzPts val="2200"/>
              <a:buFont typeface="Arial"/>
              <a:buNone/>
            </a:pPr>
            <a:r>
              <a:rPr b="0" i="0" lang="en-US" sz="2200" u="none" cap="none" strike="noStrike">
                <a:solidFill>
                  <a:srgbClr val="F8F8F8"/>
                </a:solidFill>
                <a:latin typeface="Arial"/>
                <a:ea typeface="Arial"/>
                <a:cs typeface="Arial"/>
                <a:sym typeface="Arial"/>
              </a:rPr>
              <a:t>Example: Recommendations for Actions</a:t>
            </a:r>
            <a:endParaRPr b="0" i="0" sz="2200" u="none" cap="none" strike="noStrike">
              <a:solidFill>
                <a:srgbClr val="F8F8F8"/>
              </a:solidFill>
              <a:latin typeface="Arial"/>
              <a:ea typeface="Arial"/>
              <a:cs typeface="Arial"/>
              <a:sym typeface="Arial"/>
            </a:endParaRPr>
          </a:p>
        </p:txBody>
      </p:sp>
      <p:sp>
        <p:nvSpPr>
          <p:cNvPr id="231" name="Google Shape;231;p18"/>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600" u="none" cap="none" strike="noStrike">
                <a:solidFill>
                  <a:srgbClr val="F8F8F8"/>
                </a:solidFill>
                <a:latin typeface="Arial"/>
                <a:ea typeface="Arial"/>
                <a:cs typeface="Arial"/>
                <a:sym typeface="Arial"/>
              </a:rPr>
              <a:t>LC-S: The management of change program at Boeing did not include a standard to initiate a broad risk assessment of a new or revised engineered system, such as the MCAS system or re-positioned and more powerful engines, when being integrated into the Boeing 737 standard aircraft design. #4 MOC</a:t>
            </a:r>
            <a:endParaRPr/>
          </a:p>
          <a:p>
            <a:pPr indent="-180000" lvl="0" marL="180000" marR="0" rtl="0" algn="l">
              <a:spcBef>
                <a:spcPts val="0"/>
              </a:spcBef>
              <a:spcAft>
                <a:spcPts val="0"/>
              </a:spcAft>
              <a:buClr>
                <a:srgbClr val="F8F8F8"/>
              </a:buClr>
              <a:buSzPts val="1600"/>
              <a:buFont typeface="Noto Sans Symbols"/>
              <a:buChar char="⮚"/>
            </a:pPr>
            <a:r>
              <a:rPr b="0" i="0" lang="en-US" sz="1600" u="none" cap="none" strike="noStrike">
                <a:solidFill>
                  <a:srgbClr val="F8F8F8"/>
                </a:solidFill>
                <a:latin typeface="Arial"/>
                <a:ea typeface="Arial"/>
                <a:cs typeface="Arial"/>
                <a:sym typeface="Arial"/>
              </a:rPr>
              <a:t>Implement a standard in the MOC program to initiate a broad risk assessment of a new or revised engineered system when being integrated into the Boeing 737 standard aircraft design.</a:t>
            </a:r>
            <a:endParaRPr/>
          </a:p>
          <a:p>
            <a:pPr indent="-78400" lvl="0" marL="18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F8F8F8"/>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rgbClr val="F8F8F8"/>
                </a:solidFill>
                <a:latin typeface="Arial"/>
                <a:ea typeface="Arial"/>
                <a:cs typeface="Arial"/>
                <a:sym typeface="Arial"/>
              </a:rPr>
              <a:t>LC-S: The design program at Boeing did not include a standard to initiate a thorough design review of and flight test plan for proposed designs, new and revised, when being fully integrated into the Boeing 737 standard aircraft design.  #7 DCSU</a:t>
            </a:r>
            <a:endParaRPr/>
          </a:p>
          <a:p>
            <a:pPr indent="-180000" lvl="0" marL="180000" marR="0" rtl="0" algn="l">
              <a:spcBef>
                <a:spcPts val="0"/>
              </a:spcBef>
              <a:spcAft>
                <a:spcPts val="0"/>
              </a:spcAft>
              <a:buClr>
                <a:srgbClr val="F8F8F8"/>
              </a:buClr>
              <a:buSzPts val="1600"/>
              <a:buFont typeface="Noto Sans Symbols"/>
              <a:buChar char="⮚"/>
            </a:pPr>
            <a:r>
              <a:rPr b="0" i="0" lang="en-US" sz="1600" u="none" cap="none" strike="noStrike">
                <a:solidFill>
                  <a:srgbClr val="F8F8F8"/>
                </a:solidFill>
                <a:latin typeface="Arial"/>
                <a:ea typeface="Arial"/>
                <a:cs typeface="Arial"/>
                <a:sym typeface="Arial"/>
              </a:rPr>
              <a:t>Implement a standard in the Design program to initiate a thorough design review of and flight test plan for proposed designs when being integrated into the Boeing 737 standard aircraft design.</a:t>
            </a:r>
            <a:endParaRPr b="0" i="0" sz="1600" u="none" cap="none" strike="noStrike">
              <a:solidFill>
                <a:srgbClr val="F8F8F8"/>
              </a:solidFill>
              <a:latin typeface="Arial"/>
              <a:ea typeface="Arial"/>
              <a:cs typeface="Arial"/>
              <a:sym typeface="Arial"/>
            </a:endParaRPr>
          </a:p>
          <a:p>
            <a:pPr indent="-78400" lvl="0" marL="18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F8F8F8"/>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rgbClr val="F8F8F8"/>
                </a:solidFill>
                <a:latin typeface="Arial"/>
                <a:ea typeface="Arial"/>
                <a:cs typeface="Arial"/>
                <a:sym typeface="Arial"/>
              </a:rPr>
              <a:t>LC-S: The documentation program did not include a procedure to distribute new information for new and revised designs, such as the MCAS System, to pilot flight manuals and training programs. #11 OFID</a:t>
            </a:r>
            <a:endParaRPr/>
          </a:p>
          <a:p>
            <a:pPr indent="-180000" lvl="0" marL="180000" marR="0" rtl="0" algn="l">
              <a:spcBef>
                <a:spcPts val="0"/>
              </a:spcBef>
              <a:spcAft>
                <a:spcPts val="0"/>
              </a:spcAft>
              <a:buClr>
                <a:srgbClr val="F8F8F8"/>
              </a:buClr>
              <a:buSzPts val="1600"/>
              <a:buFont typeface="Noto Sans Symbols"/>
              <a:buChar char="⮚"/>
            </a:pPr>
            <a:r>
              <a:rPr b="0" i="0" lang="en-US" sz="1600" u="none" cap="none" strike="noStrike">
                <a:solidFill>
                  <a:srgbClr val="F8F8F8"/>
                </a:solidFill>
                <a:latin typeface="Arial"/>
                <a:ea typeface="Arial"/>
                <a:cs typeface="Arial"/>
                <a:sym typeface="Arial"/>
              </a:rPr>
              <a:t>Implement a procedure to distribute new information for new and revised designs to pilot flight manuals and training programs.</a:t>
            </a:r>
            <a:endParaRPr b="0" i="0" sz="1600" u="none" cap="none" strike="noStrike">
              <a:solidFill>
                <a:srgbClr val="F8F8F8"/>
              </a:solidFill>
              <a:latin typeface="Arial"/>
              <a:ea typeface="Arial"/>
              <a:cs typeface="Arial"/>
              <a:sym typeface="Arial"/>
            </a:endParaRPr>
          </a:p>
        </p:txBody>
      </p:sp>
      <p:sp>
        <p:nvSpPr>
          <p:cNvPr id="232" name="Google Shape;232;p18"/>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33" name="Google Shape;233;p18"/>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9"/>
          <p:cNvSpPr/>
          <p:nvPr/>
        </p:nvSpPr>
        <p:spPr>
          <a:xfrm>
            <a:off x="180000" y="180000"/>
            <a:ext cx="8640000" cy="5040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2200" u="none" cap="none" strike="noStrike">
                <a:solidFill>
                  <a:srgbClr val="F8F8F8"/>
                </a:solidFill>
                <a:latin typeface="Arial"/>
                <a:ea typeface="Arial"/>
                <a:cs typeface="Arial"/>
                <a:sym typeface="Arial"/>
              </a:rPr>
              <a:t>Example: Recommendations for Actions</a:t>
            </a:r>
            <a:endParaRPr/>
          </a:p>
        </p:txBody>
      </p:sp>
      <p:sp>
        <p:nvSpPr>
          <p:cNvPr id="243" name="Google Shape;243;p19"/>
          <p:cNvSpPr/>
          <p:nvPr/>
        </p:nvSpPr>
        <p:spPr>
          <a:xfrm>
            <a:off x="180000" y="828000"/>
            <a:ext cx="8640000" cy="532800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78400" lvl="0" marL="18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F8F8F8"/>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rgbClr val="F8F8F8"/>
                </a:solidFill>
                <a:latin typeface="Arial"/>
                <a:ea typeface="Arial"/>
                <a:cs typeface="Arial"/>
                <a:sym typeface="Arial"/>
              </a:rPr>
              <a:t>LC-S: The evaluation (auditing) program at Boeing did not include a standard to evaluate the effectiveness of the MOC program to initiate a formal risk assessment when integrating new or revised engineering controls such as the MCAS. #6 PECI</a:t>
            </a:r>
            <a:endParaRPr/>
          </a:p>
          <a:p>
            <a:pPr indent="-180000" lvl="0" marL="180000" marR="0" rtl="0" algn="l">
              <a:spcBef>
                <a:spcPts val="0"/>
              </a:spcBef>
              <a:spcAft>
                <a:spcPts val="0"/>
              </a:spcAft>
              <a:buClr>
                <a:srgbClr val="F8F8F8"/>
              </a:buClr>
              <a:buSzPts val="1600"/>
              <a:buFont typeface="Noto Sans Symbols"/>
              <a:buChar char="⮚"/>
            </a:pPr>
            <a:r>
              <a:rPr b="0" i="0" lang="en-US" sz="1600" u="none" cap="none" strike="noStrike">
                <a:solidFill>
                  <a:srgbClr val="F8F8F8"/>
                </a:solidFill>
                <a:latin typeface="Arial"/>
                <a:ea typeface="Arial"/>
                <a:cs typeface="Arial"/>
                <a:sym typeface="Arial"/>
              </a:rPr>
              <a:t>Implement a standard to evaluate the effectiveness of the MOC program to initiate a formal risk assessment when integrating new or revised engineering controls in existing aircraft designs. </a:t>
            </a:r>
            <a:endParaRPr/>
          </a:p>
          <a:p>
            <a:pPr indent="0" lvl="0" marL="0" marR="0" rtl="0" algn="l">
              <a:spcBef>
                <a:spcPts val="0"/>
              </a:spcBef>
              <a:spcAft>
                <a:spcPts val="0"/>
              </a:spcAft>
              <a:buNone/>
            </a:pPr>
            <a:r>
              <a:t/>
            </a:r>
            <a:endParaRPr b="0" i="0" sz="1600" u="none" cap="none" strike="noStrike">
              <a:solidFill>
                <a:srgbClr val="F8F8F8"/>
              </a:solidFill>
              <a:latin typeface="Arial"/>
              <a:ea typeface="Arial"/>
              <a:cs typeface="Arial"/>
              <a:sym typeface="Arial"/>
            </a:endParaRPr>
          </a:p>
          <a:p>
            <a:pPr indent="0" lvl="0" marL="0" marR="0" rtl="0" algn="l">
              <a:spcBef>
                <a:spcPts val="0"/>
              </a:spcBef>
              <a:spcAft>
                <a:spcPts val="0"/>
              </a:spcAft>
              <a:buNone/>
            </a:pPr>
            <a:r>
              <a:t/>
            </a:r>
            <a:endParaRPr b="0" i="0" sz="1600" u="none" cap="none" strike="noStrike">
              <a:solidFill>
                <a:srgbClr val="F8F8F8"/>
              </a:solidFill>
              <a:latin typeface="Arial"/>
              <a:ea typeface="Arial"/>
              <a:cs typeface="Arial"/>
              <a:sym typeface="Arial"/>
            </a:endParaRPr>
          </a:p>
          <a:p>
            <a:pPr indent="0" lvl="0" marL="0" marR="0" rtl="0" algn="l">
              <a:spcBef>
                <a:spcPts val="0"/>
              </a:spcBef>
              <a:spcAft>
                <a:spcPts val="0"/>
              </a:spcAft>
              <a:buNone/>
            </a:pPr>
            <a:r>
              <a:rPr b="0" i="0" lang="en-US" sz="1600" u="none" cap="none" strike="noStrike">
                <a:solidFill>
                  <a:srgbClr val="F8F8F8"/>
                </a:solidFill>
                <a:latin typeface="Arial"/>
                <a:ea typeface="Arial"/>
                <a:cs typeface="Arial"/>
                <a:sym typeface="Arial"/>
              </a:rPr>
              <a:t>LC-S: The evaluation (auditing) program at Boeing did not include a standard to evaluate the effectiveness of the Design program to initiate a formal design review when integrating new or revised engineering controls such as the MCAS. #6 PECI</a:t>
            </a:r>
            <a:endParaRPr/>
          </a:p>
          <a:p>
            <a:pPr indent="-180000" lvl="0" marL="180000" marR="0" rtl="0" algn="l">
              <a:spcBef>
                <a:spcPts val="0"/>
              </a:spcBef>
              <a:spcAft>
                <a:spcPts val="0"/>
              </a:spcAft>
              <a:buClr>
                <a:srgbClr val="F8F8F8"/>
              </a:buClr>
              <a:buSzPts val="1600"/>
              <a:buFont typeface="Noto Sans Symbols"/>
              <a:buChar char="⮚"/>
            </a:pPr>
            <a:r>
              <a:rPr b="0" i="0" lang="en-US" sz="1600" u="none" cap="none" strike="noStrike">
                <a:solidFill>
                  <a:srgbClr val="F8F8F8"/>
                </a:solidFill>
                <a:latin typeface="Arial"/>
                <a:ea typeface="Arial"/>
                <a:cs typeface="Arial"/>
                <a:sym typeface="Arial"/>
              </a:rPr>
              <a:t>Implement a standard to evaluate the effectiveness of the Design program to initiate a formal design review when integrating new or revised engineering controls in existing aircraft designs. </a:t>
            </a:r>
            <a:endParaRPr b="0" i="0" sz="1600" u="none" cap="none" strike="noStrike">
              <a:solidFill>
                <a:srgbClr val="F8F8F8"/>
              </a:solidFill>
              <a:latin typeface="Arial"/>
              <a:ea typeface="Arial"/>
              <a:cs typeface="Arial"/>
              <a:sym typeface="Arial"/>
            </a:endParaRPr>
          </a:p>
          <a:p>
            <a:pPr indent="-78400" lvl="0" marL="180000" marR="0" rtl="0" algn="l">
              <a:lnSpc>
                <a:spcPct val="100000"/>
              </a:lnSpc>
              <a:spcBef>
                <a:spcPts val="0"/>
              </a:spcBef>
              <a:spcAft>
                <a:spcPts val="0"/>
              </a:spcAft>
              <a:buClr>
                <a:schemeClr val="dk1"/>
              </a:buClr>
              <a:buSzPts val="1600"/>
              <a:buFont typeface="Noto Sans Symbols"/>
              <a:buNone/>
            </a:pPr>
            <a:r>
              <a:t/>
            </a:r>
            <a:endParaRPr b="0" i="0" sz="1600" u="none" cap="none" strike="noStrike">
              <a:solidFill>
                <a:srgbClr val="F8F8F8"/>
              </a:solidFill>
              <a:latin typeface="Arial"/>
              <a:ea typeface="Arial"/>
              <a:cs typeface="Arial"/>
              <a:sym typeface="Arial"/>
            </a:endParaRPr>
          </a:p>
        </p:txBody>
      </p:sp>
      <p:sp>
        <p:nvSpPr>
          <p:cNvPr id="244" name="Google Shape;244;p19"/>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45" name="Google Shape;245;p19"/>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0"/>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Mass media insights give an indication of the culture at Boeing:</a:t>
            </a:r>
            <a:endParaRPr b="1" i="0" sz="1800" u="none" cap="none" strike="noStrike">
              <a:solidFill>
                <a:schemeClr val="dk1"/>
              </a:solidFill>
              <a:latin typeface="Arial"/>
              <a:ea typeface="Arial"/>
              <a:cs typeface="Arial"/>
              <a:sym typeface="Arial"/>
            </a:endParaRPr>
          </a:p>
        </p:txBody>
      </p:sp>
      <p:sp>
        <p:nvSpPr>
          <p:cNvPr id="252" name="Google Shape;252;p20"/>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Let’s Talk About Culture … Some Insights into Boeing Culture:</a:t>
            </a:r>
            <a:endParaRPr b="0" i="0" sz="2400" u="none" cap="none" strike="noStrike">
              <a:solidFill>
                <a:srgbClr val="333399"/>
              </a:solidFill>
              <a:latin typeface="Arial"/>
              <a:ea typeface="Arial"/>
              <a:cs typeface="Arial"/>
              <a:sym typeface="Arial"/>
            </a:endParaRPr>
          </a:p>
        </p:txBody>
      </p:sp>
      <p:sp>
        <p:nvSpPr>
          <p:cNvPr id="253" name="Google Shape;253;p20"/>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54" name="Google Shape;254;p20"/>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pic>
        <p:nvPicPr>
          <p:cNvPr id="255" name="Google Shape;255;p20"/>
          <p:cNvPicPr preferRelativeResize="0"/>
          <p:nvPr/>
        </p:nvPicPr>
        <p:blipFill rotWithShape="1">
          <a:blip r:embed="rId3">
            <a:alphaModFix/>
          </a:blip>
          <a:srcRect b="0" l="0" r="0" t="5521"/>
          <a:stretch/>
        </p:blipFill>
        <p:spPr>
          <a:xfrm>
            <a:off x="762000" y="1191768"/>
            <a:ext cx="7118470" cy="4936800"/>
          </a:xfrm>
          <a:prstGeom prst="rect">
            <a:avLst/>
          </a:prstGeom>
          <a:noFill/>
          <a:ln cap="flat" cmpd="sng" w="9525">
            <a:solidFill>
              <a:schemeClr val="dk1"/>
            </a:solidFill>
            <a:prstDash val="solid"/>
            <a:round/>
            <a:headEnd len="sm" w="sm" type="none"/>
            <a:tailEnd len="sm" w="sm" type="none"/>
          </a:ln>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1"/>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RME #1: Management Leadership, Commitment, and Accountability:</a:t>
            </a:r>
            <a:endParaRPr/>
          </a:p>
          <a:p>
            <a:pPr indent="0" lvl="0" marL="0" marR="0" rtl="0" algn="l">
              <a:lnSpc>
                <a:spcPct val="90000"/>
              </a:lnSpc>
              <a:spcBef>
                <a:spcPts val="0"/>
              </a:spcBef>
              <a:spcAft>
                <a:spcPts val="0"/>
              </a:spcAft>
              <a:buClr>
                <a:schemeClr val="dk1"/>
              </a:buClr>
              <a:buSzPts val="1800"/>
              <a:buFont typeface="Arial"/>
              <a:buNone/>
            </a:pPr>
            <a:r>
              <a:rPr b="0" i="1" lang="en-US" sz="1800" u="none" cap="none" strike="noStrike">
                <a:solidFill>
                  <a:schemeClr val="dk1"/>
                </a:solidFill>
                <a:latin typeface="Arial"/>
                <a:ea typeface="Arial"/>
                <a:cs typeface="Arial"/>
                <a:sym typeface="Arial"/>
              </a:rPr>
              <a:t>As we will learn in an upcoming topic, culture is determined by leadership …</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Boeing </a:t>
            </a:r>
            <a:r>
              <a:rPr b="0" i="0" lang="en-US" sz="1800" u="sng" cap="none" strike="noStrike">
                <a:solidFill>
                  <a:schemeClr val="dk1"/>
                </a:solidFill>
                <a:latin typeface="Arial"/>
                <a:ea typeface="Arial"/>
                <a:cs typeface="Arial"/>
                <a:sym typeface="Arial"/>
              </a:rPr>
              <a:t>management directed employees to focus on beating out the competition</a:t>
            </a:r>
            <a:r>
              <a:rPr b="0" i="0" lang="en-US" sz="1800" u="none" cap="none" strike="noStrike">
                <a:solidFill>
                  <a:schemeClr val="dk1"/>
                </a:solidFill>
                <a:latin typeface="Arial"/>
                <a:ea typeface="Arial"/>
                <a:cs typeface="Arial"/>
                <a:sym typeface="Arial"/>
              </a:rPr>
              <a:t> to deliver a new plane </a:t>
            </a:r>
            <a:r>
              <a:rPr b="0" i="0" lang="en-US" sz="1800" u="sng" cap="none" strike="noStrike">
                <a:solidFill>
                  <a:schemeClr val="dk1"/>
                </a:solidFill>
                <a:latin typeface="Arial"/>
                <a:ea typeface="Arial"/>
                <a:cs typeface="Arial"/>
                <a:sym typeface="Arial"/>
              </a:rPr>
              <a:t>over-shadowing the formerly strong sense of safety culture and values</a:t>
            </a:r>
            <a:r>
              <a:rPr b="0" i="0" lang="en-US" sz="1800" u="none" cap="none" strike="noStrike">
                <a:solidFill>
                  <a:schemeClr val="dk1"/>
                </a:solidFill>
                <a:latin typeface="Arial"/>
                <a:ea typeface="Arial"/>
                <a:cs typeface="Arial"/>
                <a:sym typeface="Arial"/>
              </a:rPr>
              <a:t> held by employees at Boeing.</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The actions by Boeing demonstrated that the underlying values at Boeing reflected that </a:t>
            </a:r>
            <a:r>
              <a:rPr b="0" i="0" lang="en-US" sz="1800" u="sng" cap="none" strike="noStrike">
                <a:solidFill>
                  <a:schemeClr val="dk1"/>
                </a:solidFill>
                <a:latin typeface="Arial"/>
                <a:ea typeface="Arial"/>
                <a:cs typeface="Arial"/>
                <a:sym typeface="Arial"/>
              </a:rPr>
              <a:t>safety was a priority, not a value</a:t>
            </a:r>
            <a:r>
              <a:rPr b="0" i="0" lang="en-US" sz="1800" u="none" cap="none" strike="noStrike">
                <a:solidFill>
                  <a:schemeClr val="dk1"/>
                </a:solidFill>
                <a:latin typeface="Arial"/>
                <a:ea typeface="Arial"/>
                <a:cs typeface="Arial"/>
                <a:sym typeface="Arial"/>
              </a:rPr>
              <a:t> i.e. safety objectives were prioritized along with commercial goals (increase profits, reduce costs, increase productivity and delivery i.e. the need to get the jet on the market at a competitive price versus the Airbus A320).</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Major financial factors in the decisions that Boeing made were to avoid having:</a:t>
            </a:r>
            <a:endParaRPr b="0" i="0" sz="1800" u="none" cap="none" strike="noStrike">
              <a:solidFill>
                <a:schemeClr val="dk1"/>
              </a:solidFill>
              <a:latin typeface="Arial"/>
              <a:ea typeface="Arial"/>
              <a:cs typeface="Arial"/>
              <a:sym typeface="Arial"/>
            </a:endParaRPr>
          </a:p>
          <a:p>
            <a:pPr indent="-359999" lvl="0" marL="720000"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To “certify” the Boeing 737-MAX as a new aircraft design (avoid the costs and time lost) instead of a “re-design”;</a:t>
            </a:r>
            <a:endParaRPr/>
          </a:p>
          <a:p>
            <a:pPr indent="-359999" lvl="0" marL="720000"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To compensate airline purchasers for $1MM per aircraft in training costs. </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p:txBody>
      </p:sp>
      <p:sp>
        <p:nvSpPr>
          <p:cNvPr id="262" name="Google Shape;262;p21"/>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Discussion Points on RME #1 MLCA, </a:t>
            </a:r>
            <a:r>
              <a:rPr b="0" i="1" lang="en-US" sz="1600" u="none" cap="none" strike="noStrike">
                <a:solidFill>
                  <a:srgbClr val="333399"/>
                </a:solidFill>
                <a:latin typeface="Arial"/>
                <a:ea typeface="Arial"/>
                <a:cs typeface="Arial"/>
                <a:sym typeface="Arial"/>
              </a:rPr>
              <a:t>1 of 2</a:t>
            </a:r>
            <a:r>
              <a:rPr b="0" i="0" lang="en-US" sz="2400" u="none" cap="none" strike="noStrike">
                <a:solidFill>
                  <a:srgbClr val="333399"/>
                </a:solidFill>
                <a:latin typeface="Arial"/>
                <a:ea typeface="Arial"/>
                <a:cs typeface="Arial"/>
                <a:sym typeface="Arial"/>
              </a:rPr>
              <a:t>:</a:t>
            </a:r>
            <a:endParaRPr b="0" i="0" sz="2400" u="none" cap="none" strike="noStrike">
              <a:solidFill>
                <a:srgbClr val="333399"/>
              </a:solidFill>
              <a:latin typeface="Arial"/>
              <a:ea typeface="Arial"/>
              <a:cs typeface="Arial"/>
              <a:sym typeface="Arial"/>
            </a:endParaRPr>
          </a:p>
        </p:txBody>
      </p:sp>
      <p:sp>
        <p:nvSpPr>
          <p:cNvPr id="263" name="Google Shape;263;p21"/>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64" name="Google Shape;264;p21"/>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RME #1: Management Leadership, Commitment, and Accountability:</a:t>
            </a:r>
            <a:endParaRPr b="1" i="0" sz="1800" u="none" cap="none" strike="noStrike">
              <a:solidFill>
                <a:schemeClr val="dk1"/>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Despite a long-standing safety culture at Boeing, it deteriorated during the development and commercialization of the 737 MAX. </a:t>
            </a:r>
            <a:endParaRPr b="0" i="0" sz="1800" u="none" cap="none" strike="noStrike">
              <a:solidFill>
                <a:schemeClr val="dk1"/>
              </a:solidFill>
              <a:latin typeface="Arial"/>
              <a:ea typeface="Arial"/>
              <a:cs typeface="Arial"/>
              <a:sym typeface="Arial"/>
            </a:endParaRPr>
          </a:p>
          <a:p>
            <a:pPr indent="-359999" lvl="0" marL="720000"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The focus on safety had to compete with other objectives and thus became a lower priority. </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Ultimately, Boeing's reputation, business, and financial rating suffered after hull losses and blanket groundings of the 737-MAX, questioning Boeing's strategy, governance, and focus on profits and cost efficiency (over flight safety of its products).</a:t>
            </a:r>
            <a:endParaRPr b="0" i="0" sz="1800" u="none" cap="none" strike="noStrike">
              <a:solidFill>
                <a:schemeClr val="dk1"/>
              </a:solidFill>
              <a:latin typeface="Arial"/>
              <a:ea typeface="Arial"/>
              <a:cs typeface="Arial"/>
              <a:sym typeface="Arial"/>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360000" lvl="0" marL="360000" marR="0" rtl="0" algn="l">
              <a:lnSpc>
                <a:spcPct val="9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LC-C: The Leadership Program did not uphold commitment to and accountability for flight safety in order to sustain the Core Safety Values of the Company. #1 MLCA</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1" i="0" sz="1800" u="none" cap="none" strike="noStrike">
              <a:solidFill>
                <a:schemeClr val="dk1"/>
              </a:solidFill>
              <a:latin typeface="Arial"/>
              <a:ea typeface="Arial"/>
              <a:cs typeface="Arial"/>
              <a:sym typeface="Arial"/>
            </a:endParaRPr>
          </a:p>
        </p:txBody>
      </p:sp>
      <p:sp>
        <p:nvSpPr>
          <p:cNvPr id="271" name="Google Shape;271;p2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Discussion Points on RME #1 MLCA, </a:t>
            </a:r>
            <a:r>
              <a:rPr b="0" i="1" lang="en-US" sz="1600" u="none" cap="none" strike="noStrike">
                <a:solidFill>
                  <a:srgbClr val="333399"/>
                </a:solidFill>
                <a:latin typeface="Arial"/>
                <a:ea typeface="Arial"/>
                <a:cs typeface="Arial"/>
                <a:sym typeface="Arial"/>
              </a:rPr>
              <a:t>2 of 2</a:t>
            </a:r>
            <a:r>
              <a:rPr b="0" i="0" lang="en-US" sz="2400" u="none" cap="none" strike="noStrike">
                <a:solidFill>
                  <a:srgbClr val="333399"/>
                </a:solidFill>
                <a:latin typeface="Arial"/>
                <a:ea typeface="Arial"/>
                <a:cs typeface="Arial"/>
                <a:sym typeface="Arial"/>
              </a:rPr>
              <a:t>:</a:t>
            </a:r>
            <a:endParaRPr/>
          </a:p>
        </p:txBody>
      </p:sp>
      <p:sp>
        <p:nvSpPr>
          <p:cNvPr id="272" name="Google Shape;272;p2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73" name="Google Shape;273;p2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In the aftermath of the 737 MAX incidents, a U.S House Transportation Committee review claimed that Boeing has a “broken safety culture” and that the Federal Aviation Administration (FAA) needed to improve their oversight of Boeing.</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FAA intends to require aircraft manufacturers (like Boeing) to implement a Safety Management System (SMS), which is already required for airlines (such as Air Canada).</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SMSs are used to assess the combined effectiveness of actions such as design, procedures and training at identifying, assessing and countering potential hazards.</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Changes to how the FAA approves changes/additions to existing plane designs are currently being considered</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Changes/additions only allowed for a maximum of 20 years to an original design</a:t>
            </a:r>
            <a:endParaRPr/>
          </a:p>
          <a:p>
            <a:pPr indent="-359999" lvl="0" marL="72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Review what areas the FAA can delegate oversight authority to the airlines</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Boeing now plans to have two AOA sensors feed into the MCAS</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737-MAX is now cleared to fly in Canada (as of January 2021)</a:t>
            </a:r>
            <a:endParaRPr b="0" i="0" sz="1800" u="none" cap="none" strike="noStrike">
              <a:solidFill>
                <a:srgbClr val="000000"/>
              </a:solidFill>
              <a:latin typeface="Arial"/>
              <a:ea typeface="Arial"/>
              <a:cs typeface="Arial"/>
              <a:sym typeface="Arial"/>
            </a:endParaRPr>
          </a:p>
          <a:p>
            <a:pPr indent="-245699" lvl="0" marL="72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80" name="Google Shape;280;p2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Industry Responds: The Changes to the Aviation Industry</a:t>
            </a:r>
            <a:endParaRPr/>
          </a:p>
        </p:txBody>
      </p:sp>
      <p:sp>
        <p:nvSpPr>
          <p:cNvPr id="281" name="Google Shape;281;p2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82" name="Google Shape;282;p2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In the News, 14-October-2021:</a:t>
            </a:r>
            <a:endParaRPr b="1" i="0" sz="1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US Department of Justice has formally charged Boeing’s former chief technical pilot for the 737-MAX aircraft on fraud charges. </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The USDOJ alleges that “the former chief technical pilot provided ‘materially false, inaccurate, and incomplete information’ to the Federal Aviation Administration about MCAS and schemed to defraud Boeing’s US‑based airline customers to obtain tens of millions of dollars for Boeing. In an attempt to save Boeing money (~$1MM in training costs per aircraft), the chief technical pilot allegedly withheld critical information from regulators (the FAA).” </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0" i="0" lang="en-US" sz="1400" u="sng" cap="none" strike="noStrike">
                <a:solidFill>
                  <a:srgbClr val="000000"/>
                </a:solidFill>
                <a:latin typeface="Arial"/>
                <a:ea typeface="Arial"/>
                <a:cs typeface="Arial"/>
                <a:sym typeface="Arial"/>
                <a:hlinkClick r:id="rId3">
                  <a:extLst>
                    <a:ext uri="{A12FA001-AC4F-418D-AE19-62706E023703}">
                      <ahyp:hlinkClr val="tx"/>
                    </a:ext>
                  </a:extLst>
                </a:hlinkClick>
              </a:rPr>
              <a:t>https://www.pbs.org/wgbh/frontline/article/boeing-former-pilot-indicted-mark-forkner-pleads-not-guilty/</a:t>
            </a:r>
            <a:endParaRPr b="0" i="0" sz="1400" u="none" cap="none" strike="noStrike">
              <a:solidFill>
                <a:srgbClr val="000000"/>
              </a:solidFill>
              <a:latin typeface="Arial"/>
              <a:ea typeface="Arial"/>
              <a:cs typeface="Arial"/>
              <a:sym typeface="Arial"/>
            </a:endParaRPr>
          </a:p>
          <a:p>
            <a:pPr indent="-271100" lvl="0" marL="360000" marR="0" rtl="0" algn="l">
              <a:lnSpc>
                <a:spcPct val="90000"/>
              </a:lnSpc>
              <a:spcBef>
                <a:spcPts val="0"/>
              </a:spcBef>
              <a:spcAft>
                <a:spcPts val="0"/>
              </a:spcAft>
              <a:buClr>
                <a:schemeClr val="dk1"/>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0" i="0" lang="en-US" sz="1400" u="sng" cap="none" strike="noStrike">
                <a:solidFill>
                  <a:srgbClr val="000000"/>
                </a:solidFill>
                <a:latin typeface="Arial"/>
                <a:ea typeface="Arial"/>
                <a:cs typeface="Arial"/>
                <a:sym typeface="Arial"/>
                <a:hlinkClick r:id="rId4">
                  <a:extLst>
                    <a:ext uri="{A12FA001-AC4F-418D-AE19-62706E023703}">
                      <ahyp:hlinkClr val="tx"/>
                    </a:ext>
                  </a:extLst>
                </a:hlinkClick>
              </a:rPr>
              <a:t>https://apnews.com/article/business-texas-indictments-federal-aviation-administration-b5f4e0a403bc829cfdf249c80c8e4119</a:t>
            </a:r>
            <a:r>
              <a:rPr b="0" i="0" lang="en-US" sz="1400" u="none" cap="none" strike="noStrike">
                <a:solidFill>
                  <a:srgbClr val="000000"/>
                </a:solidFill>
                <a:latin typeface="Arial"/>
                <a:ea typeface="Arial"/>
                <a:cs typeface="Arial"/>
                <a:sym typeface="Arial"/>
              </a:rPr>
              <a:t> </a:t>
            </a:r>
            <a:endParaRPr/>
          </a:p>
          <a:p>
            <a:pPr indent="-245700" lvl="0" marL="360000" marR="0" rtl="0" algn="l">
              <a:lnSpc>
                <a:spcPct val="9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Boeing management created a culture where the </a:t>
            </a:r>
            <a:r>
              <a:rPr b="0" i="0" lang="en-US" sz="1800" u="sng" cap="none" strike="noStrike">
                <a:solidFill>
                  <a:srgbClr val="000000"/>
                </a:solidFill>
                <a:latin typeface="Arial"/>
                <a:ea typeface="Arial"/>
                <a:cs typeface="Arial"/>
                <a:sym typeface="Arial"/>
              </a:rPr>
              <a:t>chief technical pilot</a:t>
            </a:r>
            <a:r>
              <a:rPr b="0" i="0" lang="en-US" sz="1800" u="none" cap="none" strike="noStrike">
                <a:solidFill>
                  <a:srgbClr val="000000"/>
                </a:solidFill>
                <a:latin typeface="Arial"/>
                <a:ea typeface="Arial"/>
                <a:cs typeface="Arial"/>
                <a:sym typeface="Arial"/>
              </a:rPr>
              <a:t> placed </a:t>
            </a:r>
            <a:r>
              <a:rPr b="0" i="0" lang="en-US" sz="1800" u="sng" cap="none" strike="noStrike">
                <a:solidFill>
                  <a:srgbClr val="000000"/>
                </a:solidFill>
                <a:latin typeface="Arial"/>
                <a:ea typeface="Arial"/>
                <a:cs typeface="Arial"/>
                <a:sym typeface="Arial"/>
              </a:rPr>
              <a:t>profits ahead of flight safety</a:t>
            </a:r>
            <a:r>
              <a:rPr b="0" i="0" lang="en-US" sz="1800" u="none" cap="none" strike="noStrike">
                <a:solidFill>
                  <a:srgbClr val="000000"/>
                </a:solidFill>
                <a:latin typeface="Arial"/>
                <a:ea typeface="Arial"/>
                <a:cs typeface="Arial"/>
                <a:sym typeface="Arial"/>
              </a:rPr>
              <a:t> … </a:t>
            </a:r>
            <a:endParaRPr/>
          </a:p>
        </p:txBody>
      </p:sp>
      <p:sp>
        <p:nvSpPr>
          <p:cNvPr id="289" name="Google Shape;289;p2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Impacts of Senior Management on Culture:</a:t>
            </a:r>
            <a:endParaRPr b="0" i="0" sz="2400" u="none" cap="none" strike="noStrike">
              <a:solidFill>
                <a:srgbClr val="333399"/>
              </a:solidFill>
              <a:latin typeface="Arial"/>
              <a:ea typeface="Arial"/>
              <a:cs typeface="Arial"/>
              <a:sym typeface="Arial"/>
            </a:endParaRPr>
          </a:p>
        </p:txBody>
      </p:sp>
      <p:sp>
        <p:nvSpPr>
          <p:cNvPr id="290" name="Google Shape;290;p2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291" name="Google Shape;291;p2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5"/>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Summary: </a:t>
            </a:r>
            <a:endParaRPr/>
          </a:p>
          <a:p>
            <a:pPr indent="-360000" lvl="0" marL="3600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Boeing was not in the “business of risk management”.</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Significant failures in risk management by senior management consistently placed the financial objectives of commercializing the 737-MAX ahead of “flight safety”. </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360000" lvl="0" marL="3600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Boeing lost “the imperative for safety”.</a:t>
            </a:r>
            <a:endParaRPr b="0" i="0" sz="1800" u="none" cap="none" strike="noStrike">
              <a:solidFill>
                <a:schemeClr val="dk1"/>
              </a:solidFill>
              <a:latin typeface="Arial"/>
              <a:ea typeface="Arial"/>
              <a:cs typeface="Arial"/>
              <a:sym typeface="Arial"/>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Senior management were focused on commercial success of the 737-MAX to the extent that they sacrificed not only flight safety but their leading-edge safety culture.</a:t>
            </a:r>
            <a:endParaRPr/>
          </a:p>
          <a:p>
            <a:pPr indent="-359999" lvl="0"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It took many, many decades to develop a high performance safety culture BUT just a few years (from early-development of the 737-MAX to the first hull loss) to destroy that culture. </a:t>
            </a:r>
            <a:endParaRPr/>
          </a:p>
          <a:p>
            <a:pPr indent="0" lvl="0" marL="0" marR="0" rtl="0" algn="l">
              <a:lnSpc>
                <a:spcPct val="100000"/>
              </a:lnSpc>
              <a:spcBef>
                <a:spcPts val="0"/>
              </a:spcBef>
              <a:spcAft>
                <a:spcPts val="0"/>
              </a:spcAft>
              <a:buClr>
                <a:schemeClr val="dk1"/>
              </a:buClr>
              <a:buSzPts val="1800"/>
              <a:buFont typeface="Arial"/>
              <a:buNone/>
            </a:pPr>
            <a:r>
              <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Key Lesson:</a:t>
            </a:r>
            <a:endParaRPr b="1" i="0" sz="18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Arial"/>
                <a:ea typeface="Arial"/>
                <a:cs typeface="Arial"/>
                <a:sym typeface="Arial"/>
              </a:rPr>
              <a:t>We, engineers and leaders in risk management, are in the business of risk management and we must never lose the imperative for safety. </a:t>
            </a:r>
            <a:endParaRPr/>
          </a:p>
          <a:p>
            <a:pPr indent="-245700" lvl="0" marL="36000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rgbClr val="000000"/>
              </a:solidFill>
              <a:latin typeface="Arial"/>
              <a:ea typeface="Arial"/>
              <a:cs typeface="Arial"/>
              <a:sym typeface="Arial"/>
            </a:endParaRPr>
          </a:p>
        </p:txBody>
      </p:sp>
      <p:sp>
        <p:nvSpPr>
          <p:cNvPr id="298" name="Google Shape;298;p2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99"/>
              </a:buClr>
              <a:buSzPts val="2400"/>
              <a:buFont typeface="Arial"/>
              <a:buNone/>
            </a:pPr>
            <a:r>
              <a:rPr b="0" i="0" lang="en-US" sz="2400" u="none" cap="none" strike="noStrike">
                <a:solidFill>
                  <a:srgbClr val="333399"/>
                </a:solidFill>
                <a:latin typeface="Arial"/>
                <a:ea typeface="Arial"/>
                <a:cs typeface="Arial"/>
                <a:sym typeface="Arial"/>
              </a:rPr>
              <a:t>Summary and Key Lesson:</a:t>
            </a:r>
            <a:endParaRPr b="0" i="0" sz="2400" u="none" cap="none" strike="noStrike">
              <a:solidFill>
                <a:srgbClr val="333399"/>
              </a:solidFill>
              <a:latin typeface="Arial"/>
              <a:ea typeface="Arial"/>
              <a:cs typeface="Arial"/>
              <a:sym typeface="Arial"/>
            </a:endParaRPr>
          </a:p>
        </p:txBody>
      </p:sp>
      <p:sp>
        <p:nvSpPr>
          <p:cNvPr id="299" name="Google Shape;299;p2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300" name="Google Shape;300;p2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1" lang="en-US" sz="1200" u="none" cap="none" strike="noStrike">
                <a:solidFill>
                  <a:srgbClr val="000000"/>
                </a:solidFill>
                <a:latin typeface="Arial"/>
                <a:ea typeface="Arial"/>
                <a:cs typeface="Arial"/>
                <a:sym typeface="Arial"/>
              </a:rPr>
              <a:t>Case 13: Boeing 737 MAX MCAS Failure 2018/2019 </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2007-03-28T16:18:47Z</dcterms:created>
  <dc:creator>MSB</dc:creator>
</cp:coreProperties>
</file>