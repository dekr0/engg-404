
<file path=[Content_Types].xml><?xml version="1.0" encoding="utf-8"?>
<Types xmlns="http://schemas.openxmlformats.org/package/2006/content-types">
  <Default Extension="emf" ContentType="image/x-emf"/>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 id="2147483653" r:id="rId2"/>
  </p:sldMasterIdLst>
  <p:notesMasterIdLst>
    <p:notesMasterId r:id="rId26"/>
  </p:notesMasterIdLst>
  <p:sldIdLst>
    <p:sldId id="256" r:id="rId3"/>
    <p:sldId id="257" r:id="rId4"/>
    <p:sldId id="258" r:id="rId5"/>
    <p:sldId id="980" r:id="rId6"/>
    <p:sldId id="931"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Lst>
  <p:sldSz cx="9144000" cy="6858000" type="screen4x3"/>
  <p:notesSz cx="7010400" cy="92964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576">
          <p15:clr>
            <a:srgbClr val="A4A3A4"/>
          </p15:clr>
        </p15:guide>
        <p15:guide id="2" pos="3792">
          <p15:clr>
            <a:srgbClr val="A4A3A4"/>
          </p15:clr>
        </p15:guide>
      </p15:sldGuideLst>
    </p:ext>
    <p:ext uri="{2D200454-40CA-4A62-9FC3-DE9A4176ACB9}">
      <p15:notesGuideLst xmlns:p15="http://schemas.microsoft.com/office/powerpoint/2012/main">
        <p15:guide id="1" orient="horz" pos="2928">
          <p15:clr>
            <a:srgbClr val="A4A3A4"/>
          </p15:clr>
        </p15:guide>
        <p15:guide id="2" pos="2209">
          <p15:clr>
            <a:srgbClr val="A4A3A4"/>
          </p15:clr>
        </p15:guide>
      </p15:notes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jWPqq02MqIkze1bsALlW3eDW4Mo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7" d="100"/>
          <a:sy n="107" d="100"/>
        </p:scale>
        <p:origin x="1180" y="68"/>
      </p:cViewPr>
      <p:guideLst>
        <p:guide orient="horz" pos="576"/>
        <p:guide pos="3792"/>
      </p:guideLst>
    </p:cSldViewPr>
  </p:slideViewPr>
  <p:notesTextViewPr>
    <p:cViewPr>
      <p:scale>
        <a:sx n="1" d="1"/>
        <a:sy n="1" d="1"/>
      </p:scale>
      <p:origin x="0" y="0"/>
    </p:cViewPr>
  </p:notesTextViewPr>
  <p:notesViewPr>
    <p:cSldViewPr snapToGrid="0">
      <p:cViewPr varScale="1">
        <p:scale>
          <a:sx n="100" d="100"/>
          <a:sy n="100" d="100"/>
        </p:scale>
        <p:origin x="0" y="0"/>
      </p:cViewPr>
      <p:guideLst>
        <p:guide orient="horz" pos="2928"/>
        <p:guide pos="2209"/>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1" y="1"/>
            <a:ext cx="3037146" cy="464504"/>
          </a:xfrm>
          <a:prstGeom prst="rect">
            <a:avLst/>
          </a:prstGeom>
          <a:noFill/>
          <a:ln>
            <a:noFill/>
          </a:ln>
        </p:spPr>
        <p:txBody>
          <a:bodyPr spcFirstLastPara="1" wrap="square" lIns="93125" tIns="46550" rIns="93125" bIns="46550" anchor="t"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1"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1"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1"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1"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1"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1"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1"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1"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971654" y="1"/>
            <a:ext cx="3037146" cy="464504"/>
          </a:xfrm>
          <a:prstGeom prst="rect">
            <a:avLst/>
          </a:prstGeom>
          <a:noFill/>
          <a:ln>
            <a:noFill/>
          </a:ln>
        </p:spPr>
        <p:txBody>
          <a:bodyPr spcFirstLastPara="1" wrap="square" lIns="93125" tIns="46550" rIns="93125" bIns="46550" anchor="t" anchorCtr="0">
            <a:noAutofit/>
          </a:bodyPr>
          <a:lstStyle>
            <a:lvl1pPr marR="0" lvl="0" algn="r"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1"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1"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1"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1"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1"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1"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1"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1"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1181100" y="698500"/>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700881" y="4415157"/>
            <a:ext cx="5608640" cy="4183696"/>
          </a:xfrm>
          <a:prstGeom prst="rect">
            <a:avLst/>
          </a:prstGeom>
          <a:noFill/>
          <a:ln>
            <a:noFill/>
          </a:ln>
        </p:spPr>
        <p:txBody>
          <a:bodyPr spcFirstLastPara="1" wrap="square" lIns="93125" tIns="46550" rIns="93125" bIns="46550" anchor="t" anchorCtr="0">
            <a:normAutofit/>
          </a:bodyPr>
          <a:lstStyle>
            <a:lvl1pPr marL="457200" marR="0" lvl="0" indent="-228600" algn="l" rtl="0">
              <a:spcBef>
                <a:spcPts val="300"/>
              </a:spcBef>
              <a:spcAft>
                <a:spcPts val="0"/>
              </a:spcAft>
              <a:buSzPts val="1400"/>
              <a:buNone/>
              <a:defRPr sz="1000" b="0" i="0" u="none" strike="noStrike" cap="none">
                <a:solidFill>
                  <a:schemeClr val="dk1"/>
                </a:solidFill>
                <a:latin typeface="Calibri"/>
                <a:ea typeface="Calibri"/>
                <a:cs typeface="Calibri"/>
                <a:sym typeface="Calibri"/>
              </a:defRPr>
            </a:lvl1pPr>
            <a:lvl2pPr marL="914400" marR="0" lvl="1" indent="-228600" algn="l" rtl="0">
              <a:spcBef>
                <a:spcPts val="300"/>
              </a:spcBef>
              <a:spcAft>
                <a:spcPts val="0"/>
              </a:spcAft>
              <a:buSzPts val="1400"/>
              <a:buNone/>
              <a:defRPr sz="1000" b="0" i="0" u="none" strike="noStrike" cap="none">
                <a:solidFill>
                  <a:schemeClr val="dk1"/>
                </a:solidFill>
                <a:latin typeface="Calibri"/>
                <a:ea typeface="Calibri"/>
                <a:cs typeface="Calibri"/>
                <a:sym typeface="Calibri"/>
              </a:defRPr>
            </a:lvl2pPr>
            <a:lvl3pPr marL="1371600" marR="0" lvl="2" indent="-228600" algn="l" rtl="0">
              <a:spcBef>
                <a:spcPts val="300"/>
              </a:spcBef>
              <a:spcAft>
                <a:spcPts val="0"/>
              </a:spcAft>
              <a:buSzPts val="1400"/>
              <a:buNone/>
              <a:defRPr sz="1000" b="0" i="0" u="none" strike="noStrike" cap="none">
                <a:solidFill>
                  <a:schemeClr val="dk1"/>
                </a:solidFill>
                <a:latin typeface="Calibri"/>
                <a:ea typeface="Calibri"/>
                <a:cs typeface="Calibri"/>
                <a:sym typeface="Calibri"/>
              </a:defRPr>
            </a:lvl3pPr>
            <a:lvl4pPr marL="1828800" marR="0" lvl="3" indent="-228600" algn="l" rtl="0">
              <a:spcBef>
                <a:spcPts val="300"/>
              </a:spcBef>
              <a:spcAft>
                <a:spcPts val="0"/>
              </a:spcAft>
              <a:buSzPts val="1400"/>
              <a:buNone/>
              <a:defRPr sz="1000" b="0" i="0" u="none" strike="noStrike" cap="none">
                <a:solidFill>
                  <a:schemeClr val="dk1"/>
                </a:solidFill>
                <a:latin typeface="Calibri"/>
                <a:ea typeface="Calibri"/>
                <a:cs typeface="Calibri"/>
                <a:sym typeface="Calibri"/>
              </a:defRPr>
            </a:lvl4pPr>
            <a:lvl5pPr marL="2286000" marR="0" lvl="4" indent="-228600" algn="l" rtl="0">
              <a:spcBef>
                <a:spcPts val="300"/>
              </a:spcBef>
              <a:spcAft>
                <a:spcPts val="0"/>
              </a:spcAft>
              <a:buSzPts val="1400"/>
              <a:buNone/>
              <a:defRPr sz="10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1" y="8830312"/>
            <a:ext cx="3037146" cy="464504"/>
          </a:xfrm>
          <a:prstGeom prst="rect">
            <a:avLst/>
          </a:prstGeom>
          <a:noFill/>
          <a:ln>
            <a:noFill/>
          </a:ln>
        </p:spPr>
        <p:txBody>
          <a:bodyPr spcFirstLastPara="1" wrap="square" lIns="93125" tIns="46550" rIns="93125" bIns="46550" anchor="b"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1"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1"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1"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1"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1"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1"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1"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1"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971654" y="8830312"/>
            <a:ext cx="3037146" cy="464504"/>
          </a:xfrm>
          <a:prstGeom prst="rect">
            <a:avLst/>
          </a:prstGeom>
          <a:noFill/>
          <a:ln>
            <a:noFill/>
          </a:ln>
        </p:spPr>
        <p:txBody>
          <a:bodyPr spcFirstLastPara="1" wrap="square" lIns="93125" tIns="46550" rIns="93125" bIns="4655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Arial"/>
                <a:ea typeface="Arial"/>
                <a:cs typeface="Arial"/>
                <a:sym typeface="Arial"/>
              </a:rPr>
              <a:t>‹#›</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
        <p:cNvGrpSpPr/>
        <p:nvPr/>
      </p:nvGrpSpPr>
      <p:grpSpPr>
        <a:xfrm>
          <a:off x="0" y="0"/>
          <a:ext cx="0" cy="0"/>
          <a:chOff x="0" y="0"/>
          <a:chExt cx="0" cy="0"/>
        </a:xfrm>
      </p:grpSpPr>
      <p:sp>
        <p:nvSpPr>
          <p:cNvPr id="29" name="Google Shape;29;p1:notes"/>
          <p:cNvSpPr>
            <a:spLocks noGrp="1" noRot="1" noChangeAspect="1"/>
          </p:cNvSpPr>
          <p:nvPr>
            <p:ph type="sldImg" idx="2"/>
          </p:nvPr>
        </p:nvSpPr>
        <p:spPr>
          <a:xfrm>
            <a:off x="1181100" y="698500"/>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30" name="Google Shape;30;p1:notes"/>
          <p:cNvSpPr txBox="1">
            <a:spLocks noGrp="1"/>
          </p:cNvSpPr>
          <p:nvPr>
            <p:ph type="body" idx="1"/>
          </p:nvPr>
        </p:nvSpPr>
        <p:spPr>
          <a:xfrm>
            <a:off x="700881" y="4415157"/>
            <a:ext cx="5608640" cy="4183696"/>
          </a:xfrm>
          <a:prstGeom prst="rect">
            <a:avLst/>
          </a:prstGeom>
          <a:noFill/>
          <a:ln>
            <a:noFill/>
          </a:ln>
        </p:spPr>
        <p:txBody>
          <a:bodyPr spcFirstLastPara="1" wrap="square" lIns="93125" tIns="46550" rIns="93125" bIns="46550" anchor="t" anchorCtr="0">
            <a:norm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p2:notes"/>
          <p:cNvSpPr txBox="1"/>
          <p:nvPr/>
        </p:nvSpPr>
        <p:spPr>
          <a:xfrm>
            <a:off x="3970250" y="8829564"/>
            <a:ext cx="3038956" cy="464713"/>
          </a:xfrm>
          <a:prstGeom prst="rect">
            <a:avLst/>
          </a:prstGeom>
          <a:noFill/>
          <a:ln>
            <a:noFill/>
          </a:ln>
        </p:spPr>
        <p:txBody>
          <a:bodyPr spcFirstLastPara="1" wrap="square" lIns="92500" tIns="46250" rIns="92500" bIns="46250" anchor="b" anchorCtr="0">
            <a:noAutofit/>
          </a:bodyPr>
          <a:lstStyle/>
          <a:p>
            <a:pPr marL="0" marR="0" lvl="0" indent="0" algn="r" rtl="0">
              <a:spcBef>
                <a:spcPts val="0"/>
              </a:spcBef>
              <a:spcAft>
                <a:spcPts val="0"/>
              </a:spcAft>
              <a:buNone/>
            </a:pPr>
            <a:fld id="{00000000-1234-1234-1234-123412341234}" type="slidenum">
              <a:rPr lang="en-US" sz="1200" b="1" i="0" u="none" strike="noStrike" cap="none">
                <a:solidFill>
                  <a:schemeClr val="dk1"/>
                </a:solidFill>
                <a:latin typeface="Arial"/>
                <a:ea typeface="Arial"/>
                <a:cs typeface="Arial"/>
                <a:sym typeface="Arial"/>
              </a:rPr>
              <a:t>2</a:t>
            </a:fld>
            <a:endParaRPr sz="1200" b="1" i="0" u="none" strike="noStrike" cap="none">
              <a:solidFill>
                <a:schemeClr val="dk1"/>
              </a:solidFill>
              <a:latin typeface="Arial"/>
              <a:ea typeface="Arial"/>
              <a:cs typeface="Arial"/>
              <a:sym typeface="Arial"/>
            </a:endParaRPr>
          </a:p>
        </p:txBody>
      </p:sp>
      <p:sp>
        <p:nvSpPr>
          <p:cNvPr id="53" name="Google Shape;53;p2:notes"/>
          <p:cNvSpPr>
            <a:spLocks noGrp="1" noRot="1" noChangeAspect="1"/>
          </p:cNvSpPr>
          <p:nvPr>
            <p:ph type="sldImg" idx="2"/>
          </p:nvPr>
        </p:nvSpPr>
        <p:spPr>
          <a:xfrm>
            <a:off x="1181100" y="698500"/>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4" name="Google Shape;54;p2:notes"/>
          <p:cNvSpPr txBox="1">
            <a:spLocks noGrp="1"/>
          </p:cNvSpPr>
          <p:nvPr>
            <p:ph type="body" idx="1"/>
          </p:nvPr>
        </p:nvSpPr>
        <p:spPr>
          <a:xfrm>
            <a:off x="934880" y="4415844"/>
            <a:ext cx="5140641" cy="4182424"/>
          </a:xfrm>
          <a:prstGeom prst="rect">
            <a:avLst/>
          </a:prstGeom>
          <a:noFill/>
          <a:ln>
            <a:noFill/>
          </a:ln>
        </p:spPr>
        <p:txBody>
          <a:bodyPr spcFirstLastPara="1" wrap="square" lIns="93125" tIns="46550" rIns="93125" bIns="46550" anchor="t" anchorCtr="0">
            <a:normAutofit/>
          </a:bodyPr>
          <a:lstStyle/>
          <a:p>
            <a:pPr marL="0" lvl="0" indent="0" algn="l" rtl="0">
              <a:spcBef>
                <a:spcPts val="0"/>
              </a:spcBef>
              <a:spcAft>
                <a:spcPts val="0"/>
              </a:spcAft>
              <a:buNone/>
            </a:pPr>
            <a:endParaRPr>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p:cNvGrpSpPr/>
        <p:nvPr/>
      </p:nvGrpSpPr>
      <p:grpSpPr>
        <a:xfrm>
          <a:off x="0" y="0"/>
          <a:ext cx="0" cy="0"/>
          <a:chOff x="0" y="0"/>
          <a:chExt cx="0" cy="0"/>
        </a:xfrm>
      </p:grpSpPr>
      <p:sp>
        <p:nvSpPr>
          <p:cNvPr id="61" name="Google Shape;61;p3:notes"/>
          <p:cNvSpPr txBox="1">
            <a:spLocks noGrp="1"/>
          </p:cNvSpPr>
          <p:nvPr>
            <p:ph type="hdr" idx="2"/>
          </p:nvPr>
        </p:nvSpPr>
        <p:spPr>
          <a:xfrm>
            <a:off x="1" y="1"/>
            <a:ext cx="3037146" cy="464504"/>
          </a:xfrm>
          <a:prstGeom prst="rect">
            <a:avLst/>
          </a:prstGeom>
          <a:noFill/>
          <a:ln>
            <a:noFill/>
          </a:ln>
        </p:spPr>
        <p:txBody>
          <a:bodyPr spcFirstLastPara="1" wrap="square" lIns="93125" tIns="46550" rIns="93125" bIns="46550" anchor="t" anchorCtr="0">
            <a:noAutofit/>
          </a:bodyPr>
          <a:lstStyle/>
          <a:p>
            <a:pPr marL="0" lvl="0" indent="0" algn="l" rtl="0">
              <a:spcBef>
                <a:spcPts val="0"/>
              </a:spcBef>
              <a:spcAft>
                <a:spcPts val="0"/>
              </a:spcAft>
              <a:buNone/>
            </a:pPr>
            <a:r>
              <a:rPr lang="en-US" sz="1200" b="0" i="0" u="none" strike="noStrike" cap="none">
                <a:solidFill>
                  <a:schemeClr val="dk1"/>
                </a:solidFill>
                <a:latin typeface="Times New Roman"/>
                <a:ea typeface="Times New Roman"/>
                <a:cs typeface="Times New Roman"/>
                <a:sym typeface="Times New Roman"/>
              </a:rPr>
              <a:t>ENGG406 2015W</a:t>
            </a:r>
            <a:endParaRPr/>
          </a:p>
        </p:txBody>
      </p:sp>
      <p:sp>
        <p:nvSpPr>
          <p:cNvPr id="62" name="Google Shape;62;p3:notes"/>
          <p:cNvSpPr txBox="1">
            <a:spLocks noGrp="1"/>
          </p:cNvSpPr>
          <p:nvPr>
            <p:ph type="ftr" idx="11"/>
          </p:nvPr>
        </p:nvSpPr>
        <p:spPr>
          <a:xfrm>
            <a:off x="1" y="8830312"/>
            <a:ext cx="3037146" cy="464504"/>
          </a:xfrm>
          <a:prstGeom prst="rect">
            <a:avLst/>
          </a:prstGeom>
          <a:noFill/>
          <a:ln>
            <a:noFill/>
          </a:ln>
        </p:spPr>
        <p:txBody>
          <a:bodyPr spcFirstLastPara="1" wrap="square" lIns="93125" tIns="46550" rIns="93125" bIns="46550" anchor="b" anchorCtr="0">
            <a:noAutofit/>
          </a:bodyPr>
          <a:lstStyle/>
          <a:p>
            <a:pPr marL="0" lvl="0" indent="0" algn="l" rtl="0">
              <a:spcBef>
                <a:spcPts val="0"/>
              </a:spcBef>
              <a:spcAft>
                <a:spcPts val="0"/>
              </a:spcAft>
              <a:buNone/>
            </a:pPr>
            <a:r>
              <a:rPr lang="en-US" sz="1200" b="0" i="0" u="none" strike="noStrike" cap="none">
                <a:solidFill>
                  <a:schemeClr val="dk1"/>
                </a:solidFill>
                <a:latin typeface="Times New Roman"/>
                <a:ea typeface="Times New Roman"/>
                <a:cs typeface="Times New Roman"/>
                <a:sym typeface="Times New Roman"/>
              </a:rPr>
              <a:t>3-March-2015</a:t>
            </a:r>
            <a:endParaRPr/>
          </a:p>
        </p:txBody>
      </p:sp>
      <p:sp>
        <p:nvSpPr>
          <p:cNvPr id="63" name="Google Shape;63;p3:notes"/>
          <p:cNvSpPr txBox="1">
            <a:spLocks noGrp="1"/>
          </p:cNvSpPr>
          <p:nvPr>
            <p:ph type="sldNum" idx="12"/>
          </p:nvPr>
        </p:nvSpPr>
        <p:spPr>
          <a:xfrm>
            <a:off x="3971654" y="8830312"/>
            <a:ext cx="3037146" cy="464504"/>
          </a:xfrm>
          <a:prstGeom prst="rect">
            <a:avLst/>
          </a:prstGeom>
          <a:noFill/>
          <a:ln>
            <a:noFill/>
          </a:ln>
        </p:spPr>
        <p:txBody>
          <a:bodyPr spcFirstLastPara="1" wrap="square" lIns="93125" tIns="46550" rIns="93125" bIns="4655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t>3</a:t>
            </a:fld>
            <a:endParaRPr sz="1200" b="0" i="0" u="none" strike="noStrike" cap="none">
              <a:solidFill>
                <a:schemeClr val="dk1"/>
              </a:solidFill>
              <a:latin typeface="Times New Roman"/>
              <a:ea typeface="Times New Roman"/>
              <a:cs typeface="Times New Roman"/>
              <a:sym typeface="Times New Roman"/>
            </a:endParaRPr>
          </a:p>
        </p:txBody>
      </p:sp>
      <p:sp>
        <p:nvSpPr>
          <p:cNvPr id="64" name="Google Shape;64;p3:notes"/>
          <p:cNvSpPr txBox="1"/>
          <p:nvPr/>
        </p:nvSpPr>
        <p:spPr>
          <a:xfrm>
            <a:off x="3974250" y="8831898"/>
            <a:ext cx="3036150" cy="464503"/>
          </a:xfrm>
          <a:prstGeom prst="rect">
            <a:avLst/>
          </a:prstGeom>
          <a:noFill/>
          <a:ln>
            <a:noFill/>
          </a:ln>
        </p:spPr>
        <p:txBody>
          <a:bodyPr spcFirstLastPara="1" wrap="square" lIns="93100" tIns="46550" rIns="93100" bIns="46550" anchor="b" anchorCtr="0">
            <a:noAutofit/>
          </a:bodyPr>
          <a:lstStyle/>
          <a:p>
            <a:pPr marL="0" marR="0" lvl="0" indent="0" algn="r" rtl="0">
              <a:spcBef>
                <a:spcPts val="0"/>
              </a:spcBef>
              <a:spcAft>
                <a:spcPts val="0"/>
              </a:spcAft>
              <a:buNone/>
            </a:pPr>
            <a:fld id="{00000000-1234-1234-1234-123412341234}" type="slidenum">
              <a:rPr lang="en-US" sz="1200" b="1" i="0" u="none" strike="noStrike" cap="none">
                <a:solidFill>
                  <a:schemeClr val="dk1"/>
                </a:solidFill>
                <a:latin typeface="Times New Roman"/>
                <a:ea typeface="Times New Roman"/>
                <a:cs typeface="Times New Roman"/>
                <a:sym typeface="Times New Roman"/>
              </a:rPr>
              <a:t>3</a:t>
            </a:fld>
            <a:endParaRPr sz="1200" b="1" i="0" u="none" strike="noStrike" cap="none">
              <a:solidFill>
                <a:schemeClr val="dk1"/>
              </a:solidFill>
              <a:latin typeface="Times New Roman"/>
              <a:ea typeface="Times New Roman"/>
              <a:cs typeface="Times New Roman"/>
              <a:sym typeface="Times New Roman"/>
            </a:endParaRPr>
          </a:p>
        </p:txBody>
      </p:sp>
      <p:sp>
        <p:nvSpPr>
          <p:cNvPr id="65" name="Google Shape;65;p3:notes"/>
          <p:cNvSpPr>
            <a:spLocks noGrp="1" noRot="1" noChangeAspect="1"/>
          </p:cNvSpPr>
          <p:nvPr>
            <p:ph type="sldImg" idx="3"/>
          </p:nvPr>
        </p:nvSpPr>
        <p:spPr>
          <a:xfrm>
            <a:off x="1181100" y="698500"/>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6" name="Google Shape;66;p3:notes"/>
          <p:cNvSpPr txBox="1">
            <a:spLocks noGrp="1"/>
          </p:cNvSpPr>
          <p:nvPr>
            <p:ph type="body" idx="1"/>
          </p:nvPr>
        </p:nvSpPr>
        <p:spPr>
          <a:xfrm>
            <a:off x="700881" y="4415157"/>
            <a:ext cx="5608640" cy="4183696"/>
          </a:xfrm>
          <a:prstGeom prst="rect">
            <a:avLst/>
          </a:prstGeom>
          <a:noFill/>
          <a:ln>
            <a:noFill/>
          </a:ln>
        </p:spPr>
        <p:txBody>
          <a:bodyPr spcFirstLastPara="1" wrap="square" lIns="93125" tIns="46550" rIns="93125" bIns="46550" anchor="t" anchorCtr="0">
            <a:norm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4</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381514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5</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140049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p:cNvGrpSpPr/>
        <p:nvPr/>
      </p:nvGrpSpPr>
      <p:grpSpPr>
        <a:xfrm>
          <a:off x="0" y="0"/>
          <a:ext cx="0" cy="0"/>
          <a:chOff x="0" y="0"/>
          <a:chExt cx="0" cy="0"/>
        </a:xfrm>
      </p:grpSpPr>
      <p:sp>
        <p:nvSpPr>
          <p:cNvPr id="73" name="Google Shape;73;p4:notes"/>
          <p:cNvSpPr txBox="1"/>
          <p:nvPr/>
        </p:nvSpPr>
        <p:spPr>
          <a:xfrm>
            <a:off x="3970250" y="8829564"/>
            <a:ext cx="3038956" cy="464713"/>
          </a:xfrm>
          <a:prstGeom prst="rect">
            <a:avLst/>
          </a:prstGeom>
          <a:noFill/>
          <a:ln>
            <a:noFill/>
          </a:ln>
        </p:spPr>
        <p:txBody>
          <a:bodyPr spcFirstLastPara="1" wrap="square" lIns="92500" tIns="46250" rIns="92500" bIns="46250" anchor="b" anchorCtr="0">
            <a:noAutofit/>
          </a:bodyPr>
          <a:lstStyle/>
          <a:p>
            <a:pPr marL="0" marR="0" lvl="0" indent="0" algn="r" rtl="0">
              <a:spcBef>
                <a:spcPts val="0"/>
              </a:spcBef>
              <a:spcAft>
                <a:spcPts val="0"/>
              </a:spcAft>
              <a:buNone/>
            </a:pPr>
            <a:fld id="{00000000-1234-1234-1234-123412341234}" type="slidenum">
              <a:rPr lang="en-US" sz="1200" b="1" i="0" u="none" strike="noStrike" cap="none">
                <a:solidFill>
                  <a:schemeClr val="dk1"/>
                </a:solidFill>
                <a:latin typeface="Arial"/>
                <a:ea typeface="Arial"/>
                <a:cs typeface="Arial"/>
                <a:sym typeface="Arial"/>
              </a:rPr>
              <a:t>6</a:t>
            </a:fld>
            <a:endParaRPr sz="1200" b="1" i="0" u="none" strike="noStrike" cap="none">
              <a:solidFill>
                <a:schemeClr val="dk1"/>
              </a:solidFill>
              <a:latin typeface="Arial"/>
              <a:ea typeface="Arial"/>
              <a:cs typeface="Arial"/>
              <a:sym typeface="Arial"/>
            </a:endParaRPr>
          </a:p>
        </p:txBody>
      </p:sp>
      <p:sp>
        <p:nvSpPr>
          <p:cNvPr id="74" name="Google Shape;74;p4:notes"/>
          <p:cNvSpPr>
            <a:spLocks noGrp="1" noRot="1" noChangeAspect="1"/>
          </p:cNvSpPr>
          <p:nvPr>
            <p:ph type="sldImg" idx="2"/>
          </p:nvPr>
        </p:nvSpPr>
        <p:spPr>
          <a:xfrm>
            <a:off x="1181100" y="698500"/>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5" name="Google Shape;75;p4:notes"/>
          <p:cNvSpPr txBox="1">
            <a:spLocks noGrp="1"/>
          </p:cNvSpPr>
          <p:nvPr>
            <p:ph type="body" idx="1"/>
          </p:nvPr>
        </p:nvSpPr>
        <p:spPr>
          <a:xfrm>
            <a:off x="934880" y="4415844"/>
            <a:ext cx="5140641" cy="4182424"/>
          </a:xfrm>
          <a:prstGeom prst="rect">
            <a:avLst/>
          </a:prstGeom>
          <a:noFill/>
          <a:ln>
            <a:noFill/>
          </a:ln>
        </p:spPr>
        <p:txBody>
          <a:bodyPr spcFirstLastPara="1" wrap="square" lIns="93125" tIns="46550" rIns="93125" bIns="46550" anchor="t" anchorCtr="0">
            <a:normAutofit/>
          </a:bodyPr>
          <a:lstStyle/>
          <a:p>
            <a:pPr marL="0" lvl="0" indent="0" algn="l" rtl="0">
              <a:spcBef>
                <a:spcPts val="0"/>
              </a:spcBef>
              <a:spcAft>
                <a:spcPts val="0"/>
              </a:spcAft>
              <a:buNone/>
            </a:pPr>
            <a:endParaRPr>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5:notes"/>
          <p:cNvSpPr>
            <a:spLocks noGrp="1" noRot="1" noChangeAspect="1"/>
          </p:cNvSpPr>
          <p:nvPr>
            <p:ph type="sldImg" idx="2"/>
          </p:nvPr>
        </p:nvSpPr>
        <p:spPr>
          <a:xfrm>
            <a:off x="1181100" y="698500"/>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 name="Google Shape;91;p5:notes"/>
          <p:cNvSpPr txBox="1">
            <a:spLocks noGrp="1"/>
          </p:cNvSpPr>
          <p:nvPr>
            <p:ph type="body" idx="1"/>
          </p:nvPr>
        </p:nvSpPr>
        <p:spPr>
          <a:xfrm>
            <a:off x="700881" y="4415157"/>
            <a:ext cx="5608640" cy="4183696"/>
          </a:xfrm>
          <a:prstGeom prst="rect">
            <a:avLst/>
          </a:prstGeom>
          <a:noFill/>
          <a:ln>
            <a:noFill/>
          </a:ln>
        </p:spPr>
        <p:txBody>
          <a:bodyPr spcFirstLastPara="1" wrap="square" lIns="93125" tIns="46550" rIns="93125" bIns="46550" anchor="t" anchorCtr="0">
            <a:normAutofit/>
          </a:bodyPr>
          <a:lstStyle/>
          <a:p>
            <a:pPr marL="0" marR="0" lvl="0" indent="0" algn="l" rtl="0">
              <a:lnSpc>
                <a:spcPct val="100000"/>
              </a:lnSpc>
              <a:spcBef>
                <a:spcPts val="0"/>
              </a:spcBef>
              <a:spcAft>
                <a:spcPts val="0"/>
              </a:spcAft>
              <a:buClr>
                <a:schemeClr val="dk1"/>
              </a:buClr>
              <a:buSzPts val="1000"/>
              <a:buFont typeface="Calibri"/>
              <a:buNone/>
            </a:pPr>
            <a:r>
              <a:rPr lang="en-US"/>
              <a:t>Multiplying: Used to compare companies of various sizes together over a period of time. Explained in more detail on the next slide. </a:t>
            </a:r>
            <a:r>
              <a:rPr lang="en-US" sz="1200" cap="none"/>
              <a:t>The ideal value for all 3 lagging indicators is 0. A good TRIR score is </a:t>
            </a:r>
            <a:r>
              <a:rPr lang="en-US" sz="1200" u="sng" cap="none"/>
              <a:t>&lt;</a:t>
            </a:r>
            <a:r>
              <a:rPr lang="en-US" sz="1200" cap="none"/>
              <a:t> 3 </a:t>
            </a:r>
            <a:endParaRPr sz="1200" cap="none"/>
          </a:p>
          <a:p>
            <a:pPr marL="0" marR="0" lvl="0" indent="0" algn="l" rtl="0">
              <a:lnSpc>
                <a:spcPct val="100000"/>
              </a:lnSpc>
              <a:spcBef>
                <a:spcPts val="300"/>
              </a:spcBef>
              <a:spcAft>
                <a:spcPts val="0"/>
              </a:spcAft>
              <a:buClr>
                <a:schemeClr val="dk1"/>
              </a:buClr>
              <a:buSzPts val="1000"/>
              <a:buFont typeface="Arial"/>
              <a:buNone/>
            </a:pPr>
            <a:r>
              <a:rPr lang="en-US" sz="1000">
                <a:latin typeface="Arial"/>
                <a:ea typeface="Arial"/>
                <a:cs typeface="Arial"/>
                <a:sym typeface="Arial"/>
              </a:rPr>
              <a:t>200,000 = 100 employees * 40 hours/week * 50 weeks/year  </a:t>
            </a:r>
            <a:endParaRPr/>
          </a:p>
          <a:p>
            <a:pPr marL="0" marR="0" lvl="0" indent="0" algn="l" rtl="0">
              <a:lnSpc>
                <a:spcPct val="100000"/>
              </a:lnSpc>
              <a:spcBef>
                <a:spcPts val="300"/>
              </a:spcBef>
              <a:spcAft>
                <a:spcPts val="0"/>
              </a:spcAft>
              <a:buClr>
                <a:schemeClr val="dk1"/>
              </a:buClr>
              <a:buSzPts val="1000"/>
              <a:buFont typeface="Calibri"/>
              <a:buNone/>
            </a:pPr>
            <a:endParaRPr/>
          </a:p>
          <a:p>
            <a:pPr marL="0" lvl="0" indent="0" algn="l" rtl="0">
              <a:spcBef>
                <a:spcPts val="300"/>
              </a:spcBef>
              <a:spcAft>
                <a:spcPts val="0"/>
              </a:spcAft>
              <a:buNone/>
            </a:pPr>
            <a:endParaRPr/>
          </a:p>
          <a:p>
            <a:pPr marL="0" lvl="0" indent="0" algn="l" rtl="0">
              <a:spcBef>
                <a:spcPts val="300"/>
              </a:spcBef>
              <a:spcAft>
                <a:spcPts val="0"/>
              </a:spcAft>
              <a:buNone/>
            </a:pPr>
            <a:endParaRPr/>
          </a:p>
        </p:txBody>
      </p:sp>
      <p:sp>
        <p:nvSpPr>
          <p:cNvPr id="92" name="Google Shape;92;p5:notes"/>
          <p:cNvSpPr txBox="1">
            <a:spLocks noGrp="1"/>
          </p:cNvSpPr>
          <p:nvPr>
            <p:ph type="hdr" idx="3"/>
          </p:nvPr>
        </p:nvSpPr>
        <p:spPr>
          <a:xfrm>
            <a:off x="1" y="1"/>
            <a:ext cx="3037146" cy="464504"/>
          </a:xfrm>
          <a:prstGeom prst="rect">
            <a:avLst/>
          </a:prstGeom>
          <a:noFill/>
          <a:ln>
            <a:noFill/>
          </a:ln>
        </p:spPr>
        <p:txBody>
          <a:bodyPr spcFirstLastPara="1" wrap="square" lIns="93125" tIns="46550" rIns="93125" bIns="46550" anchor="t" anchorCtr="0">
            <a:noAutofit/>
          </a:bodyPr>
          <a:lstStyle/>
          <a:p>
            <a:pPr marL="0" lvl="0" indent="0" algn="l" rtl="0">
              <a:spcBef>
                <a:spcPts val="0"/>
              </a:spcBef>
              <a:spcAft>
                <a:spcPts val="0"/>
              </a:spcAft>
              <a:buNone/>
            </a:pPr>
            <a:r>
              <a:rPr lang="en-US"/>
              <a:t>ENGG406 2015W</a:t>
            </a:r>
            <a:endParaRPr/>
          </a:p>
        </p:txBody>
      </p:sp>
      <p:sp>
        <p:nvSpPr>
          <p:cNvPr id="93" name="Google Shape;93;p5:notes"/>
          <p:cNvSpPr txBox="1">
            <a:spLocks noGrp="1"/>
          </p:cNvSpPr>
          <p:nvPr>
            <p:ph type="ftr" idx="11"/>
          </p:nvPr>
        </p:nvSpPr>
        <p:spPr>
          <a:xfrm>
            <a:off x="1" y="8830312"/>
            <a:ext cx="3037146" cy="464504"/>
          </a:xfrm>
          <a:prstGeom prst="rect">
            <a:avLst/>
          </a:prstGeom>
          <a:noFill/>
          <a:ln>
            <a:noFill/>
          </a:ln>
        </p:spPr>
        <p:txBody>
          <a:bodyPr spcFirstLastPara="1" wrap="square" lIns="93125" tIns="46550" rIns="93125" bIns="46550" anchor="b" anchorCtr="0">
            <a:noAutofit/>
          </a:bodyPr>
          <a:lstStyle/>
          <a:p>
            <a:pPr marL="0" lvl="0" indent="0" algn="l" rtl="0">
              <a:spcBef>
                <a:spcPts val="0"/>
              </a:spcBef>
              <a:spcAft>
                <a:spcPts val="0"/>
              </a:spcAft>
              <a:buNone/>
            </a:pPr>
            <a:r>
              <a:rPr lang="en-US"/>
              <a:t>4-March-2015</a:t>
            </a:r>
            <a:endParaRPr/>
          </a:p>
        </p:txBody>
      </p:sp>
      <p:sp>
        <p:nvSpPr>
          <p:cNvPr id="94" name="Google Shape;94;p5:notes"/>
          <p:cNvSpPr txBox="1">
            <a:spLocks noGrp="1"/>
          </p:cNvSpPr>
          <p:nvPr>
            <p:ph type="sldNum" idx="12"/>
          </p:nvPr>
        </p:nvSpPr>
        <p:spPr>
          <a:xfrm>
            <a:off x="3971654" y="8830312"/>
            <a:ext cx="3037146" cy="464504"/>
          </a:xfrm>
          <a:prstGeom prst="rect">
            <a:avLst/>
          </a:prstGeom>
          <a:noFill/>
          <a:ln>
            <a:noFill/>
          </a:ln>
        </p:spPr>
        <p:txBody>
          <a:bodyPr spcFirstLastPara="1" wrap="square" lIns="93125" tIns="46550" rIns="93125" bIns="46550" anchor="b" anchorCtr="0">
            <a:no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6:notes"/>
          <p:cNvSpPr txBox="1"/>
          <p:nvPr/>
        </p:nvSpPr>
        <p:spPr>
          <a:xfrm>
            <a:off x="3970250" y="8829564"/>
            <a:ext cx="3038956" cy="464713"/>
          </a:xfrm>
          <a:prstGeom prst="rect">
            <a:avLst/>
          </a:prstGeom>
          <a:noFill/>
          <a:ln>
            <a:noFill/>
          </a:ln>
        </p:spPr>
        <p:txBody>
          <a:bodyPr spcFirstLastPara="1" wrap="square" lIns="92500" tIns="46250" rIns="92500" bIns="46250" anchor="b" anchorCtr="0">
            <a:noAutofit/>
          </a:bodyPr>
          <a:lstStyle/>
          <a:p>
            <a:pPr marL="0" marR="0" lvl="0" indent="0" algn="r" rtl="0">
              <a:spcBef>
                <a:spcPts val="0"/>
              </a:spcBef>
              <a:spcAft>
                <a:spcPts val="0"/>
              </a:spcAft>
              <a:buNone/>
            </a:pPr>
            <a:fld id="{00000000-1234-1234-1234-123412341234}" type="slidenum">
              <a:rPr lang="en-US" sz="1200" b="1" i="0" u="none" strike="noStrike" cap="none">
                <a:solidFill>
                  <a:schemeClr val="dk1"/>
                </a:solidFill>
                <a:latin typeface="Arial"/>
                <a:ea typeface="Arial"/>
                <a:cs typeface="Arial"/>
                <a:sym typeface="Arial"/>
              </a:rPr>
              <a:t>8</a:t>
            </a:fld>
            <a:endParaRPr sz="1200" b="1" i="0" u="none" strike="noStrike" cap="none">
              <a:solidFill>
                <a:schemeClr val="dk1"/>
              </a:solidFill>
              <a:latin typeface="Arial"/>
              <a:ea typeface="Arial"/>
              <a:cs typeface="Arial"/>
              <a:sym typeface="Arial"/>
            </a:endParaRPr>
          </a:p>
        </p:txBody>
      </p:sp>
      <p:sp>
        <p:nvSpPr>
          <p:cNvPr id="102" name="Google Shape;102;p6:notes"/>
          <p:cNvSpPr>
            <a:spLocks noGrp="1" noRot="1" noChangeAspect="1"/>
          </p:cNvSpPr>
          <p:nvPr>
            <p:ph type="sldImg" idx="2"/>
          </p:nvPr>
        </p:nvSpPr>
        <p:spPr>
          <a:xfrm>
            <a:off x="1181100" y="698500"/>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03" name="Google Shape;103;p6:notes"/>
          <p:cNvSpPr txBox="1">
            <a:spLocks noGrp="1"/>
          </p:cNvSpPr>
          <p:nvPr>
            <p:ph type="body" idx="1"/>
          </p:nvPr>
        </p:nvSpPr>
        <p:spPr>
          <a:xfrm>
            <a:off x="934880" y="4415844"/>
            <a:ext cx="5140641" cy="4182424"/>
          </a:xfrm>
          <a:prstGeom prst="rect">
            <a:avLst/>
          </a:prstGeom>
          <a:noFill/>
          <a:ln>
            <a:noFill/>
          </a:ln>
        </p:spPr>
        <p:txBody>
          <a:bodyPr spcFirstLastPara="1" wrap="square" lIns="93125" tIns="46550" rIns="93125" bIns="46550" anchor="t" anchorCtr="0">
            <a:normAutofit/>
          </a:bodyPr>
          <a:lstStyle/>
          <a:p>
            <a:pPr marL="0" lvl="0" indent="0" algn="l" rtl="0">
              <a:spcBef>
                <a:spcPts val="0"/>
              </a:spcBef>
              <a:spcAft>
                <a:spcPts val="0"/>
              </a:spcAft>
              <a:buNone/>
            </a:pPr>
            <a:endParaRPr>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7:notes"/>
          <p:cNvSpPr>
            <a:spLocks noGrp="1" noRot="1" noChangeAspect="1"/>
          </p:cNvSpPr>
          <p:nvPr>
            <p:ph type="sldImg" idx="2"/>
          </p:nvPr>
        </p:nvSpPr>
        <p:spPr>
          <a:xfrm>
            <a:off x="1181100" y="698500"/>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1" name="Google Shape;111;p7:notes"/>
          <p:cNvSpPr txBox="1">
            <a:spLocks noGrp="1"/>
          </p:cNvSpPr>
          <p:nvPr>
            <p:ph type="body" idx="1"/>
          </p:nvPr>
        </p:nvSpPr>
        <p:spPr>
          <a:xfrm>
            <a:off x="700881" y="4415157"/>
            <a:ext cx="5608640" cy="4183696"/>
          </a:xfrm>
          <a:prstGeom prst="rect">
            <a:avLst/>
          </a:prstGeom>
          <a:noFill/>
          <a:ln>
            <a:noFill/>
          </a:ln>
        </p:spPr>
        <p:txBody>
          <a:bodyPr spcFirstLastPara="1" wrap="square" lIns="93125" tIns="46550" rIns="93125" bIns="46550" anchor="t" anchorCtr="0">
            <a:normAutofit/>
          </a:bodyPr>
          <a:lstStyle/>
          <a:p>
            <a:pPr marL="0" lvl="0" indent="0" algn="l" rtl="0">
              <a:spcBef>
                <a:spcPts val="0"/>
              </a:spcBef>
              <a:spcAft>
                <a:spcPts val="0"/>
              </a:spcAft>
              <a:buNone/>
            </a:pPr>
            <a:r>
              <a:rPr lang="en-US"/>
              <a:t>A more proactive approach is the use of leading indicators, which are measures or activities taken to prevent incidents from occurring. If used correctly, leading indicators focus resources on incident prevention, as well as allow management to actively demonstrate leadership and empower workers to engage in discussions about how to prevent future incidents. Leading indicators must be measurable, positive, simple, and result in incident prevention. In other words, personnel resources and time focused on tracking leading indicators should result in a positive focus on safety and incident prevention (i.e. what you want to achieve, not the negative results). The choice of leading indicators are specific to the organization and its activities, but some common ones consist of the following:</a:t>
            </a:r>
            <a:endParaRPr/>
          </a:p>
        </p:txBody>
      </p:sp>
      <p:sp>
        <p:nvSpPr>
          <p:cNvPr id="112" name="Google Shape;112;p7:notes"/>
          <p:cNvSpPr txBox="1">
            <a:spLocks noGrp="1"/>
          </p:cNvSpPr>
          <p:nvPr>
            <p:ph type="sldNum" idx="12"/>
          </p:nvPr>
        </p:nvSpPr>
        <p:spPr>
          <a:xfrm>
            <a:off x="3971654" y="8830312"/>
            <a:ext cx="3037146" cy="464504"/>
          </a:xfrm>
          <a:prstGeom prst="rect">
            <a:avLst/>
          </a:prstGeom>
          <a:noFill/>
          <a:ln>
            <a:noFill/>
          </a:ln>
        </p:spPr>
        <p:txBody>
          <a:bodyPr spcFirstLastPara="1" wrap="square" lIns="93125" tIns="46550" rIns="93125" bIns="46550" anchor="b" anchorCtr="0">
            <a:noAutofit/>
          </a:bodyPr>
          <a:lstStyle/>
          <a:p>
            <a:pPr marL="0" lvl="0" indent="0" algn="r" rtl="0">
              <a:spcBef>
                <a:spcPts val="0"/>
              </a:spcBef>
              <a:spcAft>
                <a:spcPts val="0"/>
              </a:spcAft>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p8:notes"/>
          <p:cNvSpPr txBox="1"/>
          <p:nvPr/>
        </p:nvSpPr>
        <p:spPr>
          <a:xfrm>
            <a:off x="3970250" y="8829564"/>
            <a:ext cx="3038956" cy="464713"/>
          </a:xfrm>
          <a:prstGeom prst="rect">
            <a:avLst/>
          </a:prstGeom>
          <a:noFill/>
          <a:ln>
            <a:noFill/>
          </a:ln>
        </p:spPr>
        <p:txBody>
          <a:bodyPr spcFirstLastPara="1" wrap="square" lIns="92500" tIns="46250" rIns="92500" bIns="46250" anchor="b" anchorCtr="0">
            <a:noAutofit/>
          </a:bodyPr>
          <a:lstStyle/>
          <a:p>
            <a:pPr marL="0" marR="0" lvl="0" indent="0" algn="r" rtl="0">
              <a:spcBef>
                <a:spcPts val="0"/>
              </a:spcBef>
              <a:spcAft>
                <a:spcPts val="0"/>
              </a:spcAft>
              <a:buNone/>
            </a:pPr>
            <a:fld id="{00000000-1234-1234-1234-123412341234}" type="slidenum">
              <a:rPr lang="en-US" sz="1200" b="1" i="0" u="none" strike="noStrike" cap="none">
                <a:solidFill>
                  <a:schemeClr val="dk1"/>
                </a:solidFill>
                <a:latin typeface="Arial"/>
                <a:ea typeface="Arial"/>
                <a:cs typeface="Arial"/>
                <a:sym typeface="Arial"/>
              </a:rPr>
              <a:t>10</a:t>
            </a:fld>
            <a:endParaRPr sz="1200" b="1" i="0" u="none" strike="noStrike" cap="none">
              <a:solidFill>
                <a:schemeClr val="dk1"/>
              </a:solidFill>
              <a:latin typeface="Arial"/>
              <a:ea typeface="Arial"/>
              <a:cs typeface="Arial"/>
              <a:sym typeface="Arial"/>
            </a:endParaRPr>
          </a:p>
        </p:txBody>
      </p:sp>
      <p:sp>
        <p:nvSpPr>
          <p:cNvPr id="121" name="Google Shape;121;p8:notes"/>
          <p:cNvSpPr>
            <a:spLocks noGrp="1" noRot="1" noChangeAspect="1"/>
          </p:cNvSpPr>
          <p:nvPr>
            <p:ph type="sldImg" idx="2"/>
          </p:nvPr>
        </p:nvSpPr>
        <p:spPr>
          <a:xfrm>
            <a:off x="1181100" y="698500"/>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22" name="Google Shape;122;p8:notes"/>
          <p:cNvSpPr txBox="1">
            <a:spLocks noGrp="1"/>
          </p:cNvSpPr>
          <p:nvPr>
            <p:ph type="body" idx="1"/>
          </p:nvPr>
        </p:nvSpPr>
        <p:spPr>
          <a:xfrm>
            <a:off x="934880" y="4415844"/>
            <a:ext cx="5140641" cy="4182424"/>
          </a:xfrm>
          <a:prstGeom prst="rect">
            <a:avLst/>
          </a:prstGeom>
          <a:noFill/>
          <a:ln>
            <a:noFill/>
          </a:ln>
        </p:spPr>
        <p:txBody>
          <a:bodyPr spcFirstLastPara="1" wrap="square" lIns="93125" tIns="46550" rIns="93125" bIns="46550" anchor="t" anchorCtr="0">
            <a:normAutofit/>
          </a:bodyPr>
          <a:lstStyle/>
          <a:p>
            <a:pPr marL="0" lvl="0" indent="0" algn="l" rtl="0">
              <a:spcBef>
                <a:spcPts val="0"/>
              </a:spcBef>
              <a:spcAft>
                <a:spcPts val="0"/>
              </a:spcAft>
              <a:buNone/>
            </a:pPr>
            <a:endParaRPr>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p9:notes"/>
          <p:cNvSpPr txBox="1">
            <a:spLocks noGrp="1"/>
          </p:cNvSpPr>
          <p:nvPr>
            <p:ph type="hdr" idx="2"/>
          </p:nvPr>
        </p:nvSpPr>
        <p:spPr>
          <a:xfrm>
            <a:off x="1" y="1"/>
            <a:ext cx="3037146" cy="464504"/>
          </a:xfrm>
          <a:prstGeom prst="rect">
            <a:avLst/>
          </a:prstGeom>
          <a:noFill/>
          <a:ln>
            <a:noFill/>
          </a:ln>
        </p:spPr>
        <p:txBody>
          <a:bodyPr spcFirstLastPara="1" wrap="square" lIns="93125" tIns="46550" rIns="93125" bIns="46550" anchor="t" anchorCtr="0">
            <a:noAutofit/>
          </a:bodyPr>
          <a:lstStyle/>
          <a:p>
            <a:pPr marL="0" lvl="0" indent="0" algn="l" rtl="0">
              <a:spcBef>
                <a:spcPts val="0"/>
              </a:spcBef>
              <a:spcAft>
                <a:spcPts val="0"/>
              </a:spcAft>
              <a:buNone/>
            </a:pPr>
            <a:r>
              <a:rPr lang="en-US" sz="1200" b="0" i="0" u="none" strike="noStrike" cap="none">
                <a:solidFill>
                  <a:schemeClr val="dk1"/>
                </a:solidFill>
                <a:latin typeface="Times New Roman"/>
                <a:ea typeface="Times New Roman"/>
                <a:cs typeface="Times New Roman"/>
                <a:sym typeface="Times New Roman"/>
              </a:rPr>
              <a:t>ENGG406 2015W</a:t>
            </a:r>
            <a:endParaRPr/>
          </a:p>
        </p:txBody>
      </p:sp>
      <p:sp>
        <p:nvSpPr>
          <p:cNvPr id="134" name="Google Shape;134;p9:notes"/>
          <p:cNvSpPr txBox="1">
            <a:spLocks noGrp="1"/>
          </p:cNvSpPr>
          <p:nvPr>
            <p:ph type="ftr" idx="11"/>
          </p:nvPr>
        </p:nvSpPr>
        <p:spPr>
          <a:xfrm>
            <a:off x="1" y="8830312"/>
            <a:ext cx="3037146" cy="464504"/>
          </a:xfrm>
          <a:prstGeom prst="rect">
            <a:avLst/>
          </a:prstGeom>
          <a:noFill/>
          <a:ln>
            <a:noFill/>
          </a:ln>
        </p:spPr>
        <p:txBody>
          <a:bodyPr spcFirstLastPara="1" wrap="square" lIns="93125" tIns="46550" rIns="93125" bIns="46550" anchor="b" anchorCtr="0">
            <a:noAutofit/>
          </a:bodyPr>
          <a:lstStyle/>
          <a:p>
            <a:pPr marL="0" lvl="0" indent="0" algn="l" rtl="0">
              <a:spcBef>
                <a:spcPts val="0"/>
              </a:spcBef>
              <a:spcAft>
                <a:spcPts val="0"/>
              </a:spcAft>
              <a:buNone/>
            </a:pPr>
            <a:r>
              <a:rPr lang="en-US" sz="1200" b="0" i="0" u="none" strike="noStrike" cap="none">
                <a:solidFill>
                  <a:schemeClr val="dk1"/>
                </a:solidFill>
                <a:latin typeface="Times New Roman"/>
                <a:ea typeface="Times New Roman"/>
                <a:cs typeface="Times New Roman"/>
                <a:sym typeface="Times New Roman"/>
              </a:rPr>
              <a:t>3-March-2015</a:t>
            </a:r>
            <a:endParaRPr/>
          </a:p>
        </p:txBody>
      </p:sp>
      <p:sp>
        <p:nvSpPr>
          <p:cNvPr id="135" name="Google Shape;135;p9:notes"/>
          <p:cNvSpPr txBox="1">
            <a:spLocks noGrp="1"/>
          </p:cNvSpPr>
          <p:nvPr>
            <p:ph type="sldNum" idx="12"/>
          </p:nvPr>
        </p:nvSpPr>
        <p:spPr>
          <a:xfrm>
            <a:off x="3971654" y="8830312"/>
            <a:ext cx="3037146" cy="464504"/>
          </a:xfrm>
          <a:prstGeom prst="rect">
            <a:avLst/>
          </a:prstGeom>
          <a:noFill/>
          <a:ln>
            <a:noFill/>
          </a:ln>
        </p:spPr>
        <p:txBody>
          <a:bodyPr spcFirstLastPara="1" wrap="square" lIns="93125" tIns="46550" rIns="93125" bIns="4655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t>11</a:t>
            </a:fld>
            <a:endParaRPr sz="1200" b="0" i="0" u="none" strike="noStrike" cap="none">
              <a:solidFill>
                <a:schemeClr val="dk1"/>
              </a:solidFill>
              <a:latin typeface="Times New Roman"/>
              <a:ea typeface="Times New Roman"/>
              <a:cs typeface="Times New Roman"/>
              <a:sym typeface="Times New Roman"/>
            </a:endParaRPr>
          </a:p>
        </p:txBody>
      </p:sp>
      <p:sp>
        <p:nvSpPr>
          <p:cNvPr id="136" name="Google Shape;136;p9:notes"/>
          <p:cNvSpPr txBox="1"/>
          <p:nvPr/>
        </p:nvSpPr>
        <p:spPr>
          <a:xfrm>
            <a:off x="3974250" y="8831898"/>
            <a:ext cx="3036150" cy="464503"/>
          </a:xfrm>
          <a:prstGeom prst="rect">
            <a:avLst/>
          </a:prstGeom>
          <a:noFill/>
          <a:ln>
            <a:noFill/>
          </a:ln>
        </p:spPr>
        <p:txBody>
          <a:bodyPr spcFirstLastPara="1" wrap="square" lIns="93100" tIns="46550" rIns="93100" bIns="46550" anchor="b" anchorCtr="0">
            <a:noAutofit/>
          </a:bodyPr>
          <a:lstStyle/>
          <a:p>
            <a:pPr marL="0" marR="0" lvl="0" indent="0" algn="r" rtl="0">
              <a:spcBef>
                <a:spcPts val="0"/>
              </a:spcBef>
              <a:spcAft>
                <a:spcPts val="0"/>
              </a:spcAft>
              <a:buNone/>
            </a:pPr>
            <a:fld id="{00000000-1234-1234-1234-123412341234}" type="slidenum">
              <a:rPr lang="en-US" sz="1200" b="1" i="0" u="none" strike="noStrike" cap="none">
                <a:solidFill>
                  <a:schemeClr val="dk1"/>
                </a:solidFill>
                <a:latin typeface="Times New Roman"/>
                <a:ea typeface="Times New Roman"/>
                <a:cs typeface="Times New Roman"/>
                <a:sym typeface="Times New Roman"/>
              </a:rPr>
              <a:t>11</a:t>
            </a:fld>
            <a:endParaRPr sz="1200" b="1" i="0" u="none" strike="noStrike" cap="none">
              <a:solidFill>
                <a:schemeClr val="dk1"/>
              </a:solidFill>
              <a:latin typeface="Times New Roman"/>
              <a:ea typeface="Times New Roman"/>
              <a:cs typeface="Times New Roman"/>
              <a:sym typeface="Times New Roman"/>
            </a:endParaRPr>
          </a:p>
        </p:txBody>
      </p:sp>
      <p:sp>
        <p:nvSpPr>
          <p:cNvPr id="137" name="Google Shape;137;p9:notes"/>
          <p:cNvSpPr>
            <a:spLocks noGrp="1" noRot="1" noChangeAspect="1"/>
          </p:cNvSpPr>
          <p:nvPr>
            <p:ph type="sldImg" idx="3"/>
          </p:nvPr>
        </p:nvSpPr>
        <p:spPr>
          <a:xfrm>
            <a:off x="1181100" y="698500"/>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38" name="Google Shape;138;p9:notes"/>
          <p:cNvSpPr txBox="1">
            <a:spLocks noGrp="1"/>
          </p:cNvSpPr>
          <p:nvPr>
            <p:ph type="body" idx="1"/>
          </p:nvPr>
        </p:nvSpPr>
        <p:spPr>
          <a:xfrm>
            <a:off x="700881" y="4415157"/>
            <a:ext cx="5608640" cy="4183696"/>
          </a:xfrm>
          <a:prstGeom prst="rect">
            <a:avLst/>
          </a:prstGeom>
          <a:noFill/>
          <a:ln>
            <a:noFill/>
          </a:ln>
        </p:spPr>
        <p:txBody>
          <a:bodyPr spcFirstLastPara="1" wrap="square" lIns="93125" tIns="46550" rIns="93125" bIns="46550" anchor="t" anchorCtr="0">
            <a:norm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p10:notes"/>
          <p:cNvSpPr txBox="1"/>
          <p:nvPr/>
        </p:nvSpPr>
        <p:spPr>
          <a:xfrm>
            <a:off x="3970250" y="8829564"/>
            <a:ext cx="3038956" cy="464713"/>
          </a:xfrm>
          <a:prstGeom prst="rect">
            <a:avLst/>
          </a:prstGeom>
          <a:noFill/>
          <a:ln>
            <a:noFill/>
          </a:ln>
        </p:spPr>
        <p:txBody>
          <a:bodyPr spcFirstLastPara="1" wrap="square" lIns="92500" tIns="46250" rIns="92500" bIns="46250" anchor="b" anchorCtr="0">
            <a:noAutofit/>
          </a:bodyPr>
          <a:lstStyle/>
          <a:p>
            <a:pPr marL="0" marR="0" lvl="0" indent="0" algn="r" rtl="0">
              <a:spcBef>
                <a:spcPts val="0"/>
              </a:spcBef>
              <a:spcAft>
                <a:spcPts val="0"/>
              </a:spcAft>
              <a:buNone/>
            </a:pPr>
            <a:fld id="{00000000-1234-1234-1234-123412341234}" type="slidenum">
              <a:rPr lang="en-US" sz="1200" b="1" i="0" u="none" strike="noStrike" cap="none">
                <a:solidFill>
                  <a:schemeClr val="dk1"/>
                </a:solidFill>
                <a:latin typeface="Arial"/>
                <a:ea typeface="Arial"/>
                <a:cs typeface="Arial"/>
                <a:sym typeface="Arial"/>
              </a:rPr>
              <a:t>12</a:t>
            </a:fld>
            <a:endParaRPr sz="1200" b="1" i="0" u="none" strike="noStrike" cap="none">
              <a:solidFill>
                <a:schemeClr val="dk1"/>
              </a:solidFill>
              <a:latin typeface="Arial"/>
              <a:ea typeface="Arial"/>
              <a:cs typeface="Arial"/>
              <a:sym typeface="Arial"/>
            </a:endParaRPr>
          </a:p>
        </p:txBody>
      </p:sp>
      <p:sp>
        <p:nvSpPr>
          <p:cNvPr id="146" name="Google Shape;146;p10:notes"/>
          <p:cNvSpPr>
            <a:spLocks noGrp="1" noRot="1" noChangeAspect="1"/>
          </p:cNvSpPr>
          <p:nvPr>
            <p:ph type="sldImg" idx="2"/>
          </p:nvPr>
        </p:nvSpPr>
        <p:spPr>
          <a:xfrm>
            <a:off x="1181100" y="698500"/>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7" name="Google Shape;147;p10:notes"/>
          <p:cNvSpPr txBox="1">
            <a:spLocks noGrp="1"/>
          </p:cNvSpPr>
          <p:nvPr>
            <p:ph type="body" idx="1"/>
          </p:nvPr>
        </p:nvSpPr>
        <p:spPr>
          <a:xfrm>
            <a:off x="934880" y="4415844"/>
            <a:ext cx="5140641" cy="4182424"/>
          </a:xfrm>
          <a:prstGeom prst="rect">
            <a:avLst/>
          </a:prstGeom>
          <a:noFill/>
          <a:ln>
            <a:noFill/>
          </a:ln>
        </p:spPr>
        <p:txBody>
          <a:bodyPr spcFirstLastPara="1" wrap="square" lIns="93125" tIns="46550" rIns="93125" bIns="46550" anchor="t" anchorCtr="0">
            <a:normAutofit/>
          </a:bodyPr>
          <a:lstStyle/>
          <a:p>
            <a:pPr marL="0" lvl="0" indent="0" algn="l" rtl="0">
              <a:spcBef>
                <a:spcPts val="0"/>
              </a:spcBef>
              <a:spcAft>
                <a:spcPts val="0"/>
              </a:spcAft>
              <a:buNone/>
            </a:pPr>
            <a:endParaRPr>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11:notes"/>
          <p:cNvSpPr txBox="1"/>
          <p:nvPr/>
        </p:nvSpPr>
        <p:spPr>
          <a:xfrm>
            <a:off x="3970250" y="8829564"/>
            <a:ext cx="3038956" cy="464713"/>
          </a:xfrm>
          <a:prstGeom prst="rect">
            <a:avLst/>
          </a:prstGeom>
          <a:noFill/>
          <a:ln>
            <a:noFill/>
          </a:ln>
        </p:spPr>
        <p:txBody>
          <a:bodyPr spcFirstLastPara="1" wrap="square" lIns="92500" tIns="46250" rIns="92500" bIns="4625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1" i="0" u="none" strike="noStrike" cap="none">
                <a:solidFill>
                  <a:srgbClr val="000000"/>
                </a:solidFill>
                <a:latin typeface="Arial"/>
                <a:ea typeface="Arial"/>
                <a:cs typeface="Arial"/>
                <a:sym typeface="Arial"/>
              </a:rPr>
              <a:t>13</a:t>
            </a:fld>
            <a:endParaRPr sz="1200" b="1" i="0" u="none" strike="noStrike" cap="none">
              <a:solidFill>
                <a:srgbClr val="000000"/>
              </a:solidFill>
              <a:latin typeface="Arial"/>
              <a:ea typeface="Arial"/>
              <a:cs typeface="Arial"/>
              <a:sym typeface="Arial"/>
            </a:endParaRPr>
          </a:p>
        </p:txBody>
      </p:sp>
      <p:sp>
        <p:nvSpPr>
          <p:cNvPr id="155" name="Google Shape;155;p11:notes"/>
          <p:cNvSpPr>
            <a:spLocks noGrp="1" noRot="1" noChangeAspect="1"/>
          </p:cNvSpPr>
          <p:nvPr>
            <p:ph type="sldImg" idx="2"/>
          </p:nvPr>
        </p:nvSpPr>
        <p:spPr>
          <a:xfrm>
            <a:off x="1181100" y="698500"/>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56" name="Google Shape;156;p11:notes"/>
          <p:cNvSpPr txBox="1">
            <a:spLocks noGrp="1"/>
          </p:cNvSpPr>
          <p:nvPr>
            <p:ph type="body" idx="1"/>
          </p:nvPr>
        </p:nvSpPr>
        <p:spPr>
          <a:xfrm>
            <a:off x="934880" y="4415844"/>
            <a:ext cx="5140641" cy="4182424"/>
          </a:xfrm>
          <a:prstGeom prst="rect">
            <a:avLst/>
          </a:prstGeom>
          <a:noFill/>
          <a:ln>
            <a:noFill/>
          </a:ln>
        </p:spPr>
        <p:txBody>
          <a:bodyPr spcFirstLastPara="1" wrap="square" lIns="93125" tIns="46550" rIns="93125" bIns="46550" anchor="t" anchorCtr="0">
            <a:normAutofit/>
          </a:bodyPr>
          <a:lstStyle/>
          <a:p>
            <a:pPr marL="0" lvl="0" indent="0" algn="l" rtl="0">
              <a:spcBef>
                <a:spcPts val="0"/>
              </a:spcBef>
              <a:spcAft>
                <a:spcPts val="0"/>
              </a:spcAft>
              <a:buNone/>
            </a:pPr>
            <a:endParaRPr>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p12:notes"/>
          <p:cNvSpPr txBox="1"/>
          <p:nvPr/>
        </p:nvSpPr>
        <p:spPr>
          <a:xfrm>
            <a:off x="3970250" y="8829564"/>
            <a:ext cx="3038956" cy="464713"/>
          </a:xfrm>
          <a:prstGeom prst="rect">
            <a:avLst/>
          </a:prstGeom>
          <a:noFill/>
          <a:ln>
            <a:noFill/>
          </a:ln>
        </p:spPr>
        <p:txBody>
          <a:bodyPr spcFirstLastPara="1" wrap="square" lIns="92500" tIns="46250" rIns="92500" bIns="46250" anchor="b" anchorCtr="0">
            <a:noAutofit/>
          </a:bodyPr>
          <a:lstStyle/>
          <a:p>
            <a:pPr marL="0" marR="0" lvl="0" indent="0" algn="r" rtl="0">
              <a:spcBef>
                <a:spcPts val="0"/>
              </a:spcBef>
              <a:spcAft>
                <a:spcPts val="0"/>
              </a:spcAft>
              <a:buNone/>
            </a:pPr>
            <a:fld id="{00000000-1234-1234-1234-123412341234}" type="slidenum">
              <a:rPr lang="en-US" sz="1200" b="1" i="0" u="none" strike="noStrike" cap="none">
                <a:solidFill>
                  <a:schemeClr val="dk1"/>
                </a:solidFill>
                <a:latin typeface="Arial"/>
                <a:ea typeface="Arial"/>
                <a:cs typeface="Arial"/>
                <a:sym typeface="Arial"/>
              </a:rPr>
              <a:t>14</a:t>
            </a:fld>
            <a:endParaRPr sz="1200" b="1" i="0" u="none" strike="noStrike" cap="none">
              <a:solidFill>
                <a:schemeClr val="dk1"/>
              </a:solidFill>
              <a:latin typeface="Arial"/>
              <a:ea typeface="Arial"/>
              <a:cs typeface="Arial"/>
              <a:sym typeface="Arial"/>
            </a:endParaRPr>
          </a:p>
        </p:txBody>
      </p:sp>
      <p:sp>
        <p:nvSpPr>
          <p:cNvPr id="163" name="Google Shape;163;p12:notes"/>
          <p:cNvSpPr>
            <a:spLocks noGrp="1" noRot="1" noChangeAspect="1"/>
          </p:cNvSpPr>
          <p:nvPr>
            <p:ph type="sldImg" idx="2"/>
          </p:nvPr>
        </p:nvSpPr>
        <p:spPr>
          <a:xfrm>
            <a:off x="1181100" y="698500"/>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64" name="Google Shape;164;p12:notes"/>
          <p:cNvSpPr txBox="1">
            <a:spLocks noGrp="1"/>
          </p:cNvSpPr>
          <p:nvPr>
            <p:ph type="body" idx="1"/>
          </p:nvPr>
        </p:nvSpPr>
        <p:spPr>
          <a:xfrm>
            <a:off x="934880" y="4415844"/>
            <a:ext cx="5140641" cy="4182424"/>
          </a:xfrm>
          <a:prstGeom prst="rect">
            <a:avLst/>
          </a:prstGeom>
          <a:noFill/>
          <a:ln>
            <a:noFill/>
          </a:ln>
        </p:spPr>
        <p:txBody>
          <a:bodyPr spcFirstLastPara="1" wrap="square" lIns="93125" tIns="46550" rIns="93125" bIns="46550" anchor="t" anchorCtr="0">
            <a:normAutofit/>
          </a:bodyPr>
          <a:lstStyle/>
          <a:p>
            <a:pPr marL="0" lvl="0" indent="0" algn="l" rtl="0">
              <a:spcBef>
                <a:spcPts val="0"/>
              </a:spcBef>
              <a:spcAft>
                <a:spcPts val="0"/>
              </a:spcAft>
              <a:buNone/>
            </a:pPr>
            <a:endParaRPr>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13:notes"/>
          <p:cNvSpPr txBox="1">
            <a:spLocks noGrp="1"/>
          </p:cNvSpPr>
          <p:nvPr>
            <p:ph type="hdr" idx="2"/>
          </p:nvPr>
        </p:nvSpPr>
        <p:spPr>
          <a:xfrm>
            <a:off x="1" y="1"/>
            <a:ext cx="3037146" cy="464504"/>
          </a:xfrm>
          <a:prstGeom prst="rect">
            <a:avLst/>
          </a:prstGeom>
          <a:noFill/>
          <a:ln>
            <a:noFill/>
          </a:ln>
        </p:spPr>
        <p:txBody>
          <a:bodyPr spcFirstLastPara="1" wrap="square" lIns="93125" tIns="46550" rIns="93125" bIns="46550" anchor="t" anchorCtr="0">
            <a:noAutofit/>
          </a:bodyPr>
          <a:lstStyle/>
          <a:p>
            <a:pPr marL="0" lvl="0" indent="0" algn="l" rtl="0">
              <a:spcBef>
                <a:spcPts val="0"/>
              </a:spcBef>
              <a:spcAft>
                <a:spcPts val="0"/>
              </a:spcAft>
              <a:buNone/>
            </a:pPr>
            <a:r>
              <a:rPr lang="en-US" sz="1200" b="0" i="0" u="none" strike="noStrike" cap="none">
                <a:solidFill>
                  <a:schemeClr val="dk1"/>
                </a:solidFill>
                <a:latin typeface="Times New Roman"/>
                <a:ea typeface="Times New Roman"/>
                <a:cs typeface="Times New Roman"/>
                <a:sym typeface="Times New Roman"/>
              </a:rPr>
              <a:t>ENGG406 2015W</a:t>
            </a:r>
            <a:endParaRPr/>
          </a:p>
        </p:txBody>
      </p:sp>
      <p:sp>
        <p:nvSpPr>
          <p:cNvPr id="172" name="Google Shape;172;p13:notes"/>
          <p:cNvSpPr txBox="1">
            <a:spLocks noGrp="1"/>
          </p:cNvSpPr>
          <p:nvPr>
            <p:ph type="ftr" idx="11"/>
          </p:nvPr>
        </p:nvSpPr>
        <p:spPr>
          <a:xfrm>
            <a:off x="1" y="8830312"/>
            <a:ext cx="3037146" cy="464504"/>
          </a:xfrm>
          <a:prstGeom prst="rect">
            <a:avLst/>
          </a:prstGeom>
          <a:noFill/>
          <a:ln>
            <a:noFill/>
          </a:ln>
        </p:spPr>
        <p:txBody>
          <a:bodyPr spcFirstLastPara="1" wrap="square" lIns="93125" tIns="46550" rIns="93125" bIns="46550" anchor="b" anchorCtr="0">
            <a:noAutofit/>
          </a:bodyPr>
          <a:lstStyle/>
          <a:p>
            <a:pPr marL="0" lvl="0" indent="0" algn="l" rtl="0">
              <a:spcBef>
                <a:spcPts val="0"/>
              </a:spcBef>
              <a:spcAft>
                <a:spcPts val="0"/>
              </a:spcAft>
              <a:buNone/>
            </a:pPr>
            <a:r>
              <a:rPr lang="en-US" sz="1200" b="0" i="0" u="none" strike="noStrike" cap="none">
                <a:solidFill>
                  <a:schemeClr val="dk1"/>
                </a:solidFill>
                <a:latin typeface="Times New Roman"/>
                <a:ea typeface="Times New Roman"/>
                <a:cs typeface="Times New Roman"/>
                <a:sym typeface="Times New Roman"/>
              </a:rPr>
              <a:t>3-March-2015</a:t>
            </a:r>
            <a:endParaRPr/>
          </a:p>
        </p:txBody>
      </p:sp>
      <p:sp>
        <p:nvSpPr>
          <p:cNvPr id="173" name="Google Shape;173;p13:notes"/>
          <p:cNvSpPr txBox="1">
            <a:spLocks noGrp="1"/>
          </p:cNvSpPr>
          <p:nvPr>
            <p:ph type="sldNum" idx="12"/>
          </p:nvPr>
        </p:nvSpPr>
        <p:spPr>
          <a:xfrm>
            <a:off x="3971654" y="8830312"/>
            <a:ext cx="3037146" cy="464504"/>
          </a:xfrm>
          <a:prstGeom prst="rect">
            <a:avLst/>
          </a:prstGeom>
          <a:noFill/>
          <a:ln>
            <a:noFill/>
          </a:ln>
        </p:spPr>
        <p:txBody>
          <a:bodyPr spcFirstLastPara="1" wrap="square" lIns="93125" tIns="46550" rIns="93125" bIns="4655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t>15</a:t>
            </a:fld>
            <a:endParaRPr sz="1200" b="0" i="0" u="none" strike="noStrike" cap="none">
              <a:solidFill>
                <a:schemeClr val="dk1"/>
              </a:solidFill>
              <a:latin typeface="Times New Roman"/>
              <a:ea typeface="Times New Roman"/>
              <a:cs typeface="Times New Roman"/>
              <a:sym typeface="Times New Roman"/>
            </a:endParaRPr>
          </a:p>
        </p:txBody>
      </p:sp>
      <p:sp>
        <p:nvSpPr>
          <p:cNvPr id="174" name="Google Shape;174;p13:notes"/>
          <p:cNvSpPr txBox="1"/>
          <p:nvPr/>
        </p:nvSpPr>
        <p:spPr>
          <a:xfrm>
            <a:off x="3974250" y="8831898"/>
            <a:ext cx="3036150" cy="464503"/>
          </a:xfrm>
          <a:prstGeom prst="rect">
            <a:avLst/>
          </a:prstGeom>
          <a:noFill/>
          <a:ln>
            <a:noFill/>
          </a:ln>
        </p:spPr>
        <p:txBody>
          <a:bodyPr spcFirstLastPara="1" wrap="square" lIns="93100" tIns="46550" rIns="93100" bIns="46550" anchor="b" anchorCtr="0">
            <a:noAutofit/>
          </a:bodyPr>
          <a:lstStyle/>
          <a:p>
            <a:pPr marL="0" marR="0" lvl="0" indent="0" algn="r" rtl="0">
              <a:spcBef>
                <a:spcPts val="0"/>
              </a:spcBef>
              <a:spcAft>
                <a:spcPts val="0"/>
              </a:spcAft>
              <a:buNone/>
            </a:pPr>
            <a:fld id="{00000000-1234-1234-1234-123412341234}" type="slidenum">
              <a:rPr lang="en-US" sz="1200" b="1" i="0" u="none" strike="noStrike" cap="none">
                <a:solidFill>
                  <a:schemeClr val="dk1"/>
                </a:solidFill>
                <a:latin typeface="Times New Roman"/>
                <a:ea typeface="Times New Roman"/>
                <a:cs typeface="Times New Roman"/>
                <a:sym typeface="Times New Roman"/>
              </a:rPr>
              <a:t>15</a:t>
            </a:fld>
            <a:endParaRPr sz="1200" b="1" i="0" u="none" strike="noStrike" cap="none">
              <a:solidFill>
                <a:schemeClr val="dk1"/>
              </a:solidFill>
              <a:latin typeface="Times New Roman"/>
              <a:ea typeface="Times New Roman"/>
              <a:cs typeface="Times New Roman"/>
              <a:sym typeface="Times New Roman"/>
            </a:endParaRPr>
          </a:p>
        </p:txBody>
      </p:sp>
      <p:sp>
        <p:nvSpPr>
          <p:cNvPr id="175" name="Google Shape;175;p13:notes"/>
          <p:cNvSpPr>
            <a:spLocks noGrp="1" noRot="1" noChangeAspect="1"/>
          </p:cNvSpPr>
          <p:nvPr>
            <p:ph type="sldImg" idx="3"/>
          </p:nvPr>
        </p:nvSpPr>
        <p:spPr>
          <a:xfrm>
            <a:off x="1181100" y="698500"/>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76" name="Google Shape;176;p13:notes"/>
          <p:cNvSpPr txBox="1">
            <a:spLocks noGrp="1"/>
          </p:cNvSpPr>
          <p:nvPr>
            <p:ph type="body" idx="1"/>
          </p:nvPr>
        </p:nvSpPr>
        <p:spPr>
          <a:xfrm>
            <a:off x="700881" y="4415157"/>
            <a:ext cx="5608640" cy="4183696"/>
          </a:xfrm>
          <a:prstGeom prst="rect">
            <a:avLst/>
          </a:prstGeom>
          <a:noFill/>
          <a:ln>
            <a:noFill/>
          </a:ln>
        </p:spPr>
        <p:txBody>
          <a:bodyPr spcFirstLastPara="1" wrap="square" lIns="93125" tIns="46550" rIns="93125" bIns="46550" anchor="t" anchorCtr="0">
            <a:norm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p14:notes"/>
          <p:cNvSpPr txBox="1"/>
          <p:nvPr/>
        </p:nvSpPr>
        <p:spPr>
          <a:xfrm>
            <a:off x="3970250" y="8829564"/>
            <a:ext cx="3038956" cy="464713"/>
          </a:xfrm>
          <a:prstGeom prst="rect">
            <a:avLst/>
          </a:prstGeom>
          <a:noFill/>
          <a:ln>
            <a:noFill/>
          </a:ln>
        </p:spPr>
        <p:txBody>
          <a:bodyPr spcFirstLastPara="1" wrap="square" lIns="92500" tIns="46250" rIns="92500" bIns="46250" anchor="b" anchorCtr="0">
            <a:noAutofit/>
          </a:bodyPr>
          <a:lstStyle/>
          <a:p>
            <a:pPr marL="0" marR="0" lvl="0" indent="0" algn="r" rtl="0">
              <a:spcBef>
                <a:spcPts val="0"/>
              </a:spcBef>
              <a:spcAft>
                <a:spcPts val="0"/>
              </a:spcAft>
              <a:buNone/>
            </a:pPr>
            <a:fld id="{00000000-1234-1234-1234-123412341234}" type="slidenum">
              <a:rPr lang="en-US" sz="1200" b="1" i="0" u="none" strike="noStrike" cap="none">
                <a:solidFill>
                  <a:schemeClr val="dk1"/>
                </a:solidFill>
                <a:latin typeface="Arial"/>
                <a:ea typeface="Arial"/>
                <a:cs typeface="Arial"/>
                <a:sym typeface="Arial"/>
              </a:rPr>
              <a:t>16</a:t>
            </a:fld>
            <a:endParaRPr sz="1200" b="1" i="0" u="none" strike="noStrike" cap="none">
              <a:solidFill>
                <a:schemeClr val="dk1"/>
              </a:solidFill>
              <a:latin typeface="Arial"/>
              <a:ea typeface="Arial"/>
              <a:cs typeface="Arial"/>
              <a:sym typeface="Arial"/>
            </a:endParaRPr>
          </a:p>
        </p:txBody>
      </p:sp>
      <p:sp>
        <p:nvSpPr>
          <p:cNvPr id="184" name="Google Shape;184;p14:notes"/>
          <p:cNvSpPr>
            <a:spLocks noGrp="1" noRot="1" noChangeAspect="1"/>
          </p:cNvSpPr>
          <p:nvPr>
            <p:ph type="sldImg" idx="2"/>
          </p:nvPr>
        </p:nvSpPr>
        <p:spPr>
          <a:xfrm>
            <a:off x="1181100" y="698500"/>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85" name="Google Shape;185;p14:notes"/>
          <p:cNvSpPr txBox="1">
            <a:spLocks noGrp="1"/>
          </p:cNvSpPr>
          <p:nvPr>
            <p:ph type="body" idx="1"/>
          </p:nvPr>
        </p:nvSpPr>
        <p:spPr>
          <a:xfrm>
            <a:off x="934880" y="4415844"/>
            <a:ext cx="5140641" cy="4182424"/>
          </a:xfrm>
          <a:prstGeom prst="rect">
            <a:avLst/>
          </a:prstGeom>
          <a:noFill/>
          <a:ln>
            <a:noFill/>
          </a:ln>
        </p:spPr>
        <p:txBody>
          <a:bodyPr spcFirstLastPara="1" wrap="square" lIns="93125" tIns="46550" rIns="93125" bIns="46550" anchor="t" anchorCtr="0">
            <a:normAutofit/>
          </a:bodyPr>
          <a:lstStyle/>
          <a:p>
            <a:pPr marL="0" lvl="0" indent="0" algn="l" rtl="0">
              <a:spcBef>
                <a:spcPts val="0"/>
              </a:spcBef>
              <a:spcAft>
                <a:spcPts val="0"/>
              </a:spcAft>
              <a:buNone/>
            </a:pPr>
            <a:endParaRPr>
              <a:latin typeface="Arial"/>
              <a:ea typeface="Arial"/>
              <a:cs typeface="Arial"/>
              <a:sym typeface="Aria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p15:notes"/>
          <p:cNvSpPr>
            <a:spLocks noGrp="1" noRot="1" noChangeAspect="1"/>
          </p:cNvSpPr>
          <p:nvPr>
            <p:ph type="sldImg" idx="2"/>
          </p:nvPr>
        </p:nvSpPr>
        <p:spPr>
          <a:xfrm>
            <a:off x="1181100" y="698500"/>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1" name="Google Shape;201;p15:notes"/>
          <p:cNvSpPr txBox="1">
            <a:spLocks noGrp="1"/>
          </p:cNvSpPr>
          <p:nvPr>
            <p:ph type="body" idx="1"/>
          </p:nvPr>
        </p:nvSpPr>
        <p:spPr>
          <a:xfrm>
            <a:off x="700881" y="4415157"/>
            <a:ext cx="5608640" cy="4183696"/>
          </a:xfrm>
          <a:prstGeom prst="rect">
            <a:avLst/>
          </a:prstGeom>
          <a:noFill/>
          <a:ln>
            <a:noFill/>
          </a:ln>
        </p:spPr>
        <p:txBody>
          <a:bodyPr spcFirstLastPara="1" wrap="square" lIns="93125" tIns="46550" rIns="93125" bIns="46550" anchor="t" anchorCtr="0">
            <a:normAutofit/>
          </a:bodyPr>
          <a:lstStyle/>
          <a:p>
            <a:pPr marL="0" marR="0" lvl="0" indent="0" algn="l" rtl="0">
              <a:lnSpc>
                <a:spcPct val="100000"/>
              </a:lnSpc>
              <a:spcBef>
                <a:spcPts val="0"/>
              </a:spcBef>
              <a:spcAft>
                <a:spcPts val="0"/>
              </a:spcAft>
              <a:buClr>
                <a:schemeClr val="dk1"/>
              </a:buClr>
              <a:buSzPts val="1000"/>
              <a:buFont typeface="Calibri"/>
              <a:buNone/>
            </a:pPr>
            <a:r>
              <a:rPr lang="en-US"/>
              <a:t>Multiplying: Used to compare companies of various sizes together over a period of time. Explained in more detail on the next slide.</a:t>
            </a:r>
            <a:endParaRPr/>
          </a:p>
          <a:p>
            <a:pPr marL="0" marR="0" lvl="0" indent="0" algn="l" rtl="0">
              <a:lnSpc>
                <a:spcPct val="100000"/>
              </a:lnSpc>
              <a:spcBef>
                <a:spcPts val="360"/>
              </a:spcBef>
              <a:spcAft>
                <a:spcPts val="0"/>
              </a:spcAft>
              <a:buClr>
                <a:schemeClr val="dk1"/>
              </a:buClr>
              <a:buSzPts val="1200"/>
              <a:buFont typeface="Calibri"/>
              <a:buNone/>
            </a:pPr>
            <a:r>
              <a:rPr lang="en-US" sz="1200" cap="none"/>
              <a:t>The ideal value for all 3 lagging indicators is 0.</a:t>
            </a:r>
            <a:endParaRPr/>
          </a:p>
          <a:p>
            <a:pPr marL="0" marR="0" lvl="0" indent="0" algn="l" rtl="0">
              <a:lnSpc>
                <a:spcPct val="100000"/>
              </a:lnSpc>
              <a:spcBef>
                <a:spcPts val="360"/>
              </a:spcBef>
              <a:spcAft>
                <a:spcPts val="0"/>
              </a:spcAft>
              <a:buClr>
                <a:schemeClr val="dk1"/>
              </a:buClr>
              <a:buSzPts val="1200"/>
              <a:buFont typeface="Calibri"/>
              <a:buNone/>
            </a:pPr>
            <a:r>
              <a:rPr lang="en-US" sz="1200" cap="none"/>
              <a:t>A good TRIR score is </a:t>
            </a:r>
            <a:r>
              <a:rPr lang="en-US" sz="1200" u="sng" cap="none"/>
              <a:t>&lt;</a:t>
            </a:r>
            <a:r>
              <a:rPr lang="en-US" sz="1200" cap="none"/>
              <a:t> 3 </a:t>
            </a:r>
            <a:endParaRPr/>
          </a:p>
          <a:p>
            <a:pPr marL="0" lvl="0" indent="0" algn="l" rtl="0">
              <a:spcBef>
                <a:spcPts val="300"/>
              </a:spcBef>
              <a:spcAft>
                <a:spcPts val="0"/>
              </a:spcAft>
              <a:buNone/>
            </a:pPr>
            <a:endParaRPr/>
          </a:p>
          <a:p>
            <a:pPr marL="0" lvl="0" indent="0" algn="l" rtl="0">
              <a:spcBef>
                <a:spcPts val="300"/>
              </a:spcBef>
              <a:spcAft>
                <a:spcPts val="0"/>
              </a:spcAft>
              <a:buNone/>
            </a:pPr>
            <a:endParaRPr/>
          </a:p>
        </p:txBody>
      </p:sp>
      <p:sp>
        <p:nvSpPr>
          <p:cNvPr id="202" name="Google Shape;202;p15:notes"/>
          <p:cNvSpPr txBox="1">
            <a:spLocks noGrp="1"/>
          </p:cNvSpPr>
          <p:nvPr>
            <p:ph type="hdr" idx="3"/>
          </p:nvPr>
        </p:nvSpPr>
        <p:spPr>
          <a:xfrm>
            <a:off x="1" y="1"/>
            <a:ext cx="3037146" cy="464504"/>
          </a:xfrm>
          <a:prstGeom prst="rect">
            <a:avLst/>
          </a:prstGeom>
          <a:noFill/>
          <a:ln>
            <a:noFill/>
          </a:ln>
        </p:spPr>
        <p:txBody>
          <a:bodyPr spcFirstLastPara="1" wrap="square" lIns="93125" tIns="46550" rIns="93125" bIns="46550" anchor="t" anchorCtr="0">
            <a:noAutofit/>
          </a:bodyPr>
          <a:lstStyle/>
          <a:p>
            <a:pPr marL="0" lvl="0" indent="0" algn="l" rtl="0">
              <a:spcBef>
                <a:spcPts val="0"/>
              </a:spcBef>
              <a:spcAft>
                <a:spcPts val="0"/>
              </a:spcAft>
              <a:buNone/>
            </a:pPr>
            <a:r>
              <a:rPr lang="en-US"/>
              <a:t>ENGG406 2015W</a:t>
            </a:r>
            <a:endParaRPr/>
          </a:p>
        </p:txBody>
      </p:sp>
      <p:sp>
        <p:nvSpPr>
          <p:cNvPr id="203" name="Google Shape;203;p15:notes"/>
          <p:cNvSpPr txBox="1">
            <a:spLocks noGrp="1"/>
          </p:cNvSpPr>
          <p:nvPr>
            <p:ph type="ftr" idx="11"/>
          </p:nvPr>
        </p:nvSpPr>
        <p:spPr>
          <a:xfrm>
            <a:off x="1" y="8830312"/>
            <a:ext cx="3037146" cy="464504"/>
          </a:xfrm>
          <a:prstGeom prst="rect">
            <a:avLst/>
          </a:prstGeom>
          <a:noFill/>
          <a:ln>
            <a:noFill/>
          </a:ln>
        </p:spPr>
        <p:txBody>
          <a:bodyPr spcFirstLastPara="1" wrap="square" lIns="93125" tIns="46550" rIns="93125" bIns="46550" anchor="b" anchorCtr="0">
            <a:noAutofit/>
          </a:bodyPr>
          <a:lstStyle/>
          <a:p>
            <a:pPr marL="0" lvl="0" indent="0" algn="l" rtl="0">
              <a:spcBef>
                <a:spcPts val="0"/>
              </a:spcBef>
              <a:spcAft>
                <a:spcPts val="0"/>
              </a:spcAft>
              <a:buNone/>
            </a:pPr>
            <a:r>
              <a:rPr lang="en-US"/>
              <a:t>4-March-2015</a:t>
            </a:r>
            <a:endParaRPr/>
          </a:p>
        </p:txBody>
      </p:sp>
      <p:sp>
        <p:nvSpPr>
          <p:cNvPr id="204" name="Google Shape;204;p15:notes"/>
          <p:cNvSpPr txBox="1">
            <a:spLocks noGrp="1"/>
          </p:cNvSpPr>
          <p:nvPr>
            <p:ph type="sldNum" idx="12"/>
          </p:nvPr>
        </p:nvSpPr>
        <p:spPr>
          <a:xfrm>
            <a:off x="3971654" y="8830312"/>
            <a:ext cx="3037146" cy="464504"/>
          </a:xfrm>
          <a:prstGeom prst="rect">
            <a:avLst/>
          </a:prstGeom>
          <a:noFill/>
          <a:ln>
            <a:noFill/>
          </a:ln>
        </p:spPr>
        <p:txBody>
          <a:bodyPr spcFirstLastPara="1" wrap="square" lIns="93125" tIns="46550" rIns="93125" bIns="46550" anchor="b" anchorCtr="0">
            <a:noAutofit/>
          </a:bodyPr>
          <a:lstStyle/>
          <a:p>
            <a:pPr marL="0" lvl="0" indent="0" algn="r" rtl="0">
              <a:spcBef>
                <a:spcPts val="0"/>
              </a:spcBef>
              <a:spcAft>
                <a:spcPts val="0"/>
              </a:spcAft>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p16:notes"/>
          <p:cNvSpPr>
            <a:spLocks noGrp="1" noRot="1" noChangeAspect="1"/>
          </p:cNvSpPr>
          <p:nvPr>
            <p:ph type="sldImg" idx="2"/>
          </p:nvPr>
        </p:nvSpPr>
        <p:spPr>
          <a:xfrm>
            <a:off x="1181100" y="698500"/>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2" name="Google Shape;212;p16:notes"/>
          <p:cNvSpPr txBox="1">
            <a:spLocks noGrp="1"/>
          </p:cNvSpPr>
          <p:nvPr>
            <p:ph type="body" idx="1"/>
          </p:nvPr>
        </p:nvSpPr>
        <p:spPr>
          <a:xfrm>
            <a:off x="700881" y="4415157"/>
            <a:ext cx="5608640" cy="4183696"/>
          </a:xfrm>
          <a:prstGeom prst="rect">
            <a:avLst/>
          </a:prstGeom>
          <a:noFill/>
          <a:ln>
            <a:noFill/>
          </a:ln>
        </p:spPr>
        <p:txBody>
          <a:bodyPr spcFirstLastPara="1" wrap="square" lIns="93125" tIns="46550" rIns="93125" bIns="46550" anchor="t" anchorCtr="0">
            <a:normAutofit/>
          </a:bodyPr>
          <a:lstStyle/>
          <a:p>
            <a:pPr marL="0" marR="0" lvl="0" indent="0" algn="l" rtl="0">
              <a:lnSpc>
                <a:spcPct val="100000"/>
              </a:lnSpc>
              <a:spcBef>
                <a:spcPts val="0"/>
              </a:spcBef>
              <a:spcAft>
                <a:spcPts val="0"/>
              </a:spcAft>
              <a:buClr>
                <a:schemeClr val="dk1"/>
              </a:buClr>
              <a:buSzPts val="1000"/>
              <a:buFont typeface="Calibri"/>
              <a:buNone/>
            </a:pPr>
            <a:r>
              <a:rPr lang="en-US"/>
              <a:t>Calculation uses full time workers only.</a:t>
            </a:r>
            <a:endParaRPr/>
          </a:p>
          <a:p>
            <a:pPr marL="0" marR="0" lvl="0" indent="0" algn="l" rtl="0">
              <a:lnSpc>
                <a:spcPct val="100000"/>
              </a:lnSpc>
              <a:spcBef>
                <a:spcPts val="300"/>
              </a:spcBef>
              <a:spcAft>
                <a:spcPts val="0"/>
              </a:spcAft>
              <a:buClr>
                <a:schemeClr val="dk1"/>
              </a:buClr>
              <a:buSzPts val="1000"/>
              <a:buFont typeface="Calibri"/>
              <a:buNone/>
            </a:pPr>
            <a:r>
              <a:rPr lang="en-US"/>
              <a:t>40 hours per week, 50 weeks/year is 2000 hours per worker - it is assumed each employee has 2 weeks of vacation.</a:t>
            </a:r>
            <a:endParaRPr/>
          </a:p>
        </p:txBody>
      </p:sp>
      <p:sp>
        <p:nvSpPr>
          <p:cNvPr id="213" name="Google Shape;213;p16:notes"/>
          <p:cNvSpPr txBox="1">
            <a:spLocks noGrp="1"/>
          </p:cNvSpPr>
          <p:nvPr>
            <p:ph type="hdr" idx="3"/>
          </p:nvPr>
        </p:nvSpPr>
        <p:spPr>
          <a:xfrm>
            <a:off x="1" y="1"/>
            <a:ext cx="3037146" cy="464504"/>
          </a:xfrm>
          <a:prstGeom prst="rect">
            <a:avLst/>
          </a:prstGeom>
          <a:noFill/>
          <a:ln>
            <a:noFill/>
          </a:ln>
        </p:spPr>
        <p:txBody>
          <a:bodyPr spcFirstLastPara="1" wrap="square" lIns="93125" tIns="46550" rIns="93125" bIns="46550" anchor="t" anchorCtr="0">
            <a:noAutofit/>
          </a:bodyPr>
          <a:lstStyle/>
          <a:p>
            <a:pPr marL="0" lvl="0" indent="0" algn="l" rtl="0">
              <a:spcBef>
                <a:spcPts val="0"/>
              </a:spcBef>
              <a:spcAft>
                <a:spcPts val="0"/>
              </a:spcAft>
              <a:buNone/>
            </a:pPr>
            <a:r>
              <a:rPr lang="en-US"/>
              <a:t>ENGG406 2015W</a:t>
            </a:r>
            <a:endParaRPr/>
          </a:p>
        </p:txBody>
      </p:sp>
      <p:sp>
        <p:nvSpPr>
          <p:cNvPr id="214" name="Google Shape;214;p16:notes"/>
          <p:cNvSpPr txBox="1">
            <a:spLocks noGrp="1"/>
          </p:cNvSpPr>
          <p:nvPr>
            <p:ph type="ftr" idx="11"/>
          </p:nvPr>
        </p:nvSpPr>
        <p:spPr>
          <a:xfrm>
            <a:off x="1" y="8830312"/>
            <a:ext cx="3037146" cy="464504"/>
          </a:xfrm>
          <a:prstGeom prst="rect">
            <a:avLst/>
          </a:prstGeom>
          <a:noFill/>
          <a:ln>
            <a:noFill/>
          </a:ln>
        </p:spPr>
        <p:txBody>
          <a:bodyPr spcFirstLastPara="1" wrap="square" lIns="93125" tIns="46550" rIns="93125" bIns="46550" anchor="b" anchorCtr="0">
            <a:noAutofit/>
          </a:bodyPr>
          <a:lstStyle/>
          <a:p>
            <a:pPr marL="0" lvl="0" indent="0" algn="l" rtl="0">
              <a:spcBef>
                <a:spcPts val="0"/>
              </a:spcBef>
              <a:spcAft>
                <a:spcPts val="0"/>
              </a:spcAft>
              <a:buNone/>
            </a:pPr>
            <a:r>
              <a:rPr lang="en-US"/>
              <a:t>4-March-2015</a:t>
            </a:r>
            <a:endParaRPr/>
          </a:p>
        </p:txBody>
      </p:sp>
      <p:sp>
        <p:nvSpPr>
          <p:cNvPr id="215" name="Google Shape;215;p16:notes"/>
          <p:cNvSpPr txBox="1">
            <a:spLocks noGrp="1"/>
          </p:cNvSpPr>
          <p:nvPr>
            <p:ph type="sldNum" idx="12"/>
          </p:nvPr>
        </p:nvSpPr>
        <p:spPr>
          <a:xfrm>
            <a:off x="3971654" y="8830312"/>
            <a:ext cx="3037146" cy="464504"/>
          </a:xfrm>
          <a:prstGeom prst="rect">
            <a:avLst/>
          </a:prstGeom>
          <a:noFill/>
          <a:ln>
            <a:noFill/>
          </a:ln>
        </p:spPr>
        <p:txBody>
          <a:bodyPr spcFirstLastPara="1" wrap="square" lIns="93125" tIns="46550" rIns="93125" bIns="46550" anchor="b" anchorCtr="0">
            <a:noAutofit/>
          </a:bodyPr>
          <a:lstStyle/>
          <a:p>
            <a:pPr marL="0" lvl="0" indent="0" algn="r" rtl="0">
              <a:spcBef>
                <a:spcPts val="0"/>
              </a:spcBef>
              <a:spcAft>
                <a:spcPts val="0"/>
              </a:spcAft>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p17:notes"/>
          <p:cNvSpPr txBox="1"/>
          <p:nvPr/>
        </p:nvSpPr>
        <p:spPr>
          <a:xfrm>
            <a:off x="3970250" y="8829564"/>
            <a:ext cx="3038956" cy="464713"/>
          </a:xfrm>
          <a:prstGeom prst="rect">
            <a:avLst/>
          </a:prstGeom>
          <a:noFill/>
          <a:ln>
            <a:noFill/>
          </a:ln>
        </p:spPr>
        <p:txBody>
          <a:bodyPr spcFirstLastPara="1" wrap="square" lIns="92500" tIns="46250" rIns="92500" bIns="46250" anchor="b" anchorCtr="0">
            <a:noAutofit/>
          </a:bodyPr>
          <a:lstStyle/>
          <a:p>
            <a:pPr marL="0" marR="0" lvl="0" indent="0" algn="r" rtl="0">
              <a:spcBef>
                <a:spcPts val="0"/>
              </a:spcBef>
              <a:spcAft>
                <a:spcPts val="0"/>
              </a:spcAft>
              <a:buNone/>
            </a:pPr>
            <a:fld id="{00000000-1234-1234-1234-123412341234}" type="slidenum">
              <a:rPr lang="en-US" sz="1200" b="1" i="0" u="none" strike="noStrike" cap="none">
                <a:solidFill>
                  <a:schemeClr val="dk1"/>
                </a:solidFill>
                <a:latin typeface="Arial"/>
                <a:ea typeface="Arial"/>
                <a:cs typeface="Arial"/>
                <a:sym typeface="Arial"/>
              </a:rPr>
              <a:t>19</a:t>
            </a:fld>
            <a:endParaRPr sz="1200" b="1" i="0" u="none" strike="noStrike" cap="none">
              <a:solidFill>
                <a:schemeClr val="dk1"/>
              </a:solidFill>
              <a:latin typeface="Arial"/>
              <a:ea typeface="Arial"/>
              <a:cs typeface="Arial"/>
              <a:sym typeface="Arial"/>
            </a:endParaRPr>
          </a:p>
        </p:txBody>
      </p:sp>
      <p:sp>
        <p:nvSpPr>
          <p:cNvPr id="223" name="Google Shape;223;p17:notes"/>
          <p:cNvSpPr>
            <a:spLocks noGrp="1" noRot="1" noChangeAspect="1"/>
          </p:cNvSpPr>
          <p:nvPr>
            <p:ph type="sldImg" idx="2"/>
          </p:nvPr>
        </p:nvSpPr>
        <p:spPr>
          <a:xfrm>
            <a:off x="1181100" y="698500"/>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24" name="Google Shape;224;p17:notes"/>
          <p:cNvSpPr txBox="1">
            <a:spLocks noGrp="1"/>
          </p:cNvSpPr>
          <p:nvPr>
            <p:ph type="body" idx="1"/>
          </p:nvPr>
        </p:nvSpPr>
        <p:spPr>
          <a:xfrm>
            <a:off x="934880" y="4415844"/>
            <a:ext cx="5140641" cy="4182424"/>
          </a:xfrm>
          <a:prstGeom prst="rect">
            <a:avLst/>
          </a:prstGeom>
          <a:noFill/>
          <a:ln>
            <a:noFill/>
          </a:ln>
        </p:spPr>
        <p:txBody>
          <a:bodyPr spcFirstLastPara="1" wrap="square" lIns="93125" tIns="46550" rIns="93125" bIns="46550" anchor="t" anchorCtr="0">
            <a:normAutofit/>
          </a:bodyPr>
          <a:lstStyle/>
          <a:p>
            <a:pPr marL="0" lvl="0" indent="0" algn="l" rtl="0">
              <a:spcBef>
                <a:spcPts val="0"/>
              </a:spcBef>
              <a:spcAft>
                <a:spcPts val="0"/>
              </a:spcAft>
              <a:buNone/>
            </a:pPr>
            <a:endParaRPr>
              <a:latin typeface="Arial"/>
              <a:ea typeface="Arial"/>
              <a:cs typeface="Arial"/>
              <a:sym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p18:notes"/>
          <p:cNvSpPr>
            <a:spLocks noGrp="1" noRot="1" noChangeAspect="1"/>
          </p:cNvSpPr>
          <p:nvPr>
            <p:ph type="sldImg" idx="2"/>
          </p:nvPr>
        </p:nvSpPr>
        <p:spPr>
          <a:xfrm>
            <a:off x="1181100" y="698500"/>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2" name="Google Shape;232;p18:notes"/>
          <p:cNvSpPr txBox="1">
            <a:spLocks noGrp="1"/>
          </p:cNvSpPr>
          <p:nvPr>
            <p:ph type="body" idx="1"/>
          </p:nvPr>
        </p:nvSpPr>
        <p:spPr>
          <a:xfrm>
            <a:off x="700881" y="4415157"/>
            <a:ext cx="5608640" cy="4183696"/>
          </a:xfrm>
          <a:prstGeom prst="rect">
            <a:avLst/>
          </a:prstGeom>
          <a:noFill/>
          <a:ln>
            <a:noFill/>
          </a:ln>
        </p:spPr>
        <p:txBody>
          <a:bodyPr spcFirstLastPara="1" wrap="square" lIns="93125" tIns="46550" rIns="93125" bIns="46550" anchor="t" anchorCtr="0">
            <a:normAutofit/>
          </a:bodyPr>
          <a:lstStyle/>
          <a:p>
            <a:pPr marL="0" lvl="0" indent="0" algn="l" rtl="0">
              <a:spcBef>
                <a:spcPts val="0"/>
              </a:spcBef>
              <a:spcAft>
                <a:spcPts val="0"/>
              </a:spcAft>
              <a:buNone/>
            </a:pPr>
            <a:r>
              <a:rPr lang="en-US"/>
              <a:t>A more proactive approach is the use of leading indicators, which are measures or activities taken to prevent incidents from occurring. If used correctly, leading indicators focus resources on incident prevention, as well as allow management to actively demonstrate leadership and empower workers to engage in discussions about how to prevent future incidents. Leading indicators must be measurable, positive, simple, and result in incident prevention. In other words, personnel resources and time focused on tracking leading indicators should result in a positive focus on safety and incident prevention (i.e. what you want to achieve, not the negative results). The choice of leading indicators are specific to the organization and its activities, but some common ones consist of the following:</a:t>
            </a:r>
            <a:endParaRPr/>
          </a:p>
        </p:txBody>
      </p:sp>
      <p:sp>
        <p:nvSpPr>
          <p:cNvPr id="233" name="Google Shape;233;p18:notes"/>
          <p:cNvSpPr txBox="1">
            <a:spLocks noGrp="1"/>
          </p:cNvSpPr>
          <p:nvPr>
            <p:ph type="sldNum" idx="12"/>
          </p:nvPr>
        </p:nvSpPr>
        <p:spPr>
          <a:xfrm>
            <a:off x="3971654" y="8830312"/>
            <a:ext cx="3037146" cy="464504"/>
          </a:xfrm>
          <a:prstGeom prst="rect">
            <a:avLst/>
          </a:prstGeom>
          <a:noFill/>
          <a:ln>
            <a:noFill/>
          </a:ln>
        </p:spPr>
        <p:txBody>
          <a:bodyPr spcFirstLastPara="1" wrap="square" lIns="93125" tIns="46550" rIns="93125" bIns="46550" anchor="b" anchorCtr="0">
            <a:noAutofit/>
          </a:bodyPr>
          <a:lstStyle/>
          <a:p>
            <a:pPr marL="0" lvl="0" indent="0" algn="r" rtl="0">
              <a:spcBef>
                <a:spcPts val="0"/>
              </a:spcBef>
              <a:spcAft>
                <a:spcPts val="0"/>
              </a:spcAft>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p19:notes"/>
          <p:cNvSpPr txBox="1"/>
          <p:nvPr/>
        </p:nvSpPr>
        <p:spPr>
          <a:xfrm>
            <a:off x="3970250" y="8829564"/>
            <a:ext cx="3038956" cy="464713"/>
          </a:xfrm>
          <a:prstGeom prst="rect">
            <a:avLst/>
          </a:prstGeom>
          <a:noFill/>
          <a:ln>
            <a:noFill/>
          </a:ln>
        </p:spPr>
        <p:txBody>
          <a:bodyPr spcFirstLastPara="1" wrap="square" lIns="92500" tIns="46250" rIns="92500" bIns="46250" anchor="b" anchorCtr="0">
            <a:noAutofit/>
          </a:bodyPr>
          <a:lstStyle/>
          <a:p>
            <a:pPr marL="0" marR="0" lvl="0" indent="0" algn="r" rtl="0">
              <a:spcBef>
                <a:spcPts val="0"/>
              </a:spcBef>
              <a:spcAft>
                <a:spcPts val="0"/>
              </a:spcAft>
              <a:buNone/>
            </a:pPr>
            <a:fld id="{00000000-1234-1234-1234-123412341234}" type="slidenum">
              <a:rPr lang="en-US" sz="1200" b="1" i="0" u="none" strike="noStrike" cap="none">
                <a:solidFill>
                  <a:schemeClr val="dk1"/>
                </a:solidFill>
                <a:latin typeface="Arial"/>
                <a:ea typeface="Arial"/>
                <a:cs typeface="Arial"/>
                <a:sym typeface="Arial"/>
              </a:rPr>
              <a:t>21</a:t>
            </a:fld>
            <a:endParaRPr sz="1200" b="1" i="0" u="none" strike="noStrike" cap="none">
              <a:solidFill>
                <a:schemeClr val="dk1"/>
              </a:solidFill>
              <a:latin typeface="Arial"/>
              <a:ea typeface="Arial"/>
              <a:cs typeface="Arial"/>
              <a:sym typeface="Arial"/>
            </a:endParaRPr>
          </a:p>
        </p:txBody>
      </p:sp>
      <p:sp>
        <p:nvSpPr>
          <p:cNvPr id="242" name="Google Shape;242;p19:notes"/>
          <p:cNvSpPr>
            <a:spLocks noGrp="1" noRot="1" noChangeAspect="1"/>
          </p:cNvSpPr>
          <p:nvPr>
            <p:ph type="sldImg" idx="2"/>
          </p:nvPr>
        </p:nvSpPr>
        <p:spPr>
          <a:xfrm>
            <a:off x="1181100" y="698500"/>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43" name="Google Shape;243;p19:notes"/>
          <p:cNvSpPr txBox="1">
            <a:spLocks noGrp="1"/>
          </p:cNvSpPr>
          <p:nvPr>
            <p:ph type="body" idx="1"/>
          </p:nvPr>
        </p:nvSpPr>
        <p:spPr>
          <a:xfrm>
            <a:off x="934880" y="4415844"/>
            <a:ext cx="5140641" cy="4182424"/>
          </a:xfrm>
          <a:prstGeom prst="rect">
            <a:avLst/>
          </a:prstGeom>
          <a:noFill/>
          <a:ln>
            <a:noFill/>
          </a:ln>
        </p:spPr>
        <p:txBody>
          <a:bodyPr spcFirstLastPara="1" wrap="square" lIns="93125" tIns="46550" rIns="93125" bIns="46550" anchor="t" anchorCtr="0">
            <a:normAutofit/>
          </a:bodyPr>
          <a:lstStyle/>
          <a:p>
            <a:pPr marL="0" lvl="0" indent="0" algn="l" rtl="0">
              <a:spcBef>
                <a:spcPts val="0"/>
              </a:spcBef>
              <a:spcAft>
                <a:spcPts val="0"/>
              </a:spcAft>
              <a:buNone/>
            </a:pPr>
            <a:endParaRPr>
              <a:latin typeface="Arial"/>
              <a:ea typeface="Arial"/>
              <a:cs typeface="Arial"/>
              <a:sym typeface="Aria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p20:notes"/>
          <p:cNvSpPr txBox="1"/>
          <p:nvPr/>
        </p:nvSpPr>
        <p:spPr>
          <a:xfrm>
            <a:off x="3970250" y="8829564"/>
            <a:ext cx="3038956" cy="464713"/>
          </a:xfrm>
          <a:prstGeom prst="rect">
            <a:avLst/>
          </a:prstGeom>
          <a:noFill/>
          <a:ln>
            <a:noFill/>
          </a:ln>
        </p:spPr>
        <p:txBody>
          <a:bodyPr spcFirstLastPara="1" wrap="square" lIns="92500" tIns="46250" rIns="92500" bIns="46250" anchor="b" anchorCtr="0">
            <a:noAutofit/>
          </a:bodyPr>
          <a:lstStyle/>
          <a:p>
            <a:pPr marL="0" marR="0" lvl="0" indent="0" algn="r" rtl="0">
              <a:spcBef>
                <a:spcPts val="0"/>
              </a:spcBef>
              <a:spcAft>
                <a:spcPts val="0"/>
              </a:spcAft>
              <a:buNone/>
            </a:pPr>
            <a:fld id="{00000000-1234-1234-1234-123412341234}" type="slidenum">
              <a:rPr lang="en-US" sz="1200" b="1" i="0" u="none" strike="noStrike" cap="none">
                <a:solidFill>
                  <a:schemeClr val="dk1"/>
                </a:solidFill>
                <a:latin typeface="Arial"/>
                <a:ea typeface="Arial"/>
                <a:cs typeface="Arial"/>
                <a:sym typeface="Arial"/>
              </a:rPr>
              <a:t>22</a:t>
            </a:fld>
            <a:endParaRPr sz="1200" b="1" i="0" u="none" strike="noStrike" cap="none">
              <a:solidFill>
                <a:schemeClr val="dk1"/>
              </a:solidFill>
              <a:latin typeface="Arial"/>
              <a:ea typeface="Arial"/>
              <a:cs typeface="Arial"/>
              <a:sym typeface="Arial"/>
            </a:endParaRPr>
          </a:p>
        </p:txBody>
      </p:sp>
      <p:sp>
        <p:nvSpPr>
          <p:cNvPr id="252" name="Google Shape;252;p20:notes"/>
          <p:cNvSpPr>
            <a:spLocks noGrp="1" noRot="1" noChangeAspect="1"/>
          </p:cNvSpPr>
          <p:nvPr>
            <p:ph type="sldImg" idx="2"/>
          </p:nvPr>
        </p:nvSpPr>
        <p:spPr>
          <a:xfrm>
            <a:off x="1181100" y="698500"/>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53" name="Google Shape;253;p20:notes"/>
          <p:cNvSpPr txBox="1">
            <a:spLocks noGrp="1"/>
          </p:cNvSpPr>
          <p:nvPr>
            <p:ph type="body" idx="1"/>
          </p:nvPr>
        </p:nvSpPr>
        <p:spPr>
          <a:xfrm>
            <a:off x="934880" y="4415844"/>
            <a:ext cx="5140641" cy="4182424"/>
          </a:xfrm>
          <a:prstGeom prst="rect">
            <a:avLst/>
          </a:prstGeom>
          <a:noFill/>
          <a:ln>
            <a:noFill/>
          </a:ln>
        </p:spPr>
        <p:txBody>
          <a:bodyPr spcFirstLastPara="1" wrap="square" lIns="93125" tIns="46550" rIns="93125" bIns="46550" anchor="t" anchorCtr="0">
            <a:normAutofit/>
          </a:bodyPr>
          <a:lstStyle/>
          <a:p>
            <a:pPr marL="0" lvl="0" indent="0" algn="l" rtl="0">
              <a:spcBef>
                <a:spcPts val="0"/>
              </a:spcBef>
              <a:spcAft>
                <a:spcPts val="0"/>
              </a:spcAft>
              <a:buNone/>
            </a:pPr>
            <a:endParaRPr>
              <a:latin typeface="Arial"/>
              <a:ea typeface="Arial"/>
              <a:cs typeface="Arial"/>
              <a:sym typeface="Aria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p21:notes"/>
          <p:cNvSpPr txBox="1"/>
          <p:nvPr/>
        </p:nvSpPr>
        <p:spPr>
          <a:xfrm>
            <a:off x="3970250" y="8829564"/>
            <a:ext cx="3038956" cy="464713"/>
          </a:xfrm>
          <a:prstGeom prst="rect">
            <a:avLst/>
          </a:prstGeom>
          <a:noFill/>
          <a:ln>
            <a:noFill/>
          </a:ln>
        </p:spPr>
        <p:txBody>
          <a:bodyPr spcFirstLastPara="1" wrap="square" lIns="92500" tIns="46250" rIns="92500" bIns="46250" anchor="b" anchorCtr="0">
            <a:noAutofit/>
          </a:bodyPr>
          <a:lstStyle/>
          <a:p>
            <a:pPr marL="0" marR="0" lvl="0" indent="0" algn="r" rtl="0">
              <a:spcBef>
                <a:spcPts val="0"/>
              </a:spcBef>
              <a:spcAft>
                <a:spcPts val="0"/>
              </a:spcAft>
              <a:buNone/>
            </a:pPr>
            <a:fld id="{00000000-1234-1234-1234-123412341234}" type="slidenum">
              <a:rPr lang="en-US" sz="1200" b="1" i="0" u="none" strike="noStrike" cap="none">
                <a:solidFill>
                  <a:schemeClr val="dk1"/>
                </a:solidFill>
                <a:latin typeface="Arial"/>
                <a:ea typeface="Arial"/>
                <a:cs typeface="Arial"/>
                <a:sym typeface="Arial"/>
              </a:rPr>
              <a:t>23</a:t>
            </a:fld>
            <a:endParaRPr sz="1200" b="1" i="0" u="none" strike="noStrike" cap="none">
              <a:solidFill>
                <a:schemeClr val="dk1"/>
              </a:solidFill>
              <a:latin typeface="Arial"/>
              <a:ea typeface="Arial"/>
              <a:cs typeface="Arial"/>
              <a:sym typeface="Arial"/>
            </a:endParaRPr>
          </a:p>
        </p:txBody>
      </p:sp>
      <p:sp>
        <p:nvSpPr>
          <p:cNvPr id="262" name="Google Shape;262;p21:notes"/>
          <p:cNvSpPr>
            <a:spLocks noGrp="1" noRot="1" noChangeAspect="1"/>
          </p:cNvSpPr>
          <p:nvPr>
            <p:ph type="sldImg" idx="2"/>
          </p:nvPr>
        </p:nvSpPr>
        <p:spPr>
          <a:xfrm>
            <a:off x="1181100" y="698500"/>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63" name="Google Shape;263;p21:notes"/>
          <p:cNvSpPr txBox="1">
            <a:spLocks noGrp="1"/>
          </p:cNvSpPr>
          <p:nvPr>
            <p:ph type="body" idx="1"/>
          </p:nvPr>
        </p:nvSpPr>
        <p:spPr>
          <a:xfrm>
            <a:off x="934880" y="4415844"/>
            <a:ext cx="5140641" cy="4182424"/>
          </a:xfrm>
          <a:prstGeom prst="rect">
            <a:avLst/>
          </a:prstGeom>
          <a:noFill/>
          <a:ln>
            <a:noFill/>
          </a:ln>
        </p:spPr>
        <p:txBody>
          <a:bodyPr spcFirstLastPara="1" wrap="square" lIns="93125" tIns="46550" rIns="93125" bIns="46550" anchor="t" anchorCtr="0">
            <a:normAutofit/>
          </a:bodyPr>
          <a:lstStyle/>
          <a:p>
            <a:pPr marL="0" lvl="0" indent="0" algn="l" rtl="0">
              <a:spcBef>
                <a:spcPts val="0"/>
              </a:spcBef>
              <a:spcAft>
                <a:spcPts val="0"/>
              </a:spcAft>
              <a:buNone/>
            </a:pPr>
            <a:endParaRPr>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4"/>
        <p:cNvGrpSpPr/>
        <p:nvPr/>
      </p:nvGrpSpPr>
      <p:grpSpPr>
        <a:xfrm>
          <a:off x="0" y="0"/>
          <a:ext cx="0" cy="0"/>
          <a:chOff x="0" y="0"/>
          <a:chExt cx="0" cy="0"/>
        </a:xfrm>
      </p:grpSpPr>
      <p:sp>
        <p:nvSpPr>
          <p:cNvPr id="15" name="Google Shape;15;p23"/>
          <p:cNvSpPr txBox="1">
            <a:spLocks noGrp="1"/>
          </p:cNvSpPr>
          <p:nvPr>
            <p:ph type="ctrTitle"/>
          </p:nvPr>
        </p:nvSpPr>
        <p:spPr>
          <a:xfrm>
            <a:off x="685800" y="1905000"/>
            <a:ext cx="7772400" cy="1470025"/>
          </a:xfrm>
          <a:prstGeom prst="rect">
            <a:avLst/>
          </a:prstGeom>
          <a:noFill/>
          <a:ln>
            <a:noFill/>
          </a:ln>
        </p:spPr>
        <p:txBody>
          <a:bodyPr spcFirstLastPara="1" wrap="square" lIns="91425" tIns="45700" rIns="91425" bIns="45700" anchor="ctr" anchorCtr="0">
            <a:noAutofit/>
          </a:bodyPr>
          <a:lstStyle>
            <a:lvl1pPr lvl="0" algn="ctr">
              <a:spcBef>
                <a:spcPts val="720"/>
              </a:spcBef>
              <a:spcAft>
                <a:spcPts val="0"/>
              </a:spcAft>
              <a:buSzPts val="1400"/>
              <a:buNone/>
              <a:defRPr sz="36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6" name="Google Shape;16;p23"/>
          <p:cNvSpPr txBox="1">
            <a:spLocks noGrp="1"/>
          </p:cNvSpPr>
          <p:nvPr>
            <p:ph type="subTitle" idx="1"/>
          </p:nvPr>
        </p:nvSpPr>
        <p:spPr>
          <a:xfrm>
            <a:off x="1371600" y="4114800"/>
            <a:ext cx="6400800" cy="1752600"/>
          </a:xfrm>
          <a:prstGeom prst="rect">
            <a:avLst/>
          </a:prstGeom>
          <a:noFill/>
          <a:ln>
            <a:noFill/>
          </a:ln>
        </p:spPr>
        <p:txBody>
          <a:bodyPr spcFirstLastPara="1" wrap="square" lIns="91425" tIns="45700" rIns="91425" bIns="45700" anchor="t" anchorCtr="0">
            <a:noAutofit/>
          </a:bodyPr>
          <a:lstStyle>
            <a:lvl1pPr marR="0" lvl="0" algn="ctr" rtl="0">
              <a:spcBef>
                <a:spcPts val="560"/>
              </a:spcBef>
              <a:spcAft>
                <a:spcPts val="0"/>
              </a:spcAft>
              <a:buClr>
                <a:srgbClr val="AA9C8F"/>
              </a:buClr>
              <a:buSzPts val="2800"/>
              <a:buFont typeface="Noto Sans Symbols"/>
              <a:buNone/>
              <a:defRPr sz="2800" b="0" i="0" u="none" strike="noStrike" cap="none">
                <a:solidFill>
                  <a:srgbClr val="4D4D4D"/>
                </a:solidFill>
                <a:latin typeface="Calibri"/>
                <a:ea typeface="Calibri"/>
                <a:cs typeface="Calibri"/>
                <a:sym typeface="Calibri"/>
              </a:defRPr>
            </a:lvl1pPr>
            <a:lvl2pPr marR="0" lvl="1" algn="l" rtl="0">
              <a:spcBef>
                <a:spcPts val="520"/>
              </a:spcBef>
              <a:spcAft>
                <a:spcPts val="0"/>
              </a:spcAft>
              <a:buClr>
                <a:srgbClr val="C75B12"/>
              </a:buClr>
              <a:buSzPts val="2600"/>
              <a:buFont typeface="Noto Sans Symbols"/>
              <a:buChar char="▪"/>
              <a:defRPr sz="2600" b="0" i="0" u="none" strike="noStrike" cap="none">
                <a:solidFill>
                  <a:schemeClr val="dk1"/>
                </a:solidFill>
                <a:latin typeface="Calibri"/>
                <a:ea typeface="Calibri"/>
                <a:cs typeface="Calibri"/>
                <a:sym typeface="Calibri"/>
              </a:defRPr>
            </a:lvl2pPr>
            <a:lvl3pPr marR="0" lvl="2" algn="l" rtl="0">
              <a:spcBef>
                <a:spcPts val="480"/>
              </a:spcBef>
              <a:spcAft>
                <a:spcPts val="0"/>
              </a:spcAft>
              <a:buClr>
                <a:srgbClr val="C75B12"/>
              </a:buClr>
              <a:buSzPts val="2400"/>
              <a:buFont typeface="Noto Sans Symbols"/>
              <a:buChar char="▪"/>
              <a:defRPr sz="2400" b="0" i="0" u="none" strike="noStrike" cap="none">
                <a:solidFill>
                  <a:schemeClr val="dk1"/>
                </a:solidFill>
                <a:latin typeface="Calibri"/>
                <a:ea typeface="Calibri"/>
                <a:cs typeface="Calibri"/>
                <a:sym typeface="Calibri"/>
              </a:defRPr>
            </a:lvl3pPr>
            <a:lvl4pPr marR="0" lvl="3" algn="l" rtl="0">
              <a:spcBef>
                <a:spcPts val="400"/>
              </a:spcBef>
              <a:spcAft>
                <a:spcPts val="0"/>
              </a:spcAft>
              <a:buClr>
                <a:srgbClr val="C75B12"/>
              </a:buClr>
              <a:buSzPts val="2000"/>
              <a:buFont typeface="Noto Sans Symbols"/>
              <a:buChar char="▪"/>
              <a:defRPr sz="2000" b="0" i="0" u="none" strike="noStrike" cap="none">
                <a:solidFill>
                  <a:schemeClr val="dk1"/>
                </a:solidFill>
                <a:latin typeface="Calibri"/>
                <a:ea typeface="Calibri"/>
                <a:cs typeface="Calibri"/>
                <a:sym typeface="Calibri"/>
              </a:defRPr>
            </a:lvl4pPr>
            <a:lvl5pPr marR="0" lvl="4" algn="l" rtl="0">
              <a:spcBef>
                <a:spcPts val="400"/>
              </a:spcBef>
              <a:spcAft>
                <a:spcPts val="0"/>
              </a:spcAft>
              <a:buClr>
                <a:srgbClr val="C75B12"/>
              </a:buClr>
              <a:buSzPts val="2000"/>
              <a:buFont typeface="Noto Sans Symbols"/>
              <a:buChar char="▪"/>
              <a:defRPr sz="2000" b="0" i="0" u="none" strike="noStrike" cap="none">
                <a:solidFill>
                  <a:schemeClr val="dk1"/>
                </a:solidFill>
                <a:latin typeface="Calibri"/>
                <a:ea typeface="Calibri"/>
                <a:cs typeface="Calibri"/>
                <a:sym typeface="Calibri"/>
              </a:defRPr>
            </a:lvl5pPr>
            <a:lvl6pPr marR="0" lvl="5" algn="l" rtl="0">
              <a:spcBef>
                <a:spcPts val="400"/>
              </a:spcBef>
              <a:spcAft>
                <a:spcPts val="0"/>
              </a:spcAft>
              <a:buClr>
                <a:srgbClr val="C75B12"/>
              </a:buClr>
              <a:buSzPts val="2000"/>
              <a:buFont typeface="Noto Sans Symbols"/>
              <a:buChar char="▪"/>
              <a:defRPr sz="2000" b="0" i="0" u="none" strike="noStrike" cap="none">
                <a:solidFill>
                  <a:schemeClr val="dk1"/>
                </a:solidFill>
                <a:latin typeface="Arial"/>
                <a:ea typeface="Arial"/>
                <a:cs typeface="Arial"/>
                <a:sym typeface="Arial"/>
              </a:defRPr>
            </a:lvl6pPr>
            <a:lvl7pPr marR="0" lvl="6" algn="l" rtl="0">
              <a:spcBef>
                <a:spcPts val="400"/>
              </a:spcBef>
              <a:spcAft>
                <a:spcPts val="0"/>
              </a:spcAft>
              <a:buClr>
                <a:srgbClr val="C75B12"/>
              </a:buClr>
              <a:buSzPts val="2000"/>
              <a:buFont typeface="Noto Sans Symbols"/>
              <a:buChar char="▪"/>
              <a:defRPr sz="2000" b="0" i="0" u="none" strike="noStrike" cap="none">
                <a:solidFill>
                  <a:schemeClr val="dk1"/>
                </a:solidFill>
                <a:latin typeface="Arial"/>
                <a:ea typeface="Arial"/>
                <a:cs typeface="Arial"/>
                <a:sym typeface="Arial"/>
              </a:defRPr>
            </a:lvl7pPr>
            <a:lvl8pPr marR="0" lvl="7" algn="l" rtl="0">
              <a:spcBef>
                <a:spcPts val="400"/>
              </a:spcBef>
              <a:spcAft>
                <a:spcPts val="0"/>
              </a:spcAft>
              <a:buClr>
                <a:srgbClr val="C75B12"/>
              </a:buClr>
              <a:buSzPts val="2000"/>
              <a:buFont typeface="Noto Sans Symbols"/>
              <a:buChar char="▪"/>
              <a:defRPr sz="2000" b="0" i="0" u="none" strike="noStrike" cap="none">
                <a:solidFill>
                  <a:schemeClr val="dk1"/>
                </a:solidFill>
                <a:latin typeface="Arial"/>
                <a:ea typeface="Arial"/>
                <a:cs typeface="Arial"/>
                <a:sym typeface="Arial"/>
              </a:defRPr>
            </a:lvl8pPr>
            <a:lvl9pPr marR="0" lvl="8" algn="l" rtl="0">
              <a:spcBef>
                <a:spcPts val="400"/>
              </a:spcBef>
              <a:spcAft>
                <a:spcPts val="0"/>
              </a:spcAft>
              <a:buClr>
                <a:srgbClr val="C75B12"/>
              </a:buClr>
              <a:buSzPts val="2000"/>
              <a:buFont typeface="Noto Sans Symbols"/>
              <a:buChar char="▪"/>
              <a:defRPr sz="20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7"/>
        <p:cNvGrpSpPr/>
        <p:nvPr/>
      </p:nvGrpSpPr>
      <p:grpSpPr>
        <a:xfrm>
          <a:off x="0" y="0"/>
          <a:ext cx="0" cy="0"/>
          <a:chOff x="0" y="0"/>
          <a:chExt cx="0" cy="0"/>
        </a:xfrm>
      </p:grpSpPr>
      <p:sp>
        <p:nvSpPr>
          <p:cNvPr id="18" name="Google Shape;18;p24"/>
          <p:cNvSpPr txBox="1">
            <a:spLocks noGrp="1"/>
          </p:cNvSpPr>
          <p:nvPr>
            <p:ph type="dt" idx="10"/>
          </p:nvPr>
        </p:nvSpPr>
        <p:spPr>
          <a:xfrm>
            <a:off x="685800" y="6248400"/>
            <a:ext cx="19050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b="1"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1"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1"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1"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1"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1"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1"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1"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1" i="0" u="none" strike="noStrike" cap="none">
                <a:solidFill>
                  <a:schemeClr val="dk1"/>
                </a:solidFill>
                <a:latin typeface="Arial"/>
                <a:ea typeface="Arial"/>
                <a:cs typeface="Arial"/>
                <a:sym typeface="Arial"/>
              </a:defRPr>
            </a:lvl9pPr>
          </a:lstStyle>
          <a:p>
            <a:endParaRPr/>
          </a:p>
        </p:txBody>
      </p:sp>
      <p:sp>
        <p:nvSpPr>
          <p:cNvPr id="19" name="Google Shape;19;p24"/>
          <p:cNvSpPr txBox="1">
            <a:spLocks noGrp="1"/>
          </p:cNvSpPr>
          <p:nvPr>
            <p:ph type="ftr" idx="11"/>
          </p:nvPr>
        </p:nvSpPr>
        <p:spPr>
          <a:xfrm>
            <a:off x="3124200" y="6248400"/>
            <a:ext cx="28956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b="1"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1"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1"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1"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1"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1"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1"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1"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1" i="0" u="none" strike="noStrike" cap="none">
                <a:solidFill>
                  <a:schemeClr val="dk1"/>
                </a:solidFill>
                <a:latin typeface="Arial"/>
                <a:ea typeface="Arial"/>
                <a:cs typeface="Arial"/>
                <a:sym typeface="Arial"/>
              </a:defRPr>
            </a:lvl9pPr>
          </a:lstStyle>
          <a:p>
            <a:endParaRPr/>
          </a:p>
        </p:txBody>
      </p:sp>
      <p:sp>
        <p:nvSpPr>
          <p:cNvPr id="20" name="Google Shape;20;p24"/>
          <p:cNvSpPr txBox="1">
            <a:spLocks noGrp="1"/>
          </p:cNvSpPr>
          <p:nvPr>
            <p:ph type="sldNum" idx="12"/>
          </p:nvPr>
        </p:nvSpPr>
        <p:spPr>
          <a:xfrm>
            <a:off x="6553200" y="6248400"/>
            <a:ext cx="1905000" cy="457200"/>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spcAft>
                <a:spcPts val="0"/>
              </a:spcAft>
              <a:buNone/>
              <a:defRPr sz="1800" b="1" i="0" u="none" strike="noStrike" cap="none">
                <a:solidFill>
                  <a:schemeClr val="dk1"/>
                </a:solidFill>
                <a:latin typeface="Arial"/>
                <a:ea typeface="Arial"/>
                <a:cs typeface="Arial"/>
                <a:sym typeface="Arial"/>
              </a:defRPr>
            </a:lvl1pPr>
            <a:lvl2pPr marL="0" marR="0" lvl="1" indent="0" algn="l" rtl="0">
              <a:spcBef>
                <a:spcPts val="0"/>
              </a:spcBef>
              <a:spcAft>
                <a:spcPts val="0"/>
              </a:spcAft>
              <a:buNone/>
              <a:defRPr sz="1800" b="1" i="0" u="none" strike="noStrike" cap="none">
                <a:solidFill>
                  <a:schemeClr val="dk1"/>
                </a:solidFill>
                <a:latin typeface="Arial"/>
                <a:ea typeface="Arial"/>
                <a:cs typeface="Arial"/>
                <a:sym typeface="Arial"/>
              </a:defRPr>
            </a:lvl2pPr>
            <a:lvl3pPr marL="0" marR="0" lvl="2" indent="0" algn="l" rtl="0">
              <a:spcBef>
                <a:spcPts val="0"/>
              </a:spcBef>
              <a:spcAft>
                <a:spcPts val="0"/>
              </a:spcAft>
              <a:buNone/>
              <a:defRPr sz="1800" b="1" i="0" u="none" strike="noStrike" cap="none">
                <a:solidFill>
                  <a:schemeClr val="dk1"/>
                </a:solidFill>
                <a:latin typeface="Arial"/>
                <a:ea typeface="Arial"/>
                <a:cs typeface="Arial"/>
                <a:sym typeface="Arial"/>
              </a:defRPr>
            </a:lvl3pPr>
            <a:lvl4pPr marL="0" marR="0" lvl="3" indent="0" algn="l" rtl="0">
              <a:spcBef>
                <a:spcPts val="0"/>
              </a:spcBef>
              <a:spcAft>
                <a:spcPts val="0"/>
              </a:spcAft>
              <a:buNone/>
              <a:defRPr sz="1800" b="1" i="0" u="none" strike="noStrike" cap="none">
                <a:solidFill>
                  <a:schemeClr val="dk1"/>
                </a:solidFill>
                <a:latin typeface="Arial"/>
                <a:ea typeface="Arial"/>
                <a:cs typeface="Arial"/>
                <a:sym typeface="Arial"/>
              </a:defRPr>
            </a:lvl4pPr>
            <a:lvl5pPr marL="0" marR="0" lvl="4" indent="0" algn="l" rtl="0">
              <a:spcBef>
                <a:spcPts val="0"/>
              </a:spcBef>
              <a:spcAft>
                <a:spcPts val="0"/>
              </a:spcAft>
              <a:buNone/>
              <a:defRPr sz="1800" b="1" i="0" u="none" strike="noStrike" cap="none">
                <a:solidFill>
                  <a:schemeClr val="dk1"/>
                </a:solidFill>
                <a:latin typeface="Arial"/>
                <a:ea typeface="Arial"/>
                <a:cs typeface="Arial"/>
                <a:sym typeface="Arial"/>
              </a:defRPr>
            </a:lvl5pPr>
            <a:lvl6pPr marL="0" marR="0" lvl="5" indent="0" algn="l" rtl="0">
              <a:spcBef>
                <a:spcPts val="0"/>
              </a:spcBef>
              <a:spcAft>
                <a:spcPts val="0"/>
              </a:spcAft>
              <a:buNone/>
              <a:defRPr sz="1800" b="1" i="0" u="none" strike="noStrike" cap="none">
                <a:solidFill>
                  <a:schemeClr val="dk1"/>
                </a:solidFill>
                <a:latin typeface="Arial"/>
                <a:ea typeface="Arial"/>
                <a:cs typeface="Arial"/>
                <a:sym typeface="Arial"/>
              </a:defRPr>
            </a:lvl6pPr>
            <a:lvl7pPr marL="0" marR="0" lvl="6" indent="0" algn="l" rtl="0">
              <a:spcBef>
                <a:spcPts val="0"/>
              </a:spcBef>
              <a:spcAft>
                <a:spcPts val="0"/>
              </a:spcAft>
              <a:buNone/>
              <a:defRPr sz="1800" b="1" i="0" u="none" strike="noStrike" cap="none">
                <a:solidFill>
                  <a:schemeClr val="dk1"/>
                </a:solidFill>
                <a:latin typeface="Arial"/>
                <a:ea typeface="Arial"/>
                <a:cs typeface="Arial"/>
                <a:sym typeface="Arial"/>
              </a:defRPr>
            </a:lvl7pPr>
            <a:lvl8pPr marL="0" marR="0" lvl="7" indent="0" algn="l" rtl="0">
              <a:spcBef>
                <a:spcPts val="0"/>
              </a:spcBef>
              <a:spcAft>
                <a:spcPts val="0"/>
              </a:spcAft>
              <a:buNone/>
              <a:defRPr sz="1800" b="1" i="0" u="none" strike="noStrike" cap="none">
                <a:solidFill>
                  <a:schemeClr val="dk1"/>
                </a:solidFill>
                <a:latin typeface="Arial"/>
                <a:ea typeface="Arial"/>
                <a:cs typeface="Arial"/>
                <a:sym typeface="Arial"/>
              </a:defRPr>
            </a:lvl8pPr>
            <a:lvl9pPr marL="0" marR="0" lvl="8" indent="0" algn="l" rtl="0">
              <a:spcBef>
                <a:spcPts val="0"/>
              </a:spcBef>
              <a:spcAft>
                <a:spcPts val="0"/>
              </a:spcAft>
              <a:buNone/>
              <a:defRPr sz="1800" b="1" i="0" u="none" strike="noStrike" cap="none">
                <a:solidFill>
                  <a:schemeClr val="dk1"/>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25"/>
          <p:cNvSpPr txBox="1">
            <a:spLocks noGrp="1"/>
          </p:cNvSpPr>
          <p:nvPr>
            <p:ph type="title"/>
          </p:nvPr>
        </p:nvSpPr>
        <p:spPr>
          <a:xfrm>
            <a:off x="685800" y="168275"/>
            <a:ext cx="8153400" cy="563563"/>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sz="32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23" name="Google Shape;23;p25"/>
          <p:cNvSpPr txBox="1">
            <a:spLocks noGrp="1"/>
          </p:cNvSpPr>
          <p:nvPr>
            <p:ph type="body" idx="1"/>
          </p:nvPr>
        </p:nvSpPr>
        <p:spPr>
          <a:xfrm>
            <a:off x="663389" y="1120588"/>
            <a:ext cx="8153400" cy="5105400"/>
          </a:xfrm>
          <a:prstGeom prst="rect">
            <a:avLst/>
          </a:prstGeom>
          <a:noFill/>
          <a:ln>
            <a:noFill/>
          </a:ln>
        </p:spPr>
        <p:txBody>
          <a:bodyPr spcFirstLastPara="1" wrap="square" lIns="91425" tIns="45700" rIns="91425" bIns="45700" anchor="t" anchorCtr="0">
            <a:noAutofit/>
          </a:bodyPr>
          <a:lstStyle>
            <a:lvl1pPr marL="457200" marR="0" lvl="0" indent="-381000" algn="l" rtl="0">
              <a:spcBef>
                <a:spcPts val="480"/>
              </a:spcBef>
              <a:spcAft>
                <a:spcPts val="0"/>
              </a:spcAft>
              <a:buClr>
                <a:schemeClr val="dk1"/>
              </a:buClr>
              <a:buSzPts val="2400"/>
              <a:buFont typeface="Noto Sans Symbols"/>
              <a:buChar char="▪"/>
              <a:defRPr sz="2400" b="0" i="0" u="none" strike="noStrike" cap="none">
                <a:solidFill>
                  <a:schemeClr val="dk1"/>
                </a:solidFill>
                <a:latin typeface="Calibri"/>
                <a:ea typeface="Calibri"/>
                <a:cs typeface="Calibri"/>
                <a:sym typeface="Calibri"/>
              </a:defRPr>
            </a:lvl1pPr>
            <a:lvl2pPr marL="914400" marR="0" lvl="1" indent="-368300" algn="l" rtl="0">
              <a:spcBef>
                <a:spcPts val="440"/>
              </a:spcBef>
              <a:spcAft>
                <a:spcPts val="0"/>
              </a:spcAft>
              <a:buClr>
                <a:schemeClr val="dk1"/>
              </a:buClr>
              <a:buSzPts val="2200"/>
              <a:buFont typeface="Arial"/>
              <a:buChar char="•"/>
              <a:defRPr sz="2200" b="0" i="0" u="none" strike="noStrike" cap="none">
                <a:solidFill>
                  <a:schemeClr val="dk1"/>
                </a:solidFill>
                <a:latin typeface="Calibri"/>
                <a:ea typeface="Calibri"/>
                <a:cs typeface="Calibri"/>
                <a:sym typeface="Calibri"/>
              </a:defRPr>
            </a:lvl2pPr>
            <a:lvl3pPr marL="1371600" marR="0" lvl="2"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rgbClr val="C75B12"/>
              </a:buClr>
              <a:buSzPts val="2000"/>
              <a:buFont typeface="Noto Sans Symbols"/>
              <a:buChar char="▪"/>
              <a:defRPr sz="2000" b="0" i="0" u="none" strike="noStrike" cap="none">
                <a:solidFill>
                  <a:schemeClr val="dk1"/>
                </a:solidFill>
                <a:latin typeface="Arial"/>
                <a:ea typeface="Arial"/>
                <a:cs typeface="Arial"/>
                <a:sym typeface="Arial"/>
              </a:defRPr>
            </a:lvl6pPr>
            <a:lvl7pPr marL="3200400" marR="0" lvl="6" indent="-355600" algn="l" rtl="0">
              <a:spcBef>
                <a:spcPts val="400"/>
              </a:spcBef>
              <a:spcAft>
                <a:spcPts val="0"/>
              </a:spcAft>
              <a:buClr>
                <a:srgbClr val="C75B12"/>
              </a:buClr>
              <a:buSzPts val="2000"/>
              <a:buFont typeface="Noto Sans Symbols"/>
              <a:buChar char="▪"/>
              <a:defRPr sz="2000" b="0" i="0" u="none" strike="noStrike" cap="none">
                <a:solidFill>
                  <a:schemeClr val="dk1"/>
                </a:solidFill>
                <a:latin typeface="Arial"/>
                <a:ea typeface="Arial"/>
                <a:cs typeface="Arial"/>
                <a:sym typeface="Arial"/>
              </a:defRPr>
            </a:lvl7pPr>
            <a:lvl8pPr marL="3657600" marR="0" lvl="7" indent="-355600" algn="l" rtl="0">
              <a:spcBef>
                <a:spcPts val="400"/>
              </a:spcBef>
              <a:spcAft>
                <a:spcPts val="0"/>
              </a:spcAft>
              <a:buClr>
                <a:srgbClr val="C75B12"/>
              </a:buClr>
              <a:buSzPts val="2000"/>
              <a:buFont typeface="Noto Sans Symbols"/>
              <a:buChar char="▪"/>
              <a:defRPr sz="2000" b="0" i="0" u="none" strike="noStrike" cap="none">
                <a:solidFill>
                  <a:schemeClr val="dk1"/>
                </a:solidFill>
                <a:latin typeface="Arial"/>
                <a:ea typeface="Arial"/>
                <a:cs typeface="Arial"/>
                <a:sym typeface="Arial"/>
              </a:defRPr>
            </a:lvl8pPr>
            <a:lvl9pPr marL="4114800" marR="0" lvl="8" indent="-355600" algn="l" rtl="0">
              <a:spcBef>
                <a:spcPts val="400"/>
              </a:spcBef>
              <a:spcAft>
                <a:spcPts val="0"/>
              </a:spcAft>
              <a:buClr>
                <a:srgbClr val="C75B12"/>
              </a:buClr>
              <a:buSzPts val="2000"/>
              <a:buFont typeface="Noto Sans Symbols"/>
              <a:buChar char="▪"/>
              <a:defRPr sz="20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Text, and Content" type="txAndObj">
  <p:cSld name="TEXT_AND_OBJECT">
    <p:spTree>
      <p:nvGrpSpPr>
        <p:cNvPr id="1" name="Shape 24"/>
        <p:cNvGrpSpPr/>
        <p:nvPr/>
      </p:nvGrpSpPr>
      <p:grpSpPr>
        <a:xfrm>
          <a:off x="0" y="0"/>
          <a:ext cx="0" cy="0"/>
          <a:chOff x="0" y="0"/>
          <a:chExt cx="0" cy="0"/>
        </a:xfrm>
      </p:grpSpPr>
      <p:sp>
        <p:nvSpPr>
          <p:cNvPr id="25" name="Google Shape;25;p26"/>
          <p:cNvSpPr txBox="1">
            <a:spLocks noGrp="1"/>
          </p:cNvSpPr>
          <p:nvPr>
            <p:ph type="title"/>
          </p:nvPr>
        </p:nvSpPr>
        <p:spPr>
          <a:xfrm>
            <a:off x="577850" y="168275"/>
            <a:ext cx="8229600" cy="563563"/>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26" name="Google Shape;26;p26"/>
          <p:cNvSpPr txBox="1">
            <a:spLocks noGrp="1"/>
          </p:cNvSpPr>
          <p:nvPr>
            <p:ph type="body" idx="1"/>
          </p:nvPr>
        </p:nvSpPr>
        <p:spPr>
          <a:xfrm>
            <a:off x="577850" y="758825"/>
            <a:ext cx="4038600" cy="5718175"/>
          </a:xfrm>
          <a:prstGeom prst="rect">
            <a:avLst/>
          </a:prstGeom>
          <a:noFill/>
          <a:ln>
            <a:noFill/>
          </a:ln>
        </p:spPr>
        <p:txBody>
          <a:bodyPr spcFirstLastPara="1" wrap="square" lIns="91425" tIns="45700" rIns="91425" bIns="45700" anchor="t" anchorCtr="0">
            <a:noAutofit/>
          </a:bodyPr>
          <a:lstStyle>
            <a:lvl1pPr marL="457200" marR="0" lvl="0" indent="-406400" algn="l" rtl="0">
              <a:spcBef>
                <a:spcPts val="560"/>
              </a:spcBef>
              <a:spcAft>
                <a:spcPts val="0"/>
              </a:spcAft>
              <a:buClr>
                <a:srgbClr val="AA9C8F"/>
              </a:buClr>
              <a:buSzPts val="2800"/>
              <a:buFont typeface="Noto Sans Symbols"/>
              <a:buChar char="▪"/>
              <a:defRPr sz="2800" b="0" i="0" u="none" strike="noStrike" cap="none">
                <a:solidFill>
                  <a:srgbClr val="4D4D4D"/>
                </a:solidFill>
                <a:latin typeface="Calibri"/>
                <a:ea typeface="Calibri"/>
                <a:cs typeface="Calibri"/>
                <a:sym typeface="Calibri"/>
              </a:defRPr>
            </a:lvl1pPr>
            <a:lvl2pPr marL="914400" marR="0" lvl="1" indent="-393700" algn="l" rtl="0">
              <a:spcBef>
                <a:spcPts val="520"/>
              </a:spcBef>
              <a:spcAft>
                <a:spcPts val="0"/>
              </a:spcAft>
              <a:buClr>
                <a:srgbClr val="C75B12"/>
              </a:buClr>
              <a:buSzPts val="2600"/>
              <a:buFont typeface="Noto Sans Symbols"/>
              <a:buChar char="▪"/>
              <a:defRPr sz="26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rgbClr val="C75B12"/>
              </a:buClr>
              <a:buSzPts val="2400"/>
              <a:buFont typeface="Noto Sans Symbols"/>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rgbClr val="C75B12"/>
              </a:buClr>
              <a:buSzPts val="2000"/>
              <a:buFont typeface="Noto Sans Symbols"/>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rgbClr val="C75B12"/>
              </a:buClr>
              <a:buSzPts val="2000"/>
              <a:buFont typeface="Noto Sans Symbols"/>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rgbClr val="C75B12"/>
              </a:buClr>
              <a:buSzPts val="2000"/>
              <a:buFont typeface="Noto Sans Symbols"/>
              <a:buChar char="▪"/>
              <a:defRPr sz="2000" b="0" i="0" u="none" strike="noStrike" cap="none">
                <a:solidFill>
                  <a:schemeClr val="dk1"/>
                </a:solidFill>
                <a:latin typeface="Arial"/>
                <a:ea typeface="Arial"/>
                <a:cs typeface="Arial"/>
                <a:sym typeface="Arial"/>
              </a:defRPr>
            </a:lvl6pPr>
            <a:lvl7pPr marL="3200400" marR="0" lvl="6" indent="-355600" algn="l" rtl="0">
              <a:spcBef>
                <a:spcPts val="400"/>
              </a:spcBef>
              <a:spcAft>
                <a:spcPts val="0"/>
              </a:spcAft>
              <a:buClr>
                <a:srgbClr val="C75B12"/>
              </a:buClr>
              <a:buSzPts val="2000"/>
              <a:buFont typeface="Noto Sans Symbols"/>
              <a:buChar char="▪"/>
              <a:defRPr sz="2000" b="0" i="0" u="none" strike="noStrike" cap="none">
                <a:solidFill>
                  <a:schemeClr val="dk1"/>
                </a:solidFill>
                <a:latin typeface="Arial"/>
                <a:ea typeface="Arial"/>
                <a:cs typeface="Arial"/>
                <a:sym typeface="Arial"/>
              </a:defRPr>
            </a:lvl7pPr>
            <a:lvl8pPr marL="3657600" marR="0" lvl="7" indent="-355600" algn="l" rtl="0">
              <a:spcBef>
                <a:spcPts val="400"/>
              </a:spcBef>
              <a:spcAft>
                <a:spcPts val="0"/>
              </a:spcAft>
              <a:buClr>
                <a:srgbClr val="C75B12"/>
              </a:buClr>
              <a:buSzPts val="2000"/>
              <a:buFont typeface="Noto Sans Symbols"/>
              <a:buChar char="▪"/>
              <a:defRPr sz="2000" b="0" i="0" u="none" strike="noStrike" cap="none">
                <a:solidFill>
                  <a:schemeClr val="dk1"/>
                </a:solidFill>
                <a:latin typeface="Arial"/>
                <a:ea typeface="Arial"/>
                <a:cs typeface="Arial"/>
                <a:sym typeface="Arial"/>
              </a:defRPr>
            </a:lvl8pPr>
            <a:lvl9pPr marL="4114800" marR="0" lvl="8" indent="-355600" algn="l" rtl="0">
              <a:spcBef>
                <a:spcPts val="400"/>
              </a:spcBef>
              <a:spcAft>
                <a:spcPts val="0"/>
              </a:spcAft>
              <a:buClr>
                <a:srgbClr val="C75B12"/>
              </a:buClr>
              <a:buSzPts val="2000"/>
              <a:buFont typeface="Noto Sans Symbols"/>
              <a:buChar char="▪"/>
              <a:defRPr sz="2000" b="0" i="0" u="none" strike="noStrike" cap="none">
                <a:solidFill>
                  <a:schemeClr val="dk1"/>
                </a:solidFill>
                <a:latin typeface="Arial"/>
                <a:ea typeface="Arial"/>
                <a:cs typeface="Arial"/>
                <a:sym typeface="Arial"/>
              </a:defRPr>
            </a:lvl9pPr>
          </a:lstStyle>
          <a:p>
            <a:endParaRPr/>
          </a:p>
        </p:txBody>
      </p:sp>
      <p:sp>
        <p:nvSpPr>
          <p:cNvPr id="27" name="Google Shape;27;p26"/>
          <p:cNvSpPr txBox="1">
            <a:spLocks noGrp="1"/>
          </p:cNvSpPr>
          <p:nvPr>
            <p:ph type="body" idx="2"/>
          </p:nvPr>
        </p:nvSpPr>
        <p:spPr>
          <a:xfrm>
            <a:off x="4768850" y="758825"/>
            <a:ext cx="4038600" cy="5718175"/>
          </a:xfrm>
          <a:prstGeom prst="rect">
            <a:avLst/>
          </a:prstGeom>
          <a:noFill/>
          <a:ln>
            <a:noFill/>
          </a:ln>
        </p:spPr>
        <p:txBody>
          <a:bodyPr spcFirstLastPara="1" wrap="square" lIns="91425" tIns="45700" rIns="91425" bIns="45700" anchor="t" anchorCtr="0">
            <a:noAutofit/>
          </a:bodyPr>
          <a:lstStyle>
            <a:lvl1pPr marL="457200" marR="0" lvl="0" indent="-406400" algn="l" rtl="0">
              <a:spcBef>
                <a:spcPts val="560"/>
              </a:spcBef>
              <a:spcAft>
                <a:spcPts val="0"/>
              </a:spcAft>
              <a:buClr>
                <a:srgbClr val="AA9C8F"/>
              </a:buClr>
              <a:buSzPts val="2800"/>
              <a:buFont typeface="Noto Sans Symbols"/>
              <a:buChar char="▪"/>
              <a:defRPr sz="2800" b="0" i="0" u="none" strike="noStrike" cap="none">
                <a:solidFill>
                  <a:srgbClr val="4D4D4D"/>
                </a:solidFill>
                <a:latin typeface="Calibri"/>
                <a:ea typeface="Calibri"/>
                <a:cs typeface="Calibri"/>
                <a:sym typeface="Calibri"/>
              </a:defRPr>
            </a:lvl1pPr>
            <a:lvl2pPr marL="914400" marR="0" lvl="1" indent="-393700" algn="l" rtl="0">
              <a:spcBef>
                <a:spcPts val="520"/>
              </a:spcBef>
              <a:spcAft>
                <a:spcPts val="0"/>
              </a:spcAft>
              <a:buClr>
                <a:srgbClr val="C75B12"/>
              </a:buClr>
              <a:buSzPts val="2600"/>
              <a:buFont typeface="Noto Sans Symbols"/>
              <a:buChar char="▪"/>
              <a:defRPr sz="26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rgbClr val="C75B12"/>
              </a:buClr>
              <a:buSzPts val="2400"/>
              <a:buFont typeface="Noto Sans Symbols"/>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rgbClr val="C75B12"/>
              </a:buClr>
              <a:buSzPts val="2000"/>
              <a:buFont typeface="Noto Sans Symbols"/>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rgbClr val="C75B12"/>
              </a:buClr>
              <a:buSzPts val="2000"/>
              <a:buFont typeface="Noto Sans Symbols"/>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rgbClr val="C75B12"/>
              </a:buClr>
              <a:buSzPts val="2000"/>
              <a:buFont typeface="Noto Sans Symbols"/>
              <a:buChar char="▪"/>
              <a:defRPr sz="2000" b="0" i="0" u="none" strike="noStrike" cap="none">
                <a:solidFill>
                  <a:schemeClr val="dk1"/>
                </a:solidFill>
                <a:latin typeface="Arial"/>
                <a:ea typeface="Arial"/>
                <a:cs typeface="Arial"/>
                <a:sym typeface="Arial"/>
              </a:defRPr>
            </a:lvl6pPr>
            <a:lvl7pPr marL="3200400" marR="0" lvl="6" indent="-355600" algn="l" rtl="0">
              <a:spcBef>
                <a:spcPts val="400"/>
              </a:spcBef>
              <a:spcAft>
                <a:spcPts val="0"/>
              </a:spcAft>
              <a:buClr>
                <a:srgbClr val="C75B12"/>
              </a:buClr>
              <a:buSzPts val="2000"/>
              <a:buFont typeface="Noto Sans Symbols"/>
              <a:buChar char="▪"/>
              <a:defRPr sz="2000" b="0" i="0" u="none" strike="noStrike" cap="none">
                <a:solidFill>
                  <a:schemeClr val="dk1"/>
                </a:solidFill>
                <a:latin typeface="Arial"/>
                <a:ea typeface="Arial"/>
                <a:cs typeface="Arial"/>
                <a:sym typeface="Arial"/>
              </a:defRPr>
            </a:lvl7pPr>
            <a:lvl8pPr marL="3657600" marR="0" lvl="7" indent="-355600" algn="l" rtl="0">
              <a:spcBef>
                <a:spcPts val="400"/>
              </a:spcBef>
              <a:spcAft>
                <a:spcPts val="0"/>
              </a:spcAft>
              <a:buClr>
                <a:srgbClr val="C75B12"/>
              </a:buClr>
              <a:buSzPts val="2000"/>
              <a:buFont typeface="Noto Sans Symbols"/>
              <a:buChar char="▪"/>
              <a:defRPr sz="2000" b="0" i="0" u="none" strike="noStrike" cap="none">
                <a:solidFill>
                  <a:schemeClr val="dk1"/>
                </a:solidFill>
                <a:latin typeface="Arial"/>
                <a:ea typeface="Arial"/>
                <a:cs typeface="Arial"/>
                <a:sym typeface="Arial"/>
              </a:defRPr>
            </a:lvl8pPr>
            <a:lvl9pPr marL="4114800" marR="0" lvl="8" indent="-355600" algn="l" rtl="0">
              <a:spcBef>
                <a:spcPts val="400"/>
              </a:spcBef>
              <a:spcAft>
                <a:spcPts val="0"/>
              </a:spcAft>
              <a:buClr>
                <a:srgbClr val="C75B12"/>
              </a:buClr>
              <a:buSzPts val="2000"/>
              <a:buFont typeface="Noto Sans Symbols"/>
              <a:buChar char="▪"/>
              <a:defRPr sz="20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16066" name="Rectangle 2"/>
          <p:cNvSpPr>
            <a:spLocks noGrp="1" noChangeArrowheads="1"/>
          </p:cNvSpPr>
          <p:nvPr>
            <p:ph type="ctrTitle"/>
          </p:nvPr>
        </p:nvSpPr>
        <p:spPr>
          <a:xfrm>
            <a:off x="685800" y="1905000"/>
            <a:ext cx="7772400" cy="1470025"/>
          </a:xfrm>
        </p:spPr>
        <p:txBody>
          <a:bodyPr/>
          <a:lstStyle>
            <a:lvl1pPr>
              <a:spcBef>
                <a:spcPct val="20000"/>
              </a:spcBef>
              <a:defRPr sz="3600" smtClean="0"/>
            </a:lvl1pPr>
          </a:lstStyle>
          <a:p>
            <a:r>
              <a:rPr lang="en-US" dirty="0"/>
              <a:t>Click to edit Master title style</a:t>
            </a:r>
          </a:p>
        </p:txBody>
      </p:sp>
      <p:sp>
        <p:nvSpPr>
          <p:cNvPr id="216067" name="Rectangle 3"/>
          <p:cNvSpPr>
            <a:spLocks noGrp="1" noChangeArrowheads="1"/>
          </p:cNvSpPr>
          <p:nvPr>
            <p:ph type="subTitle" idx="1"/>
          </p:nvPr>
        </p:nvSpPr>
        <p:spPr>
          <a:xfrm>
            <a:off x="1371600" y="4114800"/>
            <a:ext cx="6400800" cy="1752600"/>
          </a:xfrm>
          <a:prstGeom prst="rect">
            <a:avLst/>
          </a:prstGeom>
        </p:spPr>
        <p:txBody>
          <a:bodyPr/>
          <a:lstStyle>
            <a:lvl1pPr marL="0" indent="0" algn="ctr">
              <a:buFont typeface="Wingdings" pitchFamily="2" charset="2"/>
              <a:buNone/>
              <a:defRPr smtClean="0"/>
            </a:lvl1pPr>
          </a:lstStyle>
          <a:p>
            <a:r>
              <a:rPr lang="en-US"/>
              <a:t>Click to edit Master subtitle style</a:t>
            </a:r>
          </a:p>
        </p:txBody>
      </p:sp>
    </p:spTree>
    <p:extLst>
      <p:ext uri="{BB962C8B-B14F-4D97-AF65-F5344CB8AC3E}">
        <p14:creationId xmlns:p14="http://schemas.microsoft.com/office/powerpoint/2010/main" val="27176408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200"/>
            </a:lvl1pPr>
          </a:lstStyle>
          <a:p>
            <a:r>
              <a:rPr lang="en-US" dirty="0"/>
              <a:t>Click to edit Master title style</a:t>
            </a:r>
          </a:p>
        </p:txBody>
      </p:sp>
      <p:sp>
        <p:nvSpPr>
          <p:cNvPr id="3" name="Content Placeholder 2"/>
          <p:cNvSpPr>
            <a:spLocks noGrp="1"/>
          </p:cNvSpPr>
          <p:nvPr>
            <p:ph idx="1"/>
          </p:nvPr>
        </p:nvSpPr>
        <p:spPr>
          <a:xfrm>
            <a:off x="663389" y="1120588"/>
            <a:ext cx="8153400" cy="5105400"/>
          </a:xfrm>
          <a:prstGeom prst="rect">
            <a:avLst/>
          </a:prstGeom>
        </p:spPr>
        <p:txBody>
          <a:bodyPr/>
          <a:lstStyle>
            <a:lvl1pPr marL="342900" indent="-342900">
              <a:buClrTx/>
              <a:buFont typeface="Wingdings" charset="2"/>
              <a:buChar char="§"/>
              <a:defRPr sz="2400">
                <a:solidFill>
                  <a:schemeClr val="tx1"/>
                </a:solidFill>
              </a:defRPr>
            </a:lvl1pPr>
            <a:lvl2pPr marL="742950" indent="-285750">
              <a:buClrTx/>
              <a:buFont typeface="Arial"/>
              <a:buChar char="•"/>
              <a:defRPr sz="2200">
                <a:solidFill>
                  <a:schemeClr val="tx1"/>
                </a:solidFill>
              </a:defRPr>
            </a:lvl2pPr>
            <a:lvl3pPr marL="1143000" indent="-228600">
              <a:buClrTx/>
              <a:buFont typeface="Arial"/>
              <a:buChar char="•"/>
              <a:defRPr sz="2000">
                <a:solidFill>
                  <a:schemeClr val="tx1"/>
                </a:solidFill>
              </a:defRPr>
            </a:lvl3pPr>
            <a:lvl4pPr marL="1600200" indent="-228600">
              <a:buClrTx/>
              <a:buFont typeface="Arial"/>
              <a:buChar char="•"/>
              <a:defRPr>
                <a:solidFill>
                  <a:schemeClr val="tx1"/>
                </a:solidFill>
              </a:defRPr>
            </a:lvl4pPr>
            <a:lvl5pPr marL="2057400" indent="-228600">
              <a:buClrTx/>
              <a:buFont typeface="Arial"/>
              <a:buChar cha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636490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77850" y="168275"/>
            <a:ext cx="8229600" cy="563563"/>
          </a:xfrm>
        </p:spPr>
        <p:txBody>
          <a:bodyPr/>
          <a:lstStyle/>
          <a:p>
            <a:r>
              <a:rPr lang="en-US"/>
              <a:t>Click to edit Master title style</a:t>
            </a:r>
          </a:p>
        </p:txBody>
      </p:sp>
      <p:sp>
        <p:nvSpPr>
          <p:cNvPr id="3" name="Text Placeholder 2"/>
          <p:cNvSpPr>
            <a:spLocks noGrp="1"/>
          </p:cNvSpPr>
          <p:nvPr>
            <p:ph type="body" sz="half" idx="1"/>
          </p:nvPr>
        </p:nvSpPr>
        <p:spPr>
          <a:xfrm>
            <a:off x="577850" y="758825"/>
            <a:ext cx="4038600" cy="571817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768850" y="758825"/>
            <a:ext cx="4038600" cy="571817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504172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Rectangle 1028"/>
          <p:cNvSpPr>
            <a:spLocks noGrp="1" noChangeArrowheads="1"/>
          </p:cNvSpPr>
          <p:nvPr>
            <p:ph type="dt" sz="half" idx="10"/>
          </p:nvPr>
        </p:nvSpPr>
        <p:spPr>
          <a:xfrm>
            <a:off x="685800" y="6248400"/>
            <a:ext cx="1905000" cy="457200"/>
          </a:xfrm>
          <a:prstGeom prst="rect">
            <a:avLst/>
          </a:prstGeom>
          <a:ln/>
        </p:spPr>
        <p:txBody>
          <a:bodyPr/>
          <a:lstStyle>
            <a:lvl1pPr>
              <a:defRPr/>
            </a:lvl1pPr>
          </a:lstStyle>
          <a:p>
            <a:pPr>
              <a:defRPr/>
            </a:pPr>
            <a:fld id="{53118CC2-884A-4430-8B4F-9976F3C29C24}" type="datetimeFigureOut">
              <a:rPr lang="en-US"/>
              <a:pPr>
                <a:defRPr/>
              </a:pPr>
              <a:t>1/18/2022</a:t>
            </a:fld>
            <a:endParaRPr lang="en-US"/>
          </a:p>
        </p:txBody>
      </p:sp>
      <p:sp>
        <p:nvSpPr>
          <p:cNvPr id="3" name="Rectangle 1029"/>
          <p:cNvSpPr>
            <a:spLocks noGrp="1" noChangeArrowheads="1"/>
          </p:cNvSpPr>
          <p:nvPr>
            <p:ph type="ftr" sz="quarter" idx="11"/>
          </p:nvPr>
        </p:nvSpPr>
        <p:spPr>
          <a:xfrm>
            <a:off x="3124200" y="6248400"/>
            <a:ext cx="2895600" cy="457200"/>
          </a:xfrm>
          <a:prstGeom prst="rect">
            <a:avLst/>
          </a:prstGeom>
          <a:ln/>
        </p:spPr>
        <p:txBody>
          <a:bodyPr/>
          <a:lstStyle>
            <a:lvl1pPr>
              <a:defRPr/>
            </a:lvl1pPr>
          </a:lstStyle>
          <a:p>
            <a:pPr>
              <a:defRPr/>
            </a:pPr>
            <a:endParaRPr lang="en-US" altLang="en-US"/>
          </a:p>
        </p:txBody>
      </p:sp>
      <p:sp>
        <p:nvSpPr>
          <p:cNvPr id="4" name="Rectangle 1030"/>
          <p:cNvSpPr>
            <a:spLocks noGrp="1" noChangeArrowheads="1"/>
          </p:cNvSpPr>
          <p:nvPr>
            <p:ph type="sldNum" sz="quarter" idx="12"/>
          </p:nvPr>
        </p:nvSpPr>
        <p:spPr>
          <a:xfrm>
            <a:off x="6553200" y="6248400"/>
            <a:ext cx="1905000" cy="457200"/>
          </a:xfrm>
          <a:prstGeom prst="rect">
            <a:avLst/>
          </a:prstGeom>
          <a:ln/>
        </p:spPr>
        <p:txBody>
          <a:bodyPr/>
          <a:lstStyle>
            <a:lvl1pPr>
              <a:defRPr/>
            </a:lvl1pPr>
          </a:lstStyle>
          <a:p>
            <a:pPr>
              <a:defRPr/>
            </a:pPr>
            <a:fld id="{91823322-A425-42F9-B4E6-DE1BA6748FF3}" type="slidenum">
              <a:rPr lang="en-US" altLang="en-US"/>
              <a:pPr>
                <a:defRPr/>
              </a:pPr>
              <a:t>‹#›</a:t>
            </a:fld>
            <a:endParaRPr lang="en-US" altLang="en-US"/>
          </a:p>
        </p:txBody>
      </p:sp>
    </p:spTree>
    <p:extLst>
      <p:ext uri="{BB962C8B-B14F-4D97-AF65-F5344CB8AC3E}">
        <p14:creationId xmlns:p14="http://schemas.microsoft.com/office/powerpoint/2010/main" val="494936017"/>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jp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image" Target="../media/image1.jpg"/><Relationship Id="rId5" Type="http://schemas.openxmlformats.org/officeDocument/2006/relationships/theme" Target="../theme/theme2.xml"/><Relationship Id="rId4"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2"/>
          <p:cNvSpPr txBox="1">
            <a:spLocks noGrp="1"/>
          </p:cNvSpPr>
          <p:nvPr>
            <p:ph type="title"/>
          </p:nvPr>
        </p:nvSpPr>
        <p:spPr>
          <a:xfrm>
            <a:off x="685800" y="168275"/>
            <a:ext cx="8153400" cy="563563"/>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3600" b="1" i="0" u="none" strike="noStrike" cap="none">
                <a:solidFill>
                  <a:schemeClr val="accent2"/>
                </a:solidFill>
                <a:latin typeface="Calibri"/>
                <a:ea typeface="Calibri"/>
                <a:cs typeface="Calibri"/>
                <a:sym typeface="Calibri"/>
              </a:defRPr>
            </a:lvl1pPr>
            <a:lvl2pPr marR="0" lvl="1" algn="ctr" rtl="0">
              <a:spcBef>
                <a:spcPts val="0"/>
              </a:spcBef>
              <a:spcAft>
                <a:spcPts val="0"/>
              </a:spcAft>
              <a:buSzPts val="1400"/>
              <a:buNone/>
              <a:defRPr sz="3600" b="0" i="0" u="none" strike="noStrike" cap="none">
                <a:solidFill>
                  <a:srgbClr val="002C5F"/>
                </a:solidFill>
                <a:latin typeface="Calibri"/>
                <a:ea typeface="Calibri"/>
                <a:cs typeface="Calibri"/>
                <a:sym typeface="Calibri"/>
              </a:defRPr>
            </a:lvl2pPr>
            <a:lvl3pPr marR="0" lvl="2" algn="ctr" rtl="0">
              <a:spcBef>
                <a:spcPts val="0"/>
              </a:spcBef>
              <a:spcAft>
                <a:spcPts val="0"/>
              </a:spcAft>
              <a:buSzPts val="1400"/>
              <a:buNone/>
              <a:defRPr sz="3600" b="0" i="0" u="none" strike="noStrike" cap="none">
                <a:solidFill>
                  <a:srgbClr val="002C5F"/>
                </a:solidFill>
                <a:latin typeface="Calibri"/>
                <a:ea typeface="Calibri"/>
                <a:cs typeface="Calibri"/>
                <a:sym typeface="Calibri"/>
              </a:defRPr>
            </a:lvl3pPr>
            <a:lvl4pPr marR="0" lvl="3" algn="ctr" rtl="0">
              <a:spcBef>
                <a:spcPts val="0"/>
              </a:spcBef>
              <a:spcAft>
                <a:spcPts val="0"/>
              </a:spcAft>
              <a:buSzPts val="1400"/>
              <a:buNone/>
              <a:defRPr sz="3600" b="0" i="0" u="none" strike="noStrike" cap="none">
                <a:solidFill>
                  <a:srgbClr val="002C5F"/>
                </a:solidFill>
                <a:latin typeface="Calibri"/>
                <a:ea typeface="Calibri"/>
                <a:cs typeface="Calibri"/>
                <a:sym typeface="Calibri"/>
              </a:defRPr>
            </a:lvl4pPr>
            <a:lvl5pPr marR="0" lvl="4" algn="ctr" rtl="0">
              <a:spcBef>
                <a:spcPts val="0"/>
              </a:spcBef>
              <a:spcAft>
                <a:spcPts val="0"/>
              </a:spcAft>
              <a:buSzPts val="1400"/>
              <a:buNone/>
              <a:defRPr sz="3600" b="0" i="0" u="none" strike="noStrike" cap="none">
                <a:solidFill>
                  <a:srgbClr val="002C5F"/>
                </a:solidFill>
                <a:latin typeface="Calibri"/>
                <a:ea typeface="Calibri"/>
                <a:cs typeface="Calibri"/>
                <a:sym typeface="Calibri"/>
              </a:defRPr>
            </a:lvl5pPr>
            <a:lvl6pPr marR="0" lvl="5" algn="ctr" rtl="0">
              <a:spcBef>
                <a:spcPts val="0"/>
              </a:spcBef>
              <a:spcAft>
                <a:spcPts val="0"/>
              </a:spcAft>
              <a:buSzPts val="1400"/>
              <a:buNone/>
              <a:defRPr sz="3600" b="1" i="0" u="none" strike="noStrike" cap="none">
                <a:solidFill>
                  <a:srgbClr val="002C5F"/>
                </a:solidFill>
                <a:latin typeface="Arial"/>
                <a:ea typeface="Arial"/>
                <a:cs typeface="Arial"/>
                <a:sym typeface="Arial"/>
              </a:defRPr>
            </a:lvl6pPr>
            <a:lvl7pPr marR="0" lvl="6" algn="ctr" rtl="0">
              <a:spcBef>
                <a:spcPts val="0"/>
              </a:spcBef>
              <a:spcAft>
                <a:spcPts val="0"/>
              </a:spcAft>
              <a:buSzPts val="1400"/>
              <a:buNone/>
              <a:defRPr sz="3600" b="1" i="0" u="none" strike="noStrike" cap="none">
                <a:solidFill>
                  <a:srgbClr val="002C5F"/>
                </a:solidFill>
                <a:latin typeface="Arial"/>
                <a:ea typeface="Arial"/>
                <a:cs typeface="Arial"/>
                <a:sym typeface="Arial"/>
              </a:defRPr>
            </a:lvl7pPr>
            <a:lvl8pPr marR="0" lvl="7" algn="ctr" rtl="0">
              <a:spcBef>
                <a:spcPts val="0"/>
              </a:spcBef>
              <a:spcAft>
                <a:spcPts val="0"/>
              </a:spcAft>
              <a:buSzPts val="1400"/>
              <a:buNone/>
              <a:defRPr sz="3600" b="1" i="0" u="none" strike="noStrike" cap="none">
                <a:solidFill>
                  <a:srgbClr val="002C5F"/>
                </a:solidFill>
                <a:latin typeface="Arial"/>
                <a:ea typeface="Arial"/>
                <a:cs typeface="Arial"/>
                <a:sym typeface="Arial"/>
              </a:defRPr>
            </a:lvl8pPr>
            <a:lvl9pPr marR="0" lvl="8" algn="ctr" rtl="0">
              <a:spcBef>
                <a:spcPts val="0"/>
              </a:spcBef>
              <a:spcAft>
                <a:spcPts val="0"/>
              </a:spcAft>
              <a:buSzPts val="1400"/>
              <a:buNone/>
              <a:defRPr sz="3600" b="1" i="0" u="none" strike="noStrike" cap="none">
                <a:solidFill>
                  <a:srgbClr val="002C5F"/>
                </a:solidFill>
                <a:latin typeface="Arial"/>
                <a:ea typeface="Arial"/>
                <a:cs typeface="Arial"/>
                <a:sym typeface="Arial"/>
              </a:defRPr>
            </a:lvl9pPr>
          </a:lstStyle>
          <a:p>
            <a:endParaRPr/>
          </a:p>
        </p:txBody>
      </p:sp>
      <p:cxnSp>
        <p:nvCxnSpPr>
          <p:cNvPr id="11" name="Google Shape;11;p22"/>
          <p:cNvCxnSpPr/>
          <p:nvPr/>
        </p:nvCxnSpPr>
        <p:spPr>
          <a:xfrm>
            <a:off x="76200" y="762000"/>
            <a:ext cx="8763000" cy="1588"/>
          </a:xfrm>
          <a:prstGeom prst="straightConnector1">
            <a:avLst/>
          </a:prstGeom>
          <a:noFill/>
          <a:ln w="9525" cap="flat" cmpd="sng">
            <a:solidFill>
              <a:srgbClr val="AA9C8F"/>
            </a:solidFill>
            <a:prstDash val="solid"/>
            <a:round/>
            <a:headEnd type="none" w="sm" len="sm"/>
            <a:tailEnd type="none" w="sm" len="sm"/>
          </a:ln>
        </p:spPr>
      </p:cxnSp>
      <p:cxnSp>
        <p:nvCxnSpPr>
          <p:cNvPr id="12" name="Google Shape;12;p22"/>
          <p:cNvCxnSpPr/>
          <p:nvPr/>
        </p:nvCxnSpPr>
        <p:spPr>
          <a:xfrm>
            <a:off x="76200" y="6248400"/>
            <a:ext cx="8763000" cy="1588"/>
          </a:xfrm>
          <a:prstGeom prst="straightConnector1">
            <a:avLst/>
          </a:prstGeom>
          <a:noFill/>
          <a:ln w="9525" cap="flat" cmpd="sng">
            <a:solidFill>
              <a:srgbClr val="AA9C8F"/>
            </a:solidFill>
            <a:prstDash val="solid"/>
            <a:round/>
            <a:headEnd type="none" w="sm" len="sm"/>
            <a:tailEnd type="none" w="sm" len="sm"/>
          </a:ln>
        </p:spPr>
      </p:cxnSp>
      <p:pic>
        <p:nvPicPr>
          <p:cNvPr id="13" name="Google Shape;13;p22" descr="http://www.nanobridge.ca/Portals/0/Images/eng-logo.jpg"/>
          <p:cNvPicPr preferRelativeResize="0"/>
          <p:nvPr/>
        </p:nvPicPr>
        <p:blipFill rotWithShape="1">
          <a:blip r:embed="rId6">
            <a:alphaModFix/>
          </a:blip>
          <a:srcRect/>
          <a:stretch/>
        </p:blipFill>
        <p:spPr>
          <a:xfrm>
            <a:off x="761999" y="6307038"/>
            <a:ext cx="1838325" cy="552451"/>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168275"/>
            <a:ext cx="8153400" cy="56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dirty="0"/>
              <a:t>Click to enter page Title</a:t>
            </a:r>
          </a:p>
        </p:txBody>
      </p:sp>
      <p:cxnSp>
        <p:nvCxnSpPr>
          <p:cNvPr id="10" name="Straight Connector 9"/>
          <p:cNvCxnSpPr/>
          <p:nvPr/>
        </p:nvCxnSpPr>
        <p:spPr>
          <a:xfrm>
            <a:off x="76200" y="762000"/>
            <a:ext cx="8763000" cy="1588"/>
          </a:xfrm>
          <a:prstGeom prst="line">
            <a:avLst/>
          </a:prstGeom>
          <a:ln w="9525">
            <a:solidFill>
              <a:srgbClr val="AA9C8F"/>
            </a:solidFill>
          </a:ln>
        </p:spPr>
        <p:style>
          <a:lnRef idx="1">
            <a:schemeClr val="accent1"/>
          </a:lnRef>
          <a:fillRef idx="0">
            <a:schemeClr val="accent1"/>
          </a:fillRef>
          <a:effectRef idx="0">
            <a:schemeClr val="accent1"/>
          </a:effectRef>
          <a:fontRef idx="minor">
            <a:schemeClr val="tx1"/>
          </a:fontRef>
        </p:style>
      </p:cxnSp>
      <p:cxnSp>
        <p:nvCxnSpPr>
          <p:cNvPr id="7" name="Straight Connector 4"/>
          <p:cNvCxnSpPr/>
          <p:nvPr/>
        </p:nvCxnSpPr>
        <p:spPr>
          <a:xfrm>
            <a:off x="76200" y="6248400"/>
            <a:ext cx="8763000" cy="1588"/>
          </a:xfrm>
          <a:prstGeom prst="line">
            <a:avLst/>
          </a:prstGeom>
          <a:ln w="9525">
            <a:solidFill>
              <a:srgbClr val="AA9C8F"/>
            </a:solidFill>
          </a:ln>
        </p:spPr>
        <p:style>
          <a:lnRef idx="1">
            <a:schemeClr val="accent1"/>
          </a:lnRef>
          <a:fillRef idx="0">
            <a:schemeClr val="accent1"/>
          </a:fillRef>
          <a:effectRef idx="0">
            <a:schemeClr val="accent1"/>
          </a:effectRef>
          <a:fontRef idx="minor">
            <a:schemeClr val="tx1"/>
          </a:fontRef>
        </p:style>
      </p:cxnSp>
      <p:pic>
        <p:nvPicPr>
          <p:cNvPr id="4" name="Picture 2" descr="http://www.nanobridge.ca/Portals/0/Images/eng-logo.jp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61999" y="6307038"/>
            <a:ext cx="1838325" cy="5524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02553560"/>
      </p:ext>
    </p:extLst>
  </p:cSld>
  <p:clrMap bg1="lt1" tx1="dk1" bg2="lt2" tx2="dk2" accent1="accent1" accent2="accent2" accent3="accent3" accent4="accent4" accent5="accent5" accent6="accent6" hlink="hlink" folHlink="folHlink"/>
  <p:sldLayoutIdLst>
    <p:sldLayoutId id="2147483654" r:id="rId1"/>
    <p:sldLayoutId id="2147483655" r:id="rId2"/>
    <p:sldLayoutId id="2147483656" r:id="rId3"/>
    <p:sldLayoutId id="2147483657" r:id="rId4"/>
  </p:sldLayoutIdLst>
  <p:hf hdr="0" ftr="0" dt="0"/>
  <p:txStyles>
    <p:titleStyle>
      <a:lvl1pPr algn="ctr" rtl="0" eaLnBrk="0" fontAlgn="base" hangingPunct="0">
        <a:spcBef>
          <a:spcPct val="0"/>
        </a:spcBef>
        <a:spcAft>
          <a:spcPct val="0"/>
        </a:spcAft>
        <a:defRPr sz="3600" b="1">
          <a:solidFill>
            <a:schemeClr val="accent2"/>
          </a:solidFill>
          <a:latin typeface="Calibri" pitchFamily="34" charset="0"/>
          <a:ea typeface="+mj-ea"/>
          <a:cs typeface="+mj-cs"/>
        </a:defRPr>
      </a:lvl1pPr>
      <a:lvl2pPr algn="ctr" rtl="0" eaLnBrk="0" fontAlgn="base" hangingPunct="0">
        <a:spcBef>
          <a:spcPct val="0"/>
        </a:spcBef>
        <a:spcAft>
          <a:spcPct val="0"/>
        </a:spcAft>
        <a:defRPr sz="3600">
          <a:solidFill>
            <a:srgbClr val="002C5F"/>
          </a:solidFill>
          <a:latin typeface="Calibri" pitchFamily="34" charset="0"/>
        </a:defRPr>
      </a:lvl2pPr>
      <a:lvl3pPr algn="ctr" rtl="0" eaLnBrk="0" fontAlgn="base" hangingPunct="0">
        <a:spcBef>
          <a:spcPct val="0"/>
        </a:spcBef>
        <a:spcAft>
          <a:spcPct val="0"/>
        </a:spcAft>
        <a:defRPr sz="3600">
          <a:solidFill>
            <a:srgbClr val="002C5F"/>
          </a:solidFill>
          <a:latin typeface="Calibri" pitchFamily="34" charset="0"/>
        </a:defRPr>
      </a:lvl3pPr>
      <a:lvl4pPr algn="ctr" rtl="0" eaLnBrk="0" fontAlgn="base" hangingPunct="0">
        <a:spcBef>
          <a:spcPct val="0"/>
        </a:spcBef>
        <a:spcAft>
          <a:spcPct val="0"/>
        </a:spcAft>
        <a:defRPr sz="3600">
          <a:solidFill>
            <a:srgbClr val="002C5F"/>
          </a:solidFill>
          <a:latin typeface="Calibri" pitchFamily="34" charset="0"/>
        </a:defRPr>
      </a:lvl4pPr>
      <a:lvl5pPr algn="ctr" rtl="0" eaLnBrk="0" fontAlgn="base" hangingPunct="0">
        <a:spcBef>
          <a:spcPct val="0"/>
        </a:spcBef>
        <a:spcAft>
          <a:spcPct val="0"/>
        </a:spcAft>
        <a:defRPr sz="3600">
          <a:solidFill>
            <a:srgbClr val="002C5F"/>
          </a:solidFill>
          <a:latin typeface="Calibri" pitchFamily="34" charset="0"/>
        </a:defRPr>
      </a:lvl5pPr>
      <a:lvl6pPr marL="457200" algn="ctr" rtl="0" fontAlgn="base">
        <a:spcBef>
          <a:spcPct val="0"/>
        </a:spcBef>
        <a:spcAft>
          <a:spcPct val="0"/>
        </a:spcAft>
        <a:defRPr sz="3600" b="1">
          <a:solidFill>
            <a:srgbClr val="002C5F"/>
          </a:solidFill>
          <a:latin typeface="Arial" charset="0"/>
        </a:defRPr>
      </a:lvl6pPr>
      <a:lvl7pPr marL="914400" algn="ctr" rtl="0" fontAlgn="base">
        <a:spcBef>
          <a:spcPct val="0"/>
        </a:spcBef>
        <a:spcAft>
          <a:spcPct val="0"/>
        </a:spcAft>
        <a:defRPr sz="3600" b="1">
          <a:solidFill>
            <a:srgbClr val="002C5F"/>
          </a:solidFill>
          <a:latin typeface="Arial" charset="0"/>
        </a:defRPr>
      </a:lvl7pPr>
      <a:lvl8pPr marL="1371600" algn="ctr" rtl="0" fontAlgn="base">
        <a:spcBef>
          <a:spcPct val="0"/>
        </a:spcBef>
        <a:spcAft>
          <a:spcPct val="0"/>
        </a:spcAft>
        <a:defRPr sz="3600" b="1">
          <a:solidFill>
            <a:srgbClr val="002C5F"/>
          </a:solidFill>
          <a:latin typeface="Arial" charset="0"/>
        </a:defRPr>
      </a:lvl8pPr>
      <a:lvl9pPr marL="1828800" algn="ctr" rtl="0" fontAlgn="base">
        <a:spcBef>
          <a:spcPct val="0"/>
        </a:spcBef>
        <a:spcAft>
          <a:spcPct val="0"/>
        </a:spcAft>
        <a:defRPr sz="3600" b="1">
          <a:solidFill>
            <a:srgbClr val="002C5F"/>
          </a:solidFill>
          <a:latin typeface="Arial" charset="0"/>
        </a:defRPr>
      </a:lvl9pPr>
    </p:titleStyle>
    <p:bodyStyle>
      <a:lvl1pPr marL="342900" indent="-342900" algn="l" rtl="0" eaLnBrk="0" fontAlgn="base" hangingPunct="0">
        <a:spcBef>
          <a:spcPct val="20000"/>
        </a:spcBef>
        <a:spcAft>
          <a:spcPct val="0"/>
        </a:spcAft>
        <a:buClr>
          <a:srgbClr val="AA9C8F"/>
        </a:buClr>
        <a:buFont typeface="Wingdings" pitchFamily="2" charset="2"/>
        <a:buChar char="§"/>
        <a:defRPr sz="2800">
          <a:solidFill>
            <a:srgbClr val="4D4D4D"/>
          </a:solidFill>
          <a:latin typeface="Calibri" pitchFamily="34" charset="0"/>
          <a:ea typeface="+mn-ea"/>
          <a:cs typeface="+mn-cs"/>
        </a:defRPr>
      </a:lvl1pPr>
      <a:lvl2pPr marL="742950" indent="-285750" algn="l" rtl="0" eaLnBrk="0" fontAlgn="base" hangingPunct="0">
        <a:spcBef>
          <a:spcPct val="20000"/>
        </a:spcBef>
        <a:spcAft>
          <a:spcPct val="0"/>
        </a:spcAft>
        <a:buClr>
          <a:srgbClr val="C75B12"/>
        </a:buClr>
        <a:buFont typeface="Wingdings" pitchFamily="2" charset="2"/>
        <a:buChar char="§"/>
        <a:defRPr sz="2600">
          <a:solidFill>
            <a:schemeClr val="tx1"/>
          </a:solidFill>
          <a:latin typeface="Calibri" pitchFamily="34" charset="0"/>
        </a:defRPr>
      </a:lvl2pPr>
      <a:lvl3pPr marL="1143000" indent="-228600" algn="l" rtl="0" eaLnBrk="0" fontAlgn="base" hangingPunct="0">
        <a:spcBef>
          <a:spcPct val="20000"/>
        </a:spcBef>
        <a:spcAft>
          <a:spcPct val="0"/>
        </a:spcAft>
        <a:buClr>
          <a:srgbClr val="C75B12"/>
        </a:buClr>
        <a:buFont typeface="Wingdings" pitchFamily="2" charset="2"/>
        <a:buChar char="§"/>
        <a:defRPr sz="2400">
          <a:solidFill>
            <a:schemeClr val="tx1"/>
          </a:solidFill>
          <a:latin typeface="Calibri" pitchFamily="34" charset="0"/>
        </a:defRPr>
      </a:lvl3pPr>
      <a:lvl4pPr marL="1600200" indent="-228600" algn="l" rtl="0" eaLnBrk="0" fontAlgn="base" hangingPunct="0">
        <a:spcBef>
          <a:spcPct val="20000"/>
        </a:spcBef>
        <a:spcAft>
          <a:spcPct val="0"/>
        </a:spcAft>
        <a:buClr>
          <a:srgbClr val="C75B12"/>
        </a:buClr>
        <a:buFont typeface="Wingdings" pitchFamily="2" charset="2"/>
        <a:buChar char="§"/>
        <a:defRPr sz="2000">
          <a:solidFill>
            <a:schemeClr val="tx1"/>
          </a:solidFill>
          <a:latin typeface="Calibri" pitchFamily="34" charset="0"/>
        </a:defRPr>
      </a:lvl4pPr>
      <a:lvl5pPr marL="2057400" indent="-228600" algn="l" rtl="0" eaLnBrk="0" fontAlgn="base" hangingPunct="0">
        <a:spcBef>
          <a:spcPct val="20000"/>
        </a:spcBef>
        <a:spcAft>
          <a:spcPct val="0"/>
        </a:spcAft>
        <a:buClr>
          <a:srgbClr val="C75B12"/>
        </a:buClr>
        <a:buFont typeface="Wingdings" pitchFamily="2" charset="2"/>
        <a:buChar char="§"/>
        <a:defRPr sz="2000">
          <a:solidFill>
            <a:schemeClr val="tx1"/>
          </a:solidFill>
          <a:latin typeface="Calibri" pitchFamily="34" charset="0"/>
        </a:defRPr>
      </a:lvl5pPr>
      <a:lvl6pPr marL="25146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6pPr>
      <a:lvl7pPr marL="29718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7pPr>
      <a:lvl8pPr marL="34290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8pPr>
      <a:lvl9pPr marL="38862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1"/>
        <p:cNvGrpSpPr/>
        <p:nvPr/>
      </p:nvGrpSpPr>
      <p:grpSpPr>
        <a:xfrm>
          <a:off x="0" y="0"/>
          <a:ext cx="0" cy="0"/>
          <a:chOff x="0" y="0"/>
          <a:chExt cx="0" cy="0"/>
        </a:xfrm>
      </p:grpSpPr>
      <p:sp>
        <p:nvSpPr>
          <p:cNvPr id="32" name="Google Shape;32;p1"/>
          <p:cNvSpPr txBox="1"/>
          <p:nvPr/>
        </p:nvSpPr>
        <p:spPr>
          <a:xfrm>
            <a:off x="228600" y="838200"/>
            <a:ext cx="8610600" cy="13716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b="1" i="1" u="none" strike="noStrike" cap="none">
                <a:solidFill>
                  <a:srgbClr val="000099"/>
                </a:solidFill>
                <a:latin typeface="Calibri"/>
                <a:ea typeface="Calibri"/>
                <a:cs typeface="Calibri"/>
                <a:sym typeface="Calibri"/>
              </a:rPr>
              <a:t>On Becoming a </a:t>
            </a:r>
            <a:br>
              <a:rPr lang="en-US" sz="3600" b="1" i="1" u="none" strike="noStrike" cap="none">
                <a:solidFill>
                  <a:srgbClr val="000099"/>
                </a:solidFill>
                <a:latin typeface="Calibri"/>
                <a:ea typeface="Calibri"/>
                <a:cs typeface="Calibri"/>
                <a:sym typeface="Calibri"/>
              </a:rPr>
            </a:br>
            <a:r>
              <a:rPr lang="en-US" sz="3600" b="1" i="1" u="none" strike="noStrike" cap="none">
                <a:solidFill>
                  <a:srgbClr val="000099"/>
                </a:solidFill>
                <a:latin typeface="Calibri"/>
                <a:ea typeface="Calibri"/>
                <a:cs typeface="Calibri"/>
                <a:sym typeface="Calibri"/>
              </a:rPr>
              <a:t>Leader in Risk Management</a:t>
            </a:r>
            <a:endParaRPr sz="3600" b="1" i="1" u="none" strike="noStrike" cap="none">
              <a:solidFill>
                <a:srgbClr val="000099"/>
              </a:solidFill>
              <a:latin typeface="Calibri"/>
              <a:ea typeface="Calibri"/>
              <a:cs typeface="Calibri"/>
              <a:sym typeface="Calibri"/>
            </a:endParaRPr>
          </a:p>
        </p:txBody>
      </p:sp>
      <p:sp>
        <p:nvSpPr>
          <p:cNvPr id="33" name="Google Shape;33;p1"/>
          <p:cNvSpPr txBox="1">
            <a:spLocks noGrp="1"/>
          </p:cNvSpPr>
          <p:nvPr>
            <p:ph type="subTitle" idx="1"/>
          </p:nvPr>
        </p:nvSpPr>
        <p:spPr>
          <a:xfrm>
            <a:off x="838200" y="2105520"/>
            <a:ext cx="7315201" cy="216168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AA9C8F"/>
              </a:buClr>
              <a:buSzPts val="3200"/>
              <a:buFont typeface="Noto Sans Symbols"/>
              <a:buNone/>
            </a:pPr>
            <a:r>
              <a:rPr lang="en-US" sz="3200" b="1" i="0" u="none" strike="noStrike" cap="none">
                <a:solidFill>
                  <a:schemeClr val="dk2"/>
                </a:solidFill>
                <a:latin typeface="Arial"/>
                <a:ea typeface="Arial"/>
                <a:cs typeface="Arial"/>
                <a:sym typeface="Arial"/>
              </a:rPr>
              <a:t>ENGG404 - Lecture</a:t>
            </a:r>
            <a:endParaRPr/>
          </a:p>
          <a:p>
            <a:pPr marL="0" marR="0" lvl="0" indent="0" algn="ctr" rtl="0">
              <a:spcBef>
                <a:spcPts val="0"/>
              </a:spcBef>
              <a:spcAft>
                <a:spcPts val="0"/>
              </a:spcAft>
              <a:buClr>
                <a:srgbClr val="AA9C8F"/>
              </a:buClr>
              <a:buSzPts val="3200"/>
              <a:buFont typeface="Noto Sans Symbols"/>
              <a:buNone/>
            </a:pPr>
            <a:r>
              <a:rPr lang="en-US" sz="3200" b="1" i="0" u="none" strike="noStrike" cap="none">
                <a:solidFill>
                  <a:schemeClr val="dk2"/>
                </a:solidFill>
                <a:latin typeface="Arial"/>
                <a:ea typeface="Arial"/>
                <a:cs typeface="Arial"/>
                <a:sym typeface="Arial"/>
              </a:rPr>
              <a:t>Chapter 6.2: Safety Metrics, </a:t>
            </a:r>
            <a:br>
              <a:rPr lang="en-US" sz="3200" b="1" i="0" u="none" strike="noStrike" cap="none">
                <a:solidFill>
                  <a:schemeClr val="dk2"/>
                </a:solidFill>
                <a:latin typeface="Arial"/>
                <a:ea typeface="Arial"/>
                <a:cs typeface="Arial"/>
                <a:sym typeface="Arial"/>
              </a:rPr>
            </a:br>
            <a:r>
              <a:rPr lang="en-US" sz="3200" b="1" i="0" u="none" strike="noStrike" cap="none">
                <a:solidFill>
                  <a:schemeClr val="dk2"/>
                </a:solidFill>
                <a:latin typeface="Arial"/>
                <a:ea typeface="Arial"/>
                <a:cs typeface="Arial"/>
                <a:sym typeface="Arial"/>
              </a:rPr>
              <a:t>Lagging and Leading Indicators</a:t>
            </a:r>
            <a:endParaRPr sz="3200" b="1" i="0" u="none" strike="noStrike" cap="none">
              <a:solidFill>
                <a:schemeClr val="dk2"/>
              </a:solidFill>
              <a:latin typeface="Arial"/>
              <a:ea typeface="Arial"/>
              <a:cs typeface="Arial"/>
              <a:sym typeface="Arial"/>
            </a:endParaRPr>
          </a:p>
        </p:txBody>
      </p:sp>
      <p:sp>
        <p:nvSpPr>
          <p:cNvPr id="34" name="Google Shape;34;p1"/>
          <p:cNvSpPr txBox="1"/>
          <p:nvPr/>
        </p:nvSpPr>
        <p:spPr>
          <a:xfrm>
            <a:off x="152402" y="176015"/>
            <a:ext cx="1176817" cy="461665"/>
          </a:xfrm>
          <a:prstGeom prst="rect">
            <a:avLst/>
          </a:prstGeom>
          <a:solidFill>
            <a:srgbClr val="FFFFFF"/>
          </a:solidFill>
          <a:ln w="12700"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1200"/>
              <a:buFont typeface="Calibri"/>
              <a:buNone/>
            </a:pPr>
            <a:r>
              <a:rPr lang="en-US" sz="1200" b="0" i="0" u="none" strike="noStrike" cap="none">
                <a:solidFill>
                  <a:schemeClr val="dk1"/>
                </a:solidFill>
                <a:latin typeface="Calibri"/>
                <a:ea typeface="Calibri"/>
                <a:cs typeface="Calibri"/>
                <a:sym typeface="Calibri"/>
              </a:rPr>
              <a:t>Fundamentals of RM</a:t>
            </a:r>
            <a:endParaRPr/>
          </a:p>
        </p:txBody>
      </p:sp>
      <p:sp>
        <p:nvSpPr>
          <p:cNvPr id="35" name="Google Shape;35;p1"/>
          <p:cNvSpPr txBox="1"/>
          <p:nvPr/>
        </p:nvSpPr>
        <p:spPr>
          <a:xfrm>
            <a:off x="1481037" y="169908"/>
            <a:ext cx="1024999" cy="461665"/>
          </a:xfrm>
          <a:prstGeom prst="rect">
            <a:avLst/>
          </a:prstGeom>
          <a:solidFill>
            <a:srgbClr val="FFFFFF"/>
          </a:solidFill>
          <a:ln w="12700"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1200"/>
              <a:buFont typeface="Calibri"/>
              <a:buNone/>
            </a:pPr>
            <a:r>
              <a:rPr lang="en-US" sz="1200" b="0" i="0" u="none" strike="noStrike" cap="none">
                <a:solidFill>
                  <a:schemeClr val="dk1"/>
                </a:solidFill>
                <a:latin typeface="Calibri"/>
                <a:ea typeface="Calibri"/>
                <a:cs typeface="Calibri"/>
                <a:sym typeface="Calibri"/>
              </a:rPr>
              <a:t>RM System and Process</a:t>
            </a:r>
            <a:endParaRPr/>
          </a:p>
        </p:txBody>
      </p:sp>
      <p:sp>
        <p:nvSpPr>
          <p:cNvPr id="36" name="Google Shape;36;p1"/>
          <p:cNvSpPr txBox="1"/>
          <p:nvPr/>
        </p:nvSpPr>
        <p:spPr>
          <a:xfrm>
            <a:off x="7874130" y="169908"/>
            <a:ext cx="1155550" cy="461665"/>
          </a:xfrm>
          <a:prstGeom prst="rect">
            <a:avLst/>
          </a:prstGeom>
          <a:solidFill>
            <a:srgbClr val="FFFFFF"/>
          </a:solidFill>
          <a:ln w="12700"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1200"/>
              <a:buFont typeface="Calibri"/>
              <a:buNone/>
            </a:pPr>
            <a:r>
              <a:rPr lang="en-US" sz="1200" b="0" i="0" u="none" strike="noStrike" cap="none">
                <a:solidFill>
                  <a:schemeClr val="dk1"/>
                </a:solidFill>
                <a:latin typeface="Calibri"/>
                <a:ea typeface="Calibri"/>
                <a:cs typeface="Calibri"/>
                <a:sym typeface="Calibri"/>
              </a:rPr>
              <a:t>Application and Perspectives</a:t>
            </a:r>
            <a:endParaRPr/>
          </a:p>
        </p:txBody>
      </p:sp>
      <p:sp>
        <p:nvSpPr>
          <p:cNvPr id="37" name="Google Shape;37;p1"/>
          <p:cNvSpPr txBox="1"/>
          <p:nvPr/>
        </p:nvSpPr>
        <p:spPr>
          <a:xfrm>
            <a:off x="7051217" y="169908"/>
            <a:ext cx="671096" cy="461665"/>
          </a:xfrm>
          <a:prstGeom prst="rect">
            <a:avLst/>
          </a:prstGeom>
          <a:solidFill>
            <a:srgbClr val="FFFF00"/>
          </a:solidFill>
          <a:ln w="12700"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1200"/>
              <a:buFont typeface="Calibri"/>
              <a:buNone/>
            </a:pPr>
            <a:r>
              <a:rPr lang="en-US" sz="1200" b="0" i="0" u="none" strike="noStrike" cap="none">
                <a:solidFill>
                  <a:schemeClr val="dk1"/>
                </a:solidFill>
                <a:latin typeface="Calibri"/>
                <a:ea typeface="Calibri"/>
                <a:cs typeface="Calibri"/>
                <a:sym typeface="Calibri"/>
              </a:rPr>
              <a:t>People &amp; Org.</a:t>
            </a:r>
            <a:endParaRPr/>
          </a:p>
        </p:txBody>
      </p:sp>
      <p:sp>
        <p:nvSpPr>
          <p:cNvPr id="38" name="Google Shape;38;p1"/>
          <p:cNvSpPr txBox="1"/>
          <p:nvPr/>
        </p:nvSpPr>
        <p:spPr>
          <a:xfrm>
            <a:off x="3834670" y="169908"/>
            <a:ext cx="1024999" cy="461665"/>
          </a:xfrm>
          <a:prstGeom prst="rect">
            <a:avLst/>
          </a:prstGeom>
          <a:solidFill>
            <a:srgbClr val="FFFFFF"/>
          </a:solidFill>
          <a:ln w="12700"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1200"/>
              <a:buFont typeface="Calibri"/>
              <a:buNone/>
            </a:pPr>
            <a:r>
              <a:rPr lang="en-US" sz="1200" b="0" i="0" u="none" strike="noStrike" cap="none">
                <a:solidFill>
                  <a:schemeClr val="dk1"/>
                </a:solidFill>
                <a:latin typeface="Calibri"/>
                <a:ea typeface="Calibri"/>
                <a:cs typeface="Calibri"/>
                <a:sym typeface="Calibri"/>
              </a:rPr>
              <a:t>Incident Investigation</a:t>
            </a:r>
            <a:endParaRPr/>
          </a:p>
        </p:txBody>
      </p:sp>
      <p:sp>
        <p:nvSpPr>
          <p:cNvPr id="39" name="Google Shape;39;p1"/>
          <p:cNvSpPr txBox="1"/>
          <p:nvPr/>
        </p:nvSpPr>
        <p:spPr>
          <a:xfrm>
            <a:off x="5011486" y="169908"/>
            <a:ext cx="1024999" cy="461665"/>
          </a:xfrm>
          <a:prstGeom prst="rect">
            <a:avLst/>
          </a:prstGeom>
          <a:solidFill>
            <a:srgbClr val="FFFFFF"/>
          </a:solidFill>
          <a:ln w="12700"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1200"/>
              <a:buFont typeface="Calibri"/>
              <a:buNone/>
            </a:pPr>
            <a:r>
              <a:rPr lang="en-US" sz="1200" b="0" i="0" u="none" strike="noStrike" cap="none">
                <a:solidFill>
                  <a:schemeClr val="dk1"/>
                </a:solidFill>
                <a:latin typeface="Calibri"/>
                <a:ea typeface="Calibri"/>
                <a:cs typeface="Calibri"/>
                <a:sym typeface="Calibri"/>
              </a:rPr>
              <a:t>RM Tools &amp; Challenges</a:t>
            </a:r>
            <a:endParaRPr/>
          </a:p>
        </p:txBody>
      </p:sp>
      <p:sp>
        <p:nvSpPr>
          <p:cNvPr id="40" name="Google Shape;40;p1"/>
          <p:cNvSpPr txBox="1"/>
          <p:nvPr/>
        </p:nvSpPr>
        <p:spPr>
          <a:xfrm>
            <a:off x="2657853" y="170432"/>
            <a:ext cx="1024999" cy="461665"/>
          </a:xfrm>
          <a:prstGeom prst="rect">
            <a:avLst/>
          </a:prstGeom>
          <a:solidFill>
            <a:srgbClr val="FFFF00"/>
          </a:solidFill>
          <a:ln w="12700"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1200"/>
              <a:buFont typeface="Calibri"/>
              <a:buNone/>
            </a:pPr>
            <a:r>
              <a:rPr lang="en-US" sz="1200" b="0" i="0" u="none" strike="noStrike" cap="none">
                <a:solidFill>
                  <a:schemeClr val="dk1"/>
                </a:solidFill>
                <a:latin typeface="Calibri"/>
                <a:ea typeface="Calibri"/>
                <a:cs typeface="Calibri"/>
                <a:sym typeface="Calibri"/>
              </a:rPr>
              <a:t>Leadership in RM</a:t>
            </a:r>
            <a:endParaRPr/>
          </a:p>
        </p:txBody>
      </p:sp>
      <p:cxnSp>
        <p:nvCxnSpPr>
          <p:cNvPr id="41" name="Google Shape;41;p1"/>
          <p:cNvCxnSpPr>
            <a:stCxn id="34" idx="3"/>
            <a:endCxn id="35" idx="1"/>
          </p:cNvCxnSpPr>
          <p:nvPr/>
        </p:nvCxnSpPr>
        <p:spPr>
          <a:xfrm rot="10800000" flipH="1">
            <a:off x="1329219" y="400847"/>
            <a:ext cx="151800" cy="6000"/>
          </a:xfrm>
          <a:prstGeom prst="straightConnector1">
            <a:avLst/>
          </a:prstGeom>
          <a:noFill/>
          <a:ln w="9525" cap="flat" cmpd="sng">
            <a:solidFill>
              <a:schemeClr val="dk1"/>
            </a:solidFill>
            <a:prstDash val="solid"/>
            <a:miter lim="800000"/>
            <a:headEnd type="none" w="sm" len="sm"/>
            <a:tailEnd type="triangle" w="med" len="med"/>
          </a:ln>
        </p:spPr>
      </p:cxnSp>
      <p:cxnSp>
        <p:nvCxnSpPr>
          <p:cNvPr id="42" name="Google Shape;42;p1"/>
          <p:cNvCxnSpPr>
            <a:stCxn id="35" idx="3"/>
            <a:endCxn id="40" idx="1"/>
          </p:cNvCxnSpPr>
          <p:nvPr/>
        </p:nvCxnSpPr>
        <p:spPr>
          <a:xfrm>
            <a:off x="2506036" y="400740"/>
            <a:ext cx="151800" cy="600"/>
          </a:xfrm>
          <a:prstGeom prst="straightConnector1">
            <a:avLst/>
          </a:prstGeom>
          <a:noFill/>
          <a:ln w="9525" cap="flat" cmpd="sng">
            <a:solidFill>
              <a:schemeClr val="dk1"/>
            </a:solidFill>
            <a:prstDash val="solid"/>
            <a:miter lim="800000"/>
            <a:headEnd type="none" w="sm" len="sm"/>
            <a:tailEnd type="triangle" w="med" len="med"/>
          </a:ln>
        </p:spPr>
      </p:cxnSp>
      <p:cxnSp>
        <p:nvCxnSpPr>
          <p:cNvPr id="43" name="Google Shape;43;p1"/>
          <p:cNvCxnSpPr>
            <a:stCxn id="40" idx="3"/>
            <a:endCxn id="38" idx="1"/>
          </p:cNvCxnSpPr>
          <p:nvPr/>
        </p:nvCxnSpPr>
        <p:spPr>
          <a:xfrm rot="10800000" flipH="1">
            <a:off x="3682852" y="400664"/>
            <a:ext cx="151800" cy="600"/>
          </a:xfrm>
          <a:prstGeom prst="straightConnector1">
            <a:avLst/>
          </a:prstGeom>
          <a:noFill/>
          <a:ln w="9525" cap="flat" cmpd="sng">
            <a:solidFill>
              <a:schemeClr val="dk1"/>
            </a:solidFill>
            <a:prstDash val="solid"/>
            <a:miter lim="800000"/>
            <a:headEnd type="none" w="sm" len="sm"/>
            <a:tailEnd type="triangle" w="med" len="med"/>
          </a:ln>
        </p:spPr>
      </p:cxnSp>
      <p:cxnSp>
        <p:nvCxnSpPr>
          <p:cNvPr id="44" name="Google Shape;44;p1"/>
          <p:cNvCxnSpPr>
            <a:stCxn id="38" idx="3"/>
            <a:endCxn id="39" idx="1"/>
          </p:cNvCxnSpPr>
          <p:nvPr/>
        </p:nvCxnSpPr>
        <p:spPr>
          <a:xfrm>
            <a:off x="4859669" y="400740"/>
            <a:ext cx="151800" cy="0"/>
          </a:xfrm>
          <a:prstGeom prst="straightConnector1">
            <a:avLst/>
          </a:prstGeom>
          <a:noFill/>
          <a:ln w="9525" cap="flat" cmpd="sng">
            <a:solidFill>
              <a:schemeClr val="dk1"/>
            </a:solidFill>
            <a:prstDash val="solid"/>
            <a:miter lim="800000"/>
            <a:headEnd type="none" w="sm" len="sm"/>
            <a:tailEnd type="triangle" w="med" len="med"/>
          </a:ln>
        </p:spPr>
      </p:cxnSp>
      <p:cxnSp>
        <p:nvCxnSpPr>
          <p:cNvPr id="45" name="Google Shape;45;p1"/>
          <p:cNvCxnSpPr>
            <a:stCxn id="39" idx="3"/>
          </p:cNvCxnSpPr>
          <p:nvPr/>
        </p:nvCxnSpPr>
        <p:spPr>
          <a:xfrm>
            <a:off x="6036485" y="400740"/>
            <a:ext cx="151800" cy="0"/>
          </a:xfrm>
          <a:prstGeom prst="straightConnector1">
            <a:avLst/>
          </a:prstGeom>
          <a:noFill/>
          <a:ln w="9525" cap="flat" cmpd="sng">
            <a:solidFill>
              <a:schemeClr val="dk1"/>
            </a:solidFill>
            <a:prstDash val="solid"/>
            <a:miter lim="800000"/>
            <a:headEnd type="none" w="sm" len="sm"/>
            <a:tailEnd type="triangle" w="med" len="med"/>
          </a:ln>
        </p:spPr>
      </p:cxnSp>
      <p:cxnSp>
        <p:nvCxnSpPr>
          <p:cNvPr id="46" name="Google Shape;46;p1"/>
          <p:cNvCxnSpPr>
            <a:endCxn id="37" idx="1"/>
          </p:cNvCxnSpPr>
          <p:nvPr/>
        </p:nvCxnSpPr>
        <p:spPr>
          <a:xfrm>
            <a:off x="6899417" y="400740"/>
            <a:ext cx="151800" cy="0"/>
          </a:xfrm>
          <a:prstGeom prst="straightConnector1">
            <a:avLst/>
          </a:prstGeom>
          <a:noFill/>
          <a:ln w="9525" cap="flat" cmpd="sng">
            <a:solidFill>
              <a:schemeClr val="dk1"/>
            </a:solidFill>
            <a:prstDash val="solid"/>
            <a:miter lim="800000"/>
            <a:headEnd type="none" w="sm" len="sm"/>
            <a:tailEnd type="triangle" w="med" len="med"/>
          </a:ln>
        </p:spPr>
      </p:cxnSp>
      <p:cxnSp>
        <p:nvCxnSpPr>
          <p:cNvPr id="47" name="Google Shape;47;p1"/>
          <p:cNvCxnSpPr>
            <a:stCxn id="37" idx="3"/>
            <a:endCxn id="36" idx="1"/>
          </p:cNvCxnSpPr>
          <p:nvPr/>
        </p:nvCxnSpPr>
        <p:spPr>
          <a:xfrm>
            <a:off x="7722313" y="400740"/>
            <a:ext cx="151800" cy="0"/>
          </a:xfrm>
          <a:prstGeom prst="straightConnector1">
            <a:avLst/>
          </a:prstGeom>
          <a:noFill/>
          <a:ln w="9525" cap="flat" cmpd="sng">
            <a:solidFill>
              <a:schemeClr val="dk1"/>
            </a:solidFill>
            <a:prstDash val="solid"/>
            <a:miter lim="800000"/>
            <a:headEnd type="none" w="sm" len="sm"/>
            <a:tailEnd type="triangle" w="med" len="med"/>
          </a:ln>
        </p:spPr>
      </p:cxnSp>
      <p:sp>
        <p:nvSpPr>
          <p:cNvPr id="48" name="Google Shape;48;p1"/>
          <p:cNvSpPr txBox="1"/>
          <p:nvPr/>
        </p:nvSpPr>
        <p:spPr>
          <a:xfrm>
            <a:off x="6188301" y="169907"/>
            <a:ext cx="692362" cy="461665"/>
          </a:xfrm>
          <a:prstGeom prst="rect">
            <a:avLst/>
          </a:prstGeom>
          <a:solidFill>
            <a:srgbClr val="FFFFFF"/>
          </a:solidFill>
          <a:ln w="12700"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1200"/>
              <a:buFont typeface="Calibri"/>
              <a:buNone/>
            </a:pPr>
            <a:r>
              <a:rPr lang="en-US" sz="1200" b="0" i="0" u="none" strike="noStrike" cap="none">
                <a:solidFill>
                  <a:schemeClr val="dk1"/>
                </a:solidFill>
                <a:latin typeface="Calibri"/>
                <a:ea typeface="Calibri"/>
                <a:cs typeface="Calibri"/>
                <a:sym typeface="Calibri"/>
              </a:rPr>
              <a:t>RM in Industry</a:t>
            </a:r>
            <a:endParaRPr/>
          </a:p>
        </p:txBody>
      </p:sp>
      <p:pic>
        <p:nvPicPr>
          <p:cNvPr id="49" name="Google Shape;49;p1"/>
          <p:cNvPicPr preferRelativeResize="0"/>
          <p:nvPr/>
        </p:nvPicPr>
        <p:blipFill rotWithShape="1">
          <a:blip r:embed="rId3">
            <a:alphaModFix/>
          </a:blip>
          <a:srcRect/>
          <a:stretch/>
        </p:blipFill>
        <p:spPr>
          <a:xfrm>
            <a:off x="891182" y="4114800"/>
            <a:ext cx="1766671" cy="1766671"/>
          </a:xfrm>
          <a:prstGeom prst="rect">
            <a:avLst/>
          </a:prstGeom>
          <a:noFill/>
          <a:ln>
            <a:noFill/>
          </a:ln>
        </p:spPr>
      </p:pic>
      <p:pic>
        <p:nvPicPr>
          <p:cNvPr id="50" name="Google Shape;50;p1" descr="Introduction to Sociology - 2013 - The Collaboratory"/>
          <p:cNvPicPr preferRelativeResize="0"/>
          <p:nvPr/>
        </p:nvPicPr>
        <p:blipFill rotWithShape="1">
          <a:blip r:embed="rId4">
            <a:alphaModFix/>
          </a:blip>
          <a:srcRect/>
          <a:stretch/>
        </p:blipFill>
        <p:spPr>
          <a:xfrm>
            <a:off x="6096500" y="4114613"/>
            <a:ext cx="2590300" cy="1766857"/>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5"/>
        <p:cNvGrpSpPr/>
        <p:nvPr/>
      </p:nvGrpSpPr>
      <p:grpSpPr>
        <a:xfrm>
          <a:off x="0" y="0"/>
          <a:ext cx="0" cy="0"/>
          <a:chOff x="0" y="0"/>
          <a:chExt cx="0" cy="0"/>
        </a:xfrm>
      </p:grpSpPr>
      <p:sp>
        <p:nvSpPr>
          <p:cNvPr id="56" name="Google Shape;56;p2"/>
          <p:cNvSpPr/>
          <p:nvPr/>
        </p:nvSpPr>
        <p:spPr>
          <a:xfrm>
            <a:off x="180000" y="828000"/>
            <a:ext cx="8640000" cy="5328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000"/>
              <a:buFont typeface="Arial"/>
              <a:buNone/>
            </a:pPr>
            <a:endParaRPr sz="2000" b="0" i="0" u="none" strike="noStrike" cap="none">
              <a:solidFill>
                <a:srgbClr val="000000"/>
              </a:solidFill>
              <a:latin typeface="Arial"/>
              <a:ea typeface="Arial"/>
              <a:cs typeface="Arial"/>
              <a:sym typeface="Arial"/>
            </a:endParaRPr>
          </a:p>
          <a:p>
            <a:pPr marL="360000" marR="0" lvl="0" indent="-360000" algn="l" rtl="0">
              <a:lnSpc>
                <a:spcPct val="100000"/>
              </a:lnSpc>
              <a:spcBef>
                <a:spcPts val="0"/>
              </a:spcBef>
              <a:spcAft>
                <a:spcPts val="0"/>
              </a:spcAft>
              <a:buClr>
                <a:srgbClr val="000000"/>
              </a:buClr>
              <a:buSzPts val="2000"/>
              <a:buFont typeface="Noto Sans Symbols"/>
              <a:buChar char="⮚"/>
            </a:pPr>
            <a:r>
              <a:rPr lang="en-US" sz="2000" b="0" i="0" u="none" strike="noStrike" cap="none">
                <a:solidFill>
                  <a:srgbClr val="000000"/>
                </a:solidFill>
                <a:latin typeface="Arial"/>
                <a:ea typeface="Arial"/>
                <a:cs typeface="Arial"/>
                <a:sym typeface="Arial"/>
              </a:rPr>
              <a:t>Explain leading indicators and lagging indicators, and the difference between them.</a:t>
            </a:r>
            <a:endParaRPr sz="2000" b="0" i="0" u="none" strike="noStrike" cap="none">
              <a:solidFill>
                <a:srgbClr val="000000"/>
              </a:solidFill>
              <a:latin typeface="Arial"/>
              <a:ea typeface="Arial"/>
              <a:cs typeface="Arial"/>
              <a:sym typeface="Arial"/>
            </a:endParaRPr>
          </a:p>
          <a:p>
            <a:pPr marL="360000" marR="0" lvl="0" indent="-233000" algn="l" rtl="0">
              <a:lnSpc>
                <a:spcPct val="100000"/>
              </a:lnSpc>
              <a:spcBef>
                <a:spcPts val="0"/>
              </a:spcBef>
              <a:spcAft>
                <a:spcPts val="0"/>
              </a:spcAft>
              <a:buClr>
                <a:srgbClr val="000000"/>
              </a:buClr>
              <a:buSzPts val="2000"/>
              <a:buFont typeface="Noto Sans Symbols"/>
              <a:buNone/>
            </a:pPr>
            <a:endParaRPr sz="2000" b="0" i="0" u="none" strike="noStrike" cap="none">
              <a:solidFill>
                <a:srgbClr val="000000"/>
              </a:solidFill>
              <a:latin typeface="Arial"/>
              <a:ea typeface="Arial"/>
              <a:cs typeface="Arial"/>
              <a:sym typeface="Arial"/>
            </a:endParaRPr>
          </a:p>
          <a:p>
            <a:pPr marL="360000" marR="0" lvl="0" indent="-360000" algn="l" rtl="0">
              <a:lnSpc>
                <a:spcPct val="100000"/>
              </a:lnSpc>
              <a:spcBef>
                <a:spcPts val="0"/>
              </a:spcBef>
              <a:spcAft>
                <a:spcPts val="0"/>
              </a:spcAft>
              <a:buClr>
                <a:srgbClr val="000000"/>
              </a:buClr>
              <a:buSzPts val="2000"/>
              <a:buFont typeface="Noto Sans Symbols"/>
              <a:buChar char="⮚"/>
            </a:pPr>
            <a:r>
              <a:rPr lang="en-US" sz="2000" b="0" i="0" u="none" strike="noStrike" cap="none">
                <a:solidFill>
                  <a:srgbClr val="000000"/>
                </a:solidFill>
                <a:latin typeface="Arial"/>
                <a:ea typeface="Arial"/>
                <a:cs typeface="Arial"/>
                <a:sym typeface="Arial"/>
              </a:rPr>
              <a:t>Explain how applying leading indicators can:</a:t>
            </a:r>
            <a:endParaRPr sz="2000" b="0" i="0" u="none" strike="noStrike" cap="none">
              <a:solidFill>
                <a:srgbClr val="000000"/>
              </a:solidFill>
              <a:latin typeface="Arial"/>
              <a:ea typeface="Arial"/>
              <a:cs typeface="Arial"/>
              <a:sym typeface="Arial"/>
            </a:endParaRPr>
          </a:p>
          <a:p>
            <a:pPr marL="720000" marR="0" lvl="0" indent="-359999" algn="l" rtl="0">
              <a:lnSpc>
                <a:spcPct val="100000"/>
              </a:lnSpc>
              <a:spcBef>
                <a:spcPts val="0"/>
              </a:spcBef>
              <a:spcAft>
                <a:spcPts val="0"/>
              </a:spcAft>
              <a:buClr>
                <a:srgbClr val="000000"/>
              </a:buClr>
              <a:buSzPts val="2000"/>
              <a:buFont typeface="Noto Sans Symbols"/>
              <a:buChar char="⮚"/>
            </a:pPr>
            <a:r>
              <a:rPr lang="en-US" sz="2000" b="0" i="0" u="none" strike="noStrike" cap="none">
                <a:solidFill>
                  <a:srgbClr val="000000"/>
                </a:solidFill>
                <a:latin typeface="Arial"/>
                <a:ea typeface="Arial"/>
                <a:cs typeface="Arial"/>
                <a:sym typeface="Arial"/>
              </a:rPr>
              <a:t>Measure the overall effective implementation (execution) of a risk management program.</a:t>
            </a:r>
            <a:endParaRPr/>
          </a:p>
          <a:p>
            <a:pPr marL="720000" marR="0" lvl="0" indent="-359999" algn="l" rtl="0">
              <a:lnSpc>
                <a:spcPct val="100000"/>
              </a:lnSpc>
              <a:spcBef>
                <a:spcPts val="0"/>
              </a:spcBef>
              <a:spcAft>
                <a:spcPts val="0"/>
              </a:spcAft>
              <a:buClr>
                <a:srgbClr val="000000"/>
              </a:buClr>
              <a:buSzPts val="2000"/>
              <a:buFont typeface="Noto Sans Symbols"/>
              <a:buChar char="⮚"/>
            </a:pPr>
            <a:r>
              <a:rPr lang="en-US" sz="2000" b="0" i="0" u="none" strike="noStrike" cap="none">
                <a:solidFill>
                  <a:srgbClr val="000000"/>
                </a:solidFill>
                <a:latin typeface="Arial"/>
                <a:ea typeface="Arial"/>
                <a:cs typeface="Arial"/>
                <a:sym typeface="Arial"/>
              </a:rPr>
              <a:t>Identify deficiencies (degradation, deterioration) of critical safety conditions and critical safety rules for both occupational safety and technical safety.</a:t>
            </a:r>
            <a:endParaRPr sz="2000" b="0" i="0" u="none" strike="noStrike" cap="none">
              <a:solidFill>
                <a:srgbClr val="000000"/>
              </a:solidFill>
              <a:latin typeface="Arial"/>
              <a:ea typeface="Arial"/>
              <a:cs typeface="Arial"/>
              <a:sym typeface="Arial"/>
            </a:endParaRPr>
          </a:p>
        </p:txBody>
      </p:sp>
      <p:sp>
        <p:nvSpPr>
          <p:cNvPr id="57" name="Google Shape;57;p2"/>
          <p:cNvSpPr/>
          <p:nvPr/>
        </p:nvSpPr>
        <p:spPr>
          <a:xfrm>
            <a:off x="180000" y="180000"/>
            <a:ext cx="8640000" cy="5400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accent2"/>
              </a:buClr>
              <a:buSzPts val="2400"/>
              <a:buFont typeface="Arial"/>
              <a:buNone/>
            </a:pPr>
            <a:r>
              <a:rPr lang="en-US" sz="2400" b="0" i="0" u="none" strike="noStrike" cap="none">
                <a:solidFill>
                  <a:schemeClr val="accent2"/>
                </a:solidFill>
                <a:latin typeface="Arial"/>
                <a:ea typeface="Arial"/>
                <a:cs typeface="Arial"/>
                <a:sym typeface="Arial"/>
              </a:rPr>
              <a:t>Learning Outcomes:</a:t>
            </a:r>
            <a:endParaRPr/>
          </a:p>
        </p:txBody>
      </p:sp>
      <p:sp>
        <p:nvSpPr>
          <p:cNvPr id="58" name="Google Shape;58;p2"/>
          <p:cNvSpPr txBox="1"/>
          <p:nvPr/>
        </p:nvSpPr>
        <p:spPr>
          <a:xfrm>
            <a:off x="8280000" y="6300000"/>
            <a:ext cx="533400" cy="2880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Clr>
                <a:srgbClr val="000000"/>
              </a:buClr>
              <a:buSzPts val="1200"/>
              <a:buFont typeface="Noto Sans Symbols"/>
              <a:buNone/>
            </a:pPr>
            <a:fld id="{00000000-1234-1234-1234-123412341234}" type="slidenum">
              <a:rPr lang="en-US" sz="1200" b="1" i="1" u="none" strike="noStrike" cap="none">
                <a:solidFill>
                  <a:srgbClr val="000000"/>
                </a:solidFill>
                <a:latin typeface="Arial"/>
                <a:ea typeface="Arial"/>
                <a:cs typeface="Arial"/>
                <a:sym typeface="Arial"/>
              </a:rPr>
              <a:t>2</a:t>
            </a:fld>
            <a:endParaRPr sz="1200" b="1" i="1" u="none" strike="noStrike" cap="none">
              <a:solidFill>
                <a:srgbClr val="000000"/>
              </a:solidFill>
              <a:latin typeface="Arial"/>
              <a:ea typeface="Arial"/>
              <a:cs typeface="Arial"/>
              <a:sym typeface="Arial"/>
            </a:endParaRPr>
          </a:p>
        </p:txBody>
      </p:sp>
      <p:sp>
        <p:nvSpPr>
          <p:cNvPr id="59" name="Google Shape;59;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b="1" i="1" u="none" strike="noStrike" cap="none">
                <a:solidFill>
                  <a:srgbClr val="000000"/>
                </a:solidFill>
                <a:latin typeface="Arial"/>
                <a:ea typeface="Arial"/>
                <a:cs typeface="Arial"/>
                <a:sym typeface="Arial"/>
              </a:rPr>
              <a:t>Chapter 6.2: Safety Metrics, Lagging and Leading Indicators</a:t>
            </a:r>
            <a:endParaRPr sz="1200" b="1" i="1" u="none" strike="noStrike" cap="none">
              <a:solidFill>
                <a:srgbClr val="000000"/>
              </a:solidFill>
              <a:latin typeface="Arial"/>
              <a:ea typeface="Arial"/>
              <a:cs typeface="Arial"/>
              <a:sym typeface="Arial"/>
            </a:endParaRPr>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sp>
        <p:nvSpPr>
          <p:cNvPr id="68" name="Google Shape;68;p3"/>
          <p:cNvSpPr/>
          <p:nvPr/>
        </p:nvSpPr>
        <p:spPr>
          <a:xfrm>
            <a:off x="180000" y="180000"/>
            <a:ext cx="8640000" cy="504000"/>
          </a:xfrm>
          <a:prstGeom prst="rect">
            <a:avLst/>
          </a:pr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2400" b="0" i="0" u="none" strike="noStrike" cap="none">
                <a:solidFill>
                  <a:srgbClr val="F8F8F8"/>
                </a:solidFill>
                <a:latin typeface="Arial"/>
                <a:ea typeface="Arial"/>
                <a:cs typeface="Arial"/>
                <a:sym typeface="Arial"/>
              </a:rPr>
              <a:t>Examples: Leading and Lagging Indicators</a:t>
            </a:r>
            <a:endParaRPr sz="2400" b="0" i="0" u="none" strike="noStrike" cap="none">
              <a:solidFill>
                <a:srgbClr val="F8F8F8"/>
              </a:solidFill>
              <a:latin typeface="Arial"/>
              <a:ea typeface="Arial"/>
              <a:cs typeface="Arial"/>
              <a:sym typeface="Arial"/>
            </a:endParaRPr>
          </a:p>
        </p:txBody>
      </p:sp>
      <p:sp>
        <p:nvSpPr>
          <p:cNvPr id="69" name="Google Shape;69;p3"/>
          <p:cNvSpPr/>
          <p:nvPr/>
        </p:nvSpPr>
        <p:spPr>
          <a:xfrm>
            <a:off x="180000" y="828000"/>
            <a:ext cx="8640000" cy="5328000"/>
          </a:xfrm>
          <a:prstGeom prst="rect">
            <a:avLst/>
          </a:pr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80000"/>
              </a:lnSpc>
              <a:spcBef>
                <a:spcPts val="0"/>
              </a:spcBef>
              <a:spcAft>
                <a:spcPts val="0"/>
              </a:spcAft>
              <a:buNone/>
            </a:pPr>
            <a:r>
              <a:rPr lang="en-US" sz="1800" b="0" i="0" u="none" strike="noStrike" cap="none">
                <a:solidFill>
                  <a:srgbClr val="F8F8F8"/>
                </a:solidFill>
                <a:latin typeface="Arial"/>
                <a:ea typeface="Arial"/>
                <a:cs typeface="Arial"/>
                <a:sym typeface="Arial"/>
              </a:rPr>
              <a:t>Leading indicators are used to determine the effectiveness of certain elements in a risk management program, and where there is no consequence.</a:t>
            </a:r>
            <a:endParaRPr sz="1800" b="0" i="0" u="none" strike="noStrike" cap="none">
              <a:solidFill>
                <a:srgbClr val="F8F8F8"/>
              </a:solidFill>
              <a:latin typeface="Arial"/>
              <a:ea typeface="Arial"/>
              <a:cs typeface="Arial"/>
              <a:sym typeface="Arial"/>
            </a:endParaRPr>
          </a:p>
          <a:p>
            <a:pPr marL="0" marR="0" lvl="0" indent="0" algn="l" rtl="0">
              <a:lnSpc>
                <a:spcPct val="80000"/>
              </a:lnSpc>
              <a:spcBef>
                <a:spcPts val="0"/>
              </a:spcBef>
              <a:spcAft>
                <a:spcPts val="0"/>
              </a:spcAft>
              <a:buNone/>
            </a:pPr>
            <a:r>
              <a:rPr lang="en-US" sz="1800" b="0" i="0" u="none" strike="noStrike" cap="none">
                <a:solidFill>
                  <a:srgbClr val="F8F8F8"/>
                </a:solidFill>
                <a:latin typeface="Arial"/>
                <a:ea typeface="Arial"/>
                <a:cs typeface="Arial"/>
                <a:sym typeface="Arial"/>
              </a:rPr>
              <a:t>Lagging indicators are the results, the outcomes of potential weaknesses in certain elements in a risk management program, and usually where there is a consequence i.e. a loss.</a:t>
            </a:r>
            <a:endParaRPr/>
          </a:p>
          <a:p>
            <a:pPr marL="432000" marR="0" lvl="0" indent="-432000" algn="l" rtl="0">
              <a:lnSpc>
                <a:spcPct val="80000"/>
              </a:lnSpc>
              <a:spcBef>
                <a:spcPts val="0"/>
              </a:spcBef>
              <a:spcAft>
                <a:spcPts val="0"/>
              </a:spcAft>
              <a:buClr>
                <a:srgbClr val="F8F8F8"/>
              </a:buClr>
              <a:buSzPts val="1800"/>
              <a:buFont typeface="Noto Sans Symbols"/>
              <a:buChar char="⮚"/>
            </a:pPr>
            <a:r>
              <a:rPr lang="en-US" sz="1800" b="0" i="0" u="none" strike="noStrike" cap="none">
                <a:solidFill>
                  <a:srgbClr val="F8F8F8"/>
                </a:solidFill>
                <a:latin typeface="Arial"/>
                <a:ea typeface="Arial"/>
                <a:cs typeface="Arial"/>
                <a:sym typeface="Arial"/>
              </a:rPr>
              <a:t>Number of occupational injuries reportable to the gov’t per month </a:t>
            </a:r>
            <a:r>
              <a:rPr lang="en-US" sz="1800" b="0" i="1" u="none" strike="noStrike" cap="none">
                <a:solidFill>
                  <a:srgbClr val="F8F8F8"/>
                </a:solidFill>
                <a:latin typeface="Arial"/>
                <a:ea typeface="Arial"/>
                <a:cs typeface="Arial"/>
                <a:sym typeface="Arial"/>
              </a:rPr>
              <a:t>LAG</a:t>
            </a:r>
            <a:endParaRPr sz="1800" b="0" i="1" u="none" strike="noStrike" cap="none">
              <a:solidFill>
                <a:srgbClr val="F8F8F8"/>
              </a:solidFill>
              <a:latin typeface="Arial"/>
              <a:ea typeface="Arial"/>
              <a:cs typeface="Arial"/>
              <a:sym typeface="Arial"/>
            </a:endParaRPr>
          </a:p>
          <a:p>
            <a:pPr marL="432000" marR="0" lvl="0" indent="-432000" algn="l" rtl="0">
              <a:lnSpc>
                <a:spcPct val="80000"/>
              </a:lnSpc>
              <a:spcBef>
                <a:spcPts val="0"/>
              </a:spcBef>
              <a:spcAft>
                <a:spcPts val="0"/>
              </a:spcAft>
              <a:buClr>
                <a:srgbClr val="F8F8F8"/>
              </a:buClr>
              <a:buSzPts val="1800"/>
              <a:buFont typeface="Noto Sans Symbols"/>
              <a:buChar char="⮚"/>
            </a:pPr>
            <a:r>
              <a:rPr lang="en-US" sz="1800" b="0" i="0" u="none" strike="noStrike" cap="none">
                <a:solidFill>
                  <a:srgbClr val="F8F8F8"/>
                </a:solidFill>
                <a:latin typeface="Arial"/>
                <a:ea typeface="Arial"/>
                <a:cs typeface="Arial"/>
                <a:sym typeface="Arial"/>
              </a:rPr>
              <a:t>Number of SC’s and SP’s reported per month </a:t>
            </a:r>
            <a:r>
              <a:rPr lang="en-US" sz="1800" b="0" i="1" u="none" strike="noStrike" cap="none">
                <a:solidFill>
                  <a:srgbClr val="F8F8F8"/>
                </a:solidFill>
                <a:latin typeface="Arial"/>
                <a:ea typeface="Arial"/>
                <a:cs typeface="Arial"/>
                <a:sym typeface="Arial"/>
              </a:rPr>
              <a:t>LEAD</a:t>
            </a:r>
            <a:endParaRPr sz="1800" b="0" i="1" u="none" strike="noStrike" cap="none">
              <a:solidFill>
                <a:srgbClr val="F8F8F8"/>
              </a:solidFill>
              <a:latin typeface="Arial"/>
              <a:ea typeface="Arial"/>
              <a:cs typeface="Arial"/>
              <a:sym typeface="Arial"/>
            </a:endParaRPr>
          </a:p>
          <a:p>
            <a:pPr marL="432000" marR="0" lvl="0" indent="-432000" algn="l" rtl="0">
              <a:lnSpc>
                <a:spcPct val="80000"/>
              </a:lnSpc>
              <a:spcBef>
                <a:spcPts val="0"/>
              </a:spcBef>
              <a:spcAft>
                <a:spcPts val="0"/>
              </a:spcAft>
              <a:buClr>
                <a:srgbClr val="F8F8F8"/>
              </a:buClr>
              <a:buSzPts val="1800"/>
              <a:buFont typeface="Noto Sans Symbols"/>
              <a:buChar char="⮚"/>
            </a:pPr>
            <a:r>
              <a:rPr lang="en-US" sz="1800" b="0" i="0" u="none" strike="noStrike" cap="none">
                <a:solidFill>
                  <a:srgbClr val="F8F8F8"/>
                </a:solidFill>
                <a:latin typeface="Arial"/>
                <a:ea typeface="Arial"/>
                <a:cs typeface="Arial"/>
                <a:sym typeface="Arial"/>
              </a:rPr>
              <a:t>Number of data breaches per year </a:t>
            </a:r>
            <a:r>
              <a:rPr lang="en-US" sz="1800" b="0" i="1" u="none" strike="noStrike" cap="none">
                <a:solidFill>
                  <a:srgbClr val="F8F8F8"/>
                </a:solidFill>
                <a:latin typeface="Arial"/>
                <a:ea typeface="Arial"/>
                <a:cs typeface="Arial"/>
                <a:sym typeface="Arial"/>
              </a:rPr>
              <a:t>LAG</a:t>
            </a:r>
            <a:endParaRPr/>
          </a:p>
          <a:p>
            <a:pPr marL="432000" marR="0" lvl="0" indent="-432000" algn="l" rtl="0">
              <a:lnSpc>
                <a:spcPct val="80000"/>
              </a:lnSpc>
              <a:spcBef>
                <a:spcPts val="0"/>
              </a:spcBef>
              <a:spcAft>
                <a:spcPts val="0"/>
              </a:spcAft>
              <a:buClr>
                <a:srgbClr val="F8F8F8"/>
              </a:buClr>
              <a:buSzPts val="1800"/>
              <a:buFont typeface="Noto Sans Symbols"/>
              <a:buChar char="⮚"/>
            </a:pPr>
            <a:r>
              <a:rPr lang="en-US" sz="1800" b="0" i="0" u="none" strike="noStrike" cap="none">
                <a:solidFill>
                  <a:srgbClr val="F8F8F8"/>
                </a:solidFill>
                <a:latin typeface="Arial"/>
                <a:ea typeface="Arial"/>
                <a:cs typeface="Arial"/>
                <a:sym typeface="Arial"/>
              </a:rPr>
              <a:t>Number of attempts to defeat the security firewall per day </a:t>
            </a:r>
            <a:r>
              <a:rPr lang="en-US" sz="1800" b="0" i="1" u="none" strike="noStrike" cap="none">
                <a:solidFill>
                  <a:srgbClr val="F8F8F8"/>
                </a:solidFill>
                <a:latin typeface="Arial"/>
                <a:ea typeface="Arial"/>
                <a:cs typeface="Arial"/>
                <a:sym typeface="Arial"/>
              </a:rPr>
              <a:t>LEAD</a:t>
            </a:r>
            <a:endParaRPr/>
          </a:p>
          <a:p>
            <a:pPr marL="432000" marR="0" lvl="0" indent="-432000" algn="l" rtl="0">
              <a:lnSpc>
                <a:spcPct val="80000"/>
              </a:lnSpc>
              <a:spcBef>
                <a:spcPts val="0"/>
              </a:spcBef>
              <a:spcAft>
                <a:spcPts val="0"/>
              </a:spcAft>
              <a:buClr>
                <a:srgbClr val="F8F8F8"/>
              </a:buClr>
              <a:buSzPts val="1800"/>
              <a:buFont typeface="Noto Sans Symbols"/>
              <a:buChar char="⮚"/>
            </a:pPr>
            <a:r>
              <a:rPr lang="en-US" sz="1800" b="0" i="0" u="none" strike="noStrike" cap="none">
                <a:solidFill>
                  <a:srgbClr val="F8F8F8"/>
                </a:solidFill>
                <a:latin typeface="Arial"/>
                <a:ea typeface="Arial"/>
                <a:cs typeface="Arial"/>
                <a:sym typeface="Arial"/>
              </a:rPr>
              <a:t>Number of over-pressure vessel failures in the plant life </a:t>
            </a:r>
            <a:r>
              <a:rPr lang="en-US" sz="1800" b="0" i="1" u="none" strike="noStrike" cap="none">
                <a:solidFill>
                  <a:srgbClr val="F8F8F8"/>
                </a:solidFill>
                <a:latin typeface="Arial"/>
                <a:ea typeface="Arial"/>
                <a:cs typeface="Arial"/>
                <a:sym typeface="Arial"/>
              </a:rPr>
              <a:t>LAG</a:t>
            </a:r>
            <a:endParaRPr sz="1800" b="0" i="1" u="none" strike="noStrike" cap="none">
              <a:solidFill>
                <a:srgbClr val="F8F8F8"/>
              </a:solidFill>
              <a:latin typeface="Arial"/>
              <a:ea typeface="Arial"/>
              <a:cs typeface="Arial"/>
              <a:sym typeface="Arial"/>
            </a:endParaRPr>
          </a:p>
          <a:p>
            <a:pPr marL="432000" marR="0" lvl="0" indent="-432000" algn="l" rtl="0">
              <a:lnSpc>
                <a:spcPct val="80000"/>
              </a:lnSpc>
              <a:spcBef>
                <a:spcPts val="0"/>
              </a:spcBef>
              <a:spcAft>
                <a:spcPts val="0"/>
              </a:spcAft>
              <a:buClr>
                <a:srgbClr val="F8F8F8"/>
              </a:buClr>
              <a:buSzPts val="1800"/>
              <a:buFont typeface="Noto Sans Symbols"/>
              <a:buChar char="⮚"/>
            </a:pPr>
            <a:r>
              <a:rPr lang="en-US" sz="1800" b="0" i="0" u="none" strike="noStrike" cap="none">
                <a:solidFill>
                  <a:srgbClr val="F8F8F8"/>
                </a:solidFill>
                <a:latin typeface="Arial"/>
                <a:ea typeface="Arial"/>
                <a:cs typeface="Arial"/>
                <a:sym typeface="Arial"/>
              </a:rPr>
              <a:t>Number of over-pressure relief valves overdue for service </a:t>
            </a:r>
            <a:r>
              <a:rPr lang="en-US" sz="1800" b="0" i="1" u="none" strike="noStrike" cap="none">
                <a:solidFill>
                  <a:srgbClr val="F8F8F8"/>
                </a:solidFill>
                <a:latin typeface="Arial"/>
                <a:ea typeface="Arial"/>
                <a:cs typeface="Arial"/>
                <a:sym typeface="Arial"/>
              </a:rPr>
              <a:t>LEAD</a:t>
            </a:r>
            <a:endParaRPr sz="1800" b="0" i="1" u="none" strike="noStrike" cap="none">
              <a:solidFill>
                <a:srgbClr val="F8F8F8"/>
              </a:solidFill>
              <a:latin typeface="Arial"/>
              <a:ea typeface="Arial"/>
              <a:cs typeface="Arial"/>
              <a:sym typeface="Arial"/>
            </a:endParaRPr>
          </a:p>
          <a:p>
            <a:pPr marL="432000" marR="0" lvl="0" indent="-432000" algn="l" rtl="0">
              <a:lnSpc>
                <a:spcPct val="80000"/>
              </a:lnSpc>
              <a:spcBef>
                <a:spcPts val="0"/>
              </a:spcBef>
              <a:spcAft>
                <a:spcPts val="0"/>
              </a:spcAft>
              <a:buClr>
                <a:srgbClr val="F8F8F8"/>
              </a:buClr>
              <a:buSzPts val="1800"/>
              <a:buFont typeface="Noto Sans Symbols"/>
              <a:buChar char="⮚"/>
            </a:pPr>
            <a:r>
              <a:rPr lang="en-US" sz="1800" b="0" i="0" u="none" strike="noStrike" cap="none">
                <a:solidFill>
                  <a:srgbClr val="F8F8F8"/>
                </a:solidFill>
                <a:latin typeface="Arial"/>
                <a:ea typeface="Arial"/>
                <a:cs typeface="Arial"/>
                <a:sym typeface="Arial"/>
              </a:rPr>
              <a:t>Number of fasteners under-torqued on a bridge construction inspection </a:t>
            </a:r>
            <a:r>
              <a:rPr lang="en-US" sz="1800" b="0" i="1" u="none" strike="noStrike" cap="none">
                <a:solidFill>
                  <a:srgbClr val="F8F8F8"/>
                </a:solidFill>
                <a:latin typeface="Arial"/>
                <a:ea typeface="Arial"/>
                <a:cs typeface="Arial"/>
                <a:sym typeface="Arial"/>
              </a:rPr>
              <a:t>LEAD</a:t>
            </a:r>
            <a:endParaRPr sz="1800" b="0" i="1" u="none" strike="noStrike" cap="none">
              <a:solidFill>
                <a:srgbClr val="F8F8F8"/>
              </a:solidFill>
              <a:latin typeface="Arial"/>
              <a:ea typeface="Arial"/>
              <a:cs typeface="Arial"/>
              <a:sym typeface="Arial"/>
            </a:endParaRPr>
          </a:p>
          <a:p>
            <a:pPr marL="432000" marR="0" lvl="0" indent="-432000" algn="l" rtl="0">
              <a:lnSpc>
                <a:spcPct val="80000"/>
              </a:lnSpc>
              <a:spcBef>
                <a:spcPts val="0"/>
              </a:spcBef>
              <a:spcAft>
                <a:spcPts val="0"/>
              </a:spcAft>
              <a:buClr>
                <a:srgbClr val="F8F8F8"/>
              </a:buClr>
              <a:buSzPts val="1800"/>
              <a:buFont typeface="Noto Sans Symbols"/>
              <a:buChar char="⮚"/>
            </a:pPr>
            <a:r>
              <a:rPr lang="en-US" sz="1800" b="0" i="0" u="none" strike="noStrike" cap="none">
                <a:solidFill>
                  <a:srgbClr val="F8F8F8"/>
                </a:solidFill>
                <a:latin typeface="Arial"/>
                <a:ea typeface="Arial"/>
                <a:cs typeface="Arial"/>
                <a:sym typeface="Arial"/>
              </a:rPr>
              <a:t>Number of steel members with loose fasteners </a:t>
            </a:r>
            <a:r>
              <a:rPr lang="en-US" sz="1800" b="0" i="1" u="none" strike="noStrike" cap="none">
                <a:solidFill>
                  <a:srgbClr val="F8F8F8"/>
                </a:solidFill>
                <a:latin typeface="Arial"/>
                <a:ea typeface="Arial"/>
                <a:cs typeface="Arial"/>
                <a:sym typeface="Arial"/>
              </a:rPr>
              <a:t>LEAD</a:t>
            </a:r>
            <a:r>
              <a:rPr lang="en-US" sz="1800" b="0" i="0" u="none" strike="noStrike" cap="none">
                <a:solidFill>
                  <a:srgbClr val="F8F8F8"/>
                </a:solidFill>
                <a:latin typeface="Arial"/>
                <a:ea typeface="Arial"/>
                <a:cs typeface="Arial"/>
                <a:sym typeface="Arial"/>
              </a:rPr>
              <a:t> </a:t>
            </a:r>
            <a:endParaRPr sz="1800" b="0" i="0" u="none" strike="noStrike" cap="none">
              <a:solidFill>
                <a:srgbClr val="F8F8F8"/>
              </a:solidFill>
              <a:latin typeface="Arial"/>
              <a:ea typeface="Arial"/>
              <a:cs typeface="Arial"/>
              <a:sym typeface="Arial"/>
            </a:endParaRPr>
          </a:p>
          <a:p>
            <a:pPr marL="432000" marR="0" lvl="0" indent="-432000" algn="l" rtl="0">
              <a:lnSpc>
                <a:spcPct val="80000"/>
              </a:lnSpc>
              <a:spcBef>
                <a:spcPts val="0"/>
              </a:spcBef>
              <a:spcAft>
                <a:spcPts val="0"/>
              </a:spcAft>
              <a:buClr>
                <a:srgbClr val="F8F8F8"/>
              </a:buClr>
              <a:buSzPts val="1800"/>
              <a:buFont typeface="Noto Sans Symbols"/>
              <a:buChar char="⮚"/>
            </a:pPr>
            <a:r>
              <a:rPr lang="en-US" sz="1800" b="0" i="0" u="none" strike="noStrike" cap="none">
                <a:solidFill>
                  <a:srgbClr val="F8F8F8"/>
                </a:solidFill>
                <a:latin typeface="Arial"/>
                <a:ea typeface="Arial"/>
                <a:cs typeface="Arial"/>
                <a:sym typeface="Arial"/>
              </a:rPr>
              <a:t>Number of steel members damaged under load </a:t>
            </a:r>
            <a:r>
              <a:rPr lang="en-US" sz="1800" b="0" i="1" u="none" strike="noStrike" cap="none">
                <a:solidFill>
                  <a:srgbClr val="F8F8F8"/>
                </a:solidFill>
                <a:latin typeface="Arial"/>
                <a:ea typeface="Arial"/>
                <a:cs typeface="Arial"/>
                <a:sym typeface="Arial"/>
              </a:rPr>
              <a:t>LAG</a:t>
            </a:r>
            <a:endParaRPr sz="1800" b="0" i="1" u="none" strike="noStrike" cap="none">
              <a:solidFill>
                <a:srgbClr val="F8F8F8"/>
              </a:solidFill>
              <a:latin typeface="Arial"/>
              <a:ea typeface="Arial"/>
              <a:cs typeface="Arial"/>
              <a:sym typeface="Arial"/>
            </a:endParaRPr>
          </a:p>
          <a:p>
            <a:pPr marL="432000" marR="0" lvl="0" indent="-432000" algn="l" rtl="0">
              <a:lnSpc>
                <a:spcPct val="80000"/>
              </a:lnSpc>
              <a:spcBef>
                <a:spcPts val="0"/>
              </a:spcBef>
              <a:spcAft>
                <a:spcPts val="0"/>
              </a:spcAft>
              <a:buClr>
                <a:srgbClr val="F8F8F8"/>
              </a:buClr>
              <a:buSzPts val="1800"/>
              <a:buFont typeface="Noto Sans Symbols"/>
              <a:buChar char="⮚"/>
            </a:pPr>
            <a:r>
              <a:rPr lang="en-US" sz="1800" b="0" i="0" u="none" strike="noStrike" cap="none">
                <a:solidFill>
                  <a:srgbClr val="F8F8F8"/>
                </a:solidFill>
                <a:latin typeface="Arial"/>
                <a:ea typeface="Arial"/>
                <a:cs typeface="Arial"/>
                <a:sym typeface="Arial"/>
              </a:rPr>
              <a:t>Number of over-current breaker trips per month </a:t>
            </a:r>
            <a:r>
              <a:rPr lang="en-US" sz="1800" b="0" i="1" u="none" strike="noStrike" cap="none">
                <a:solidFill>
                  <a:srgbClr val="F8F8F8"/>
                </a:solidFill>
                <a:latin typeface="Arial"/>
                <a:ea typeface="Arial"/>
                <a:cs typeface="Arial"/>
                <a:sym typeface="Arial"/>
              </a:rPr>
              <a:t>LEAD</a:t>
            </a:r>
            <a:endParaRPr sz="1800" b="0" i="1" u="none" strike="noStrike" cap="none">
              <a:solidFill>
                <a:srgbClr val="F8F8F8"/>
              </a:solidFill>
              <a:latin typeface="Arial"/>
              <a:ea typeface="Arial"/>
              <a:cs typeface="Arial"/>
              <a:sym typeface="Arial"/>
            </a:endParaRPr>
          </a:p>
          <a:p>
            <a:pPr marL="432000" marR="0" lvl="0" indent="-432000" algn="l" rtl="0">
              <a:lnSpc>
                <a:spcPct val="80000"/>
              </a:lnSpc>
              <a:spcBef>
                <a:spcPts val="0"/>
              </a:spcBef>
              <a:spcAft>
                <a:spcPts val="0"/>
              </a:spcAft>
              <a:buClr>
                <a:srgbClr val="F8F8F8"/>
              </a:buClr>
              <a:buSzPts val="1800"/>
              <a:buFont typeface="Noto Sans Symbols"/>
              <a:buChar char="⮚"/>
            </a:pPr>
            <a:r>
              <a:rPr lang="en-US" sz="1800" b="0" i="0" u="none" strike="noStrike" cap="none">
                <a:solidFill>
                  <a:srgbClr val="F8F8F8"/>
                </a:solidFill>
                <a:latin typeface="Arial"/>
                <a:ea typeface="Arial"/>
                <a:cs typeface="Arial"/>
                <a:sym typeface="Arial"/>
              </a:rPr>
              <a:t>Number of motor burn-outs per year </a:t>
            </a:r>
            <a:r>
              <a:rPr lang="en-US" sz="1800" b="0" i="1" u="none" strike="noStrike" cap="none">
                <a:solidFill>
                  <a:srgbClr val="F8F8F8"/>
                </a:solidFill>
                <a:latin typeface="Arial"/>
                <a:ea typeface="Arial"/>
                <a:cs typeface="Arial"/>
                <a:sym typeface="Arial"/>
              </a:rPr>
              <a:t>LAG</a:t>
            </a:r>
            <a:endParaRPr/>
          </a:p>
          <a:p>
            <a:pPr marL="432000" marR="0" lvl="0" indent="-432000" algn="l" rtl="0">
              <a:lnSpc>
                <a:spcPct val="80000"/>
              </a:lnSpc>
              <a:spcBef>
                <a:spcPts val="0"/>
              </a:spcBef>
              <a:spcAft>
                <a:spcPts val="0"/>
              </a:spcAft>
              <a:buClr>
                <a:srgbClr val="F8F8F8"/>
              </a:buClr>
              <a:buSzPts val="1800"/>
              <a:buFont typeface="Noto Sans Symbols"/>
              <a:buChar char="⮚"/>
            </a:pPr>
            <a:r>
              <a:rPr lang="en-US" sz="1800" b="0" i="0" u="none" strike="noStrike" cap="none">
                <a:solidFill>
                  <a:srgbClr val="F8F8F8"/>
                </a:solidFill>
                <a:latin typeface="Arial"/>
                <a:ea typeface="Arial"/>
                <a:cs typeface="Arial"/>
                <a:sym typeface="Arial"/>
              </a:rPr>
              <a:t>Number of significant near-miss events where the consequences could have been catastrophic were it not for some “lucky” factor e.g. a person was almost struck by a falling structure and could have been killed. </a:t>
            </a:r>
            <a:r>
              <a:rPr lang="en-US" sz="1800" b="0" i="1" u="none" strike="noStrike" cap="none">
                <a:solidFill>
                  <a:srgbClr val="F8F8F8"/>
                </a:solidFill>
                <a:latin typeface="Arial"/>
                <a:ea typeface="Arial"/>
                <a:cs typeface="Arial"/>
                <a:sym typeface="Arial"/>
              </a:rPr>
              <a:t>LAG or LEAD – depending on the reporting criteria of the organization; </a:t>
            </a:r>
            <a:r>
              <a:rPr lang="en-US" sz="1800" b="1" i="1" u="none" strike="noStrike" cap="none">
                <a:solidFill>
                  <a:srgbClr val="F8F8F8"/>
                </a:solidFill>
                <a:latin typeface="Arial"/>
                <a:ea typeface="Arial"/>
                <a:cs typeface="Arial"/>
                <a:sym typeface="Arial"/>
              </a:rPr>
              <a:t>Generally, if no loss, it is tracked as a LEADING indicator because this metric is usually not reported up through the organization</a:t>
            </a:r>
            <a:endParaRPr sz="1800" b="1" i="1" u="none" strike="noStrike" cap="none">
              <a:solidFill>
                <a:srgbClr val="F8F8F8"/>
              </a:solidFill>
              <a:latin typeface="Arial"/>
              <a:ea typeface="Arial"/>
              <a:cs typeface="Arial"/>
              <a:sym typeface="Arial"/>
            </a:endParaRPr>
          </a:p>
        </p:txBody>
      </p:sp>
      <p:sp>
        <p:nvSpPr>
          <p:cNvPr id="70" name="Google Shape;70;p3"/>
          <p:cNvSpPr txBox="1"/>
          <p:nvPr/>
        </p:nvSpPr>
        <p:spPr>
          <a:xfrm>
            <a:off x="8280000" y="6300000"/>
            <a:ext cx="533400" cy="2880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Clr>
                <a:srgbClr val="000000"/>
              </a:buClr>
              <a:buSzPts val="1200"/>
              <a:buFont typeface="Noto Sans Symbols"/>
              <a:buNone/>
            </a:pPr>
            <a:fld id="{00000000-1234-1234-1234-123412341234}" type="slidenum">
              <a:rPr lang="en-US" sz="1200" b="1" i="1" u="none" strike="noStrike" cap="none">
                <a:solidFill>
                  <a:srgbClr val="000000"/>
                </a:solidFill>
                <a:latin typeface="Arial"/>
                <a:ea typeface="Arial"/>
                <a:cs typeface="Arial"/>
                <a:sym typeface="Arial"/>
              </a:rPr>
              <a:t>3</a:t>
            </a:fld>
            <a:endParaRPr sz="1200" b="1" i="1" u="none" strike="noStrike" cap="none">
              <a:solidFill>
                <a:srgbClr val="000000"/>
              </a:solidFill>
              <a:latin typeface="Arial"/>
              <a:ea typeface="Arial"/>
              <a:cs typeface="Arial"/>
              <a:sym typeface="Arial"/>
            </a:endParaRPr>
          </a:p>
        </p:txBody>
      </p:sp>
      <p:sp>
        <p:nvSpPr>
          <p:cNvPr id="71" name="Google Shape;71;p3"/>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b="1" i="1" u="none" strike="noStrike" cap="none">
                <a:solidFill>
                  <a:srgbClr val="000000"/>
                </a:solidFill>
                <a:latin typeface="Arial"/>
                <a:ea typeface="Arial"/>
                <a:cs typeface="Arial"/>
                <a:sym typeface="Arial"/>
              </a:rPr>
              <a:t>Chapter 6.2: Safety Metrics, Lagging and Leading Indicators</a:t>
            </a:r>
            <a:endParaRPr sz="1200" b="1" i="1" u="none" strike="noStrike" cap="none">
              <a:solidFill>
                <a:srgbClr val="000000"/>
              </a:solidFill>
              <a:latin typeface="Arial"/>
              <a:ea typeface="Arial"/>
              <a:cs typeface="Arial"/>
              <a:sym typeface="Arial"/>
            </a:endParaRPr>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r>
              <a:rPr kumimoji="0" lang="en-US" altLang="en-US" sz="20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The Incident Pyramid depicts the performance of the organization.</a:t>
            </a:r>
            <a:endParaRPr kumimoji="0" lang="en-US" altLang="en-US" sz="24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CA"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rPr>
              <a:t>The Incident Pyramid, per Frank Bird:</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4</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58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7.4:  Importance of Culture &amp; Making Everyone a Leader in Safety</a:t>
            </a:r>
          </a:p>
        </p:txBody>
      </p:sp>
      <p:pic>
        <p:nvPicPr>
          <p:cNvPr id="14" name="Picture 40">
            <a:extLst>
              <a:ext uri="{FF2B5EF4-FFF2-40B4-BE49-F238E27FC236}">
                <a16:creationId xmlns:a16="http://schemas.microsoft.com/office/drawing/2014/main" id="{7C1191ED-C2EF-4A76-B306-46D600C5A64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79589" y="1276971"/>
            <a:ext cx="6984821" cy="42685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15" name="Straight Connector 14">
            <a:extLst>
              <a:ext uri="{FF2B5EF4-FFF2-40B4-BE49-F238E27FC236}">
                <a16:creationId xmlns:a16="http://schemas.microsoft.com/office/drawing/2014/main" id="{2C9B82D2-6EB3-4D70-915D-99AD46701E71}"/>
              </a:ext>
            </a:extLst>
          </p:cNvPr>
          <p:cNvCxnSpPr/>
          <p:nvPr/>
        </p:nvCxnSpPr>
        <p:spPr>
          <a:xfrm flipV="1">
            <a:off x="1079635" y="4067868"/>
            <a:ext cx="6948000" cy="0"/>
          </a:xfrm>
          <a:prstGeom prst="line">
            <a:avLst/>
          </a:prstGeom>
          <a:noFill/>
          <a:ln w="76200" cap="flat" cmpd="sng" algn="ctr">
            <a:solidFill>
              <a:sysClr val="windowText" lastClr="000000"/>
            </a:solidFill>
            <a:prstDash val="solid"/>
          </a:ln>
          <a:effectLst/>
        </p:spPr>
      </p:cxnSp>
      <p:sp>
        <p:nvSpPr>
          <p:cNvPr id="16" name="Text Box 41">
            <a:extLst>
              <a:ext uri="{FF2B5EF4-FFF2-40B4-BE49-F238E27FC236}">
                <a16:creationId xmlns:a16="http://schemas.microsoft.com/office/drawing/2014/main" id="{EE83F4DF-D544-4CD2-9D28-93316CA9EA00}"/>
              </a:ext>
            </a:extLst>
          </p:cNvPr>
          <p:cNvSpPr txBox="1">
            <a:spLocks noChangeArrowheads="1"/>
          </p:cNvSpPr>
          <p:nvPr/>
        </p:nvSpPr>
        <p:spPr bwMode="auto">
          <a:xfrm>
            <a:off x="1079590" y="5545558"/>
            <a:ext cx="6948046" cy="64633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457200" rtl="0" eaLnBrk="1" fontAlgn="auto" latinLnBrk="0" hangingPunct="1">
              <a:lnSpc>
                <a:spcPct val="100000"/>
              </a:lnSpc>
              <a:spcBef>
                <a:spcPct val="0"/>
              </a:spcBef>
              <a:spcAft>
                <a:spcPts val="0"/>
              </a:spcAft>
              <a:buClrTx/>
              <a:buSzTx/>
              <a:buFontTx/>
              <a:buNone/>
              <a:tabLst/>
              <a:defRPr/>
            </a:pPr>
            <a:r>
              <a:rPr kumimoji="0" lang="en-US" altLang="en-US" sz="12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Bird, Frank E., and Loftus, Robert G., Loss Control Management, </a:t>
            </a:r>
            <a:br>
              <a:rPr kumimoji="0" lang="en-US" altLang="en-US" sz="12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br>
            <a:r>
              <a:rPr kumimoji="0" lang="en-US" altLang="en-US" sz="12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International Loss Control Institute, 1976.</a:t>
            </a:r>
          </a:p>
          <a:p>
            <a:pPr marL="0" marR="0" lvl="0" indent="0" algn="ctr" defTabSz="457200" rtl="0" eaLnBrk="1" fontAlgn="auto" latinLnBrk="0" hangingPunct="1">
              <a:lnSpc>
                <a:spcPct val="100000"/>
              </a:lnSpc>
              <a:spcBef>
                <a:spcPct val="0"/>
              </a:spcBef>
              <a:spcAft>
                <a:spcPts val="0"/>
              </a:spcAft>
              <a:buClrTx/>
              <a:buSzTx/>
              <a:buFontTx/>
              <a:buNone/>
              <a:tabLst/>
              <a:defRPr/>
            </a:pPr>
            <a:r>
              <a:rPr kumimoji="0" lang="en-US" altLang="en-US" sz="12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For our purposes, use the ratios (1 : 10 : 30 : 600 : 10,000) as shown above.</a:t>
            </a:r>
          </a:p>
        </p:txBody>
      </p:sp>
      <p:sp>
        <p:nvSpPr>
          <p:cNvPr id="2" name="Up-Down Arrow 1"/>
          <p:cNvSpPr/>
          <p:nvPr/>
        </p:nvSpPr>
        <p:spPr>
          <a:xfrm>
            <a:off x="1291866" y="3562529"/>
            <a:ext cx="504282" cy="1045028"/>
          </a:xfrm>
          <a:prstGeom prst="up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Tree>
    <p:extLst>
      <p:ext uri="{BB962C8B-B14F-4D97-AF65-F5344CB8AC3E}">
        <p14:creationId xmlns:p14="http://schemas.microsoft.com/office/powerpoint/2010/main" val="324827919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CA" altLang="en-US" sz="20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rPr>
              <a:t>Incidents with Consequence vs. Incidents with No Consequence:</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5</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58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7.4:  Importance of Culture &amp; Making Everyone a Leader in Safety</a:t>
            </a:r>
          </a:p>
        </p:txBody>
      </p:sp>
      <p:pic>
        <p:nvPicPr>
          <p:cNvPr id="2" name="Picture 6">
            <a:extLst>
              <a:ext uri="{FF2B5EF4-FFF2-40B4-BE49-F238E27FC236}">
                <a16:creationId xmlns:a16="http://schemas.microsoft.com/office/drawing/2014/main" id="{1DE18409-E0D2-4B64-B2B5-1A132A9E19C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73586" y="1008622"/>
            <a:ext cx="6852828" cy="49667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92029051"/>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6"/>
        <p:cNvGrpSpPr/>
        <p:nvPr/>
      </p:nvGrpSpPr>
      <p:grpSpPr>
        <a:xfrm>
          <a:off x="0" y="0"/>
          <a:ext cx="0" cy="0"/>
          <a:chOff x="0" y="0"/>
          <a:chExt cx="0" cy="0"/>
        </a:xfrm>
      </p:grpSpPr>
      <p:sp>
        <p:nvSpPr>
          <p:cNvPr id="77" name="Google Shape;77;p4"/>
          <p:cNvSpPr/>
          <p:nvPr/>
        </p:nvSpPr>
        <p:spPr>
          <a:xfrm>
            <a:off x="180000" y="828000"/>
            <a:ext cx="8640000" cy="5328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rgbClr val="000000"/>
                </a:solidFill>
                <a:latin typeface="Arial"/>
                <a:ea typeface="Arial"/>
                <a:cs typeface="Arial"/>
                <a:sym typeface="Arial"/>
              </a:rPr>
              <a:t>Lagging indicators </a:t>
            </a:r>
            <a:r>
              <a:rPr lang="en-US" sz="2000" b="1" i="0" u="sng" strike="noStrike" cap="none">
                <a:solidFill>
                  <a:srgbClr val="000000"/>
                </a:solidFill>
                <a:latin typeface="Arial"/>
                <a:ea typeface="Arial"/>
                <a:cs typeface="Arial"/>
                <a:sym typeface="Arial"/>
              </a:rPr>
              <a:t>track incidents with consequences</a:t>
            </a:r>
            <a:r>
              <a:rPr lang="en-US" sz="2000" b="1" i="0" u="none" strike="noStrike" cap="none">
                <a:solidFill>
                  <a:srgbClr val="000000"/>
                </a:solidFill>
                <a:latin typeface="Arial"/>
                <a:ea typeface="Arial"/>
                <a:cs typeface="Arial"/>
                <a:sym typeface="Arial"/>
              </a:rPr>
              <a:t>:</a:t>
            </a:r>
            <a:endParaRPr sz="2000" b="0" i="0" u="none" strike="noStrike" cap="none">
              <a:solidFill>
                <a:srgbClr val="000000"/>
              </a:solidFill>
              <a:latin typeface="Arial"/>
              <a:ea typeface="Arial"/>
              <a:cs typeface="Arial"/>
              <a:sym typeface="Arial"/>
            </a:endParaRPr>
          </a:p>
          <a:p>
            <a:pPr marL="360000" marR="0" lvl="1" indent="-360000" algn="l" rtl="0">
              <a:lnSpc>
                <a:spcPct val="100000"/>
              </a:lnSpc>
              <a:spcBef>
                <a:spcPts val="0"/>
              </a:spcBef>
              <a:spcAft>
                <a:spcPts val="0"/>
              </a:spcAft>
              <a:buClr>
                <a:srgbClr val="000000"/>
              </a:buClr>
              <a:buSzPts val="2000"/>
              <a:buFont typeface="Noto Sans Symbols"/>
              <a:buChar char="⮚"/>
            </a:pPr>
            <a:r>
              <a:rPr lang="en-US" sz="2000" b="0" i="0" u="none" strike="noStrike" cap="none">
                <a:solidFill>
                  <a:srgbClr val="000000"/>
                </a:solidFill>
                <a:latin typeface="Arial"/>
                <a:ea typeface="Arial"/>
                <a:cs typeface="Arial"/>
                <a:sym typeface="Arial"/>
              </a:rPr>
              <a:t>Number of incidents with consequences reported</a:t>
            </a:r>
            <a:endParaRPr/>
          </a:p>
          <a:p>
            <a:pPr marL="360000" marR="0" lvl="1" indent="-360000" algn="l" rtl="0">
              <a:lnSpc>
                <a:spcPct val="100000"/>
              </a:lnSpc>
              <a:spcBef>
                <a:spcPts val="0"/>
              </a:spcBef>
              <a:spcAft>
                <a:spcPts val="0"/>
              </a:spcAft>
              <a:buClr>
                <a:srgbClr val="000000"/>
              </a:buClr>
              <a:buSzPts val="2000"/>
              <a:buFont typeface="Noto Sans Symbols"/>
              <a:buChar char="⮚"/>
            </a:pPr>
            <a:r>
              <a:rPr lang="en-US" sz="2000" b="0" i="0" u="none" strike="noStrike" cap="none">
                <a:solidFill>
                  <a:srgbClr val="000000"/>
                </a:solidFill>
                <a:latin typeface="Arial"/>
                <a:ea typeface="Arial"/>
                <a:cs typeface="Arial"/>
                <a:sym typeface="Arial"/>
              </a:rPr>
              <a:t>Number of incident investigations on incidents with consequences performed</a:t>
            </a:r>
            <a:endParaRPr sz="2000" b="0" i="0" u="none" strike="noStrike" cap="none">
              <a:solidFill>
                <a:srgbClr val="000000"/>
              </a:solidFill>
              <a:latin typeface="Arial"/>
              <a:ea typeface="Arial"/>
              <a:cs typeface="Arial"/>
              <a:sym typeface="Arial"/>
            </a:endParaRPr>
          </a:p>
          <a:p>
            <a:pPr marL="360000" marR="0" lvl="1" indent="-360000" algn="l" rtl="0">
              <a:lnSpc>
                <a:spcPct val="100000"/>
              </a:lnSpc>
              <a:spcBef>
                <a:spcPts val="0"/>
              </a:spcBef>
              <a:spcAft>
                <a:spcPts val="0"/>
              </a:spcAft>
              <a:buClr>
                <a:srgbClr val="000000"/>
              </a:buClr>
              <a:buSzPts val="2000"/>
              <a:buFont typeface="Noto Sans Symbols"/>
              <a:buChar char="⮚"/>
            </a:pPr>
            <a:r>
              <a:rPr lang="en-US" sz="2000" b="0" i="0" u="none" strike="noStrike" cap="none">
                <a:solidFill>
                  <a:srgbClr val="000000"/>
                </a:solidFill>
                <a:latin typeface="Arial"/>
                <a:ea typeface="Arial"/>
                <a:cs typeface="Arial"/>
                <a:sym typeface="Arial"/>
              </a:rPr>
              <a:t>Number of first aid cases</a:t>
            </a:r>
            <a:endParaRPr/>
          </a:p>
          <a:p>
            <a:pPr marL="360000" marR="0" lvl="1" indent="-360000" algn="l" rtl="0">
              <a:lnSpc>
                <a:spcPct val="100000"/>
              </a:lnSpc>
              <a:spcBef>
                <a:spcPts val="0"/>
              </a:spcBef>
              <a:spcAft>
                <a:spcPts val="0"/>
              </a:spcAft>
              <a:buClr>
                <a:srgbClr val="000000"/>
              </a:buClr>
              <a:buSzPts val="2000"/>
              <a:buFont typeface="Noto Sans Symbols"/>
              <a:buChar char="⮚"/>
            </a:pPr>
            <a:r>
              <a:rPr lang="en-US" sz="2000" b="0" i="0" u="none" strike="noStrike" cap="none">
                <a:solidFill>
                  <a:srgbClr val="000000"/>
                </a:solidFill>
                <a:latin typeface="Arial"/>
                <a:ea typeface="Arial"/>
                <a:cs typeface="Arial"/>
                <a:sym typeface="Arial"/>
              </a:rPr>
              <a:t>Number of serious injuries</a:t>
            </a:r>
            <a:endParaRPr sz="2000" b="0" i="0" u="none" strike="noStrike" cap="none">
              <a:solidFill>
                <a:srgbClr val="000000"/>
              </a:solidFill>
              <a:latin typeface="Arial"/>
              <a:ea typeface="Arial"/>
              <a:cs typeface="Arial"/>
              <a:sym typeface="Arial"/>
            </a:endParaRPr>
          </a:p>
          <a:p>
            <a:pPr marL="360000" marR="0" lvl="1" indent="-360000" algn="l" rtl="0">
              <a:lnSpc>
                <a:spcPct val="100000"/>
              </a:lnSpc>
              <a:spcBef>
                <a:spcPts val="0"/>
              </a:spcBef>
              <a:spcAft>
                <a:spcPts val="0"/>
              </a:spcAft>
              <a:buClr>
                <a:srgbClr val="000000"/>
              </a:buClr>
              <a:buSzPts val="2000"/>
              <a:buFont typeface="Noto Sans Symbols"/>
              <a:buChar char="⮚"/>
            </a:pPr>
            <a:r>
              <a:rPr lang="en-US" sz="2000" b="0" i="0" u="none" strike="noStrike" cap="none">
                <a:solidFill>
                  <a:srgbClr val="000000"/>
                </a:solidFill>
                <a:latin typeface="Arial"/>
                <a:ea typeface="Arial"/>
                <a:cs typeface="Arial"/>
                <a:sym typeface="Arial"/>
              </a:rPr>
              <a:t>Number of fatalities</a:t>
            </a:r>
            <a:endParaRPr/>
          </a:p>
          <a:p>
            <a:pPr marL="565350" marR="0" lvl="1" indent="-305000" algn="l" rtl="0">
              <a:lnSpc>
                <a:spcPct val="100000"/>
              </a:lnSpc>
              <a:spcBef>
                <a:spcPts val="0"/>
              </a:spcBef>
              <a:spcAft>
                <a:spcPts val="0"/>
              </a:spcAft>
              <a:buClr>
                <a:srgbClr val="000000"/>
              </a:buClr>
              <a:buSzPts val="2000"/>
              <a:buFont typeface="Noto Sans Symbols"/>
              <a:buNone/>
            </a:pPr>
            <a:endParaRPr sz="2000" b="0" i="0" u="none" strike="noStrike" cap="none">
              <a:solidFill>
                <a:srgbClr val="000000"/>
              </a:solidFill>
              <a:latin typeface="Arial"/>
              <a:ea typeface="Arial"/>
              <a:cs typeface="Arial"/>
              <a:sym typeface="Arial"/>
            </a:endParaRPr>
          </a:p>
        </p:txBody>
      </p:sp>
      <p:sp>
        <p:nvSpPr>
          <p:cNvPr id="78" name="Google Shape;78;p4"/>
          <p:cNvSpPr/>
          <p:nvPr/>
        </p:nvSpPr>
        <p:spPr>
          <a:xfrm>
            <a:off x="180000" y="180000"/>
            <a:ext cx="8640000" cy="5400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accent2"/>
              </a:buClr>
              <a:buSzPts val="2400"/>
              <a:buFont typeface="Arial"/>
              <a:buNone/>
            </a:pPr>
            <a:r>
              <a:rPr lang="en-US" sz="2400" b="0" i="0" u="none" strike="noStrike" cap="none">
                <a:solidFill>
                  <a:schemeClr val="accent2"/>
                </a:solidFill>
                <a:latin typeface="Arial"/>
                <a:ea typeface="Arial"/>
                <a:cs typeface="Arial"/>
                <a:sym typeface="Arial"/>
              </a:rPr>
              <a:t>Lagging Indicators – General Examples:</a:t>
            </a:r>
            <a:endParaRPr/>
          </a:p>
        </p:txBody>
      </p:sp>
      <p:sp>
        <p:nvSpPr>
          <p:cNvPr id="79" name="Google Shape;79;p4"/>
          <p:cNvSpPr txBox="1"/>
          <p:nvPr/>
        </p:nvSpPr>
        <p:spPr>
          <a:xfrm>
            <a:off x="8280000" y="6300000"/>
            <a:ext cx="533400" cy="2880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Clr>
                <a:srgbClr val="000000"/>
              </a:buClr>
              <a:buSzPts val="1200"/>
              <a:buFont typeface="Noto Sans Symbols"/>
              <a:buNone/>
            </a:pPr>
            <a:fld id="{00000000-1234-1234-1234-123412341234}" type="slidenum">
              <a:rPr lang="en-US" sz="1200" b="1" i="1" u="none" strike="noStrike" cap="none">
                <a:solidFill>
                  <a:srgbClr val="000000"/>
                </a:solidFill>
                <a:latin typeface="Arial"/>
                <a:ea typeface="Arial"/>
                <a:cs typeface="Arial"/>
                <a:sym typeface="Arial"/>
              </a:rPr>
              <a:t>6</a:t>
            </a:fld>
            <a:endParaRPr sz="1200" b="1" i="1" u="none" strike="noStrike" cap="none">
              <a:solidFill>
                <a:srgbClr val="000000"/>
              </a:solidFill>
              <a:latin typeface="Arial"/>
              <a:ea typeface="Arial"/>
              <a:cs typeface="Arial"/>
              <a:sym typeface="Arial"/>
            </a:endParaRPr>
          </a:p>
        </p:txBody>
      </p:sp>
      <p:sp>
        <p:nvSpPr>
          <p:cNvPr id="80" name="Google Shape;80;p4"/>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b="1" i="1" u="none" strike="noStrike" cap="none">
                <a:solidFill>
                  <a:srgbClr val="000000"/>
                </a:solidFill>
                <a:latin typeface="Arial"/>
                <a:ea typeface="Arial"/>
                <a:cs typeface="Arial"/>
                <a:sym typeface="Arial"/>
              </a:rPr>
              <a:t>Chapter 6.2: Safety Metrics, Lagging and Leading Indicators</a:t>
            </a:r>
            <a:endParaRPr sz="1200" b="1" i="1" u="none" strike="noStrike" cap="none">
              <a:solidFill>
                <a:srgbClr val="000000"/>
              </a:solidFill>
              <a:latin typeface="Arial"/>
              <a:ea typeface="Arial"/>
              <a:cs typeface="Arial"/>
              <a:sym typeface="Arial"/>
            </a:endParaRPr>
          </a:p>
        </p:txBody>
      </p:sp>
      <p:pic>
        <p:nvPicPr>
          <p:cNvPr id="81" name="Google Shape;81;p4"/>
          <p:cNvPicPr preferRelativeResize="0"/>
          <p:nvPr/>
        </p:nvPicPr>
        <p:blipFill rotWithShape="1">
          <a:blip r:embed="rId3">
            <a:alphaModFix/>
          </a:blip>
          <a:srcRect/>
          <a:stretch/>
        </p:blipFill>
        <p:spPr>
          <a:xfrm>
            <a:off x="3353620" y="2819400"/>
            <a:ext cx="5436000" cy="3322066"/>
          </a:xfrm>
          <a:prstGeom prst="rect">
            <a:avLst/>
          </a:prstGeom>
          <a:noFill/>
          <a:ln w="9525" cap="flat" cmpd="sng">
            <a:solidFill>
              <a:srgbClr val="FFFFFF"/>
            </a:solidFill>
            <a:prstDash val="solid"/>
            <a:miter lim="800000"/>
            <a:headEnd type="none" w="sm" len="sm"/>
            <a:tailEnd type="none" w="sm" len="sm"/>
          </a:ln>
        </p:spPr>
      </p:pic>
      <p:sp>
        <p:nvSpPr>
          <p:cNvPr id="82" name="Google Shape;82;p4"/>
          <p:cNvSpPr/>
          <p:nvPr/>
        </p:nvSpPr>
        <p:spPr>
          <a:xfrm flipH="1">
            <a:off x="843846" y="3086100"/>
            <a:ext cx="2519020" cy="2209800"/>
          </a:xfrm>
          <a:prstGeom prst="leftUpArrow">
            <a:avLst/>
          </a:prstGeom>
          <a:solidFill>
            <a:srgbClr val="00FF00"/>
          </a:solidFill>
          <a:ln w="254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4"/>
          <p:cNvSpPr txBox="1"/>
          <p:nvPr/>
        </p:nvSpPr>
        <p:spPr>
          <a:xfrm rot="5400000" flipH="1">
            <a:off x="1965222" y="3898278"/>
            <a:ext cx="552450" cy="1690345"/>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endParaRPr sz="1800" b="1" i="0" u="none" strike="noStrike" cap="none">
              <a:solidFill>
                <a:schemeClr val="dk1"/>
              </a:solidFill>
              <a:latin typeface="Arial"/>
              <a:ea typeface="Arial"/>
              <a:cs typeface="Arial"/>
              <a:sym typeface="Arial"/>
            </a:endParaRPr>
          </a:p>
        </p:txBody>
      </p:sp>
      <p:sp>
        <p:nvSpPr>
          <p:cNvPr id="84" name="Google Shape;84;p4"/>
          <p:cNvSpPr txBox="1"/>
          <p:nvPr/>
        </p:nvSpPr>
        <p:spPr>
          <a:xfrm>
            <a:off x="855508" y="4290616"/>
            <a:ext cx="2135810" cy="92333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b="1" i="0" u="none" strike="noStrike" cap="none">
                <a:solidFill>
                  <a:schemeClr val="dk1"/>
                </a:solidFill>
                <a:latin typeface="Arial"/>
                <a:ea typeface="Arial"/>
                <a:cs typeface="Arial"/>
                <a:sym typeface="Arial"/>
              </a:rPr>
              <a:t>Metrics derived from The Incident </a:t>
            </a:r>
            <a:br>
              <a:rPr lang="en-US" sz="1800" b="1" i="0" u="none" strike="noStrike" cap="none">
                <a:solidFill>
                  <a:schemeClr val="dk1"/>
                </a:solidFill>
                <a:latin typeface="Arial"/>
                <a:ea typeface="Arial"/>
                <a:cs typeface="Arial"/>
                <a:sym typeface="Arial"/>
              </a:rPr>
            </a:br>
            <a:r>
              <a:rPr lang="en-US" sz="1800" b="1" i="0" u="none" strike="noStrike" cap="none">
                <a:solidFill>
                  <a:schemeClr val="dk1"/>
                </a:solidFill>
                <a:latin typeface="Arial"/>
                <a:ea typeface="Arial"/>
                <a:cs typeface="Arial"/>
                <a:sym typeface="Arial"/>
              </a:rPr>
              <a:t>Pyramid</a:t>
            </a:r>
            <a:endParaRPr sz="1800" b="1" i="0" u="none" strike="noStrike" cap="none">
              <a:solidFill>
                <a:schemeClr val="dk1"/>
              </a:solidFill>
              <a:latin typeface="Arial"/>
              <a:ea typeface="Arial"/>
              <a:cs typeface="Arial"/>
              <a:sym typeface="Arial"/>
            </a:endParaRPr>
          </a:p>
        </p:txBody>
      </p:sp>
      <p:sp>
        <p:nvSpPr>
          <p:cNvPr id="85" name="Google Shape;85;p4"/>
          <p:cNvSpPr txBox="1"/>
          <p:nvPr/>
        </p:nvSpPr>
        <p:spPr>
          <a:xfrm>
            <a:off x="4127100" y="1967514"/>
            <a:ext cx="4419600" cy="707886"/>
          </a:xfrm>
          <a:prstGeom prst="rect">
            <a:avLst/>
          </a:prstGeom>
          <a:solidFill>
            <a:srgbClr val="FFFF00"/>
          </a:solid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b="1" i="1" u="none" strike="noStrike" cap="none">
                <a:solidFill>
                  <a:schemeClr val="dk1"/>
                </a:solidFill>
                <a:latin typeface="Arial"/>
                <a:ea typeface="Arial"/>
                <a:cs typeface="Arial"/>
                <a:sym typeface="Arial"/>
              </a:rPr>
              <a:t>In other words, something bad happened to create the data point!</a:t>
            </a:r>
            <a:endParaRPr sz="2000" b="1" i="1" u="none" strike="noStrike" cap="none">
              <a:solidFill>
                <a:schemeClr val="dk1"/>
              </a:solidFill>
              <a:latin typeface="Arial"/>
              <a:ea typeface="Arial"/>
              <a:cs typeface="Arial"/>
              <a:sym typeface="Arial"/>
            </a:endParaRPr>
          </a:p>
        </p:txBody>
      </p:sp>
      <p:cxnSp>
        <p:nvCxnSpPr>
          <p:cNvPr id="86" name="Google Shape;86;p4"/>
          <p:cNvCxnSpPr/>
          <p:nvPr/>
        </p:nvCxnSpPr>
        <p:spPr>
          <a:xfrm>
            <a:off x="3352800" y="4960714"/>
            <a:ext cx="5436000" cy="0"/>
          </a:xfrm>
          <a:prstGeom prst="straightConnector1">
            <a:avLst/>
          </a:prstGeom>
          <a:noFill/>
          <a:ln w="57150" cap="flat" cmpd="sng">
            <a:solidFill>
              <a:schemeClr val="dk1"/>
            </a:solidFill>
            <a:prstDash val="solid"/>
            <a:round/>
            <a:headEnd type="none" w="sm" len="sm"/>
            <a:tailEnd type="none" w="sm" len="sm"/>
          </a:ln>
        </p:spPr>
      </p:cxnSp>
      <p:sp>
        <p:nvSpPr>
          <p:cNvPr id="87" name="Google Shape;87;p4"/>
          <p:cNvSpPr/>
          <p:nvPr/>
        </p:nvSpPr>
        <p:spPr>
          <a:xfrm>
            <a:off x="3581400" y="4543847"/>
            <a:ext cx="545700" cy="416868"/>
          </a:xfrm>
          <a:prstGeom prst="upArrow">
            <a:avLst>
              <a:gd name="adj1" fmla="val 50000"/>
              <a:gd name="adj2" fmla="val 50000"/>
            </a:avLst>
          </a:prstGeom>
          <a:solidFill>
            <a:schemeClr val="dk1"/>
          </a:solid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1" i="0" u="none" strike="noStrike" cap="none">
              <a:solidFill>
                <a:schemeClr val="lt1"/>
              </a:solidFill>
              <a:latin typeface="Arial"/>
              <a:ea typeface="Arial"/>
              <a:cs typeface="Arial"/>
              <a:sym typeface="Arial"/>
            </a:endParaRPr>
          </a:p>
        </p:txBody>
      </p:sp>
      <p:sp>
        <p:nvSpPr>
          <p:cNvPr id="88" name="Google Shape;88;p4"/>
          <p:cNvSpPr txBox="1"/>
          <p:nvPr/>
        </p:nvSpPr>
        <p:spPr>
          <a:xfrm>
            <a:off x="3323240" y="4191000"/>
            <a:ext cx="1066800"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b="1" i="0" u="none" strike="noStrike" cap="none">
                <a:solidFill>
                  <a:schemeClr val="dk1"/>
                </a:solidFill>
                <a:latin typeface="Arial"/>
                <a:ea typeface="Arial"/>
                <a:cs typeface="Arial"/>
                <a:sym typeface="Arial"/>
              </a:rPr>
              <a:t>WITH</a:t>
            </a:r>
            <a:endParaRPr sz="1800" b="1" i="0" u="none" strike="noStrike" cap="none">
              <a:solidFill>
                <a:schemeClr val="dk1"/>
              </a:solidFill>
              <a:latin typeface="Arial"/>
              <a:ea typeface="Arial"/>
              <a:cs typeface="Arial"/>
              <a:sym typeface="Arial"/>
            </a:endParaRPr>
          </a:p>
        </p:txBody>
      </p:sp>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5"/>
          <p:cNvSpPr txBox="1">
            <a:spLocks noGrp="1"/>
          </p:cNvSpPr>
          <p:nvPr>
            <p:ph type="title"/>
          </p:nvPr>
        </p:nvSpPr>
        <p:spPr>
          <a:xfrm>
            <a:off x="180000" y="180000"/>
            <a:ext cx="8640000" cy="540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accent2"/>
              </a:buClr>
              <a:buSzPts val="2400"/>
              <a:buFont typeface="Arial"/>
              <a:buNone/>
            </a:pPr>
            <a:r>
              <a:rPr lang="en-US" sz="2400" b="0">
                <a:latin typeface="Arial"/>
                <a:ea typeface="Arial"/>
                <a:cs typeface="Arial"/>
                <a:sym typeface="Arial"/>
              </a:rPr>
              <a:t>Lagging Indicators – Specific Definitions:</a:t>
            </a:r>
            <a:endParaRPr sz="2400" b="0">
              <a:latin typeface="Arial"/>
              <a:ea typeface="Arial"/>
              <a:cs typeface="Arial"/>
              <a:sym typeface="Arial"/>
            </a:endParaRPr>
          </a:p>
        </p:txBody>
      </p:sp>
      <p:sp>
        <p:nvSpPr>
          <p:cNvPr id="97" name="Google Shape;97;p5"/>
          <p:cNvSpPr txBox="1">
            <a:spLocks noGrp="1"/>
          </p:cNvSpPr>
          <p:nvPr>
            <p:ph type="body" idx="1"/>
          </p:nvPr>
        </p:nvSpPr>
        <p:spPr>
          <a:xfrm>
            <a:off x="180000" y="828000"/>
            <a:ext cx="8640000" cy="532800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000000"/>
              </a:buClr>
              <a:buSzPts val="1800"/>
              <a:buFont typeface="Noto Sans Symbols"/>
              <a:buNone/>
            </a:pPr>
            <a:r>
              <a:rPr lang="en-US" sz="1800" b="1" i="0" u="none" strike="noStrike" cap="none">
                <a:solidFill>
                  <a:srgbClr val="000000"/>
                </a:solidFill>
                <a:latin typeface="Arial"/>
                <a:ea typeface="Arial"/>
                <a:cs typeface="Arial"/>
                <a:sym typeface="Arial"/>
              </a:rPr>
              <a:t>Fatal Accident Rate (FAR) – UK</a:t>
            </a:r>
            <a:endParaRPr/>
          </a:p>
          <a:p>
            <a:pPr marL="360000" marR="0" lvl="1" indent="-360000" algn="l" rtl="0">
              <a:lnSpc>
                <a:spcPct val="90000"/>
              </a:lnSpc>
              <a:spcBef>
                <a:spcPts val="0"/>
              </a:spcBef>
              <a:spcAft>
                <a:spcPts val="0"/>
              </a:spcAft>
              <a:buClr>
                <a:srgbClr val="000000"/>
              </a:buClr>
              <a:buSzPts val="1600"/>
              <a:buFont typeface="Noto Sans Symbols"/>
              <a:buChar char="⮚"/>
            </a:pPr>
            <a:r>
              <a:rPr lang="en-US" sz="1600" b="0" i="0" u="none" strike="noStrike" cap="none">
                <a:solidFill>
                  <a:srgbClr val="000000"/>
                </a:solidFill>
                <a:latin typeface="Arial"/>
                <a:ea typeface="Arial"/>
                <a:cs typeface="Arial"/>
                <a:sym typeface="Arial"/>
              </a:rPr>
              <a:t>Fatality: a worker was killed on-the-job or due to a chronic work-related illness e.g. cancer, asbestosis, silicosis.</a:t>
            </a:r>
            <a:endParaRPr/>
          </a:p>
          <a:p>
            <a:pPr marL="0" marR="0" lvl="0" indent="0" algn="l" rtl="0">
              <a:lnSpc>
                <a:spcPct val="90000"/>
              </a:lnSpc>
              <a:spcBef>
                <a:spcPts val="0"/>
              </a:spcBef>
              <a:spcAft>
                <a:spcPts val="0"/>
              </a:spcAft>
              <a:buClr>
                <a:srgbClr val="000000"/>
              </a:buClr>
              <a:buSzPts val="1800"/>
              <a:buFont typeface="Arial"/>
              <a:buNone/>
            </a:pPr>
            <a:endParaRPr sz="1800" b="1" i="0" u="none" strike="noStrike" cap="none">
              <a:solidFill>
                <a:srgbClr val="000000"/>
              </a:solidFill>
              <a:latin typeface="Arial"/>
              <a:ea typeface="Arial"/>
              <a:cs typeface="Arial"/>
              <a:sym typeface="Arial"/>
            </a:endParaRPr>
          </a:p>
          <a:p>
            <a:pPr marL="0" marR="0" lvl="0" indent="0" algn="l" rtl="0">
              <a:lnSpc>
                <a:spcPct val="90000"/>
              </a:lnSpc>
              <a:spcBef>
                <a:spcPts val="0"/>
              </a:spcBef>
              <a:spcAft>
                <a:spcPts val="0"/>
              </a:spcAft>
              <a:buClr>
                <a:srgbClr val="000000"/>
              </a:buClr>
              <a:buSzPts val="1800"/>
              <a:buFont typeface="Arial"/>
              <a:buNone/>
            </a:pPr>
            <a:r>
              <a:rPr lang="en-US" sz="1800" b="1" i="0" u="none" strike="noStrike" cap="none">
                <a:solidFill>
                  <a:srgbClr val="000000"/>
                </a:solidFill>
                <a:latin typeface="Arial"/>
                <a:ea typeface="Arial"/>
                <a:cs typeface="Arial"/>
                <a:sym typeface="Arial"/>
              </a:rPr>
              <a:t>Lost Time Incident Rate (LTIR) – USA </a:t>
            </a:r>
            <a:endParaRPr/>
          </a:p>
          <a:p>
            <a:pPr marL="360000" marR="0" lvl="1" indent="-360000" algn="l" rtl="0">
              <a:lnSpc>
                <a:spcPct val="90000"/>
              </a:lnSpc>
              <a:spcBef>
                <a:spcPts val="0"/>
              </a:spcBef>
              <a:spcAft>
                <a:spcPts val="0"/>
              </a:spcAft>
              <a:buClr>
                <a:srgbClr val="000000"/>
              </a:buClr>
              <a:buSzPts val="1800"/>
              <a:buFont typeface="Noto Sans Symbols"/>
              <a:buChar char="⮚"/>
            </a:pPr>
            <a:r>
              <a:rPr lang="en-US" sz="1800" b="0" i="0" u="none" strike="noStrike" cap="none">
                <a:solidFill>
                  <a:srgbClr val="000000"/>
                </a:solidFill>
                <a:latin typeface="Arial"/>
                <a:ea typeface="Arial"/>
                <a:cs typeface="Arial"/>
                <a:sym typeface="Arial"/>
              </a:rPr>
              <a:t>Lost time incidents: Injury incidents where medical treatment is given and results in days-away-from-work for the injured employee. </a:t>
            </a:r>
            <a:endParaRPr/>
          </a:p>
          <a:p>
            <a:pPr marL="360000" marR="0" lvl="1" indent="-245700" algn="l" rtl="0">
              <a:lnSpc>
                <a:spcPct val="90000"/>
              </a:lnSpc>
              <a:spcBef>
                <a:spcPts val="0"/>
              </a:spcBef>
              <a:spcAft>
                <a:spcPts val="0"/>
              </a:spcAft>
              <a:buClr>
                <a:srgbClr val="000000"/>
              </a:buClr>
              <a:buSzPts val="1800"/>
              <a:buFont typeface="Noto Sans Symbols"/>
              <a:buNone/>
            </a:pPr>
            <a:endParaRPr sz="1800" b="0" i="0" u="none" strike="noStrike" cap="none">
              <a:solidFill>
                <a:srgbClr val="000000"/>
              </a:solidFill>
              <a:latin typeface="Arial"/>
              <a:ea typeface="Arial"/>
              <a:cs typeface="Arial"/>
              <a:sym typeface="Arial"/>
            </a:endParaRPr>
          </a:p>
          <a:p>
            <a:pPr marL="0" marR="0" lvl="0" indent="0" algn="l" rtl="0">
              <a:lnSpc>
                <a:spcPct val="90000"/>
              </a:lnSpc>
              <a:spcBef>
                <a:spcPts val="0"/>
              </a:spcBef>
              <a:spcAft>
                <a:spcPts val="0"/>
              </a:spcAft>
              <a:buClr>
                <a:srgbClr val="000000"/>
              </a:buClr>
              <a:buSzPts val="1800"/>
              <a:buFont typeface="Arial"/>
              <a:buNone/>
            </a:pPr>
            <a:r>
              <a:rPr lang="en-US" sz="1800" b="1" i="0" u="none" strike="noStrike" cap="none">
                <a:solidFill>
                  <a:srgbClr val="000000"/>
                </a:solidFill>
                <a:latin typeface="Arial"/>
                <a:ea typeface="Arial"/>
                <a:cs typeface="Arial"/>
                <a:sym typeface="Arial"/>
              </a:rPr>
              <a:t>Total Recordable Incident Rate (TRIR) – USA</a:t>
            </a:r>
            <a:endParaRPr/>
          </a:p>
          <a:p>
            <a:pPr marL="360000" marR="0" lvl="1" indent="-360000" algn="l" rtl="0">
              <a:lnSpc>
                <a:spcPct val="90000"/>
              </a:lnSpc>
              <a:spcBef>
                <a:spcPts val="0"/>
              </a:spcBef>
              <a:spcAft>
                <a:spcPts val="0"/>
              </a:spcAft>
              <a:buClr>
                <a:srgbClr val="000000"/>
              </a:buClr>
              <a:buSzPts val="1800"/>
              <a:buFont typeface="Noto Sans Symbols"/>
              <a:buChar char="⮚"/>
            </a:pPr>
            <a:r>
              <a:rPr lang="en-US" sz="1800" b="0" i="0" u="none" strike="noStrike" cap="none">
                <a:solidFill>
                  <a:srgbClr val="000000"/>
                </a:solidFill>
                <a:latin typeface="Arial"/>
                <a:ea typeface="Arial"/>
                <a:cs typeface="Arial"/>
                <a:sym typeface="Arial"/>
              </a:rPr>
              <a:t>Recordable incidents: fatalities; hospitalizations; injuries and illnesses that lead to medical treatment beyond first aid aka days-away-from-work cases, restricted-work cases, or job-transfer-due-to-injury cases</a:t>
            </a:r>
            <a:endParaRPr/>
          </a:p>
          <a:p>
            <a:pPr marL="360000" marR="0" lvl="1" indent="-360000" algn="l" rtl="0">
              <a:lnSpc>
                <a:spcPct val="90000"/>
              </a:lnSpc>
              <a:spcBef>
                <a:spcPts val="0"/>
              </a:spcBef>
              <a:spcAft>
                <a:spcPts val="0"/>
              </a:spcAft>
              <a:buClr>
                <a:srgbClr val="000000"/>
              </a:buClr>
              <a:buSzPts val="1800"/>
              <a:buFont typeface="Noto Sans Symbols"/>
              <a:buChar char="⮚"/>
            </a:pPr>
            <a:r>
              <a:rPr lang="en-US" sz="1800" b="0" i="0" u="none" strike="noStrike" cap="none">
                <a:solidFill>
                  <a:srgbClr val="000000"/>
                </a:solidFill>
                <a:latin typeface="Arial"/>
                <a:ea typeface="Arial"/>
                <a:cs typeface="Arial"/>
                <a:sym typeface="Arial"/>
              </a:rPr>
              <a:t>TRIR includes LTIR</a:t>
            </a:r>
            <a:endParaRPr sz="1800" b="0" i="0" u="none" strike="noStrike" cap="none">
              <a:solidFill>
                <a:srgbClr val="000000"/>
              </a:solidFill>
              <a:latin typeface="Arial"/>
              <a:ea typeface="Arial"/>
              <a:cs typeface="Arial"/>
              <a:sym typeface="Arial"/>
            </a:endParaRPr>
          </a:p>
          <a:p>
            <a:pPr marL="0" marR="0" lvl="1" indent="0" algn="l" rtl="0">
              <a:lnSpc>
                <a:spcPct val="90000"/>
              </a:lnSpc>
              <a:spcBef>
                <a:spcPts val="0"/>
              </a:spcBef>
              <a:spcAft>
                <a:spcPts val="0"/>
              </a:spcAft>
              <a:buClr>
                <a:srgbClr val="000000"/>
              </a:buClr>
              <a:buSzPts val="1400"/>
              <a:buFont typeface="Noto Sans Symbols"/>
              <a:buNone/>
            </a:pPr>
            <a:r>
              <a:rPr lang="en-US" sz="1400" b="0" i="1" u="none" strike="noStrike" cap="none">
                <a:solidFill>
                  <a:srgbClr val="FF0000"/>
                </a:solidFill>
                <a:latin typeface="Arial"/>
                <a:ea typeface="Arial"/>
                <a:cs typeface="Arial"/>
                <a:sym typeface="Arial"/>
              </a:rPr>
              <a:t>(see Topic #9 Chapter 2.1:Why is Risk Management Important? for an example on how to calculate an IR)</a:t>
            </a:r>
            <a:endParaRPr sz="1400" b="0" i="1" u="none" strike="noStrike" cap="none">
              <a:solidFill>
                <a:srgbClr val="FF0000"/>
              </a:solidFill>
              <a:latin typeface="Arial"/>
              <a:ea typeface="Arial"/>
              <a:cs typeface="Arial"/>
              <a:sym typeface="Arial"/>
            </a:endParaRPr>
          </a:p>
          <a:p>
            <a:pPr marL="0" marR="0" lvl="1" indent="0" algn="l" rtl="0">
              <a:lnSpc>
                <a:spcPct val="90000"/>
              </a:lnSpc>
              <a:spcBef>
                <a:spcPts val="0"/>
              </a:spcBef>
              <a:spcAft>
                <a:spcPts val="0"/>
              </a:spcAft>
              <a:buClr>
                <a:srgbClr val="000000"/>
              </a:buClr>
              <a:buSzPts val="1800"/>
              <a:buFont typeface="Noto Sans Symbols"/>
              <a:buNone/>
            </a:pPr>
            <a:endParaRPr sz="1800" b="1" i="1" u="none" strike="noStrike" cap="none">
              <a:solidFill>
                <a:srgbClr val="000000"/>
              </a:solidFill>
              <a:latin typeface="Arial"/>
              <a:ea typeface="Arial"/>
              <a:cs typeface="Arial"/>
              <a:sym typeface="Arial"/>
            </a:endParaRPr>
          </a:p>
          <a:p>
            <a:pPr marL="0" marR="0" lvl="1" indent="0" algn="l" rtl="0">
              <a:lnSpc>
                <a:spcPct val="90000"/>
              </a:lnSpc>
              <a:spcBef>
                <a:spcPts val="0"/>
              </a:spcBef>
              <a:spcAft>
                <a:spcPts val="0"/>
              </a:spcAft>
              <a:buClr>
                <a:srgbClr val="000000"/>
              </a:buClr>
              <a:buSzPts val="1800"/>
              <a:buFont typeface="Noto Sans Symbols"/>
              <a:buNone/>
            </a:pPr>
            <a:r>
              <a:rPr lang="en-US" sz="1800" b="1" i="1" u="none" strike="noStrike" cap="none">
                <a:solidFill>
                  <a:srgbClr val="000000"/>
                </a:solidFill>
                <a:latin typeface="Arial"/>
                <a:ea typeface="Arial"/>
                <a:cs typeface="Arial"/>
                <a:sym typeface="Arial"/>
              </a:rPr>
              <a:t>For purposes of this course, LTIR and TRIR are the same, and can be referred to as “Injury Frequency Rate” (IFR). Recall:</a:t>
            </a:r>
            <a:endParaRPr/>
          </a:p>
          <a:p>
            <a:pPr marL="0" marR="0" lvl="1" indent="0" algn="l" rtl="0">
              <a:lnSpc>
                <a:spcPct val="90000"/>
              </a:lnSpc>
              <a:spcBef>
                <a:spcPts val="0"/>
              </a:spcBef>
              <a:spcAft>
                <a:spcPts val="0"/>
              </a:spcAft>
              <a:buClr>
                <a:srgbClr val="000000"/>
              </a:buClr>
              <a:buSzPts val="1800"/>
              <a:buFont typeface="Noto Sans Symbols"/>
              <a:buNone/>
            </a:pPr>
            <a:r>
              <a:rPr lang="en-US" sz="1800" b="1" i="0" u="none" strike="noStrike" cap="none">
                <a:solidFill>
                  <a:srgbClr val="000000"/>
                </a:solidFill>
                <a:latin typeface="Arial"/>
                <a:ea typeface="Arial"/>
                <a:cs typeface="Arial"/>
                <a:sym typeface="Arial"/>
              </a:rPr>
              <a:t>IFR = (number of injuries x 200,000 hours) / (Total exposure hours) </a:t>
            </a:r>
            <a:endParaRPr/>
          </a:p>
          <a:p>
            <a:pPr marL="0" marR="0" lvl="1" indent="0" algn="l" rtl="0">
              <a:lnSpc>
                <a:spcPct val="90000"/>
              </a:lnSpc>
              <a:spcBef>
                <a:spcPts val="0"/>
              </a:spcBef>
              <a:spcAft>
                <a:spcPts val="0"/>
              </a:spcAft>
              <a:buClr>
                <a:srgbClr val="000000"/>
              </a:buClr>
              <a:buSzPts val="1800"/>
              <a:buFont typeface="Noto Sans Symbols"/>
              <a:buNone/>
            </a:pPr>
            <a:endParaRPr sz="1800" b="0" i="1" u="none" strike="noStrike" cap="none">
              <a:solidFill>
                <a:srgbClr val="000000"/>
              </a:solidFill>
              <a:latin typeface="Arial"/>
              <a:ea typeface="Arial"/>
              <a:cs typeface="Arial"/>
              <a:sym typeface="Arial"/>
            </a:endParaRPr>
          </a:p>
          <a:p>
            <a:pPr marL="0" marR="0" lvl="1" indent="0" algn="l" rtl="0">
              <a:lnSpc>
                <a:spcPct val="90000"/>
              </a:lnSpc>
              <a:spcBef>
                <a:spcPts val="0"/>
              </a:spcBef>
              <a:spcAft>
                <a:spcPts val="0"/>
              </a:spcAft>
              <a:buClr>
                <a:srgbClr val="000000"/>
              </a:buClr>
              <a:buSzPts val="1800"/>
              <a:buFont typeface="Noto Sans Symbols"/>
              <a:buNone/>
            </a:pPr>
            <a:r>
              <a:rPr lang="en-US" sz="1800" b="0" i="1" u="none" strike="noStrike" cap="none">
                <a:solidFill>
                  <a:srgbClr val="000000"/>
                </a:solidFill>
                <a:latin typeface="Arial"/>
                <a:ea typeface="Arial"/>
                <a:cs typeface="Arial"/>
                <a:sym typeface="Arial"/>
              </a:rPr>
              <a:t>There is no national roll-up statistic for Canada – each province tracks, usually as “Lost Time injury (or Incident) Rate” per provincial Workers’ Compensation Boards.</a:t>
            </a:r>
            <a:endParaRPr/>
          </a:p>
          <a:p>
            <a:pPr marL="0" marR="0" lvl="1" indent="0" algn="l" rtl="0">
              <a:lnSpc>
                <a:spcPct val="90000"/>
              </a:lnSpc>
              <a:spcBef>
                <a:spcPts val="0"/>
              </a:spcBef>
              <a:spcAft>
                <a:spcPts val="0"/>
              </a:spcAft>
              <a:buClr>
                <a:srgbClr val="000000"/>
              </a:buClr>
              <a:buSzPts val="1800"/>
              <a:buFont typeface="Noto Sans Symbols"/>
              <a:buNone/>
            </a:pPr>
            <a:endParaRPr sz="1800" b="1" i="1" u="none" strike="noStrike" cap="none">
              <a:solidFill>
                <a:srgbClr val="000000"/>
              </a:solidFill>
              <a:latin typeface="Arial"/>
              <a:ea typeface="Arial"/>
              <a:cs typeface="Arial"/>
              <a:sym typeface="Arial"/>
            </a:endParaRPr>
          </a:p>
          <a:p>
            <a:pPr marL="0" marR="0" lvl="1" indent="0" algn="l" rtl="0">
              <a:lnSpc>
                <a:spcPct val="90000"/>
              </a:lnSpc>
              <a:spcBef>
                <a:spcPts val="0"/>
              </a:spcBef>
              <a:spcAft>
                <a:spcPts val="0"/>
              </a:spcAft>
              <a:buClr>
                <a:srgbClr val="000000"/>
              </a:buClr>
              <a:buSzPts val="1800"/>
              <a:buFont typeface="Noto Sans Symbols"/>
              <a:buNone/>
            </a:pPr>
            <a:endParaRPr sz="1800" b="1" i="1" u="none" strike="noStrike" cap="none">
              <a:solidFill>
                <a:srgbClr val="000000"/>
              </a:solidFill>
              <a:latin typeface="Arial"/>
              <a:ea typeface="Arial"/>
              <a:cs typeface="Arial"/>
              <a:sym typeface="Arial"/>
            </a:endParaRPr>
          </a:p>
        </p:txBody>
      </p:sp>
      <p:sp>
        <p:nvSpPr>
          <p:cNvPr id="98" name="Google Shape;98;p5"/>
          <p:cNvSpPr txBox="1"/>
          <p:nvPr/>
        </p:nvSpPr>
        <p:spPr>
          <a:xfrm>
            <a:off x="8280000" y="6300000"/>
            <a:ext cx="533400" cy="2880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Clr>
                <a:srgbClr val="000000"/>
              </a:buClr>
              <a:buSzPts val="1200"/>
              <a:buFont typeface="Noto Sans Symbols"/>
              <a:buNone/>
            </a:pPr>
            <a:fld id="{00000000-1234-1234-1234-123412341234}" type="slidenum">
              <a:rPr lang="en-US" sz="1200" b="1" i="1" u="none" strike="noStrike" cap="none">
                <a:solidFill>
                  <a:srgbClr val="000000"/>
                </a:solidFill>
                <a:latin typeface="Arial"/>
                <a:ea typeface="Arial"/>
                <a:cs typeface="Arial"/>
                <a:sym typeface="Arial"/>
              </a:rPr>
              <a:t>7</a:t>
            </a:fld>
            <a:endParaRPr sz="1200" b="1" i="1" u="none" strike="noStrike" cap="none">
              <a:solidFill>
                <a:srgbClr val="000000"/>
              </a:solidFill>
              <a:latin typeface="Arial"/>
              <a:ea typeface="Arial"/>
              <a:cs typeface="Arial"/>
              <a:sym typeface="Arial"/>
            </a:endParaRPr>
          </a:p>
        </p:txBody>
      </p:sp>
      <p:sp>
        <p:nvSpPr>
          <p:cNvPr id="99" name="Google Shape;99;p5"/>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b="1" i="1" u="none" strike="noStrike" cap="none">
                <a:solidFill>
                  <a:srgbClr val="000000"/>
                </a:solidFill>
                <a:latin typeface="Arial"/>
                <a:ea typeface="Arial"/>
                <a:cs typeface="Arial"/>
                <a:sym typeface="Arial"/>
              </a:rPr>
              <a:t>Chapter 6.2: Safety Metrics, Lagging and Leading Indicators</a:t>
            </a:r>
            <a:endParaRPr sz="1200" b="1" i="1" u="none" strike="noStrike" cap="non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6"/>
          <p:cNvSpPr/>
          <p:nvPr/>
        </p:nvSpPr>
        <p:spPr>
          <a:xfrm>
            <a:off x="180000" y="828000"/>
            <a:ext cx="8640000" cy="5328000"/>
          </a:xfrm>
          <a:prstGeom prst="rect">
            <a:avLst/>
          </a:prstGeom>
          <a:noFill/>
          <a:ln>
            <a:noFill/>
          </a:ln>
        </p:spPr>
        <p:txBody>
          <a:bodyPr spcFirstLastPara="1" wrap="square" lIns="91425" tIns="45700" rIns="91425" bIns="45700" anchor="t" anchorCtr="0">
            <a:noAutofit/>
          </a:bodyPr>
          <a:lstStyle/>
          <a:p>
            <a:pPr marL="360000" marR="0" lvl="0" indent="-360000" algn="l" rtl="0">
              <a:lnSpc>
                <a:spcPct val="100000"/>
              </a:lnSpc>
              <a:spcBef>
                <a:spcPts val="0"/>
              </a:spcBef>
              <a:spcAft>
                <a:spcPts val="0"/>
              </a:spcAft>
              <a:buClr>
                <a:srgbClr val="000000"/>
              </a:buClr>
              <a:buSzPts val="2000"/>
              <a:buFont typeface="Arial"/>
              <a:buNone/>
            </a:pPr>
            <a:r>
              <a:rPr lang="en-US" sz="2000" b="1" i="0" u="none" strike="noStrike" cap="none">
                <a:solidFill>
                  <a:srgbClr val="000000"/>
                </a:solidFill>
                <a:latin typeface="Arial"/>
                <a:ea typeface="Arial"/>
                <a:cs typeface="Arial"/>
                <a:sym typeface="Arial"/>
              </a:rPr>
              <a:t>Challenges and limitations with using lagging indicators include:</a:t>
            </a:r>
            <a:endParaRPr sz="2000" b="1" i="0" u="none" strike="noStrike" cap="none">
              <a:solidFill>
                <a:srgbClr val="000000"/>
              </a:solidFill>
              <a:latin typeface="Arial"/>
              <a:ea typeface="Arial"/>
              <a:cs typeface="Arial"/>
              <a:sym typeface="Arial"/>
            </a:endParaRPr>
          </a:p>
          <a:p>
            <a:pPr marL="360000" marR="0" lvl="0" indent="-360000" algn="l" rtl="0">
              <a:lnSpc>
                <a:spcPct val="100000"/>
              </a:lnSpc>
              <a:spcBef>
                <a:spcPts val="0"/>
              </a:spcBef>
              <a:spcAft>
                <a:spcPts val="0"/>
              </a:spcAft>
              <a:buClr>
                <a:srgbClr val="000000"/>
              </a:buClr>
              <a:buSzPts val="2000"/>
              <a:buFont typeface="Noto Sans Symbols"/>
              <a:buChar char="⮚"/>
            </a:pPr>
            <a:r>
              <a:rPr lang="en-US" sz="2000" b="0" i="0" u="none" strike="noStrike" cap="none">
                <a:solidFill>
                  <a:srgbClr val="000000"/>
                </a:solidFill>
                <a:latin typeface="Arial"/>
                <a:ea typeface="Arial"/>
                <a:cs typeface="Arial"/>
                <a:sym typeface="Arial"/>
              </a:rPr>
              <a:t>Tends to be an over-emphasis on occupational injuries.</a:t>
            </a:r>
            <a:endParaRPr/>
          </a:p>
          <a:p>
            <a:pPr marL="360000" marR="0" lvl="0" indent="-360000" algn="l" rtl="0">
              <a:lnSpc>
                <a:spcPct val="100000"/>
              </a:lnSpc>
              <a:spcBef>
                <a:spcPts val="0"/>
              </a:spcBef>
              <a:spcAft>
                <a:spcPts val="0"/>
              </a:spcAft>
              <a:buClr>
                <a:srgbClr val="000000"/>
              </a:buClr>
              <a:buSzPts val="2000"/>
              <a:buFont typeface="Noto Sans Symbols"/>
              <a:buChar char="⮚"/>
            </a:pPr>
            <a:r>
              <a:rPr lang="en-US" sz="2000" b="0" i="0" u="none" strike="noStrike" cap="none">
                <a:solidFill>
                  <a:srgbClr val="000000"/>
                </a:solidFill>
                <a:latin typeface="Arial"/>
                <a:ea typeface="Arial"/>
                <a:cs typeface="Arial"/>
                <a:sym typeface="Arial"/>
              </a:rPr>
              <a:t>Technical safety is overlooked.</a:t>
            </a:r>
            <a:endParaRPr sz="2000" b="0" i="0" u="none" strike="noStrike" cap="none">
              <a:solidFill>
                <a:srgbClr val="000000"/>
              </a:solidFill>
              <a:latin typeface="Arial"/>
              <a:ea typeface="Arial"/>
              <a:cs typeface="Arial"/>
              <a:sym typeface="Arial"/>
            </a:endParaRPr>
          </a:p>
          <a:p>
            <a:pPr marL="360000" marR="0" lvl="0" indent="-360000" algn="l" rtl="0">
              <a:lnSpc>
                <a:spcPct val="100000"/>
              </a:lnSpc>
              <a:spcBef>
                <a:spcPts val="0"/>
              </a:spcBef>
              <a:spcAft>
                <a:spcPts val="0"/>
              </a:spcAft>
              <a:buClr>
                <a:srgbClr val="000000"/>
              </a:buClr>
              <a:buSzPts val="2000"/>
              <a:buFont typeface="Noto Sans Symbols"/>
              <a:buChar char="⮚"/>
            </a:pPr>
            <a:r>
              <a:rPr lang="en-US" sz="2000" b="0" i="0" u="none" strike="noStrike" cap="none">
                <a:solidFill>
                  <a:srgbClr val="000000"/>
                </a:solidFill>
                <a:latin typeface="Arial"/>
                <a:ea typeface="Arial"/>
                <a:cs typeface="Arial"/>
                <a:sym typeface="Arial"/>
              </a:rPr>
              <a:t>Not all incidents are reported or investigated.</a:t>
            </a:r>
            <a:endParaRPr/>
          </a:p>
          <a:p>
            <a:pPr marL="360000" marR="0" lvl="0" indent="-233000" algn="l" rtl="0">
              <a:lnSpc>
                <a:spcPct val="100000"/>
              </a:lnSpc>
              <a:spcBef>
                <a:spcPts val="0"/>
              </a:spcBef>
              <a:spcAft>
                <a:spcPts val="0"/>
              </a:spcAft>
              <a:buClr>
                <a:srgbClr val="000000"/>
              </a:buClr>
              <a:buSzPts val="2000"/>
              <a:buFont typeface="Noto Sans Symbols"/>
              <a:buNone/>
            </a:pPr>
            <a:endParaRPr sz="2000" b="0" i="0" u="none" strike="noStrike" cap="none">
              <a:solidFill>
                <a:srgbClr val="000000"/>
              </a:solidFill>
              <a:latin typeface="Arial"/>
              <a:ea typeface="Arial"/>
              <a:cs typeface="Arial"/>
              <a:sym typeface="Arial"/>
            </a:endParaRPr>
          </a:p>
          <a:p>
            <a:pPr marL="360000" marR="0" lvl="0" indent="-360000" algn="l" rtl="0">
              <a:lnSpc>
                <a:spcPct val="100000"/>
              </a:lnSpc>
              <a:spcBef>
                <a:spcPts val="0"/>
              </a:spcBef>
              <a:spcAft>
                <a:spcPts val="0"/>
              </a:spcAft>
              <a:buClr>
                <a:srgbClr val="000000"/>
              </a:buClr>
              <a:buSzPts val="2000"/>
              <a:buFont typeface="Noto Sans Symbols"/>
              <a:buChar char="⮚"/>
            </a:pPr>
            <a:r>
              <a:rPr lang="en-US" sz="2000" b="0" i="0" u="none" strike="noStrike" cap="none">
                <a:solidFill>
                  <a:srgbClr val="000000"/>
                </a:solidFill>
                <a:latin typeface="Arial"/>
                <a:ea typeface="Arial"/>
                <a:cs typeface="Arial"/>
                <a:sym typeface="Arial"/>
              </a:rPr>
              <a:t>Negative trends can create “knee-jerk” reactions.</a:t>
            </a:r>
            <a:endParaRPr/>
          </a:p>
          <a:p>
            <a:pPr marL="360000" marR="0" lvl="0" indent="-360000" algn="l" rtl="0">
              <a:lnSpc>
                <a:spcPct val="100000"/>
              </a:lnSpc>
              <a:spcBef>
                <a:spcPts val="0"/>
              </a:spcBef>
              <a:spcAft>
                <a:spcPts val="0"/>
              </a:spcAft>
              <a:buClr>
                <a:srgbClr val="000000"/>
              </a:buClr>
              <a:buSzPts val="2000"/>
              <a:buFont typeface="Noto Sans Symbols"/>
              <a:buChar char="⮚"/>
            </a:pPr>
            <a:r>
              <a:rPr lang="en-US" sz="2000" b="0" i="0" u="none" strike="noStrike" cap="none">
                <a:solidFill>
                  <a:srgbClr val="000000"/>
                </a:solidFill>
                <a:latin typeface="Arial"/>
                <a:ea typeface="Arial"/>
                <a:cs typeface="Arial"/>
                <a:sym typeface="Arial"/>
              </a:rPr>
              <a:t>Positive trends are not appropriately resourced.</a:t>
            </a:r>
            <a:endParaRPr/>
          </a:p>
          <a:p>
            <a:pPr marL="360000" marR="0" lvl="0" indent="-360000" algn="l" rtl="0">
              <a:lnSpc>
                <a:spcPct val="100000"/>
              </a:lnSpc>
              <a:spcBef>
                <a:spcPts val="0"/>
              </a:spcBef>
              <a:spcAft>
                <a:spcPts val="0"/>
              </a:spcAft>
              <a:buClr>
                <a:srgbClr val="000000"/>
              </a:buClr>
              <a:buSzPts val="2000"/>
              <a:buFont typeface="Noto Sans Symbols"/>
              <a:buChar char="⮚"/>
            </a:pPr>
            <a:r>
              <a:rPr lang="en-US" sz="2000" b="0" i="0" u="none" strike="noStrike" cap="none">
                <a:solidFill>
                  <a:srgbClr val="000000"/>
                </a:solidFill>
                <a:latin typeface="Arial"/>
                <a:ea typeface="Arial"/>
                <a:cs typeface="Arial"/>
                <a:sym typeface="Arial"/>
              </a:rPr>
              <a:t>Cannot be used as a means to influence safety culture.</a:t>
            </a:r>
            <a:endParaRPr sz="2000" b="0" i="0" u="none" strike="noStrike" cap="none">
              <a:solidFill>
                <a:srgbClr val="000000"/>
              </a:solidFill>
              <a:latin typeface="Arial"/>
              <a:ea typeface="Arial"/>
              <a:cs typeface="Arial"/>
              <a:sym typeface="Arial"/>
            </a:endParaRPr>
          </a:p>
          <a:p>
            <a:pPr marL="360000" marR="0" lvl="0" indent="-233000" algn="l" rtl="0">
              <a:lnSpc>
                <a:spcPct val="100000"/>
              </a:lnSpc>
              <a:spcBef>
                <a:spcPts val="0"/>
              </a:spcBef>
              <a:spcAft>
                <a:spcPts val="0"/>
              </a:spcAft>
              <a:buClr>
                <a:srgbClr val="000000"/>
              </a:buClr>
              <a:buSzPts val="2000"/>
              <a:buFont typeface="Noto Sans Symbols"/>
              <a:buNone/>
            </a:pPr>
            <a:endParaRPr sz="2000" b="0" i="0" u="none" strike="noStrike" cap="none">
              <a:solidFill>
                <a:srgbClr val="000000"/>
              </a:solidFill>
              <a:latin typeface="Arial"/>
              <a:ea typeface="Arial"/>
              <a:cs typeface="Arial"/>
              <a:sym typeface="Arial"/>
            </a:endParaRPr>
          </a:p>
          <a:p>
            <a:pPr marL="360000" marR="0" lvl="0" indent="-360000" algn="l" rtl="0">
              <a:lnSpc>
                <a:spcPct val="100000"/>
              </a:lnSpc>
              <a:spcBef>
                <a:spcPts val="0"/>
              </a:spcBef>
              <a:spcAft>
                <a:spcPts val="0"/>
              </a:spcAft>
              <a:buClr>
                <a:srgbClr val="000000"/>
              </a:buClr>
              <a:buSzPts val="2000"/>
              <a:buFont typeface="Noto Sans Symbols"/>
              <a:buChar char="⮚"/>
            </a:pPr>
            <a:r>
              <a:rPr lang="en-US" sz="2000" b="0" i="0" u="none" strike="noStrike" cap="none">
                <a:solidFill>
                  <a:srgbClr val="000000"/>
                </a:solidFill>
                <a:latin typeface="Arial"/>
                <a:ea typeface="Arial"/>
                <a:cs typeface="Arial"/>
                <a:sym typeface="Arial"/>
              </a:rPr>
              <a:t>Especially for technical safety incidents, there may be long durations of “positive” performance between events</a:t>
            </a:r>
            <a:endParaRPr/>
          </a:p>
          <a:p>
            <a:pPr marL="720000" marR="0" lvl="1" indent="-359999" algn="l" rtl="0">
              <a:lnSpc>
                <a:spcPct val="100000"/>
              </a:lnSpc>
              <a:spcBef>
                <a:spcPts val="0"/>
              </a:spcBef>
              <a:spcAft>
                <a:spcPts val="0"/>
              </a:spcAft>
              <a:buClr>
                <a:srgbClr val="000000"/>
              </a:buClr>
              <a:buSzPts val="2000"/>
              <a:buFont typeface="Noto Sans Symbols"/>
              <a:buChar char="⮚"/>
            </a:pPr>
            <a:r>
              <a:rPr lang="en-US" sz="2000" b="0" i="0" u="none" strike="noStrike" cap="none">
                <a:solidFill>
                  <a:srgbClr val="000000"/>
                </a:solidFill>
                <a:latin typeface="Arial"/>
                <a:ea typeface="Arial"/>
                <a:cs typeface="Arial"/>
                <a:sym typeface="Arial"/>
              </a:rPr>
              <a:t>“Lull” the organization into a false sense of “security”</a:t>
            </a:r>
            <a:endParaRPr/>
          </a:p>
          <a:p>
            <a:pPr marL="720000" marR="0" lvl="1" indent="-232999" algn="l" rtl="0">
              <a:lnSpc>
                <a:spcPct val="100000"/>
              </a:lnSpc>
              <a:spcBef>
                <a:spcPts val="0"/>
              </a:spcBef>
              <a:spcAft>
                <a:spcPts val="0"/>
              </a:spcAft>
              <a:buClr>
                <a:srgbClr val="000000"/>
              </a:buClr>
              <a:buSzPts val="2000"/>
              <a:buFont typeface="Noto Sans Symbols"/>
              <a:buNone/>
            </a:pPr>
            <a:endParaRPr sz="2000" b="0" i="0" u="none" strike="noStrike" cap="none">
              <a:solidFill>
                <a:srgbClr val="000000"/>
              </a:solidFill>
              <a:latin typeface="Arial"/>
              <a:ea typeface="Arial"/>
              <a:cs typeface="Arial"/>
              <a:sym typeface="Arial"/>
            </a:endParaRPr>
          </a:p>
          <a:p>
            <a:pPr marL="720000" marR="0" lvl="1" indent="-359999" algn="l" rtl="0">
              <a:lnSpc>
                <a:spcPct val="100000"/>
              </a:lnSpc>
              <a:spcBef>
                <a:spcPts val="0"/>
              </a:spcBef>
              <a:spcAft>
                <a:spcPts val="0"/>
              </a:spcAft>
              <a:buClr>
                <a:srgbClr val="000000"/>
              </a:buClr>
              <a:buSzPts val="2000"/>
              <a:buFont typeface="Noto Sans Symbols"/>
              <a:buChar char="⮚"/>
            </a:pPr>
            <a:r>
              <a:rPr lang="en-US" sz="2000" b="0" i="0" u="none" strike="noStrike" cap="none">
                <a:solidFill>
                  <a:srgbClr val="000000"/>
                </a:solidFill>
                <a:latin typeface="Arial"/>
                <a:ea typeface="Arial"/>
                <a:cs typeface="Arial"/>
                <a:sym typeface="Arial"/>
              </a:rPr>
              <a:t>Recall, technical safety incidents are extremely low likelihood with extremely high (catastrophic) consequences. </a:t>
            </a:r>
            <a:endParaRPr sz="1800" b="0" i="0" u="none" strike="noStrike" cap="none">
              <a:solidFill>
                <a:srgbClr val="000000"/>
              </a:solidFill>
              <a:latin typeface="Arial"/>
              <a:ea typeface="Arial"/>
              <a:cs typeface="Arial"/>
              <a:sym typeface="Arial"/>
            </a:endParaRPr>
          </a:p>
        </p:txBody>
      </p:sp>
      <p:sp>
        <p:nvSpPr>
          <p:cNvPr id="106" name="Google Shape;106;p6"/>
          <p:cNvSpPr/>
          <p:nvPr/>
        </p:nvSpPr>
        <p:spPr>
          <a:xfrm>
            <a:off x="180000" y="180000"/>
            <a:ext cx="8640000" cy="5400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accent2"/>
              </a:buClr>
              <a:buSzPts val="2400"/>
              <a:buFont typeface="Arial"/>
              <a:buNone/>
            </a:pPr>
            <a:r>
              <a:rPr lang="en-US" sz="2400" b="0" i="0" u="none" strike="noStrike" cap="none">
                <a:solidFill>
                  <a:schemeClr val="accent2"/>
                </a:solidFill>
                <a:latin typeface="Arial"/>
                <a:ea typeface="Arial"/>
                <a:cs typeface="Arial"/>
                <a:sym typeface="Arial"/>
              </a:rPr>
              <a:t>Lagging Indicators – Challenges and Limitations:</a:t>
            </a:r>
            <a:endParaRPr/>
          </a:p>
        </p:txBody>
      </p:sp>
      <p:sp>
        <p:nvSpPr>
          <p:cNvPr id="107" name="Google Shape;107;p6"/>
          <p:cNvSpPr txBox="1"/>
          <p:nvPr/>
        </p:nvSpPr>
        <p:spPr>
          <a:xfrm>
            <a:off x="8280000" y="6300000"/>
            <a:ext cx="533400" cy="2880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Clr>
                <a:srgbClr val="000000"/>
              </a:buClr>
              <a:buSzPts val="1200"/>
              <a:buFont typeface="Noto Sans Symbols"/>
              <a:buNone/>
            </a:pPr>
            <a:fld id="{00000000-1234-1234-1234-123412341234}" type="slidenum">
              <a:rPr lang="en-US" sz="1200" b="1" i="1" u="none" strike="noStrike" cap="none">
                <a:solidFill>
                  <a:srgbClr val="000000"/>
                </a:solidFill>
                <a:latin typeface="Arial"/>
                <a:ea typeface="Arial"/>
                <a:cs typeface="Arial"/>
                <a:sym typeface="Arial"/>
              </a:rPr>
              <a:t>8</a:t>
            </a:fld>
            <a:endParaRPr sz="1200" b="1" i="1" u="none" strike="noStrike" cap="none">
              <a:solidFill>
                <a:srgbClr val="000000"/>
              </a:solidFill>
              <a:latin typeface="Arial"/>
              <a:ea typeface="Arial"/>
              <a:cs typeface="Arial"/>
              <a:sym typeface="Arial"/>
            </a:endParaRPr>
          </a:p>
        </p:txBody>
      </p:sp>
      <p:sp>
        <p:nvSpPr>
          <p:cNvPr id="108" name="Google Shape;108;p6"/>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b="1" i="1" u="none" strike="noStrike" cap="none">
                <a:solidFill>
                  <a:srgbClr val="000000"/>
                </a:solidFill>
                <a:latin typeface="Arial"/>
                <a:ea typeface="Arial"/>
                <a:cs typeface="Arial"/>
                <a:sym typeface="Arial"/>
              </a:rPr>
              <a:t>Chapter 6.2: Safety Metrics, Lagging and Leading Indicators</a:t>
            </a:r>
            <a:endParaRPr sz="1200" b="1" i="1" u="none" strike="noStrike" cap="none">
              <a:solidFill>
                <a:srgbClr val="000000"/>
              </a:solidFill>
              <a:latin typeface="Arial"/>
              <a:ea typeface="Arial"/>
              <a:cs typeface="Arial"/>
              <a:sym typeface="Arial"/>
            </a:endParaRPr>
          </a:p>
        </p:txBody>
      </p:sp>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7"/>
          <p:cNvSpPr txBox="1">
            <a:spLocks noGrp="1"/>
          </p:cNvSpPr>
          <p:nvPr>
            <p:ph type="title"/>
          </p:nvPr>
        </p:nvSpPr>
        <p:spPr>
          <a:xfrm>
            <a:off x="180000" y="180000"/>
            <a:ext cx="8640000" cy="540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accent2"/>
              </a:buClr>
              <a:buSzPts val="2400"/>
              <a:buFont typeface="Arial"/>
              <a:buNone/>
            </a:pPr>
            <a:r>
              <a:rPr lang="en-US" sz="2400" b="0">
                <a:latin typeface="Arial"/>
                <a:ea typeface="Arial"/>
                <a:cs typeface="Arial"/>
                <a:sym typeface="Arial"/>
              </a:rPr>
              <a:t>Leading Indicators – Examples:</a:t>
            </a:r>
            <a:endParaRPr/>
          </a:p>
        </p:txBody>
      </p:sp>
      <p:sp>
        <p:nvSpPr>
          <p:cNvPr id="115" name="Google Shape;115;p7"/>
          <p:cNvSpPr txBox="1">
            <a:spLocks noGrp="1"/>
          </p:cNvSpPr>
          <p:nvPr>
            <p:ph type="body" idx="1"/>
          </p:nvPr>
        </p:nvSpPr>
        <p:spPr>
          <a:xfrm>
            <a:off x="180000" y="828000"/>
            <a:ext cx="8640000" cy="5328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000000"/>
              </a:buClr>
              <a:buSzPts val="2000"/>
              <a:buFont typeface="Arial"/>
              <a:buNone/>
            </a:pPr>
            <a:r>
              <a:rPr lang="en-US" sz="2000" b="1" i="0" u="none" strike="noStrike" cap="none">
                <a:solidFill>
                  <a:srgbClr val="000000"/>
                </a:solidFill>
                <a:latin typeface="Arial"/>
                <a:ea typeface="Arial"/>
                <a:cs typeface="Arial"/>
                <a:sym typeface="Arial"/>
              </a:rPr>
              <a:t>In contrast,</a:t>
            </a:r>
            <a:r>
              <a:rPr lang="en-US" sz="2000" b="0" i="0" u="none" strike="noStrike" cap="none">
                <a:solidFill>
                  <a:srgbClr val="000000"/>
                </a:solidFill>
                <a:latin typeface="Arial"/>
                <a:ea typeface="Arial"/>
                <a:cs typeface="Arial"/>
                <a:sym typeface="Arial"/>
              </a:rPr>
              <a:t> the </a:t>
            </a:r>
            <a:r>
              <a:rPr lang="en-US" sz="2000" b="0" i="0" u="sng" strike="noStrike" cap="none">
                <a:solidFill>
                  <a:srgbClr val="000000"/>
                </a:solidFill>
                <a:latin typeface="Arial"/>
                <a:ea typeface="Arial"/>
                <a:cs typeface="Arial"/>
                <a:sym typeface="Arial"/>
              </a:rPr>
              <a:t>leading indicators</a:t>
            </a:r>
            <a:r>
              <a:rPr lang="en-US" sz="2000" b="0" i="0" u="none" strike="noStrike" cap="none">
                <a:solidFill>
                  <a:srgbClr val="000000"/>
                </a:solidFill>
                <a:latin typeface="Arial"/>
                <a:ea typeface="Arial"/>
                <a:cs typeface="Arial"/>
                <a:sym typeface="Arial"/>
              </a:rPr>
              <a:t> are created as a result of a </a:t>
            </a:r>
            <a:r>
              <a:rPr lang="en-US" sz="2000" b="0" i="0" u="sng" strike="noStrike" cap="none">
                <a:solidFill>
                  <a:srgbClr val="000000"/>
                </a:solidFill>
                <a:latin typeface="Arial"/>
                <a:ea typeface="Arial"/>
                <a:cs typeface="Arial"/>
                <a:sym typeface="Arial"/>
              </a:rPr>
              <a:t>proactive planned inspection or audit</a:t>
            </a:r>
            <a:r>
              <a:rPr lang="en-US" sz="2000" b="0" i="0" u="none" strike="noStrike" cap="none">
                <a:solidFill>
                  <a:srgbClr val="000000"/>
                </a:solidFill>
                <a:latin typeface="Arial"/>
                <a:ea typeface="Arial"/>
                <a:cs typeface="Arial"/>
                <a:sym typeface="Arial"/>
              </a:rPr>
              <a:t> that is intended to assess the effective implementation of the RM program. These audits can be tracked on a “rate” basis e.g. # per week, # per hours of operation, etc. </a:t>
            </a:r>
            <a:endParaRPr sz="2000" b="0" i="0" u="none" strike="noStrike" cap="none">
              <a:solidFill>
                <a:srgbClr val="000000"/>
              </a:solidFill>
              <a:latin typeface="Arial"/>
              <a:ea typeface="Arial"/>
              <a:cs typeface="Arial"/>
              <a:sym typeface="Arial"/>
            </a:endParaRPr>
          </a:p>
          <a:p>
            <a:pPr marL="360000" marR="0" lvl="2" indent="-360000" algn="l" rtl="0">
              <a:spcBef>
                <a:spcPts val="0"/>
              </a:spcBef>
              <a:spcAft>
                <a:spcPts val="0"/>
              </a:spcAft>
              <a:buClr>
                <a:srgbClr val="000000"/>
              </a:buClr>
              <a:buSzPts val="2000"/>
              <a:buFont typeface="Noto Sans Symbols"/>
              <a:buChar char="⮚"/>
            </a:pPr>
            <a:r>
              <a:rPr lang="en-US" sz="2000" b="0" i="0" u="none" strike="noStrike" cap="none">
                <a:solidFill>
                  <a:srgbClr val="000000"/>
                </a:solidFill>
                <a:latin typeface="Arial"/>
                <a:ea typeface="Arial"/>
                <a:cs typeface="Arial"/>
                <a:sym typeface="Arial"/>
              </a:rPr>
              <a:t># of administrative controls reviewed and updated</a:t>
            </a:r>
            <a:endParaRPr/>
          </a:p>
          <a:p>
            <a:pPr marL="360000" marR="0" lvl="2" indent="-360000" algn="l" rtl="0">
              <a:spcBef>
                <a:spcPts val="0"/>
              </a:spcBef>
              <a:spcAft>
                <a:spcPts val="0"/>
              </a:spcAft>
              <a:buClr>
                <a:srgbClr val="000000"/>
              </a:buClr>
              <a:buSzPts val="2000"/>
              <a:buFont typeface="Noto Sans Symbols"/>
              <a:buChar char="⮚"/>
            </a:pPr>
            <a:r>
              <a:rPr lang="en-US" sz="2000" b="0" i="0" u="none" strike="noStrike" cap="none">
                <a:solidFill>
                  <a:srgbClr val="000000"/>
                </a:solidFill>
                <a:latin typeface="Arial"/>
                <a:ea typeface="Arial"/>
                <a:cs typeface="Arial"/>
                <a:sym typeface="Arial"/>
              </a:rPr>
              <a:t># of inspections on safety equipment carried out, RME #8 O&amp;M</a:t>
            </a:r>
            <a:endParaRPr/>
          </a:p>
          <a:p>
            <a:pPr marL="360000" marR="0" lvl="2" indent="-360000" algn="l" rtl="0">
              <a:spcBef>
                <a:spcPts val="0"/>
              </a:spcBef>
              <a:spcAft>
                <a:spcPts val="0"/>
              </a:spcAft>
              <a:buClr>
                <a:srgbClr val="000000"/>
              </a:buClr>
              <a:buSzPts val="2000"/>
              <a:buFont typeface="Noto Sans Symbols"/>
              <a:buChar char="⮚"/>
            </a:pPr>
            <a:r>
              <a:rPr lang="en-US" sz="2000" b="0" i="0" u="none" strike="noStrike" cap="none">
                <a:solidFill>
                  <a:srgbClr val="000000"/>
                </a:solidFill>
                <a:latin typeface="Arial"/>
                <a:ea typeface="Arial"/>
                <a:cs typeface="Arial"/>
                <a:sym typeface="Arial"/>
              </a:rPr>
              <a:t># of employees with up-to-date qualifications, RME #9 EC&amp;T</a:t>
            </a:r>
            <a:endParaRPr/>
          </a:p>
          <a:p>
            <a:pPr marL="360000" marR="0" lvl="2" indent="-360000" algn="l" rtl="0">
              <a:spcBef>
                <a:spcPts val="0"/>
              </a:spcBef>
              <a:spcAft>
                <a:spcPts val="0"/>
              </a:spcAft>
              <a:buClr>
                <a:srgbClr val="000000"/>
              </a:buClr>
              <a:buSzPts val="2000"/>
              <a:buFont typeface="Noto Sans Symbols"/>
              <a:buChar char="⮚"/>
            </a:pPr>
            <a:r>
              <a:rPr lang="en-US" sz="2000" b="0" i="0" u="none" strike="noStrike" cap="none">
                <a:solidFill>
                  <a:srgbClr val="000000"/>
                </a:solidFill>
                <a:latin typeface="Arial"/>
                <a:ea typeface="Arial"/>
                <a:cs typeface="Arial"/>
                <a:sym typeface="Arial"/>
              </a:rPr>
              <a:t># of management safety audits completed, RME #6 PECI</a:t>
            </a:r>
            <a:endParaRPr/>
          </a:p>
          <a:p>
            <a:pPr marL="360000" marR="0" lvl="2" indent="-360000" algn="l" rtl="0">
              <a:spcBef>
                <a:spcPts val="0"/>
              </a:spcBef>
              <a:spcAft>
                <a:spcPts val="0"/>
              </a:spcAft>
              <a:buClr>
                <a:srgbClr val="000000"/>
              </a:buClr>
              <a:buSzPts val="2000"/>
              <a:buFont typeface="Noto Sans Symbols"/>
              <a:buChar char="⮚"/>
            </a:pPr>
            <a:r>
              <a:rPr lang="en-US" sz="2000" b="0" i="0" u="none" strike="noStrike" cap="none">
                <a:solidFill>
                  <a:srgbClr val="000000"/>
                </a:solidFill>
                <a:latin typeface="Arial"/>
                <a:ea typeface="Arial"/>
                <a:cs typeface="Arial"/>
                <a:sym typeface="Arial"/>
              </a:rPr>
              <a:t># of changes appropriately managed, RME #4 MOC</a:t>
            </a:r>
            <a:endParaRPr/>
          </a:p>
          <a:p>
            <a:pPr marL="360000" marR="0" lvl="2" indent="-360000" algn="l" rtl="0">
              <a:spcBef>
                <a:spcPts val="0"/>
              </a:spcBef>
              <a:spcAft>
                <a:spcPts val="0"/>
              </a:spcAft>
              <a:buClr>
                <a:srgbClr val="000000"/>
              </a:buClr>
              <a:buSzPts val="2000"/>
              <a:buFont typeface="Noto Sans Symbols"/>
              <a:buChar char="⮚"/>
            </a:pPr>
            <a:r>
              <a:rPr lang="en-US" sz="2000" b="0" i="0" u="none" strike="noStrike" cap="none">
                <a:solidFill>
                  <a:srgbClr val="000000"/>
                </a:solidFill>
                <a:latin typeface="Arial"/>
                <a:ea typeface="Arial"/>
                <a:cs typeface="Arial"/>
                <a:sym typeface="Arial"/>
              </a:rPr>
              <a:t># of job observations and planned inspections carried out</a:t>
            </a:r>
            <a:endParaRPr/>
          </a:p>
          <a:p>
            <a:pPr marL="360000" marR="0" lvl="2" indent="-360000" algn="l" rtl="0">
              <a:spcBef>
                <a:spcPts val="0"/>
              </a:spcBef>
              <a:spcAft>
                <a:spcPts val="0"/>
              </a:spcAft>
              <a:buClr>
                <a:srgbClr val="000000"/>
              </a:buClr>
              <a:buSzPts val="2000"/>
              <a:buFont typeface="Noto Sans Symbols"/>
              <a:buChar char="⮚"/>
            </a:pPr>
            <a:r>
              <a:rPr lang="en-US" sz="2000" b="0" i="0" u="none" strike="noStrike" cap="none">
                <a:solidFill>
                  <a:srgbClr val="000000"/>
                </a:solidFill>
                <a:latin typeface="Arial"/>
                <a:ea typeface="Arial"/>
                <a:cs typeface="Arial"/>
                <a:sym typeface="Arial"/>
              </a:rPr>
              <a:t># of safety systems disabled or bypassed</a:t>
            </a:r>
            <a:endParaRPr/>
          </a:p>
          <a:p>
            <a:pPr marL="360000" marR="0" lvl="2" indent="-360000" algn="l" rtl="0">
              <a:spcBef>
                <a:spcPts val="0"/>
              </a:spcBef>
              <a:spcAft>
                <a:spcPts val="0"/>
              </a:spcAft>
              <a:buClr>
                <a:srgbClr val="000000"/>
              </a:buClr>
              <a:buSzPts val="2000"/>
              <a:buFont typeface="Noto Sans Symbols"/>
              <a:buChar char="⮚"/>
            </a:pPr>
            <a:r>
              <a:rPr lang="en-US" sz="2000" b="0" i="0" u="none" strike="noStrike" cap="none">
                <a:solidFill>
                  <a:srgbClr val="000000"/>
                </a:solidFill>
                <a:latin typeface="Arial"/>
                <a:ea typeface="Arial"/>
                <a:cs typeface="Arial"/>
                <a:sym typeface="Arial"/>
              </a:rPr>
              <a:t># near miss incident reports received and reviewed</a:t>
            </a:r>
            <a:endParaRPr/>
          </a:p>
          <a:p>
            <a:pPr marL="360000" marR="0" lvl="2" indent="-360000" algn="l" rtl="0">
              <a:spcBef>
                <a:spcPts val="0"/>
              </a:spcBef>
              <a:spcAft>
                <a:spcPts val="0"/>
              </a:spcAft>
              <a:buClr>
                <a:srgbClr val="000000"/>
              </a:buClr>
              <a:buSzPts val="2000"/>
              <a:buFont typeface="Noto Sans Symbols"/>
              <a:buChar char="⮚"/>
            </a:pPr>
            <a:r>
              <a:rPr lang="en-US" sz="2000" b="0" i="0" u="none" strike="noStrike" cap="none">
                <a:solidFill>
                  <a:srgbClr val="000000"/>
                </a:solidFill>
                <a:latin typeface="Arial"/>
                <a:ea typeface="Arial"/>
                <a:cs typeface="Arial"/>
                <a:sym typeface="Arial"/>
              </a:rPr>
              <a:t># near miss incident reports addressed</a:t>
            </a:r>
            <a:endParaRPr/>
          </a:p>
          <a:p>
            <a:pPr marL="360000" marR="0" lvl="2" indent="-360000" algn="l" rtl="0">
              <a:spcBef>
                <a:spcPts val="0"/>
              </a:spcBef>
              <a:spcAft>
                <a:spcPts val="0"/>
              </a:spcAft>
              <a:buClr>
                <a:srgbClr val="000000"/>
              </a:buClr>
              <a:buSzPts val="2000"/>
              <a:buFont typeface="Noto Sans Symbols"/>
              <a:buChar char="⮚"/>
            </a:pPr>
            <a:r>
              <a:rPr lang="en-US" sz="2000" b="0" i="0" u="none" strike="noStrike" cap="none">
                <a:solidFill>
                  <a:srgbClr val="000000"/>
                </a:solidFill>
                <a:latin typeface="Arial"/>
                <a:ea typeface="Arial"/>
                <a:cs typeface="Arial"/>
                <a:sym typeface="Arial"/>
              </a:rPr>
              <a:t># of SC and SP reports received and reviewed</a:t>
            </a:r>
            <a:endParaRPr/>
          </a:p>
          <a:p>
            <a:pPr marL="360000" marR="0" lvl="2" indent="-360000" algn="l" rtl="0">
              <a:spcBef>
                <a:spcPts val="0"/>
              </a:spcBef>
              <a:spcAft>
                <a:spcPts val="0"/>
              </a:spcAft>
              <a:buClr>
                <a:srgbClr val="000000"/>
              </a:buClr>
              <a:buSzPts val="2000"/>
              <a:buFont typeface="Noto Sans Symbols"/>
              <a:buChar char="⮚"/>
            </a:pPr>
            <a:r>
              <a:rPr lang="en-US" sz="2000" b="0" i="0" u="none" strike="noStrike" cap="none">
                <a:solidFill>
                  <a:srgbClr val="000000"/>
                </a:solidFill>
                <a:latin typeface="Arial"/>
                <a:ea typeface="Arial"/>
                <a:cs typeface="Arial"/>
                <a:sym typeface="Arial"/>
              </a:rPr>
              <a:t># of SC and SP reports addressed</a:t>
            </a:r>
            <a:endParaRPr/>
          </a:p>
          <a:p>
            <a:pPr marL="360000" marR="0" lvl="2" indent="-360000" algn="l" rtl="0">
              <a:spcBef>
                <a:spcPts val="0"/>
              </a:spcBef>
              <a:spcAft>
                <a:spcPts val="0"/>
              </a:spcAft>
              <a:buClr>
                <a:srgbClr val="000000"/>
              </a:buClr>
              <a:buSzPts val="2000"/>
              <a:buFont typeface="Noto Sans Symbols"/>
              <a:buChar char="⮚"/>
            </a:pPr>
            <a:r>
              <a:rPr lang="en-US" sz="2000" b="0" i="0" u="none" strike="noStrike" cap="none">
                <a:solidFill>
                  <a:srgbClr val="000000"/>
                </a:solidFill>
                <a:latin typeface="Arial"/>
                <a:ea typeface="Arial"/>
                <a:cs typeface="Arial"/>
                <a:sym typeface="Arial"/>
              </a:rPr>
              <a:t># safe behavior awards presented to employees</a:t>
            </a:r>
            <a:endParaRPr sz="2000" b="0" i="0" u="none" strike="noStrike" cap="none">
              <a:solidFill>
                <a:srgbClr val="000000"/>
              </a:solidFill>
              <a:latin typeface="Arial"/>
              <a:ea typeface="Arial"/>
              <a:cs typeface="Arial"/>
              <a:sym typeface="Arial"/>
            </a:endParaRPr>
          </a:p>
        </p:txBody>
      </p:sp>
      <p:sp>
        <p:nvSpPr>
          <p:cNvPr id="116" name="Google Shape;116;p7"/>
          <p:cNvSpPr txBox="1"/>
          <p:nvPr/>
        </p:nvSpPr>
        <p:spPr>
          <a:xfrm>
            <a:off x="8280000" y="6300000"/>
            <a:ext cx="533400" cy="2880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Clr>
                <a:srgbClr val="000000"/>
              </a:buClr>
              <a:buSzPts val="1200"/>
              <a:buFont typeface="Noto Sans Symbols"/>
              <a:buNone/>
            </a:pPr>
            <a:fld id="{00000000-1234-1234-1234-123412341234}" type="slidenum">
              <a:rPr lang="en-US" sz="1200" b="1" i="1" u="none" strike="noStrike" cap="none">
                <a:solidFill>
                  <a:srgbClr val="000000"/>
                </a:solidFill>
                <a:latin typeface="Arial"/>
                <a:ea typeface="Arial"/>
                <a:cs typeface="Arial"/>
                <a:sym typeface="Arial"/>
              </a:rPr>
              <a:t>9</a:t>
            </a:fld>
            <a:endParaRPr sz="1200" b="1" i="1" u="none" strike="noStrike" cap="none">
              <a:solidFill>
                <a:srgbClr val="000000"/>
              </a:solidFill>
              <a:latin typeface="Arial"/>
              <a:ea typeface="Arial"/>
              <a:cs typeface="Arial"/>
              <a:sym typeface="Arial"/>
            </a:endParaRPr>
          </a:p>
        </p:txBody>
      </p:sp>
      <p:sp>
        <p:nvSpPr>
          <p:cNvPr id="117" name="Google Shape;117;p7"/>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b="1" i="1" u="none" strike="noStrike" cap="none">
                <a:solidFill>
                  <a:srgbClr val="000000"/>
                </a:solidFill>
                <a:latin typeface="Arial"/>
                <a:ea typeface="Arial"/>
                <a:cs typeface="Arial"/>
                <a:sym typeface="Arial"/>
              </a:rPr>
              <a:t>Chapter 6.2: Safety Metrics, Lagging and Leading Indicators</a:t>
            </a:r>
            <a:endParaRPr sz="1200" b="1" i="1" u="none" strike="noStrike" cap="none">
              <a:solidFill>
                <a:srgbClr val="000000"/>
              </a:solidFill>
              <a:latin typeface="Arial"/>
              <a:ea typeface="Arial"/>
              <a:cs typeface="Arial"/>
              <a:sym typeface="Arial"/>
            </a:endParaRPr>
          </a:p>
        </p:txBody>
      </p:sp>
      <p:sp>
        <p:nvSpPr>
          <p:cNvPr id="118" name="Google Shape;118;p7"/>
          <p:cNvSpPr txBox="1"/>
          <p:nvPr/>
        </p:nvSpPr>
        <p:spPr>
          <a:xfrm>
            <a:off x="6096000" y="4516090"/>
            <a:ext cx="2819400" cy="1631216"/>
          </a:xfrm>
          <a:prstGeom prst="rect">
            <a:avLst/>
          </a:prstGeom>
          <a:solidFill>
            <a:srgbClr val="FFFF00"/>
          </a:solidFill>
          <a:ln w="9525" cap="flat" cmpd="sng">
            <a:solidFill>
              <a:schemeClr val="dk1"/>
            </a:solidFill>
            <a:prstDash val="solid"/>
            <a:round/>
            <a:headEnd type="none" w="sm" len="sm"/>
            <a:tailEnd type="none" w="sm" len="sm"/>
          </a:ln>
        </p:spPr>
        <p:txBody>
          <a:bodyPr spcFirstLastPara="1" wrap="square" lIns="36000" tIns="36000" rIns="36000" bIns="36000" anchor="t" anchorCtr="0">
            <a:spAutoFit/>
          </a:bodyPr>
          <a:lstStyle/>
          <a:p>
            <a:pPr marL="0" marR="0" lvl="0" indent="0" algn="ctr" rtl="0">
              <a:spcBef>
                <a:spcPts val="0"/>
              </a:spcBef>
              <a:spcAft>
                <a:spcPts val="0"/>
              </a:spcAft>
              <a:buNone/>
            </a:pPr>
            <a:r>
              <a:rPr lang="en-US" sz="2000" b="1" i="1" u="none" strike="noStrike" cap="none">
                <a:solidFill>
                  <a:schemeClr val="dk1"/>
                </a:solidFill>
                <a:latin typeface="Arial"/>
                <a:ea typeface="Arial"/>
                <a:cs typeface="Arial"/>
                <a:sym typeface="Arial"/>
              </a:rPr>
              <a:t>In other words, look for </a:t>
            </a:r>
            <a:r>
              <a:rPr lang="en-US" sz="2000" b="1" i="1" u="sng" strike="noStrike" cap="none">
                <a:solidFill>
                  <a:schemeClr val="dk1"/>
                </a:solidFill>
                <a:latin typeface="Arial"/>
                <a:ea typeface="Arial"/>
                <a:cs typeface="Arial"/>
                <a:sym typeface="Arial"/>
              </a:rPr>
              <a:t>signals</a:t>
            </a:r>
            <a:r>
              <a:rPr lang="en-US" sz="2000" b="1" i="1" u="none" strike="noStrike" cap="none">
                <a:solidFill>
                  <a:schemeClr val="dk1"/>
                </a:solidFill>
                <a:latin typeface="Arial"/>
                <a:ea typeface="Arial"/>
                <a:cs typeface="Arial"/>
                <a:sym typeface="Arial"/>
              </a:rPr>
              <a:t> (the data points) </a:t>
            </a:r>
            <a:r>
              <a:rPr lang="en-US" sz="2000" b="1" i="1" u="sng" strike="noStrike" cap="none">
                <a:solidFill>
                  <a:schemeClr val="dk1"/>
                </a:solidFill>
                <a:latin typeface="Arial"/>
                <a:ea typeface="Arial"/>
                <a:cs typeface="Arial"/>
                <a:sym typeface="Arial"/>
              </a:rPr>
              <a:t>before</a:t>
            </a:r>
            <a:r>
              <a:rPr lang="en-US" sz="2000" b="1" i="1" u="none" strike="noStrike" cap="none">
                <a:solidFill>
                  <a:schemeClr val="dk1"/>
                </a:solidFill>
                <a:latin typeface="Arial"/>
                <a:ea typeface="Arial"/>
                <a:cs typeface="Arial"/>
                <a:sym typeface="Arial"/>
              </a:rPr>
              <a:t> something bad happens!</a:t>
            </a:r>
            <a:endParaRPr sz="2000" b="1" i="1" u="none" strike="noStrike" cap="none">
              <a:solidFill>
                <a:schemeClr val="dk1"/>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8"/>
          <p:cNvSpPr/>
          <p:nvPr/>
        </p:nvSpPr>
        <p:spPr>
          <a:xfrm>
            <a:off x="180000" y="828000"/>
            <a:ext cx="8640000" cy="5328000"/>
          </a:xfrm>
          <a:prstGeom prst="rect">
            <a:avLst/>
          </a:prstGeom>
          <a:noFill/>
          <a:ln>
            <a:noFill/>
          </a:ln>
        </p:spPr>
        <p:txBody>
          <a:bodyPr spcFirstLastPara="1" wrap="square" lIns="91425" tIns="45700" rIns="91425" bIns="45700" anchor="t" anchorCtr="0">
            <a:noAutofit/>
          </a:bodyPr>
          <a:lstStyle/>
          <a:p>
            <a:pPr marL="360000" marR="0" lvl="0" indent="-360000" algn="l" rtl="0">
              <a:lnSpc>
                <a:spcPct val="100000"/>
              </a:lnSpc>
              <a:spcBef>
                <a:spcPts val="0"/>
              </a:spcBef>
              <a:spcAft>
                <a:spcPts val="0"/>
              </a:spcAft>
              <a:buClr>
                <a:srgbClr val="000000"/>
              </a:buClr>
              <a:buSzPts val="1800"/>
              <a:buFont typeface="Noto Sans Symbols"/>
              <a:buChar char="⮚"/>
            </a:pPr>
            <a:r>
              <a:rPr lang="en-US" sz="1800" b="0" i="0" u="none" strike="noStrike" cap="none">
                <a:solidFill>
                  <a:srgbClr val="000000"/>
                </a:solidFill>
                <a:latin typeface="Arial"/>
                <a:ea typeface="Arial"/>
                <a:cs typeface="Arial"/>
                <a:sym typeface="Arial"/>
              </a:rPr>
              <a:t>Can be directly used </a:t>
            </a:r>
            <a:r>
              <a:rPr lang="en-US" sz="1800" b="0" i="0" u="sng" strike="noStrike" cap="none">
                <a:solidFill>
                  <a:srgbClr val="000000"/>
                </a:solidFill>
                <a:latin typeface="Arial"/>
                <a:ea typeface="Arial"/>
                <a:cs typeface="Arial"/>
                <a:sym typeface="Arial"/>
              </a:rPr>
              <a:t>by leaders to influence </a:t>
            </a:r>
            <a:br>
              <a:rPr lang="en-US" sz="1800" b="0" i="0" u="sng" strike="noStrike" cap="none">
                <a:solidFill>
                  <a:srgbClr val="000000"/>
                </a:solidFill>
                <a:latin typeface="Arial"/>
                <a:ea typeface="Arial"/>
                <a:cs typeface="Arial"/>
                <a:sym typeface="Arial"/>
              </a:rPr>
            </a:br>
            <a:r>
              <a:rPr lang="en-US" sz="1800" b="0" i="0" u="sng" strike="noStrike" cap="none">
                <a:solidFill>
                  <a:srgbClr val="000000"/>
                </a:solidFill>
                <a:latin typeface="Arial"/>
                <a:ea typeface="Arial"/>
                <a:cs typeface="Arial"/>
                <a:sym typeface="Arial"/>
              </a:rPr>
              <a:t>the safety culture </a:t>
            </a:r>
            <a:r>
              <a:rPr lang="en-US" sz="1800" b="0" i="0" u="none" strike="noStrike" cap="none">
                <a:solidFill>
                  <a:srgbClr val="000000"/>
                </a:solidFill>
                <a:latin typeface="Arial"/>
                <a:ea typeface="Arial"/>
                <a:cs typeface="Arial"/>
                <a:sym typeface="Arial"/>
              </a:rPr>
              <a:t>of the organization!</a:t>
            </a:r>
            <a:endParaRPr sz="1800" b="0" i="0" u="none" strike="noStrike" cap="none">
              <a:solidFill>
                <a:srgbClr val="000000"/>
              </a:solidFill>
              <a:latin typeface="Arial"/>
              <a:ea typeface="Arial"/>
              <a:cs typeface="Arial"/>
              <a:sym typeface="Arial"/>
            </a:endParaRPr>
          </a:p>
          <a:p>
            <a:pPr marL="360000" marR="0" lvl="0" indent="-245700" algn="l" rtl="0">
              <a:lnSpc>
                <a:spcPct val="90000"/>
              </a:lnSpc>
              <a:spcBef>
                <a:spcPts val="0"/>
              </a:spcBef>
              <a:spcAft>
                <a:spcPts val="0"/>
              </a:spcAft>
              <a:buClr>
                <a:srgbClr val="000000"/>
              </a:buClr>
              <a:buSzPts val="1800"/>
              <a:buFont typeface="Noto Sans Symbols"/>
              <a:buNone/>
            </a:pPr>
            <a:endParaRPr sz="1800" b="0" i="0" u="none" strike="noStrike" cap="none">
              <a:solidFill>
                <a:srgbClr val="000000"/>
              </a:solidFill>
              <a:latin typeface="Arial"/>
              <a:ea typeface="Arial"/>
              <a:cs typeface="Arial"/>
              <a:sym typeface="Arial"/>
            </a:endParaRPr>
          </a:p>
          <a:p>
            <a:pPr marL="360000" marR="0" lvl="0" indent="-245700" algn="l" rtl="0">
              <a:lnSpc>
                <a:spcPct val="90000"/>
              </a:lnSpc>
              <a:spcBef>
                <a:spcPts val="0"/>
              </a:spcBef>
              <a:spcAft>
                <a:spcPts val="0"/>
              </a:spcAft>
              <a:buClr>
                <a:srgbClr val="000000"/>
              </a:buClr>
              <a:buSzPts val="1800"/>
              <a:buFont typeface="Noto Sans Symbols"/>
              <a:buNone/>
            </a:pPr>
            <a:endParaRPr sz="1800" b="0" i="0" u="none" strike="noStrike" cap="none">
              <a:solidFill>
                <a:srgbClr val="000000"/>
              </a:solidFill>
              <a:latin typeface="Arial"/>
              <a:ea typeface="Arial"/>
              <a:cs typeface="Arial"/>
              <a:sym typeface="Arial"/>
            </a:endParaRPr>
          </a:p>
          <a:p>
            <a:pPr marL="360000" marR="0" lvl="0" indent="-245700" algn="l" rtl="0">
              <a:lnSpc>
                <a:spcPct val="90000"/>
              </a:lnSpc>
              <a:spcBef>
                <a:spcPts val="0"/>
              </a:spcBef>
              <a:spcAft>
                <a:spcPts val="0"/>
              </a:spcAft>
              <a:buClr>
                <a:srgbClr val="000000"/>
              </a:buClr>
              <a:buSzPts val="1800"/>
              <a:buFont typeface="Noto Sans Symbols"/>
              <a:buNone/>
            </a:pPr>
            <a:endParaRPr sz="1800" b="0" i="0" u="none" strike="noStrike" cap="none">
              <a:solidFill>
                <a:srgbClr val="000000"/>
              </a:solidFill>
              <a:latin typeface="Arial"/>
              <a:ea typeface="Arial"/>
              <a:cs typeface="Arial"/>
              <a:sym typeface="Arial"/>
            </a:endParaRPr>
          </a:p>
          <a:p>
            <a:pPr marL="360000" marR="0" lvl="0" indent="-245700" algn="l" rtl="0">
              <a:lnSpc>
                <a:spcPct val="90000"/>
              </a:lnSpc>
              <a:spcBef>
                <a:spcPts val="0"/>
              </a:spcBef>
              <a:spcAft>
                <a:spcPts val="0"/>
              </a:spcAft>
              <a:buClr>
                <a:srgbClr val="000000"/>
              </a:buClr>
              <a:buSzPts val="1800"/>
              <a:buFont typeface="Noto Sans Symbols"/>
              <a:buNone/>
            </a:pPr>
            <a:endParaRPr sz="1800" b="0" i="0" u="none" strike="noStrike" cap="none">
              <a:solidFill>
                <a:srgbClr val="000000"/>
              </a:solidFill>
              <a:latin typeface="Arial"/>
              <a:ea typeface="Arial"/>
              <a:cs typeface="Arial"/>
              <a:sym typeface="Arial"/>
            </a:endParaRPr>
          </a:p>
          <a:p>
            <a:pPr marL="360000" marR="0" lvl="0" indent="-245700" algn="l" rtl="0">
              <a:lnSpc>
                <a:spcPct val="90000"/>
              </a:lnSpc>
              <a:spcBef>
                <a:spcPts val="0"/>
              </a:spcBef>
              <a:spcAft>
                <a:spcPts val="0"/>
              </a:spcAft>
              <a:buClr>
                <a:srgbClr val="000000"/>
              </a:buClr>
              <a:buSzPts val="1800"/>
              <a:buFont typeface="Noto Sans Symbols"/>
              <a:buNone/>
            </a:pPr>
            <a:endParaRPr sz="1800" b="0" i="0" u="none" strike="noStrike" cap="none">
              <a:solidFill>
                <a:srgbClr val="000000"/>
              </a:solidFill>
              <a:latin typeface="Arial"/>
              <a:ea typeface="Arial"/>
              <a:cs typeface="Arial"/>
              <a:sym typeface="Arial"/>
            </a:endParaRPr>
          </a:p>
          <a:p>
            <a:pPr marL="360000" marR="0" lvl="0" indent="-360000" algn="l" rtl="0">
              <a:lnSpc>
                <a:spcPct val="90000"/>
              </a:lnSpc>
              <a:spcBef>
                <a:spcPts val="0"/>
              </a:spcBef>
              <a:spcAft>
                <a:spcPts val="0"/>
              </a:spcAft>
              <a:buClr>
                <a:srgbClr val="000000"/>
              </a:buClr>
              <a:buSzPts val="1800"/>
              <a:buFont typeface="Noto Sans Symbols"/>
              <a:buChar char="⮚"/>
            </a:pPr>
            <a:r>
              <a:rPr lang="en-US" sz="1800" b="0" i="0" u="sng" strike="noStrike" cap="none">
                <a:solidFill>
                  <a:srgbClr val="000000"/>
                </a:solidFill>
                <a:latin typeface="Arial"/>
                <a:ea typeface="Arial"/>
                <a:cs typeface="Arial"/>
                <a:sym typeface="Arial"/>
              </a:rPr>
              <a:t>Implementation</a:t>
            </a:r>
            <a:r>
              <a:rPr lang="en-US" sz="1800" b="0" i="0" u="none" strike="noStrike" cap="none">
                <a:solidFill>
                  <a:srgbClr val="000000"/>
                </a:solidFill>
                <a:latin typeface="Arial"/>
                <a:ea typeface="Arial"/>
                <a:cs typeface="Arial"/>
                <a:sym typeface="Arial"/>
              </a:rPr>
              <a:t> of the RM program is </a:t>
            </a:r>
            <a:br>
              <a:rPr lang="en-US" sz="1800" b="0" i="0" u="none" strike="noStrike" cap="none">
                <a:solidFill>
                  <a:srgbClr val="000000"/>
                </a:solidFill>
                <a:latin typeface="Arial"/>
                <a:ea typeface="Arial"/>
                <a:cs typeface="Arial"/>
                <a:sym typeface="Arial"/>
              </a:rPr>
            </a:br>
            <a:r>
              <a:rPr lang="en-US" sz="1800" b="0" i="0" u="sng" strike="noStrike" cap="none">
                <a:solidFill>
                  <a:srgbClr val="000000"/>
                </a:solidFill>
                <a:latin typeface="Arial"/>
                <a:ea typeface="Arial"/>
                <a:cs typeface="Arial"/>
                <a:sym typeface="Arial"/>
              </a:rPr>
              <a:t>measured on an on-going basis using </a:t>
            </a:r>
            <a:br>
              <a:rPr lang="en-US" sz="1800" b="0" i="0" u="sng" strike="noStrike" cap="none">
                <a:solidFill>
                  <a:srgbClr val="000000"/>
                </a:solidFill>
                <a:latin typeface="Arial"/>
                <a:ea typeface="Arial"/>
                <a:cs typeface="Arial"/>
                <a:sym typeface="Arial"/>
              </a:rPr>
            </a:br>
            <a:r>
              <a:rPr lang="en-US" sz="1800" b="0" i="0" u="sng" strike="noStrike" cap="none">
                <a:solidFill>
                  <a:srgbClr val="000000"/>
                </a:solidFill>
                <a:latin typeface="Arial"/>
                <a:ea typeface="Arial"/>
                <a:cs typeface="Arial"/>
                <a:sym typeface="Arial"/>
              </a:rPr>
              <a:t>leading indicators</a:t>
            </a:r>
            <a:r>
              <a:rPr lang="en-US" sz="1800" b="0" i="0" u="none" strike="noStrike" cap="none">
                <a:solidFill>
                  <a:srgbClr val="000000"/>
                </a:solidFill>
                <a:latin typeface="Arial"/>
                <a:ea typeface="Arial"/>
                <a:cs typeface="Arial"/>
                <a:sym typeface="Arial"/>
              </a:rPr>
              <a:t>, and </a:t>
            </a:r>
            <a:r>
              <a:rPr lang="en-US" sz="1800" b="1" i="0" u="none" strike="noStrike" cap="none">
                <a:solidFill>
                  <a:srgbClr val="000000"/>
                </a:solidFill>
                <a:latin typeface="Arial"/>
                <a:ea typeface="Arial"/>
                <a:cs typeface="Arial"/>
                <a:sym typeface="Arial"/>
              </a:rPr>
              <a:t>proactive</a:t>
            </a:r>
            <a:r>
              <a:rPr lang="en-US" sz="1800" b="0" i="0" u="none" strike="noStrike" cap="none">
                <a:solidFill>
                  <a:srgbClr val="000000"/>
                </a:solidFill>
                <a:latin typeface="Arial"/>
                <a:ea typeface="Arial"/>
                <a:cs typeface="Arial"/>
                <a:sym typeface="Arial"/>
              </a:rPr>
              <a:t> action </a:t>
            </a:r>
            <a:br>
              <a:rPr lang="en-US" sz="1800" b="0" i="0" u="none" strike="noStrike" cap="none">
                <a:solidFill>
                  <a:srgbClr val="000000"/>
                </a:solidFill>
                <a:latin typeface="Arial"/>
                <a:ea typeface="Arial"/>
                <a:cs typeface="Arial"/>
                <a:sym typeface="Arial"/>
              </a:rPr>
            </a:br>
            <a:r>
              <a:rPr lang="en-US" sz="1800" b="0" i="0" u="none" strike="noStrike" cap="none">
                <a:solidFill>
                  <a:srgbClr val="000000"/>
                </a:solidFill>
                <a:latin typeface="Arial"/>
                <a:ea typeface="Arial"/>
                <a:cs typeface="Arial"/>
                <a:sym typeface="Arial"/>
              </a:rPr>
              <a:t>can be taken to address deficiencies </a:t>
            </a:r>
            <a:br>
              <a:rPr lang="en-US" sz="1800" b="0" i="0" u="none" strike="noStrike" cap="none">
                <a:solidFill>
                  <a:srgbClr val="000000"/>
                </a:solidFill>
                <a:latin typeface="Arial"/>
                <a:ea typeface="Arial"/>
                <a:cs typeface="Arial"/>
                <a:sym typeface="Arial"/>
              </a:rPr>
            </a:br>
            <a:r>
              <a:rPr lang="en-US" sz="1800" b="0" i="0" u="none" strike="noStrike" cap="none">
                <a:solidFill>
                  <a:srgbClr val="000000"/>
                </a:solidFill>
                <a:latin typeface="Arial"/>
                <a:ea typeface="Arial"/>
                <a:cs typeface="Arial"/>
                <a:sym typeface="Arial"/>
              </a:rPr>
              <a:t>before a loss incident occurs.</a:t>
            </a:r>
            <a:endParaRPr/>
          </a:p>
          <a:p>
            <a:pPr marL="360000" marR="0" lvl="0" indent="-245700" algn="l" rtl="0">
              <a:lnSpc>
                <a:spcPct val="90000"/>
              </a:lnSpc>
              <a:spcBef>
                <a:spcPts val="0"/>
              </a:spcBef>
              <a:spcAft>
                <a:spcPts val="0"/>
              </a:spcAft>
              <a:buClr>
                <a:srgbClr val="000000"/>
              </a:buClr>
              <a:buSzPts val="1800"/>
              <a:buFont typeface="Noto Sans Symbols"/>
              <a:buNone/>
            </a:pPr>
            <a:endParaRPr sz="1800" b="0" i="0" u="none" strike="noStrike" cap="none">
              <a:solidFill>
                <a:srgbClr val="000000"/>
              </a:solidFill>
              <a:latin typeface="Arial"/>
              <a:ea typeface="Arial"/>
              <a:cs typeface="Arial"/>
              <a:sym typeface="Arial"/>
            </a:endParaRPr>
          </a:p>
          <a:p>
            <a:pPr marL="360000" marR="0" lvl="0" indent="-245700" algn="l" rtl="0">
              <a:lnSpc>
                <a:spcPct val="90000"/>
              </a:lnSpc>
              <a:spcBef>
                <a:spcPts val="0"/>
              </a:spcBef>
              <a:spcAft>
                <a:spcPts val="0"/>
              </a:spcAft>
              <a:buClr>
                <a:srgbClr val="000000"/>
              </a:buClr>
              <a:buSzPts val="1800"/>
              <a:buFont typeface="Noto Sans Symbols"/>
              <a:buNone/>
            </a:pPr>
            <a:endParaRPr sz="1800" b="0" i="0" u="none" strike="noStrike" cap="none">
              <a:solidFill>
                <a:srgbClr val="000000"/>
              </a:solidFill>
              <a:latin typeface="Arial"/>
              <a:ea typeface="Arial"/>
              <a:cs typeface="Arial"/>
              <a:sym typeface="Arial"/>
            </a:endParaRPr>
          </a:p>
          <a:p>
            <a:pPr marL="360000" marR="0" lvl="0" indent="-245700" algn="l" rtl="0">
              <a:lnSpc>
                <a:spcPct val="90000"/>
              </a:lnSpc>
              <a:spcBef>
                <a:spcPts val="0"/>
              </a:spcBef>
              <a:spcAft>
                <a:spcPts val="0"/>
              </a:spcAft>
              <a:buClr>
                <a:srgbClr val="000000"/>
              </a:buClr>
              <a:buSzPts val="1800"/>
              <a:buFont typeface="Noto Sans Symbols"/>
              <a:buNone/>
            </a:pPr>
            <a:endParaRPr sz="1800" b="0" i="0" u="none" strike="noStrike" cap="none">
              <a:solidFill>
                <a:srgbClr val="000000"/>
              </a:solidFill>
              <a:latin typeface="Arial"/>
              <a:ea typeface="Arial"/>
              <a:cs typeface="Arial"/>
              <a:sym typeface="Arial"/>
            </a:endParaRPr>
          </a:p>
          <a:p>
            <a:pPr marL="360000" marR="0" lvl="0" indent="-360000" algn="l" rtl="0">
              <a:lnSpc>
                <a:spcPct val="90000"/>
              </a:lnSpc>
              <a:spcBef>
                <a:spcPts val="0"/>
              </a:spcBef>
              <a:spcAft>
                <a:spcPts val="0"/>
              </a:spcAft>
              <a:buClr>
                <a:srgbClr val="000000"/>
              </a:buClr>
              <a:buSzPts val="1800"/>
              <a:buFont typeface="Noto Sans Symbols"/>
              <a:buChar char="⮚"/>
            </a:pPr>
            <a:r>
              <a:rPr lang="en-US" sz="1800" b="0" i="0" u="none" strike="noStrike" cap="none">
                <a:solidFill>
                  <a:srgbClr val="000000"/>
                </a:solidFill>
                <a:latin typeface="Arial"/>
                <a:ea typeface="Arial"/>
                <a:cs typeface="Arial"/>
                <a:sym typeface="Arial"/>
              </a:rPr>
              <a:t>“Early signals” for </a:t>
            </a:r>
            <a:r>
              <a:rPr lang="en-US" sz="1800" b="1" i="0" u="sng" strike="noStrike" cap="none">
                <a:solidFill>
                  <a:srgbClr val="000000"/>
                </a:solidFill>
                <a:latin typeface="Arial"/>
                <a:ea typeface="Arial"/>
                <a:cs typeface="Arial"/>
                <a:sym typeface="Arial"/>
              </a:rPr>
              <a:t>critical</a:t>
            </a:r>
            <a:r>
              <a:rPr lang="en-US" sz="1800" b="0" i="0" u="none" strike="noStrike" cap="none">
                <a:solidFill>
                  <a:srgbClr val="000000"/>
                </a:solidFill>
                <a:latin typeface="Arial"/>
                <a:ea typeface="Arial"/>
                <a:cs typeface="Arial"/>
                <a:sym typeface="Arial"/>
              </a:rPr>
              <a:t>  </a:t>
            </a:r>
            <a:r>
              <a:rPr lang="en-US" sz="1800" b="0" i="0" u="sng" strike="noStrike" cap="none">
                <a:solidFill>
                  <a:srgbClr val="000000"/>
                </a:solidFill>
                <a:latin typeface="Arial"/>
                <a:ea typeface="Arial"/>
                <a:cs typeface="Arial"/>
                <a:sym typeface="Arial"/>
              </a:rPr>
              <a:t>sub-standard </a:t>
            </a:r>
            <a:br>
              <a:rPr lang="en-US" sz="1800" b="0" i="0" u="sng" strike="noStrike" cap="none">
                <a:solidFill>
                  <a:srgbClr val="000000"/>
                </a:solidFill>
                <a:latin typeface="Arial"/>
                <a:ea typeface="Arial"/>
                <a:cs typeface="Arial"/>
                <a:sym typeface="Arial"/>
              </a:rPr>
            </a:br>
            <a:r>
              <a:rPr lang="en-US" sz="1800" b="0" i="0" u="sng" strike="noStrike" cap="none">
                <a:solidFill>
                  <a:srgbClr val="000000"/>
                </a:solidFill>
                <a:latin typeface="Arial"/>
                <a:ea typeface="Arial"/>
                <a:cs typeface="Arial"/>
                <a:sym typeface="Arial"/>
              </a:rPr>
              <a:t>conditions and sub-standard practices</a:t>
            </a:r>
            <a:r>
              <a:rPr lang="en-US" sz="1800" b="0" i="0" u="none" strike="noStrike" cap="none">
                <a:solidFill>
                  <a:srgbClr val="000000"/>
                </a:solidFill>
                <a:latin typeface="Arial"/>
                <a:ea typeface="Arial"/>
                <a:cs typeface="Arial"/>
                <a:sym typeface="Arial"/>
              </a:rPr>
              <a:t>, </a:t>
            </a:r>
            <a:br>
              <a:rPr lang="en-US" sz="1800" b="0" i="0" u="none" strike="noStrike" cap="none">
                <a:solidFill>
                  <a:srgbClr val="000000"/>
                </a:solidFill>
                <a:latin typeface="Arial"/>
                <a:ea typeface="Arial"/>
                <a:cs typeface="Arial"/>
                <a:sym typeface="Arial"/>
              </a:rPr>
            </a:br>
            <a:r>
              <a:rPr lang="en-US" sz="1800" b="0" i="0" u="none" strike="noStrike" cap="none">
                <a:solidFill>
                  <a:srgbClr val="000000"/>
                </a:solidFill>
                <a:latin typeface="Arial"/>
                <a:ea typeface="Arial"/>
                <a:cs typeface="Arial"/>
                <a:sym typeface="Arial"/>
              </a:rPr>
              <a:t>when the risk level increases substantially, </a:t>
            </a:r>
            <a:br>
              <a:rPr lang="en-US" sz="1800" b="0" i="0" u="none" strike="noStrike" cap="none">
                <a:solidFill>
                  <a:srgbClr val="000000"/>
                </a:solidFill>
                <a:latin typeface="Arial"/>
                <a:ea typeface="Arial"/>
                <a:cs typeface="Arial"/>
                <a:sym typeface="Arial"/>
              </a:rPr>
            </a:br>
            <a:r>
              <a:rPr lang="en-US" sz="1800" b="0" i="0" u="none" strike="noStrike" cap="none">
                <a:solidFill>
                  <a:srgbClr val="000000"/>
                </a:solidFill>
                <a:latin typeface="Arial"/>
                <a:ea typeface="Arial"/>
                <a:cs typeface="Arial"/>
                <a:sym typeface="Arial"/>
              </a:rPr>
              <a:t>can be used to inform leaders in the </a:t>
            </a:r>
            <a:r>
              <a:rPr lang="en-US" sz="1800" b="1" i="0" u="none" strike="noStrike" cap="none">
                <a:solidFill>
                  <a:srgbClr val="000000"/>
                </a:solidFill>
                <a:latin typeface="Arial"/>
                <a:ea typeface="Arial"/>
                <a:cs typeface="Arial"/>
                <a:sym typeface="Arial"/>
              </a:rPr>
              <a:t>allocation of resources</a:t>
            </a:r>
            <a:r>
              <a:rPr lang="en-US" sz="1800" b="0" i="0" u="none" strike="noStrike" cap="none">
                <a:solidFill>
                  <a:srgbClr val="000000"/>
                </a:solidFill>
                <a:latin typeface="Arial"/>
                <a:ea typeface="Arial"/>
                <a:cs typeface="Arial"/>
                <a:sym typeface="Arial"/>
              </a:rPr>
              <a:t> to address these; thus avoiding situations where “one small misstep” can lead to a catastrophic event i.e. the “fast track to disaster”.</a:t>
            </a:r>
            <a:endParaRPr/>
          </a:p>
        </p:txBody>
      </p:sp>
      <p:sp>
        <p:nvSpPr>
          <p:cNvPr id="125" name="Google Shape;125;p8"/>
          <p:cNvSpPr/>
          <p:nvPr/>
        </p:nvSpPr>
        <p:spPr>
          <a:xfrm>
            <a:off x="180000" y="180000"/>
            <a:ext cx="8640000" cy="5400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accent2"/>
              </a:buClr>
              <a:buSzPts val="2400"/>
              <a:buFont typeface="Arial"/>
              <a:buNone/>
            </a:pPr>
            <a:r>
              <a:rPr lang="en-US" sz="2400" b="0" i="0" u="none" strike="noStrike" cap="none">
                <a:solidFill>
                  <a:schemeClr val="accent2"/>
                </a:solidFill>
                <a:latin typeface="Arial"/>
                <a:ea typeface="Arial"/>
                <a:cs typeface="Arial"/>
                <a:sym typeface="Arial"/>
              </a:rPr>
              <a:t>Leading Indicators – Benefits:</a:t>
            </a:r>
            <a:endParaRPr/>
          </a:p>
        </p:txBody>
      </p:sp>
      <p:sp>
        <p:nvSpPr>
          <p:cNvPr id="126" name="Google Shape;126;p8"/>
          <p:cNvSpPr txBox="1"/>
          <p:nvPr/>
        </p:nvSpPr>
        <p:spPr>
          <a:xfrm>
            <a:off x="8280000" y="6300000"/>
            <a:ext cx="533400" cy="2880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Clr>
                <a:srgbClr val="000000"/>
              </a:buClr>
              <a:buSzPts val="1200"/>
              <a:buFont typeface="Noto Sans Symbols"/>
              <a:buNone/>
            </a:pPr>
            <a:fld id="{00000000-1234-1234-1234-123412341234}" type="slidenum">
              <a:rPr lang="en-US" sz="1200" b="1" i="1" u="none" strike="noStrike" cap="none">
                <a:solidFill>
                  <a:srgbClr val="000000"/>
                </a:solidFill>
                <a:latin typeface="Arial"/>
                <a:ea typeface="Arial"/>
                <a:cs typeface="Arial"/>
                <a:sym typeface="Arial"/>
              </a:rPr>
              <a:t>10</a:t>
            </a:fld>
            <a:endParaRPr sz="1200" b="1" i="1" u="none" strike="noStrike" cap="none">
              <a:solidFill>
                <a:srgbClr val="000000"/>
              </a:solidFill>
              <a:latin typeface="Arial"/>
              <a:ea typeface="Arial"/>
              <a:cs typeface="Arial"/>
              <a:sym typeface="Arial"/>
            </a:endParaRPr>
          </a:p>
        </p:txBody>
      </p:sp>
      <p:sp>
        <p:nvSpPr>
          <p:cNvPr id="127" name="Google Shape;127;p8"/>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b="1" i="1" u="none" strike="noStrike" cap="none">
                <a:solidFill>
                  <a:srgbClr val="000000"/>
                </a:solidFill>
                <a:latin typeface="Arial"/>
                <a:ea typeface="Arial"/>
                <a:cs typeface="Arial"/>
                <a:sym typeface="Arial"/>
              </a:rPr>
              <a:t>Chapter 6.2: Safety Metrics, Lagging and Leading Indicators</a:t>
            </a:r>
            <a:endParaRPr sz="1200" b="1" i="1" u="none" strike="noStrike" cap="none">
              <a:solidFill>
                <a:srgbClr val="000000"/>
              </a:solidFill>
              <a:latin typeface="Arial"/>
              <a:ea typeface="Arial"/>
              <a:cs typeface="Arial"/>
              <a:sym typeface="Arial"/>
            </a:endParaRPr>
          </a:p>
        </p:txBody>
      </p:sp>
      <p:pic>
        <p:nvPicPr>
          <p:cNvPr id="128" name="Google Shape;128;p8"/>
          <p:cNvPicPr preferRelativeResize="0"/>
          <p:nvPr/>
        </p:nvPicPr>
        <p:blipFill rotWithShape="1">
          <a:blip r:embed="rId3">
            <a:alphaModFix/>
          </a:blip>
          <a:srcRect/>
          <a:stretch/>
        </p:blipFill>
        <p:spPr>
          <a:xfrm>
            <a:off x="4800600" y="2642700"/>
            <a:ext cx="4152013" cy="2538900"/>
          </a:xfrm>
          <a:prstGeom prst="rect">
            <a:avLst/>
          </a:prstGeom>
          <a:noFill/>
          <a:ln>
            <a:noFill/>
          </a:ln>
        </p:spPr>
      </p:pic>
      <p:pic>
        <p:nvPicPr>
          <p:cNvPr id="129" name="Google Shape;129;p8"/>
          <p:cNvPicPr preferRelativeResize="0"/>
          <p:nvPr/>
        </p:nvPicPr>
        <p:blipFill rotWithShape="1">
          <a:blip r:embed="rId4">
            <a:alphaModFix/>
          </a:blip>
          <a:srcRect/>
          <a:stretch/>
        </p:blipFill>
        <p:spPr>
          <a:xfrm>
            <a:off x="5802852" y="304800"/>
            <a:ext cx="3235468" cy="2259858"/>
          </a:xfrm>
          <a:prstGeom prst="rect">
            <a:avLst/>
          </a:prstGeom>
          <a:noFill/>
          <a:ln>
            <a:noFill/>
          </a:ln>
        </p:spPr>
      </p:pic>
      <p:sp>
        <p:nvSpPr>
          <p:cNvPr id="130" name="Google Shape;130;p8"/>
          <p:cNvSpPr/>
          <p:nvPr/>
        </p:nvSpPr>
        <p:spPr>
          <a:xfrm>
            <a:off x="4500000" y="1627843"/>
            <a:ext cx="1475700" cy="838200"/>
          </a:xfrm>
          <a:prstGeom prst="rightArrow">
            <a:avLst>
              <a:gd name="adj1" fmla="val 50000"/>
              <a:gd name="adj2" fmla="val 50000"/>
            </a:avLst>
          </a:prstGeom>
          <a:solidFill>
            <a:srgbClr val="00FF00"/>
          </a:solid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1" i="0" u="none" strike="noStrike" cap="none">
              <a:solidFill>
                <a:schemeClr val="lt1"/>
              </a:solidFill>
              <a:latin typeface="Arial"/>
              <a:ea typeface="Arial"/>
              <a:cs typeface="Arial"/>
              <a:sym typeface="Arial"/>
            </a:endParaRPr>
          </a:p>
        </p:txBody>
      </p:sp>
      <p:sp>
        <p:nvSpPr>
          <p:cNvPr id="131" name="Google Shape;131;p8"/>
          <p:cNvSpPr/>
          <p:nvPr/>
        </p:nvSpPr>
        <p:spPr>
          <a:xfrm>
            <a:off x="4062750" y="3733800"/>
            <a:ext cx="1740102" cy="838200"/>
          </a:xfrm>
          <a:prstGeom prst="rightArrow">
            <a:avLst>
              <a:gd name="adj1" fmla="val 50000"/>
              <a:gd name="adj2" fmla="val 50000"/>
            </a:avLst>
          </a:prstGeom>
          <a:solidFill>
            <a:srgbClr val="00FF00"/>
          </a:solid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1" i="0" u="none" strike="noStrike" cap="none">
              <a:solidFill>
                <a:schemeClr val="lt1"/>
              </a:solidFill>
              <a:latin typeface="Arial"/>
              <a:ea typeface="Arial"/>
              <a:cs typeface="Arial"/>
              <a:sym typeface="Arial"/>
            </a:endParaRPr>
          </a:p>
        </p:txBody>
      </p:sp>
    </p:spTree>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9"/>
          <p:cNvSpPr/>
          <p:nvPr/>
        </p:nvSpPr>
        <p:spPr>
          <a:xfrm>
            <a:off x="180000" y="180000"/>
            <a:ext cx="8640000" cy="504000"/>
          </a:xfrm>
          <a:prstGeom prst="rect">
            <a:avLst/>
          </a:pr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2400" b="0" i="0" u="none" strike="noStrike" cap="none">
                <a:solidFill>
                  <a:srgbClr val="F8F8F8"/>
                </a:solidFill>
                <a:latin typeface="Arial"/>
                <a:ea typeface="Arial"/>
                <a:cs typeface="Arial"/>
                <a:sym typeface="Arial"/>
              </a:rPr>
              <a:t>Examples: Allocate Resources Based on Indicators</a:t>
            </a:r>
            <a:endParaRPr sz="2400" b="0" i="0" u="none" strike="noStrike" cap="none">
              <a:solidFill>
                <a:srgbClr val="F8F8F8"/>
              </a:solidFill>
              <a:latin typeface="Arial"/>
              <a:ea typeface="Arial"/>
              <a:cs typeface="Arial"/>
              <a:sym typeface="Arial"/>
            </a:endParaRPr>
          </a:p>
        </p:txBody>
      </p:sp>
      <p:sp>
        <p:nvSpPr>
          <p:cNvPr id="141" name="Google Shape;141;p9"/>
          <p:cNvSpPr/>
          <p:nvPr/>
        </p:nvSpPr>
        <p:spPr>
          <a:xfrm>
            <a:off x="180000" y="828000"/>
            <a:ext cx="8640000" cy="5328000"/>
          </a:xfrm>
          <a:prstGeom prst="rect">
            <a:avLst/>
          </a:pr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b="0" i="0" u="none" strike="noStrike" cap="none">
                <a:solidFill>
                  <a:srgbClr val="F8F8F8"/>
                </a:solidFill>
                <a:latin typeface="Arial"/>
                <a:ea typeface="Arial"/>
                <a:cs typeface="Arial"/>
                <a:sym typeface="Arial"/>
              </a:rPr>
              <a:t>You are the most senior engineer (in terms of technical expertise) in your company and have a thorough and detailed knowledge of the technology applied in your company’s projects. You receive weekly reports on leading indicators for the numerous bridge construction and bridge rehabilitation projects for which you have technical oversight across the company.  You decide to allocate resources to address the issues in this order:</a:t>
            </a:r>
            <a:endParaRPr/>
          </a:p>
          <a:p>
            <a:pPr marL="0" marR="0" lvl="0" indent="0" algn="l" rtl="0">
              <a:spcBef>
                <a:spcPts val="0"/>
              </a:spcBef>
              <a:spcAft>
                <a:spcPts val="0"/>
              </a:spcAft>
              <a:buNone/>
            </a:pPr>
            <a:endParaRPr sz="1800" b="0" i="0" u="none" strike="noStrike" cap="none">
              <a:solidFill>
                <a:srgbClr val="F8F8F8"/>
              </a:solidFill>
              <a:latin typeface="Arial"/>
              <a:ea typeface="Arial"/>
              <a:cs typeface="Arial"/>
              <a:sym typeface="Arial"/>
            </a:endParaRPr>
          </a:p>
          <a:p>
            <a:pPr marL="360000" marR="0" lvl="0" indent="-360000" algn="l" rtl="0">
              <a:spcBef>
                <a:spcPts val="0"/>
              </a:spcBef>
              <a:spcAft>
                <a:spcPts val="0"/>
              </a:spcAft>
              <a:buClr>
                <a:srgbClr val="F8F8F8"/>
              </a:buClr>
              <a:buSzPts val="1800"/>
              <a:buFont typeface="Arial"/>
              <a:buAutoNum type="arabicParenR"/>
            </a:pPr>
            <a:r>
              <a:rPr lang="en-US" sz="1800" b="0" i="0" u="none" strike="noStrike" cap="none">
                <a:solidFill>
                  <a:srgbClr val="F8F8F8"/>
                </a:solidFill>
                <a:latin typeface="Arial"/>
                <a:ea typeface="Arial"/>
                <a:cs typeface="Arial"/>
                <a:sym typeface="Arial"/>
              </a:rPr>
              <a:t>Fraction of fasteners inspected and found under-torqued on new or rehab bridge construction </a:t>
            </a:r>
            <a:r>
              <a:rPr lang="en-US" sz="1800" b="1" i="0" u="none" strike="noStrike" cap="none">
                <a:solidFill>
                  <a:srgbClr val="F8F8F8"/>
                </a:solidFill>
                <a:latin typeface="Arial"/>
                <a:ea typeface="Arial"/>
                <a:cs typeface="Arial"/>
                <a:sym typeface="Arial"/>
              </a:rPr>
              <a:t>(consequence: imminent structural collapse)</a:t>
            </a:r>
            <a:endParaRPr/>
          </a:p>
          <a:p>
            <a:pPr marL="360000" marR="0" lvl="0" indent="-245700" algn="l" rtl="0">
              <a:spcBef>
                <a:spcPts val="0"/>
              </a:spcBef>
              <a:spcAft>
                <a:spcPts val="0"/>
              </a:spcAft>
              <a:buClr>
                <a:schemeClr val="dk1"/>
              </a:buClr>
              <a:buSzPts val="1800"/>
              <a:buFont typeface="Arial"/>
              <a:buNone/>
            </a:pPr>
            <a:endParaRPr sz="1800" b="0" i="0" u="none" strike="noStrike" cap="none">
              <a:solidFill>
                <a:srgbClr val="F8F8F8"/>
              </a:solidFill>
              <a:latin typeface="Arial"/>
              <a:ea typeface="Arial"/>
              <a:cs typeface="Arial"/>
              <a:sym typeface="Arial"/>
            </a:endParaRPr>
          </a:p>
          <a:p>
            <a:pPr marL="360000" marR="0" lvl="0" indent="-360000" algn="l" rtl="0">
              <a:spcBef>
                <a:spcPts val="0"/>
              </a:spcBef>
              <a:spcAft>
                <a:spcPts val="0"/>
              </a:spcAft>
              <a:buClr>
                <a:srgbClr val="F8F8F8"/>
              </a:buClr>
              <a:buSzPts val="1800"/>
              <a:buFont typeface="Arial"/>
              <a:buAutoNum type="arabicParenR"/>
            </a:pPr>
            <a:r>
              <a:rPr lang="en-US" sz="1800" b="0" i="0" u="none" strike="noStrike" cap="none">
                <a:solidFill>
                  <a:srgbClr val="F8F8F8"/>
                </a:solidFill>
                <a:latin typeface="Arial"/>
                <a:ea typeface="Arial"/>
                <a:cs typeface="Arial"/>
                <a:sym typeface="Arial"/>
              </a:rPr>
              <a:t>Fraction of metal surface areas with defective protective coating </a:t>
            </a:r>
            <a:r>
              <a:rPr lang="en-US" sz="1800" b="1" i="0" u="none" strike="noStrike" cap="none">
                <a:solidFill>
                  <a:srgbClr val="F8F8F8"/>
                </a:solidFill>
                <a:latin typeface="Arial"/>
                <a:ea typeface="Arial"/>
                <a:cs typeface="Arial"/>
                <a:sym typeface="Arial"/>
              </a:rPr>
              <a:t>(consequence: extensive future repairs or delayed structural collapse)</a:t>
            </a:r>
            <a:endParaRPr sz="1800" b="0" i="0" u="none" strike="noStrike" cap="none">
              <a:solidFill>
                <a:srgbClr val="F8F8F8"/>
              </a:solidFill>
              <a:latin typeface="Arial"/>
              <a:ea typeface="Arial"/>
              <a:cs typeface="Arial"/>
              <a:sym typeface="Arial"/>
            </a:endParaRPr>
          </a:p>
          <a:p>
            <a:pPr marL="360000" marR="0" lvl="0" indent="-245700" algn="l" rtl="0">
              <a:spcBef>
                <a:spcPts val="0"/>
              </a:spcBef>
              <a:spcAft>
                <a:spcPts val="0"/>
              </a:spcAft>
              <a:buClr>
                <a:schemeClr val="dk1"/>
              </a:buClr>
              <a:buSzPts val="1800"/>
              <a:buFont typeface="Arial"/>
              <a:buNone/>
            </a:pPr>
            <a:endParaRPr sz="1800" b="0" i="0" u="none" strike="noStrike" cap="none">
              <a:solidFill>
                <a:srgbClr val="F8F8F8"/>
              </a:solidFill>
              <a:latin typeface="Arial"/>
              <a:ea typeface="Arial"/>
              <a:cs typeface="Arial"/>
              <a:sym typeface="Arial"/>
            </a:endParaRPr>
          </a:p>
          <a:p>
            <a:pPr marL="360000" marR="0" lvl="0" indent="-360000" algn="l" rtl="0">
              <a:spcBef>
                <a:spcPts val="0"/>
              </a:spcBef>
              <a:spcAft>
                <a:spcPts val="0"/>
              </a:spcAft>
              <a:buClr>
                <a:srgbClr val="F8F8F8"/>
              </a:buClr>
              <a:buSzPts val="1800"/>
              <a:buFont typeface="Arial"/>
              <a:buAutoNum type="arabicParenR"/>
            </a:pPr>
            <a:r>
              <a:rPr lang="en-US" sz="1800" b="0" i="0" u="none" strike="noStrike" cap="none">
                <a:solidFill>
                  <a:srgbClr val="F8F8F8"/>
                </a:solidFill>
                <a:latin typeface="Arial"/>
                <a:ea typeface="Arial"/>
                <a:cs typeface="Arial"/>
                <a:sym typeface="Arial"/>
              </a:rPr>
              <a:t>Number of SP’s reported that solely pertain to lack of PPE </a:t>
            </a:r>
            <a:r>
              <a:rPr lang="en-US" sz="1800" b="1" i="0" u="none" strike="noStrike" cap="none">
                <a:solidFill>
                  <a:srgbClr val="F8F8F8"/>
                </a:solidFill>
                <a:latin typeface="Arial"/>
                <a:ea typeface="Arial"/>
                <a:cs typeface="Arial"/>
                <a:sym typeface="Arial"/>
              </a:rPr>
              <a:t>(consequence: limited to injury to the one individual)</a:t>
            </a:r>
            <a:endParaRPr sz="1800" b="1" i="0" u="none" strike="noStrike" cap="none">
              <a:solidFill>
                <a:srgbClr val="F8F8F8"/>
              </a:solidFill>
              <a:latin typeface="Arial"/>
              <a:ea typeface="Arial"/>
              <a:cs typeface="Arial"/>
              <a:sym typeface="Arial"/>
            </a:endParaRPr>
          </a:p>
          <a:p>
            <a:pPr marL="360000" marR="0" lvl="0" indent="-245700" algn="l" rtl="0">
              <a:spcBef>
                <a:spcPts val="0"/>
              </a:spcBef>
              <a:spcAft>
                <a:spcPts val="0"/>
              </a:spcAft>
              <a:buClr>
                <a:schemeClr val="dk1"/>
              </a:buClr>
              <a:buSzPts val="1800"/>
              <a:buFont typeface="Arial"/>
              <a:buNone/>
            </a:pPr>
            <a:endParaRPr sz="1800" b="0" i="0" u="none" strike="noStrike" cap="none">
              <a:solidFill>
                <a:srgbClr val="F8F8F8"/>
              </a:solidFill>
              <a:latin typeface="Arial"/>
              <a:ea typeface="Arial"/>
              <a:cs typeface="Arial"/>
              <a:sym typeface="Arial"/>
            </a:endParaRPr>
          </a:p>
          <a:p>
            <a:pPr marL="360000" marR="0" lvl="0" indent="-360000" algn="l" rtl="0">
              <a:spcBef>
                <a:spcPts val="0"/>
              </a:spcBef>
              <a:spcAft>
                <a:spcPts val="0"/>
              </a:spcAft>
              <a:buClr>
                <a:srgbClr val="F8F8F8"/>
              </a:buClr>
              <a:buSzPts val="1800"/>
              <a:buFont typeface="Arial"/>
              <a:buAutoNum type="arabicParenR"/>
            </a:pPr>
            <a:r>
              <a:rPr lang="en-US" sz="1800" b="0" i="0" u="none" strike="noStrike" cap="none">
                <a:solidFill>
                  <a:srgbClr val="F8F8F8"/>
                </a:solidFill>
                <a:latin typeface="Arial"/>
                <a:ea typeface="Arial"/>
                <a:cs typeface="Arial"/>
                <a:sym typeface="Arial"/>
              </a:rPr>
              <a:t>Number of times that flagging personnel unnecessarily delayed local traffic </a:t>
            </a:r>
            <a:r>
              <a:rPr lang="en-US" sz="1800" b="1" i="0" u="none" strike="noStrike" cap="none">
                <a:solidFill>
                  <a:srgbClr val="F8F8F8"/>
                </a:solidFill>
                <a:latin typeface="Arial"/>
                <a:ea typeface="Arial"/>
                <a:cs typeface="Arial"/>
                <a:sym typeface="Arial"/>
              </a:rPr>
              <a:t>(consequence: none on PEAP)</a:t>
            </a:r>
            <a:endParaRPr sz="1800" b="1" i="0" u="none" strike="noStrike" cap="none">
              <a:solidFill>
                <a:srgbClr val="F8F8F8"/>
              </a:solidFill>
              <a:latin typeface="Arial"/>
              <a:ea typeface="Arial"/>
              <a:cs typeface="Arial"/>
              <a:sym typeface="Arial"/>
            </a:endParaRPr>
          </a:p>
        </p:txBody>
      </p:sp>
      <p:sp>
        <p:nvSpPr>
          <p:cNvPr id="142" name="Google Shape;142;p9"/>
          <p:cNvSpPr txBox="1"/>
          <p:nvPr/>
        </p:nvSpPr>
        <p:spPr>
          <a:xfrm>
            <a:off x="8280000" y="6300000"/>
            <a:ext cx="533400" cy="2880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Clr>
                <a:srgbClr val="000000"/>
              </a:buClr>
              <a:buSzPts val="1200"/>
              <a:buFont typeface="Noto Sans Symbols"/>
              <a:buNone/>
            </a:pPr>
            <a:fld id="{00000000-1234-1234-1234-123412341234}" type="slidenum">
              <a:rPr lang="en-US" sz="1200" b="1" i="1" u="none" strike="noStrike" cap="none">
                <a:solidFill>
                  <a:srgbClr val="000000"/>
                </a:solidFill>
                <a:latin typeface="Arial"/>
                <a:ea typeface="Arial"/>
                <a:cs typeface="Arial"/>
                <a:sym typeface="Arial"/>
              </a:rPr>
              <a:t>11</a:t>
            </a:fld>
            <a:endParaRPr sz="1200" b="1" i="1" u="none" strike="noStrike" cap="none">
              <a:solidFill>
                <a:srgbClr val="000000"/>
              </a:solidFill>
              <a:latin typeface="Arial"/>
              <a:ea typeface="Arial"/>
              <a:cs typeface="Arial"/>
              <a:sym typeface="Arial"/>
            </a:endParaRPr>
          </a:p>
        </p:txBody>
      </p:sp>
      <p:sp>
        <p:nvSpPr>
          <p:cNvPr id="143" name="Google Shape;143;p9"/>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b="1" i="1" u="none" strike="noStrike" cap="none">
                <a:solidFill>
                  <a:srgbClr val="000000"/>
                </a:solidFill>
                <a:latin typeface="Arial"/>
                <a:ea typeface="Arial"/>
                <a:cs typeface="Arial"/>
                <a:sym typeface="Arial"/>
              </a:rPr>
              <a:t>Chapter 6.2: Safety Metrics, Lagging and Leading Indicators</a:t>
            </a:r>
            <a:endParaRPr sz="1200" b="1" i="1" u="none" strike="noStrike" cap="none">
              <a:solidFill>
                <a:srgbClr val="000000"/>
              </a:solidFill>
              <a:latin typeface="Arial"/>
              <a:ea typeface="Arial"/>
              <a:cs typeface="Arial"/>
              <a:sym typeface="Arial"/>
            </a:endParaRPr>
          </a:p>
        </p:txBody>
      </p:sp>
    </p:spTree>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10"/>
          <p:cNvSpPr/>
          <p:nvPr/>
        </p:nvSpPr>
        <p:spPr>
          <a:xfrm>
            <a:off x="180000" y="828000"/>
            <a:ext cx="8640000" cy="5328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000000"/>
                </a:solidFill>
                <a:latin typeface="Arial"/>
                <a:ea typeface="Arial"/>
                <a:cs typeface="Arial"/>
                <a:sym typeface="Arial"/>
              </a:rPr>
              <a:t>Summary:</a:t>
            </a:r>
            <a:endParaRPr/>
          </a:p>
          <a:p>
            <a:pPr marL="360000" marR="0" lvl="0" indent="-360000" algn="l" rtl="0">
              <a:lnSpc>
                <a:spcPct val="100000"/>
              </a:lnSpc>
              <a:spcBef>
                <a:spcPts val="0"/>
              </a:spcBef>
              <a:spcAft>
                <a:spcPts val="0"/>
              </a:spcAft>
              <a:buClr>
                <a:srgbClr val="000000"/>
              </a:buClr>
              <a:buSzPts val="1800"/>
              <a:buFont typeface="Noto Sans Symbols"/>
              <a:buChar char="⮚"/>
            </a:pPr>
            <a:r>
              <a:rPr lang="en-US" sz="1800" b="0" i="0" u="none" strike="noStrike" cap="none">
                <a:solidFill>
                  <a:srgbClr val="000000"/>
                </a:solidFill>
                <a:latin typeface="Arial"/>
                <a:ea typeface="Arial"/>
                <a:cs typeface="Arial"/>
                <a:sym typeface="Arial"/>
              </a:rPr>
              <a:t>Lagging indicators are “after the fact” of a loss incident.</a:t>
            </a:r>
            <a:endParaRPr/>
          </a:p>
          <a:p>
            <a:pPr marL="360000" marR="0" lvl="0" indent="-360000" algn="l" rtl="0">
              <a:lnSpc>
                <a:spcPct val="100000"/>
              </a:lnSpc>
              <a:spcBef>
                <a:spcPts val="0"/>
              </a:spcBef>
              <a:spcAft>
                <a:spcPts val="0"/>
              </a:spcAft>
              <a:buClr>
                <a:srgbClr val="000000"/>
              </a:buClr>
              <a:buSzPts val="1800"/>
              <a:buFont typeface="Noto Sans Symbols"/>
              <a:buChar char="⮚"/>
            </a:pPr>
            <a:r>
              <a:rPr lang="en-US" sz="1800" b="0" i="0" u="none" strike="noStrike" cap="none">
                <a:solidFill>
                  <a:srgbClr val="000000"/>
                </a:solidFill>
                <a:latin typeface="Arial"/>
                <a:ea typeface="Arial"/>
                <a:cs typeface="Arial"/>
                <a:sym typeface="Arial"/>
              </a:rPr>
              <a:t>Superior organizations use leading indicators to</a:t>
            </a:r>
            <a:endParaRPr/>
          </a:p>
          <a:p>
            <a:pPr marL="720000" marR="0" lvl="0" indent="-359999" algn="l" rtl="0">
              <a:lnSpc>
                <a:spcPct val="100000"/>
              </a:lnSpc>
              <a:spcBef>
                <a:spcPts val="0"/>
              </a:spcBef>
              <a:spcAft>
                <a:spcPts val="0"/>
              </a:spcAft>
              <a:buClr>
                <a:srgbClr val="000000"/>
              </a:buClr>
              <a:buSzPts val="1800"/>
              <a:buFont typeface="Noto Sans Symbols"/>
              <a:buChar char="⮚"/>
            </a:pPr>
            <a:r>
              <a:rPr lang="en-US" sz="1800" b="0" i="0" u="none" strike="noStrike" cap="none">
                <a:solidFill>
                  <a:srgbClr val="000000"/>
                </a:solidFill>
                <a:latin typeface="Arial"/>
                <a:ea typeface="Arial"/>
                <a:cs typeface="Arial"/>
                <a:sym typeface="Arial"/>
              </a:rPr>
              <a:t>measure the effectiveness of a RM program i.e. look at the effective and compliant work execution of administrative controls and effectiveness of engineered systems.</a:t>
            </a:r>
            <a:endParaRPr/>
          </a:p>
          <a:p>
            <a:pPr marL="720000" marR="0" lvl="0" indent="-359999" algn="l" rtl="0">
              <a:lnSpc>
                <a:spcPct val="100000"/>
              </a:lnSpc>
              <a:spcBef>
                <a:spcPts val="0"/>
              </a:spcBef>
              <a:spcAft>
                <a:spcPts val="0"/>
              </a:spcAft>
              <a:buClr>
                <a:srgbClr val="000000"/>
              </a:buClr>
              <a:buSzPts val="1800"/>
              <a:buFont typeface="Noto Sans Symbols"/>
              <a:buChar char="⮚"/>
            </a:pPr>
            <a:r>
              <a:rPr lang="en-US" sz="1800" b="0" i="0" u="none" strike="noStrike" cap="none">
                <a:solidFill>
                  <a:srgbClr val="000000"/>
                </a:solidFill>
                <a:latin typeface="Arial"/>
                <a:ea typeface="Arial"/>
                <a:cs typeface="Arial"/>
                <a:sym typeface="Arial"/>
              </a:rPr>
              <a:t>improve safety culture, </a:t>
            </a:r>
            <a:endParaRPr/>
          </a:p>
          <a:p>
            <a:pPr marL="720000" marR="0" lvl="0" indent="-359999" algn="l" rtl="0">
              <a:lnSpc>
                <a:spcPct val="100000"/>
              </a:lnSpc>
              <a:spcBef>
                <a:spcPts val="0"/>
              </a:spcBef>
              <a:spcAft>
                <a:spcPts val="0"/>
              </a:spcAft>
              <a:buClr>
                <a:srgbClr val="000000"/>
              </a:buClr>
              <a:buSzPts val="1800"/>
              <a:buFont typeface="Noto Sans Symbols"/>
              <a:buChar char="⮚"/>
            </a:pPr>
            <a:r>
              <a:rPr lang="en-US" sz="1800" b="0" i="0" u="none" strike="noStrike" cap="none">
                <a:solidFill>
                  <a:srgbClr val="000000"/>
                </a:solidFill>
                <a:latin typeface="Arial"/>
                <a:ea typeface="Arial"/>
                <a:cs typeface="Arial"/>
                <a:sym typeface="Arial"/>
              </a:rPr>
              <a:t>promote communication, </a:t>
            </a:r>
            <a:endParaRPr sz="1800" b="0" i="0" u="none" strike="noStrike" cap="none">
              <a:solidFill>
                <a:srgbClr val="000000"/>
              </a:solidFill>
              <a:latin typeface="Arial"/>
              <a:ea typeface="Arial"/>
              <a:cs typeface="Arial"/>
              <a:sym typeface="Arial"/>
            </a:endParaRPr>
          </a:p>
          <a:p>
            <a:pPr marL="720000" marR="0" lvl="0" indent="-359999" algn="l" rtl="0">
              <a:lnSpc>
                <a:spcPct val="100000"/>
              </a:lnSpc>
              <a:spcBef>
                <a:spcPts val="0"/>
              </a:spcBef>
              <a:spcAft>
                <a:spcPts val="0"/>
              </a:spcAft>
              <a:buClr>
                <a:srgbClr val="000000"/>
              </a:buClr>
              <a:buSzPts val="1800"/>
              <a:buFont typeface="Noto Sans Symbols"/>
              <a:buChar char="⮚"/>
            </a:pPr>
            <a:r>
              <a:rPr lang="en-US" sz="1800" b="0" i="0" u="none" strike="noStrike" cap="none">
                <a:solidFill>
                  <a:srgbClr val="000000"/>
                </a:solidFill>
                <a:latin typeface="Arial"/>
                <a:ea typeface="Arial"/>
                <a:cs typeface="Arial"/>
                <a:sym typeface="Arial"/>
              </a:rPr>
              <a:t>prevent incidents, </a:t>
            </a:r>
            <a:endParaRPr sz="1800" b="0" i="0" u="none" strike="noStrike" cap="none">
              <a:solidFill>
                <a:srgbClr val="000000"/>
              </a:solidFill>
              <a:latin typeface="Arial"/>
              <a:ea typeface="Arial"/>
              <a:cs typeface="Arial"/>
              <a:sym typeface="Arial"/>
            </a:endParaRPr>
          </a:p>
          <a:p>
            <a:pPr marL="720000" marR="0" lvl="0" indent="-359999" algn="l" rtl="0">
              <a:lnSpc>
                <a:spcPct val="100000"/>
              </a:lnSpc>
              <a:spcBef>
                <a:spcPts val="0"/>
              </a:spcBef>
              <a:spcAft>
                <a:spcPts val="0"/>
              </a:spcAft>
              <a:buClr>
                <a:srgbClr val="000000"/>
              </a:buClr>
              <a:buSzPts val="1800"/>
              <a:buFont typeface="Noto Sans Symbols"/>
              <a:buChar char="⮚"/>
            </a:pPr>
            <a:r>
              <a:rPr lang="en-US" sz="1800" b="0" i="0" u="none" strike="noStrike" cap="none">
                <a:solidFill>
                  <a:srgbClr val="000000"/>
                </a:solidFill>
                <a:latin typeface="Arial"/>
                <a:ea typeface="Arial"/>
                <a:cs typeface="Arial"/>
                <a:sym typeface="Arial"/>
              </a:rPr>
              <a:t>ultimately improve safety performance. </a:t>
            </a:r>
            <a:endParaRPr sz="1800" b="0" i="0" u="none" strike="noStrike" cap="none">
              <a:solidFill>
                <a:srgbClr val="000000"/>
              </a:solidFill>
              <a:latin typeface="Arial"/>
              <a:ea typeface="Arial"/>
              <a:cs typeface="Arial"/>
              <a:sym typeface="Arial"/>
            </a:endParaRPr>
          </a:p>
          <a:p>
            <a:pPr marL="360000" marR="0" lvl="0" indent="-360000" algn="l" rtl="0">
              <a:lnSpc>
                <a:spcPct val="100000"/>
              </a:lnSpc>
              <a:spcBef>
                <a:spcPts val="0"/>
              </a:spcBef>
              <a:spcAft>
                <a:spcPts val="0"/>
              </a:spcAft>
              <a:buClr>
                <a:srgbClr val="000000"/>
              </a:buClr>
              <a:buSzPts val="1800"/>
              <a:buFont typeface="Noto Sans Symbols"/>
              <a:buChar char="⮚"/>
            </a:pPr>
            <a:r>
              <a:rPr lang="en-US" sz="1800" b="0" i="0" u="none" strike="noStrike" cap="none">
                <a:solidFill>
                  <a:srgbClr val="000000"/>
                </a:solidFill>
                <a:latin typeface="Arial"/>
                <a:ea typeface="Arial"/>
                <a:cs typeface="Arial"/>
                <a:sym typeface="Arial"/>
              </a:rPr>
              <a:t>Metrics are based on “counts”, and a meaningful “rate” can be determined, standardized, applied, monitored, and tracked. </a:t>
            </a:r>
            <a:endParaRPr sz="1800" b="0" i="0" u="none" strike="noStrike" cap="none">
              <a:solidFill>
                <a:srgbClr val="000000"/>
              </a:solidFill>
              <a:latin typeface="Arial"/>
              <a:ea typeface="Arial"/>
              <a:cs typeface="Arial"/>
              <a:sym typeface="Arial"/>
            </a:endParaRPr>
          </a:p>
          <a:p>
            <a:pPr marL="360000" marR="0" lvl="0" indent="-360000" algn="l" rtl="0">
              <a:lnSpc>
                <a:spcPct val="100000"/>
              </a:lnSpc>
              <a:spcBef>
                <a:spcPts val="0"/>
              </a:spcBef>
              <a:spcAft>
                <a:spcPts val="0"/>
              </a:spcAft>
              <a:buClr>
                <a:srgbClr val="000000"/>
              </a:buClr>
              <a:buSzPts val="1800"/>
              <a:buFont typeface="Arial"/>
              <a:buNone/>
            </a:pPr>
            <a:endParaRPr sz="1800" b="1"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000000"/>
                </a:solidFill>
                <a:latin typeface="Arial"/>
                <a:ea typeface="Arial"/>
                <a:cs typeface="Arial"/>
                <a:sym typeface="Arial"/>
              </a:rPr>
              <a:t>Key Lessons</a:t>
            </a:r>
            <a:endParaRPr/>
          </a:p>
          <a:p>
            <a:pPr marL="360000" marR="0" lvl="0" indent="-360000" algn="l" rtl="0">
              <a:lnSpc>
                <a:spcPct val="100000"/>
              </a:lnSpc>
              <a:spcBef>
                <a:spcPts val="0"/>
              </a:spcBef>
              <a:spcAft>
                <a:spcPts val="0"/>
              </a:spcAft>
              <a:buClr>
                <a:srgbClr val="000000"/>
              </a:buClr>
              <a:buSzPts val="1800"/>
              <a:buFont typeface="Noto Sans Symbols"/>
              <a:buChar char="⮚"/>
            </a:pPr>
            <a:r>
              <a:rPr lang="en-US" sz="1800" b="0" i="0" u="none" strike="noStrike" cap="none">
                <a:solidFill>
                  <a:srgbClr val="000000"/>
                </a:solidFill>
                <a:latin typeface="Arial"/>
                <a:ea typeface="Arial"/>
                <a:cs typeface="Arial"/>
                <a:sym typeface="Arial"/>
              </a:rPr>
              <a:t>Leaders can use leading indicators to:</a:t>
            </a:r>
            <a:endParaRPr/>
          </a:p>
          <a:p>
            <a:pPr marL="720000" marR="0" lvl="0" indent="-359999" algn="l" rtl="0">
              <a:lnSpc>
                <a:spcPct val="100000"/>
              </a:lnSpc>
              <a:spcBef>
                <a:spcPts val="0"/>
              </a:spcBef>
              <a:spcAft>
                <a:spcPts val="0"/>
              </a:spcAft>
              <a:buClr>
                <a:srgbClr val="000000"/>
              </a:buClr>
              <a:buSzPts val="1800"/>
              <a:buFont typeface="Noto Sans Symbols"/>
              <a:buChar char="⮚"/>
            </a:pPr>
            <a:r>
              <a:rPr lang="en-US" sz="1800" b="0" i="0" u="none" strike="noStrike" cap="none">
                <a:solidFill>
                  <a:srgbClr val="000000"/>
                </a:solidFill>
                <a:latin typeface="Arial"/>
                <a:ea typeface="Arial"/>
                <a:cs typeface="Arial"/>
                <a:sym typeface="Arial"/>
              </a:rPr>
              <a:t>Measure the overall effective implementation (execution) of a risk management program.</a:t>
            </a:r>
            <a:endParaRPr/>
          </a:p>
          <a:p>
            <a:pPr marL="720000" marR="0" lvl="0" indent="-359999" algn="l" rtl="0">
              <a:lnSpc>
                <a:spcPct val="100000"/>
              </a:lnSpc>
              <a:spcBef>
                <a:spcPts val="0"/>
              </a:spcBef>
              <a:spcAft>
                <a:spcPts val="0"/>
              </a:spcAft>
              <a:buClr>
                <a:srgbClr val="000000"/>
              </a:buClr>
              <a:buSzPts val="1800"/>
              <a:buFont typeface="Noto Sans Symbols"/>
              <a:buChar char="⮚"/>
            </a:pPr>
            <a:r>
              <a:rPr lang="en-US" sz="1800" b="0" i="0" u="none" strike="noStrike" cap="none">
                <a:solidFill>
                  <a:srgbClr val="000000"/>
                </a:solidFill>
                <a:latin typeface="Arial"/>
                <a:ea typeface="Arial"/>
                <a:cs typeface="Arial"/>
                <a:sym typeface="Arial"/>
              </a:rPr>
              <a:t>Identify deficiencies (degradation, deterioration) of critical safety conditions and critical safety rules for both occupational safety and technical safety.</a:t>
            </a:r>
            <a:endParaRPr sz="1800" b="0" i="0" u="none" strike="noStrike" cap="none">
              <a:solidFill>
                <a:srgbClr val="000000"/>
              </a:solidFill>
              <a:latin typeface="Arial"/>
              <a:ea typeface="Arial"/>
              <a:cs typeface="Arial"/>
              <a:sym typeface="Arial"/>
            </a:endParaRPr>
          </a:p>
        </p:txBody>
      </p:sp>
      <p:sp>
        <p:nvSpPr>
          <p:cNvPr id="150" name="Google Shape;150;p10"/>
          <p:cNvSpPr/>
          <p:nvPr/>
        </p:nvSpPr>
        <p:spPr>
          <a:xfrm>
            <a:off x="180000" y="180000"/>
            <a:ext cx="8640000" cy="5400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accent2"/>
              </a:buClr>
              <a:buSzPts val="2400"/>
              <a:buFont typeface="Arial"/>
              <a:buNone/>
            </a:pPr>
            <a:r>
              <a:rPr lang="en-US" sz="2400" b="0" i="0" u="none" strike="noStrike" cap="none">
                <a:solidFill>
                  <a:schemeClr val="accent2"/>
                </a:solidFill>
                <a:latin typeface="Arial"/>
                <a:ea typeface="Arial"/>
                <a:cs typeface="Arial"/>
                <a:sym typeface="Arial"/>
              </a:rPr>
              <a:t>Summary and Key Lessons:</a:t>
            </a:r>
            <a:endParaRPr sz="2400" b="0" i="0" u="none" strike="noStrike" cap="none">
              <a:solidFill>
                <a:schemeClr val="accent2"/>
              </a:solidFill>
              <a:latin typeface="Arial"/>
              <a:ea typeface="Arial"/>
              <a:cs typeface="Arial"/>
              <a:sym typeface="Arial"/>
            </a:endParaRPr>
          </a:p>
        </p:txBody>
      </p:sp>
      <p:sp>
        <p:nvSpPr>
          <p:cNvPr id="151" name="Google Shape;151;p10"/>
          <p:cNvSpPr txBox="1"/>
          <p:nvPr/>
        </p:nvSpPr>
        <p:spPr>
          <a:xfrm>
            <a:off x="8280000" y="6300000"/>
            <a:ext cx="533400" cy="2880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Clr>
                <a:srgbClr val="000000"/>
              </a:buClr>
              <a:buSzPts val="1200"/>
              <a:buFont typeface="Noto Sans Symbols"/>
              <a:buNone/>
            </a:pPr>
            <a:fld id="{00000000-1234-1234-1234-123412341234}" type="slidenum">
              <a:rPr lang="en-US" sz="1200" b="1" i="1" u="none" strike="noStrike" cap="none">
                <a:solidFill>
                  <a:srgbClr val="000000"/>
                </a:solidFill>
                <a:latin typeface="Arial"/>
                <a:ea typeface="Arial"/>
                <a:cs typeface="Arial"/>
                <a:sym typeface="Arial"/>
              </a:rPr>
              <a:t>12</a:t>
            </a:fld>
            <a:endParaRPr sz="1200" b="1" i="1" u="none" strike="noStrike" cap="none">
              <a:solidFill>
                <a:srgbClr val="000000"/>
              </a:solidFill>
              <a:latin typeface="Arial"/>
              <a:ea typeface="Arial"/>
              <a:cs typeface="Arial"/>
              <a:sym typeface="Arial"/>
            </a:endParaRPr>
          </a:p>
        </p:txBody>
      </p:sp>
      <p:sp>
        <p:nvSpPr>
          <p:cNvPr id="152" name="Google Shape;152;p10"/>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b="1" i="1" u="none" strike="noStrike" cap="none">
                <a:solidFill>
                  <a:srgbClr val="000000"/>
                </a:solidFill>
                <a:latin typeface="Arial"/>
                <a:ea typeface="Arial"/>
                <a:cs typeface="Arial"/>
                <a:sym typeface="Arial"/>
              </a:rPr>
              <a:t>Chapter 6.2: Safety Metrics, Lagging and Leading Indicators</a:t>
            </a:r>
            <a:endParaRPr sz="1200" b="1" i="1" u="none" strike="noStrike" cap="none">
              <a:solidFill>
                <a:srgbClr val="000000"/>
              </a:solidFill>
              <a:latin typeface="Arial"/>
              <a:ea typeface="Arial"/>
              <a:cs typeface="Arial"/>
              <a:sym typeface="Arial"/>
            </a:endParaRPr>
          </a:p>
        </p:txBody>
      </p:sp>
    </p:spTree>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11"/>
          <p:cNvSpPr/>
          <p:nvPr/>
        </p:nvSpPr>
        <p:spPr>
          <a:xfrm>
            <a:off x="180000" y="828000"/>
            <a:ext cx="8640000" cy="5328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000"/>
              <a:buFont typeface="Arial"/>
              <a:buNone/>
            </a:pPr>
            <a:endParaRPr sz="2000" b="0" i="0" u="none" strike="noStrike" cap="none">
              <a:solidFill>
                <a:srgbClr val="000000"/>
              </a:solidFill>
              <a:latin typeface="Arial"/>
              <a:ea typeface="Arial"/>
              <a:cs typeface="Arial"/>
              <a:sym typeface="Arial"/>
            </a:endParaRPr>
          </a:p>
          <a:p>
            <a:pPr marL="360000" marR="0" lvl="0" indent="-233000" algn="l" rtl="0">
              <a:lnSpc>
                <a:spcPct val="100000"/>
              </a:lnSpc>
              <a:spcBef>
                <a:spcPts val="0"/>
              </a:spcBef>
              <a:spcAft>
                <a:spcPts val="0"/>
              </a:spcAft>
              <a:buClr>
                <a:schemeClr val="dk1"/>
              </a:buClr>
              <a:buSzPts val="2000"/>
              <a:buFont typeface="Noto Sans Symbols"/>
              <a:buNone/>
            </a:pPr>
            <a:endParaRPr sz="2000" b="0" i="0" u="none" strike="noStrike" cap="none">
              <a:solidFill>
                <a:srgbClr val="000000"/>
              </a:solidFill>
              <a:latin typeface="Arial"/>
              <a:ea typeface="Arial"/>
              <a:cs typeface="Arial"/>
              <a:sym typeface="Arial"/>
            </a:endParaRPr>
          </a:p>
          <a:p>
            <a:pPr marL="360000" marR="0" lvl="0" indent="-233000" algn="l" rtl="0">
              <a:lnSpc>
                <a:spcPct val="100000"/>
              </a:lnSpc>
              <a:spcBef>
                <a:spcPts val="0"/>
              </a:spcBef>
              <a:spcAft>
                <a:spcPts val="0"/>
              </a:spcAft>
              <a:buClr>
                <a:schemeClr val="dk1"/>
              </a:buClr>
              <a:buSzPts val="2000"/>
              <a:buFont typeface="Noto Sans Symbols"/>
              <a:buNone/>
            </a:pPr>
            <a:endParaRPr sz="2000" b="0" i="0" u="none" strike="noStrike" cap="none">
              <a:solidFill>
                <a:srgbClr val="000000"/>
              </a:solidFill>
              <a:latin typeface="Arial"/>
              <a:ea typeface="Arial"/>
              <a:cs typeface="Arial"/>
              <a:sym typeface="Arial"/>
            </a:endParaRPr>
          </a:p>
        </p:txBody>
      </p:sp>
      <p:sp>
        <p:nvSpPr>
          <p:cNvPr id="159" name="Google Shape;159;p11"/>
          <p:cNvSpPr/>
          <p:nvPr/>
        </p:nvSpPr>
        <p:spPr>
          <a:xfrm>
            <a:off x="180000" y="216000"/>
            <a:ext cx="8640000" cy="5040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99"/>
              </a:buClr>
              <a:buSzPts val="2400"/>
              <a:buFont typeface="Arial"/>
              <a:buNone/>
            </a:pPr>
            <a:r>
              <a:rPr lang="en-US" sz="2400" b="0" i="0" u="none" strike="noStrike" cap="none">
                <a:solidFill>
                  <a:srgbClr val="333399"/>
                </a:solidFill>
                <a:latin typeface="Arial"/>
                <a:ea typeface="Arial"/>
                <a:cs typeface="Arial"/>
                <a:sym typeface="Arial"/>
              </a:rPr>
              <a:t>Complete Slide Deck follows with details. </a:t>
            </a:r>
            <a:endParaRPr sz="2400" b="0" i="0" u="none" strike="noStrike" cap="none">
              <a:solidFill>
                <a:srgbClr val="333399"/>
              </a:solidFill>
              <a:latin typeface="Arial"/>
              <a:ea typeface="Arial"/>
              <a:cs typeface="Arial"/>
              <a:sym typeface="Arial"/>
            </a:endParaRPr>
          </a:p>
        </p:txBody>
      </p:sp>
      <p:sp>
        <p:nvSpPr>
          <p:cNvPr id="160" name="Google Shape;160;p11"/>
          <p:cNvSpPr txBox="1"/>
          <p:nvPr/>
        </p:nvSpPr>
        <p:spPr>
          <a:xfrm>
            <a:off x="8280000" y="6300000"/>
            <a:ext cx="533400" cy="288000"/>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Clr>
                <a:srgbClr val="000000"/>
              </a:buClr>
              <a:buSzPts val="1200"/>
              <a:buFont typeface="Noto Sans Symbols"/>
              <a:buNone/>
            </a:pPr>
            <a:fld id="{00000000-1234-1234-1234-123412341234}" type="slidenum">
              <a:rPr lang="en-US" sz="1200" b="1" i="1" u="none" strike="noStrike" cap="none">
                <a:solidFill>
                  <a:srgbClr val="000000"/>
                </a:solidFill>
                <a:latin typeface="Arial"/>
                <a:ea typeface="Arial"/>
                <a:cs typeface="Arial"/>
                <a:sym typeface="Arial"/>
              </a:rPr>
              <a:t>13</a:t>
            </a:fld>
            <a:endParaRPr sz="1200" b="1" i="1" u="none" strike="noStrike" cap="none">
              <a:solidFill>
                <a:srgbClr val="000000"/>
              </a:solidFill>
              <a:latin typeface="Arial"/>
              <a:ea typeface="Arial"/>
              <a:cs typeface="Arial"/>
              <a:sym typeface="Arial"/>
            </a:endParaRPr>
          </a:p>
        </p:txBody>
      </p:sp>
    </p:spTree>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12"/>
          <p:cNvSpPr/>
          <p:nvPr/>
        </p:nvSpPr>
        <p:spPr>
          <a:xfrm>
            <a:off x="180000" y="828000"/>
            <a:ext cx="8640000" cy="5328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000"/>
              <a:buFont typeface="Arial"/>
              <a:buNone/>
            </a:pPr>
            <a:endParaRPr sz="2000" b="0" i="0" u="none" strike="noStrike" cap="none">
              <a:solidFill>
                <a:srgbClr val="000000"/>
              </a:solidFill>
              <a:latin typeface="Arial"/>
              <a:ea typeface="Arial"/>
              <a:cs typeface="Arial"/>
              <a:sym typeface="Arial"/>
            </a:endParaRPr>
          </a:p>
          <a:p>
            <a:pPr marL="360000" marR="0" lvl="0" indent="-360000" algn="l" rtl="0">
              <a:lnSpc>
                <a:spcPct val="100000"/>
              </a:lnSpc>
              <a:spcBef>
                <a:spcPts val="0"/>
              </a:spcBef>
              <a:spcAft>
                <a:spcPts val="0"/>
              </a:spcAft>
              <a:buClr>
                <a:srgbClr val="000000"/>
              </a:buClr>
              <a:buSzPts val="2000"/>
              <a:buFont typeface="Noto Sans Symbols"/>
              <a:buChar char="⮚"/>
            </a:pPr>
            <a:r>
              <a:rPr lang="en-US" sz="2000" b="0" i="0" u="none" strike="noStrike" cap="none">
                <a:solidFill>
                  <a:srgbClr val="000000"/>
                </a:solidFill>
                <a:latin typeface="Arial"/>
                <a:ea typeface="Arial"/>
                <a:cs typeface="Arial"/>
                <a:sym typeface="Arial"/>
              </a:rPr>
              <a:t>Explain the difference between leading indicators and lagging indicators. </a:t>
            </a:r>
            <a:endParaRPr/>
          </a:p>
          <a:p>
            <a:pPr marL="360000" marR="0" lvl="0" indent="-233000" algn="l" rtl="0">
              <a:lnSpc>
                <a:spcPct val="100000"/>
              </a:lnSpc>
              <a:spcBef>
                <a:spcPts val="0"/>
              </a:spcBef>
              <a:spcAft>
                <a:spcPts val="0"/>
              </a:spcAft>
              <a:buClr>
                <a:srgbClr val="000000"/>
              </a:buClr>
              <a:buSzPts val="2000"/>
              <a:buFont typeface="Noto Sans Symbols"/>
              <a:buNone/>
            </a:pPr>
            <a:endParaRPr sz="2000" b="0" i="0" u="none" strike="noStrike" cap="none">
              <a:solidFill>
                <a:srgbClr val="000000"/>
              </a:solidFill>
              <a:latin typeface="Arial"/>
              <a:ea typeface="Arial"/>
              <a:cs typeface="Arial"/>
              <a:sym typeface="Arial"/>
            </a:endParaRPr>
          </a:p>
          <a:p>
            <a:pPr marL="360000" marR="0" lvl="0" indent="-360000" algn="l" rtl="0">
              <a:lnSpc>
                <a:spcPct val="100000"/>
              </a:lnSpc>
              <a:spcBef>
                <a:spcPts val="0"/>
              </a:spcBef>
              <a:spcAft>
                <a:spcPts val="0"/>
              </a:spcAft>
              <a:buClr>
                <a:srgbClr val="000000"/>
              </a:buClr>
              <a:buSzPts val="2000"/>
              <a:buFont typeface="Noto Sans Symbols"/>
              <a:buChar char="⮚"/>
            </a:pPr>
            <a:r>
              <a:rPr lang="en-US" sz="2000" b="0" i="0" u="none" strike="noStrike" cap="none">
                <a:solidFill>
                  <a:srgbClr val="000000"/>
                </a:solidFill>
                <a:latin typeface="Arial"/>
                <a:ea typeface="Arial"/>
                <a:cs typeface="Arial"/>
                <a:sym typeface="Arial"/>
              </a:rPr>
              <a:t>Explain how applying leading indicators can:</a:t>
            </a:r>
            <a:endParaRPr sz="2000" b="0" i="0" u="none" strike="noStrike" cap="none">
              <a:solidFill>
                <a:srgbClr val="000000"/>
              </a:solidFill>
              <a:latin typeface="Arial"/>
              <a:ea typeface="Arial"/>
              <a:cs typeface="Arial"/>
              <a:sym typeface="Arial"/>
            </a:endParaRPr>
          </a:p>
          <a:p>
            <a:pPr marL="720000" marR="0" lvl="0" indent="-359999" algn="l" rtl="0">
              <a:lnSpc>
                <a:spcPct val="100000"/>
              </a:lnSpc>
              <a:spcBef>
                <a:spcPts val="0"/>
              </a:spcBef>
              <a:spcAft>
                <a:spcPts val="0"/>
              </a:spcAft>
              <a:buClr>
                <a:srgbClr val="000000"/>
              </a:buClr>
              <a:buSzPts val="2000"/>
              <a:buFont typeface="Noto Sans Symbols"/>
              <a:buChar char="⮚"/>
            </a:pPr>
            <a:r>
              <a:rPr lang="en-US" sz="2000" b="0" i="0" u="none" strike="noStrike" cap="none">
                <a:solidFill>
                  <a:srgbClr val="000000"/>
                </a:solidFill>
                <a:latin typeface="Arial"/>
                <a:ea typeface="Arial"/>
                <a:cs typeface="Arial"/>
                <a:sym typeface="Arial"/>
              </a:rPr>
              <a:t>Measure the overall effective implementation of a risk management program.</a:t>
            </a:r>
            <a:endParaRPr/>
          </a:p>
          <a:p>
            <a:pPr marL="720000" marR="0" lvl="0" indent="-359999" algn="l" rtl="0">
              <a:lnSpc>
                <a:spcPct val="100000"/>
              </a:lnSpc>
              <a:spcBef>
                <a:spcPts val="0"/>
              </a:spcBef>
              <a:spcAft>
                <a:spcPts val="0"/>
              </a:spcAft>
              <a:buClr>
                <a:srgbClr val="000000"/>
              </a:buClr>
              <a:buSzPts val="2000"/>
              <a:buFont typeface="Noto Sans Symbols"/>
              <a:buChar char="⮚"/>
            </a:pPr>
            <a:r>
              <a:rPr lang="en-US" sz="2000" b="0" i="0" u="none" strike="noStrike" cap="none">
                <a:solidFill>
                  <a:srgbClr val="000000"/>
                </a:solidFill>
                <a:latin typeface="Arial"/>
                <a:ea typeface="Arial"/>
                <a:cs typeface="Arial"/>
                <a:sym typeface="Arial"/>
              </a:rPr>
              <a:t>Identify deficiencies (degradation, deterioration) of critical safety conditions and critical safety rules for both occupational safety and technical safety.</a:t>
            </a:r>
            <a:endParaRPr/>
          </a:p>
          <a:p>
            <a:pPr marL="432000" marR="0" lvl="0" indent="-305000" algn="l" rtl="0">
              <a:lnSpc>
                <a:spcPct val="100000"/>
              </a:lnSpc>
              <a:spcBef>
                <a:spcPts val="0"/>
              </a:spcBef>
              <a:spcAft>
                <a:spcPts val="0"/>
              </a:spcAft>
              <a:buClr>
                <a:srgbClr val="000000"/>
              </a:buClr>
              <a:buSzPts val="2000"/>
              <a:buFont typeface="Noto Sans Symbols"/>
              <a:buNone/>
            </a:pPr>
            <a:endParaRPr sz="2000" b="0" i="0" u="none" strike="noStrike" cap="none">
              <a:solidFill>
                <a:srgbClr val="000000"/>
              </a:solidFill>
              <a:latin typeface="Arial"/>
              <a:ea typeface="Arial"/>
              <a:cs typeface="Arial"/>
              <a:sym typeface="Arial"/>
            </a:endParaRPr>
          </a:p>
        </p:txBody>
      </p:sp>
      <p:sp>
        <p:nvSpPr>
          <p:cNvPr id="167" name="Google Shape;167;p12"/>
          <p:cNvSpPr/>
          <p:nvPr/>
        </p:nvSpPr>
        <p:spPr>
          <a:xfrm>
            <a:off x="180000" y="180000"/>
            <a:ext cx="8640000" cy="5400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accent2"/>
              </a:buClr>
              <a:buSzPts val="2400"/>
              <a:buFont typeface="Arial"/>
              <a:buNone/>
            </a:pPr>
            <a:r>
              <a:rPr lang="en-US" sz="2400" b="0" i="0" u="none" strike="noStrike" cap="none">
                <a:solidFill>
                  <a:schemeClr val="accent2"/>
                </a:solidFill>
                <a:latin typeface="Arial"/>
                <a:ea typeface="Arial"/>
                <a:cs typeface="Arial"/>
                <a:sym typeface="Arial"/>
              </a:rPr>
              <a:t>Learning Outcomes:</a:t>
            </a:r>
            <a:endParaRPr/>
          </a:p>
        </p:txBody>
      </p:sp>
      <p:sp>
        <p:nvSpPr>
          <p:cNvPr id="168" name="Google Shape;168;p12"/>
          <p:cNvSpPr txBox="1"/>
          <p:nvPr/>
        </p:nvSpPr>
        <p:spPr>
          <a:xfrm>
            <a:off x="8280000" y="6300000"/>
            <a:ext cx="533400" cy="2880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Clr>
                <a:srgbClr val="000000"/>
              </a:buClr>
              <a:buSzPts val="1200"/>
              <a:buFont typeface="Noto Sans Symbols"/>
              <a:buNone/>
            </a:pPr>
            <a:fld id="{00000000-1234-1234-1234-123412341234}" type="slidenum">
              <a:rPr lang="en-US" sz="1200" b="1" i="1" u="none" strike="noStrike" cap="none">
                <a:solidFill>
                  <a:srgbClr val="000000"/>
                </a:solidFill>
                <a:latin typeface="Arial"/>
                <a:ea typeface="Arial"/>
                <a:cs typeface="Arial"/>
                <a:sym typeface="Arial"/>
              </a:rPr>
              <a:t>14</a:t>
            </a:fld>
            <a:endParaRPr sz="1200" b="1" i="1" u="none" strike="noStrike" cap="none">
              <a:solidFill>
                <a:srgbClr val="000000"/>
              </a:solidFill>
              <a:latin typeface="Arial"/>
              <a:ea typeface="Arial"/>
              <a:cs typeface="Arial"/>
              <a:sym typeface="Arial"/>
            </a:endParaRPr>
          </a:p>
        </p:txBody>
      </p:sp>
      <p:sp>
        <p:nvSpPr>
          <p:cNvPr id="169" name="Google Shape;169;p1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b="1" i="1" u="none" strike="noStrike" cap="none">
                <a:solidFill>
                  <a:srgbClr val="000000"/>
                </a:solidFill>
                <a:latin typeface="Arial"/>
                <a:ea typeface="Arial"/>
                <a:cs typeface="Arial"/>
                <a:sym typeface="Arial"/>
              </a:rPr>
              <a:t>Chapter 6.2: Safety Metrics, Lagging and Leading Indicators</a:t>
            </a:r>
            <a:endParaRPr sz="1200" b="1" i="1" u="none" strike="noStrike" cap="none">
              <a:solidFill>
                <a:srgbClr val="000000"/>
              </a:solidFill>
              <a:latin typeface="Arial"/>
              <a:ea typeface="Arial"/>
              <a:cs typeface="Arial"/>
              <a:sym typeface="Arial"/>
            </a:endParaRPr>
          </a:p>
        </p:txBody>
      </p:sp>
    </p:spTree>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p13"/>
          <p:cNvSpPr/>
          <p:nvPr/>
        </p:nvSpPr>
        <p:spPr>
          <a:xfrm>
            <a:off x="180000" y="180000"/>
            <a:ext cx="8640000" cy="504000"/>
          </a:xfrm>
          <a:prstGeom prst="rect">
            <a:avLst/>
          </a:pr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2400" b="0" i="0" u="none" strike="noStrike" cap="none">
                <a:solidFill>
                  <a:srgbClr val="F8F8F8"/>
                </a:solidFill>
                <a:latin typeface="Arial"/>
                <a:ea typeface="Arial"/>
                <a:cs typeface="Arial"/>
                <a:sym typeface="Arial"/>
              </a:rPr>
              <a:t>Examples: Leading and Lagging Indicators</a:t>
            </a:r>
            <a:endParaRPr sz="2400" b="0" i="0" u="none" strike="noStrike" cap="none">
              <a:solidFill>
                <a:srgbClr val="F8F8F8"/>
              </a:solidFill>
              <a:latin typeface="Arial"/>
              <a:ea typeface="Arial"/>
              <a:cs typeface="Arial"/>
              <a:sym typeface="Arial"/>
            </a:endParaRPr>
          </a:p>
        </p:txBody>
      </p:sp>
      <p:sp>
        <p:nvSpPr>
          <p:cNvPr id="179" name="Google Shape;179;p13"/>
          <p:cNvSpPr/>
          <p:nvPr/>
        </p:nvSpPr>
        <p:spPr>
          <a:xfrm>
            <a:off x="180000" y="828000"/>
            <a:ext cx="8640000" cy="5328000"/>
          </a:xfrm>
          <a:prstGeom prst="rect">
            <a:avLst/>
          </a:pr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80000"/>
              </a:lnSpc>
              <a:spcBef>
                <a:spcPts val="0"/>
              </a:spcBef>
              <a:spcAft>
                <a:spcPts val="0"/>
              </a:spcAft>
              <a:buNone/>
            </a:pPr>
            <a:r>
              <a:rPr lang="en-US" sz="1800" b="0" i="0" u="none" strike="noStrike" cap="none">
                <a:solidFill>
                  <a:srgbClr val="F8F8F8"/>
                </a:solidFill>
                <a:latin typeface="Arial"/>
                <a:ea typeface="Arial"/>
                <a:cs typeface="Arial"/>
                <a:sym typeface="Arial"/>
              </a:rPr>
              <a:t>Leading indicators are used to determine the effectiveness of certain elements in a risk management program, and where there is no consequence.</a:t>
            </a:r>
            <a:endParaRPr sz="1800" b="0" i="0" u="none" strike="noStrike" cap="none">
              <a:solidFill>
                <a:srgbClr val="F8F8F8"/>
              </a:solidFill>
              <a:latin typeface="Arial"/>
              <a:ea typeface="Arial"/>
              <a:cs typeface="Arial"/>
              <a:sym typeface="Arial"/>
            </a:endParaRPr>
          </a:p>
          <a:p>
            <a:pPr marL="0" marR="0" lvl="0" indent="0" algn="l" rtl="0">
              <a:lnSpc>
                <a:spcPct val="80000"/>
              </a:lnSpc>
              <a:spcBef>
                <a:spcPts val="0"/>
              </a:spcBef>
              <a:spcAft>
                <a:spcPts val="0"/>
              </a:spcAft>
              <a:buNone/>
            </a:pPr>
            <a:r>
              <a:rPr lang="en-US" sz="1800" b="0" i="0" u="none" strike="noStrike" cap="none">
                <a:solidFill>
                  <a:srgbClr val="F8F8F8"/>
                </a:solidFill>
                <a:latin typeface="Arial"/>
                <a:ea typeface="Arial"/>
                <a:cs typeface="Arial"/>
                <a:sym typeface="Arial"/>
              </a:rPr>
              <a:t>Lagging indicators are the results, the outcomes of potential weaknesses in certain elements in a risk management program, and usually where there is a consequence i.e. a loss.</a:t>
            </a:r>
            <a:endParaRPr/>
          </a:p>
          <a:p>
            <a:pPr marL="432000" marR="0" lvl="0" indent="-432000" algn="l" rtl="0">
              <a:lnSpc>
                <a:spcPct val="80000"/>
              </a:lnSpc>
              <a:spcBef>
                <a:spcPts val="0"/>
              </a:spcBef>
              <a:spcAft>
                <a:spcPts val="0"/>
              </a:spcAft>
              <a:buClr>
                <a:srgbClr val="F8F8F8"/>
              </a:buClr>
              <a:buSzPts val="1800"/>
              <a:buFont typeface="Noto Sans Symbols"/>
              <a:buChar char="⮚"/>
            </a:pPr>
            <a:r>
              <a:rPr lang="en-US" sz="1800" b="0" i="0" u="none" strike="noStrike" cap="none">
                <a:solidFill>
                  <a:srgbClr val="F8F8F8"/>
                </a:solidFill>
                <a:latin typeface="Arial"/>
                <a:ea typeface="Arial"/>
                <a:cs typeface="Arial"/>
                <a:sym typeface="Arial"/>
              </a:rPr>
              <a:t>Number of occupational injuries reportable to the gov’t per month </a:t>
            </a:r>
            <a:r>
              <a:rPr lang="en-US" sz="1800" b="0" i="1" u="none" strike="noStrike" cap="none">
                <a:solidFill>
                  <a:srgbClr val="F8F8F8"/>
                </a:solidFill>
                <a:latin typeface="Arial"/>
                <a:ea typeface="Arial"/>
                <a:cs typeface="Arial"/>
                <a:sym typeface="Arial"/>
              </a:rPr>
              <a:t>LAG</a:t>
            </a:r>
            <a:endParaRPr sz="1800" b="0" i="1" u="none" strike="noStrike" cap="none">
              <a:solidFill>
                <a:srgbClr val="F8F8F8"/>
              </a:solidFill>
              <a:latin typeface="Arial"/>
              <a:ea typeface="Arial"/>
              <a:cs typeface="Arial"/>
              <a:sym typeface="Arial"/>
            </a:endParaRPr>
          </a:p>
          <a:p>
            <a:pPr marL="432000" marR="0" lvl="0" indent="-432000" algn="l" rtl="0">
              <a:lnSpc>
                <a:spcPct val="80000"/>
              </a:lnSpc>
              <a:spcBef>
                <a:spcPts val="0"/>
              </a:spcBef>
              <a:spcAft>
                <a:spcPts val="0"/>
              </a:spcAft>
              <a:buClr>
                <a:srgbClr val="F8F8F8"/>
              </a:buClr>
              <a:buSzPts val="1800"/>
              <a:buFont typeface="Noto Sans Symbols"/>
              <a:buChar char="⮚"/>
            </a:pPr>
            <a:r>
              <a:rPr lang="en-US" sz="1800" b="0" i="0" u="none" strike="noStrike" cap="none">
                <a:solidFill>
                  <a:srgbClr val="F8F8F8"/>
                </a:solidFill>
                <a:latin typeface="Arial"/>
                <a:ea typeface="Arial"/>
                <a:cs typeface="Arial"/>
                <a:sym typeface="Arial"/>
              </a:rPr>
              <a:t>Number of SC’s and SP’s reported per month </a:t>
            </a:r>
            <a:r>
              <a:rPr lang="en-US" sz="1800" b="0" i="1" u="none" strike="noStrike" cap="none">
                <a:solidFill>
                  <a:srgbClr val="F8F8F8"/>
                </a:solidFill>
                <a:latin typeface="Arial"/>
                <a:ea typeface="Arial"/>
                <a:cs typeface="Arial"/>
                <a:sym typeface="Arial"/>
              </a:rPr>
              <a:t>LEAD</a:t>
            </a:r>
            <a:endParaRPr sz="1800" b="0" i="1" u="none" strike="noStrike" cap="none">
              <a:solidFill>
                <a:srgbClr val="F8F8F8"/>
              </a:solidFill>
              <a:latin typeface="Arial"/>
              <a:ea typeface="Arial"/>
              <a:cs typeface="Arial"/>
              <a:sym typeface="Arial"/>
            </a:endParaRPr>
          </a:p>
          <a:p>
            <a:pPr marL="432000" marR="0" lvl="0" indent="-432000" algn="l" rtl="0">
              <a:lnSpc>
                <a:spcPct val="80000"/>
              </a:lnSpc>
              <a:spcBef>
                <a:spcPts val="0"/>
              </a:spcBef>
              <a:spcAft>
                <a:spcPts val="0"/>
              </a:spcAft>
              <a:buClr>
                <a:srgbClr val="F8F8F8"/>
              </a:buClr>
              <a:buSzPts val="1800"/>
              <a:buFont typeface="Noto Sans Symbols"/>
              <a:buChar char="⮚"/>
            </a:pPr>
            <a:r>
              <a:rPr lang="en-US" sz="1800" b="0" i="0" u="none" strike="noStrike" cap="none">
                <a:solidFill>
                  <a:srgbClr val="F8F8F8"/>
                </a:solidFill>
                <a:latin typeface="Arial"/>
                <a:ea typeface="Arial"/>
                <a:cs typeface="Arial"/>
                <a:sym typeface="Arial"/>
              </a:rPr>
              <a:t>Number of data breaches per year </a:t>
            </a:r>
            <a:r>
              <a:rPr lang="en-US" sz="1800" b="0" i="1" u="none" strike="noStrike" cap="none">
                <a:solidFill>
                  <a:srgbClr val="F8F8F8"/>
                </a:solidFill>
                <a:latin typeface="Arial"/>
                <a:ea typeface="Arial"/>
                <a:cs typeface="Arial"/>
                <a:sym typeface="Arial"/>
              </a:rPr>
              <a:t>LAG</a:t>
            </a:r>
            <a:endParaRPr/>
          </a:p>
          <a:p>
            <a:pPr marL="432000" marR="0" lvl="0" indent="-432000" algn="l" rtl="0">
              <a:lnSpc>
                <a:spcPct val="80000"/>
              </a:lnSpc>
              <a:spcBef>
                <a:spcPts val="0"/>
              </a:spcBef>
              <a:spcAft>
                <a:spcPts val="0"/>
              </a:spcAft>
              <a:buClr>
                <a:srgbClr val="F8F8F8"/>
              </a:buClr>
              <a:buSzPts val="1800"/>
              <a:buFont typeface="Noto Sans Symbols"/>
              <a:buChar char="⮚"/>
            </a:pPr>
            <a:r>
              <a:rPr lang="en-US" sz="1800" b="0" i="0" u="none" strike="noStrike" cap="none">
                <a:solidFill>
                  <a:srgbClr val="F8F8F8"/>
                </a:solidFill>
                <a:latin typeface="Arial"/>
                <a:ea typeface="Arial"/>
                <a:cs typeface="Arial"/>
                <a:sym typeface="Arial"/>
              </a:rPr>
              <a:t>Number of attempts to defeat the security firewall per day </a:t>
            </a:r>
            <a:r>
              <a:rPr lang="en-US" sz="1800" b="0" i="1" u="none" strike="noStrike" cap="none">
                <a:solidFill>
                  <a:srgbClr val="F8F8F8"/>
                </a:solidFill>
                <a:latin typeface="Arial"/>
                <a:ea typeface="Arial"/>
                <a:cs typeface="Arial"/>
                <a:sym typeface="Arial"/>
              </a:rPr>
              <a:t>LEAD</a:t>
            </a:r>
            <a:endParaRPr/>
          </a:p>
          <a:p>
            <a:pPr marL="432000" marR="0" lvl="0" indent="-432000" algn="l" rtl="0">
              <a:lnSpc>
                <a:spcPct val="80000"/>
              </a:lnSpc>
              <a:spcBef>
                <a:spcPts val="0"/>
              </a:spcBef>
              <a:spcAft>
                <a:spcPts val="0"/>
              </a:spcAft>
              <a:buClr>
                <a:srgbClr val="F8F8F8"/>
              </a:buClr>
              <a:buSzPts val="1800"/>
              <a:buFont typeface="Noto Sans Symbols"/>
              <a:buChar char="⮚"/>
            </a:pPr>
            <a:r>
              <a:rPr lang="en-US" sz="1800" b="0" i="0" u="none" strike="noStrike" cap="none">
                <a:solidFill>
                  <a:srgbClr val="F8F8F8"/>
                </a:solidFill>
                <a:latin typeface="Arial"/>
                <a:ea typeface="Arial"/>
                <a:cs typeface="Arial"/>
                <a:sym typeface="Arial"/>
              </a:rPr>
              <a:t>Number of over-pressure vessel failures in the plant life </a:t>
            </a:r>
            <a:r>
              <a:rPr lang="en-US" sz="1800" b="0" i="1" u="none" strike="noStrike" cap="none">
                <a:solidFill>
                  <a:srgbClr val="F8F8F8"/>
                </a:solidFill>
                <a:latin typeface="Arial"/>
                <a:ea typeface="Arial"/>
                <a:cs typeface="Arial"/>
                <a:sym typeface="Arial"/>
              </a:rPr>
              <a:t>LAG</a:t>
            </a:r>
            <a:endParaRPr sz="1800" b="0" i="1" u="none" strike="noStrike" cap="none">
              <a:solidFill>
                <a:srgbClr val="F8F8F8"/>
              </a:solidFill>
              <a:latin typeface="Arial"/>
              <a:ea typeface="Arial"/>
              <a:cs typeface="Arial"/>
              <a:sym typeface="Arial"/>
            </a:endParaRPr>
          </a:p>
          <a:p>
            <a:pPr marL="432000" marR="0" lvl="0" indent="-432000" algn="l" rtl="0">
              <a:lnSpc>
                <a:spcPct val="80000"/>
              </a:lnSpc>
              <a:spcBef>
                <a:spcPts val="0"/>
              </a:spcBef>
              <a:spcAft>
                <a:spcPts val="0"/>
              </a:spcAft>
              <a:buClr>
                <a:srgbClr val="F8F8F8"/>
              </a:buClr>
              <a:buSzPts val="1800"/>
              <a:buFont typeface="Noto Sans Symbols"/>
              <a:buChar char="⮚"/>
            </a:pPr>
            <a:r>
              <a:rPr lang="en-US" sz="1800" b="0" i="0" u="none" strike="noStrike" cap="none">
                <a:solidFill>
                  <a:srgbClr val="F8F8F8"/>
                </a:solidFill>
                <a:latin typeface="Arial"/>
                <a:ea typeface="Arial"/>
                <a:cs typeface="Arial"/>
                <a:sym typeface="Arial"/>
              </a:rPr>
              <a:t>Number of over-pressure relief valves overdue for service </a:t>
            </a:r>
            <a:r>
              <a:rPr lang="en-US" sz="1800" b="0" i="1" u="none" strike="noStrike" cap="none">
                <a:solidFill>
                  <a:srgbClr val="F8F8F8"/>
                </a:solidFill>
                <a:latin typeface="Arial"/>
                <a:ea typeface="Arial"/>
                <a:cs typeface="Arial"/>
                <a:sym typeface="Arial"/>
              </a:rPr>
              <a:t>LEAD</a:t>
            </a:r>
            <a:endParaRPr sz="1800" b="0" i="1" u="none" strike="noStrike" cap="none">
              <a:solidFill>
                <a:srgbClr val="F8F8F8"/>
              </a:solidFill>
              <a:latin typeface="Arial"/>
              <a:ea typeface="Arial"/>
              <a:cs typeface="Arial"/>
              <a:sym typeface="Arial"/>
            </a:endParaRPr>
          </a:p>
          <a:p>
            <a:pPr marL="432000" marR="0" lvl="0" indent="-432000" algn="l" rtl="0">
              <a:lnSpc>
                <a:spcPct val="80000"/>
              </a:lnSpc>
              <a:spcBef>
                <a:spcPts val="0"/>
              </a:spcBef>
              <a:spcAft>
                <a:spcPts val="0"/>
              </a:spcAft>
              <a:buClr>
                <a:srgbClr val="F8F8F8"/>
              </a:buClr>
              <a:buSzPts val="1800"/>
              <a:buFont typeface="Noto Sans Symbols"/>
              <a:buChar char="⮚"/>
            </a:pPr>
            <a:r>
              <a:rPr lang="en-US" sz="1800" b="0" i="0" u="none" strike="noStrike" cap="none">
                <a:solidFill>
                  <a:srgbClr val="F8F8F8"/>
                </a:solidFill>
                <a:latin typeface="Arial"/>
                <a:ea typeface="Arial"/>
                <a:cs typeface="Arial"/>
                <a:sym typeface="Arial"/>
              </a:rPr>
              <a:t>Number of fasteners under-torqued on a bridge construction inspection </a:t>
            </a:r>
            <a:r>
              <a:rPr lang="en-US" sz="1800" b="0" i="1" u="none" strike="noStrike" cap="none">
                <a:solidFill>
                  <a:srgbClr val="F8F8F8"/>
                </a:solidFill>
                <a:latin typeface="Arial"/>
                <a:ea typeface="Arial"/>
                <a:cs typeface="Arial"/>
                <a:sym typeface="Arial"/>
              </a:rPr>
              <a:t>LEAD</a:t>
            </a:r>
            <a:endParaRPr sz="1800" b="0" i="1" u="none" strike="noStrike" cap="none">
              <a:solidFill>
                <a:srgbClr val="F8F8F8"/>
              </a:solidFill>
              <a:latin typeface="Arial"/>
              <a:ea typeface="Arial"/>
              <a:cs typeface="Arial"/>
              <a:sym typeface="Arial"/>
            </a:endParaRPr>
          </a:p>
          <a:p>
            <a:pPr marL="432000" marR="0" lvl="0" indent="-432000" algn="l" rtl="0">
              <a:lnSpc>
                <a:spcPct val="80000"/>
              </a:lnSpc>
              <a:spcBef>
                <a:spcPts val="0"/>
              </a:spcBef>
              <a:spcAft>
                <a:spcPts val="0"/>
              </a:spcAft>
              <a:buClr>
                <a:srgbClr val="F8F8F8"/>
              </a:buClr>
              <a:buSzPts val="1800"/>
              <a:buFont typeface="Noto Sans Symbols"/>
              <a:buChar char="⮚"/>
            </a:pPr>
            <a:r>
              <a:rPr lang="en-US" sz="1800" b="0" i="0" u="none" strike="noStrike" cap="none">
                <a:solidFill>
                  <a:srgbClr val="F8F8F8"/>
                </a:solidFill>
                <a:latin typeface="Arial"/>
                <a:ea typeface="Arial"/>
                <a:cs typeface="Arial"/>
                <a:sym typeface="Arial"/>
              </a:rPr>
              <a:t>Number of steel members with loose fasteners </a:t>
            </a:r>
            <a:r>
              <a:rPr lang="en-US" sz="1800" b="0" i="1" u="none" strike="noStrike" cap="none">
                <a:solidFill>
                  <a:srgbClr val="F8F8F8"/>
                </a:solidFill>
                <a:latin typeface="Arial"/>
                <a:ea typeface="Arial"/>
                <a:cs typeface="Arial"/>
                <a:sym typeface="Arial"/>
              </a:rPr>
              <a:t>LEAD</a:t>
            </a:r>
            <a:r>
              <a:rPr lang="en-US" sz="1800" b="0" i="0" u="none" strike="noStrike" cap="none">
                <a:solidFill>
                  <a:srgbClr val="F8F8F8"/>
                </a:solidFill>
                <a:latin typeface="Arial"/>
                <a:ea typeface="Arial"/>
                <a:cs typeface="Arial"/>
                <a:sym typeface="Arial"/>
              </a:rPr>
              <a:t> </a:t>
            </a:r>
            <a:endParaRPr sz="1800" b="0" i="0" u="none" strike="noStrike" cap="none">
              <a:solidFill>
                <a:srgbClr val="F8F8F8"/>
              </a:solidFill>
              <a:latin typeface="Arial"/>
              <a:ea typeface="Arial"/>
              <a:cs typeface="Arial"/>
              <a:sym typeface="Arial"/>
            </a:endParaRPr>
          </a:p>
          <a:p>
            <a:pPr marL="432000" marR="0" lvl="0" indent="-432000" algn="l" rtl="0">
              <a:lnSpc>
                <a:spcPct val="80000"/>
              </a:lnSpc>
              <a:spcBef>
                <a:spcPts val="0"/>
              </a:spcBef>
              <a:spcAft>
                <a:spcPts val="0"/>
              </a:spcAft>
              <a:buClr>
                <a:srgbClr val="F8F8F8"/>
              </a:buClr>
              <a:buSzPts val="1800"/>
              <a:buFont typeface="Noto Sans Symbols"/>
              <a:buChar char="⮚"/>
            </a:pPr>
            <a:r>
              <a:rPr lang="en-US" sz="1800" b="0" i="0" u="none" strike="noStrike" cap="none">
                <a:solidFill>
                  <a:srgbClr val="F8F8F8"/>
                </a:solidFill>
                <a:latin typeface="Arial"/>
                <a:ea typeface="Arial"/>
                <a:cs typeface="Arial"/>
                <a:sym typeface="Arial"/>
              </a:rPr>
              <a:t>Number of steel members damaged under load </a:t>
            </a:r>
            <a:r>
              <a:rPr lang="en-US" sz="1800" b="0" i="1" u="none" strike="noStrike" cap="none">
                <a:solidFill>
                  <a:srgbClr val="F8F8F8"/>
                </a:solidFill>
                <a:latin typeface="Arial"/>
                <a:ea typeface="Arial"/>
                <a:cs typeface="Arial"/>
                <a:sym typeface="Arial"/>
              </a:rPr>
              <a:t>LAG</a:t>
            </a:r>
            <a:endParaRPr sz="1800" b="0" i="1" u="none" strike="noStrike" cap="none">
              <a:solidFill>
                <a:srgbClr val="F8F8F8"/>
              </a:solidFill>
              <a:latin typeface="Arial"/>
              <a:ea typeface="Arial"/>
              <a:cs typeface="Arial"/>
              <a:sym typeface="Arial"/>
            </a:endParaRPr>
          </a:p>
          <a:p>
            <a:pPr marL="432000" marR="0" lvl="0" indent="-432000" algn="l" rtl="0">
              <a:lnSpc>
                <a:spcPct val="80000"/>
              </a:lnSpc>
              <a:spcBef>
                <a:spcPts val="0"/>
              </a:spcBef>
              <a:spcAft>
                <a:spcPts val="0"/>
              </a:spcAft>
              <a:buClr>
                <a:srgbClr val="F8F8F8"/>
              </a:buClr>
              <a:buSzPts val="1800"/>
              <a:buFont typeface="Noto Sans Symbols"/>
              <a:buChar char="⮚"/>
            </a:pPr>
            <a:r>
              <a:rPr lang="en-US" sz="1800" b="0" i="0" u="none" strike="noStrike" cap="none">
                <a:solidFill>
                  <a:srgbClr val="F8F8F8"/>
                </a:solidFill>
                <a:latin typeface="Arial"/>
                <a:ea typeface="Arial"/>
                <a:cs typeface="Arial"/>
                <a:sym typeface="Arial"/>
              </a:rPr>
              <a:t>Number of over-current breaker trips per month </a:t>
            </a:r>
            <a:r>
              <a:rPr lang="en-US" sz="1800" b="0" i="1" u="none" strike="noStrike" cap="none">
                <a:solidFill>
                  <a:srgbClr val="F8F8F8"/>
                </a:solidFill>
                <a:latin typeface="Arial"/>
                <a:ea typeface="Arial"/>
                <a:cs typeface="Arial"/>
                <a:sym typeface="Arial"/>
              </a:rPr>
              <a:t>LEAD</a:t>
            </a:r>
            <a:endParaRPr sz="1800" b="0" i="1" u="none" strike="noStrike" cap="none">
              <a:solidFill>
                <a:srgbClr val="F8F8F8"/>
              </a:solidFill>
              <a:latin typeface="Arial"/>
              <a:ea typeface="Arial"/>
              <a:cs typeface="Arial"/>
              <a:sym typeface="Arial"/>
            </a:endParaRPr>
          </a:p>
          <a:p>
            <a:pPr marL="432000" marR="0" lvl="0" indent="-432000" algn="l" rtl="0">
              <a:lnSpc>
                <a:spcPct val="80000"/>
              </a:lnSpc>
              <a:spcBef>
                <a:spcPts val="0"/>
              </a:spcBef>
              <a:spcAft>
                <a:spcPts val="0"/>
              </a:spcAft>
              <a:buClr>
                <a:srgbClr val="F8F8F8"/>
              </a:buClr>
              <a:buSzPts val="1800"/>
              <a:buFont typeface="Noto Sans Symbols"/>
              <a:buChar char="⮚"/>
            </a:pPr>
            <a:r>
              <a:rPr lang="en-US" sz="1800" b="0" i="0" u="none" strike="noStrike" cap="none">
                <a:solidFill>
                  <a:srgbClr val="F8F8F8"/>
                </a:solidFill>
                <a:latin typeface="Arial"/>
                <a:ea typeface="Arial"/>
                <a:cs typeface="Arial"/>
                <a:sym typeface="Arial"/>
              </a:rPr>
              <a:t>Number of motor burn-outs per year </a:t>
            </a:r>
            <a:r>
              <a:rPr lang="en-US" sz="1800" b="0" i="1" u="none" strike="noStrike" cap="none">
                <a:solidFill>
                  <a:srgbClr val="F8F8F8"/>
                </a:solidFill>
                <a:latin typeface="Arial"/>
                <a:ea typeface="Arial"/>
                <a:cs typeface="Arial"/>
                <a:sym typeface="Arial"/>
              </a:rPr>
              <a:t>LAG</a:t>
            </a:r>
            <a:endParaRPr/>
          </a:p>
          <a:p>
            <a:pPr marL="432000" marR="0" lvl="0" indent="-432000" algn="l" rtl="0">
              <a:lnSpc>
                <a:spcPct val="80000"/>
              </a:lnSpc>
              <a:spcBef>
                <a:spcPts val="0"/>
              </a:spcBef>
              <a:spcAft>
                <a:spcPts val="0"/>
              </a:spcAft>
              <a:buClr>
                <a:srgbClr val="F8F8F8"/>
              </a:buClr>
              <a:buSzPts val="1800"/>
              <a:buFont typeface="Noto Sans Symbols"/>
              <a:buChar char="⮚"/>
            </a:pPr>
            <a:r>
              <a:rPr lang="en-US" sz="1800" b="0" i="0" u="none" strike="noStrike" cap="none">
                <a:solidFill>
                  <a:srgbClr val="F8F8F8"/>
                </a:solidFill>
                <a:latin typeface="Arial"/>
                <a:ea typeface="Arial"/>
                <a:cs typeface="Arial"/>
                <a:sym typeface="Arial"/>
              </a:rPr>
              <a:t>Number of significant near-miss events where the consequences could have been catastrophic were it not for some “lucky” factor e.g. a person was almost struck by a falling structure and could have been killed. </a:t>
            </a:r>
            <a:r>
              <a:rPr lang="en-US" sz="1800" b="0" i="1" u="none" strike="noStrike" cap="none">
                <a:solidFill>
                  <a:srgbClr val="F8F8F8"/>
                </a:solidFill>
                <a:latin typeface="Arial"/>
                <a:ea typeface="Arial"/>
                <a:cs typeface="Arial"/>
                <a:sym typeface="Arial"/>
              </a:rPr>
              <a:t>LAG or LEAD – depending on the reporting criteria of the organization; </a:t>
            </a:r>
            <a:r>
              <a:rPr lang="en-US" sz="1800" b="1" i="1" u="none" strike="noStrike" cap="none">
                <a:solidFill>
                  <a:srgbClr val="F8F8F8"/>
                </a:solidFill>
                <a:latin typeface="Arial"/>
                <a:ea typeface="Arial"/>
                <a:cs typeface="Arial"/>
                <a:sym typeface="Arial"/>
              </a:rPr>
              <a:t>Generally, if no loss, it is tracked as a LEADING indicator because this metric is usually not reported up through the organization</a:t>
            </a:r>
            <a:endParaRPr sz="1800" b="1" i="1" u="none" strike="noStrike" cap="none">
              <a:solidFill>
                <a:srgbClr val="F8F8F8"/>
              </a:solidFill>
              <a:latin typeface="Arial"/>
              <a:ea typeface="Arial"/>
              <a:cs typeface="Arial"/>
              <a:sym typeface="Arial"/>
            </a:endParaRPr>
          </a:p>
        </p:txBody>
      </p:sp>
      <p:sp>
        <p:nvSpPr>
          <p:cNvPr id="180" name="Google Shape;180;p13"/>
          <p:cNvSpPr txBox="1"/>
          <p:nvPr/>
        </p:nvSpPr>
        <p:spPr>
          <a:xfrm>
            <a:off x="8280000" y="6300000"/>
            <a:ext cx="533400" cy="2880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Clr>
                <a:srgbClr val="000000"/>
              </a:buClr>
              <a:buSzPts val="1200"/>
              <a:buFont typeface="Noto Sans Symbols"/>
              <a:buNone/>
            </a:pPr>
            <a:fld id="{00000000-1234-1234-1234-123412341234}" type="slidenum">
              <a:rPr lang="en-US" sz="1200" b="1" i="1" u="none" strike="noStrike" cap="none">
                <a:solidFill>
                  <a:srgbClr val="000000"/>
                </a:solidFill>
                <a:latin typeface="Arial"/>
                <a:ea typeface="Arial"/>
                <a:cs typeface="Arial"/>
                <a:sym typeface="Arial"/>
              </a:rPr>
              <a:t>15</a:t>
            </a:fld>
            <a:endParaRPr sz="1200" b="1" i="1" u="none" strike="noStrike" cap="none">
              <a:solidFill>
                <a:srgbClr val="000000"/>
              </a:solidFill>
              <a:latin typeface="Arial"/>
              <a:ea typeface="Arial"/>
              <a:cs typeface="Arial"/>
              <a:sym typeface="Arial"/>
            </a:endParaRPr>
          </a:p>
        </p:txBody>
      </p:sp>
      <p:sp>
        <p:nvSpPr>
          <p:cNvPr id="181" name="Google Shape;181;p13"/>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b="1" i="1" u="none" strike="noStrike" cap="none">
                <a:solidFill>
                  <a:srgbClr val="000000"/>
                </a:solidFill>
                <a:latin typeface="Arial"/>
                <a:ea typeface="Arial"/>
                <a:cs typeface="Arial"/>
                <a:sym typeface="Arial"/>
              </a:rPr>
              <a:t>Chapter 6.2: Safety Metrics, Lagging and Leading Indicators</a:t>
            </a:r>
            <a:endParaRPr sz="1200" b="1" i="1" u="none" strike="noStrike" cap="none">
              <a:solidFill>
                <a:srgbClr val="000000"/>
              </a:solidFill>
              <a:latin typeface="Arial"/>
              <a:ea typeface="Arial"/>
              <a:cs typeface="Arial"/>
              <a:sym typeface="Arial"/>
            </a:endParaRPr>
          </a:p>
        </p:txBody>
      </p:sp>
    </p:spTree>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7" name="Google Shape;187;p14"/>
          <p:cNvSpPr/>
          <p:nvPr/>
        </p:nvSpPr>
        <p:spPr>
          <a:xfrm>
            <a:off x="180000" y="828000"/>
            <a:ext cx="8640000" cy="5328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rgbClr val="000000"/>
                </a:solidFill>
                <a:latin typeface="Arial"/>
                <a:ea typeface="Arial"/>
                <a:cs typeface="Arial"/>
                <a:sym typeface="Arial"/>
              </a:rPr>
              <a:t>Lagging indicators </a:t>
            </a:r>
            <a:r>
              <a:rPr lang="en-US" sz="2000" b="1" i="0" u="sng" strike="noStrike" cap="none">
                <a:solidFill>
                  <a:srgbClr val="000000"/>
                </a:solidFill>
                <a:latin typeface="Arial"/>
                <a:ea typeface="Arial"/>
                <a:cs typeface="Arial"/>
                <a:sym typeface="Arial"/>
              </a:rPr>
              <a:t>track incidents with consequences</a:t>
            </a:r>
            <a:r>
              <a:rPr lang="en-US" sz="2000" b="1" i="0" u="none" strike="noStrike" cap="none">
                <a:solidFill>
                  <a:srgbClr val="000000"/>
                </a:solidFill>
                <a:latin typeface="Arial"/>
                <a:ea typeface="Arial"/>
                <a:cs typeface="Arial"/>
                <a:sym typeface="Arial"/>
              </a:rPr>
              <a:t>:</a:t>
            </a:r>
            <a:endParaRPr sz="2000" b="0" i="0" u="none" strike="noStrike" cap="none">
              <a:solidFill>
                <a:srgbClr val="000000"/>
              </a:solidFill>
              <a:latin typeface="Arial"/>
              <a:ea typeface="Arial"/>
              <a:cs typeface="Arial"/>
              <a:sym typeface="Arial"/>
            </a:endParaRPr>
          </a:p>
          <a:p>
            <a:pPr marL="360000" marR="0" lvl="1" indent="-360000" algn="l" rtl="0">
              <a:lnSpc>
                <a:spcPct val="100000"/>
              </a:lnSpc>
              <a:spcBef>
                <a:spcPts val="0"/>
              </a:spcBef>
              <a:spcAft>
                <a:spcPts val="0"/>
              </a:spcAft>
              <a:buClr>
                <a:srgbClr val="000000"/>
              </a:buClr>
              <a:buSzPts val="2000"/>
              <a:buFont typeface="Noto Sans Symbols"/>
              <a:buChar char="⮚"/>
            </a:pPr>
            <a:r>
              <a:rPr lang="en-US" sz="2000" b="0" i="0" u="none" strike="noStrike" cap="none">
                <a:solidFill>
                  <a:srgbClr val="000000"/>
                </a:solidFill>
                <a:latin typeface="Arial"/>
                <a:ea typeface="Arial"/>
                <a:cs typeface="Arial"/>
                <a:sym typeface="Arial"/>
              </a:rPr>
              <a:t>Number of incidents with consequences reported</a:t>
            </a:r>
            <a:endParaRPr/>
          </a:p>
          <a:p>
            <a:pPr marL="360000" marR="0" lvl="1" indent="-360000" algn="l" rtl="0">
              <a:lnSpc>
                <a:spcPct val="100000"/>
              </a:lnSpc>
              <a:spcBef>
                <a:spcPts val="0"/>
              </a:spcBef>
              <a:spcAft>
                <a:spcPts val="0"/>
              </a:spcAft>
              <a:buClr>
                <a:srgbClr val="000000"/>
              </a:buClr>
              <a:buSzPts val="2000"/>
              <a:buFont typeface="Noto Sans Symbols"/>
              <a:buChar char="⮚"/>
            </a:pPr>
            <a:r>
              <a:rPr lang="en-US" sz="2000" b="0" i="0" u="none" strike="noStrike" cap="none">
                <a:solidFill>
                  <a:srgbClr val="000000"/>
                </a:solidFill>
                <a:latin typeface="Arial"/>
                <a:ea typeface="Arial"/>
                <a:cs typeface="Arial"/>
                <a:sym typeface="Arial"/>
              </a:rPr>
              <a:t>Number of incident investigations on incidents with consequences performed</a:t>
            </a:r>
            <a:endParaRPr sz="2000" b="0" i="0" u="none" strike="noStrike" cap="none">
              <a:solidFill>
                <a:srgbClr val="000000"/>
              </a:solidFill>
              <a:latin typeface="Arial"/>
              <a:ea typeface="Arial"/>
              <a:cs typeface="Arial"/>
              <a:sym typeface="Arial"/>
            </a:endParaRPr>
          </a:p>
          <a:p>
            <a:pPr marL="360000" marR="0" lvl="1" indent="-360000" algn="l" rtl="0">
              <a:lnSpc>
                <a:spcPct val="100000"/>
              </a:lnSpc>
              <a:spcBef>
                <a:spcPts val="0"/>
              </a:spcBef>
              <a:spcAft>
                <a:spcPts val="0"/>
              </a:spcAft>
              <a:buClr>
                <a:srgbClr val="000000"/>
              </a:buClr>
              <a:buSzPts val="2000"/>
              <a:buFont typeface="Noto Sans Symbols"/>
              <a:buChar char="⮚"/>
            </a:pPr>
            <a:r>
              <a:rPr lang="en-US" sz="2000" b="0" i="0" u="none" strike="noStrike" cap="none">
                <a:solidFill>
                  <a:srgbClr val="000000"/>
                </a:solidFill>
                <a:latin typeface="Arial"/>
                <a:ea typeface="Arial"/>
                <a:cs typeface="Arial"/>
                <a:sym typeface="Arial"/>
              </a:rPr>
              <a:t>Number of first aid cases</a:t>
            </a:r>
            <a:endParaRPr/>
          </a:p>
          <a:p>
            <a:pPr marL="360000" marR="0" lvl="1" indent="-360000" algn="l" rtl="0">
              <a:lnSpc>
                <a:spcPct val="100000"/>
              </a:lnSpc>
              <a:spcBef>
                <a:spcPts val="0"/>
              </a:spcBef>
              <a:spcAft>
                <a:spcPts val="0"/>
              </a:spcAft>
              <a:buClr>
                <a:srgbClr val="000000"/>
              </a:buClr>
              <a:buSzPts val="2000"/>
              <a:buFont typeface="Noto Sans Symbols"/>
              <a:buChar char="⮚"/>
            </a:pPr>
            <a:r>
              <a:rPr lang="en-US" sz="2000" b="0" i="0" u="none" strike="noStrike" cap="none">
                <a:solidFill>
                  <a:srgbClr val="000000"/>
                </a:solidFill>
                <a:latin typeface="Arial"/>
                <a:ea typeface="Arial"/>
                <a:cs typeface="Arial"/>
                <a:sym typeface="Arial"/>
              </a:rPr>
              <a:t>Number of serious injuries</a:t>
            </a:r>
            <a:endParaRPr sz="2000" b="0" i="0" u="none" strike="noStrike" cap="none">
              <a:solidFill>
                <a:srgbClr val="000000"/>
              </a:solidFill>
              <a:latin typeface="Arial"/>
              <a:ea typeface="Arial"/>
              <a:cs typeface="Arial"/>
              <a:sym typeface="Arial"/>
            </a:endParaRPr>
          </a:p>
          <a:p>
            <a:pPr marL="360000" marR="0" lvl="1" indent="-360000" algn="l" rtl="0">
              <a:lnSpc>
                <a:spcPct val="100000"/>
              </a:lnSpc>
              <a:spcBef>
                <a:spcPts val="0"/>
              </a:spcBef>
              <a:spcAft>
                <a:spcPts val="0"/>
              </a:spcAft>
              <a:buClr>
                <a:srgbClr val="000000"/>
              </a:buClr>
              <a:buSzPts val="2000"/>
              <a:buFont typeface="Noto Sans Symbols"/>
              <a:buChar char="⮚"/>
            </a:pPr>
            <a:r>
              <a:rPr lang="en-US" sz="2000" b="0" i="0" u="none" strike="noStrike" cap="none">
                <a:solidFill>
                  <a:srgbClr val="000000"/>
                </a:solidFill>
                <a:latin typeface="Arial"/>
                <a:ea typeface="Arial"/>
                <a:cs typeface="Arial"/>
                <a:sym typeface="Arial"/>
              </a:rPr>
              <a:t>Number of fatalities</a:t>
            </a:r>
            <a:endParaRPr/>
          </a:p>
          <a:p>
            <a:pPr marL="565350" marR="0" lvl="1" indent="-305000" algn="l" rtl="0">
              <a:lnSpc>
                <a:spcPct val="100000"/>
              </a:lnSpc>
              <a:spcBef>
                <a:spcPts val="0"/>
              </a:spcBef>
              <a:spcAft>
                <a:spcPts val="0"/>
              </a:spcAft>
              <a:buClr>
                <a:srgbClr val="000000"/>
              </a:buClr>
              <a:buSzPts val="2000"/>
              <a:buFont typeface="Noto Sans Symbols"/>
              <a:buNone/>
            </a:pPr>
            <a:endParaRPr sz="2000" b="0" i="0" u="none" strike="noStrike" cap="none">
              <a:solidFill>
                <a:srgbClr val="000000"/>
              </a:solidFill>
              <a:latin typeface="Arial"/>
              <a:ea typeface="Arial"/>
              <a:cs typeface="Arial"/>
              <a:sym typeface="Arial"/>
            </a:endParaRPr>
          </a:p>
        </p:txBody>
      </p:sp>
      <p:sp>
        <p:nvSpPr>
          <p:cNvPr id="188" name="Google Shape;188;p14"/>
          <p:cNvSpPr/>
          <p:nvPr/>
        </p:nvSpPr>
        <p:spPr>
          <a:xfrm>
            <a:off x="180000" y="180000"/>
            <a:ext cx="8640000" cy="5400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accent2"/>
              </a:buClr>
              <a:buSzPts val="2400"/>
              <a:buFont typeface="Arial"/>
              <a:buNone/>
            </a:pPr>
            <a:r>
              <a:rPr lang="en-US" sz="2400" b="0" i="0" u="none" strike="noStrike" cap="none">
                <a:solidFill>
                  <a:schemeClr val="accent2"/>
                </a:solidFill>
                <a:latin typeface="Arial"/>
                <a:ea typeface="Arial"/>
                <a:cs typeface="Arial"/>
                <a:sym typeface="Arial"/>
              </a:rPr>
              <a:t>Lagging Indicators – General Examples:</a:t>
            </a:r>
            <a:endParaRPr/>
          </a:p>
        </p:txBody>
      </p:sp>
      <p:sp>
        <p:nvSpPr>
          <p:cNvPr id="189" name="Google Shape;189;p14"/>
          <p:cNvSpPr txBox="1"/>
          <p:nvPr/>
        </p:nvSpPr>
        <p:spPr>
          <a:xfrm>
            <a:off x="8280000" y="6300000"/>
            <a:ext cx="533400" cy="2880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Clr>
                <a:srgbClr val="000000"/>
              </a:buClr>
              <a:buSzPts val="1200"/>
              <a:buFont typeface="Noto Sans Symbols"/>
              <a:buNone/>
            </a:pPr>
            <a:fld id="{00000000-1234-1234-1234-123412341234}" type="slidenum">
              <a:rPr lang="en-US" sz="1200" b="1" i="1" u="none" strike="noStrike" cap="none">
                <a:solidFill>
                  <a:srgbClr val="000000"/>
                </a:solidFill>
                <a:latin typeface="Arial"/>
                <a:ea typeface="Arial"/>
                <a:cs typeface="Arial"/>
                <a:sym typeface="Arial"/>
              </a:rPr>
              <a:t>16</a:t>
            </a:fld>
            <a:endParaRPr sz="1200" b="1" i="1" u="none" strike="noStrike" cap="none">
              <a:solidFill>
                <a:srgbClr val="000000"/>
              </a:solidFill>
              <a:latin typeface="Arial"/>
              <a:ea typeface="Arial"/>
              <a:cs typeface="Arial"/>
              <a:sym typeface="Arial"/>
            </a:endParaRPr>
          </a:p>
        </p:txBody>
      </p:sp>
      <p:sp>
        <p:nvSpPr>
          <p:cNvPr id="190" name="Google Shape;190;p14"/>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b="1" i="1" u="none" strike="noStrike" cap="none">
                <a:solidFill>
                  <a:srgbClr val="000000"/>
                </a:solidFill>
                <a:latin typeface="Arial"/>
                <a:ea typeface="Arial"/>
                <a:cs typeface="Arial"/>
                <a:sym typeface="Arial"/>
              </a:rPr>
              <a:t>Chapter 6.2: Safety Metrics, Lagging and Leading Indicators</a:t>
            </a:r>
            <a:endParaRPr sz="1200" b="1" i="1" u="none" strike="noStrike" cap="none">
              <a:solidFill>
                <a:srgbClr val="000000"/>
              </a:solidFill>
              <a:latin typeface="Arial"/>
              <a:ea typeface="Arial"/>
              <a:cs typeface="Arial"/>
              <a:sym typeface="Arial"/>
            </a:endParaRPr>
          </a:p>
        </p:txBody>
      </p:sp>
      <p:pic>
        <p:nvPicPr>
          <p:cNvPr id="191" name="Google Shape;191;p14"/>
          <p:cNvPicPr preferRelativeResize="0"/>
          <p:nvPr/>
        </p:nvPicPr>
        <p:blipFill rotWithShape="1">
          <a:blip r:embed="rId3">
            <a:alphaModFix/>
          </a:blip>
          <a:srcRect/>
          <a:stretch/>
        </p:blipFill>
        <p:spPr>
          <a:xfrm>
            <a:off x="3353620" y="2819400"/>
            <a:ext cx="5436000" cy="3322066"/>
          </a:xfrm>
          <a:prstGeom prst="rect">
            <a:avLst/>
          </a:prstGeom>
          <a:noFill/>
          <a:ln w="9525" cap="flat" cmpd="sng">
            <a:solidFill>
              <a:srgbClr val="FFFFFF"/>
            </a:solidFill>
            <a:prstDash val="solid"/>
            <a:miter lim="800000"/>
            <a:headEnd type="none" w="sm" len="sm"/>
            <a:tailEnd type="none" w="sm" len="sm"/>
          </a:ln>
        </p:spPr>
      </p:pic>
      <p:sp>
        <p:nvSpPr>
          <p:cNvPr id="192" name="Google Shape;192;p14"/>
          <p:cNvSpPr/>
          <p:nvPr/>
        </p:nvSpPr>
        <p:spPr>
          <a:xfrm flipH="1">
            <a:off x="843846" y="3086100"/>
            <a:ext cx="2519020" cy="2209800"/>
          </a:xfrm>
          <a:prstGeom prst="leftUpArrow">
            <a:avLst/>
          </a:prstGeom>
          <a:solidFill>
            <a:srgbClr val="00FF00"/>
          </a:solidFill>
          <a:ln w="254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14"/>
          <p:cNvSpPr txBox="1"/>
          <p:nvPr/>
        </p:nvSpPr>
        <p:spPr>
          <a:xfrm rot="5400000" flipH="1">
            <a:off x="1965222" y="3898278"/>
            <a:ext cx="552450" cy="1690345"/>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endParaRPr sz="1800" b="1" i="0" u="none" strike="noStrike" cap="none">
              <a:solidFill>
                <a:schemeClr val="dk1"/>
              </a:solidFill>
              <a:latin typeface="Arial"/>
              <a:ea typeface="Arial"/>
              <a:cs typeface="Arial"/>
              <a:sym typeface="Arial"/>
            </a:endParaRPr>
          </a:p>
        </p:txBody>
      </p:sp>
      <p:sp>
        <p:nvSpPr>
          <p:cNvPr id="194" name="Google Shape;194;p14"/>
          <p:cNvSpPr txBox="1"/>
          <p:nvPr/>
        </p:nvSpPr>
        <p:spPr>
          <a:xfrm>
            <a:off x="855508" y="4290616"/>
            <a:ext cx="2135810" cy="92333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b="1" i="0" u="none" strike="noStrike" cap="none">
                <a:solidFill>
                  <a:schemeClr val="dk1"/>
                </a:solidFill>
                <a:latin typeface="Arial"/>
                <a:ea typeface="Arial"/>
                <a:cs typeface="Arial"/>
                <a:sym typeface="Arial"/>
              </a:rPr>
              <a:t>Metrics derived from The Incident </a:t>
            </a:r>
            <a:br>
              <a:rPr lang="en-US" sz="1800" b="1" i="0" u="none" strike="noStrike" cap="none">
                <a:solidFill>
                  <a:schemeClr val="dk1"/>
                </a:solidFill>
                <a:latin typeface="Arial"/>
                <a:ea typeface="Arial"/>
                <a:cs typeface="Arial"/>
                <a:sym typeface="Arial"/>
              </a:rPr>
            </a:br>
            <a:r>
              <a:rPr lang="en-US" sz="1800" b="1" i="0" u="none" strike="noStrike" cap="none">
                <a:solidFill>
                  <a:schemeClr val="dk1"/>
                </a:solidFill>
                <a:latin typeface="Arial"/>
                <a:ea typeface="Arial"/>
                <a:cs typeface="Arial"/>
                <a:sym typeface="Arial"/>
              </a:rPr>
              <a:t>Pyramid</a:t>
            </a:r>
            <a:endParaRPr sz="1800" b="1" i="0" u="none" strike="noStrike" cap="none">
              <a:solidFill>
                <a:schemeClr val="dk1"/>
              </a:solidFill>
              <a:latin typeface="Arial"/>
              <a:ea typeface="Arial"/>
              <a:cs typeface="Arial"/>
              <a:sym typeface="Arial"/>
            </a:endParaRPr>
          </a:p>
        </p:txBody>
      </p:sp>
      <p:sp>
        <p:nvSpPr>
          <p:cNvPr id="195" name="Google Shape;195;p14"/>
          <p:cNvSpPr txBox="1"/>
          <p:nvPr/>
        </p:nvSpPr>
        <p:spPr>
          <a:xfrm>
            <a:off x="4127100" y="1967514"/>
            <a:ext cx="4419600" cy="707886"/>
          </a:xfrm>
          <a:prstGeom prst="rect">
            <a:avLst/>
          </a:prstGeom>
          <a:solidFill>
            <a:srgbClr val="FFFF00"/>
          </a:solid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b="1" i="1" u="none" strike="noStrike" cap="none">
                <a:solidFill>
                  <a:schemeClr val="dk1"/>
                </a:solidFill>
                <a:latin typeface="Arial"/>
                <a:ea typeface="Arial"/>
                <a:cs typeface="Arial"/>
                <a:sym typeface="Arial"/>
              </a:rPr>
              <a:t>In other words, something bad happened to create the data point!</a:t>
            </a:r>
            <a:endParaRPr sz="2000" b="1" i="1" u="none" strike="noStrike" cap="none">
              <a:solidFill>
                <a:schemeClr val="dk1"/>
              </a:solidFill>
              <a:latin typeface="Arial"/>
              <a:ea typeface="Arial"/>
              <a:cs typeface="Arial"/>
              <a:sym typeface="Arial"/>
            </a:endParaRPr>
          </a:p>
        </p:txBody>
      </p:sp>
      <p:cxnSp>
        <p:nvCxnSpPr>
          <p:cNvPr id="196" name="Google Shape;196;p14"/>
          <p:cNvCxnSpPr/>
          <p:nvPr/>
        </p:nvCxnSpPr>
        <p:spPr>
          <a:xfrm>
            <a:off x="3352800" y="4960714"/>
            <a:ext cx="5436000" cy="0"/>
          </a:xfrm>
          <a:prstGeom prst="straightConnector1">
            <a:avLst/>
          </a:prstGeom>
          <a:noFill/>
          <a:ln w="57150" cap="flat" cmpd="sng">
            <a:solidFill>
              <a:schemeClr val="dk1"/>
            </a:solidFill>
            <a:prstDash val="solid"/>
            <a:round/>
            <a:headEnd type="none" w="sm" len="sm"/>
            <a:tailEnd type="none" w="sm" len="sm"/>
          </a:ln>
        </p:spPr>
      </p:cxnSp>
      <p:sp>
        <p:nvSpPr>
          <p:cNvPr id="197" name="Google Shape;197;p14"/>
          <p:cNvSpPr/>
          <p:nvPr/>
        </p:nvSpPr>
        <p:spPr>
          <a:xfrm>
            <a:off x="3581400" y="4543847"/>
            <a:ext cx="545700" cy="416868"/>
          </a:xfrm>
          <a:prstGeom prst="upArrow">
            <a:avLst>
              <a:gd name="adj1" fmla="val 50000"/>
              <a:gd name="adj2" fmla="val 50000"/>
            </a:avLst>
          </a:prstGeom>
          <a:solidFill>
            <a:schemeClr val="dk1"/>
          </a:solid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1" i="0" u="none" strike="noStrike" cap="none">
              <a:solidFill>
                <a:schemeClr val="lt1"/>
              </a:solidFill>
              <a:latin typeface="Arial"/>
              <a:ea typeface="Arial"/>
              <a:cs typeface="Arial"/>
              <a:sym typeface="Arial"/>
            </a:endParaRPr>
          </a:p>
        </p:txBody>
      </p:sp>
      <p:sp>
        <p:nvSpPr>
          <p:cNvPr id="198" name="Google Shape;198;p14"/>
          <p:cNvSpPr txBox="1"/>
          <p:nvPr/>
        </p:nvSpPr>
        <p:spPr>
          <a:xfrm>
            <a:off x="3323240" y="4191000"/>
            <a:ext cx="1066800"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b="1" i="0" u="none" strike="noStrike" cap="none">
                <a:solidFill>
                  <a:schemeClr val="dk1"/>
                </a:solidFill>
                <a:latin typeface="Arial"/>
                <a:ea typeface="Arial"/>
                <a:cs typeface="Arial"/>
                <a:sym typeface="Arial"/>
              </a:rPr>
              <a:t>WITH</a:t>
            </a:r>
            <a:endParaRPr sz="1800" b="1" i="0" u="none" strike="noStrike" cap="none">
              <a:solidFill>
                <a:schemeClr val="dk1"/>
              </a:solidFill>
              <a:latin typeface="Arial"/>
              <a:ea typeface="Arial"/>
              <a:cs typeface="Arial"/>
              <a:sym typeface="Arial"/>
            </a:endParaRPr>
          </a:p>
        </p:txBody>
      </p:sp>
    </p:spTree>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15"/>
          <p:cNvSpPr txBox="1">
            <a:spLocks noGrp="1"/>
          </p:cNvSpPr>
          <p:nvPr>
            <p:ph type="title"/>
          </p:nvPr>
        </p:nvSpPr>
        <p:spPr>
          <a:xfrm>
            <a:off x="180000" y="180000"/>
            <a:ext cx="8640000" cy="540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accent2"/>
              </a:buClr>
              <a:buSzPts val="2400"/>
              <a:buFont typeface="Arial"/>
              <a:buNone/>
            </a:pPr>
            <a:r>
              <a:rPr lang="en-US" sz="2400" b="0">
                <a:latin typeface="Arial"/>
                <a:ea typeface="Arial"/>
                <a:cs typeface="Arial"/>
                <a:sym typeface="Arial"/>
              </a:rPr>
              <a:t>Lagging Indicators – Specific Definitions:</a:t>
            </a:r>
            <a:endParaRPr sz="2400" b="0">
              <a:latin typeface="Arial"/>
              <a:ea typeface="Arial"/>
              <a:cs typeface="Arial"/>
              <a:sym typeface="Arial"/>
            </a:endParaRPr>
          </a:p>
        </p:txBody>
      </p:sp>
      <p:sp>
        <p:nvSpPr>
          <p:cNvPr id="207" name="Google Shape;207;p15"/>
          <p:cNvSpPr txBox="1">
            <a:spLocks noGrp="1"/>
          </p:cNvSpPr>
          <p:nvPr>
            <p:ph type="body" idx="1"/>
          </p:nvPr>
        </p:nvSpPr>
        <p:spPr>
          <a:xfrm>
            <a:off x="180000" y="828000"/>
            <a:ext cx="8640000" cy="5328000"/>
          </a:xfrm>
          <a:prstGeom prst="rect">
            <a:avLst/>
          </a:prstGeom>
          <a:noFill/>
          <a:ln>
            <a:noFill/>
          </a:ln>
        </p:spPr>
        <p:txBody>
          <a:bodyPr spcFirstLastPara="1" wrap="square" lIns="91425" tIns="45700" rIns="91425" bIns="45700" anchor="t" anchorCtr="0">
            <a:noAutofit/>
          </a:bodyPr>
          <a:lstStyle/>
          <a:p>
            <a:pPr marL="0" marR="0" lvl="0" indent="0" algn="l" rtl="0">
              <a:lnSpc>
                <a:spcPct val="80000"/>
              </a:lnSpc>
              <a:spcBef>
                <a:spcPts val="0"/>
              </a:spcBef>
              <a:spcAft>
                <a:spcPts val="0"/>
              </a:spcAft>
              <a:buClr>
                <a:srgbClr val="000000"/>
              </a:buClr>
              <a:buSzPts val="1800"/>
              <a:buFont typeface="Arial"/>
              <a:buNone/>
            </a:pPr>
            <a:r>
              <a:rPr lang="en-US" sz="1800" b="1" i="0" u="none" strike="noStrike" cap="none">
                <a:solidFill>
                  <a:srgbClr val="000000"/>
                </a:solidFill>
                <a:latin typeface="Arial"/>
                <a:ea typeface="Arial"/>
                <a:cs typeface="Arial"/>
                <a:sym typeface="Arial"/>
              </a:rPr>
              <a:t>Many different metrics:</a:t>
            </a:r>
            <a:endParaRPr/>
          </a:p>
          <a:p>
            <a:pPr marL="0" marR="0" lvl="0" indent="0" algn="l" rtl="0">
              <a:lnSpc>
                <a:spcPct val="80000"/>
              </a:lnSpc>
              <a:spcBef>
                <a:spcPts val="0"/>
              </a:spcBef>
              <a:spcAft>
                <a:spcPts val="0"/>
              </a:spcAft>
              <a:buClr>
                <a:srgbClr val="000000"/>
              </a:buClr>
              <a:buSzPts val="1800"/>
              <a:buFont typeface="Noto Sans Symbols"/>
              <a:buNone/>
            </a:pPr>
            <a:r>
              <a:rPr lang="en-US" sz="1800" b="0" i="0" u="none" strike="noStrike" cap="none">
                <a:solidFill>
                  <a:srgbClr val="000000"/>
                </a:solidFill>
                <a:latin typeface="Arial"/>
                <a:ea typeface="Arial"/>
                <a:cs typeface="Arial"/>
                <a:sym typeface="Arial"/>
              </a:rPr>
              <a:t>Three specific metrics, all of which are lagging indicators, use recordable injuries to quantify a company’s safety performance:</a:t>
            </a:r>
            <a:endParaRPr sz="1800" b="0" i="0" u="none" strike="noStrike" cap="none">
              <a:solidFill>
                <a:srgbClr val="000000"/>
              </a:solidFill>
              <a:latin typeface="Arial"/>
              <a:ea typeface="Arial"/>
              <a:cs typeface="Arial"/>
              <a:sym typeface="Arial"/>
            </a:endParaRPr>
          </a:p>
          <a:p>
            <a:pPr marL="0" marR="0" lvl="0" indent="0" algn="l" rtl="0">
              <a:lnSpc>
                <a:spcPct val="80000"/>
              </a:lnSpc>
              <a:spcBef>
                <a:spcPts val="0"/>
              </a:spcBef>
              <a:spcAft>
                <a:spcPts val="0"/>
              </a:spcAft>
              <a:buClr>
                <a:srgbClr val="000000"/>
              </a:buClr>
              <a:buSzPts val="1800"/>
              <a:buFont typeface="Arial"/>
              <a:buNone/>
            </a:pPr>
            <a:endParaRPr sz="1800" b="1" i="0" u="none" strike="noStrike" cap="none">
              <a:solidFill>
                <a:srgbClr val="000000"/>
              </a:solidFill>
              <a:latin typeface="Arial"/>
              <a:ea typeface="Arial"/>
              <a:cs typeface="Arial"/>
              <a:sym typeface="Arial"/>
            </a:endParaRPr>
          </a:p>
          <a:p>
            <a:pPr marL="0" marR="0" lvl="0" indent="0" algn="l" rtl="0">
              <a:lnSpc>
                <a:spcPct val="80000"/>
              </a:lnSpc>
              <a:spcBef>
                <a:spcPts val="0"/>
              </a:spcBef>
              <a:spcAft>
                <a:spcPts val="0"/>
              </a:spcAft>
              <a:buClr>
                <a:srgbClr val="000000"/>
              </a:buClr>
              <a:buSzPts val="1800"/>
              <a:buFont typeface="Arial"/>
              <a:buNone/>
            </a:pPr>
            <a:r>
              <a:rPr lang="en-US" sz="1800" b="1" i="0" u="none" strike="noStrike" cap="none">
                <a:solidFill>
                  <a:srgbClr val="000000"/>
                </a:solidFill>
                <a:latin typeface="Arial"/>
                <a:ea typeface="Arial"/>
                <a:cs typeface="Arial"/>
                <a:sym typeface="Arial"/>
              </a:rPr>
              <a:t>Fatal Accident Rate (FAR) – UK</a:t>
            </a:r>
            <a:endParaRPr/>
          </a:p>
          <a:p>
            <a:pPr marL="360000" marR="0" lvl="1" indent="-360000" algn="l" rtl="0">
              <a:lnSpc>
                <a:spcPct val="80000"/>
              </a:lnSpc>
              <a:spcBef>
                <a:spcPts val="0"/>
              </a:spcBef>
              <a:spcAft>
                <a:spcPts val="0"/>
              </a:spcAft>
              <a:buClr>
                <a:srgbClr val="000000"/>
              </a:buClr>
              <a:buSzPts val="1600"/>
              <a:buFont typeface="Noto Sans Symbols"/>
              <a:buChar char="⮚"/>
            </a:pPr>
            <a:r>
              <a:rPr lang="en-US" sz="1600" b="0" i="0" u="none" strike="noStrike" cap="none">
                <a:solidFill>
                  <a:srgbClr val="000000"/>
                </a:solidFill>
                <a:latin typeface="Arial"/>
                <a:ea typeface="Arial"/>
                <a:cs typeface="Arial"/>
                <a:sym typeface="Arial"/>
              </a:rPr>
              <a:t>Fatality: a worker was killed on-the-job or due to a chronic work-related illness e.g. cancer, asbestosis, silicosis.</a:t>
            </a:r>
            <a:endParaRPr/>
          </a:p>
          <a:p>
            <a:pPr marL="360000" marR="0" lvl="1" indent="-360000" algn="l" rtl="0">
              <a:lnSpc>
                <a:spcPct val="80000"/>
              </a:lnSpc>
              <a:spcBef>
                <a:spcPts val="0"/>
              </a:spcBef>
              <a:spcAft>
                <a:spcPts val="0"/>
              </a:spcAft>
              <a:buClr>
                <a:srgbClr val="000000"/>
              </a:buClr>
              <a:buSzPts val="1600"/>
              <a:buFont typeface="Noto Sans Symbols"/>
              <a:buChar char="⮚"/>
            </a:pPr>
            <a:r>
              <a:rPr lang="en-US" sz="1600" b="0" i="0" u="none" strike="noStrike" cap="none">
                <a:solidFill>
                  <a:srgbClr val="000000"/>
                </a:solidFill>
                <a:latin typeface="Arial"/>
                <a:ea typeface="Arial"/>
                <a:cs typeface="Arial"/>
                <a:sym typeface="Arial"/>
              </a:rPr>
              <a:t>Estimated number of fatalities per 1000 employee-working-lifetimes for an activity (~100,000,000 working hours)</a:t>
            </a:r>
            <a:endParaRPr/>
          </a:p>
          <a:p>
            <a:pPr marL="0" marR="0" lvl="0" indent="0" algn="l" rtl="0">
              <a:lnSpc>
                <a:spcPct val="80000"/>
              </a:lnSpc>
              <a:spcBef>
                <a:spcPts val="0"/>
              </a:spcBef>
              <a:spcAft>
                <a:spcPts val="0"/>
              </a:spcAft>
              <a:buClr>
                <a:srgbClr val="000000"/>
              </a:buClr>
              <a:buSzPts val="1800"/>
              <a:buFont typeface="Arial"/>
              <a:buNone/>
            </a:pPr>
            <a:endParaRPr sz="1800" b="1" i="0" u="none" strike="noStrike" cap="none">
              <a:solidFill>
                <a:srgbClr val="000000"/>
              </a:solidFill>
              <a:latin typeface="Arial"/>
              <a:ea typeface="Arial"/>
              <a:cs typeface="Arial"/>
              <a:sym typeface="Arial"/>
            </a:endParaRPr>
          </a:p>
          <a:p>
            <a:pPr marL="0" marR="0" lvl="0" indent="0" algn="l" rtl="0">
              <a:lnSpc>
                <a:spcPct val="80000"/>
              </a:lnSpc>
              <a:spcBef>
                <a:spcPts val="0"/>
              </a:spcBef>
              <a:spcAft>
                <a:spcPts val="0"/>
              </a:spcAft>
              <a:buClr>
                <a:srgbClr val="000000"/>
              </a:buClr>
              <a:buSzPts val="1800"/>
              <a:buFont typeface="Arial"/>
              <a:buNone/>
            </a:pPr>
            <a:r>
              <a:rPr lang="en-US" sz="1800" b="1" i="0" u="none" strike="noStrike" cap="none">
                <a:solidFill>
                  <a:srgbClr val="000000"/>
                </a:solidFill>
                <a:latin typeface="Arial"/>
                <a:ea typeface="Arial"/>
                <a:cs typeface="Arial"/>
                <a:sym typeface="Arial"/>
              </a:rPr>
              <a:t>Total Recordable Incident Rate (TRIR) – USA</a:t>
            </a:r>
            <a:endParaRPr/>
          </a:p>
          <a:p>
            <a:pPr marL="360000" marR="0" lvl="1" indent="-360000" algn="l" rtl="0">
              <a:lnSpc>
                <a:spcPct val="80000"/>
              </a:lnSpc>
              <a:spcBef>
                <a:spcPts val="0"/>
              </a:spcBef>
              <a:spcAft>
                <a:spcPts val="0"/>
              </a:spcAft>
              <a:buClr>
                <a:srgbClr val="000000"/>
              </a:buClr>
              <a:buSzPts val="1600"/>
              <a:buFont typeface="Noto Sans Symbols"/>
              <a:buChar char="⮚"/>
            </a:pPr>
            <a:r>
              <a:rPr lang="en-US" sz="1600" b="0" i="0" u="none" strike="noStrike" cap="none">
                <a:solidFill>
                  <a:srgbClr val="000000"/>
                </a:solidFill>
                <a:latin typeface="Arial"/>
                <a:ea typeface="Arial"/>
                <a:cs typeface="Arial"/>
                <a:sym typeface="Arial"/>
              </a:rPr>
              <a:t>Recordable incidents: fatalities; hospitalizations; injuries and illnesses that lead to medical treatment beyond first aid; aka days-away-from-work cases, restricted-work cases, or job-transfer-due-to-injury cases</a:t>
            </a:r>
            <a:endParaRPr/>
          </a:p>
          <a:p>
            <a:pPr marL="360000" marR="0" lvl="1" indent="-360000" algn="l" rtl="0">
              <a:lnSpc>
                <a:spcPct val="80000"/>
              </a:lnSpc>
              <a:spcBef>
                <a:spcPts val="0"/>
              </a:spcBef>
              <a:spcAft>
                <a:spcPts val="0"/>
              </a:spcAft>
              <a:buClr>
                <a:srgbClr val="000000"/>
              </a:buClr>
              <a:buSzPts val="1600"/>
              <a:buFont typeface="Noto Sans Symbols"/>
              <a:buChar char="⮚"/>
            </a:pPr>
            <a:r>
              <a:rPr lang="en-US" sz="1600" b="0" i="0" u="none" strike="noStrike" cap="none">
                <a:solidFill>
                  <a:srgbClr val="000000"/>
                </a:solidFill>
                <a:latin typeface="Arial"/>
                <a:ea typeface="Arial"/>
                <a:cs typeface="Arial"/>
                <a:sym typeface="Arial"/>
              </a:rPr>
              <a:t>Measured per 100 workers in a 1-year period</a:t>
            </a:r>
            <a:endParaRPr/>
          </a:p>
          <a:p>
            <a:pPr marL="0" marR="0" lvl="0" indent="0" algn="l" rtl="0">
              <a:lnSpc>
                <a:spcPct val="80000"/>
              </a:lnSpc>
              <a:spcBef>
                <a:spcPts val="0"/>
              </a:spcBef>
              <a:spcAft>
                <a:spcPts val="0"/>
              </a:spcAft>
              <a:buClr>
                <a:srgbClr val="000000"/>
              </a:buClr>
              <a:buSzPts val="1800"/>
              <a:buFont typeface="Arial"/>
              <a:buNone/>
            </a:pPr>
            <a:endParaRPr sz="1800" b="1" i="0" u="none" strike="noStrike" cap="none">
              <a:solidFill>
                <a:srgbClr val="000000"/>
              </a:solidFill>
              <a:latin typeface="Arial"/>
              <a:ea typeface="Arial"/>
              <a:cs typeface="Arial"/>
              <a:sym typeface="Arial"/>
            </a:endParaRPr>
          </a:p>
          <a:p>
            <a:pPr marL="0" marR="0" lvl="0" indent="0" algn="l" rtl="0">
              <a:lnSpc>
                <a:spcPct val="80000"/>
              </a:lnSpc>
              <a:spcBef>
                <a:spcPts val="0"/>
              </a:spcBef>
              <a:spcAft>
                <a:spcPts val="0"/>
              </a:spcAft>
              <a:buClr>
                <a:srgbClr val="000000"/>
              </a:buClr>
              <a:buSzPts val="1800"/>
              <a:buFont typeface="Arial"/>
              <a:buNone/>
            </a:pPr>
            <a:r>
              <a:rPr lang="en-US" sz="1800" b="1" i="0" u="none" strike="noStrike" cap="none">
                <a:solidFill>
                  <a:srgbClr val="000000"/>
                </a:solidFill>
                <a:latin typeface="Arial"/>
                <a:ea typeface="Arial"/>
                <a:cs typeface="Arial"/>
                <a:sym typeface="Arial"/>
              </a:rPr>
              <a:t>Lost Time Incident Rate (LTIR) – USA </a:t>
            </a:r>
            <a:endParaRPr/>
          </a:p>
          <a:p>
            <a:pPr marL="360000" marR="0" lvl="1" indent="-360000" algn="l" rtl="0">
              <a:lnSpc>
                <a:spcPct val="80000"/>
              </a:lnSpc>
              <a:spcBef>
                <a:spcPts val="0"/>
              </a:spcBef>
              <a:spcAft>
                <a:spcPts val="0"/>
              </a:spcAft>
              <a:buClr>
                <a:srgbClr val="000000"/>
              </a:buClr>
              <a:buSzPts val="1600"/>
              <a:buFont typeface="Noto Sans Symbols"/>
              <a:buChar char="⮚"/>
            </a:pPr>
            <a:r>
              <a:rPr lang="en-US" sz="1600" b="0" i="0" u="none" strike="noStrike" cap="none">
                <a:solidFill>
                  <a:srgbClr val="000000"/>
                </a:solidFill>
                <a:latin typeface="Arial"/>
                <a:ea typeface="Arial"/>
                <a:cs typeface="Arial"/>
                <a:sym typeface="Arial"/>
              </a:rPr>
              <a:t>Lost time incidents: Injury incidents where medical treatment is given and results in time-away-from-work for the injured employee. </a:t>
            </a:r>
            <a:endParaRPr/>
          </a:p>
          <a:p>
            <a:pPr marL="360000" marR="0" lvl="1" indent="-360000" algn="l" rtl="0">
              <a:lnSpc>
                <a:spcPct val="80000"/>
              </a:lnSpc>
              <a:spcBef>
                <a:spcPts val="0"/>
              </a:spcBef>
              <a:spcAft>
                <a:spcPts val="0"/>
              </a:spcAft>
              <a:buClr>
                <a:srgbClr val="000000"/>
              </a:buClr>
              <a:buSzPts val="1600"/>
              <a:buFont typeface="Noto Sans Symbols"/>
              <a:buChar char="⮚"/>
            </a:pPr>
            <a:r>
              <a:rPr lang="en-US" sz="1600" b="0" i="0" u="none" strike="noStrike" cap="none">
                <a:solidFill>
                  <a:srgbClr val="000000"/>
                </a:solidFill>
                <a:latin typeface="Arial"/>
                <a:ea typeface="Arial"/>
                <a:cs typeface="Arial"/>
                <a:sym typeface="Arial"/>
              </a:rPr>
              <a:t>Measured per 100 workers in a 1-year period</a:t>
            </a:r>
            <a:endParaRPr/>
          </a:p>
          <a:p>
            <a:pPr marL="0" marR="0" lvl="1" indent="0" algn="l" rtl="0">
              <a:lnSpc>
                <a:spcPct val="80000"/>
              </a:lnSpc>
              <a:spcBef>
                <a:spcPts val="0"/>
              </a:spcBef>
              <a:spcAft>
                <a:spcPts val="0"/>
              </a:spcAft>
              <a:buClr>
                <a:srgbClr val="000000"/>
              </a:buClr>
              <a:buSzPts val="1800"/>
              <a:buFont typeface="Noto Sans Symbols"/>
              <a:buNone/>
            </a:pPr>
            <a:endParaRPr sz="1800" b="0" i="1" u="none" strike="noStrike" cap="none">
              <a:solidFill>
                <a:srgbClr val="000000"/>
              </a:solidFill>
              <a:latin typeface="Arial"/>
              <a:ea typeface="Arial"/>
              <a:cs typeface="Arial"/>
              <a:sym typeface="Arial"/>
            </a:endParaRPr>
          </a:p>
          <a:p>
            <a:pPr marL="0" marR="0" lvl="1" indent="0" algn="l" rtl="0">
              <a:lnSpc>
                <a:spcPct val="80000"/>
              </a:lnSpc>
              <a:spcBef>
                <a:spcPts val="0"/>
              </a:spcBef>
              <a:spcAft>
                <a:spcPts val="0"/>
              </a:spcAft>
              <a:buClr>
                <a:srgbClr val="000000"/>
              </a:buClr>
              <a:buSzPts val="1800"/>
              <a:buFont typeface="Noto Sans Symbols"/>
              <a:buNone/>
            </a:pPr>
            <a:r>
              <a:rPr lang="en-US" sz="1800" b="0" i="1" u="none" strike="noStrike" cap="none">
                <a:solidFill>
                  <a:srgbClr val="000000"/>
                </a:solidFill>
                <a:latin typeface="Arial"/>
                <a:ea typeface="Arial"/>
                <a:cs typeface="Arial"/>
                <a:sym typeface="Arial"/>
              </a:rPr>
              <a:t>There is no national roll-up statistic for Canada – each province tracks, usually as “Lost Time injury (or Incident) Rate” per provincial Workers’ Compensation Boards.</a:t>
            </a:r>
            <a:endParaRPr/>
          </a:p>
          <a:p>
            <a:pPr marL="0" marR="0" lvl="1" indent="0" algn="l" rtl="0">
              <a:lnSpc>
                <a:spcPct val="80000"/>
              </a:lnSpc>
              <a:spcBef>
                <a:spcPts val="0"/>
              </a:spcBef>
              <a:spcAft>
                <a:spcPts val="0"/>
              </a:spcAft>
              <a:buClr>
                <a:srgbClr val="000000"/>
              </a:buClr>
              <a:buSzPts val="1800"/>
              <a:buFont typeface="Noto Sans Symbols"/>
              <a:buNone/>
            </a:pPr>
            <a:endParaRPr sz="1800" b="1" i="1" u="none" strike="noStrike" cap="none">
              <a:solidFill>
                <a:srgbClr val="000000"/>
              </a:solidFill>
              <a:latin typeface="Arial"/>
              <a:ea typeface="Arial"/>
              <a:cs typeface="Arial"/>
              <a:sym typeface="Arial"/>
            </a:endParaRPr>
          </a:p>
          <a:p>
            <a:pPr marL="0" marR="0" lvl="1" indent="0" algn="l" rtl="0">
              <a:lnSpc>
                <a:spcPct val="80000"/>
              </a:lnSpc>
              <a:spcBef>
                <a:spcPts val="0"/>
              </a:spcBef>
              <a:spcAft>
                <a:spcPts val="0"/>
              </a:spcAft>
              <a:buClr>
                <a:srgbClr val="000000"/>
              </a:buClr>
              <a:buSzPts val="1800"/>
              <a:buFont typeface="Noto Sans Symbols"/>
              <a:buNone/>
            </a:pPr>
            <a:r>
              <a:rPr lang="en-US" sz="1800" b="1" i="1" u="none" strike="noStrike" cap="none">
                <a:solidFill>
                  <a:srgbClr val="000000"/>
                </a:solidFill>
                <a:latin typeface="Arial"/>
                <a:ea typeface="Arial"/>
                <a:cs typeface="Arial"/>
                <a:sym typeface="Arial"/>
              </a:rPr>
              <a:t>Note: For purposes of this course, LTIR and TRIR are the same.</a:t>
            </a:r>
            <a:endParaRPr/>
          </a:p>
        </p:txBody>
      </p:sp>
      <p:sp>
        <p:nvSpPr>
          <p:cNvPr id="208" name="Google Shape;208;p15"/>
          <p:cNvSpPr txBox="1"/>
          <p:nvPr/>
        </p:nvSpPr>
        <p:spPr>
          <a:xfrm>
            <a:off x="8280000" y="6300000"/>
            <a:ext cx="533400" cy="2880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Clr>
                <a:srgbClr val="000000"/>
              </a:buClr>
              <a:buSzPts val="1200"/>
              <a:buFont typeface="Noto Sans Symbols"/>
              <a:buNone/>
            </a:pPr>
            <a:fld id="{00000000-1234-1234-1234-123412341234}" type="slidenum">
              <a:rPr lang="en-US" sz="1200" b="1" i="1" u="none" strike="noStrike" cap="none">
                <a:solidFill>
                  <a:srgbClr val="000000"/>
                </a:solidFill>
                <a:latin typeface="Arial"/>
                <a:ea typeface="Arial"/>
                <a:cs typeface="Arial"/>
                <a:sym typeface="Arial"/>
              </a:rPr>
              <a:t>17</a:t>
            </a:fld>
            <a:endParaRPr sz="1200" b="1" i="1" u="none" strike="noStrike" cap="none">
              <a:solidFill>
                <a:srgbClr val="000000"/>
              </a:solidFill>
              <a:latin typeface="Arial"/>
              <a:ea typeface="Arial"/>
              <a:cs typeface="Arial"/>
              <a:sym typeface="Arial"/>
            </a:endParaRPr>
          </a:p>
        </p:txBody>
      </p:sp>
      <p:sp>
        <p:nvSpPr>
          <p:cNvPr id="209" name="Google Shape;209;p15"/>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b="1" i="1" u="none" strike="noStrike" cap="none">
                <a:solidFill>
                  <a:srgbClr val="000000"/>
                </a:solidFill>
                <a:latin typeface="Arial"/>
                <a:ea typeface="Arial"/>
                <a:cs typeface="Arial"/>
                <a:sym typeface="Arial"/>
              </a:rPr>
              <a:t>Chapter 6.2: Safety Metrics, Lagging and Leading Indicators</a:t>
            </a:r>
            <a:endParaRPr sz="1200" b="1" i="1" u="none" strike="noStrike" cap="non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sp>
        <p:nvSpPr>
          <p:cNvPr id="217" name="Google Shape;217;p16"/>
          <p:cNvSpPr txBox="1">
            <a:spLocks noGrp="1"/>
          </p:cNvSpPr>
          <p:nvPr>
            <p:ph type="body" idx="1"/>
          </p:nvPr>
        </p:nvSpPr>
        <p:spPr>
          <a:xfrm>
            <a:off x="180000" y="828000"/>
            <a:ext cx="8640000" cy="5328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000000"/>
              </a:buClr>
              <a:buSzPts val="2000"/>
              <a:buFont typeface="Arial"/>
              <a:buNone/>
            </a:pPr>
            <a:r>
              <a:rPr lang="en-US" sz="2000" b="1" i="0" u="none" strike="noStrike" cap="none">
                <a:solidFill>
                  <a:srgbClr val="000000"/>
                </a:solidFill>
                <a:latin typeface="Arial"/>
                <a:ea typeface="Arial"/>
                <a:cs typeface="Arial"/>
                <a:sym typeface="Arial"/>
              </a:rPr>
              <a:t>Incidents used: </a:t>
            </a:r>
            <a:endParaRPr/>
          </a:p>
          <a:p>
            <a:pPr marL="360000" marR="0" lvl="1" indent="-360000" algn="l" rtl="0">
              <a:spcBef>
                <a:spcPts val="0"/>
              </a:spcBef>
              <a:spcAft>
                <a:spcPts val="0"/>
              </a:spcAft>
              <a:buClr>
                <a:srgbClr val="000000"/>
              </a:buClr>
              <a:buSzPts val="2000"/>
              <a:buFont typeface="Noto Sans Symbols"/>
              <a:buChar char="⮚"/>
            </a:pPr>
            <a:r>
              <a:rPr lang="en-US" sz="2000" b="0" i="0" u="none" strike="noStrike" cap="none">
                <a:solidFill>
                  <a:srgbClr val="000000"/>
                </a:solidFill>
                <a:latin typeface="Arial"/>
                <a:ea typeface="Arial"/>
                <a:cs typeface="Arial"/>
                <a:sym typeface="Arial"/>
              </a:rPr>
              <a:t>FAR only uses fatalities (F’s)</a:t>
            </a:r>
            <a:endParaRPr sz="2000" b="0" i="0" u="none" strike="noStrike" cap="none">
              <a:solidFill>
                <a:srgbClr val="000000"/>
              </a:solidFill>
              <a:latin typeface="Arial"/>
              <a:ea typeface="Arial"/>
              <a:cs typeface="Arial"/>
              <a:sym typeface="Arial"/>
            </a:endParaRPr>
          </a:p>
          <a:p>
            <a:pPr marL="360000" marR="0" lvl="1" indent="-360000" algn="l" rtl="0">
              <a:spcBef>
                <a:spcPts val="0"/>
              </a:spcBef>
              <a:spcAft>
                <a:spcPts val="0"/>
              </a:spcAft>
              <a:buClr>
                <a:srgbClr val="000000"/>
              </a:buClr>
              <a:buSzPts val="2000"/>
              <a:buFont typeface="Noto Sans Symbols"/>
              <a:buChar char="⮚"/>
            </a:pPr>
            <a:r>
              <a:rPr lang="en-US" sz="2000" b="0" i="0" u="none" strike="noStrike" cap="none">
                <a:solidFill>
                  <a:srgbClr val="000000"/>
                </a:solidFill>
                <a:latin typeface="Arial"/>
                <a:ea typeface="Arial"/>
                <a:cs typeface="Arial"/>
                <a:sym typeface="Arial"/>
              </a:rPr>
              <a:t>TRIR includes F’s, LTI’s, and injuries requiring more than first aid </a:t>
            </a:r>
            <a:endParaRPr/>
          </a:p>
          <a:p>
            <a:pPr marL="360000" marR="0" lvl="1" indent="-360000" algn="l" rtl="0">
              <a:spcBef>
                <a:spcPts val="0"/>
              </a:spcBef>
              <a:spcAft>
                <a:spcPts val="0"/>
              </a:spcAft>
              <a:buClr>
                <a:srgbClr val="000000"/>
              </a:buClr>
              <a:buSzPts val="2000"/>
              <a:buFont typeface="Noto Sans Symbols"/>
              <a:buChar char="⮚"/>
            </a:pPr>
            <a:r>
              <a:rPr lang="en-US" sz="2000" b="0" i="0" u="none" strike="noStrike" cap="none">
                <a:solidFill>
                  <a:srgbClr val="000000"/>
                </a:solidFill>
                <a:latin typeface="Arial"/>
                <a:ea typeface="Arial"/>
                <a:cs typeface="Arial"/>
                <a:sym typeface="Arial"/>
              </a:rPr>
              <a:t>LTIR does not include Fatalities, only Lost Time Incidents</a:t>
            </a:r>
            <a:endParaRPr sz="2000" b="0" i="0" u="none" strike="noStrike" cap="none">
              <a:solidFill>
                <a:srgbClr val="000000"/>
              </a:solidFill>
              <a:latin typeface="Arial"/>
              <a:ea typeface="Arial"/>
              <a:cs typeface="Arial"/>
              <a:sym typeface="Arial"/>
            </a:endParaRPr>
          </a:p>
          <a:p>
            <a:pPr marL="0" marR="0" lvl="1" indent="0" algn="l" rtl="0">
              <a:spcBef>
                <a:spcPts val="0"/>
              </a:spcBef>
              <a:spcAft>
                <a:spcPts val="0"/>
              </a:spcAft>
              <a:buClr>
                <a:srgbClr val="000000"/>
              </a:buClr>
              <a:buSzPts val="1800"/>
              <a:buFont typeface="Noto Sans Symbols"/>
              <a:buNone/>
            </a:pPr>
            <a:r>
              <a:rPr lang="en-US" sz="1800" b="1" i="1" u="none" strike="noStrike" cap="none">
                <a:solidFill>
                  <a:srgbClr val="000000"/>
                </a:solidFill>
                <a:latin typeface="Arial"/>
                <a:ea typeface="Arial"/>
                <a:cs typeface="Arial"/>
                <a:sym typeface="Arial"/>
              </a:rPr>
              <a:t>Note: For purposes of this course, LTIR and TRIR are the same.</a:t>
            </a:r>
            <a:endParaRPr/>
          </a:p>
          <a:p>
            <a:pPr marL="0" marR="0" lvl="0" indent="0" algn="l" rtl="0">
              <a:spcBef>
                <a:spcPts val="0"/>
              </a:spcBef>
              <a:spcAft>
                <a:spcPts val="0"/>
              </a:spcAft>
              <a:buClr>
                <a:srgbClr val="000000"/>
              </a:buClr>
              <a:buSzPts val="2000"/>
              <a:buFont typeface="Arial"/>
              <a:buNone/>
            </a:pPr>
            <a:endParaRPr sz="2000" b="1" i="0" u="none" strike="noStrike" cap="none">
              <a:solidFill>
                <a:srgbClr val="000000"/>
              </a:solidFill>
              <a:latin typeface="Arial"/>
              <a:ea typeface="Arial"/>
              <a:cs typeface="Arial"/>
              <a:sym typeface="Arial"/>
            </a:endParaRPr>
          </a:p>
          <a:p>
            <a:pPr marL="0" marR="0" lvl="0" indent="0" algn="l" rtl="0">
              <a:spcBef>
                <a:spcPts val="0"/>
              </a:spcBef>
              <a:spcAft>
                <a:spcPts val="0"/>
              </a:spcAft>
              <a:buClr>
                <a:srgbClr val="000000"/>
              </a:buClr>
              <a:buSzPts val="2000"/>
              <a:buFont typeface="Arial"/>
              <a:buNone/>
            </a:pPr>
            <a:r>
              <a:rPr lang="en-US" sz="2000" b="1" i="0" u="none" strike="noStrike" cap="none">
                <a:solidFill>
                  <a:srgbClr val="000000"/>
                </a:solidFill>
                <a:latin typeface="Arial"/>
                <a:ea typeface="Arial"/>
                <a:cs typeface="Arial"/>
                <a:sym typeface="Arial"/>
              </a:rPr>
              <a:t>Calculations for the Rates:</a:t>
            </a:r>
            <a:endParaRPr sz="2000" b="1" i="0" u="none" strike="noStrike" cap="none">
              <a:solidFill>
                <a:srgbClr val="000000"/>
              </a:solidFill>
              <a:latin typeface="Arial"/>
              <a:ea typeface="Arial"/>
              <a:cs typeface="Arial"/>
              <a:sym typeface="Arial"/>
            </a:endParaRPr>
          </a:p>
          <a:p>
            <a:pPr marL="360000" marR="0" lvl="1" indent="-360000" algn="l" rtl="0">
              <a:spcBef>
                <a:spcPts val="0"/>
              </a:spcBef>
              <a:spcAft>
                <a:spcPts val="0"/>
              </a:spcAft>
              <a:buClr>
                <a:srgbClr val="000000"/>
              </a:buClr>
              <a:buSzPts val="2000"/>
              <a:buFont typeface="Noto Sans Symbols"/>
              <a:buChar char="⮚"/>
            </a:pPr>
            <a:r>
              <a:rPr lang="en-US" sz="2000" b="0" i="0" u="none" strike="noStrike" cap="none">
                <a:solidFill>
                  <a:srgbClr val="000000"/>
                </a:solidFill>
                <a:latin typeface="Arial"/>
                <a:ea typeface="Arial"/>
                <a:cs typeface="Arial"/>
                <a:sym typeface="Arial"/>
              </a:rPr>
              <a:t>FAR is expressed as the number of fatalities per 1000 employee- working lifetimes: </a:t>
            </a:r>
            <a:endParaRPr/>
          </a:p>
          <a:p>
            <a:pPr marL="720000" marR="0" lvl="2" indent="-359999" algn="l" rtl="0">
              <a:spcBef>
                <a:spcPts val="0"/>
              </a:spcBef>
              <a:spcAft>
                <a:spcPts val="0"/>
              </a:spcAft>
              <a:buClr>
                <a:schemeClr val="dk1"/>
              </a:buClr>
              <a:buSzPts val="2000"/>
              <a:buFont typeface="Noto Sans Symbols"/>
              <a:buChar char="❑"/>
            </a:pPr>
            <a:r>
              <a:rPr lang="en-US" sz="2000" b="1" i="0" u="none" strike="noStrike" cap="none">
                <a:solidFill>
                  <a:schemeClr val="dk1"/>
                </a:solidFill>
                <a:latin typeface="Arial"/>
                <a:ea typeface="Arial"/>
                <a:cs typeface="Arial"/>
                <a:sym typeface="Arial"/>
              </a:rPr>
              <a:t>FAR = (# of fatalities * 100,000,000) / (# of hours worked)</a:t>
            </a:r>
            <a:endParaRPr/>
          </a:p>
          <a:p>
            <a:pPr marL="1080000" marR="0" lvl="2" indent="-359999" algn="l" rtl="0">
              <a:spcBef>
                <a:spcPts val="0"/>
              </a:spcBef>
              <a:spcAft>
                <a:spcPts val="0"/>
              </a:spcAft>
              <a:buClr>
                <a:schemeClr val="dk1"/>
              </a:buClr>
              <a:buSzPts val="1600"/>
              <a:buFont typeface="Noto Sans Symbols"/>
              <a:buChar char="❑"/>
            </a:pPr>
            <a:r>
              <a:rPr lang="en-US" sz="1600" b="0" i="0" u="none" strike="noStrike" cap="none">
                <a:solidFill>
                  <a:schemeClr val="dk1"/>
                </a:solidFill>
                <a:latin typeface="Arial"/>
                <a:ea typeface="Arial"/>
                <a:cs typeface="Arial"/>
                <a:sym typeface="Arial"/>
              </a:rPr>
              <a:t>100,000,000 = 1000 employees* 50 years* 50 weeks/year* 40 hours/week</a:t>
            </a:r>
            <a:endParaRPr sz="1600" b="0" i="0" u="none" strike="noStrike" cap="none">
              <a:solidFill>
                <a:schemeClr val="dk1"/>
              </a:solidFill>
              <a:latin typeface="Arial"/>
              <a:ea typeface="Arial"/>
              <a:cs typeface="Arial"/>
              <a:sym typeface="Arial"/>
            </a:endParaRPr>
          </a:p>
          <a:p>
            <a:pPr marL="360000" marR="0" lvl="1" indent="-233000" algn="l" rtl="0">
              <a:spcBef>
                <a:spcPts val="0"/>
              </a:spcBef>
              <a:spcAft>
                <a:spcPts val="0"/>
              </a:spcAft>
              <a:buClr>
                <a:srgbClr val="000000"/>
              </a:buClr>
              <a:buSzPts val="2000"/>
              <a:buFont typeface="Noto Sans Symbols"/>
              <a:buNone/>
            </a:pPr>
            <a:endParaRPr sz="2000" b="0" i="0" u="none" strike="noStrike" cap="none">
              <a:solidFill>
                <a:srgbClr val="000000"/>
              </a:solidFill>
              <a:latin typeface="Arial"/>
              <a:ea typeface="Arial"/>
              <a:cs typeface="Arial"/>
              <a:sym typeface="Arial"/>
            </a:endParaRPr>
          </a:p>
          <a:p>
            <a:pPr marL="360000" marR="0" lvl="1" indent="-360000" algn="l" rtl="0">
              <a:spcBef>
                <a:spcPts val="0"/>
              </a:spcBef>
              <a:spcAft>
                <a:spcPts val="0"/>
              </a:spcAft>
              <a:buClr>
                <a:srgbClr val="000000"/>
              </a:buClr>
              <a:buSzPts val="2000"/>
              <a:buFont typeface="Noto Sans Symbols"/>
              <a:buChar char="⮚"/>
            </a:pPr>
            <a:r>
              <a:rPr lang="en-US" sz="2000" b="0" i="0" u="none" strike="noStrike" cap="none">
                <a:solidFill>
                  <a:srgbClr val="000000"/>
                </a:solidFill>
                <a:latin typeface="Arial"/>
                <a:ea typeface="Arial"/>
                <a:cs typeface="Arial"/>
                <a:sym typeface="Arial"/>
              </a:rPr>
              <a:t>TRIR and LTIR are rates per 100 worker-hours in 1 year (200,000 hours) </a:t>
            </a:r>
            <a:endParaRPr/>
          </a:p>
          <a:p>
            <a:pPr marL="720000" marR="0" lvl="2" indent="-359999" algn="l" rtl="0">
              <a:spcBef>
                <a:spcPts val="0"/>
              </a:spcBef>
              <a:spcAft>
                <a:spcPts val="0"/>
              </a:spcAft>
              <a:buClr>
                <a:schemeClr val="dk1"/>
              </a:buClr>
              <a:buSzPts val="2000"/>
              <a:buFont typeface="Noto Sans Symbols"/>
              <a:buChar char="❑"/>
            </a:pPr>
            <a:r>
              <a:rPr lang="en-US" sz="2000" b="1" i="0" u="none" strike="noStrike" cap="none">
                <a:solidFill>
                  <a:schemeClr val="dk1"/>
                </a:solidFill>
                <a:latin typeface="Arial"/>
                <a:ea typeface="Arial"/>
                <a:cs typeface="Arial"/>
                <a:sym typeface="Arial"/>
              </a:rPr>
              <a:t>TRIR = (# of recordable incidents* 200,000) / (# of hours worked) </a:t>
            </a:r>
            <a:endParaRPr/>
          </a:p>
          <a:p>
            <a:pPr marL="720000" marR="0" lvl="2" indent="-359999" algn="l" rtl="0">
              <a:spcBef>
                <a:spcPts val="0"/>
              </a:spcBef>
              <a:spcAft>
                <a:spcPts val="0"/>
              </a:spcAft>
              <a:buClr>
                <a:schemeClr val="dk1"/>
              </a:buClr>
              <a:buSzPts val="2000"/>
              <a:buFont typeface="Noto Sans Symbols"/>
              <a:buChar char="❑"/>
            </a:pPr>
            <a:r>
              <a:rPr lang="en-US" sz="2000" b="1" i="0" u="none" strike="noStrike" cap="none">
                <a:solidFill>
                  <a:schemeClr val="dk1"/>
                </a:solidFill>
                <a:latin typeface="Arial"/>
                <a:ea typeface="Arial"/>
                <a:cs typeface="Arial"/>
                <a:sym typeface="Arial"/>
              </a:rPr>
              <a:t>LTIR = (# of lost time incidents * 200,000) / (# hours worked)</a:t>
            </a:r>
            <a:endParaRPr/>
          </a:p>
          <a:p>
            <a:pPr marL="1080000" marR="0" lvl="2" indent="-359999" algn="l" rtl="0">
              <a:spcBef>
                <a:spcPts val="0"/>
              </a:spcBef>
              <a:spcAft>
                <a:spcPts val="0"/>
              </a:spcAft>
              <a:buClr>
                <a:schemeClr val="dk1"/>
              </a:buClr>
              <a:buSzPts val="1600"/>
              <a:buFont typeface="Noto Sans Symbols"/>
              <a:buChar char="❑"/>
            </a:pPr>
            <a:r>
              <a:rPr lang="en-US" sz="1600" b="0" i="0" u="none" strike="noStrike" cap="none">
                <a:solidFill>
                  <a:schemeClr val="dk1"/>
                </a:solidFill>
                <a:latin typeface="Arial"/>
                <a:ea typeface="Arial"/>
                <a:cs typeface="Arial"/>
                <a:sym typeface="Arial"/>
              </a:rPr>
              <a:t>200,000 = 100 employees * 40 hours/week * 50 weeks/year  </a:t>
            </a:r>
            <a:endParaRPr/>
          </a:p>
          <a:p>
            <a:pPr marL="0" marR="0" lvl="0" indent="0" algn="l" rtl="0">
              <a:spcBef>
                <a:spcPts val="0"/>
              </a:spcBef>
              <a:spcAft>
                <a:spcPts val="0"/>
              </a:spcAft>
              <a:buClr>
                <a:srgbClr val="000000"/>
              </a:buClr>
              <a:buSzPts val="2000"/>
              <a:buFont typeface="Arial"/>
              <a:buNone/>
            </a:pPr>
            <a:endParaRPr sz="2000" b="1" i="0" u="none" strike="noStrike" cap="none">
              <a:solidFill>
                <a:srgbClr val="000000"/>
              </a:solidFill>
              <a:latin typeface="Arial"/>
              <a:ea typeface="Arial"/>
              <a:cs typeface="Arial"/>
              <a:sym typeface="Arial"/>
            </a:endParaRPr>
          </a:p>
          <a:p>
            <a:pPr marL="0" marR="0" lvl="0" indent="0" algn="l" rtl="0">
              <a:spcBef>
                <a:spcPts val="0"/>
              </a:spcBef>
              <a:spcAft>
                <a:spcPts val="0"/>
              </a:spcAft>
              <a:buClr>
                <a:srgbClr val="000000"/>
              </a:buClr>
              <a:buSzPts val="2000"/>
              <a:buFont typeface="Arial"/>
              <a:buNone/>
            </a:pPr>
            <a:endParaRPr sz="2000" b="1" i="0" u="none" strike="noStrike" cap="none">
              <a:solidFill>
                <a:srgbClr val="000000"/>
              </a:solidFill>
              <a:latin typeface="Arial"/>
              <a:ea typeface="Arial"/>
              <a:cs typeface="Arial"/>
              <a:sym typeface="Arial"/>
            </a:endParaRPr>
          </a:p>
        </p:txBody>
      </p:sp>
      <p:sp>
        <p:nvSpPr>
          <p:cNvPr id="218" name="Google Shape;218;p16"/>
          <p:cNvSpPr txBox="1"/>
          <p:nvPr/>
        </p:nvSpPr>
        <p:spPr>
          <a:xfrm>
            <a:off x="180000" y="180000"/>
            <a:ext cx="8640000" cy="5400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accent2"/>
              </a:buClr>
              <a:buSzPts val="2400"/>
              <a:buFont typeface="Arial"/>
              <a:buNone/>
            </a:pPr>
            <a:r>
              <a:rPr lang="en-US" sz="2400" b="0" i="0" u="none" strike="noStrike" cap="none">
                <a:solidFill>
                  <a:schemeClr val="accent2"/>
                </a:solidFill>
                <a:latin typeface="Arial"/>
                <a:ea typeface="Arial"/>
                <a:cs typeface="Arial"/>
                <a:sym typeface="Arial"/>
              </a:rPr>
              <a:t>Lagging Indicators – Specific Definitions:</a:t>
            </a:r>
            <a:endParaRPr sz="2400" b="0" i="0" u="none" strike="noStrike" cap="none">
              <a:solidFill>
                <a:schemeClr val="accent2"/>
              </a:solidFill>
              <a:latin typeface="Arial"/>
              <a:ea typeface="Arial"/>
              <a:cs typeface="Arial"/>
              <a:sym typeface="Arial"/>
            </a:endParaRPr>
          </a:p>
        </p:txBody>
      </p:sp>
      <p:sp>
        <p:nvSpPr>
          <p:cNvPr id="219" name="Google Shape;219;p16"/>
          <p:cNvSpPr txBox="1"/>
          <p:nvPr/>
        </p:nvSpPr>
        <p:spPr>
          <a:xfrm>
            <a:off x="8280000" y="6300000"/>
            <a:ext cx="533400" cy="2880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Clr>
                <a:srgbClr val="000000"/>
              </a:buClr>
              <a:buSzPts val="1200"/>
              <a:buFont typeface="Noto Sans Symbols"/>
              <a:buNone/>
            </a:pPr>
            <a:fld id="{00000000-1234-1234-1234-123412341234}" type="slidenum">
              <a:rPr lang="en-US" sz="1200" b="1" i="1" u="none" strike="noStrike" cap="none">
                <a:solidFill>
                  <a:srgbClr val="000000"/>
                </a:solidFill>
                <a:latin typeface="Arial"/>
                <a:ea typeface="Arial"/>
                <a:cs typeface="Arial"/>
                <a:sym typeface="Arial"/>
              </a:rPr>
              <a:t>18</a:t>
            </a:fld>
            <a:endParaRPr sz="1200" b="1" i="1" u="none" strike="noStrike" cap="none">
              <a:solidFill>
                <a:srgbClr val="000000"/>
              </a:solidFill>
              <a:latin typeface="Arial"/>
              <a:ea typeface="Arial"/>
              <a:cs typeface="Arial"/>
              <a:sym typeface="Arial"/>
            </a:endParaRPr>
          </a:p>
        </p:txBody>
      </p:sp>
      <p:sp>
        <p:nvSpPr>
          <p:cNvPr id="220" name="Google Shape;220;p16"/>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b="1" i="1" u="none" strike="noStrike" cap="none">
                <a:solidFill>
                  <a:srgbClr val="000000"/>
                </a:solidFill>
                <a:latin typeface="Arial"/>
                <a:ea typeface="Arial"/>
                <a:cs typeface="Arial"/>
                <a:sym typeface="Arial"/>
              </a:rPr>
              <a:t>Chapter 6.2: Safety Metrics, Lagging and Leading Indicators</a:t>
            </a:r>
            <a:endParaRPr sz="1200" b="1" i="1" u="none" strike="noStrike" cap="none">
              <a:solidFill>
                <a:srgbClr val="000000"/>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25"/>
        <p:cNvGrpSpPr/>
        <p:nvPr/>
      </p:nvGrpSpPr>
      <p:grpSpPr>
        <a:xfrm>
          <a:off x="0" y="0"/>
          <a:ext cx="0" cy="0"/>
          <a:chOff x="0" y="0"/>
          <a:chExt cx="0" cy="0"/>
        </a:xfrm>
      </p:grpSpPr>
      <p:sp>
        <p:nvSpPr>
          <p:cNvPr id="226" name="Google Shape;226;p17"/>
          <p:cNvSpPr/>
          <p:nvPr/>
        </p:nvSpPr>
        <p:spPr>
          <a:xfrm>
            <a:off x="180000" y="828000"/>
            <a:ext cx="8640000" cy="5328000"/>
          </a:xfrm>
          <a:prstGeom prst="rect">
            <a:avLst/>
          </a:prstGeom>
          <a:noFill/>
          <a:ln>
            <a:noFill/>
          </a:ln>
        </p:spPr>
        <p:txBody>
          <a:bodyPr spcFirstLastPara="1" wrap="square" lIns="91425" tIns="45700" rIns="91425" bIns="45700" anchor="t" anchorCtr="0">
            <a:noAutofit/>
          </a:bodyPr>
          <a:lstStyle/>
          <a:p>
            <a:pPr marL="360000" marR="0" lvl="0" indent="-360000" algn="l" rtl="0">
              <a:lnSpc>
                <a:spcPct val="90000"/>
              </a:lnSpc>
              <a:spcBef>
                <a:spcPts val="0"/>
              </a:spcBef>
              <a:spcAft>
                <a:spcPts val="0"/>
              </a:spcAft>
              <a:buClr>
                <a:srgbClr val="000000"/>
              </a:buClr>
              <a:buSzPts val="2000"/>
              <a:buFont typeface="Arial"/>
              <a:buNone/>
            </a:pPr>
            <a:r>
              <a:rPr lang="en-US" sz="2000" b="1" i="0" u="none" strike="noStrike" cap="none">
                <a:solidFill>
                  <a:srgbClr val="000000"/>
                </a:solidFill>
                <a:latin typeface="Arial"/>
                <a:ea typeface="Arial"/>
                <a:cs typeface="Arial"/>
                <a:sym typeface="Arial"/>
              </a:rPr>
              <a:t>Challenges and limitations with using lagging indicators include:</a:t>
            </a:r>
            <a:endParaRPr sz="2000" b="1" i="0" u="none" strike="noStrike" cap="none">
              <a:solidFill>
                <a:srgbClr val="000000"/>
              </a:solidFill>
              <a:latin typeface="Arial"/>
              <a:ea typeface="Arial"/>
              <a:cs typeface="Arial"/>
              <a:sym typeface="Arial"/>
            </a:endParaRPr>
          </a:p>
          <a:p>
            <a:pPr marL="360000" marR="0" lvl="0" indent="-360000" algn="l" rtl="0">
              <a:lnSpc>
                <a:spcPct val="90000"/>
              </a:lnSpc>
              <a:spcBef>
                <a:spcPts val="0"/>
              </a:spcBef>
              <a:spcAft>
                <a:spcPts val="0"/>
              </a:spcAft>
              <a:buClr>
                <a:srgbClr val="000000"/>
              </a:buClr>
              <a:buSzPts val="2000"/>
              <a:buFont typeface="Noto Sans Symbols"/>
              <a:buChar char="⮚"/>
            </a:pPr>
            <a:r>
              <a:rPr lang="en-US" sz="2000" b="0" i="0" u="none" strike="noStrike" cap="none">
                <a:solidFill>
                  <a:srgbClr val="000000"/>
                </a:solidFill>
                <a:latin typeface="Arial"/>
                <a:ea typeface="Arial"/>
                <a:cs typeface="Arial"/>
                <a:sym typeface="Arial"/>
              </a:rPr>
              <a:t>Even though lagging indicators include both occupational and technical safety, there tends to be an </a:t>
            </a:r>
            <a:r>
              <a:rPr lang="en-US" sz="2000" b="0" i="0" u="sng" strike="noStrike" cap="none">
                <a:solidFill>
                  <a:srgbClr val="000000"/>
                </a:solidFill>
                <a:latin typeface="Arial"/>
                <a:ea typeface="Arial"/>
                <a:cs typeface="Arial"/>
                <a:sym typeface="Arial"/>
              </a:rPr>
              <a:t>over-emphasis on occupational injuries.</a:t>
            </a:r>
            <a:endParaRPr sz="2000" b="0" i="0" u="sng" strike="noStrike" cap="none">
              <a:solidFill>
                <a:srgbClr val="000000"/>
              </a:solidFill>
              <a:latin typeface="Arial"/>
              <a:ea typeface="Arial"/>
              <a:cs typeface="Arial"/>
              <a:sym typeface="Arial"/>
            </a:endParaRPr>
          </a:p>
          <a:p>
            <a:pPr marL="360000" marR="0" lvl="0" indent="-360000" algn="l" rtl="0">
              <a:lnSpc>
                <a:spcPct val="90000"/>
              </a:lnSpc>
              <a:spcBef>
                <a:spcPts val="0"/>
              </a:spcBef>
              <a:spcAft>
                <a:spcPts val="0"/>
              </a:spcAft>
              <a:buClr>
                <a:srgbClr val="000000"/>
              </a:buClr>
              <a:buSzPts val="2000"/>
              <a:buFont typeface="Noto Sans Symbols"/>
              <a:buChar char="⮚"/>
            </a:pPr>
            <a:r>
              <a:rPr lang="en-US" sz="2000" b="0" i="0" u="none" strike="noStrike" cap="none">
                <a:solidFill>
                  <a:srgbClr val="000000"/>
                </a:solidFill>
                <a:latin typeface="Arial"/>
                <a:ea typeface="Arial"/>
                <a:cs typeface="Arial"/>
                <a:sym typeface="Arial"/>
              </a:rPr>
              <a:t>Not all are reported or investigated.</a:t>
            </a:r>
            <a:endParaRPr/>
          </a:p>
          <a:p>
            <a:pPr marL="360000" marR="0" lvl="0" indent="-233000" algn="l" rtl="0">
              <a:lnSpc>
                <a:spcPct val="90000"/>
              </a:lnSpc>
              <a:spcBef>
                <a:spcPts val="0"/>
              </a:spcBef>
              <a:spcAft>
                <a:spcPts val="0"/>
              </a:spcAft>
              <a:buClr>
                <a:srgbClr val="000000"/>
              </a:buClr>
              <a:buSzPts val="2000"/>
              <a:buFont typeface="Noto Sans Symbols"/>
              <a:buNone/>
            </a:pPr>
            <a:endParaRPr sz="2000" b="0" i="0" u="none" strike="noStrike" cap="none">
              <a:solidFill>
                <a:srgbClr val="000000"/>
              </a:solidFill>
              <a:latin typeface="Arial"/>
              <a:ea typeface="Arial"/>
              <a:cs typeface="Arial"/>
              <a:sym typeface="Arial"/>
            </a:endParaRPr>
          </a:p>
          <a:p>
            <a:pPr marL="360000" marR="0" lvl="0" indent="-360000" algn="l" rtl="0">
              <a:lnSpc>
                <a:spcPct val="90000"/>
              </a:lnSpc>
              <a:spcBef>
                <a:spcPts val="0"/>
              </a:spcBef>
              <a:spcAft>
                <a:spcPts val="0"/>
              </a:spcAft>
              <a:buClr>
                <a:srgbClr val="000000"/>
              </a:buClr>
              <a:buSzPts val="2000"/>
              <a:buFont typeface="Noto Sans Symbols"/>
              <a:buChar char="⮚"/>
            </a:pPr>
            <a:r>
              <a:rPr lang="en-US" sz="2000" b="0" i="0" u="none" strike="noStrike" cap="none">
                <a:solidFill>
                  <a:srgbClr val="000000"/>
                </a:solidFill>
                <a:latin typeface="Arial"/>
                <a:ea typeface="Arial"/>
                <a:cs typeface="Arial"/>
                <a:sym typeface="Arial"/>
              </a:rPr>
              <a:t>Negative trends can create “knee-jerk” reactions.</a:t>
            </a:r>
            <a:endParaRPr/>
          </a:p>
          <a:p>
            <a:pPr marL="360000" marR="0" lvl="0" indent="-360000" algn="l" rtl="0">
              <a:lnSpc>
                <a:spcPct val="90000"/>
              </a:lnSpc>
              <a:spcBef>
                <a:spcPts val="0"/>
              </a:spcBef>
              <a:spcAft>
                <a:spcPts val="0"/>
              </a:spcAft>
              <a:buClr>
                <a:srgbClr val="000000"/>
              </a:buClr>
              <a:buSzPts val="2000"/>
              <a:buFont typeface="Noto Sans Symbols"/>
              <a:buChar char="⮚"/>
            </a:pPr>
            <a:r>
              <a:rPr lang="en-US" sz="2000" b="0" i="0" u="none" strike="noStrike" cap="none">
                <a:solidFill>
                  <a:srgbClr val="000000"/>
                </a:solidFill>
                <a:latin typeface="Arial"/>
                <a:ea typeface="Arial"/>
                <a:cs typeface="Arial"/>
                <a:sym typeface="Arial"/>
              </a:rPr>
              <a:t>Positive trends are not appropriately resourced.</a:t>
            </a:r>
            <a:endParaRPr/>
          </a:p>
          <a:p>
            <a:pPr marL="720000" marR="0" lvl="1" indent="-359999" algn="l" rtl="0">
              <a:lnSpc>
                <a:spcPct val="90000"/>
              </a:lnSpc>
              <a:spcBef>
                <a:spcPts val="0"/>
              </a:spcBef>
              <a:spcAft>
                <a:spcPts val="0"/>
              </a:spcAft>
              <a:buClr>
                <a:srgbClr val="000000"/>
              </a:buClr>
              <a:buSzPts val="2000"/>
              <a:buFont typeface="Noto Sans Symbols"/>
              <a:buChar char="⮚"/>
            </a:pPr>
            <a:r>
              <a:rPr lang="en-US" sz="2000" b="0" i="0" u="none" strike="noStrike" cap="none">
                <a:solidFill>
                  <a:srgbClr val="000000"/>
                </a:solidFill>
                <a:latin typeface="Arial"/>
                <a:ea typeface="Arial"/>
                <a:cs typeface="Arial"/>
                <a:sym typeface="Arial"/>
              </a:rPr>
              <a:t>A short-term positive trend could be mis-managed as “We have solved the problem. The issues are behind us.”</a:t>
            </a:r>
            <a:endParaRPr sz="2000" b="0" i="0" u="none" strike="noStrike" cap="none">
              <a:solidFill>
                <a:srgbClr val="000000"/>
              </a:solidFill>
              <a:latin typeface="Arial"/>
              <a:ea typeface="Arial"/>
              <a:cs typeface="Arial"/>
              <a:sym typeface="Arial"/>
            </a:endParaRPr>
          </a:p>
          <a:p>
            <a:pPr marL="360000" marR="0" lvl="0" indent="-360000" algn="l" rtl="0">
              <a:lnSpc>
                <a:spcPct val="90000"/>
              </a:lnSpc>
              <a:spcBef>
                <a:spcPts val="0"/>
              </a:spcBef>
              <a:spcAft>
                <a:spcPts val="0"/>
              </a:spcAft>
              <a:buClr>
                <a:srgbClr val="000000"/>
              </a:buClr>
              <a:buSzPts val="2000"/>
              <a:buFont typeface="Noto Sans Symbols"/>
              <a:buChar char="⮚"/>
            </a:pPr>
            <a:r>
              <a:rPr lang="en-US" sz="2000" b="0" i="0" u="none" strike="noStrike" cap="none">
                <a:solidFill>
                  <a:srgbClr val="000000"/>
                </a:solidFill>
                <a:latin typeface="Arial"/>
                <a:ea typeface="Arial"/>
                <a:cs typeface="Arial"/>
                <a:sym typeface="Arial"/>
              </a:rPr>
              <a:t>Cannot be used as a means to influence safety culture for effective and sustainable performance improvements.</a:t>
            </a:r>
            <a:endParaRPr/>
          </a:p>
          <a:p>
            <a:pPr marL="360000" marR="0" lvl="0" indent="-233000" algn="l" rtl="0">
              <a:lnSpc>
                <a:spcPct val="90000"/>
              </a:lnSpc>
              <a:spcBef>
                <a:spcPts val="0"/>
              </a:spcBef>
              <a:spcAft>
                <a:spcPts val="0"/>
              </a:spcAft>
              <a:buClr>
                <a:srgbClr val="000000"/>
              </a:buClr>
              <a:buSzPts val="2000"/>
              <a:buFont typeface="Noto Sans Symbols"/>
              <a:buNone/>
            </a:pPr>
            <a:endParaRPr sz="2000" b="0" i="0" u="none" strike="noStrike" cap="none">
              <a:solidFill>
                <a:srgbClr val="000000"/>
              </a:solidFill>
              <a:latin typeface="Arial"/>
              <a:ea typeface="Arial"/>
              <a:cs typeface="Arial"/>
              <a:sym typeface="Arial"/>
            </a:endParaRPr>
          </a:p>
          <a:p>
            <a:pPr marL="360000" marR="0" lvl="0" indent="-360000" algn="l" rtl="0">
              <a:lnSpc>
                <a:spcPct val="90000"/>
              </a:lnSpc>
              <a:spcBef>
                <a:spcPts val="0"/>
              </a:spcBef>
              <a:spcAft>
                <a:spcPts val="0"/>
              </a:spcAft>
              <a:buClr>
                <a:srgbClr val="000000"/>
              </a:buClr>
              <a:buSzPts val="2000"/>
              <a:buFont typeface="Noto Sans Symbols"/>
              <a:buChar char="⮚"/>
            </a:pPr>
            <a:r>
              <a:rPr lang="en-US" sz="2000" b="0" i="0" u="none" strike="noStrike" cap="none">
                <a:solidFill>
                  <a:srgbClr val="000000"/>
                </a:solidFill>
                <a:latin typeface="Arial"/>
                <a:ea typeface="Arial"/>
                <a:cs typeface="Arial"/>
                <a:sym typeface="Arial"/>
              </a:rPr>
              <a:t>Especially for technical safety incidents, there may be long durations of “positive” performance between events</a:t>
            </a:r>
            <a:endParaRPr/>
          </a:p>
          <a:p>
            <a:pPr marL="720000" marR="0" lvl="1" indent="-359999" algn="l" rtl="0">
              <a:lnSpc>
                <a:spcPct val="90000"/>
              </a:lnSpc>
              <a:spcBef>
                <a:spcPts val="0"/>
              </a:spcBef>
              <a:spcAft>
                <a:spcPts val="0"/>
              </a:spcAft>
              <a:buClr>
                <a:srgbClr val="000000"/>
              </a:buClr>
              <a:buSzPts val="2000"/>
              <a:buFont typeface="Noto Sans Symbols"/>
              <a:buChar char="⮚"/>
            </a:pPr>
            <a:r>
              <a:rPr lang="en-US" sz="2000" b="0" i="0" u="none" strike="noStrike" cap="none">
                <a:solidFill>
                  <a:srgbClr val="000000"/>
                </a:solidFill>
                <a:latin typeface="Arial"/>
                <a:ea typeface="Arial"/>
                <a:cs typeface="Arial"/>
                <a:sym typeface="Arial"/>
              </a:rPr>
              <a:t>This can “lull” the organization into a false sense of “security” and the RM program is “invulnerable” or at least “robust”.</a:t>
            </a:r>
            <a:endParaRPr/>
          </a:p>
          <a:p>
            <a:pPr marL="720000" marR="0" lvl="1" indent="-359999" algn="l" rtl="0">
              <a:lnSpc>
                <a:spcPct val="90000"/>
              </a:lnSpc>
              <a:spcBef>
                <a:spcPts val="0"/>
              </a:spcBef>
              <a:spcAft>
                <a:spcPts val="0"/>
              </a:spcAft>
              <a:buClr>
                <a:srgbClr val="000000"/>
              </a:buClr>
              <a:buSzPts val="1800"/>
              <a:buFont typeface="Noto Sans Symbols"/>
              <a:buChar char="⮚"/>
            </a:pPr>
            <a:r>
              <a:rPr lang="en-US" sz="1800" b="0" i="0" u="none" strike="noStrike" cap="none">
                <a:solidFill>
                  <a:srgbClr val="000000"/>
                </a:solidFill>
                <a:latin typeface="Arial"/>
                <a:ea typeface="Arial"/>
                <a:cs typeface="Arial"/>
                <a:sym typeface="Arial"/>
              </a:rPr>
              <a:t>Recall, technical safety incidents are extremely low likelihood with extremely high (catastrophic) consequences. </a:t>
            </a:r>
            <a:endParaRPr/>
          </a:p>
        </p:txBody>
      </p:sp>
      <p:sp>
        <p:nvSpPr>
          <p:cNvPr id="227" name="Google Shape;227;p17"/>
          <p:cNvSpPr/>
          <p:nvPr/>
        </p:nvSpPr>
        <p:spPr>
          <a:xfrm>
            <a:off x="180000" y="180000"/>
            <a:ext cx="8640000" cy="5400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accent2"/>
              </a:buClr>
              <a:buSzPts val="2400"/>
              <a:buFont typeface="Arial"/>
              <a:buNone/>
            </a:pPr>
            <a:r>
              <a:rPr lang="en-US" sz="2400" b="0" i="0" u="none" strike="noStrike" cap="none">
                <a:solidFill>
                  <a:schemeClr val="accent2"/>
                </a:solidFill>
                <a:latin typeface="Arial"/>
                <a:ea typeface="Arial"/>
                <a:cs typeface="Arial"/>
                <a:sym typeface="Arial"/>
              </a:rPr>
              <a:t>Lagging Indicators – Challenges and Limitations:</a:t>
            </a:r>
            <a:endParaRPr/>
          </a:p>
        </p:txBody>
      </p:sp>
      <p:sp>
        <p:nvSpPr>
          <p:cNvPr id="228" name="Google Shape;228;p17"/>
          <p:cNvSpPr txBox="1"/>
          <p:nvPr/>
        </p:nvSpPr>
        <p:spPr>
          <a:xfrm>
            <a:off x="8280000" y="6300000"/>
            <a:ext cx="533400" cy="2880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Clr>
                <a:srgbClr val="000000"/>
              </a:buClr>
              <a:buSzPts val="1200"/>
              <a:buFont typeface="Noto Sans Symbols"/>
              <a:buNone/>
            </a:pPr>
            <a:fld id="{00000000-1234-1234-1234-123412341234}" type="slidenum">
              <a:rPr lang="en-US" sz="1200" b="1" i="1" u="none" strike="noStrike" cap="none">
                <a:solidFill>
                  <a:srgbClr val="000000"/>
                </a:solidFill>
                <a:latin typeface="Arial"/>
                <a:ea typeface="Arial"/>
                <a:cs typeface="Arial"/>
                <a:sym typeface="Arial"/>
              </a:rPr>
              <a:t>19</a:t>
            </a:fld>
            <a:endParaRPr sz="1200" b="1" i="1" u="none" strike="noStrike" cap="none">
              <a:solidFill>
                <a:srgbClr val="000000"/>
              </a:solidFill>
              <a:latin typeface="Arial"/>
              <a:ea typeface="Arial"/>
              <a:cs typeface="Arial"/>
              <a:sym typeface="Arial"/>
            </a:endParaRPr>
          </a:p>
        </p:txBody>
      </p:sp>
      <p:sp>
        <p:nvSpPr>
          <p:cNvPr id="229" name="Google Shape;229;p17"/>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b="1" i="1" u="none" strike="noStrike" cap="none">
                <a:solidFill>
                  <a:srgbClr val="000000"/>
                </a:solidFill>
                <a:latin typeface="Arial"/>
                <a:ea typeface="Arial"/>
                <a:cs typeface="Arial"/>
                <a:sym typeface="Arial"/>
              </a:rPr>
              <a:t>Chapter 6.2: Safety Metrics, Lagging and Leading Indicators</a:t>
            </a:r>
            <a:endParaRPr sz="1200" b="1" i="1" u="none" strike="noStrike" cap="none">
              <a:solidFill>
                <a:srgbClr val="000000"/>
              </a:solidFill>
              <a:latin typeface="Arial"/>
              <a:ea typeface="Arial"/>
              <a:cs typeface="Arial"/>
              <a:sym typeface="Arial"/>
            </a:endParaRPr>
          </a:p>
        </p:txBody>
      </p:sp>
    </p:spTree>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p18"/>
          <p:cNvSpPr txBox="1">
            <a:spLocks noGrp="1"/>
          </p:cNvSpPr>
          <p:nvPr>
            <p:ph type="title"/>
          </p:nvPr>
        </p:nvSpPr>
        <p:spPr>
          <a:xfrm>
            <a:off x="180000" y="180000"/>
            <a:ext cx="8640000" cy="540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accent2"/>
              </a:buClr>
              <a:buSzPts val="2400"/>
              <a:buFont typeface="Arial"/>
              <a:buNone/>
            </a:pPr>
            <a:r>
              <a:rPr lang="en-US" sz="2400" b="0">
                <a:latin typeface="Arial"/>
                <a:ea typeface="Arial"/>
                <a:cs typeface="Arial"/>
                <a:sym typeface="Arial"/>
              </a:rPr>
              <a:t>Leading Indicators – Examples:</a:t>
            </a:r>
            <a:endParaRPr/>
          </a:p>
        </p:txBody>
      </p:sp>
      <p:sp>
        <p:nvSpPr>
          <p:cNvPr id="236" name="Google Shape;236;p18"/>
          <p:cNvSpPr txBox="1">
            <a:spLocks noGrp="1"/>
          </p:cNvSpPr>
          <p:nvPr>
            <p:ph type="body" idx="1"/>
          </p:nvPr>
        </p:nvSpPr>
        <p:spPr>
          <a:xfrm>
            <a:off x="180000" y="828000"/>
            <a:ext cx="8640000" cy="5328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000000"/>
              </a:buClr>
              <a:buSzPts val="2000"/>
              <a:buFont typeface="Arial"/>
              <a:buNone/>
            </a:pPr>
            <a:r>
              <a:rPr lang="en-US" sz="2000" b="1" i="0" u="none" strike="noStrike" cap="none">
                <a:solidFill>
                  <a:srgbClr val="000000"/>
                </a:solidFill>
                <a:latin typeface="Arial"/>
                <a:ea typeface="Arial"/>
                <a:cs typeface="Arial"/>
                <a:sym typeface="Arial"/>
              </a:rPr>
              <a:t>In contrast,</a:t>
            </a:r>
            <a:r>
              <a:rPr lang="en-US" sz="2000" b="0" i="0" u="none" strike="noStrike" cap="none">
                <a:solidFill>
                  <a:srgbClr val="000000"/>
                </a:solidFill>
                <a:latin typeface="Arial"/>
                <a:ea typeface="Arial"/>
                <a:cs typeface="Arial"/>
                <a:sym typeface="Arial"/>
              </a:rPr>
              <a:t> the </a:t>
            </a:r>
            <a:r>
              <a:rPr lang="en-US" sz="2000" b="0" i="0" u="sng" strike="noStrike" cap="none">
                <a:solidFill>
                  <a:srgbClr val="000000"/>
                </a:solidFill>
                <a:latin typeface="Arial"/>
                <a:ea typeface="Arial"/>
                <a:cs typeface="Arial"/>
                <a:sym typeface="Arial"/>
              </a:rPr>
              <a:t>leading indicators</a:t>
            </a:r>
            <a:r>
              <a:rPr lang="en-US" sz="2000" b="0" i="0" u="none" strike="noStrike" cap="none">
                <a:solidFill>
                  <a:srgbClr val="000000"/>
                </a:solidFill>
                <a:latin typeface="Arial"/>
                <a:ea typeface="Arial"/>
                <a:cs typeface="Arial"/>
                <a:sym typeface="Arial"/>
              </a:rPr>
              <a:t> are created as a result of a </a:t>
            </a:r>
            <a:r>
              <a:rPr lang="en-US" sz="2000" b="0" i="0" u="sng" strike="noStrike" cap="none">
                <a:solidFill>
                  <a:srgbClr val="000000"/>
                </a:solidFill>
                <a:latin typeface="Arial"/>
                <a:ea typeface="Arial"/>
                <a:cs typeface="Arial"/>
                <a:sym typeface="Arial"/>
              </a:rPr>
              <a:t>proactive planned inspection or audit</a:t>
            </a:r>
            <a:r>
              <a:rPr lang="en-US" sz="2000" b="0" i="0" u="none" strike="noStrike" cap="none">
                <a:solidFill>
                  <a:srgbClr val="000000"/>
                </a:solidFill>
                <a:latin typeface="Arial"/>
                <a:ea typeface="Arial"/>
                <a:cs typeface="Arial"/>
                <a:sym typeface="Arial"/>
              </a:rPr>
              <a:t> that is intended to assess the effective implementation of the RM program. These audits can be tracked on a “rate” basis e.g. # per week, # per hours of operation, etc. </a:t>
            </a:r>
            <a:endParaRPr sz="2000" b="0" i="0" u="none" strike="noStrike" cap="none">
              <a:solidFill>
                <a:srgbClr val="000000"/>
              </a:solidFill>
              <a:latin typeface="Arial"/>
              <a:ea typeface="Arial"/>
              <a:cs typeface="Arial"/>
              <a:sym typeface="Arial"/>
            </a:endParaRPr>
          </a:p>
          <a:p>
            <a:pPr marL="360000" marR="0" lvl="2" indent="-360000" algn="l" rtl="0">
              <a:spcBef>
                <a:spcPts val="0"/>
              </a:spcBef>
              <a:spcAft>
                <a:spcPts val="0"/>
              </a:spcAft>
              <a:buClr>
                <a:srgbClr val="000000"/>
              </a:buClr>
              <a:buSzPts val="2000"/>
              <a:buFont typeface="Noto Sans Symbols"/>
              <a:buChar char="⮚"/>
            </a:pPr>
            <a:r>
              <a:rPr lang="en-US" sz="2000" b="0" i="0" u="none" strike="noStrike" cap="none">
                <a:solidFill>
                  <a:srgbClr val="000000"/>
                </a:solidFill>
                <a:latin typeface="Arial"/>
                <a:ea typeface="Arial"/>
                <a:cs typeface="Arial"/>
                <a:sym typeface="Arial"/>
              </a:rPr>
              <a:t># of administrative controls reviewed and updated</a:t>
            </a:r>
            <a:endParaRPr/>
          </a:p>
          <a:p>
            <a:pPr marL="360000" marR="0" lvl="2" indent="-360000" algn="l" rtl="0">
              <a:spcBef>
                <a:spcPts val="0"/>
              </a:spcBef>
              <a:spcAft>
                <a:spcPts val="0"/>
              </a:spcAft>
              <a:buClr>
                <a:srgbClr val="000000"/>
              </a:buClr>
              <a:buSzPts val="2000"/>
              <a:buFont typeface="Noto Sans Symbols"/>
              <a:buChar char="⮚"/>
            </a:pPr>
            <a:r>
              <a:rPr lang="en-US" sz="2000" b="0" i="0" u="none" strike="noStrike" cap="none">
                <a:solidFill>
                  <a:srgbClr val="000000"/>
                </a:solidFill>
                <a:latin typeface="Arial"/>
                <a:ea typeface="Arial"/>
                <a:cs typeface="Arial"/>
                <a:sym typeface="Arial"/>
              </a:rPr>
              <a:t># of inspections on safety equipment carried out, RME #8 O&amp;M</a:t>
            </a:r>
            <a:endParaRPr/>
          </a:p>
          <a:p>
            <a:pPr marL="360000" marR="0" lvl="2" indent="-360000" algn="l" rtl="0">
              <a:spcBef>
                <a:spcPts val="0"/>
              </a:spcBef>
              <a:spcAft>
                <a:spcPts val="0"/>
              </a:spcAft>
              <a:buClr>
                <a:srgbClr val="000000"/>
              </a:buClr>
              <a:buSzPts val="2000"/>
              <a:buFont typeface="Noto Sans Symbols"/>
              <a:buChar char="⮚"/>
            </a:pPr>
            <a:r>
              <a:rPr lang="en-US" sz="2000" b="0" i="0" u="none" strike="noStrike" cap="none">
                <a:solidFill>
                  <a:srgbClr val="000000"/>
                </a:solidFill>
                <a:latin typeface="Arial"/>
                <a:ea typeface="Arial"/>
                <a:cs typeface="Arial"/>
                <a:sym typeface="Arial"/>
              </a:rPr>
              <a:t># of employees with up-to-date qualifications, RME #9 EC&amp;T</a:t>
            </a:r>
            <a:endParaRPr/>
          </a:p>
          <a:p>
            <a:pPr marL="360000" marR="0" lvl="2" indent="-360000" algn="l" rtl="0">
              <a:spcBef>
                <a:spcPts val="0"/>
              </a:spcBef>
              <a:spcAft>
                <a:spcPts val="0"/>
              </a:spcAft>
              <a:buClr>
                <a:srgbClr val="000000"/>
              </a:buClr>
              <a:buSzPts val="2000"/>
              <a:buFont typeface="Noto Sans Symbols"/>
              <a:buChar char="⮚"/>
            </a:pPr>
            <a:r>
              <a:rPr lang="en-US" sz="2000" b="0" i="0" u="none" strike="noStrike" cap="none">
                <a:solidFill>
                  <a:srgbClr val="000000"/>
                </a:solidFill>
                <a:latin typeface="Arial"/>
                <a:ea typeface="Arial"/>
                <a:cs typeface="Arial"/>
                <a:sym typeface="Arial"/>
              </a:rPr>
              <a:t># of management safety audits completed, RME #6 PECI</a:t>
            </a:r>
            <a:endParaRPr/>
          </a:p>
          <a:p>
            <a:pPr marL="360000" marR="0" lvl="2" indent="-360000" algn="l" rtl="0">
              <a:spcBef>
                <a:spcPts val="0"/>
              </a:spcBef>
              <a:spcAft>
                <a:spcPts val="0"/>
              </a:spcAft>
              <a:buClr>
                <a:srgbClr val="000000"/>
              </a:buClr>
              <a:buSzPts val="2000"/>
              <a:buFont typeface="Noto Sans Symbols"/>
              <a:buChar char="⮚"/>
            </a:pPr>
            <a:r>
              <a:rPr lang="en-US" sz="2000" b="0" i="0" u="none" strike="noStrike" cap="none">
                <a:solidFill>
                  <a:srgbClr val="000000"/>
                </a:solidFill>
                <a:latin typeface="Arial"/>
                <a:ea typeface="Arial"/>
                <a:cs typeface="Arial"/>
                <a:sym typeface="Arial"/>
              </a:rPr>
              <a:t># of changes appropriately managed, RME #4 MOC</a:t>
            </a:r>
            <a:endParaRPr/>
          </a:p>
          <a:p>
            <a:pPr marL="360000" marR="0" lvl="2" indent="-360000" algn="l" rtl="0">
              <a:spcBef>
                <a:spcPts val="0"/>
              </a:spcBef>
              <a:spcAft>
                <a:spcPts val="0"/>
              </a:spcAft>
              <a:buClr>
                <a:srgbClr val="000000"/>
              </a:buClr>
              <a:buSzPts val="2000"/>
              <a:buFont typeface="Noto Sans Symbols"/>
              <a:buChar char="⮚"/>
            </a:pPr>
            <a:r>
              <a:rPr lang="en-US" sz="2000" b="0" i="0" u="none" strike="noStrike" cap="none">
                <a:solidFill>
                  <a:srgbClr val="000000"/>
                </a:solidFill>
                <a:latin typeface="Arial"/>
                <a:ea typeface="Arial"/>
                <a:cs typeface="Arial"/>
                <a:sym typeface="Arial"/>
              </a:rPr>
              <a:t># of job observations and planned inspections carried out</a:t>
            </a:r>
            <a:endParaRPr/>
          </a:p>
          <a:p>
            <a:pPr marL="360000" marR="0" lvl="2" indent="-360000" algn="l" rtl="0">
              <a:spcBef>
                <a:spcPts val="0"/>
              </a:spcBef>
              <a:spcAft>
                <a:spcPts val="0"/>
              </a:spcAft>
              <a:buClr>
                <a:srgbClr val="000000"/>
              </a:buClr>
              <a:buSzPts val="2000"/>
              <a:buFont typeface="Noto Sans Symbols"/>
              <a:buChar char="⮚"/>
            </a:pPr>
            <a:r>
              <a:rPr lang="en-US" sz="2000" b="0" i="0" u="none" strike="noStrike" cap="none">
                <a:solidFill>
                  <a:srgbClr val="000000"/>
                </a:solidFill>
                <a:latin typeface="Arial"/>
                <a:ea typeface="Arial"/>
                <a:cs typeface="Arial"/>
                <a:sym typeface="Arial"/>
              </a:rPr>
              <a:t># of safety systems disabled or bypassed</a:t>
            </a:r>
            <a:endParaRPr/>
          </a:p>
          <a:p>
            <a:pPr marL="360000" marR="0" lvl="2" indent="-360000" algn="l" rtl="0">
              <a:spcBef>
                <a:spcPts val="0"/>
              </a:spcBef>
              <a:spcAft>
                <a:spcPts val="0"/>
              </a:spcAft>
              <a:buClr>
                <a:srgbClr val="000000"/>
              </a:buClr>
              <a:buSzPts val="2000"/>
              <a:buFont typeface="Noto Sans Symbols"/>
              <a:buChar char="⮚"/>
            </a:pPr>
            <a:r>
              <a:rPr lang="en-US" sz="2000" b="0" i="0" u="none" strike="noStrike" cap="none">
                <a:solidFill>
                  <a:srgbClr val="000000"/>
                </a:solidFill>
                <a:latin typeface="Arial"/>
                <a:ea typeface="Arial"/>
                <a:cs typeface="Arial"/>
                <a:sym typeface="Arial"/>
              </a:rPr>
              <a:t># near miss incident reports received and reviewed</a:t>
            </a:r>
            <a:endParaRPr/>
          </a:p>
          <a:p>
            <a:pPr marL="360000" marR="0" lvl="2" indent="-360000" algn="l" rtl="0">
              <a:spcBef>
                <a:spcPts val="0"/>
              </a:spcBef>
              <a:spcAft>
                <a:spcPts val="0"/>
              </a:spcAft>
              <a:buClr>
                <a:srgbClr val="000000"/>
              </a:buClr>
              <a:buSzPts val="2000"/>
              <a:buFont typeface="Noto Sans Symbols"/>
              <a:buChar char="⮚"/>
            </a:pPr>
            <a:r>
              <a:rPr lang="en-US" sz="2000" b="0" i="0" u="none" strike="noStrike" cap="none">
                <a:solidFill>
                  <a:srgbClr val="000000"/>
                </a:solidFill>
                <a:latin typeface="Arial"/>
                <a:ea typeface="Arial"/>
                <a:cs typeface="Arial"/>
                <a:sym typeface="Arial"/>
              </a:rPr>
              <a:t># near miss incident reports addressed</a:t>
            </a:r>
            <a:endParaRPr/>
          </a:p>
          <a:p>
            <a:pPr marL="360000" marR="0" lvl="2" indent="-360000" algn="l" rtl="0">
              <a:spcBef>
                <a:spcPts val="0"/>
              </a:spcBef>
              <a:spcAft>
                <a:spcPts val="0"/>
              </a:spcAft>
              <a:buClr>
                <a:srgbClr val="000000"/>
              </a:buClr>
              <a:buSzPts val="2000"/>
              <a:buFont typeface="Noto Sans Symbols"/>
              <a:buChar char="⮚"/>
            </a:pPr>
            <a:r>
              <a:rPr lang="en-US" sz="2000" b="0" i="0" u="none" strike="noStrike" cap="none">
                <a:solidFill>
                  <a:srgbClr val="000000"/>
                </a:solidFill>
                <a:latin typeface="Arial"/>
                <a:ea typeface="Arial"/>
                <a:cs typeface="Arial"/>
                <a:sym typeface="Arial"/>
              </a:rPr>
              <a:t># of SC and SP reports received and reviewed</a:t>
            </a:r>
            <a:endParaRPr/>
          </a:p>
          <a:p>
            <a:pPr marL="360000" marR="0" lvl="2" indent="-360000" algn="l" rtl="0">
              <a:spcBef>
                <a:spcPts val="0"/>
              </a:spcBef>
              <a:spcAft>
                <a:spcPts val="0"/>
              </a:spcAft>
              <a:buClr>
                <a:srgbClr val="000000"/>
              </a:buClr>
              <a:buSzPts val="2000"/>
              <a:buFont typeface="Noto Sans Symbols"/>
              <a:buChar char="⮚"/>
            </a:pPr>
            <a:r>
              <a:rPr lang="en-US" sz="2000" b="0" i="0" u="none" strike="noStrike" cap="none">
                <a:solidFill>
                  <a:srgbClr val="000000"/>
                </a:solidFill>
                <a:latin typeface="Arial"/>
                <a:ea typeface="Arial"/>
                <a:cs typeface="Arial"/>
                <a:sym typeface="Arial"/>
              </a:rPr>
              <a:t># of SC and SP reports addressed</a:t>
            </a:r>
            <a:endParaRPr/>
          </a:p>
          <a:p>
            <a:pPr marL="360000" marR="0" lvl="2" indent="-360000" algn="l" rtl="0">
              <a:spcBef>
                <a:spcPts val="0"/>
              </a:spcBef>
              <a:spcAft>
                <a:spcPts val="0"/>
              </a:spcAft>
              <a:buClr>
                <a:srgbClr val="000000"/>
              </a:buClr>
              <a:buSzPts val="2000"/>
              <a:buFont typeface="Noto Sans Symbols"/>
              <a:buChar char="⮚"/>
            </a:pPr>
            <a:r>
              <a:rPr lang="en-US" sz="2000" b="0" i="0" u="none" strike="noStrike" cap="none">
                <a:solidFill>
                  <a:srgbClr val="000000"/>
                </a:solidFill>
                <a:latin typeface="Arial"/>
                <a:ea typeface="Arial"/>
                <a:cs typeface="Arial"/>
                <a:sym typeface="Arial"/>
              </a:rPr>
              <a:t># safe behavior awards presented to employees</a:t>
            </a:r>
            <a:endParaRPr sz="2000" b="0" i="0" u="none" strike="noStrike" cap="none">
              <a:solidFill>
                <a:srgbClr val="000000"/>
              </a:solidFill>
              <a:latin typeface="Arial"/>
              <a:ea typeface="Arial"/>
              <a:cs typeface="Arial"/>
              <a:sym typeface="Arial"/>
            </a:endParaRPr>
          </a:p>
        </p:txBody>
      </p:sp>
      <p:sp>
        <p:nvSpPr>
          <p:cNvPr id="237" name="Google Shape;237;p18"/>
          <p:cNvSpPr txBox="1"/>
          <p:nvPr/>
        </p:nvSpPr>
        <p:spPr>
          <a:xfrm>
            <a:off x="8280000" y="6300000"/>
            <a:ext cx="533400" cy="2880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Clr>
                <a:srgbClr val="000000"/>
              </a:buClr>
              <a:buSzPts val="1200"/>
              <a:buFont typeface="Noto Sans Symbols"/>
              <a:buNone/>
            </a:pPr>
            <a:fld id="{00000000-1234-1234-1234-123412341234}" type="slidenum">
              <a:rPr lang="en-US" sz="1200" b="1" i="1" u="none" strike="noStrike" cap="none">
                <a:solidFill>
                  <a:srgbClr val="000000"/>
                </a:solidFill>
                <a:latin typeface="Arial"/>
                <a:ea typeface="Arial"/>
                <a:cs typeface="Arial"/>
                <a:sym typeface="Arial"/>
              </a:rPr>
              <a:t>20</a:t>
            </a:fld>
            <a:endParaRPr sz="1200" b="1" i="1" u="none" strike="noStrike" cap="none">
              <a:solidFill>
                <a:srgbClr val="000000"/>
              </a:solidFill>
              <a:latin typeface="Arial"/>
              <a:ea typeface="Arial"/>
              <a:cs typeface="Arial"/>
              <a:sym typeface="Arial"/>
            </a:endParaRPr>
          </a:p>
        </p:txBody>
      </p:sp>
      <p:sp>
        <p:nvSpPr>
          <p:cNvPr id="238" name="Google Shape;238;p18"/>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b="1" i="1" u="none" strike="noStrike" cap="none">
                <a:solidFill>
                  <a:srgbClr val="000000"/>
                </a:solidFill>
                <a:latin typeface="Arial"/>
                <a:ea typeface="Arial"/>
                <a:cs typeface="Arial"/>
                <a:sym typeface="Arial"/>
              </a:rPr>
              <a:t>Chapter 6.2: Safety Metrics, Lagging and Leading Indicators</a:t>
            </a:r>
            <a:endParaRPr sz="1200" b="1" i="1" u="none" strike="noStrike" cap="none">
              <a:solidFill>
                <a:srgbClr val="000000"/>
              </a:solidFill>
              <a:latin typeface="Arial"/>
              <a:ea typeface="Arial"/>
              <a:cs typeface="Arial"/>
              <a:sym typeface="Arial"/>
            </a:endParaRPr>
          </a:p>
        </p:txBody>
      </p:sp>
      <p:sp>
        <p:nvSpPr>
          <p:cNvPr id="239" name="Google Shape;239;p18"/>
          <p:cNvSpPr txBox="1"/>
          <p:nvPr/>
        </p:nvSpPr>
        <p:spPr>
          <a:xfrm>
            <a:off x="6096000" y="4516090"/>
            <a:ext cx="2819400" cy="1631216"/>
          </a:xfrm>
          <a:prstGeom prst="rect">
            <a:avLst/>
          </a:prstGeom>
          <a:solidFill>
            <a:srgbClr val="FFFF00"/>
          </a:solidFill>
          <a:ln w="9525" cap="flat" cmpd="sng">
            <a:solidFill>
              <a:schemeClr val="dk1"/>
            </a:solidFill>
            <a:prstDash val="solid"/>
            <a:round/>
            <a:headEnd type="none" w="sm" len="sm"/>
            <a:tailEnd type="none" w="sm" len="sm"/>
          </a:ln>
        </p:spPr>
        <p:txBody>
          <a:bodyPr spcFirstLastPara="1" wrap="square" lIns="36000" tIns="36000" rIns="36000" bIns="36000" anchor="t" anchorCtr="0">
            <a:spAutoFit/>
          </a:bodyPr>
          <a:lstStyle/>
          <a:p>
            <a:pPr marL="0" marR="0" lvl="0" indent="0" algn="ctr" rtl="0">
              <a:spcBef>
                <a:spcPts val="0"/>
              </a:spcBef>
              <a:spcAft>
                <a:spcPts val="0"/>
              </a:spcAft>
              <a:buNone/>
            </a:pPr>
            <a:r>
              <a:rPr lang="en-US" sz="2000" b="1" i="1" u="none" strike="noStrike" cap="none">
                <a:solidFill>
                  <a:schemeClr val="dk1"/>
                </a:solidFill>
                <a:latin typeface="Arial"/>
                <a:ea typeface="Arial"/>
                <a:cs typeface="Arial"/>
                <a:sym typeface="Arial"/>
              </a:rPr>
              <a:t>In other words, look for </a:t>
            </a:r>
            <a:r>
              <a:rPr lang="en-US" sz="2000" b="1" i="1" u="sng" strike="noStrike" cap="none">
                <a:solidFill>
                  <a:schemeClr val="dk1"/>
                </a:solidFill>
                <a:latin typeface="Arial"/>
                <a:ea typeface="Arial"/>
                <a:cs typeface="Arial"/>
                <a:sym typeface="Arial"/>
              </a:rPr>
              <a:t>signals</a:t>
            </a:r>
            <a:r>
              <a:rPr lang="en-US" sz="2000" b="1" i="1" u="none" strike="noStrike" cap="none">
                <a:solidFill>
                  <a:schemeClr val="dk1"/>
                </a:solidFill>
                <a:latin typeface="Arial"/>
                <a:ea typeface="Arial"/>
                <a:cs typeface="Arial"/>
                <a:sym typeface="Arial"/>
              </a:rPr>
              <a:t> (the data points) </a:t>
            </a:r>
            <a:r>
              <a:rPr lang="en-US" sz="2000" b="1" i="1" u="sng" strike="noStrike" cap="none">
                <a:solidFill>
                  <a:schemeClr val="dk1"/>
                </a:solidFill>
                <a:latin typeface="Arial"/>
                <a:ea typeface="Arial"/>
                <a:cs typeface="Arial"/>
                <a:sym typeface="Arial"/>
              </a:rPr>
              <a:t>before</a:t>
            </a:r>
            <a:r>
              <a:rPr lang="en-US" sz="2000" b="1" i="1" u="none" strike="noStrike" cap="none">
                <a:solidFill>
                  <a:schemeClr val="dk1"/>
                </a:solidFill>
                <a:latin typeface="Arial"/>
                <a:ea typeface="Arial"/>
                <a:cs typeface="Arial"/>
                <a:sym typeface="Arial"/>
              </a:rPr>
              <a:t> something bad happens!</a:t>
            </a:r>
            <a:endParaRPr sz="2000" b="1" i="1" u="none" strike="noStrike" cap="none">
              <a:solidFill>
                <a:schemeClr val="dk1"/>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44"/>
        <p:cNvGrpSpPr/>
        <p:nvPr/>
      </p:nvGrpSpPr>
      <p:grpSpPr>
        <a:xfrm>
          <a:off x="0" y="0"/>
          <a:ext cx="0" cy="0"/>
          <a:chOff x="0" y="0"/>
          <a:chExt cx="0" cy="0"/>
        </a:xfrm>
      </p:grpSpPr>
      <p:sp>
        <p:nvSpPr>
          <p:cNvPr id="245" name="Google Shape;245;p19"/>
          <p:cNvSpPr/>
          <p:nvPr/>
        </p:nvSpPr>
        <p:spPr>
          <a:xfrm>
            <a:off x="180000" y="828000"/>
            <a:ext cx="8640000" cy="5328000"/>
          </a:xfrm>
          <a:prstGeom prst="rect">
            <a:avLst/>
          </a:prstGeom>
          <a:noFill/>
          <a:ln>
            <a:noFill/>
          </a:ln>
        </p:spPr>
        <p:txBody>
          <a:bodyPr spcFirstLastPara="1" wrap="square" lIns="91425" tIns="45700" rIns="91425" bIns="45700" anchor="t" anchorCtr="0">
            <a:noAutofit/>
          </a:bodyPr>
          <a:lstStyle/>
          <a:p>
            <a:pPr marL="360000" marR="0" lvl="0" indent="-360000" algn="l" rtl="0">
              <a:lnSpc>
                <a:spcPct val="100000"/>
              </a:lnSpc>
              <a:spcBef>
                <a:spcPts val="0"/>
              </a:spcBef>
              <a:spcAft>
                <a:spcPts val="0"/>
              </a:spcAft>
              <a:buClr>
                <a:srgbClr val="000000"/>
              </a:buClr>
              <a:buSzPts val="2000"/>
              <a:buFont typeface="Noto Sans Symbols"/>
              <a:buChar char="⮚"/>
            </a:pPr>
            <a:r>
              <a:rPr lang="en-US" sz="2000" b="0" i="0" u="none" strike="noStrike" cap="none">
                <a:solidFill>
                  <a:srgbClr val="000000"/>
                </a:solidFill>
                <a:latin typeface="Arial"/>
                <a:ea typeface="Arial"/>
                <a:cs typeface="Arial"/>
                <a:sym typeface="Arial"/>
              </a:rPr>
              <a:t>Can be directly used </a:t>
            </a:r>
            <a:r>
              <a:rPr lang="en-US" sz="2000" b="0" i="0" u="sng" strike="noStrike" cap="none">
                <a:solidFill>
                  <a:srgbClr val="000000"/>
                </a:solidFill>
                <a:latin typeface="Arial"/>
                <a:ea typeface="Arial"/>
                <a:cs typeface="Arial"/>
                <a:sym typeface="Arial"/>
              </a:rPr>
              <a:t>by leaders to influence the safety culture</a:t>
            </a:r>
            <a:r>
              <a:rPr lang="en-US" sz="2000" b="0" i="0" u="none" strike="noStrike" cap="none">
                <a:solidFill>
                  <a:srgbClr val="000000"/>
                </a:solidFill>
                <a:latin typeface="Arial"/>
                <a:ea typeface="Arial"/>
                <a:cs typeface="Arial"/>
                <a:sym typeface="Arial"/>
              </a:rPr>
              <a:t>!</a:t>
            </a:r>
            <a:endParaRPr/>
          </a:p>
          <a:p>
            <a:pPr marL="360000" marR="0" lvl="0" indent="-360000" algn="l" rtl="0">
              <a:lnSpc>
                <a:spcPct val="100000"/>
              </a:lnSpc>
              <a:spcBef>
                <a:spcPts val="0"/>
              </a:spcBef>
              <a:spcAft>
                <a:spcPts val="0"/>
              </a:spcAft>
              <a:buClr>
                <a:srgbClr val="000000"/>
              </a:buClr>
              <a:buSzPts val="2000"/>
              <a:buFont typeface="Noto Sans Symbols"/>
              <a:buChar char="⮚"/>
            </a:pPr>
            <a:r>
              <a:rPr lang="en-US" sz="2000" b="0" i="0" u="none" strike="noStrike" cap="none">
                <a:solidFill>
                  <a:srgbClr val="000000"/>
                </a:solidFill>
                <a:latin typeface="Arial"/>
                <a:ea typeface="Arial"/>
                <a:cs typeface="Arial"/>
                <a:sym typeface="Arial"/>
              </a:rPr>
              <a:t>This concept is further explored in </a:t>
            </a:r>
            <a:r>
              <a:rPr lang="en-US" sz="2000" b="1" i="0" u="none" strike="noStrike" cap="none">
                <a:solidFill>
                  <a:srgbClr val="000000"/>
                </a:solidFill>
                <a:latin typeface="Arial"/>
                <a:ea typeface="Arial"/>
                <a:cs typeface="Arial"/>
                <a:sym typeface="Arial"/>
              </a:rPr>
              <a:t>Chapter 7</a:t>
            </a:r>
            <a:r>
              <a:rPr lang="en-US" sz="2000" b="0" i="0" u="none" strike="noStrike" cap="none">
                <a:solidFill>
                  <a:srgbClr val="000000"/>
                </a:solidFill>
                <a:latin typeface="Arial"/>
                <a:ea typeface="Arial"/>
                <a:cs typeface="Arial"/>
                <a:sym typeface="Arial"/>
              </a:rPr>
              <a:t>. </a:t>
            </a:r>
            <a:endParaRPr sz="2000" b="0" i="0" u="none" strike="noStrike" cap="none">
              <a:solidFill>
                <a:srgbClr val="000000"/>
              </a:solidFill>
              <a:latin typeface="Arial"/>
              <a:ea typeface="Arial"/>
              <a:cs typeface="Arial"/>
              <a:sym typeface="Arial"/>
            </a:endParaRPr>
          </a:p>
        </p:txBody>
      </p:sp>
      <p:sp>
        <p:nvSpPr>
          <p:cNvPr id="246" name="Google Shape;246;p19"/>
          <p:cNvSpPr/>
          <p:nvPr/>
        </p:nvSpPr>
        <p:spPr>
          <a:xfrm>
            <a:off x="180000" y="180000"/>
            <a:ext cx="8640000" cy="5400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accent2"/>
              </a:buClr>
              <a:buSzPts val="2400"/>
              <a:buFont typeface="Arial"/>
              <a:buNone/>
            </a:pPr>
            <a:r>
              <a:rPr lang="en-US" sz="2400" b="0" i="0" u="none" strike="noStrike" cap="none">
                <a:solidFill>
                  <a:schemeClr val="accent2"/>
                </a:solidFill>
                <a:latin typeface="Arial"/>
                <a:ea typeface="Arial"/>
                <a:cs typeface="Arial"/>
                <a:sym typeface="Arial"/>
              </a:rPr>
              <a:t>Leading Indicators – Benefits:</a:t>
            </a:r>
            <a:endParaRPr sz="2400" b="0" i="0" u="none" strike="noStrike" cap="none">
              <a:solidFill>
                <a:schemeClr val="accent2"/>
              </a:solidFill>
              <a:latin typeface="Arial"/>
              <a:ea typeface="Arial"/>
              <a:cs typeface="Arial"/>
              <a:sym typeface="Arial"/>
            </a:endParaRPr>
          </a:p>
        </p:txBody>
      </p:sp>
      <p:sp>
        <p:nvSpPr>
          <p:cNvPr id="247" name="Google Shape;247;p19"/>
          <p:cNvSpPr txBox="1"/>
          <p:nvPr/>
        </p:nvSpPr>
        <p:spPr>
          <a:xfrm>
            <a:off x="8280000" y="6300000"/>
            <a:ext cx="533400" cy="2880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Clr>
                <a:srgbClr val="000000"/>
              </a:buClr>
              <a:buSzPts val="1200"/>
              <a:buFont typeface="Noto Sans Symbols"/>
              <a:buNone/>
            </a:pPr>
            <a:fld id="{00000000-1234-1234-1234-123412341234}" type="slidenum">
              <a:rPr lang="en-US" sz="1200" b="1" i="1" u="none" strike="noStrike" cap="none">
                <a:solidFill>
                  <a:srgbClr val="000000"/>
                </a:solidFill>
                <a:latin typeface="Arial"/>
                <a:ea typeface="Arial"/>
                <a:cs typeface="Arial"/>
                <a:sym typeface="Arial"/>
              </a:rPr>
              <a:t>21</a:t>
            </a:fld>
            <a:endParaRPr sz="1200" b="1" i="1" u="none" strike="noStrike" cap="none">
              <a:solidFill>
                <a:srgbClr val="000000"/>
              </a:solidFill>
              <a:latin typeface="Arial"/>
              <a:ea typeface="Arial"/>
              <a:cs typeface="Arial"/>
              <a:sym typeface="Arial"/>
            </a:endParaRPr>
          </a:p>
        </p:txBody>
      </p:sp>
      <p:sp>
        <p:nvSpPr>
          <p:cNvPr id="248" name="Google Shape;248;p19"/>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b="1" i="1" u="none" strike="noStrike" cap="none">
                <a:solidFill>
                  <a:srgbClr val="000000"/>
                </a:solidFill>
                <a:latin typeface="Arial"/>
                <a:ea typeface="Arial"/>
                <a:cs typeface="Arial"/>
                <a:sym typeface="Arial"/>
              </a:rPr>
              <a:t>Chapter 6.2: Safety Metrics, Lagging and Leading Indicators</a:t>
            </a:r>
            <a:endParaRPr sz="1200" b="1" i="1" u="none" strike="noStrike" cap="none">
              <a:solidFill>
                <a:srgbClr val="000000"/>
              </a:solidFill>
              <a:latin typeface="Arial"/>
              <a:ea typeface="Arial"/>
              <a:cs typeface="Arial"/>
              <a:sym typeface="Arial"/>
            </a:endParaRPr>
          </a:p>
        </p:txBody>
      </p:sp>
      <p:pic>
        <p:nvPicPr>
          <p:cNvPr id="249" name="Google Shape;249;p19"/>
          <p:cNvPicPr preferRelativeResize="0"/>
          <p:nvPr/>
        </p:nvPicPr>
        <p:blipFill rotWithShape="1">
          <a:blip r:embed="rId3">
            <a:alphaModFix/>
          </a:blip>
          <a:srcRect/>
          <a:stretch/>
        </p:blipFill>
        <p:spPr>
          <a:xfrm>
            <a:off x="1269472" y="1506752"/>
            <a:ext cx="6788678" cy="4741648"/>
          </a:xfrm>
          <a:prstGeom prst="rect">
            <a:avLst/>
          </a:prstGeom>
          <a:noFill/>
          <a:ln>
            <a:noFill/>
          </a:ln>
        </p:spPr>
      </p:pic>
    </p:spTree>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54"/>
        <p:cNvGrpSpPr/>
        <p:nvPr/>
      </p:nvGrpSpPr>
      <p:grpSpPr>
        <a:xfrm>
          <a:off x="0" y="0"/>
          <a:ext cx="0" cy="0"/>
          <a:chOff x="0" y="0"/>
          <a:chExt cx="0" cy="0"/>
        </a:xfrm>
      </p:grpSpPr>
      <p:sp>
        <p:nvSpPr>
          <p:cNvPr id="255" name="Google Shape;255;p20"/>
          <p:cNvSpPr/>
          <p:nvPr/>
        </p:nvSpPr>
        <p:spPr>
          <a:xfrm>
            <a:off x="180000" y="828000"/>
            <a:ext cx="8640000" cy="5328000"/>
          </a:xfrm>
          <a:prstGeom prst="rect">
            <a:avLst/>
          </a:prstGeom>
          <a:noFill/>
          <a:ln>
            <a:noFill/>
          </a:ln>
        </p:spPr>
        <p:txBody>
          <a:bodyPr spcFirstLastPara="1" wrap="square" lIns="91425" tIns="45700" rIns="91425" bIns="45700" anchor="t" anchorCtr="0">
            <a:noAutofit/>
          </a:bodyPr>
          <a:lstStyle/>
          <a:p>
            <a:pPr marL="360000" marR="0" lvl="0" indent="-360000" algn="l" rtl="0">
              <a:lnSpc>
                <a:spcPct val="90000"/>
              </a:lnSpc>
              <a:spcBef>
                <a:spcPts val="0"/>
              </a:spcBef>
              <a:spcAft>
                <a:spcPts val="0"/>
              </a:spcAft>
              <a:buClr>
                <a:srgbClr val="000000"/>
              </a:buClr>
              <a:buSzPts val="1800"/>
              <a:buFont typeface="Noto Sans Symbols"/>
              <a:buChar char="⮚"/>
            </a:pPr>
            <a:r>
              <a:rPr lang="en-US" sz="1800" b="0" i="0" u="none" strike="noStrike" cap="none">
                <a:solidFill>
                  <a:srgbClr val="000000"/>
                </a:solidFill>
                <a:latin typeface="Arial"/>
                <a:ea typeface="Arial"/>
                <a:cs typeface="Arial"/>
                <a:sym typeface="Arial"/>
              </a:rPr>
              <a:t>For technical safety incidents, the </a:t>
            </a:r>
            <a:r>
              <a:rPr lang="en-US" sz="1800" b="0" i="0" u="sng" strike="noStrike" cap="none">
                <a:solidFill>
                  <a:srgbClr val="000000"/>
                </a:solidFill>
                <a:latin typeface="Arial"/>
                <a:ea typeface="Arial"/>
                <a:cs typeface="Arial"/>
                <a:sym typeface="Arial"/>
              </a:rPr>
              <a:t>implementation</a:t>
            </a:r>
            <a:r>
              <a:rPr lang="en-US" sz="1800" b="0" i="0" u="none" strike="noStrike" cap="none">
                <a:solidFill>
                  <a:srgbClr val="000000"/>
                </a:solidFill>
                <a:latin typeface="Arial"/>
                <a:ea typeface="Arial"/>
                <a:cs typeface="Arial"/>
                <a:sym typeface="Arial"/>
              </a:rPr>
              <a:t> of the RM program is </a:t>
            </a:r>
            <a:r>
              <a:rPr lang="en-US" sz="1800" b="0" i="0" u="sng" strike="noStrike" cap="none">
                <a:solidFill>
                  <a:srgbClr val="000000"/>
                </a:solidFill>
                <a:latin typeface="Arial"/>
                <a:ea typeface="Arial"/>
                <a:cs typeface="Arial"/>
                <a:sym typeface="Arial"/>
              </a:rPr>
              <a:t>measured on an on-going basis using leading indicators</a:t>
            </a:r>
            <a:r>
              <a:rPr lang="en-US" sz="1800" b="0" i="0" u="none" strike="noStrike" cap="none">
                <a:solidFill>
                  <a:srgbClr val="000000"/>
                </a:solidFill>
                <a:latin typeface="Arial"/>
                <a:ea typeface="Arial"/>
                <a:cs typeface="Arial"/>
                <a:sym typeface="Arial"/>
              </a:rPr>
              <a:t>, and </a:t>
            </a:r>
            <a:r>
              <a:rPr lang="en-US" sz="1800" b="1" i="0" u="none" strike="noStrike" cap="none">
                <a:solidFill>
                  <a:srgbClr val="000000"/>
                </a:solidFill>
                <a:latin typeface="Arial"/>
                <a:ea typeface="Arial"/>
                <a:cs typeface="Arial"/>
                <a:sym typeface="Arial"/>
              </a:rPr>
              <a:t>proactive</a:t>
            </a:r>
            <a:r>
              <a:rPr lang="en-US" sz="1800" b="0" i="0" u="none" strike="noStrike" cap="none">
                <a:solidFill>
                  <a:srgbClr val="000000"/>
                </a:solidFill>
                <a:latin typeface="Arial"/>
                <a:ea typeface="Arial"/>
                <a:cs typeface="Arial"/>
                <a:sym typeface="Arial"/>
              </a:rPr>
              <a:t> action can be taken to address deficiencies before a loss incident occurs.</a:t>
            </a:r>
            <a:endParaRPr/>
          </a:p>
          <a:p>
            <a:pPr marL="360000" marR="0" lvl="0" indent="-360000" algn="l" rtl="0">
              <a:lnSpc>
                <a:spcPct val="90000"/>
              </a:lnSpc>
              <a:spcBef>
                <a:spcPts val="0"/>
              </a:spcBef>
              <a:spcAft>
                <a:spcPts val="0"/>
              </a:spcAft>
              <a:buClr>
                <a:srgbClr val="000000"/>
              </a:buClr>
              <a:buSzPts val="1800"/>
              <a:buFont typeface="Noto Sans Symbols"/>
              <a:buChar char="⮚"/>
            </a:pPr>
            <a:r>
              <a:rPr lang="en-US" sz="1800" b="0" i="0" u="none" strike="noStrike" cap="none">
                <a:solidFill>
                  <a:srgbClr val="000000"/>
                </a:solidFill>
                <a:latin typeface="Arial"/>
                <a:ea typeface="Arial"/>
                <a:cs typeface="Arial"/>
                <a:sym typeface="Arial"/>
              </a:rPr>
              <a:t>“Early signals” for </a:t>
            </a:r>
            <a:r>
              <a:rPr lang="en-US" sz="1800" b="1" i="0" u="sng" strike="noStrike" cap="none">
                <a:solidFill>
                  <a:srgbClr val="000000"/>
                </a:solidFill>
                <a:latin typeface="Arial"/>
                <a:ea typeface="Arial"/>
                <a:cs typeface="Arial"/>
                <a:sym typeface="Arial"/>
              </a:rPr>
              <a:t>critical</a:t>
            </a:r>
            <a:r>
              <a:rPr lang="en-US" sz="1800" b="0" i="0" u="none" strike="noStrike" cap="none">
                <a:solidFill>
                  <a:srgbClr val="000000"/>
                </a:solidFill>
                <a:latin typeface="Arial"/>
                <a:ea typeface="Arial"/>
                <a:cs typeface="Arial"/>
                <a:sym typeface="Arial"/>
              </a:rPr>
              <a:t>  </a:t>
            </a:r>
            <a:r>
              <a:rPr lang="en-US" sz="1800" b="0" i="0" u="sng" strike="noStrike" cap="none">
                <a:solidFill>
                  <a:srgbClr val="000000"/>
                </a:solidFill>
                <a:latin typeface="Arial"/>
                <a:ea typeface="Arial"/>
                <a:cs typeface="Arial"/>
                <a:sym typeface="Arial"/>
              </a:rPr>
              <a:t>sub-standard conditions and sub-standard practices</a:t>
            </a:r>
            <a:r>
              <a:rPr lang="en-US" sz="1800" b="0" i="0" u="none" strike="noStrike" cap="none">
                <a:solidFill>
                  <a:srgbClr val="000000"/>
                </a:solidFill>
                <a:latin typeface="Arial"/>
                <a:ea typeface="Arial"/>
                <a:cs typeface="Arial"/>
                <a:sym typeface="Arial"/>
              </a:rPr>
              <a:t>, when the risk level increases substantially, can be used to inform leaders in the </a:t>
            </a:r>
            <a:r>
              <a:rPr lang="en-US" sz="1800" b="1" i="0" u="none" strike="noStrike" cap="none">
                <a:solidFill>
                  <a:srgbClr val="000000"/>
                </a:solidFill>
                <a:latin typeface="Arial"/>
                <a:ea typeface="Arial"/>
                <a:cs typeface="Arial"/>
                <a:sym typeface="Arial"/>
              </a:rPr>
              <a:t>allocation of resources</a:t>
            </a:r>
            <a:r>
              <a:rPr lang="en-US" sz="1800" b="0" i="0" u="none" strike="noStrike" cap="none">
                <a:solidFill>
                  <a:srgbClr val="000000"/>
                </a:solidFill>
                <a:latin typeface="Arial"/>
                <a:ea typeface="Arial"/>
                <a:cs typeface="Arial"/>
                <a:sym typeface="Arial"/>
              </a:rPr>
              <a:t> to address these; thus avoiding situations where “one small misstep” can lead to a catastrophic event i.e. the “fast track to disaster”.</a:t>
            </a:r>
            <a:endParaRPr/>
          </a:p>
        </p:txBody>
      </p:sp>
      <p:sp>
        <p:nvSpPr>
          <p:cNvPr id="256" name="Google Shape;256;p20"/>
          <p:cNvSpPr/>
          <p:nvPr/>
        </p:nvSpPr>
        <p:spPr>
          <a:xfrm>
            <a:off x="180000" y="180000"/>
            <a:ext cx="8640000" cy="5400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accent2"/>
              </a:buClr>
              <a:buSzPts val="2400"/>
              <a:buFont typeface="Arial"/>
              <a:buNone/>
            </a:pPr>
            <a:r>
              <a:rPr lang="en-US" sz="2400" b="0" i="0" u="none" strike="noStrike" cap="none">
                <a:solidFill>
                  <a:schemeClr val="accent2"/>
                </a:solidFill>
                <a:latin typeface="Arial"/>
                <a:ea typeface="Arial"/>
                <a:cs typeface="Arial"/>
                <a:sym typeface="Arial"/>
              </a:rPr>
              <a:t>Leading Indicators – Benefits:</a:t>
            </a:r>
            <a:endParaRPr/>
          </a:p>
        </p:txBody>
      </p:sp>
      <p:sp>
        <p:nvSpPr>
          <p:cNvPr id="257" name="Google Shape;257;p20"/>
          <p:cNvSpPr txBox="1"/>
          <p:nvPr/>
        </p:nvSpPr>
        <p:spPr>
          <a:xfrm>
            <a:off x="8280000" y="6300000"/>
            <a:ext cx="533400" cy="2880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Clr>
                <a:srgbClr val="000000"/>
              </a:buClr>
              <a:buSzPts val="1200"/>
              <a:buFont typeface="Noto Sans Symbols"/>
              <a:buNone/>
            </a:pPr>
            <a:fld id="{00000000-1234-1234-1234-123412341234}" type="slidenum">
              <a:rPr lang="en-US" sz="1200" b="1" i="1" u="none" strike="noStrike" cap="none">
                <a:solidFill>
                  <a:srgbClr val="000000"/>
                </a:solidFill>
                <a:latin typeface="Arial"/>
                <a:ea typeface="Arial"/>
                <a:cs typeface="Arial"/>
                <a:sym typeface="Arial"/>
              </a:rPr>
              <a:t>22</a:t>
            </a:fld>
            <a:endParaRPr sz="1200" b="1" i="1" u="none" strike="noStrike" cap="none">
              <a:solidFill>
                <a:srgbClr val="000000"/>
              </a:solidFill>
              <a:latin typeface="Arial"/>
              <a:ea typeface="Arial"/>
              <a:cs typeface="Arial"/>
              <a:sym typeface="Arial"/>
            </a:endParaRPr>
          </a:p>
        </p:txBody>
      </p:sp>
      <p:sp>
        <p:nvSpPr>
          <p:cNvPr id="258" name="Google Shape;258;p20"/>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b="1" i="1" u="none" strike="noStrike" cap="none">
                <a:solidFill>
                  <a:srgbClr val="000000"/>
                </a:solidFill>
                <a:latin typeface="Arial"/>
                <a:ea typeface="Arial"/>
                <a:cs typeface="Arial"/>
                <a:sym typeface="Arial"/>
              </a:rPr>
              <a:t>Chapter 6.2: Safety Metrics, Lagging and Leading Indicators</a:t>
            </a:r>
            <a:endParaRPr sz="1200" b="1" i="1" u="none" strike="noStrike" cap="none">
              <a:solidFill>
                <a:srgbClr val="000000"/>
              </a:solidFill>
              <a:latin typeface="Arial"/>
              <a:ea typeface="Arial"/>
              <a:cs typeface="Arial"/>
              <a:sym typeface="Arial"/>
            </a:endParaRPr>
          </a:p>
        </p:txBody>
      </p:sp>
      <p:pic>
        <p:nvPicPr>
          <p:cNvPr id="259" name="Google Shape;259;p20"/>
          <p:cNvPicPr preferRelativeResize="0"/>
          <p:nvPr/>
        </p:nvPicPr>
        <p:blipFill rotWithShape="1">
          <a:blip r:embed="rId3">
            <a:alphaModFix/>
          </a:blip>
          <a:srcRect/>
          <a:stretch/>
        </p:blipFill>
        <p:spPr>
          <a:xfrm>
            <a:off x="1981200" y="2667000"/>
            <a:ext cx="5732260" cy="3505200"/>
          </a:xfrm>
          <a:prstGeom prst="rect">
            <a:avLst/>
          </a:prstGeom>
          <a:noFill/>
          <a:ln>
            <a:noFill/>
          </a:ln>
        </p:spPr>
      </p:pic>
    </p:spTree>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64"/>
        <p:cNvGrpSpPr/>
        <p:nvPr/>
      </p:nvGrpSpPr>
      <p:grpSpPr>
        <a:xfrm>
          <a:off x="0" y="0"/>
          <a:ext cx="0" cy="0"/>
          <a:chOff x="0" y="0"/>
          <a:chExt cx="0" cy="0"/>
        </a:xfrm>
      </p:grpSpPr>
      <p:sp>
        <p:nvSpPr>
          <p:cNvPr id="265" name="Google Shape;265;p21"/>
          <p:cNvSpPr/>
          <p:nvPr/>
        </p:nvSpPr>
        <p:spPr>
          <a:xfrm>
            <a:off x="180000" y="828000"/>
            <a:ext cx="8640000" cy="5328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000000"/>
                </a:solidFill>
                <a:latin typeface="Arial"/>
                <a:ea typeface="Arial"/>
                <a:cs typeface="Arial"/>
                <a:sym typeface="Arial"/>
              </a:rPr>
              <a:t>Summary:</a:t>
            </a:r>
            <a:endParaRPr/>
          </a:p>
          <a:p>
            <a:pPr marL="360000" marR="0" lvl="0" indent="-360000" algn="l" rtl="0">
              <a:lnSpc>
                <a:spcPct val="100000"/>
              </a:lnSpc>
              <a:spcBef>
                <a:spcPts val="0"/>
              </a:spcBef>
              <a:spcAft>
                <a:spcPts val="0"/>
              </a:spcAft>
              <a:buClr>
                <a:srgbClr val="000000"/>
              </a:buClr>
              <a:buSzPts val="1800"/>
              <a:buFont typeface="Noto Sans Symbols"/>
              <a:buChar char="⮚"/>
            </a:pPr>
            <a:r>
              <a:rPr lang="en-US" sz="1800" b="0" i="0" u="none" strike="noStrike" cap="none">
                <a:solidFill>
                  <a:srgbClr val="000000"/>
                </a:solidFill>
                <a:latin typeface="Arial"/>
                <a:ea typeface="Arial"/>
                <a:cs typeface="Arial"/>
                <a:sym typeface="Arial"/>
              </a:rPr>
              <a:t>Lagging indicators are “after the fact” of a loss incident.</a:t>
            </a:r>
            <a:endParaRPr/>
          </a:p>
          <a:p>
            <a:pPr marL="360000" marR="0" lvl="0" indent="-360000" algn="l" rtl="0">
              <a:lnSpc>
                <a:spcPct val="100000"/>
              </a:lnSpc>
              <a:spcBef>
                <a:spcPts val="0"/>
              </a:spcBef>
              <a:spcAft>
                <a:spcPts val="0"/>
              </a:spcAft>
              <a:buClr>
                <a:srgbClr val="000000"/>
              </a:buClr>
              <a:buSzPts val="1800"/>
              <a:buFont typeface="Noto Sans Symbols"/>
              <a:buChar char="⮚"/>
            </a:pPr>
            <a:r>
              <a:rPr lang="en-US" sz="1800" b="0" i="0" u="none" strike="noStrike" cap="none">
                <a:solidFill>
                  <a:srgbClr val="000000"/>
                </a:solidFill>
                <a:latin typeface="Arial"/>
                <a:ea typeface="Arial"/>
                <a:cs typeface="Arial"/>
                <a:sym typeface="Arial"/>
              </a:rPr>
              <a:t>Superior organizations use leading indicators to</a:t>
            </a:r>
            <a:endParaRPr/>
          </a:p>
          <a:p>
            <a:pPr marL="720000" marR="0" lvl="0" indent="-359999" algn="l" rtl="0">
              <a:lnSpc>
                <a:spcPct val="100000"/>
              </a:lnSpc>
              <a:spcBef>
                <a:spcPts val="0"/>
              </a:spcBef>
              <a:spcAft>
                <a:spcPts val="0"/>
              </a:spcAft>
              <a:buClr>
                <a:srgbClr val="000000"/>
              </a:buClr>
              <a:buSzPts val="1800"/>
              <a:buFont typeface="Noto Sans Symbols"/>
              <a:buChar char="⮚"/>
            </a:pPr>
            <a:r>
              <a:rPr lang="en-US" sz="1800" b="0" i="0" u="none" strike="noStrike" cap="none">
                <a:solidFill>
                  <a:srgbClr val="000000"/>
                </a:solidFill>
                <a:latin typeface="Arial"/>
                <a:ea typeface="Arial"/>
                <a:cs typeface="Arial"/>
                <a:sym typeface="Arial"/>
              </a:rPr>
              <a:t>measure the effectiveness of a RM program i.e. look at the effective and compliant work execution of administrative controls and effectiveness of engineered systems.</a:t>
            </a:r>
            <a:endParaRPr/>
          </a:p>
          <a:p>
            <a:pPr marL="720000" marR="0" lvl="0" indent="-359999" algn="l" rtl="0">
              <a:lnSpc>
                <a:spcPct val="100000"/>
              </a:lnSpc>
              <a:spcBef>
                <a:spcPts val="0"/>
              </a:spcBef>
              <a:spcAft>
                <a:spcPts val="0"/>
              </a:spcAft>
              <a:buClr>
                <a:srgbClr val="000000"/>
              </a:buClr>
              <a:buSzPts val="1800"/>
              <a:buFont typeface="Noto Sans Symbols"/>
              <a:buChar char="⮚"/>
            </a:pPr>
            <a:r>
              <a:rPr lang="en-US" sz="1800" b="0" i="0" u="none" strike="noStrike" cap="none">
                <a:solidFill>
                  <a:srgbClr val="000000"/>
                </a:solidFill>
                <a:latin typeface="Arial"/>
                <a:ea typeface="Arial"/>
                <a:cs typeface="Arial"/>
                <a:sym typeface="Arial"/>
              </a:rPr>
              <a:t>improve safety culture, </a:t>
            </a:r>
            <a:endParaRPr/>
          </a:p>
          <a:p>
            <a:pPr marL="720000" marR="0" lvl="0" indent="-359999" algn="l" rtl="0">
              <a:lnSpc>
                <a:spcPct val="100000"/>
              </a:lnSpc>
              <a:spcBef>
                <a:spcPts val="0"/>
              </a:spcBef>
              <a:spcAft>
                <a:spcPts val="0"/>
              </a:spcAft>
              <a:buClr>
                <a:srgbClr val="000000"/>
              </a:buClr>
              <a:buSzPts val="1800"/>
              <a:buFont typeface="Noto Sans Symbols"/>
              <a:buChar char="⮚"/>
            </a:pPr>
            <a:r>
              <a:rPr lang="en-US" sz="1800" b="0" i="0" u="none" strike="noStrike" cap="none">
                <a:solidFill>
                  <a:srgbClr val="000000"/>
                </a:solidFill>
                <a:latin typeface="Arial"/>
                <a:ea typeface="Arial"/>
                <a:cs typeface="Arial"/>
                <a:sym typeface="Arial"/>
              </a:rPr>
              <a:t>promote communication, </a:t>
            </a:r>
            <a:endParaRPr sz="1800" b="0" i="0" u="none" strike="noStrike" cap="none">
              <a:solidFill>
                <a:srgbClr val="000000"/>
              </a:solidFill>
              <a:latin typeface="Arial"/>
              <a:ea typeface="Arial"/>
              <a:cs typeface="Arial"/>
              <a:sym typeface="Arial"/>
            </a:endParaRPr>
          </a:p>
          <a:p>
            <a:pPr marL="720000" marR="0" lvl="0" indent="-359999" algn="l" rtl="0">
              <a:lnSpc>
                <a:spcPct val="100000"/>
              </a:lnSpc>
              <a:spcBef>
                <a:spcPts val="0"/>
              </a:spcBef>
              <a:spcAft>
                <a:spcPts val="0"/>
              </a:spcAft>
              <a:buClr>
                <a:srgbClr val="000000"/>
              </a:buClr>
              <a:buSzPts val="1800"/>
              <a:buFont typeface="Noto Sans Symbols"/>
              <a:buChar char="⮚"/>
            </a:pPr>
            <a:r>
              <a:rPr lang="en-US" sz="1800" b="0" i="0" u="none" strike="noStrike" cap="none">
                <a:solidFill>
                  <a:srgbClr val="000000"/>
                </a:solidFill>
                <a:latin typeface="Arial"/>
                <a:ea typeface="Arial"/>
                <a:cs typeface="Arial"/>
                <a:sym typeface="Arial"/>
              </a:rPr>
              <a:t>prevent incidents, </a:t>
            </a:r>
            <a:endParaRPr sz="1800" b="0" i="0" u="none" strike="noStrike" cap="none">
              <a:solidFill>
                <a:srgbClr val="000000"/>
              </a:solidFill>
              <a:latin typeface="Arial"/>
              <a:ea typeface="Arial"/>
              <a:cs typeface="Arial"/>
              <a:sym typeface="Arial"/>
            </a:endParaRPr>
          </a:p>
          <a:p>
            <a:pPr marL="720000" marR="0" lvl="0" indent="-359999" algn="l" rtl="0">
              <a:lnSpc>
                <a:spcPct val="100000"/>
              </a:lnSpc>
              <a:spcBef>
                <a:spcPts val="0"/>
              </a:spcBef>
              <a:spcAft>
                <a:spcPts val="0"/>
              </a:spcAft>
              <a:buClr>
                <a:srgbClr val="000000"/>
              </a:buClr>
              <a:buSzPts val="1800"/>
              <a:buFont typeface="Noto Sans Symbols"/>
              <a:buChar char="⮚"/>
            </a:pPr>
            <a:r>
              <a:rPr lang="en-US" sz="1800" b="0" i="0" u="none" strike="noStrike" cap="none">
                <a:solidFill>
                  <a:srgbClr val="000000"/>
                </a:solidFill>
                <a:latin typeface="Arial"/>
                <a:ea typeface="Arial"/>
                <a:cs typeface="Arial"/>
                <a:sym typeface="Arial"/>
              </a:rPr>
              <a:t>ultimately improve safety performance. </a:t>
            </a:r>
            <a:endParaRPr sz="1800" b="0" i="0" u="none" strike="noStrike" cap="none">
              <a:solidFill>
                <a:srgbClr val="000000"/>
              </a:solidFill>
              <a:latin typeface="Arial"/>
              <a:ea typeface="Arial"/>
              <a:cs typeface="Arial"/>
              <a:sym typeface="Arial"/>
            </a:endParaRPr>
          </a:p>
          <a:p>
            <a:pPr marL="360000" marR="0" lvl="0" indent="-360000" algn="l" rtl="0">
              <a:lnSpc>
                <a:spcPct val="100000"/>
              </a:lnSpc>
              <a:spcBef>
                <a:spcPts val="0"/>
              </a:spcBef>
              <a:spcAft>
                <a:spcPts val="0"/>
              </a:spcAft>
              <a:buClr>
                <a:srgbClr val="000000"/>
              </a:buClr>
              <a:buSzPts val="1800"/>
              <a:buFont typeface="Noto Sans Symbols"/>
              <a:buChar char="⮚"/>
            </a:pPr>
            <a:r>
              <a:rPr lang="en-US" sz="1800" b="0" i="0" u="none" strike="noStrike" cap="none">
                <a:solidFill>
                  <a:srgbClr val="000000"/>
                </a:solidFill>
                <a:latin typeface="Arial"/>
                <a:ea typeface="Arial"/>
                <a:cs typeface="Arial"/>
                <a:sym typeface="Arial"/>
              </a:rPr>
              <a:t>Metrics are based on “counts”, and a meaningful “rate” can be determined, standardized, applied, monitored, and tracked. </a:t>
            </a:r>
            <a:endParaRPr sz="1800" b="0" i="0" u="none" strike="noStrike" cap="none">
              <a:solidFill>
                <a:srgbClr val="000000"/>
              </a:solidFill>
              <a:latin typeface="Arial"/>
              <a:ea typeface="Arial"/>
              <a:cs typeface="Arial"/>
              <a:sym typeface="Arial"/>
            </a:endParaRPr>
          </a:p>
          <a:p>
            <a:pPr marL="360000" marR="0" lvl="0" indent="-360000" algn="l" rtl="0">
              <a:lnSpc>
                <a:spcPct val="100000"/>
              </a:lnSpc>
              <a:spcBef>
                <a:spcPts val="0"/>
              </a:spcBef>
              <a:spcAft>
                <a:spcPts val="0"/>
              </a:spcAft>
              <a:buClr>
                <a:srgbClr val="000000"/>
              </a:buClr>
              <a:buSzPts val="1800"/>
              <a:buFont typeface="Arial"/>
              <a:buNone/>
            </a:pPr>
            <a:endParaRPr sz="1800" b="1"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000000"/>
                </a:solidFill>
                <a:latin typeface="Arial"/>
                <a:ea typeface="Arial"/>
                <a:cs typeface="Arial"/>
                <a:sym typeface="Arial"/>
              </a:rPr>
              <a:t>Key Lessons</a:t>
            </a:r>
            <a:endParaRPr/>
          </a:p>
          <a:p>
            <a:pPr marL="360000" marR="0" lvl="0" indent="-360000" algn="l" rtl="0">
              <a:lnSpc>
                <a:spcPct val="100000"/>
              </a:lnSpc>
              <a:spcBef>
                <a:spcPts val="0"/>
              </a:spcBef>
              <a:spcAft>
                <a:spcPts val="0"/>
              </a:spcAft>
              <a:buClr>
                <a:srgbClr val="000000"/>
              </a:buClr>
              <a:buSzPts val="1800"/>
              <a:buFont typeface="Noto Sans Symbols"/>
              <a:buChar char="⮚"/>
            </a:pPr>
            <a:r>
              <a:rPr lang="en-US" sz="1800" b="0" i="0" u="none" strike="noStrike" cap="none">
                <a:solidFill>
                  <a:srgbClr val="000000"/>
                </a:solidFill>
                <a:latin typeface="Arial"/>
                <a:ea typeface="Arial"/>
                <a:cs typeface="Arial"/>
                <a:sym typeface="Arial"/>
              </a:rPr>
              <a:t>Leaders can use leading indicators to:</a:t>
            </a:r>
            <a:endParaRPr/>
          </a:p>
          <a:p>
            <a:pPr marL="720000" marR="0" lvl="0" indent="-359999" algn="l" rtl="0">
              <a:lnSpc>
                <a:spcPct val="100000"/>
              </a:lnSpc>
              <a:spcBef>
                <a:spcPts val="0"/>
              </a:spcBef>
              <a:spcAft>
                <a:spcPts val="0"/>
              </a:spcAft>
              <a:buClr>
                <a:srgbClr val="000000"/>
              </a:buClr>
              <a:buSzPts val="1800"/>
              <a:buFont typeface="Noto Sans Symbols"/>
              <a:buChar char="⮚"/>
            </a:pPr>
            <a:r>
              <a:rPr lang="en-US" sz="1800" b="0" i="0" u="none" strike="noStrike" cap="none">
                <a:solidFill>
                  <a:srgbClr val="000000"/>
                </a:solidFill>
                <a:latin typeface="Arial"/>
                <a:ea typeface="Arial"/>
                <a:cs typeface="Arial"/>
                <a:sym typeface="Arial"/>
              </a:rPr>
              <a:t>Measure the overall effective implementation (execution) of a risk management program.</a:t>
            </a:r>
            <a:endParaRPr/>
          </a:p>
          <a:p>
            <a:pPr marL="720000" marR="0" lvl="0" indent="-359999" algn="l" rtl="0">
              <a:lnSpc>
                <a:spcPct val="100000"/>
              </a:lnSpc>
              <a:spcBef>
                <a:spcPts val="0"/>
              </a:spcBef>
              <a:spcAft>
                <a:spcPts val="0"/>
              </a:spcAft>
              <a:buClr>
                <a:srgbClr val="000000"/>
              </a:buClr>
              <a:buSzPts val="1800"/>
              <a:buFont typeface="Noto Sans Symbols"/>
              <a:buChar char="⮚"/>
            </a:pPr>
            <a:r>
              <a:rPr lang="en-US" sz="1800" b="0" i="0" u="none" strike="noStrike" cap="none">
                <a:solidFill>
                  <a:srgbClr val="000000"/>
                </a:solidFill>
                <a:latin typeface="Arial"/>
                <a:ea typeface="Arial"/>
                <a:cs typeface="Arial"/>
                <a:sym typeface="Arial"/>
              </a:rPr>
              <a:t>Identify deficiencies (degradation, deterioration) of critical safety conditions and critical safety rules for both occupational safety and technical safety.</a:t>
            </a:r>
            <a:endParaRPr sz="1800" b="0" i="0" u="none" strike="noStrike" cap="none">
              <a:solidFill>
                <a:srgbClr val="000000"/>
              </a:solidFill>
              <a:latin typeface="Arial"/>
              <a:ea typeface="Arial"/>
              <a:cs typeface="Arial"/>
              <a:sym typeface="Arial"/>
            </a:endParaRPr>
          </a:p>
        </p:txBody>
      </p:sp>
      <p:sp>
        <p:nvSpPr>
          <p:cNvPr id="266" name="Google Shape;266;p21"/>
          <p:cNvSpPr/>
          <p:nvPr/>
        </p:nvSpPr>
        <p:spPr>
          <a:xfrm>
            <a:off x="180000" y="180000"/>
            <a:ext cx="8640000" cy="5400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accent2"/>
              </a:buClr>
              <a:buSzPts val="2400"/>
              <a:buFont typeface="Arial"/>
              <a:buNone/>
            </a:pPr>
            <a:r>
              <a:rPr lang="en-US" sz="2400" b="0" i="0" u="none" strike="noStrike" cap="none">
                <a:solidFill>
                  <a:schemeClr val="accent2"/>
                </a:solidFill>
                <a:latin typeface="Arial"/>
                <a:ea typeface="Arial"/>
                <a:cs typeface="Arial"/>
                <a:sym typeface="Arial"/>
              </a:rPr>
              <a:t>Summary and Key Lessons:</a:t>
            </a:r>
            <a:endParaRPr sz="2400" b="0" i="0" u="none" strike="noStrike" cap="none">
              <a:solidFill>
                <a:schemeClr val="accent2"/>
              </a:solidFill>
              <a:latin typeface="Arial"/>
              <a:ea typeface="Arial"/>
              <a:cs typeface="Arial"/>
              <a:sym typeface="Arial"/>
            </a:endParaRPr>
          </a:p>
        </p:txBody>
      </p:sp>
      <p:sp>
        <p:nvSpPr>
          <p:cNvPr id="267" name="Google Shape;267;p21"/>
          <p:cNvSpPr txBox="1"/>
          <p:nvPr/>
        </p:nvSpPr>
        <p:spPr>
          <a:xfrm>
            <a:off x="8280000" y="6300000"/>
            <a:ext cx="533400" cy="2880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Clr>
                <a:srgbClr val="000000"/>
              </a:buClr>
              <a:buSzPts val="1200"/>
              <a:buFont typeface="Noto Sans Symbols"/>
              <a:buNone/>
            </a:pPr>
            <a:fld id="{00000000-1234-1234-1234-123412341234}" type="slidenum">
              <a:rPr lang="en-US" sz="1200" b="1" i="1" u="none" strike="noStrike" cap="none">
                <a:solidFill>
                  <a:srgbClr val="000000"/>
                </a:solidFill>
                <a:latin typeface="Arial"/>
                <a:ea typeface="Arial"/>
                <a:cs typeface="Arial"/>
                <a:sym typeface="Arial"/>
              </a:rPr>
              <a:t>23</a:t>
            </a:fld>
            <a:endParaRPr sz="1200" b="1" i="1" u="none" strike="noStrike" cap="none">
              <a:solidFill>
                <a:srgbClr val="000000"/>
              </a:solidFill>
              <a:latin typeface="Arial"/>
              <a:ea typeface="Arial"/>
              <a:cs typeface="Arial"/>
              <a:sym typeface="Arial"/>
            </a:endParaRPr>
          </a:p>
        </p:txBody>
      </p:sp>
      <p:sp>
        <p:nvSpPr>
          <p:cNvPr id="268" name="Google Shape;268;p21"/>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b="1" i="1" u="none" strike="noStrike" cap="none">
                <a:solidFill>
                  <a:srgbClr val="000000"/>
                </a:solidFill>
                <a:latin typeface="Arial"/>
                <a:ea typeface="Arial"/>
                <a:cs typeface="Arial"/>
                <a:sym typeface="Arial"/>
              </a:rPr>
              <a:t>Chapter 6.2: Safety Metrics, Lagging and Leading Indicators</a:t>
            </a:r>
            <a:endParaRPr sz="1200" b="1" i="1" u="none" strike="noStrike" cap="none">
              <a:solidFill>
                <a:srgbClr val="000000"/>
              </a:solidFill>
              <a:latin typeface="Arial"/>
              <a:ea typeface="Arial"/>
              <a:cs typeface="Arial"/>
              <a:sym typeface="Arial"/>
            </a:endParaRPr>
          </a:p>
        </p:txBody>
      </p:sp>
    </p:spTree>
  </p:cSld>
  <p:clrMapOvr>
    <a:masterClrMapping/>
  </p:clrMapOvr>
  <p:transition>
    <p:fade/>
  </p:transition>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3446</Words>
  <Application>Microsoft Office PowerPoint</Application>
  <PresentationFormat>On-screen Show (4:3)</PresentationFormat>
  <Paragraphs>338</Paragraphs>
  <Slides>23</Slides>
  <Notes>23</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23</vt:i4>
      </vt:variant>
    </vt:vector>
  </HeadingPairs>
  <TitlesOfParts>
    <vt:vector size="30" baseType="lpstr">
      <vt:lpstr>Arial</vt:lpstr>
      <vt:lpstr>Calibri</vt:lpstr>
      <vt:lpstr>Noto Sans Symbols</vt:lpstr>
      <vt:lpstr>Times New Roman</vt:lpstr>
      <vt:lpstr>Wingdings</vt:lpstr>
      <vt:lpstr>Default Design</vt:lpstr>
      <vt:lpstr>1_Default Design</vt:lpstr>
      <vt:lpstr>PowerPoint Presentation</vt:lpstr>
      <vt:lpstr>PowerPoint Presentation</vt:lpstr>
      <vt:lpstr>PowerPoint Presentation</vt:lpstr>
      <vt:lpstr>PowerPoint Presentation</vt:lpstr>
      <vt:lpstr>PowerPoint Presentation</vt:lpstr>
      <vt:lpstr>PowerPoint Presentation</vt:lpstr>
      <vt:lpstr>Lagging Indicators – Specific Definitions:</vt:lpstr>
      <vt:lpstr>PowerPoint Presentation</vt:lpstr>
      <vt:lpstr>Leading Indicators – Examples: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Lagging Indicators – Specific Definitions:</vt:lpstr>
      <vt:lpstr>PowerPoint Presentation</vt:lpstr>
      <vt:lpstr>PowerPoint Presentation</vt:lpstr>
      <vt:lpstr>Leading Indicators – Examples:</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MSB</dc:creator>
  <cp:lastModifiedBy>Lisa White</cp:lastModifiedBy>
  <cp:revision>1</cp:revision>
  <dcterms:created xsi:type="dcterms:W3CDTF">2007-03-28T16:18:47Z</dcterms:created>
  <dcterms:modified xsi:type="dcterms:W3CDTF">2022-01-18T20:04:05Z</dcterms:modified>
</cp:coreProperties>
</file>