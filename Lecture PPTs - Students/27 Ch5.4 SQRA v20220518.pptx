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7" r:id="rId2"/>
    <p:sldMasterId id="2147483682" r:id="rId3"/>
  </p:sldMasterIdLst>
  <p:notesMasterIdLst>
    <p:notesMasterId r:id="rId18"/>
  </p:notesMasterIdLst>
  <p:sldIdLst>
    <p:sldId id="936" r:id="rId4"/>
    <p:sldId id="964" r:id="rId5"/>
    <p:sldId id="967" r:id="rId6"/>
    <p:sldId id="968" r:id="rId7"/>
    <p:sldId id="991" r:id="rId8"/>
    <p:sldId id="992" r:id="rId9"/>
    <p:sldId id="941" r:id="rId10"/>
    <p:sldId id="984" r:id="rId11"/>
    <p:sldId id="973" r:id="rId12"/>
    <p:sldId id="970" r:id="rId13"/>
    <p:sldId id="1002" r:id="rId14"/>
    <p:sldId id="957" r:id="rId15"/>
    <p:sldId id="956" r:id="rId16"/>
    <p:sldId id="96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FFFF"/>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82365" autoAdjust="0"/>
  </p:normalViewPr>
  <p:slideViewPr>
    <p:cSldViewPr snapToGrid="0">
      <p:cViewPr>
        <p:scale>
          <a:sx n="75" d="100"/>
          <a:sy n="75" d="100"/>
        </p:scale>
        <p:origin x="138" y="576"/>
      </p:cViewPr>
      <p:guideLst/>
    </p:cSldViewPr>
  </p:slideViewPr>
  <p:notesTextViewPr>
    <p:cViewPr>
      <p:scale>
        <a:sx n="1" d="1"/>
        <a:sy n="1" d="1"/>
      </p:scale>
      <p:origin x="0" y="0"/>
    </p:cViewPr>
  </p:notesTextViewPr>
  <p:sorterViewPr>
    <p:cViewPr>
      <p:scale>
        <a:sx n="140" d="100"/>
        <a:sy n="140" d="100"/>
      </p:scale>
      <p:origin x="0" y="-29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D01605-9933-414D-AAEA-A731BC5BC7A0}" type="datetimeFigureOut">
              <a:rPr lang="en-US" smtClean="0"/>
              <a:t>7/7/2022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D623C8-CA35-437B-A178-6A5CC5604E7E}" type="slidenum">
              <a:rPr lang="en-US" smtClean="0"/>
              <a:t>‹#›</a:t>
            </a:fld>
            <a:endParaRPr lang="en-US"/>
          </a:p>
        </p:txBody>
      </p:sp>
    </p:spTree>
    <p:extLst>
      <p:ext uri="{BB962C8B-B14F-4D97-AF65-F5344CB8AC3E}">
        <p14:creationId xmlns:p14="http://schemas.microsoft.com/office/powerpoint/2010/main" val="1954661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6957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Use your risk matrix and risk criteria table</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2360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Clr>
                <a:schemeClr val="dk1"/>
              </a:buClr>
              <a:buSzPts val="1200"/>
              <a:buFont typeface="Arial"/>
              <a:buNone/>
            </a:pPr>
            <a:endParaRPr lang="en-CA" dirty="0"/>
          </a:p>
        </p:txBody>
      </p:sp>
    </p:spTree>
    <p:extLst>
      <p:ext uri="{BB962C8B-B14F-4D97-AF65-F5344CB8AC3E}">
        <p14:creationId xmlns:p14="http://schemas.microsoft.com/office/powerpoint/2010/main" val="3386816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2053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004357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algn="l" rtl="0">
              <a:spcBef>
                <a:spcPts val="0"/>
              </a:spcBef>
              <a:spcAft>
                <a:spcPts val="0"/>
              </a:spcAft>
              <a:buNone/>
            </a:pPr>
            <a:r>
              <a:rPr lang="en-CA" b="1" dirty="0"/>
              <a:t>Make sure to point out </a:t>
            </a:r>
            <a:r>
              <a:rPr lang="en-CA" dirty="0"/>
              <a:t>the difference between implementing control measures to decrease the likelihood versus those employed to decrease consequence</a:t>
            </a:r>
          </a:p>
          <a:p>
            <a:pPr marL="0" lvl="0" indent="0" algn="l" rtl="0">
              <a:spcBef>
                <a:spcPts val="360"/>
              </a:spcBef>
              <a:spcAft>
                <a:spcPts val="0"/>
              </a:spcAft>
              <a:buNone/>
            </a:pPr>
            <a:r>
              <a:rPr lang="en-CA" dirty="0"/>
              <a:t>Also point out the fact that you can have a control measure that decreases the L, the C, or both</a:t>
            </a:r>
          </a:p>
          <a:p>
            <a:pPr marL="0" lvl="0" indent="0" algn="l" rtl="0">
              <a:spcBef>
                <a:spcPts val="360"/>
              </a:spcBef>
              <a:spcAft>
                <a:spcPts val="0"/>
              </a:spcAft>
              <a:buNone/>
            </a:pPr>
            <a:r>
              <a:rPr lang="en-CA" dirty="0"/>
              <a:t>Speak to midterm exam question regarding training for workers on SOPs (preventing the degradation of safety systems) – will reduce the likelihood, but only to M because mgmt. would need to do inspections and follow up to decrease to L</a:t>
            </a: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1141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1408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342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028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0460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0242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038916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119422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43686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1171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748577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21580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5349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7/7/2022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408038582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160461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7946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5624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3118CC2-884A-4430-8B4F-9976F3C29C24}" type="datetimeFigureOut">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7/7/2022</a:t>
            </a:fld>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91823322-A425-42F9-B4E6-DE1BA6748FF3}" type="slidenum">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6394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1.jpeg"/><Relationship Id="rId5" Type="http://schemas.openxmlformats.org/officeDocument/2006/relationships/theme" Target="../theme/theme3.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740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00390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71940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152402" y="2500342"/>
            <a:ext cx="8686798"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5.4:</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Semi-Quantitative Risk Assessment (SQRA) and Its Integration in the RM Work Process</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661642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the purpose of the Semi-Quantitative Risk Assessment (SQRA) Tool,</a:t>
            </a:r>
            <a:r>
              <a:rPr kumimoji="0" lang="en-CA" altLang="en-US" sz="2000" b="0" i="0" u="none" strike="noStrike" kern="1200" cap="none" spc="0" normalizeH="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Management tool, the manner in which it is used, and the benefits for planning work using the SQRA</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Demonstrate the integration of the SQRA (and similar </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Tools such as FLRA, What-If Analysis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with the Risk Management</a:t>
            </a:r>
            <a:r>
              <a:rPr kumimoji="0" lang="en-CA" altLang="en-US" sz="2000" b="0" i="0" u="none" strike="noStrike" kern="1200" cap="none" spc="0" normalizeH="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Work Process and its tools (Matrix, Criteria Table, Management Directions), the RM System, and Control Measures.</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 this tool as a rudimentary skill of leadership to observe, interact, commend, or intervene / coach employees in the work-place.</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spTree>
    <p:extLst>
      <p:ext uri="{BB962C8B-B14F-4D97-AF65-F5344CB8AC3E}">
        <p14:creationId xmlns:p14="http://schemas.microsoft.com/office/powerpoint/2010/main" val="159368087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397267113"/>
              </p:ext>
            </p:extLst>
          </p:nvPr>
        </p:nvGraphicFramePr>
        <p:xfrm>
          <a:off x="88652" y="4255725"/>
          <a:ext cx="8868340" cy="1869025"/>
        </p:xfrm>
        <a:graphic>
          <a:graphicData uri="http://schemas.openxmlformats.org/drawingml/2006/table">
            <a:tbl>
              <a:tblPr/>
              <a:tblGrid>
                <a:gridCol w="899844">
                  <a:extLst>
                    <a:ext uri="{9D8B030D-6E8A-4147-A177-3AD203B41FA5}">
                      <a16:colId xmlns:a16="http://schemas.microsoft.com/office/drawing/2014/main" val="3350495733"/>
                    </a:ext>
                  </a:extLst>
                </a:gridCol>
                <a:gridCol w="899844">
                  <a:extLst>
                    <a:ext uri="{9D8B030D-6E8A-4147-A177-3AD203B41FA5}">
                      <a16:colId xmlns:a16="http://schemas.microsoft.com/office/drawing/2014/main" val="788624471"/>
                    </a:ext>
                  </a:extLst>
                </a:gridCol>
                <a:gridCol w="899844">
                  <a:extLst>
                    <a:ext uri="{9D8B030D-6E8A-4147-A177-3AD203B41FA5}">
                      <a16:colId xmlns:a16="http://schemas.microsoft.com/office/drawing/2014/main" val="1126100611"/>
                    </a:ext>
                  </a:extLst>
                </a:gridCol>
                <a:gridCol w="563757">
                  <a:extLst>
                    <a:ext uri="{9D8B030D-6E8A-4147-A177-3AD203B41FA5}">
                      <a16:colId xmlns:a16="http://schemas.microsoft.com/office/drawing/2014/main" val="894614678"/>
                    </a:ext>
                  </a:extLst>
                </a:gridCol>
                <a:gridCol w="910685">
                  <a:extLst>
                    <a:ext uri="{9D8B030D-6E8A-4147-A177-3AD203B41FA5}">
                      <a16:colId xmlns:a16="http://schemas.microsoft.com/office/drawing/2014/main" val="1436810623"/>
                    </a:ext>
                  </a:extLst>
                </a:gridCol>
                <a:gridCol w="1008259">
                  <a:extLst>
                    <a:ext uri="{9D8B030D-6E8A-4147-A177-3AD203B41FA5}">
                      <a16:colId xmlns:a16="http://schemas.microsoft.com/office/drawing/2014/main" val="1862085159"/>
                    </a:ext>
                  </a:extLst>
                </a:gridCol>
                <a:gridCol w="1040783">
                  <a:extLst>
                    <a:ext uri="{9D8B030D-6E8A-4147-A177-3AD203B41FA5}">
                      <a16:colId xmlns:a16="http://schemas.microsoft.com/office/drawing/2014/main" val="2553280483"/>
                    </a:ext>
                  </a:extLst>
                </a:gridCol>
                <a:gridCol w="1008259">
                  <a:extLst>
                    <a:ext uri="{9D8B030D-6E8A-4147-A177-3AD203B41FA5}">
                      <a16:colId xmlns:a16="http://schemas.microsoft.com/office/drawing/2014/main" val="2438800930"/>
                    </a:ext>
                  </a:extLst>
                </a:gridCol>
                <a:gridCol w="910685">
                  <a:extLst>
                    <a:ext uri="{9D8B030D-6E8A-4147-A177-3AD203B41FA5}">
                      <a16:colId xmlns:a16="http://schemas.microsoft.com/office/drawing/2014/main" val="1126472793"/>
                    </a:ext>
                  </a:extLst>
                </a:gridCol>
                <a:gridCol w="726380">
                  <a:extLst>
                    <a:ext uri="{9D8B030D-6E8A-4147-A177-3AD203B41FA5}">
                      <a16:colId xmlns:a16="http://schemas.microsoft.com/office/drawing/2014/main" val="2176342193"/>
                    </a:ext>
                  </a:extLst>
                </a:gridCol>
              </a:tblGrid>
              <a:tr h="284046">
                <a:tc gridSpan="10">
                  <a:txBody>
                    <a:bodyPr/>
                    <a:lstStyle/>
                    <a:p>
                      <a:pPr algn="ctr" fontAlgn="ctr"/>
                      <a:r>
                        <a:rPr lang="en-US" sz="1100" b="1" i="0" u="sng" strike="noStrike">
                          <a:effectLst/>
                          <a:latin typeface="Arial" panose="020B0604020202020204" pitchFamily="34" charset="0"/>
                        </a:rPr>
                        <a:t>SEMI-QUANTITATVE RISK ASSESSMENT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9011942"/>
                  </a:ext>
                </a:extLst>
              </a:tr>
              <a:tr h="818054">
                <a:tc>
                  <a:txBody>
                    <a:bodyPr/>
                    <a:lstStyle/>
                    <a:p>
                      <a:pPr algn="ctr" fontAlgn="ctr"/>
                      <a:r>
                        <a:rPr lang="en-US" sz="1100" b="1" i="0" u="none" strike="noStrike" dirty="0">
                          <a:effectLst/>
                          <a:latin typeface="Arial" panose="020B0604020202020204" pitchFamily="34" charset="0"/>
                        </a:rPr>
                        <a:t>Activity</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Deviations and Concerns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Likelihood</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Risk Level Before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Likelihood with or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 with or after Control Measures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Risk Level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Proceed? Y/N</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83524930"/>
                  </a:ext>
                </a:extLst>
              </a:tr>
              <a:tr h="766925">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62182498"/>
                  </a:ext>
                </a:extLst>
              </a:tr>
            </a:tbl>
          </a:graphicData>
        </a:graphic>
      </p:graphicFrame>
      <p:pic>
        <p:nvPicPr>
          <p:cNvPr id="2" name="Picture 1"/>
          <p:cNvPicPr>
            <a:picLocks noChangeAspect="1"/>
          </p:cNvPicPr>
          <p:nvPr/>
        </p:nvPicPr>
        <p:blipFill>
          <a:blip r:embed="rId3"/>
          <a:stretch>
            <a:fillRect/>
          </a:stretch>
        </p:blipFill>
        <p:spPr>
          <a:xfrm>
            <a:off x="65810" y="900000"/>
            <a:ext cx="4223999" cy="3168000"/>
          </a:xfrm>
          <a:prstGeom prst="rect">
            <a:avLst/>
          </a:prstGeom>
          <a:ln>
            <a:solidFill>
              <a:schemeClr val="tx1"/>
            </a:solidFill>
          </a:ln>
        </p:spPr>
      </p:pic>
      <p:pic>
        <p:nvPicPr>
          <p:cNvPr id="3" name="Picture 2"/>
          <p:cNvPicPr>
            <a:picLocks noChangeAspect="1"/>
          </p:cNvPicPr>
          <p:nvPr/>
        </p:nvPicPr>
        <p:blipFill>
          <a:blip r:embed="rId4"/>
          <a:stretch>
            <a:fillRect/>
          </a:stretch>
        </p:blipFill>
        <p:spPr>
          <a:xfrm>
            <a:off x="4732991" y="900000"/>
            <a:ext cx="4223999" cy="3168000"/>
          </a:xfrm>
          <a:prstGeom prst="rect">
            <a:avLst/>
          </a:prstGeom>
          <a:ln>
            <a:solidFill>
              <a:schemeClr val="tx1"/>
            </a:solidFill>
          </a:ln>
        </p:spPr>
      </p:pic>
      <p:sp>
        <p:nvSpPr>
          <p:cNvPr id="8" name="Rectangle 3"/>
          <p:cNvSpPr>
            <a:spLocks noChangeArrowheads="1"/>
          </p:cNvSpPr>
          <p:nvPr/>
        </p:nvSpPr>
        <p:spPr bwMode="auto">
          <a:xfrm>
            <a:off x="180000" y="786485"/>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Use the Risk Matrix and Risk Criteria </a:t>
            </a:r>
            <a:r>
              <a:rPr lang="en-CA" altLang="en-US" dirty="0">
                <a:solidFill>
                  <a:srgbClr val="333399"/>
                </a:solidFill>
                <a:latin typeface="Arial" panose="020B0604020202020204" pitchFamily="34" charset="0"/>
                <a:cs typeface="Arial" panose="020B0604020202020204" pitchFamily="34" charset="0"/>
              </a:rPr>
              <a:t>with the SQRA</a:t>
            </a: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1" name="Google Shape;1673;p24">
            <a:extLst>
              <a:ext uri="{FF2B5EF4-FFF2-40B4-BE49-F238E27FC236}">
                <a16:creationId xmlns:a16="http://schemas.microsoft.com/office/drawing/2014/main" id="{E6D15343-29FA-467F-B725-6F9EAD86FEBC}"/>
              </a:ext>
            </a:extLst>
          </p:cNvPr>
          <p:cNvSpPr>
            <a:spLocks noChangeAspect="1"/>
          </p:cNvSpPr>
          <p:nvPr/>
        </p:nvSpPr>
        <p:spPr>
          <a:xfrm>
            <a:off x="3891839" y="1751143"/>
            <a:ext cx="1212669" cy="1212669"/>
          </a:xfrm>
          <a:prstGeom prst="plus">
            <a:avLst>
              <a:gd name="adj" fmla="val 36361"/>
            </a:avLst>
          </a:prstGeom>
          <a:solidFill>
            <a:srgbClr val="009900"/>
          </a:solid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2400"/>
              <a:buFont typeface="Noto Sans Symbols"/>
              <a:buNone/>
              <a:tabLst/>
              <a:defRPr/>
            </a:pPr>
            <a:endParaRPr kumimoji="0" sz="2400" b="0" i="0" u="none" strike="noStrike" kern="0" cap="none" spc="0" normalizeH="0" baseline="0" noProof="0">
              <a:ln>
                <a:noFill/>
              </a:ln>
              <a:solidFill>
                <a:srgbClr val="FFFFFF"/>
              </a:solidFill>
              <a:effectLst/>
              <a:uLnTx/>
              <a:uFillTx/>
              <a:latin typeface="Times New Roman"/>
              <a:ea typeface="Times New Roman"/>
              <a:cs typeface="Times New Roman"/>
              <a:sym typeface="Times New Roman"/>
            </a:endParaRPr>
          </a:p>
        </p:txBody>
      </p:sp>
      <p:sp>
        <p:nvSpPr>
          <p:cNvPr id="14" name="Google Shape;1674;p24">
            <a:extLst>
              <a:ext uri="{FF2B5EF4-FFF2-40B4-BE49-F238E27FC236}">
                <a16:creationId xmlns:a16="http://schemas.microsoft.com/office/drawing/2014/main" id="{19F1F05F-F76F-48DD-A2B8-5A11D1B04C9B}"/>
              </a:ext>
            </a:extLst>
          </p:cNvPr>
          <p:cNvSpPr/>
          <p:nvPr/>
        </p:nvSpPr>
        <p:spPr>
          <a:xfrm rot="5400000">
            <a:off x="3808297" y="3226949"/>
            <a:ext cx="1379752" cy="1228928"/>
          </a:xfrm>
          <a:prstGeom prst="stripedRightArrow">
            <a:avLst>
              <a:gd name="adj1" fmla="val 42340"/>
              <a:gd name="adj2" fmla="val 41540"/>
            </a:avLst>
          </a:prstGeom>
          <a:solidFill>
            <a:srgbClr val="009900"/>
          </a:solid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6" name="TextBox 35"/>
          <p:cNvSpPr txBox="1"/>
          <p:nvPr/>
        </p:nvSpPr>
        <p:spPr>
          <a:xfrm>
            <a:off x="3291357" y="5652000"/>
            <a:ext cx="972000" cy="468000"/>
          </a:xfrm>
          <a:prstGeom prst="rect">
            <a:avLst/>
          </a:prstGeom>
          <a:noFill/>
        </p:spPr>
        <p:txBody>
          <a:bodyPr wrap="square" rtlCol="0">
            <a:spAutoFit/>
          </a:bodyPr>
          <a:lstStyle/>
          <a:p>
            <a:r>
              <a:rPr lang="en-US" sz="2400" b="1" i="1" dirty="0">
                <a:solidFill>
                  <a:srgbClr val="FF0000"/>
                </a:solidFill>
                <a:latin typeface="Arial" panose="020B0604020202020204" pitchFamily="34" charset="0"/>
                <a:cs typeface="Arial" panose="020B0604020202020204" pitchFamily="34" charset="0"/>
              </a:rPr>
              <a:t>HIGH</a:t>
            </a:r>
          </a:p>
        </p:txBody>
      </p:sp>
      <p:sp>
        <p:nvSpPr>
          <p:cNvPr id="37" name="TextBox 36"/>
          <p:cNvSpPr txBox="1"/>
          <p:nvPr/>
        </p:nvSpPr>
        <p:spPr>
          <a:xfrm>
            <a:off x="7236000" y="5652000"/>
            <a:ext cx="972000" cy="468000"/>
          </a:xfrm>
          <a:prstGeom prst="rect">
            <a:avLst/>
          </a:prstGeom>
          <a:noFill/>
        </p:spPr>
        <p:txBody>
          <a:bodyPr wrap="square" rtlCol="0">
            <a:spAutoFit/>
          </a:bodyPr>
          <a:lstStyle/>
          <a:p>
            <a:pPr algn="ctr"/>
            <a:r>
              <a:rPr lang="en-US" sz="2400" b="1" i="1" dirty="0">
                <a:solidFill>
                  <a:srgbClr val="0000FF"/>
                </a:solidFill>
                <a:latin typeface="Arial" panose="020B0604020202020204" pitchFamily="34" charset="0"/>
                <a:cs typeface="Arial" panose="020B0604020202020204" pitchFamily="34" charset="0"/>
              </a:rPr>
              <a:t>LOW</a:t>
            </a:r>
          </a:p>
        </p:txBody>
      </p:sp>
      <p:sp>
        <p:nvSpPr>
          <p:cNvPr id="38" name="Rectangle 37"/>
          <p:cNvSpPr/>
          <p:nvPr/>
        </p:nvSpPr>
        <p:spPr>
          <a:xfrm>
            <a:off x="8387675" y="5663086"/>
            <a:ext cx="389851" cy="461665"/>
          </a:xfrm>
          <a:prstGeom prst="rect">
            <a:avLst/>
          </a:prstGeom>
        </p:spPr>
        <p:txBody>
          <a:bodyPr wrap="none">
            <a:spAutoFit/>
          </a:bodyPr>
          <a:lstStyle/>
          <a:p>
            <a:pPr algn="ctr"/>
            <a:r>
              <a:rPr lang="en-US" sz="2400" b="1" i="1" dirty="0">
                <a:solidFill>
                  <a:srgbClr val="00B050"/>
                </a:solidFill>
                <a:latin typeface="Arial" panose="020B0604020202020204" pitchFamily="34" charset="0"/>
                <a:cs typeface="Arial" panose="020B0604020202020204" pitchFamily="34" charset="0"/>
              </a:rPr>
              <a:t>Y</a:t>
            </a:r>
          </a:p>
        </p:txBody>
      </p:sp>
      <p:cxnSp>
        <p:nvCxnSpPr>
          <p:cNvPr id="62" name="Curved Connector 61"/>
          <p:cNvCxnSpPr>
            <a:stCxn id="36" idx="0"/>
            <a:endCxn id="37" idx="0"/>
          </p:cNvCxnSpPr>
          <p:nvPr/>
        </p:nvCxnSpPr>
        <p:spPr>
          <a:xfrm rot="5400000" flipH="1" flipV="1">
            <a:off x="5749678" y="3679679"/>
            <a:ext cx="12700" cy="3944643"/>
          </a:xfrm>
          <a:prstGeom prst="curvedConnector3">
            <a:avLst>
              <a:gd name="adj1" fmla="val 2580724"/>
            </a:avLst>
          </a:prstGeom>
          <a:ln w="762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spTree>
    <p:extLst>
      <p:ext uri="{BB962C8B-B14F-4D97-AF65-F5344CB8AC3E}">
        <p14:creationId xmlns:p14="http://schemas.microsoft.com/office/powerpoint/2010/main" val="40404601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42900" marR="0" lvl="0" indent="-257175" algn="l" defTabSz="914400" rtl="0" eaLnBrk="0" fontAlgn="base" latinLnBrk="0" hangingPunct="0">
              <a:lnSpc>
                <a:spcPct val="100000"/>
              </a:lnSpc>
              <a:spcBef>
                <a:spcPts val="400"/>
              </a:spcBef>
              <a:spcAft>
                <a:spcPts val="0"/>
              </a:spcAft>
              <a:buClr>
                <a:srgbClr val="AA9C8F"/>
              </a:buClr>
              <a:buSzPts val="2000"/>
              <a:buFont typeface="Noto Sans Symbols"/>
              <a:buNone/>
              <a:tabLst/>
              <a:defRPr/>
            </a:pPr>
            <a:r>
              <a:rPr kumimoji="0" lang="en-CA" b="1" i="0" u="none" strike="noStrike" kern="0" cap="none" spc="0" normalizeH="0" baseline="0" noProof="0" dirty="0">
                <a:ln>
                  <a:noFill/>
                </a:ln>
                <a:solidFill>
                  <a:srgbClr val="000000"/>
                </a:solidFill>
                <a:effectLst/>
                <a:highlight>
                  <a:srgbClr val="FFFF00"/>
                </a:highlight>
                <a:uLnTx/>
                <a:uFillTx/>
                <a:latin typeface="+mn-lt"/>
                <a:ea typeface="+mn-ea"/>
                <a:cs typeface="+mn-cs"/>
              </a:rPr>
              <a:t>Key purposes</a:t>
            </a:r>
            <a:r>
              <a:rPr kumimoji="0" lang="en-CA" b="1" i="0" u="none" strike="noStrike" kern="0" cap="none" spc="0" normalizeH="0" baseline="0" noProof="0" dirty="0">
                <a:ln>
                  <a:noFill/>
                </a:ln>
                <a:solidFill>
                  <a:srgbClr val="000000"/>
                </a:solidFill>
                <a:effectLst/>
                <a:uLnTx/>
                <a:uFillTx/>
                <a:latin typeface="+mn-lt"/>
                <a:ea typeface="+mn-ea"/>
                <a:cs typeface="+mn-cs"/>
              </a:rPr>
              <a:t> of the SQRA, and when it is applied:</a:t>
            </a:r>
          </a:p>
          <a:p>
            <a:pPr marL="342900" marR="0" lvl="0" indent="-257175" algn="l" defTabSz="914400" rtl="0" eaLnBrk="0" fontAlgn="base" latinLnBrk="0" hangingPunct="0">
              <a:lnSpc>
                <a:spcPct val="100000"/>
              </a:lnSpc>
              <a:spcBef>
                <a:spcPts val="400"/>
              </a:spcBef>
              <a:spcAft>
                <a:spcPts val="0"/>
              </a:spcAft>
              <a:buClr>
                <a:srgbClr val="AA9C8F"/>
              </a:buClr>
              <a:buSzPts val="2000"/>
              <a:buFont typeface="Noto Sans Symbols"/>
              <a:buNone/>
              <a:tabLst/>
              <a:defRPr/>
            </a:pPr>
            <a:endParaRPr kumimoji="0" lang="en-CA" b="0" i="0" u="none" strike="noStrike" kern="0" cap="none" spc="0" normalizeH="0" baseline="0" noProof="0" dirty="0">
              <a:ln>
                <a:noFill/>
              </a:ln>
              <a:solidFill>
                <a:srgbClr val="000000"/>
              </a:solidFill>
              <a:effectLst/>
              <a:uLnTx/>
              <a:uFillTx/>
              <a:latin typeface="+mn-lt"/>
              <a:ea typeface="+mn-ea"/>
              <a:cs typeface="+mn-cs"/>
            </a:endParaRPr>
          </a:p>
          <a:p>
            <a:pPr marL="457200" marR="0" lvl="0" indent="-327025" algn="l" defTabSz="914400" rtl="0" eaLnBrk="0" fontAlgn="base" latinLnBrk="0" hangingPunct="0">
              <a:lnSpc>
                <a:spcPct val="100000"/>
              </a:lnSpc>
              <a:spcBef>
                <a:spcPts val="400"/>
              </a:spcBef>
              <a:spcAft>
                <a:spcPts val="0"/>
              </a:spcAft>
              <a:buClr>
                <a:srgbClr val="000000"/>
              </a:buClr>
              <a:buSzPts val="2000"/>
              <a:buFont typeface="Arial"/>
              <a:buAutoNum type="arabicParenR"/>
              <a:tabLst/>
              <a:defRPr/>
            </a:pPr>
            <a:r>
              <a:rPr kumimoji="0" lang="en-CA" b="0" i="0" u="none" strike="noStrike" kern="0" cap="none" spc="0" normalizeH="0" baseline="0" noProof="0" dirty="0">
                <a:ln>
                  <a:noFill/>
                </a:ln>
                <a:solidFill>
                  <a:srgbClr val="000000"/>
                </a:solidFill>
                <a:effectLst/>
                <a:uLnTx/>
                <a:uFillTx/>
                <a:latin typeface="+mn-lt"/>
                <a:ea typeface="+mn-ea"/>
                <a:cs typeface="+mn-cs"/>
              </a:rPr>
              <a:t>It is used to </a:t>
            </a:r>
            <a:r>
              <a:rPr kumimoji="0" lang="en-CA" b="0" i="0" u="none" strike="noStrike" kern="0" cap="none" spc="0" normalizeH="0" baseline="0" noProof="0" dirty="0">
                <a:ln>
                  <a:noFill/>
                </a:ln>
                <a:solidFill>
                  <a:srgbClr val="000000"/>
                </a:solidFill>
                <a:effectLst/>
                <a:highlight>
                  <a:srgbClr val="FFFF00"/>
                </a:highlight>
                <a:uLnTx/>
                <a:uFillTx/>
                <a:latin typeface="+mn-lt"/>
                <a:ea typeface="+mn-ea"/>
                <a:cs typeface="+mn-cs"/>
              </a:rPr>
              <a:t>assess hazards</a:t>
            </a:r>
            <a:r>
              <a:rPr kumimoji="0" lang="en-CA" b="0" i="0" u="none" strike="noStrike" kern="0" cap="none" spc="0" normalizeH="0" baseline="0" noProof="0" dirty="0">
                <a:ln>
                  <a:noFill/>
                </a:ln>
                <a:solidFill>
                  <a:srgbClr val="000000"/>
                </a:solidFill>
                <a:effectLst/>
                <a:uLnTx/>
                <a:uFillTx/>
                <a:latin typeface="+mn-lt"/>
                <a:ea typeface="+mn-ea"/>
                <a:cs typeface="+mn-cs"/>
              </a:rPr>
              <a:t> of an</a:t>
            </a:r>
            <a:r>
              <a:rPr kumimoji="0" lang="en-CA" b="0" i="0" u="none" strike="noStrike" kern="0" cap="none" spc="0" normalizeH="0" noProof="0" dirty="0">
                <a:ln>
                  <a:noFill/>
                </a:ln>
                <a:solidFill>
                  <a:srgbClr val="000000"/>
                </a:solidFill>
                <a:effectLst/>
                <a:uLnTx/>
                <a:uFillTx/>
                <a:latin typeface="+mn-lt"/>
                <a:ea typeface="+mn-ea"/>
                <a:cs typeface="+mn-cs"/>
              </a:rPr>
              <a:t> activity, job, or task, or installation or facility, to </a:t>
            </a:r>
            <a:r>
              <a:rPr kumimoji="0" lang="en-CA" b="0" i="0" u="none" strike="noStrike" kern="0" cap="none" spc="0" normalizeH="0" noProof="0" dirty="0">
                <a:ln>
                  <a:noFill/>
                </a:ln>
                <a:solidFill>
                  <a:srgbClr val="000000"/>
                </a:solidFill>
                <a:effectLst/>
                <a:highlight>
                  <a:srgbClr val="FFFF00"/>
                </a:highlight>
                <a:uLnTx/>
                <a:uFillTx/>
                <a:latin typeface="+mn-lt"/>
                <a:ea typeface="+mn-ea"/>
                <a:cs typeface="+mn-cs"/>
              </a:rPr>
              <a:t>determine</a:t>
            </a:r>
            <a:r>
              <a:rPr kumimoji="0" lang="en-CA" b="0" i="0" u="none" strike="noStrike" kern="0" cap="none" spc="0" normalizeH="0" noProof="0" dirty="0">
                <a:ln>
                  <a:noFill/>
                </a:ln>
                <a:solidFill>
                  <a:srgbClr val="000000"/>
                </a:solidFill>
                <a:effectLst/>
                <a:uLnTx/>
                <a:uFillTx/>
                <a:latin typeface="+mn-lt"/>
                <a:ea typeface="+mn-ea"/>
                <a:cs typeface="+mn-cs"/>
              </a:rPr>
              <a:t> appropriate </a:t>
            </a:r>
            <a:r>
              <a:rPr kumimoji="0" lang="en-CA" b="0" i="0" u="none" strike="noStrike" kern="0" cap="none" spc="0" normalizeH="0" noProof="0" dirty="0">
                <a:ln>
                  <a:noFill/>
                </a:ln>
                <a:solidFill>
                  <a:srgbClr val="000000"/>
                </a:solidFill>
                <a:effectLst/>
                <a:highlight>
                  <a:srgbClr val="FFFF00"/>
                </a:highlight>
                <a:uLnTx/>
                <a:uFillTx/>
                <a:latin typeface="+mn-lt"/>
                <a:ea typeface="+mn-ea"/>
                <a:cs typeface="+mn-cs"/>
              </a:rPr>
              <a:t>control measures</a:t>
            </a:r>
            <a:r>
              <a:rPr kumimoji="0" lang="en-CA" b="0" i="0" u="none" strike="noStrike" kern="0" cap="none" spc="0" normalizeH="0" noProof="0" dirty="0">
                <a:ln>
                  <a:noFill/>
                </a:ln>
                <a:solidFill>
                  <a:srgbClr val="000000"/>
                </a:solidFill>
                <a:effectLst/>
                <a:uLnTx/>
                <a:uFillTx/>
                <a:latin typeface="+mn-lt"/>
                <a:ea typeface="+mn-ea"/>
                <a:cs typeface="+mn-cs"/>
              </a:rPr>
              <a:t> in order to </a:t>
            </a:r>
            <a:r>
              <a:rPr kumimoji="0" lang="en-CA" b="0" i="0" u="none" strike="noStrike" kern="0" cap="none" spc="0" normalizeH="0" baseline="0" noProof="0" dirty="0">
                <a:ln>
                  <a:noFill/>
                </a:ln>
                <a:solidFill>
                  <a:srgbClr val="000000"/>
                </a:solidFill>
                <a:effectLst/>
                <a:highlight>
                  <a:srgbClr val="FFFF00"/>
                </a:highlight>
                <a:uLnTx/>
                <a:uFillTx/>
                <a:latin typeface="+mn-lt"/>
                <a:ea typeface="+mn-ea"/>
                <a:cs typeface="+mn-cs"/>
              </a:rPr>
              <a:t>eliminate or control</a:t>
            </a:r>
            <a:r>
              <a:rPr kumimoji="0" lang="en-CA" b="0" i="0" u="none" strike="noStrike" kern="0" cap="none" spc="0" normalizeH="0" baseline="0" noProof="0" dirty="0">
                <a:ln>
                  <a:noFill/>
                </a:ln>
                <a:solidFill>
                  <a:srgbClr val="000000"/>
                </a:solidFill>
                <a:effectLst/>
                <a:uLnTx/>
                <a:uFillTx/>
                <a:latin typeface="+mn-lt"/>
                <a:ea typeface="+mn-ea"/>
                <a:cs typeface="+mn-cs"/>
              </a:rPr>
              <a:t> those </a:t>
            </a:r>
            <a:r>
              <a:rPr kumimoji="0" lang="en-CA" b="0" i="0" u="none" strike="noStrike" kern="0" cap="none" spc="0" normalizeH="0" baseline="0" noProof="0" dirty="0">
                <a:ln>
                  <a:noFill/>
                </a:ln>
                <a:solidFill>
                  <a:srgbClr val="000000"/>
                </a:solidFill>
                <a:effectLst/>
                <a:highlight>
                  <a:srgbClr val="FFFF00"/>
                </a:highlight>
                <a:uLnTx/>
                <a:uFillTx/>
                <a:latin typeface="+mn-lt"/>
                <a:ea typeface="+mn-ea"/>
                <a:cs typeface="+mn-cs"/>
              </a:rPr>
              <a:t>hazards</a:t>
            </a:r>
            <a:r>
              <a:rPr kumimoji="0" lang="en-CA" b="0" i="0" u="none" strike="noStrike" kern="0" cap="none" spc="0" normalizeH="0" baseline="0" noProof="0" dirty="0">
                <a:ln>
                  <a:noFill/>
                </a:ln>
                <a:solidFill>
                  <a:srgbClr val="000000"/>
                </a:solidFill>
                <a:effectLst/>
                <a:uLnTx/>
                <a:uFillTx/>
                <a:latin typeface="+mn-lt"/>
                <a:ea typeface="+mn-ea"/>
                <a:cs typeface="+mn-cs"/>
              </a:rPr>
              <a:t>. </a:t>
            </a:r>
          </a:p>
          <a:p>
            <a:pPr marL="457200" marR="0" lvl="0" indent="-327025" algn="l" defTabSz="914400" rtl="0" eaLnBrk="0" fontAlgn="base" latinLnBrk="0" hangingPunct="0">
              <a:lnSpc>
                <a:spcPct val="100000"/>
              </a:lnSpc>
              <a:spcBef>
                <a:spcPts val="400"/>
              </a:spcBef>
              <a:spcAft>
                <a:spcPts val="0"/>
              </a:spcAft>
              <a:buClr>
                <a:srgbClr val="000000"/>
              </a:buClr>
              <a:buSzPts val="2000"/>
              <a:buFont typeface="Arial"/>
              <a:buAutoNum type="arabicParenR"/>
              <a:tabLst/>
              <a:defRPr/>
            </a:pPr>
            <a:endParaRPr lang="en-CA" kern="0" dirty="0">
              <a:solidFill>
                <a:srgbClr val="000000"/>
              </a:solidFill>
              <a:latin typeface="+mn-lt"/>
            </a:endParaRPr>
          </a:p>
          <a:p>
            <a:pPr marL="457200" marR="0" lvl="0" indent="-327025" algn="l" defTabSz="914400" rtl="0" eaLnBrk="0" fontAlgn="base" latinLnBrk="0" hangingPunct="0">
              <a:lnSpc>
                <a:spcPct val="100000"/>
              </a:lnSpc>
              <a:spcBef>
                <a:spcPts val="400"/>
              </a:spcBef>
              <a:spcAft>
                <a:spcPts val="0"/>
              </a:spcAft>
              <a:buClr>
                <a:srgbClr val="000000"/>
              </a:buClr>
              <a:buSzPts val="2000"/>
              <a:buFont typeface="Arial"/>
              <a:buAutoNum type="arabicParenR"/>
              <a:tabLst/>
              <a:defRPr/>
            </a:pPr>
            <a:r>
              <a:rPr kumimoji="0" lang="en-CA" b="0" i="0" u="none" strike="noStrike" kern="0" cap="none" spc="0" normalizeH="0" baseline="0" noProof="0" dirty="0">
                <a:ln>
                  <a:noFill/>
                </a:ln>
                <a:solidFill>
                  <a:srgbClr val="000000"/>
                </a:solidFill>
                <a:effectLst/>
                <a:uLnTx/>
                <a:uFillTx/>
                <a:latin typeface="+mn-lt"/>
                <a:ea typeface="+mn-ea"/>
                <a:cs typeface="+mn-cs"/>
              </a:rPr>
              <a:t>It is </a:t>
            </a:r>
            <a:r>
              <a:rPr kumimoji="0" lang="en-CA" b="0" i="0" u="none" strike="noStrike" kern="0" cap="none" spc="0" normalizeH="0" baseline="0" noProof="0" dirty="0">
                <a:ln>
                  <a:noFill/>
                </a:ln>
                <a:solidFill>
                  <a:srgbClr val="000000"/>
                </a:solidFill>
                <a:effectLst/>
                <a:highlight>
                  <a:srgbClr val="FFFF00"/>
                </a:highlight>
                <a:uLnTx/>
                <a:uFillTx/>
                <a:latin typeface="+mn-lt"/>
                <a:ea typeface="+mn-ea"/>
                <a:cs typeface="+mn-cs"/>
              </a:rPr>
              <a:t>used during</a:t>
            </a:r>
            <a:r>
              <a:rPr kumimoji="0" lang="en-CA" b="0" i="0" u="none" strike="noStrike" kern="0" cap="none" spc="0" normalizeH="0" noProof="0" dirty="0">
                <a:ln>
                  <a:noFill/>
                </a:ln>
                <a:solidFill>
                  <a:srgbClr val="000000"/>
                </a:solidFill>
                <a:effectLst/>
                <a:uLnTx/>
                <a:uFillTx/>
                <a:latin typeface="+mn-lt"/>
                <a:ea typeface="+mn-ea"/>
                <a:cs typeface="+mn-cs"/>
              </a:rPr>
              <a:t> the </a:t>
            </a:r>
            <a:r>
              <a:rPr kumimoji="0" lang="en-CA" b="0" i="0" u="none" strike="noStrike" kern="0" cap="none" spc="0" normalizeH="0" noProof="0" dirty="0">
                <a:ln>
                  <a:noFill/>
                </a:ln>
                <a:solidFill>
                  <a:srgbClr val="000000"/>
                </a:solidFill>
                <a:effectLst/>
                <a:highlight>
                  <a:srgbClr val="FFFF00"/>
                </a:highlight>
                <a:uLnTx/>
                <a:uFillTx/>
                <a:latin typeface="+mn-lt"/>
                <a:ea typeface="+mn-ea"/>
                <a:cs typeface="+mn-cs"/>
              </a:rPr>
              <a:t>planning stages</a:t>
            </a:r>
            <a:r>
              <a:rPr kumimoji="0" lang="en-CA" b="0" i="0" u="none" strike="noStrike" kern="0" cap="none" spc="0" normalizeH="0" noProof="0" dirty="0">
                <a:ln>
                  <a:noFill/>
                </a:ln>
                <a:solidFill>
                  <a:srgbClr val="000000"/>
                </a:solidFill>
                <a:effectLst/>
                <a:uLnTx/>
                <a:uFillTx/>
                <a:latin typeface="+mn-lt"/>
                <a:ea typeface="+mn-ea"/>
                <a:cs typeface="+mn-cs"/>
              </a:rPr>
              <a:t> of the activity, job, or task, or </a:t>
            </a:r>
            <a:r>
              <a:rPr kumimoji="0" lang="en-CA" b="0" i="0" u="none" strike="noStrike" kern="0" cap="none" spc="0" normalizeH="0" noProof="0" dirty="0">
                <a:ln>
                  <a:noFill/>
                </a:ln>
                <a:solidFill>
                  <a:srgbClr val="000000"/>
                </a:solidFill>
                <a:effectLst/>
                <a:highlight>
                  <a:srgbClr val="FFFF00"/>
                </a:highlight>
                <a:uLnTx/>
                <a:uFillTx/>
                <a:latin typeface="+mn-lt"/>
                <a:ea typeface="+mn-ea"/>
                <a:cs typeface="+mn-cs"/>
              </a:rPr>
              <a:t>during the design and construction</a:t>
            </a:r>
            <a:r>
              <a:rPr kumimoji="0" lang="en-CA" b="0" i="0" u="none" strike="noStrike" kern="0" cap="none" spc="0" normalizeH="0" noProof="0" dirty="0">
                <a:ln>
                  <a:noFill/>
                </a:ln>
                <a:solidFill>
                  <a:srgbClr val="000000"/>
                </a:solidFill>
                <a:effectLst/>
                <a:uLnTx/>
                <a:uFillTx/>
                <a:latin typeface="+mn-lt"/>
                <a:ea typeface="+mn-ea"/>
                <a:cs typeface="+mn-cs"/>
              </a:rPr>
              <a:t> of the installation or facility. </a:t>
            </a:r>
            <a:endParaRPr kumimoji="0" lang="en-CA" b="0" i="0" u="none" strike="noStrike" kern="0" cap="none" spc="0" normalizeH="0" baseline="0" noProof="0" dirty="0">
              <a:ln>
                <a:noFill/>
              </a:ln>
              <a:solidFill>
                <a:srgbClr val="000000"/>
              </a:solidFill>
              <a:effectLst/>
              <a:uLnTx/>
              <a:uFillTx/>
              <a:latin typeface="+mn-lt"/>
              <a:ea typeface="+mn-ea"/>
              <a:cs typeface="+mn-cs"/>
            </a:endParaRPr>
          </a:p>
          <a:p>
            <a:pPr marL="457200" marR="0" lvl="0" indent="-327025" algn="l" defTabSz="914400" rtl="0" eaLnBrk="0" fontAlgn="base" latinLnBrk="0" hangingPunct="0">
              <a:lnSpc>
                <a:spcPct val="100000"/>
              </a:lnSpc>
              <a:spcBef>
                <a:spcPts val="400"/>
              </a:spcBef>
              <a:spcAft>
                <a:spcPts val="0"/>
              </a:spcAft>
              <a:buClr>
                <a:srgbClr val="000000"/>
              </a:buClr>
              <a:buSzPts val="2000"/>
              <a:buFont typeface="Arial"/>
              <a:buAutoNum type="arabicParenR"/>
              <a:tabLst/>
              <a:defRPr/>
            </a:pPr>
            <a:endParaRPr kumimoji="0" lang="en-CA" b="0" i="0" u="none" strike="noStrike" kern="0" cap="none" spc="0" normalizeH="0" baseline="0" noProof="0" dirty="0">
              <a:ln>
                <a:noFill/>
              </a:ln>
              <a:solidFill>
                <a:srgbClr val="000000"/>
              </a:solidFill>
              <a:effectLst/>
              <a:uLnTx/>
              <a:uFillTx/>
              <a:latin typeface="+mn-lt"/>
              <a:ea typeface="+mn-ea"/>
              <a:cs typeface="+mn-cs"/>
            </a:endParaRPr>
          </a:p>
          <a:p>
            <a:pPr marL="457200" marR="0" lvl="0" indent="-327025" algn="l" defTabSz="914400" rtl="0" eaLnBrk="0" fontAlgn="base" latinLnBrk="0" hangingPunct="0">
              <a:lnSpc>
                <a:spcPct val="100000"/>
              </a:lnSpc>
              <a:spcBef>
                <a:spcPts val="400"/>
              </a:spcBef>
              <a:spcAft>
                <a:spcPts val="0"/>
              </a:spcAft>
              <a:buClr>
                <a:srgbClr val="000000"/>
              </a:buClr>
              <a:buSzPts val="2000"/>
              <a:buFont typeface="Arial"/>
              <a:buAutoNum type="arabicParenR"/>
              <a:tabLst/>
              <a:defRPr/>
            </a:pPr>
            <a:r>
              <a:rPr kumimoji="0" lang="en-CA" b="0" i="0" u="none" strike="noStrike" kern="0" cap="none" spc="0" normalizeH="0" baseline="0" noProof="0" dirty="0">
                <a:ln>
                  <a:noFill/>
                </a:ln>
                <a:solidFill>
                  <a:srgbClr val="000000"/>
                </a:solidFill>
                <a:effectLst/>
                <a:uLnTx/>
                <a:uFillTx/>
                <a:latin typeface="+mn-lt"/>
                <a:ea typeface="+mn-ea"/>
                <a:cs typeface="+mn-cs"/>
              </a:rPr>
              <a:t>It is </a:t>
            </a:r>
            <a:r>
              <a:rPr kumimoji="0" lang="en-CA" b="0" i="0" u="none" strike="noStrike" kern="0" cap="none" spc="0" normalizeH="0" baseline="0" noProof="0" dirty="0">
                <a:ln>
                  <a:noFill/>
                </a:ln>
                <a:solidFill>
                  <a:srgbClr val="000000"/>
                </a:solidFill>
                <a:effectLst/>
                <a:highlight>
                  <a:srgbClr val="FFFF00"/>
                </a:highlight>
                <a:uLnTx/>
                <a:uFillTx/>
                <a:latin typeface="+mn-lt"/>
                <a:ea typeface="+mn-ea"/>
                <a:cs typeface="+mn-cs"/>
              </a:rPr>
              <a:t>used</a:t>
            </a:r>
            <a:r>
              <a:rPr kumimoji="0" lang="en-CA" b="0" i="0" u="none" strike="noStrike" kern="0" cap="none" spc="0" normalizeH="0" baseline="0" noProof="0" dirty="0">
                <a:ln>
                  <a:noFill/>
                </a:ln>
                <a:solidFill>
                  <a:srgbClr val="000000"/>
                </a:solidFill>
                <a:effectLst/>
                <a:uLnTx/>
                <a:uFillTx/>
                <a:latin typeface="+mn-lt"/>
                <a:ea typeface="+mn-ea"/>
                <a:cs typeface="+mn-cs"/>
              </a:rPr>
              <a:t> to </a:t>
            </a:r>
            <a:r>
              <a:rPr kumimoji="0" lang="en-CA" b="0" i="0" u="none" strike="noStrike" kern="0" cap="none" spc="0" normalizeH="0" baseline="0" noProof="0" dirty="0">
                <a:ln>
                  <a:noFill/>
                </a:ln>
                <a:solidFill>
                  <a:srgbClr val="000000"/>
                </a:solidFill>
                <a:effectLst/>
                <a:highlight>
                  <a:srgbClr val="FFFF00"/>
                </a:highlight>
                <a:uLnTx/>
                <a:uFillTx/>
                <a:latin typeface="+mn-lt"/>
                <a:ea typeface="+mn-ea"/>
                <a:cs typeface="+mn-cs"/>
              </a:rPr>
              <a:t>ensure understanding</a:t>
            </a:r>
            <a:r>
              <a:rPr kumimoji="0" lang="en-CA" b="0" i="0" u="none" strike="noStrike" kern="0" cap="none" spc="0" normalizeH="0" baseline="0" noProof="0" dirty="0">
                <a:ln>
                  <a:noFill/>
                </a:ln>
                <a:solidFill>
                  <a:srgbClr val="000000"/>
                </a:solidFill>
                <a:effectLst/>
                <a:uLnTx/>
                <a:uFillTx/>
                <a:latin typeface="+mn-lt"/>
                <a:ea typeface="+mn-ea"/>
                <a:cs typeface="+mn-cs"/>
              </a:rPr>
              <a:t> of the </a:t>
            </a:r>
            <a:r>
              <a:rPr kumimoji="0" lang="en-CA" b="0" i="0" u="none" strike="noStrike" kern="0" cap="none" spc="0" normalizeH="0" baseline="0" noProof="0" dirty="0">
                <a:ln>
                  <a:noFill/>
                </a:ln>
                <a:solidFill>
                  <a:srgbClr val="000000"/>
                </a:solidFill>
                <a:effectLst/>
                <a:highlight>
                  <a:srgbClr val="FFFF00"/>
                </a:highlight>
                <a:uLnTx/>
                <a:uFillTx/>
                <a:latin typeface="+mn-lt"/>
                <a:ea typeface="+mn-ea"/>
                <a:cs typeface="+mn-cs"/>
              </a:rPr>
              <a:t>control measures</a:t>
            </a:r>
            <a:r>
              <a:rPr kumimoji="0" lang="en-CA" b="0" i="0" u="none" strike="noStrike" kern="0" cap="none" spc="0" normalizeH="0" baseline="0" noProof="0" dirty="0">
                <a:ln>
                  <a:noFill/>
                </a:ln>
                <a:solidFill>
                  <a:srgbClr val="000000"/>
                </a:solidFill>
                <a:effectLst/>
                <a:uLnTx/>
                <a:uFillTx/>
                <a:latin typeface="+mn-lt"/>
                <a:ea typeface="+mn-ea"/>
                <a:cs typeface="+mn-cs"/>
              </a:rPr>
              <a:t> (to </a:t>
            </a:r>
            <a:r>
              <a:rPr kumimoji="0" lang="en-CA" b="0" i="0" u="none" strike="noStrike" kern="0" cap="none" spc="0" normalizeH="0" baseline="0" noProof="0" dirty="0">
                <a:ln>
                  <a:noFill/>
                </a:ln>
                <a:solidFill>
                  <a:srgbClr val="000000"/>
                </a:solidFill>
                <a:effectLst/>
                <a:highlight>
                  <a:srgbClr val="FFFF00"/>
                </a:highlight>
                <a:uLnTx/>
                <a:uFillTx/>
                <a:latin typeface="+mn-lt"/>
                <a:ea typeface="+mn-ea"/>
                <a:cs typeface="+mn-cs"/>
              </a:rPr>
              <a:t>eliminate</a:t>
            </a:r>
            <a:r>
              <a:rPr kumimoji="0" lang="en-CA" b="0" i="0" u="none" strike="noStrike" kern="0" cap="none" spc="0" normalizeH="0" baseline="0" noProof="0" dirty="0">
                <a:ln>
                  <a:noFill/>
                </a:ln>
                <a:solidFill>
                  <a:srgbClr val="000000"/>
                </a:solidFill>
                <a:effectLst/>
                <a:uLnTx/>
                <a:uFillTx/>
                <a:latin typeface="+mn-lt"/>
                <a:ea typeface="+mn-ea"/>
                <a:cs typeface="+mn-cs"/>
              </a:rPr>
              <a:t> or </a:t>
            </a:r>
            <a:r>
              <a:rPr kumimoji="0" lang="en-CA" b="0" i="0" u="none" strike="noStrike" kern="0" cap="none" spc="0" normalizeH="0" baseline="0" noProof="0" dirty="0">
                <a:ln>
                  <a:noFill/>
                </a:ln>
                <a:solidFill>
                  <a:srgbClr val="000000"/>
                </a:solidFill>
                <a:effectLst/>
                <a:highlight>
                  <a:srgbClr val="FFFF00"/>
                </a:highlight>
                <a:uLnTx/>
                <a:uFillTx/>
                <a:latin typeface="+mn-lt"/>
                <a:ea typeface="+mn-ea"/>
                <a:cs typeface="+mn-cs"/>
              </a:rPr>
              <a:t>mitigate</a:t>
            </a:r>
            <a:r>
              <a:rPr kumimoji="0" lang="en-CA" b="0" i="0" u="none" strike="noStrike" kern="0" cap="none" spc="0" normalizeH="0" baseline="0" noProof="0" dirty="0">
                <a:ln>
                  <a:noFill/>
                </a:ln>
                <a:solidFill>
                  <a:srgbClr val="000000"/>
                </a:solidFill>
                <a:effectLst/>
                <a:uLnTx/>
                <a:uFillTx/>
                <a:latin typeface="+mn-lt"/>
                <a:ea typeface="+mn-ea"/>
                <a:cs typeface="+mn-cs"/>
              </a:rPr>
              <a:t> the hazards)</a:t>
            </a:r>
            <a:r>
              <a:rPr kumimoji="0" lang="en-CA" b="0" i="0" u="none" strike="noStrike" kern="0" cap="none" spc="0" normalizeH="0" noProof="0" dirty="0">
                <a:ln>
                  <a:noFill/>
                </a:ln>
                <a:solidFill>
                  <a:srgbClr val="000000"/>
                </a:solidFill>
                <a:effectLst/>
                <a:uLnTx/>
                <a:uFillTx/>
                <a:latin typeface="+mn-lt"/>
                <a:ea typeface="+mn-ea"/>
                <a:cs typeface="+mn-cs"/>
              </a:rPr>
              <a:t> by the personnel preparing job plans, procedures, designs packages, and construction packages. </a:t>
            </a:r>
            <a:endParaRPr kumimoji="0" lang="en-CA" b="0" i="0" u="none" strike="noStrike" kern="0" cap="none" spc="0" normalizeH="0" baseline="0" noProof="0" dirty="0">
              <a:ln>
                <a:noFill/>
              </a:ln>
              <a:solidFill>
                <a:srgbClr val="000000"/>
              </a:solidFill>
              <a:effectLst/>
              <a:uLnTx/>
              <a:uFillTx/>
              <a:latin typeface="+mn-lt"/>
              <a:ea typeface="+mn-ea"/>
              <a:cs typeface="+mn-cs"/>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Purposes and Applications of the SQRA:</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spTree>
    <p:extLst>
      <p:ext uri="{BB962C8B-B14F-4D97-AF65-F5344CB8AC3E}">
        <p14:creationId xmlns:p14="http://schemas.microsoft.com/office/powerpoint/2010/main" val="293985006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Basic Steps to Create an SQRA:</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graphicFrame>
        <p:nvGraphicFramePr>
          <p:cNvPr id="6" name="Table 5"/>
          <p:cNvGraphicFramePr>
            <a:graphicFrameLocks noGrp="1"/>
          </p:cNvGraphicFramePr>
          <p:nvPr>
            <p:extLst>
              <p:ext uri="{D42A27DB-BD31-4B8C-83A1-F6EECF244321}">
                <p14:modId xmlns:p14="http://schemas.microsoft.com/office/powerpoint/2010/main" val="4154243876"/>
              </p:ext>
            </p:extLst>
          </p:nvPr>
        </p:nvGraphicFramePr>
        <p:xfrm>
          <a:off x="88652" y="4332844"/>
          <a:ext cx="8868340" cy="1869025"/>
        </p:xfrm>
        <a:graphic>
          <a:graphicData uri="http://schemas.openxmlformats.org/drawingml/2006/table">
            <a:tbl>
              <a:tblPr/>
              <a:tblGrid>
                <a:gridCol w="899844">
                  <a:extLst>
                    <a:ext uri="{9D8B030D-6E8A-4147-A177-3AD203B41FA5}">
                      <a16:colId xmlns:a16="http://schemas.microsoft.com/office/drawing/2014/main" val="3350495733"/>
                    </a:ext>
                  </a:extLst>
                </a:gridCol>
                <a:gridCol w="899844">
                  <a:extLst>
                    <a:ext uri="{9D8B030D-6E8A-4147-A177-3AD203B41FA5}">
                      <a16:colId xmlns:a16="http://schemas.microsoft.com/office/drawing/2014/main" val="788624471"/>
                    </a:ext>
                  </a:extLst>
                </a:gridCol>
                <a:gridCol w="899844">
                  <a:extLst>
                    <a:ext uri="{9D8B030D-6E8A-4147-A177-3AD203B41FA5}">
                      <a16:colId xmlns:a16="http://schemas.microsoft.com/office/drawing/2014/main" val="1126100611"/>
                    </a:ext>
                  </a:extLst>
                </a:gridCol>
                <a:gridCol w="563757">
                  <a:extLst>
                    <a:ext uri="{9D8B030D-6E8A-4147-A177-3AD203B41FA5}">
                      <a16:colId xmlns:a16="http://schemas.microsoft.com/office/drawing/2014/main" val="894614678"/>
                    </a:ext>
                  </a:extLst>
                </a:gridCol>
                <a:gridCol w="910685">
                  <a:extLst>
                    <a:ext uri="{9D8B030D-6E8A-4147-A177-3AD203B41FA5}">
                      <a16:colId xmlns:a16="http://schemas.microsoft.com/office/drawing/2014/main" val="1436810623"/>
                    </a:ext>
                  </a:extLst>
                </a:gridCol>
                <a:gridCol w="1008259">
                  <a:extLst>
                    <a:ext uri="{9D8B030D-6E8A-4147-A177-3AD203B41FA5}">
                      <a16:colId xmlns:a16="http://schemas.microsoft.com/office/drawing/2014/main" val="1862085159"/>
                    </a:ext>
                  </a:extLst>
                </a:gridCol>
                <a:gridCol w="1040783">
                  <a:extLst>
                    <a:ext uri="{9D8B030D-6E8A-4147-A177-3AD203B41FA5}">
                      <a16:colId xmlns:a16="http://schemas.microsoft.com/office/drawing/2014/main" val="2553280483"/>
                    </a:ext>
                  </a:extLst>
                </a:gridCol>
                <a:gridCol w="1008259">
                  <a:extLst>
                    <a:ext uri="{9D8B030D-6E8A-4147-A177-3AD203B41FA5}">
                      <a16:colId xmlns:a16="http://schemas.microsoft.com/office/drawing/2014/main" val="2438800930"/>
                    </a:ext>
                  </a:extLst>
                </a:gridCol>
                <a:gridCol w="910685">
                  <a:extLst>
                    <a:ext uri="{9D8B030D-6E8A-4147-A177-3AD203B41FA5}">
                      <a16:colId xmlns:a16="http://schemas.microsoft.com/office/drawing/2014/main" val="1126472793"/>
                    </a:ext>
                  </a:extLst>
                </a:gridCol>
                <a:gridCol w="726380">
                  <a:extLst>
                    <a:ext uri="{9D8B030D-6E8A-4147-A177-3AD203B41FA5}">
                      <a16:colId xmlns:a16="http://schemas.microsoft.com/office/drawing/2014/main" val="2176342193"/>
                    </a:ext>
                  </a:extLst>
                </a:gridCol>
              </a:tblGrid>
              <a:tr h="284046">
                <a:tc gridSpan="10">
                  <a:txBody>
                    <a:bodyPr/>
                    <a:lstStyle/>
                    <a:p>
                      <a:pPr algn="ctr" fontAlgn="ctr"/>
                      <a:r>
                        <a:rPr lang="en-US" sz="1100" b="1" i="0" u="sng" strike="noStrike">
                          <a:effectLst/>
                          <a:latin typeface="Arial" panose="020B0604020202020204" pitchFamily="34" charset="0"/>
                        </a:rPr>
                        <a:t>SEMI-QUANTITATVE RISK ASSESSMENT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9011942"/>
                  </a:ext>
                </a:extLst>
              </a:tr>
              <a:tr h="818054">
                <a:tc>
                  <a:txBody>
                    <a:bodyPr/>
                    <a:lstStyle/>
                    <a:p>
                      <a:pPr algn="ctr" fontAlgn="ctr"/>
                      <a:r>
                        <a:rPr lang="en-US" sz="1100" b="1" i="0" u="none" strike="noStrike" dirty="0">
                          <a:effectLst/>
                          <a:latin typeface="Arial" panose="020B0604020202020204" pitchFamily="34" charset="0"/>
                        </a:rPr>
                        <a:t>Activity</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Deviations and Concerns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Likelihood</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Risk Level Before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Likelihood with or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 with or after Control Measures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dirty="0">
                          <a:effectLst/>
                          <a:latin typeface="Arial" panose="020B0604020202020204" pitchFamily="34" charset="0"/>
                        </a:rPr>
                        <a:t>Risk Level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Proceed? Y/N</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83524930"/>
                  </a:ext>
                </a:extLst>
              </a:tr>
              <a:tr h="766925">
                <a:tc>
                  <a:txBody>
                    <a:bodyPr/>
                    <a:lstStyle/>
                    <a:p>
                      <a:pPr algn="ctr" fontAlgn="ctr"/>
                      <a:r>
                        <a:rPr lang="en-US" sz="900" b="0" i="0" u="none" strike="noStrike" dirty="0">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62182498"/>
                  </a:ext>
                </a:extLst>
              </a:tr>
            </a:tbl>
          </a:graphicData>
        </a:graphic>
      </p:graphicFrame>
      <p:sp>
        <p:nvSpPr>
          <p:cNvPr id="7" name="TextBox 6"/>
          <p:cNvSpPr txBox="1"/>
          <p:nvPr/>
        </p:nvSpPr>
        <p:spPr>
          <a:xfrm>
            <a:off x="3291357" y="5652000"/>
            <a:ext cx="972000" cy="468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HIGH</a:t>
            </a:r>
          </a:p>
        </p:txBody>
      </p:sp>
      <p:sp>
        <p:nvSpPr>
          <p:cNvPr id="10" name="TextBox 9"/>
          <p:cNvSpPr txBox="1"/>
          <p:nvPr/>
        </p:nvSpPr>
        <p:spPr>
          <a:xfrm>
            <a:off x="7236000" y="5652000"/>
            <a:ext cx="972000" cy="4680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LOW</a:t>
            </a:r>
          </a:p>
        </p:txBody>
      </p:sp>
      <p:sp>
        <p:nvSpPr>
          <p:cNvPr id="11" name="Rectangle 10"/>
          <p:cNvSpPr/>
          <p:nvPr/>
        </p:nvSpPr>
        <p:spPr>
          <a:xfrm>
            <a:off x="8387675" y="5663086"/>
            <a:ext cx="389851"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rPr>
              <a:t>Y</a:t>
            </a:r>
          </a:p>
        </p:txBody>
      </p:sp>
      <p:cxnSp>
        <p:nvCxnSpPr>
          <p:cNvPr id="14" name="Curved Connector 13"/>
          <p:cNvCxnSpPr>
            <a:stCxn id="7" idx="0"/>
            <a:endCxn id="10" idx="0"/>
          </p:cNvCxnSpPr>
          <p:nvPr/>
        </p:nvCxnSpPr>
        <p:spPr>
          <a:xfrm rot="5400000" flipH="1" flipV="1">
            <a:off x="5749678" y="3679679"/>
            <a:ext cx="12700" cy="3944643"/>
          </a:xfrm>
          <a:prstGeom prst="curvedConnector3">
            <a:avLst>
              <a:gd name="adj1" fmla="val 2580724"/>
            </a:avLst>
          </a:prstGeom>
          <a:ln w="762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Identify job and scope. </a:t>
            </a: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Determine </a:t>
            </a:r>
            <a:r>
              <a:rPr kumimoji="0" lang="en-CA" sz="1800" b="0"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key activities</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Identify </a:t>
            </a:r>
            <a:r>
              <a:rPr kumimoji="0" lang="en-CA" sz="1800" b="0"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deviations and concerns</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associated for each key activity. </a:t>
            </a:r>
            <a:b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Use the </a:t>
            </a:r>
            <a:r>
              <a:rPr kumimoji="0" lang="en-CA" sz="18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“What-If Analysis”</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to determine any deviations and concerns!</a:t>
            </a: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Determine </a:t>
            </a:r>
            <a:r>
              <a:rPr kumimoji="0" lang="en-CA" sz="1800" b="0"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likelihood, impact, and risk level</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posed by each deviation / concern without or </a:t>
            </a:r>
            <a:r>
              <a:rPr kumimoji="0" lang="en-CA" sz="1800" b="0"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before control measures</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Identify suitable </a:t>
            </a:r>
            <a:r>
              <a:rPr kumimoji="0" lang="en-CA" sz="1800" b="0"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control measures</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for each deviation / concern.</a:t>
            </a: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Determine likelihood, impact, and risk level posed with or after control measures.</a:t>
            </a: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Determine whether to proceed with the activity or not.</a:t>
            </a: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Incorporate or integrate the control measures in the job plan or engineering / design / construction package. </a:t>
            </a: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During or after the job plan is being executed, or after engineering / design / construction, determine the effectiveness of the control measures.</a:t>
            </a:r>
          </a:p>
        </p:txBody>
      </p:sp>
      <p:sp>
        <p:nvSpPr>
          <p:cNvPr id="16" name="TextBox 15"/>
          <p:cNvSpPr txBox="1"/>
          <p:nvPr/>
        </p:nvSpPr>
        <p:spPr>
          <a:xfrm>
            <a:off x="5288375" y="468000"/>
            <a:ext cx="3668617" cy="830997"/>
          </a:xfrm>
          <a:prstGeom prst="rect">
            <a:avLst/>
          </a:prstGeom>
          <a:solidFill>
            <a:srgbClr val="FFFF00"/>
          </a:solidFill>
          <a:ln>
            <a:solidFill>
              <a:schemeClr val="tx1"/>
            </a:solidFill>
          </a:ln>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a:ln>
                  <a:noFill/>
                </a:ln>
                <a:solidFill>
                  <a:srgbClr val="000000"/>
                </a:solidFill>
                <a:effectLst/>
                <a:uLnTx/>
                <a:uFillTx/>
                <a:latin typeface="Arial"/>
                <a:ea typeface="+mn-ea"/>
                <a:cs typeface="+mn-cs"/>
              </a:rPr>
              <a:t>What are you doing?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a:ln>
                  <a:noFill/>
                </a:ln>
                <a:solidFill>
                  <a:srgbClr val="000000"/>
                </a:solidFill>
                <a:effectLst/>
                <a:uLnTx/>
                <a:uFillTx/>
                <a:latin typeface="Arial"/>
                <a:ea typeface="+mn-ea"/>
                <a:cs typeface="+mn-cs"/>
              </a:rPr>
              <a:t>What can go wrong?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a:ln>
                  <a:noFill/>
                </a:ln>
                <a:solidFill>
                  <a:srgbClr val="000000"/>
                </a:solidFill>
                <a:effectLst/>
                <a:uLnTx/>
                <a:uFillTx/>
                <a:latin typeface="Arial"/>
                <a:ea typeface="+mn-ea"/>
                <a:cs typeface="+mn-cs"/>
              </a:rPr>
              <a:t>What are you going to do about it?</a:t>
            </a:r>
          </a:p>
        </p:txBody>
      </p:sp>
    </p:spTree>
    <p:extLst>
      <p:ext uri="{BB962C8B-B14F-4D97-AF65-F5344CB8AC3E}">
        <p14:creationId xmlns:p14="http://schemas.microsoft.com/office/powerpoint/2010/main" val="33026419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#1: Apply the Semi-Quantitative Risk Assessment Tool:</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sp>
        <p:nvSpPr>
          <p:cNvPr id="6" name="Rectangle 3"/>
          <p:cNvSpPr>
            <a:spLocks noChangeArrowheads="1"/>
          </p:cNvSpPr>
          <p:nvPr/>
        </p:nvSpPr>
        <p:spPr bwMode="auto">
          <a:xfrm>
            <a:off x="180000" y="828000"/>
            <a:ext cx="8640000" cy="5328000"/>
          </a:xfrm>
          <a:prstGeom prst="rect">
            <a:avLst/>
          </a:prstGeom>
          <a:solidFill>
            <a:srgbClr val="0000FF"/>
          </a:solidFill>
          <a:ln w="9525" algn="ctr">
            <a:solidFill>
              <a:srgbClr val="0000FF"/>
            </a:solidFill>
            <a:miter lim="800000"/>
            <a:headEnd/>
            <a:tailEnd/>
          </a:ln>
          <a:effectLst/>
        </p:spPr>
        <p:txBody>
          <a:bodyPr/>
          <a:lstStyle/>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Recall</a:t>
            </a:r>
            <a:r>
              <a:rPr kumimoji="0" lang="en-CA" altLang="en-US" b="0" i="0" u="none" strike="noStrike" kern="1200" cap="none" spc="0" normalizeH="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LI from Chapter 4.2 and 4.3. </a:t>
            </a:r>
            <a:r>
              <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(Open discussion).</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endParaRPr kumimoji="0" lang="en-US"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 are called to a scene where a mining haul truck and a shovel have been crushed with debris from an adjacent slope. You find one individual with a severe injury. You know the slopes are being monitored, you know there are procedures for safe work near the slopes, and you know it had been raining for the last week.</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How could this incident have been </a:t>
            </a:r>
            <a:b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prevented using SQRA?</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Apply the SQRA (nine steps) for this job </a:t>
            </a:r>
            <a:r>
              <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activity:  </a:t>
            </a:r>
            <a:br>
              <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Operator operating within the exclusion zone”</a:t>
            </a:r>
            <a:endParaRPr kumimoji="0" lang="en-US"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4" name="Picture 3"/>
          <p:cNvPicPr>
            <a:picLocks noChangeAspect="1"/>
          </p:cNvPicPr>
          <p:nvPr/>
        </p:nvPicPr>
        <p:blipFill>
          <a:blip r:embed="rId3"/>
          <a:stretch>
            <a:fillRect/>
          </a:stretch>
        </p:blipFill>
        <p:spPr>
          <a:xfrm>
            <a:off x="5538183" y="2360390"/>
            <a:ext cx="3281817" cy="3222733"/>
          </a:xfrm>
          <a:prstGeom prst="rect">
            <a:avLst/>
          </a:prstGeom>
        </p:spPr>
      </p:pic>
      <p:pic>
        <p:nvPicPr>
          <p:cNvPr id="10" name="Picture 9">
            <a:extLst>
              <a:ext uri="{FF2B5EF4-FFF2-40B4-BE49-F238E27FC236}">
                <a16:creationId xmlns:a16="http://schemas.microsoft.com/office/drawing/2014/main" id="{0087EE2E-D7D0-4368-90F9-C1C60702902E}"/>
              </a:ext>
            </a:extLst>
          </p:cNvPr>
          <p:cNvPicPr>
            <a:picLocks noChangeAspect="1"/>
          </p:cNvPicPr>
          <p:nvPr/>
        </p:nvPicPr>
        <p:blipFill>
          <a:blip r:embed="rId4"/>
          <a:stretch>
            <a:fillRect/>
          </a:stretch>
        </p:blipFill>
        <p:spPr>
          <a:xfrm>
            <a:off x="1520778" y="4273721"/>
            <a:ext cx="2922376" cy="1882279"/>
          </a:xfrm>
          <a:prstGeom prst="rect">
            <a:avLst/>
          </a:prstGeom>
        </p:spPr>
      </p:pic>
    </p:spTree>
    <p:extLst>
      <p:ext uri="{BB962C8B-B14F-4D97-AF65-F5344CB8AC3E}">
        <p14:creationId xmlns:p14="http://schemas.microsoft.com/office/powerpoint/2010/main" val="234980246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Semi-Quantitative Risk Assessment:</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Remember that a control measure is typically designed to result in a reduction of likelihood or a reduction I consequence, usually not both!</a:t>
            </a: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27" name="Google Shape;1438;p20">
            <a:extLst>
              <a:ext uri="{FF2B5EF4-FFF2-40B4-BE49-F238E27FC236}">
                <a16:creationId xmlns:a16="http://schemas.microsoft.com/office/drawing/2014/main" id="{43764B5F-4CC9-4236-92B4-213564AB3073}"/>
              </a:ext>
            </a:extLst>
          </p:cNvPr>
          <p:cNvGraphicFramePr/>
          <p:nvPr>
            <p:extLst>
              <p:ext uri="{D42A27DB-BD31-4B8C-83A1-F6EECF244321}">
                <p14:modId xmlns:p14="http://schemas.microsoft.com/office/powerpoint/2010/main" val="461873203"/>
              </p:ext>
            </p:extLst>
          </p:nvPr>
        </p:nvGraphicFramePr>
        <p:xfrm>
          <a:off x="180000" y="3574459"/>
          <a:ext cx="8633401" cy="1623184"/>
        </p:xfrm>
        <a:graphic>
          <a:graphicData uri="http://schemas.openxmlformats.org/drawingml/2006/table">
            <a:tbl>
              <a:tblPr>
                <a:noFill/>
              </a:tblPr>
              <a:tblGrid>
                <a:gridCol w="866331">
                  <a:extLst>
                    <a:ext uri="{9D8B030D-6E8A-4147-A177-3AD203B41FA5}">
                      <a16:colId xmlns:a16="http://schemas.microsoft.com/office/drawing/2014/main" val="20000"/>
                    </a:ext>
                  </a:extLst>
                </a:gridCol>
                <a:gridCol w="1039602">
                  <a:extLst>
                    <a:ext uri="{9D8B030D-6E8A-4147-A177-3AD203B41FA5}">
                      <a16:colId xmlns:a16="http://schemas.microsoft.com/office/drawing/2014/main" val="20001"/>
                    </a:ext>
                  </a:extLst>
                </a:gridCol>
                <a:gridCol w="952978">
                  <a:extLst>
                    <a:ext uri="{9D8B030D-6E8A-4147-A177-3AD203B41FA5}">
                      <a16:colId xmlns:a16="http://schemas.microsoft.com/office/drawing/2014/main" val="20002"/>
                    </a:ext>
                  </a:extLst>
                </a:gridCol>
                <a:gridCol w="1053662">
                  <a:extLst>
                    <a:ext uri="{9D8B030D-6E8A-4147-A177-3AD203B41FA5}">
                      <a16:colId xmlns:a16="http://schemas.microsoft.com/office/drawing/2014/main" val="20003"/>
                    </a:ext>
                  </a:extLst>
                </a:gridCol>
                <a:gridCol w="871313">
                  <a:extLst>
                    <a:ext uri="{9D8B030D-6E8A-4147-A177-3AD203B41FA5}">
                      <a16:colId xmlns:a16="http://schemas.microsoft.com/office/drawing/2014/main" val="20004"/>
                    </a:ext>
                  </a:extLst>
                </a:gridCol>
                <a:gridCol w="1280479">
                  <a:extLst>
                    <a:ext uri="{9D8B030D-6E8A-4147-A177-3AD203B41FA5}">
                      <a16:colId xmlns:a16="http://schemas.microsoft.com/office/drawing/2014/main" val="20005"/>
                    </a:ext>
                  </a:extLst>
                </a:gridCol>
                <a:gridCol w="795335">
                  <a:extLst>
                    <a:ext uri="{9D8B030D-6E8A-4147-A177-3AD203B41FA5}">
                      <a16:colId xmlns:a16="http://schemas.microsoft.com/office/drawing/2014/main" val="20006"/>
                    </a:ext>
                  </a:extLst>
                </a:gridCol>
                <a:gridCol w="937329">
                  <a:extLst>
                    <a:ext uri="{9D8B030D-6E8A-4147-A177-3AD203B41FA5}">
                      <a16:colId xmlns:a16="http://schemas.microsoft.com/office/drawing/2014/main" val="20007"/>
                    </a:ext>
                  </a:extLst>
                </a:gridCol>
                <a:gridCol w="836372">
                  <a:extLst>
                    <a:ext uri="{9D8B030D-6E8A-4147-A177-3AD203B41FA5}">
                      <a16:colId xmlns:a16="http://schemas.microsoft.com/office/drawing/2014/main" val="20008"/>
                    </a:ext>
                  </a:extLst>
                </a:gridCol>
              </a:tblGrid>
              <a:tr h="1623184">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Operator operating within the exclusion zone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Debris from slope failure injures operator and damages machine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M</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(Occurs &lt;1X per </a:t>
                      </a:r>
                      <a:r>
                        <a:rPr lang="en-US" sz="1100" b="0" i="0" u="none" strike="noStrike" cap="none" dirty="0" err="1">
                          <a:solidFill>
                            <a:srgbClr val="000000"/>
                          </a:solidFill>
                          <a:latin typeface="Arial"/>
                          <a:ea typeface="Arial"/>
                          <a:cs typeface="Arial"/>
                          <a:sym typeface="Arial"/>
                        </a:rPr>
                        <a:t>yr</a:t>
                      </a:r>
                      <a:r>
                        <a:rPr lang="en-US" sz="1100" b="0" i="0" u="none" strike="noStrike" cap="none" dirty="0">
                          <a:solidFill>
                            <a:srgbClr val="000000"/>
                          </a:solidFill>
                          <a:latin typeface="Arial"/>
                          <a:ea typeface="Arial"/>
                          <a:cs typeface="Arial"/>
                          <a:sym typeface="Arial"/>
                        </a:rPr>
                        <a:t>, observed at other facilities)</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H</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(Disabling injury or loss of life)</a:t>
                      </a:r>
                      <a:endParaRPr dirty="0"/>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H</a:t>
                      </a:r>
                      <a:r>
                        <a:rPr lang="en-US" sz="1100" b="0" i="0" u="none" strike="noStrike" cap="none" dirty="0">
                          <a:solidFill>
                            <a:srgbClr val="000000"/>
                          </a:solidFill>
                          <a:latin typeface="Arial"/>
                          <a:ea typeface="Arial"/>
                          <a:cs typeface="Arial"/>
                          <a:sym typeface="Arial"/>
                        </a:rPr>
                        <a:t> </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Install protective metal cage around cab of machine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M</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(Occurs &lt;1X per </a:t>
                      </a:r>
                      <a:r>
                        <a:rPr lang="en-US" sz="1100" b="0" i="0" u="none" strike="noStrike" cap="none" dirty="0" err="1">
                          <a:solidFill>
                            <a:srgbClr val="000000"/>
                          </a:solidFill>
                          <a:latin typeface="Arial"/>
                          <a:ea typeface="Arial"/>
                          <a:cs typeface="Arial"/>
                          <a:sym typeface="Arial"/>
                        </a:rPr>
                        <a:t>yr</a:t>
                      </a:r>
                      <a:r>
                        <a:rPr lang="en-US" sz="1100" b="0" i="0" u="none" strike="noStrike" cap="none" dirty="0">
                          <a:solidFill>
                            <a:srgbClr val="000000"/>
                          </a:solidFill>
                          <a:latin typeface="Arial"/>
                          <a:ea typeface="Arial"/>
                          <a:cs typeface="Arial"/>
                          <a:sym typeface="Arial"/>
                        </a:rPr>
                        <a:t>, observed at other facilities)</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1" i="0" u="none" strike="noStrike" cap="none" dirty="0">
                          <a:solidFill>
                            <a:srgbClr val="000000"/>
                          </a:solidFill>
                          <a:latin typeface="Arial"/>
                          <a:ea typeface="Arial"/>
                          <a:cs typeface="Arial"/>
                          <a:sym typeface="Arial"/>
                        </a:rPr>
                        <a:t>L</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1" i="0" u="none" strike="noStrike" cap="none" dirty="0">
                          <a:solidFill>
                            <a:srgbClr val="000000"/>
                          </a:solidFill>
                          <a:latin typeface="Arial"/>
                          <a:ea typeface="Arial"/>
                          <a:cs typeface="Arial"/>
                          <a:sym typeface="Arial"/>
                        </a:rPr>
                        <a:t>(First Aid injury)</a:t>
                      </a:r>
                      <a:endParaRPr sz="1100" b="1"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L</a:t>
                      </a:r>
                      <a:endParaRPr sz="18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28" name="Google Shape;1430;p20">
            <a:extLst>
              <a:ext uri="{FF2B5EF4-FFF2-40B4-BE49-F238E27FC236}">
                <a16:creationId xmlns:a16="http://schemas.microsoft.com/office/drawing/2014/main" id="{AA187C55-56E0-41E2-8D45-628C0D67C0A0}"/>
              </a:ext>
            </a:extLst>
          </p:cNvPr>
          <p:cNvGraphicFramePr/>
          <p:nvPr>
            <p:extLst>
              <p:ext uri="{D42A27DB-BD31-4B8C-83A1-F6EECF244321}">
                <p14:modId xmlns:p14="http://schemas.microsoft.com/office/powerpoint/2010/main" val="3255502871"/>
              </p:ext>
            </p:extLst>
          </p:nvPr>
        </p:nvGraphicFramePr>
        <p:xfrm>
          <a:off x="180000" y="865208"/>
          <a:ext cx="8633402" cy="2684073"/>
        </p:xfrm>
        <a:graphic>
          <a:graphicData uri="http://schemas.openxmlformats.org/drawingml/2006/table">
            <a:tbl>
              <a:tblPr>
                <a:noFill/>
              </a:tblPr>
              <a:tblGrid>
                <a:gridCol w="866331">
                  <a:extLst>
                    <a:ext uri="{9D8B030D-6E8A-4147-A177-3AD203B41FA5}">
                      <a16:colId xmlns:a16="http://schemas.microsoft.com/office/drawing/2014/main" val="20000"/>
                    </a:ext>
                  </a:extLst>
                </a:gridCol>
                <a:gridCol w="1039602">
                  <a:extLst>
                    <a:ext uri="{9D8B030D-6E8A-4147-A177-3AD203B41FA5}">
                      <a16:colId xmlns:a16="http://schemas.microsoft.com/office/drawing/2014/main" val="20001"/>
                    </a:ext>
                  </a:extLst>
                </a:gridCol>
                <a:gridCol w="952979">
                  <a:extLst>
                    <a:ext uri="{9D8B030D-6E8A-4147-A177-3AD203B41FA5}">
                      <a16:colId xmlns:a16="http://schemas.microsoft.com/office/drawing/2014/main" val="20002"/>
                    </a:ext>
                  </a:extLst>
                </a:gridCol>
                <a:gridCol w="1053662">
                  <a:extLst>
                    <a:ext uri="{9D8B030D-6E8A-4147-A177-3AD203B41FA5}">
                      <a16:colId xmlns:a16="http://schemas.microsoft.com/office/drawing/2014/main" val="20003"/>
                    </a:ext>
                  </a:extLst>
                </a:gridCol>
                <a:gridCol w="854983">
                  <a:extLst>
                    <a:ext uri="{9D8B030D-6E8A-4147-A177-3AD203B41FA5}">
                      <a16:colId xmlns:a16="http://schemas.microsoft.com/office/drawing/2014/main" val="20004"/>
                    </a:ext>
                  </a:extLst>
                </a:gridCol>
                <a:gridCol w="1296809">
                  <a:extLst>
                    <a:ext uri="{9D8B030D-6E8A-4147-A177-3AD203B41FA5}">
                      <a16:colId xmlns:a16="http://schemas.microsoft.com/office/drawing/2014/main" val="20005"/>
                    </a:ext>
                  </a:extLst>
                </a:gridCol>
                <a:gridCol w="795335">
                  <a:extLst>
                    <a:ext uri="{9D8B030D-6E8A-4147-A177-3AD203B41FA5}">
                      <a16:colId xmlns:a16="http://schemas.microsoft.com/office/drawing/2014/main" val="20006"/>
                    </a:ext>
                  </a:extLst>
                </a:gridCol>
                <a:gridCol w="937329">
                  <a:extLst>
                    <a:ext uri="{9D8B030D-6E8A-4147-A177-3AD203B41FA5}">
                      <a16:colId xmlns:a16="http://schemas.microsoft.com/office/drawing/2014/main" val="20007"/>
                    </a:ext>
                  </a:extLst>
                </a:gridCol>
                <a:gridCol w="836372">
                  <a:extLst>
                    <a:ext uri="{9D8B030D-6E8A-4147-A177-3AD203B41FA5}">
                      <a16:colId xmlns:a16="http://schemas.microsoft.com/office/drawing/2014/main" val="20008"/>
                    </a:ext>
                  </a:extLst>
                </a:gridCol>
              </a:tblGrid>
              <a:tr h="1040233">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a:solidFill>
                            <a:srgbClr val="0033CC"/>
                          </a:solidFill>
                          <a:latin typeface="Arial"/>
                          <a:ea typeface="Arial"/>
                          <a:cs typeface="Arial"/>
                          <a:sym typeface="Arial"/>
                        </a:rPr>
                        <a:t>Activity</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a:solidFill>
                            <a:srgbClr val="0033CC"/>
                          </a:solidFill>
                          <a:latin typeface="Arial"/>
                          <a:ea typeface="Arial"/>
                          <a:cs typeface="Arial"/>
                          <a:sym typeface="Arial"/>
                        </a:rPr>
                        <a:t>Deviation/</a:t>
                      </a:r>
                      <a:endParaRPr sz="1100"/>
                    </a:p>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a:solidFill>
                            <a:srgbClr val="0033CC"/>
                          </a:solidFill>
                          <a:latin typeface="Arial"/>
                          <a:ea typeface="Arial"/>
                          <a:cs typeface="Arial"/>
                          <a:sym typeface="Arial"/>
                        </a:rPr>
                        <a:t>Concern</a:t>
                      </a:r>
                      <a:endParaRPr sz="1100" b="0" i="0" u="none" strike="noStrike" cap="none">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a:solidFill>
                            <a:srgbClr val="0033CC"/>
                          </a:solidFill>
                          <a:latin typeface="Arial"/>
                          <a:ea typeface="Arial"/>
                          <a:cs typeface="Arial"/>
                          <a:sym typeface="Arial"/>
                        </a:rPr>
                        <a:t>Likelihood</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err="1">
                          <a:solidFill>
                            <a:srgbClr val="0033CC"/>
                          </a:solidFill>
                          <a:latin typeface="Arial"/>
                          <a:ea typeface="Arial"/>
                          <a:cs typeface="Arial"/>
                          <a:sym typeface="Arial"/>
                        </a:rPr>
                        <a:t>Conse-quence</a:t>
                      </a:r>
                      <a:r>
                        <a:rPr lang="en-US" sz="1100" b="1" i="0" u="none" strike="noStrike" cap="none" dirty="0">
                          <a:solidFill>
                            <a:srgbClr val="0033CC"/>
                          </a:solidFill>
                          <a:latin typeface="Arial"/>
                          <a:ea typeface="Arial"/>
                          <a:cs typeface="Arial"/>
                          <a:sym typeface="Arial"/>
                        </a:rPr>
                        <a:t> </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a:solidFill>
                            <a:srgbClr val="0033CC"/>
                          </a:solidFill>
                          <a:latin typeface="Arial"/>
                          <a:ea typeface="Arial"/>
                          <a:cs typeface="Arial"/>
                          <a:sym typeface="Arial"/>
                        </a:rPr>
                        <a:t>Risk Before Control Measures</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a:solidFill>
                            <a:srgbClr val="0033CC"/>
                          </a:solidFill>
                          <a:latin typeface="Arial"/>
                          <a:ea typeface="Arial"/>
                          <a:cs typeface="Arial"/>
                          <a:sym typeface="Arial"/>
                        </a:rPr>
                        <a:t>Control Measures / Safeguards</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err="1">
                          <a:solidFill>
                            <a:srgbClr val="0033CC"/>
                          </a:solidFill>
                          <a:latin typeface="Arial"/>
                          <a:ea typeface="Arial"/>
                          <a:cs typeface="Arial"/>
                          <a:sym typeface="Arial"/>
                        </a:rPr>
                        <a:t>Likeli</a:t>
                      </a:r>
                      <a:r>
                        <a:rPr lang="en-US" sz="1100" b="1" i="0" u="none" strike="noStrike" cap="none" dirty="0">
                          <a:solidFill>
                            <a:srgbClr val="0033CC"/>
                          </a:solidFill>
                          <a:latin typeface="Arial"/>
                          <a:ea typeface="Arial"/>
                          <a:cs typeface="Arial"/>
                          <a:sym typeface="Arial"/>
                        </a:rPr>
                        <a:t>-hood After Control Measure</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err="1">
                          <a:solidFill>
                            <a:srgbClr val="0033CC"/>
                          </a:solidFill>
                          <a:latin typeface="Arial"/>
                          <a:ea typeface="Arial"/>
                          <a:cs typeface="Arial"/>
                          <a:sym typeface="Arial"/>
                        </a:rPr>
                        <a:t>Conse-quence</a:t>
                      </a:r>
                      <a:r>
                        <a:rPr lang="en-US" sz="1100" b="1" i="0" u="none" strike="noStrike" cap="none" dirty="0">
                          <a:solidFill>
                            <a:srgbClr val="0033CC"/>
                          </a:solidFill>
                          <a:latin typeface="Arial"/>
                          <a:ea typeface="Arial"/>
                          <a:cs typeface="Arial"/>
                          <a:sym typeface="Arial"/>
                        </a:rPr>
                        <a:t> After Control Measure </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a:solidFill>
                            <a:srgbClr val="0033CC"/>
                          </a:solidFill>
                          <a:latin typeface="Arial"/>
                          <a:ea typeface="Arial"/>
                          <a:cs typeface="Arial"/>
                          <a:sym typeface="Arial"/>
                        </a:rPr>
                        <a:t>Residual Risk After Control Measures</a:t>
                      </a:r>
                      <a:endParaRPr sz="1100" b="0" i="0" u="none" strike="noStrike" cap="none">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643840">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Operator operating within the exclusion zone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Debris from slope failure injures operator and damages machine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endParaRPr lang="en-US" sz="11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715"/>
                        <a:buFont typeface="Noto Sans Symbols"/>
                        <a:buNone/>
                      </a:pPr>
                      <a:endParaRPr lang="en-US" sz="11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M</a:t>
                      </a:r>
                      <a:endParaRPr sz="11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(Occurs &lt;1X per </a:t>
                      </a:r>
                      <a:r>
                        <a:rPr lang="en-US" sz="1100" b="0" i="0" u="none" strike="noStrike" cap="none" dirty="0" err="1">
                          <a:solidFill>
                            <a:srgbClr val="000000"/>
                          </a:solidFill>
                          <a:latin typeface="Arial"/>
                          <a:ea typeface="Arial"/>
                          <a:cs typeface="Arial"/>
                          <a:sym typeface="Arial"/>
                        </a:rPr>
                        <a:t>yr</a:t>
                      </a:r>
                      <a:r>
                        <a:rPr lang="en-US" sz="1100" b="0" i="0" u="none" strike="noStrike" cap="none" dirty="0">
                          <a:solidFill>
                            <a:srgbClr val="000000"/>
                          </a:solidFill>
                          <a:latin typeface="Arial"/>
                          <a:ea typeface="Arial"/>
                          <a:cs typeface="Arial"/>
                          <a:sym typeface="Arial"/>
                        </a:rPr>
                        <a:t>, observed at other facilities)</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endParaRPr lang="en-US" sz="11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715"/>
                        <a:buFont typeface="Noto Sans Symbols"/>
                        <a:buNone/>
                      </a:pPr>
                      <a:endParaRPr lang="en-US" sz="11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H</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(Disabling injury or loss of life)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H</a:t>
                      </a:r>
                      <a:r>
                        <a:rPr lang="en-US" sz="1100" b="0" i="0" u="none" strike="noStrike" cap="none" dirty="0">
                          <a:solidFill>
                            <a:srgbClr val="000000"/>
                          </a:solidFill>
                          <a:latin typeface="Arial"/>
                          <a:ea typeface="Arial"/>
                          <a:cs typeface="Arial"/>
                          <a:sym typeface="Arial"/>
                        </a:rPr>
                        <a:t> </a:t>
                      </a:r>
                      <a:endParaRPr sz="1100" dirty="0"/>
                    </a:p>
                    <a:p>
                      <a:pPr marL="0" marR="0" lvl="0" indent="0" algn="ctr" rtl="0">
                        <a:lnSpc>
                          <a:spcPct val="100000"/>
                        </a:lnSpc>
                        <a:spcBef>
                          <a:spcPts val="220"/>
                        </a:spcBef>
                        <a:spcAft>
                          <a:spcPts val="0"/>
                        </a:spcAft>
                        <a:buClr>
                          <a:schemeClr val="dk2"/>
                        </a:buClr>
                        <a:buSzPts val="715"/>
                        <a:buFont typeface="Noto Sans Symbols"/>
                        <a:buNone/>
                      </a:pPr>
                      <a:endParaRPr sz="1100" b="0" i="0" u="none" strike="noStrike" cap="none" dirty="0">
                        <a:solidFill>
                          <a:srgbClr val="000000"/>
                        </a:solidFill>
                        <a:latin typeface="Arial"/>
                        <a:ea typeface="Arial"/>
                        <a:cs typeface="Arial"/>
                        <a:sym typeface="Arial"/>
                      </a:endParaRPr>
                    </a:p>
                    <a:p>
                      <a:pPr marL="0" marR="0" lvl="0" indent="0" algn="ctr" rtl="0">
                        <a:lnSpc>
                          <a:spcPct val="100000"/>
                        </a:lnSpc>
                        <a:spcBef>
                          <a:spcPts val="220"/>
                        </a:spcBef>
                        <a:spcAft>
                          <a:spcPts val="0"/>
                        </a:spcAft>
                        <a:buClr>
                          <a:schemeClr val="dk2"/>
                        </a:buClr>
                        <a:buSzPts val="715"/>
                        <a:buFont typeface="Noto Sans Symbols"/>
                        <a:buNone/>
                      </a:pPr>
                      <a:endParaRPr sz="1100" b="0" i="0" u="none" strike="noStrike" cap="none" dirty="0">
                        <a:solidFill>
                          <a:srgbClr val="000000"/>
                        </a:solidFill>
                        <a:latin typeface="Arial"/>
                        <a:ea typeface="Arial"/>
                        <a:cs typeface="Arial"/>
                        <a:sym typeface="Arial"/>
                      </a:endParaRPr>
                    </a:p>
                    <a:p>
                      <a:pPr marL="0" marR="0" lvl="0" indent="0" algn="ctr" rtl="0">
                        <a:lnSpc>
                          <a:spcPct val="100000"/>
                        </a:lnSpc>
                        <a:spcBef>
                          <a:spcPts val="220"/>
                        </a:spcBef>
                        <a:spcAft>
                          <a:spcPts val="0"/>
                        </a:spcAft>
                        <a:buClr>
                          <a:schemeClr val="dk2"/>
                        </a:buClr>
                        <a:buSzPts val="715"/>
                        <a:buFont typeface="Noto Sans Symbols"/>
                        <a:buNone/>
                      </a:pPr>
                      <a:endParaRPr sz="1100" b="0" i="0" u="none" strike="noStrike" cap="none" dirty="0">
                        <a:solidFill>
                          <a:srgbClr val="000000"/>
                        </a:solidFill>
                        <a:latin typeface="Arial"/>
                        <a:ea typeface="Arial"/>
                        <a:cs typeface="Arial"/>
                        <a:sym typeface="Arial"/>
                      </a:endParaRPr>
                    </a:p>
                    <a:p>
                      <a:pPr marL="0" marR="0" lvl="0" indent="0" algn="ctr" rtl="0">
                        <a:lnSpc>
                          <a:spcPct val="100000"/>
                        </a:lnSpc>
                        <a:spcBef>
                          <a:spcPts val="220"/>
                        </a:spcBef>
                        <a:spcAft>
                          <a:spcPts val="0"/>
                        </a:spcAft>
                        <a:buClr>
                          <a:schemeClr val="dk2"/>
                        </a:buClr>
                        <a:buSzPts val="715"/>
                        <a:buFont typeface="Noto Sans Symbols"/>
                        <a:buNone/>
                      </a:pP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Institute an auditory alarm trigger for the slope monitoring system</a:t>
                      </a:r>
                      <a:endParaRPr sz="1100" dirty="0"/>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1" i="0" u="none" strike="noStrike" cap="none" dirty="0">
                          <a:solidFill>
                            <a:srgbClr val="000000"/>
                          </a:solidFill>
                          <a:latin typeface="Arial"/>
                          <a:ea typeface="Arial"/>
                          <a:cs typeface="Arial"/>
                          <a:sym typeface="Arial"/>
                        </a:rPr>
                        <a:t>L</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1" i="0" u="none" strike="noStrike" cap="none" dirty="0">
                          <a:solidFill>
                            <a:srgbClr val="000000"/>
                          </a:solidFill>
                          <a:latin typeface="Arial"/>
                          <a:ea typeface="Arial"/>
                          <a:cs typeface="Arial"/>
                          <a:sym typeface="Arial"/>
                        </a:rPr>
                        <a:t>(Occurs &lt;1x in 10 </a:t>
                      </a:r>
                      <a:r>
                        <a:rPr lang="en-US" sz="1100" b="1" i="0" u="none" strike="noStrike" cap="none" dirty="0" err="1">
                          <a:solidFill>
                            <a:srgbClr val="000000"/>
                          </a:solidFill>
                          <a:latin typeface="Arial"/>
                          <a:ea typeface="Arial"/>
                          <a:cs typeface="Arial"/>
                          <a:sym typeface="Arial"/>
                        </a:rPr>
                        <a:t>yrs</a:t>
                      </a:r>
                      <a:r>
                        <a:rPr lang="en-US" sz="1100" b="1" i="0" u="none" strike="noStrike" cap="none" dirty="0">
                          <a:solidFill>
                            <a:srgbClr val="000000"/>
                          </a:solidFill>
                          <a:latin typeface="Arial"/>
                          <a:ea typeface="Arial"/>
                          <a:cs typeface="Arial"/>
                          <a:sym typeface="Arial"/>
                        </a:rPr>
                        <a:t>)</a:t>
                      </a:r>
                      <a:endParaRPr sz="1100" b="1"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H</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(Disabling injury or loss of life)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M</a:t>
                      </a:r>
                      <a:endParaRPr sz="18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29" name="Google Shape;1433;p20">
            <a:extLst>
              <a:ext uri="{FF2B5EF4-FFF2-40B4-BE49-F238E27FC236}">
                <a16:creationId xmlns:a16="http://schemas.microsoft.com/office/drawing/2014/main" id="{851C500C-A916-48A2-874B-0C1E13057784}"/>
              </a:ext>
            </a:extLst>
          </p:cNvPr>
          <p:cNvSpPr/>
          <p:nvPr/>
        </p:nvSpPr>
        <p:spPr>
          <a:xfrm>
            <a:off x="4273100" y="2291555"/>
            <a:ext cx="381800" cy="351614"/>
          </a:xfrm>
          <a:prstGeom prst="up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0" name="Google Shape;1434;p20">
            <a:extLst>
              <a:ext uri="{FF2B5EF4-FFF2-40B4-BE49-F238E27FC236}">
                <a16:creationId xmlns:a16="http://schemas.microsoft.com/office/drawing/2014/main" id="{87203649-5571-4174-A53E-1648E140F275}"/>
              </a:ext>
            </a:extLst>
          </p:cNvPr>
          <p:cNvSpPr txBox="1"/>
          <p:nvPr/>
        </p:nvSpPr>
        <p:spPr>
          <a:xfrm>
            <a:off x="2166440" y="1098139"/>
            <a:ext cx="684145"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dirty="0">
                <a:solidFill>
                  <a:srgbClr val="FF0000"/>
                </a:solidFill>
                <a:latin typeface="Arial"/>
                <a:ea typeface="Arial"/>
                <a:cs typeface="Arial"/>
                <a:sym typeface="Arial"/>
              </a:rPr>
              <a:t>From Risk Criteria Table</a:t>
            </a:r>
            <a:endParaRPr sz="1100" dirty="0">
              <a:solidFill>
                <a:srgbClr val="FF0000"/>
              </a:solidFill>
              <a:latin typeface="Arial"/>
              <a:ea typeface="Arial"/>
              <a:cs typeface="Arial"/>
              <a:sym typeface="Arial"/>
            </a:endParaRPr>
          </a:p>
        </p:txBody>
      </p:sp>
      <p:sp>
        <p:nvSpPr>
          <p:cNvPr id="31" name="Google Shape;1435;p20">
            <a:extLst>
              <a:ext uri="{FF2B5EF4-FFF2-40B4-BE49-F238E27FC236}">
                <a16:creationId xmlns:a16="http://schemas.microsoft.com/office/drawing/2014/main" id="{71773569-8D1D-4594-A59D-20852F2C0500}"/>
              </a:ext>
            </a:extLst>
          </p:cNvPr>
          <p:cNvSpPr txBox="1"/>
          <p:nvPr/>
        </p:nvSpPr>
        <p:spPr>
          <a:xfrm>
            <a:off x="3093040" y="1236394"/>
            <a:ext cx="838200" cy="6001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dirty="0">
                <a:solidFill>
                  <a:srgbClr val="FF0000"/>
                </a:solidFill>
                <a:latin typeface="Arial"/>
                <a:ea typeface="Arial"/>
                <a:cs typeface="Arial"/>
                <a:sym typeface="Arial"/>
              </a:rPr>
              <a:t>From Risk Criteria Table</a:t>
            </a:r>
            <a:endParaRPr sz="1100" dirty="0">
              <a:solidFill>
                <a:srgbClr val="FF0000"/>
              </a:solidFill>
              <a:latin typeface="Arial"/>
              <a:ea typeface="Arial"/>
              <a:cs typeface="Arial"/>
              <a:sym typeface="Arial"/>
            </a:endParaRPr>
          </a:p>
        </p:txBody>
      </p:sp>
      <p:sp>
        <p:nvSpPr>
          <p:cNvPr id="32" name="Google Shape;1436;p20">
            <a:extLst>
              <a:ext uri="{FF2B5EF4-FFF2-40B4-BE49-F238E27FC236}">
                <a16:creationId xmlns:a16="http://schemas.microsoft.com/office/drawing/2014/main" id="{8608DB26-491A-477C-82B0-EB3F285823BE}"/>
              </a:ext>
            </a:extLst>
          </p:cNvPr>
          <p:cNvSpPr txBox="1"/>
          <p:nvPr/>
        </p:nvSpPr>
        <p:spPr>
          <a:xfrm>
            <a:off x="4044900" y="2750780"/>
            <a:ext cx="838200"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dirty="0">
                <a:solidFill>
                  <a:srgbClr val="FF0000"/>
                </a:solidFill>
                <a:latin typeface="Arial"/>
                <a:ea typeface="Arial"/>
                <a:cs typeface="Arial"/>
                <a:sym typeface="Arial"/>
              </a:rPr>
              <a:t>From Risk Matrix</a:t>
            </a:r>
            <a:endParaRPr sz="1100" dirty="0">
              <a:solidFill>
                <a:srgbClr val="FF0000"/>
              </a:solidFill>
              <a:latin typeface="Arial"/>
              <a:ea typeface="Arial"/>
              <a:cs typeface="Arial"/>
              <a:sym typeface="Arial"/>
            </a:endParaRPr>
          </a:p>
        </p:txBody>
      </p:sp>
      <p:sp>
        <p:nvSpPr>
          <p:cNvPr id="34" name="Google Shape;1433;p20">
            <a:extLst>
              <a:ext uri="{FF2B5EF4-FFF2-40B4-BE49-F238E27FC236}">
                <a16:creationId xmlns:a16="http://schemas.microsoft.com/office/drawing/2014/main" id="{9D6018AC-931D-406E-B27D-E02C393DE194}"/>
              </a:ext>
            </a:extLst>
          </p:cNvPr>
          <p:cNvSpPr/>
          <p:nvPr/>
        </p:nvSpPr>
        <p:spPr>
          <a:xfrm>
            <a:off x="2353074" y="1875321"/>
            <a:ext cx="427606" cy="452748"/>
          </a:xfrm>
          <a:prstGeom prst="downArrow">
            <a:avLst/>
          </a:prstGeom>
          <a:solidFill>
            <a:srgbClr val="FF0000"/>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5" name="Google Shape;1433;p20">
            <a:extLst>
              <a:ext uri="{FF2B5EF4-FFF2-40B4-BE49-F238E27FC236}">
                <a16:creationId xmlns:a16="http://schemas.microsoft.com/office/drawing/2014/main" id="{17F4D95A-A7BE-4A75-A153-1FC5430E645F}"/>
              </a:ext>
            </a:extLst>
          </p:cNvPr>
          <p:cNvSpPr/>
          <p:nvPr/>
        </p:nvSpPr>
        <p:spPr>
          <a:xfrm>
            <a:off x="3337247" y="1857994"/>
            <a:ext cx="427606" cy="452748"/>
          </a:xfrm>
          <a:prstGeom prst="downArrow">
            <a:avLst/>
          </a:prstGeom>
          <a:solidFill>
            <a:srgbClr val="FF0000"/>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 name="Rectangular Callout 2"/>
          <p:cNvSpPr/>
          <p:nvPr/>
        </p:nvSpPr>
        <p:spPr>
          <a:xfrm>
            <a:off x="5046385" y="2882536"/>
            <a:ext cx="1178066" cy="598261"/>
          </a:xfrm>
          <a:prstGeom prst="wedgeRectCallout">
            <a:avLst>
              <a:gd name="adj1" fmla="val 75118"/>
              <a:gd name="adj2" fmla="val -172483"/>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This CM reduces L</a:t>
            </a:r>
          </a:p>
        </p:txBody>
      </p:sp>
      <p:sp>
        <p:nvSpPr>
          <p:cNvPr id="16" name="Rectangular Callout 15"/>
          <p:cNvSpPr/>
          <p:nvPr/>
        </p:nvSpPr>
        <p:spPr>
          <a:xfrm>
            <a:off x="5046385" y="4553510"/>
            <a:ext cx="1178066" cy="598261"/>
          </a:xfrm>
          <a:prstGeom prst="wedgeRectCallout">
            <a:avLst>
              <a:gd name="adj1" fmla="val 139985"/>
              <a:gd name="adj2" fmla="val -162658"/>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This CM reduces C</a:t>
            </a:r>
          </a:p>
        </p:txBody>
      </p:sp>
    </p:spTree>
    <p:extLst>
      <p:ext uri="{BB962C8B-B14F-4D97-AF65-F5344CB8AC3E}">
        <p14:creationId xmlns:p14="http://schemas.microsoft.com/office/powerpoint/2010/main" val="925183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4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lang="en-CA" altLang="en-US" sz="14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4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r>
              <a:rPr kumimoji="0" lang="en-CA" altLang="en-US" sz="14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Practical Application:</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each Activity, there may be one or more Deviations / Concerns.</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Assess the Likelihood, Impact (Consequences), and Risk Before Control Measures are implemented.</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Define (and implement) the Control Measures.</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Assess the Likelihood with or after Control Measures have been implemented.</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Assess the Impact with or after Control Measures have been implemented.</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Determine the Risk Level with or after Control Measures have been implemented, sometimes called the Residual Risk.</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this Residual Risk acceptable to Proceed?</a:t>
            </a: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r>
              <a:rPr kumimoji="0" lang="en-CA" altLang="en-US" sz="18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all cases, </a:t>
            </a:r>
            <a:r>
              <a:rPr kumimoji="0" lang="en-CA" altLang="en-US" sz="1800" b="1"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a:t>
            </a:r>
            <a:r>
              <a:rPr kumimoji="0" lang="en-CA" altLang="en-US" sz="18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control measures </a:t>
            </a:r>
            <a:r>
              <a:rPr kumimoji="0" lang="en-CA" altLang="en-US" sz="1800" b="1"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effective</a:t>
            </a:r>
            <a:r>
              <a:rPr kumimoji="0" lang="en-CA" altLang="en-US" sz="18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1800" b="1"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then</a:t>
            </a:r>
            <a:r>
              <a:rPr kumimoji="0" lang="en-CA" altLang="en-US" sz="18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residual risk level </a:t>
            </a:r>
            <a:r>
              <a:rPr kumimoji="0" lang="en-CA" altLang="en-US" sz="1800" b="1"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should decrease</a:t>
            </a:r>
            <a:r>
              <a:rPr kumimoji="0" lang="en-CA" altLang="en-US" sz="18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1800" b="1"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a:t>
            </a:r>
            <a:r>
              <a:rPr kumimoji="0" lang="en-CA" altLang="en-US" sz="18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control measures are </a:t>
            </a:r>
            <a:r>
              <a:rPr kumimoji="0" lang="en-CA" altLang="en-US" sz="1800" b="1"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 effective</a:t>
            </a:r>
            <a:r>
              <a:rPr kumimoji="0" lang="en-CA" altLang="en-US" sz="18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then </a:t>
            </a:r>
            <a:r>
              <a:rPr kumimoji="0" lang="en-CA" altLang="en-US" sz="1800" b="1"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 change</a:t>
            </a:r>
            <a:r>
              <a:rPr kumimoji="0" lang="en-CA" altLang="en-US" sz="18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Rectangle 3"/>
          <p:cNvSpPr>
            <a:spLocks noChangeArrowheads="1"/>
          </p:cNvSpPr>
          <p:nvPr/>
        </p:nvSpPr>
        <p:spPr bwMode="auto">
          <a:xfrm>
            <a:off x="180000" y="786485"/>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Semi-Quantitative Risk Assessment:</a:t>
            </a:r>
          </a:p>
        </p:txBody>
      </p:sp>
      <p:graphicFrame>
        <p:nvGraphicFramePr>
          <p:cNvPr id="14" name="Table 13"/>
          <p:cNvGraphicFramePr>
            <a:graphicFrameLocks noGrp="1"/>
          </p:cNvGraphicFramePr>
          <p:nvPr>
            <p:extLst>
              <p:ext uri="{D42A27DB-BD31-4B8C-83A1-F6EECF244321}">
                <p14:modId xmlns:p14="http://schemas.microsoft.com/office/powerpoint/2010/main" val="2082286045"/>
              </p:ext>
            </p:extLst>
          </p:nvPr>
        </p:nvGraphicFramePr>
        <p:xfrm>
          <a:off x="88652" y="802390"/>
          <a:ext cx="8868340" cy="1869025"/>
        </p:xfrm>
        <a:graphic>
          <a:graphicData uri="http://schemas.openxmlformats.org/drawingml/2006/table">
            <a:tbl>
              <a:tblPr/>
              <a:tblGrid>
                <a:gridCol w="899844">
                  <a:extLst>
                    <a:ext uri="{9D8B030D-6E8A-4147-A177-3AD203B41FA5}">
                      <a16:colId xmlns:a16="http://schemas.microsoft.com/office/drawing/2014/main" val="3350495733"/>
                    </a:ext>
                  </a:extLst>
                </a:gridCol>
                <a:gridCol w="899844">
                  <a:extLst>
                    <a:ext uri="{9D8B030D-6E8A-4147-A177-3AD203B41FA5}">
                      <a16:colId xmlns:a16="http://schemas.microsoft.com/office/drawing/2014/main" val="788624471"/>
                    </a:ext>
                  </a:extLst>
                </a:gridCol>
                <a:gridCol w="899844">
                  <a:extLst>
                    <a:ext uri="{9D8B030D-6E8A-4147-A177-3AD203B41FA5}">
                      <a16:colId xmlns:a16="http://schemas.microsoft.com/office/drawing/2014/main" val="1126100611"/>
                    </a:ext>
                  </a:extLst>
                </a:gridCol>
                <a:gridCol w="563757">
                  <a:extLst>
                    <a:ext uri="{9D8B030D-6E8A-4147-A177-3AD203B41FA5}">
                      <a16:colId xmlns:a16="http://schemas.microsoft.com/office/drawing/2014/main" val="894614678"/>
                    </a:ext>
                  </a:extLst>
                </a:gridCol>
                <a:gridCol w="910685">
                  <a:extLst>
                    <a:ext uri="{9D8B030D-6E8A-4147-A177-3AD203B41FA5}">
                      <a16:colId xmlns:a16="http://schemas.microsoft.com/office/drawing/2014/main" val="1436810623"/>
                    </a:ext>
                  </a:extLst>
                </a:gridCol>
                <a:gridCol w="1008259">
                  <a:extLst>
                    <a:ext uri="{9D8B030D-6E8A-4147-A177-3AD203B41FA5}">
                      <a16:colId xmlns:a16="http://schemas.microsoft.com/office/drawing/2014/main" val="1862085159"/>
                    </a:ext>
                  </a:extLst>
                </a:gridCol>
                <a:gridCol w="1040783">
                  <a:extLst>
                    <a:ext uri="{9D8B030D-6E8A-4147-A177-3AD203B41FA5}">
                      <a16:colId xmlns:a16="http://schemas.microsoft.com/office/drawing/2014/main" val="2553280483"/>
                    </a:ext>
                  </a:extLst>
                </a:gridCol>
                <a:gridCol w="1008259">
                  <a:extLst>
                    <a:ext uri="{9D8B030D-6E8A-4147-A177-3AD203B41FA5}">
                      <a16:colId xmlns:a16="http://schemas.microsoft.com/office/drawing/2014/main" val="2438800930"/>
                    </a:ext>
                  </a:extLst>
                </a:gridCol>
                <a:gridCol w="910685">
                  <a:extLst>
                    <a:ext uri="{9D8B030D-6E8A-4147-A177-3AD203B41FA5}">
                      <a16:colId xmlns:a16="http://schemas.microsoft.com/office/drawing/2014/main" val="1126472793"/>
                    </a:ext>
                  </a:extLst>
                </a:gridCol>
                <a:gridCol w="726380">
                  <a:extLst>
                    <a:ext uri="{9D8B030D-6E8A-4147-A177-3AD203B41FA5}">
                      <a16:colId xmlns:a16="http://schemas.microsoft.com/office/drawing/2014/main" val="2176342193"/>
                    </a:ext>
                  </a:extLst>
                </a:gridCol>
              </a:tblGrid>
              <a:tr h="284046">
                <a:tc gridSpan="10">
                  <a:txBody>
                    <a:bodyPr/>
                    <a:lstStyle/>
                    <a:p>
                      <a:pPr algn="ctr" fontAlgn="ctr"/>
                      <a:r>
                        <a:rPr lang="en-US" sz="1100" b="1" i="0" u="sng" strike="noStrike">
                          <a:effectLst/>
                          <a:latin typeface="Arial" panose="020B0604020202020204" pitchFamily="34" charset="0"/>
                        </a:rPr>
                        <a:t>SEMI-QUANTITATVE RISK ASSESSMENT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9011942"/>
                  </a:ext>
                </a:extLst>
              </a:tr>
              <a:tr h="818054">
                <a:tc>
                  <a:txBody>
                    <a:bodyPr/>
                    <a:lstStyle/>
                    <a:p>
                      <a:pPr algn="ctr" fontAlgn="ctr"/>
                      <a:r>
                        <a:rPr lang="en-US" sz="1100" b="1" i="0" u="none" strike="noStrike" dirty="0">
                          <a:effectLst/>
                          <a:latin typeface="Arial" panose="020B0604020202020204" pitchFamily="34" charset="0"/>
                        </a:rPr>
                        <a:t>Activity</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Deviations and Concerns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dirty="0">
                          <a:effectLst/>
                          <a:latin typeface="Arial" panose="020B0604020202020204" pitchFamily="34" charset="0"/>
                        </a:rPr>
                        <a:t>Likelihood</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Risk Level Before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Likelihood with or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 with or after Control Measures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Risk Level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Proceed? Y/N</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83524930"/>
                  </a:ext>
                </a:extLst>
              </a:tr>
              <a:tr h="766925">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62182498"/>
                  </a:ext>
                </a:extLst>
              </a:tr>
            </a:tbl>
          </a:graphicData>
        </a:graphic>
      </p:graphicFrame>
      <p:sp>
        <p:nvSpPr>
          <p:cNvPr id="18" name="TextBox 17"/>
          <p:cNvSpPr txBox="1"/>
          <p:nvPr/>
        </p:nvSpPr>
        <p:spPr>
          <a:xfrm>
            <a:off x="3291357" y="2236765"/>
            <a:ext cx="972000" cy="468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HIGH</a:t>
            </a:r>
          </a:p>
        </p:txBody>
      </p:sp>
      <p:sp>
        <p:nvSpPr>
          <p:cNvPr id="19" name="TextBox 18"/>
          <p:cNvSpPr txBox="1"/>
          <p:nvPr/>
        </p:nvSpPr>
        <p:spPr>
          <a:xfrm>
            <a:off x="7236000" y="2236765"/>
            <a:ext cx="972000" cy="4680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LOW</a:t>
            </a:r>
          </a:p>
        </p:txBody>
      </p:sp>
      <p:sp>
        <p:nvSpPr>
          <p:cNvPr id="20" name="Rectangle 19"/>
          <p:cNvSpPr/>
          <p:nvPr/>
        </p:nvSpPr>
        <p:spPr>
          <a:xfrm>
            <a:off x="8387675" y="2247851"/>
            <a:ext cx="389851"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rPr>
              <a:t>Y</a:t>
            </a:r>
          </a:p>
        </p:txBody>
      </p:sp>
      <p:cxnSp>
        <p:nvCxnSpPr>
          <p:cNvPr id="21" name="Curved Connector 20"/>
          <p:cNvCxnSpPr>
            <a:stCxn id="18" idx="0"/>
            <a:endCxn id="19" idx="0"/>
          </p:cNvCxnSpPr>
          <p:nvPr/>
        </p:nvCxnSpPr>
        <p:spPr>
          <a:xfrm rot="5400000" flipH="1" flipV="1">
            <a:off x="5749678" y="264444"/>
            <a:ext cx="12700" cy="3944643"/>
          </a:xfrm>
          <a:prstGeom prst="curvedConnector3">
            <a:avLst>
              <a:gd name="adj1" fmla="val 2580724"/>
            </a:avLst>
          </a:prstGeom>
          <a:ln w="762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sp>
        <p:nvSpPr>
          <p:cNvPr id="13" name="TextBox 12"/>
          <p:cNvSpPr txBox="1"/>
          <p:nvPr/>
        </p:nvSpPr>
        <p:spPr>
          <a:xfrm>
            <a:off x="2665691" y="2731246"/>
            <a:ext cx="3668617" cy="830997"/>
          </a:xfrm>
          <a:prstGeom prst="rect">
            <a:avLst/>
          </a:prstGeom>
          <a:solidFill>
            <a:srgbClr val="FFFF00"/>
          </a:solidFill>
          <a:ln>
            <a:solidFill>
              <a:schemeClr val="tx1"/>
            </a:solidFill>
          </a:ln>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a:ln>
                  <a:noFill/>
                </a:ln>
                <a:solidFill>
                  <a:srgbClr val="000000"/>
                </a:solidFill>
                <a:effectLst/>
                <a:uLnTx/>
                <a:uFillTx/>
                <a:latin typeface="Arial"/>
                <a:ea typeface="+mn-ea"/>
                <a:cs typeface="+mn-cs"/>
              </a:rPr>
              <a:t>What are you doing?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a:ln>
                  <a:noFill/>
                </a:ln>
                <a:solidFill>
                  <a:srgbClr val="000000"/>
                </a:solidFill>
                <a:effectLst/>
                <a:uLnTx/>
                <a:uFillTx/>
                <a:latin typeface="Arial"/>
                <a:ea typeface="+mn-ea"/>
                <a:cs typeface="+mn-cs"/>
              </a:rPr>
              <a:t>What can go wrong?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a:ln>
                  <a:noFill/>
                </a:ln>
                <a:solidFill>
                  <a:srgbClr val="000000"/>
                </a:solidFill>
                <a:effectLst/>
                <a:uLnTx/>
                <a:uFillTx/>
                <a:latin typeface="Arial"/>
                <a:ea typeface="+mn-ea"/>
                <a:cs typeface="+mn-cs"/>
              </a:rPr>
              <a:t>What are you going to do about it?</a:t>
            </a:r>
          </a:p>
        </p:txBody>
      </p:sp>
    </p:spTree>
    <p:extLst>
      <p:ext uri="{BB962C8B-B14F-4D97-AF65-F5344CB8AC3E}">
        <p14:creationId xmlns:p14="http://schemas.microsoft.com/office/powerpoint/2010/main" val="57969651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a:spLocks noChangeArrowheads="1"/>
          </p:cNvSpPr>
          <p:nvPr/>
        </p:nvSpPr>
        <p:spPr bwMode="auto">
          <a:xfrm>
            <a:off x="180000" y="828000"/>
            <a:ext cx="8640000" cy="5328000"/>
          </a:xfrm>
          <a:prstGeom prst="rect">
            <a:avLst/>
          </a:prstGeom>
          <a:solidFill>
            <a:srgbClr val="0000FF"/>
          </a:solidFill>
          <a:ln w="9525">
            <a:solidFill>
              <a:srgbClr val="0000FF"/>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confer and respond (Open discussion)</a:t>
            </a:r>
          </a:p>
        </p:txBody>
      </p:sp>
      <p:sp>
        <p:nvSpPr>
          <p:cNvPr id="9" name="Rectangle 2"/>
          <p:cNvSpPr>
            <a:spLocks noChangeArrowheads="1"/>
          </p:cNvSpPr>
          <p:nvPr/>
        </p:nvSpPr>
        <p:spPr bwMode="auto">
          <a:xfrm>
            <a:off x="180000" y="216000"/>
            <a:ext cx="8640000" cy="504000"/>
          </a:xfrm>
          <a:prstGeom prst="rect">
            <a:avLst/>
          </a:prstGeom>
          <a:solidFill>
            <a:srgbClr val="0000FF"/>
          </a:solidFill>
          <a:ln w="9525">
            <a:solidFill>
              <a:srgbClr val="0000FF"/>
            </a:solidFill>
            <a:miter lim="800000"/>
            <a:headEnd/>
            <a:tailEnd/>
          </a:ln>
        </p:spPr>
        <p:txBody>
          <a:bodyPr/>
          <a:lstStyle/>
          <a:p>
            <a:pPr eaLnBrk="0" fontAlgn="base" hangingPunct="0">
              <a:spcAft>
                <a:spcPct val="0"/>
              </a:spcAft>
              <a:buClr>
                <a:srgbClr val="000000"/>
              </a:buClr>
              <a:buSzPct val="100000"/>
              <a:buFont typeface="Arial" panose="020B0604020202020204" pitchFamily="34" charset="0"/>
              <a:buNone/>
            </a:pPr>
            <a:r>
              <a:rPr lang="en-US" altLang="en-US" sz="24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ALE #2: How are These Components Integrated?</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pic>
        <p:nvPicPr>
          <p:cNvPr id="28" name="Picture 27"/>
          <p:cNvPicPr>
            <a:picLocks noChangeAspect="1"/>
          </p:cNvPicPr>
          <p:nvPr/>
        </p:nvPicPr>
        <p:blipFill>
          <a:blip r:embed="rId3"/>
          <a:stretch>
            <a:fillRect/>
          </a:stretch>
        </p:blipFill>
        <p:spPr>
          <a:xfrm>
            <a:off x="7010456" y="1171869"/>
            <a:ext cx="1688243" cy="2746544"/>
          </a:xfrm>
          <a:prstGeom prst="rect">
            <a:avLst/>
          </a:prstGeom>
        </p:spPr>
      </p:pic>
      <p:pic>
        <p:nvPicPr>
          <p:cNvPr id="4" name="Picture 3"/>
          <p:cNvPicPr>
            <a:picLocks noChangeAspect="1"/>
          </p:cNvPicPr>
          <p:nvPr/>
        </p:nvPicPr>
        <p:blipFill>
          <a:blip r:embed="rId4"/>
          <a:stretch>
            <a:fillRect/>
          </a:stretch>
        </p:blipFill>
        <p:spPr>
          <a:xfrm>
            <a:off x="4748852" y="1244366"/>
            <a:ext cx="2140303" cy="2629334"/>
          </a:xfrm>
          <a:prstGeom prst="rect">
            <a:avLst/>
          </a:prstGeom>
        </p:spPr>
      </p:pic>
      <p:pic>
        <p:nvPicPr>
          <p:cNvPr id="11" name="Picture 10"/>
          <p:cNvPicPr>
            <a:picLocks noChangeAspect="1"/>
          </p:cNvPicPr>
          <p:nvPr/>
        </p:nvPicPr>
        <p:blipFill>
          <a:blip r:embed="rId5"/>
          <a:stretch>
            <a:fillRect/>
          </a:stretch>
        </p:blipFill>
        <p:spPr>
          <a:xfrm>
            <a:off x="2628739" y="3981700"/>
            <a:ext cx="3553713" cy="2185218"/>
          </a:xfrm>
          <a:prstGeom prst="rect">
            <a:avLst/>
          </a:prstGeom>
          <a:ln>
            <a:solidFill>
              <a:schemeClr val="tx1"/>
            </a:solidFill>
          </a:ln>
        </p:spPr>
      </p:pic>
      <p:sp>
        <p:nvSpPr>
          <p:cNvPr id="2" name="Notched Right Arrow 1"/>
          <p:cNvSpPr/>
          <p:nvPr/>
        </p:nvSpPr>
        <p:spPr>
          <a:xfrm>
            <a:off x="876061" y="4114800"/>
            <a:ext cx="1742914" cy="1209675"/>
          </a:xfrm>
          <a:prstGeom prst="notched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Topic #13</a:t>
            </a:r>
          </a:p>
        </p:txBody>
      </p:sp>
      <p:sp>
        <p:nvSpPr>
          <p:cNvPr id="15" name="Notched Right Arrow 14"/>
          <p:cNvSpPr/>
          <p:nvPr/>
        </p:nvSpPr>
        <p:spPr>
          <a:xfrm>
            <a:off x="462167" y="1940303"/>
            <a:ext cx="1742914" cy="1209675"/>
          </a:xfrm>
          <a:prstGeom prst="notched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Topic #14</a:t>
            </a:r>
          </a:p>
        </p:txBody>
      </p:sp>
      <p:sp>
        <p:nvSpPr>
          <p:cNvPr id="17" name="Notched Right Arrow 16"/>
          <p:cNvSpPr/>
          <p:nvPr/>
        </p:nvSpPr>
        <p:spPr>
          <a:xfrm>
            <a:off x="462167" y="5143500"/>
            <a:ext cx="2166572" cy="972952"/>
          </a:xfrm>
          <a:prstGeom prst="notched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Today!</a:t>
            </a:r>
          </a:p>
        </p:txBody>
      </p:sp>
      <p:pic>
        <p:nvPicPr>
          <p:cNvPr id="5" name="Picture 4"/>
          <p:cNvPicPr>
            <a:picLocks noChangeAspect="1"/>
          </p:cNvPicPr>
          <p:nvPr/>
        </p:nvPicPr>
        <p:blipFill>
          <a:blip r:embed="rId6"/>
          <a:stretch>
            <a:fillRect/>
          </a:stretch>
        </p:blipFill>
        <p:spPr>
          <a:xfrm>
            <a:off x="2100207" y="1407177"/>
            <a:ext cx="2448293" cy="2193452"/>
          </a:xfrm>
          <a:prstGeom prst="rect">
            <a:avLst/>
          </a:prstGeom>
        </p:spPr>
      </p:pic>
    </p:spTree>
    <p:extLst>
      <p:ext uri="{BB962C8B-B14F-4D97-AF65-F5344CB8AC3E}">
        <p14:creationId xmlns:p14="http://schemas.microsoft.com/office/powerpoint/2010/main" val="157275903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Work Process</a:t>
            </a:r>
            <a:r>
              <a:rPr kumimoji="0" lang="en-CA" altLang="en-US" sz="1800" b="1" i="0" u="none" strike="noStrike" kern="1200" cap="none" spc="0" normalizeH="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Function:</a:t>
            </a:r>
            <a:endPar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Analyzes</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risks to PEAP</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Systematically assesses risks </a:t>
            </a:r>
            <a:b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opposite what is an acceptable level</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1800" b="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RMWP uses tools such as: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1800" b="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Matrices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1800" b="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Criteria Tables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1800" b="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Directions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US"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SQRA</a:t>
            </a:r>
            <a:endParaRPr kumimoji="0" lang="en-US" altLang="en-US" sz="1800" b="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2880000" lvl="3" indent="-432000" eaLnBrk="0" fontAlgn="base" hangingPunct="0">
              <a:lnSpc>
                <a:spcPct val="100000"/>
              </a:lnSpc>
              <a:spcBef>
                <a:spcPts val="0"/>
              </a:spcBef>
              <a:spcAft>
                <a:spcPct val="0"/>
              </a:spcAft>
              <a:buClrTx/>
              <a:buSzPct val="100000"/>
              <a:buFont typeface="Wingdings" panose="05000000000000000000" pitchFamily="2" charset="2"/>
              <a:buChar char="Ø"/>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2880000" lvl="3" indent="-432000" eaLnBrk="0" fontAlgn="base" hangingPunct="0">
              <a:lnSpc>
                <a:spcPct val="100000"/>
              </a:lnSpc>
              <a:spcBef>
                <a:spcPts val="0"/>
              </a:spcBef>
              <a:spcAft>
                <a:spcPct val="0"/>
              </a:spcAft>
              <a:buClrTx/>
              <a:buSzPct val="100000"/>
              <a:buFont typeface="Wingdings" panose="05000000000000000000" pitchFamily="2" charset="2"/>
              <a:buChar char="Ø"/>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2880000" lvl="3" indent="-432000" eaLnBrk="0" fontAlgn="base" hangingPunct="0">
              <a:lnSpc>
                <a:spcPct val="100000"/>
              </a:lnSpc>
              <a:spcBef>
                <a:spcPts val="0"/>
              </a:spcBef>
              <a:spcAft>
                <a:spcPct val="0"/>
              </a:spcAft>
              <a:buClrTx/>
              <a:buSzPct val="100000"/>
              <a:buFont typeface="Wingdings" panose="05000000000000000000" pitchFamily="2" charset="2"/>
              <a:buChar char="Ø"/>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2448000" lvl="3" indent="0" eaLnBrk="0" fontAlgn="base" hangingPunct="0">
              <a:lnSpc>
                <a:spcPct val="100000"/>
              </a:lnSpc>
              <a:spcBef>
                <a:spcPts val="0"/>
              </a:spcBef>
              <a:spcAft>
                <a:spcPct val="0"/>
              </a:spcAft>
              <a:buClrTx/>
              <a:buSzPct val="100000"/>
              <a:buNone/>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Control Measures:</a:t>
            </a:r>
          </a:p>
          <a:p>
            <a:pPr marL="2880000" lvl="3" indent="-432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SQRA </a:t>
            </a:r>
            <a:r>
              <a:rPr lang="en-US" altLang="en-US" sz="1800" noProof="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used</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define and implement the </a:t>
            </a:r>
            <a:r>
              <a:rPr lang="en-US"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CM’s</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reduce and control risks to an acceptable level</a:t>
            </a:r>
          </a:p>
        </p:txBody>
      </p:sp>
      <p:pic>
        <p:nvPicPr>
          <p:cNvPr id="2" name="Picture 1"/>
          <p:cNvPicPr>
            <a:picLocks noChangeAspect="1"/>
          </p:cNvPicPr>
          <p:nvPr/>
        </p:nvPicPr>
        <p:blipFill>
          <a:blip r:embed="rId3"/>
          <a:stretch>
            <a:fillRect/>
          </a:stretch>
        </p:blipFill>
        <p:spPr>
          <a:xfrm>
            <a:off x="2930020" y="1532317"/>
            <a:ext cx="3340493" cy="3202314"/>
          </a:xfrm>
          <a:prstGeom prst="rect">
            <a:avLst/>
          </a:prstGeom>
        </p:spPr>
      </p:pic>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fontAlgn="base">
              <a:lnSpc>
                <a:spcPct val="100000"/>
              </a:lnSpc>
              <a:spcBef>
                <a:spcPct val="0"/>
              </a:spcBef>
              <a:spcAft>
                <a:spcPct val="0"/>
              </a:spcAft>
              <a:buClrTx/>
              <a:buNone/>
              <a:defRPr/>
            </a:pPr>
            <a:r>
              <a:rPr lang="en-US" altLang="en-US" sz="2400" dirty="0">
                <a:solidFill>
                  <a:srgbClr val="333399"/>
                </a:solidFill>
                <a:latin typeface="Arial" panose="020B0604020202020204" pitchFamily="34" charset="0"/>
                <a:cs typeface="Arial" panose="020B0604020202020204" pitchFamily="34" charset="0"/>
              </a:rPr>
              <a:t>… Integration of The RM Work Process &amp; Control Measures: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pic>
        <p:nvPicPr>
          <p:cNvPr id="28" name="Picture 27"/>
          <p:cNvPicPr>
            <a:picLocks noChangeAspect="1"/>
          </p:cNvPicPr>
          <p:nvPr/>
        </p:nvPicPr>
        <p:blipFill>
          <a:blip r:embed="rId4"/>
          <a:stretch>
            <a:fillRect/>
          </a:stretch>
        </p:blipFill>
        <p:spPr>
          <a:xfrm>
            <a:off x="6775373" y="967199"/>
            <a:ext cx="1827910" cy="2973763"/>
          </a:xfrm>
          <a:prstGeom prst="rect">
            <a:avLst/>
          </a:prstGeom>
        </p:spPr>
      </p:pic>
      <p:pic>
        <p:nvPicPr>
          <p:cNvPr id="4" name="Picture 3"/>
          <p:cNvPicPr>
            <a:picLocks noChangeAspect="1"/>
          </p:cNvPicPr>
          <p:nvPr/>
        </p:nvPicPr>
        <p:blipFill>
          <a:blip r:embed="rId5"/>
          <a:stretch>
            <a:fillRect/>
          </a:stretch>
        </p:blipFill>
        <p:spPr>
          <a:xfrm>
            <a:off x="283407" y="3695699"/>
            <a:ext cx="2195387" cy="2460301"/>
          </a:xfrm>
          <a:prstGeom prst="rect">
            <a:avLst/>
          </a:prstGeom>
        </p:spPr>
      </p:pic>
      <p:sp>
        <p:nvSpPr>
          <p:cNvPr id="29" name="Striped Right Arrow 28"/>
          <p:cNvSpPr/>
          <p:nvPr/>
        </p:nvSpPr>
        <p:spPr>
          <a:xfrm rot="9421759">
            <a:off x="2404461" y="4102871"/>
            <a:ext cx="818780"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triped Right Arrow 29"/>
          <p:cNvSpPr/>
          <p:nvPr/>
        </p:nvSpPr>
        <p:spPr>
          <a:xfrm>
            <a:off x="4946573" y="1824547"/>
            <a:ext cx="1747170"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riped Right Arrow 12"/>
          <p:cNvSpPr/>
          <p:nvPr/>
        </p:nvSpPr>
        <p:spPr>
          <a:xfrm rot="1275672">
            <a:off x="5853183" y="4331216"/>
            <a:ext cx="1060276"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941390" y="4373457"/>
            <a:ext cx="1961002" cy="923330"/>
          </a:xfrm>
          <a:prstGeom prst="rect">
            <a:avLst/>
          </a:prstGeom>
          <a:noFill/>
        </p:spPr>
        <p:txBody>
          <a:bodyPr wrap="square" rtlCol="0">
            <a:spAutoFit/>
          </a:bodyPr>
          <a:lstStyle/>
          <a:p>
            <a:r>
              <a:rPr lang="en-US" b="1" dirty="0"/>
              <a:t>RME #2 RA&amp;MR</a:t>
            </a:r>
          </a:p>
          <a:p>
            <a:pPr marL="360000" indent="-360000" eaLnBrk="0" fontAlgn="base" hangingPunct="0">
              <a:spcAft>
                <a:spcPct val="0"/>
              </a:spcAft>
              <a:buSzPct val="100000"/>
              <a:buFont typeface="Wingdings" panose="05000000000000000000" pitchFamily="2" charset="2"/>
              <a:buChar char="Ø"/>
              <a:defRPr/>
            </a:pPr>
            <a:r>
              <a:rPr 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SQRA is a “standard”</a:t>
            </a:r>
          </a:p>
        </p:txBody>
      </p:sp>
    </p:spTree>
    <p:extLst>
      <p:ext uri="{BB962C8B-B14F-4D97-AF65-F5344CB8AC3E}">
        <p14:creationId xmlns:p14="http://schemas.microsoft.com/office/powerpoint/2010/main" val="66716986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Integration of The RMWP, CM’s, &amp; RA Tools: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sp>
        <p:nvSpPr>
          <p:cNvPr id="5" name="Bent Arrow 4"/>
          <p:cNvSpPr/>
          <p:nvPr/>
        </p:nvSpPr>
        <p:spPr>
          <a:xfrm rot="5400000">
            <a:off x="4522490" y="-754182"/>
            <a:ext cx="1727664" cy="6320756"/>
          </a:xfrm>
          <a:prstGeom prst="ben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r"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28" name="Picture 27"/>
          <p:cNvPicPr>
            <a:picLocks noChangeAspect="1"/>
          </p:cNvPicPr>
          <p:nvPr/>
        </p:nvPicPr>
        <p:blipFill>
          <a:blip r:embed="rId3"/>
          <a:stretch>
            <a:fillRect/>
          </a:stretch>
        </p:blipFill>
        <p:spPr>
          <a:xfrm>
            <a:off x="3341305" y="986568"/>
            <a:ext cx="1403595" cy="2283460"/>
          </a:xfrm>
          <a:prstGeom prst="rect">
            <a:avLst/>
          </a:prstGeom>
        </p:spPr>
      </p:pic>
      <p:pic>
        <p:nvPicPr>
          <p:cNvPr id="2" name="Picture 1"/>
          <p:cNvPicPr>
            <a:picLocks noChangeAspect="1"/>
          </p:cNvPicPr>
          <p:nvPr/>
        </p:nvPicPr>
        <p:blipFill>
          <a:blip r:embed="rId4"/>
          <a:stretch>
            <a:fillRect/>
          </a:stretch>
        </p:blipFill>
        <p:spPr>
          <a:xfrm>
            <a:off x="4387717" y="3434598"/>
            <a:ext cx="4425683" cy="2721402"/>
          </a:xfrm>
          <a:prstGeom prst="rect">
            <a:avLst/>
          </a:prstGeom>
          <a:ln>
            <a:solidFill>
              <a:schemeClr val="tx1"/>
            </a:solidFill>
          </a:ln>
        </p:spPr>
      </p:pic>
      <p:sp>
        <p:nvSpPr>
          <p:cNvPr id="14" name="Bent Arrow 13"/>
          <p:cNvSpPr/>
          <p:nvPr/>
        </p:nvSpPr>
        <p:spPr>
          <a:xfrm rot="10800000" flipH="1">
            <a:off x="661012" y="3635999"/>
            <a:ext cx="3624549" cy="2423277"/>
          </a:xfrm>
          <a:prstGeom prst="bentArrow">
            <a:avLst>
              <a:gd name="adj1" fmla="val 18490"/>
              <a:gd name="adj2" fmla="val 19631"/>
              <a:gd name="adj3" fmla="val 25000"/>
              <a:gd name="adj4" fmla="val 43750"/>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18" name="Picture 17"/>
          <p:cNvPicPr>
            <a:picLocks noChangeAspect="1"/>
          </p:cNvPicPr>
          <p:nvPr/>
        </p:nvPicPr>
        <p:blipFill>
          <a:blip r:embed="rId5"/>
          <a:stretch>
            <a:fillRect/>
          </a:stretch>
        </p:blipFill>
        <p:spPr>
          <a:xfrm>
            <a:off x="4853883" y="2080701"/>
            <a:ext cx="1840512" cy="868351"/>
          </a:xfrm>
          <a:prstGeom prst="rect">
            <a:avLst/>
          </a:prstGeom>
          <a:ln>
            <a:solidFill>
              <a:schemeClr val="tx1"/>
            </a:solidFill>
          </a:ln>
        </p:spPr>
      </p:pic>
      <p:pic>
        <p:nvPicPr>
          <p:cNvPr id="19" name="Picture 18"/>
          <p:cNvPicPr>
            <a:picLocks noChangeAspect="1"/>
          </p:cNvPicPr>
          <p:nvPr/>
        </p:nvPicPr>
        <p:blipFill>
          <a:blip r:embed="rId6"/>
          <a:stretch>
            <a:fillRect/>
          </a:stretch>
        </p:blipFill>
        <p:spPr>
          <a:xfrm>
            <a:off x="221132" y="911276"/>
            <a:ext cx="2741396" cy="2627999"/>
          </a:xfrm>
          <a:prstGeom prst="rect">
            <a:avLst/>
          </a:prstGeom>
        </p:spPr>
      </p:pic>
      <p:sp>
        <p:nvSpPr>
          <p:cNvPr id="20" name="Bent Arrow 19"/>
          <p:cNvSpPr/>
          <p:nvPr/>
        </p:nvSpPr>
        <p:spPr>
          <a:xfrm rot="10800000" flipH="1">
            <a:off x="2060154" y="3553511"/>
            <a:ext cx="2225407" cy="1084589"/>
          </a:xfrm>
          <a:prstGeom prst="bentArrow">
            <a:avLst>
              <a:gd name="adj1" fmla="val 44544"/>
              <a:gd name="adj2" fmla="val 37678"/>
              <a:gd name="adj3" fmla="val 31375"/>
              <a:gd name="adj4" fmla="val 43750"/>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21" name="Picture 20"/>
          <p:cNvPicPr>
            <a:picLocks noChangeAspect="1"/>
          </p:cNvPicPr>
          <p:nvPr/>
        </p:nvPicPr>
        <p:blipFill>
          <a:blip r:embed="rId7"/>
          <a:stretch>
            <a:fillRect/>
          </a:stretch>
        </p:blipFill>
        <p:spPr>
          <a:xfrm>
            <a:off x="1316436" y="4652336"/>
            <a:ext cx="1156850" cy="1421176"/>
          </a:xfrm>
          <a:prstGeom prst="rect">
            <a:avLst/>
          </a:prstGeom>
          <a:ln>
            <a:solidFill>
              <a:schemeClr val="tx1"/>
            </a:solidFill>
          </a:ln>
        </p:spPr>
      </p:pic>
      <p:sp>
        <p:nvSpPr>
          <p:cNvPr id="22" name="TextBox 21"/>
          <p:cNvSpPr txBox="1"/>
          <p:nvPr/>
        </p:nvSpPr>
        <p:spPr>
          <a:xfrm>
            <a:off x="2300791" y="3923517"/>
            <a:ext cx="1374332" cy="646331"/>
          </a:xfrm>
          <a:prstGeom prst="rect">
            <a:avLst/>
          </a:prstGeom>
          <a:solidFill>
            <a:schemeClr val="bg1"/>
          </a:solidFill>
          <a:ln>
            <a:solidFill>
              <a:schemeClr val="tx1"/>
            </a:solidFill>
          </a:ln>
        </p:spPr>
        <p:txBody>
          <a:bodyPr wrap="square" rtlCol="0">
            <a:spAutoFit/>
          </a:bodyPr>
          <a:lstStyle/>
          <a:p>
            <a:r>
              <a:rPr lang="en-US" sz="1200" b="1" dirty="0">
                <a:latin typeface="Arial" panose="020B0604020202020204" pitchFamily="34" charset="0"/>
                <a:cs typeface="Arial" panose="020B0604020202020204" pitchFamily="34" charset="0"/>
              </a:rPr>
              <a:t>RME #2 RA&amp;MR</a:t>
            </a:r>
          </a:p>
          <a:p>
            <a:pPr marL="360000" indent="-360000" eaLnBrk="0" fontAlgn="base" hangingPunct="0">
              <a:spcAft>
                <a:spcPct val="0"/>
              </a:spcAft>
              <a:buSzPct val="100000"/>
              <a:buFont typeface="Wingdings" panose="05000000000000000000" pitchFamily="2" charset="2"/>
              <a:buChar char="Ø"/>
              <a:defRPr/>
            </a:pPr>
            <a:r>
              <a:rPr 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SQRA is a “standard”</a:t>
            </a:r>
          </a:p>
        </p:txBody>
      </p:sp>
      <p:pic>
        <p:nvPicPr>
          <p:cNvPr id="4" name="Picture 3"/>
          <p:cNvPicPr>
            <a:picLocks noChangeAspect="1"/>
          </p:cNvPicPr>
          <p:nvPr/>
        </p:nvPicPr>
        <p:blipFill>
          <a:blip r:embed="rId8"/>
          <a:stretch>
            <a:fillRect/>
          </a:stretch>
        </p:blipFill>
        <p:spPr>
          <a:xfrm>
            <a:off x="5315383" y="1151371"/>
            <a:ext cx="878462" cy="857330"/>
          </a:xfrm>
          <a:prstGeom prst="rect">
            <a:avLst/>
          </a:prstGeom>
        </p:spPr>
      </p:pic>
    </p:spTree>
    <p:extLst>
      <p:ext uri="{BB962C8B-B14F-4D97-AF65-F5344CB8AC3E}">
        <p14:creationId xmlns:p14="http://schemas.microsoft.com/office/powerpoint/2010/main" val="182390007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200" marR="0" lvl="0" indent="-457200" algn="l" defTabSz="914400" rtl="0" eaLnBrk="0" fontAlgn="base" latinLnBrk="0" hangingPunct="0">
              <a:lnSpc>
                <a:spcPct val="100000"/>
              </a:lnSpc>
              <a:spcBef>
                <a:spcPts val="0"/>
              </a:spcBef>
              <a:spcAft>
                <a:spcPct val="0"/>
              </a:spcAft>
              <a:buClr>
                <a:srgbClr val="000000"/>
              </a:buClr>
              <a:buSzPct val="100000"/>
              <a:buFont typeface="+mj-lt"/>
              <a:buAutoNum type="arabicParenR"/>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algn="l" defTabSz="914400" rtl="0" eaLnBrk="0" fontAlgn="base" latinLnBrk="0" hangingPunct="0">
              <a:lnSpc>
                <a:spcPct val="100000"/>
              </a:lnSpc>
              <a:spcBef>
                <a:spcPts val="0"/>
              </a:spcBef>
              <a:spcAft>
                <a:spcPct val="0"/>
              </a:spcAft>
              <a:buClr>
                <a:srgbClr val="000000"/>
              </a:buClr>
              <a:buSzPct val="100000"/>
              <a:buFont typeface="+mj-lt"/>
              <a:buAutoNum type="arabicParenR"/>
              <a:tabLst/>
              <a:defRPr/>
            </a:pPr>
            <a:r>
              <a:rPr kumimoji="0" lang="en-US" altLang="en-US" sz="2000" b="0" i="0" u="sng"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a:t>
            </a: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SQRA to reduce risks</a:t>
            </a:r>
            <a:r>
              <a:rPr kumimoji="0" lang="en-US" altLang="en-US" sz="2000" b="0" i="0" u="none" strike="noStrike" kern="0" cap="none" spc="0" normalizeH="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acceptable levels</a:t>
            </a: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a:t>
            </a:r>
          </a:p>
          <a:p>
            <a:pPr marL="457200" marR="0" lvl="0" indent="-457200" algn="l" defTabSz="914400" rtl="0" eaLnBrk="0" fontAlgn="base" latinLnBrk="0" hangingPunct="0">
              <a:lnSpc>
                <a:spcPct val="100000"/>
              </a:lnSpc>
              <a:spcBef>
                <a:spcPts val="0"/>
              </a:spcBef>
              <a:spcAft>
                <a:spcPct val="0"/>
              </a:spcAft>
              <a:buClr>
                <a:srgbClr val="000000"/>
              </a:buClr>
              <a:buSzPct val="100000"/>
              <a:buFont typeface="+mj-lt"/>
              <a:buAutoNum type="arabicParenR"/>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algn="l" defTabSz="914400" rtl="0" eaLnBrk="0" fontAlgn="base" latinLnBrk="0" hangingPunct="0">
              <a:lnSpc>
                <a:spcPct val="100000"/>
              </a:lnSpc>
              <a:spcBef>
                <a:spcPts val="0"/>
              </a:spcBef>
              <a:spcAft>
                <a:spcPct val="0"/>
              </a:spcAft>
              <a:buClr>
                <a:srgbClr val="000000"/>
              </a:buClr>
              <a:buSzPct val="100000"/>
              <a:buFont typeface="+mj-lt"/>
              <a:buAutoNum type="arabicParenR"/>
              <a:tabLst/>
              <a:defRPr/>
            </a:pPr>
            <a:r>
              <a:rPr kumimoji="0" lang="en-US" altLang="en-US" sz="2000" b="0" i="0" u="sng"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Coach and mentor</a:t>
            </a: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others in its effective use.</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SQRA as a Leadership Tool:</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2" name="Picture 1">
            <a:extLst>
              <a:ext uri="{FF2B5EF4-FFF2-40B4-BE49-F238E27FC236}">
                <a16:creationId xmlns:a16="http://schemas.microsoft.com/office/drawing/2014/main" id="{9108D308-443E-4056-AF5E-AEFC5B070BE9}"/>
              </a:ext>
            </a:extLst>
          </p:cNvPr>
          <p:cNvPicPr>
            <a:picLocks noChangeAspect="1"/>
          </p:cNvPicPr>
          <p:nvPr/>
        </p:nvPicPr>
        <p:blipFill>
          <a:blip r:embed="rId3"/>
          <a:stretch>
            <a:fillRect/>
          </a:stretch>
        </p:blipFill>
        <p:spPr>
          <a:xfrm>
            <a:off x="2558117" y="2273820"/>
            <a:ext cx="3985902" cy="3656791"/>
          </a:xfrm>
          <a:prstGeom prst="rect">
            <a:avLst/>
          </a:prstGeom>
        </p:spPr>
      </p:pic>
      <p:sp>
        <p:nvSpPr>
          <p:cNvPr id="2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spTree>
    <p:extLst>
      <p:ext uri="{BB962C8B-B14F-4D97-AF65-F5344CB8AC3E}">
        <p14:creationId xmlns:p14="http://schemas.microsoft.com/office/powerpoint/2010/main" val="335597742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a:t>
            </a:r>
            <a:r>
              <a:rPr kumimoji="0" lang="en-US" altLang="en-US" sz="2400" b="0" i="0" u="none" strike="noStrike" kern="1200" cap="none" spc="0" normalizeH="0" noProof="0" dirty="0">
                <a:ln>
                  <a:noFill/>
                </a:ln>
                <a:solidFill>
                  <a:srgbClr val="333399"/>
                </a:solidFill>
                <a:effectLst/>
                <a:uLnTx/>
                <a:uFillTx/>
                <a:latin typeface="Arial" panose="020B0604020202020204" pitchFamily="34" charset="0"/>
                <a:ea typeface="+mn-ea"/>
                <a:cs typeface="Arial" panose="020B0604020202020204" pitchFamily="34" charset="0"/>
              </a:rPr>
              <a:t> Lessons</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Tx/>
              <a:buSzPct val="100000"/>
              <a:buNone/>
              <a:tabLst/>
              <a:defRPr/>
            </a:pP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SQ</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RA:</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Used well in advance of and part of the planning process for work activities, or during the engineering / design / construction of installations and facilities.</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One of many different risk assessment tool; </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Systematically identifies hazards and specifies appropriate control measures.</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Can be complemented with the application of incident models i.e. knowledge-based and discovery-based approaches for hazard identification.</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Use your expertise to coach others!</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p>
        </p:txBody>
      </p:sp>
      <p:pic>
        <p:nvPicPr>
          <p:cNvPr id="13" name="Picture 12">
            <a:extLst>
              <a:ext uri="{FF2B5EF4-FFF2-40B4-BE49-F238E27FC236}">
                <a16:creationId xmlns:a16="http://schemas.microsoft.com/office/drawing/2014/main" id="{9108D308-443E-4056-AF5E-AEFC5B070BE9}"/>
              </a:ext>
            </a:extLst>
          </p:cNvPr>
          <p:cNvPicPr>
            <a:picLocks noChangeAspect="1"/>
          </p:cNvPicPr>
          <p:nvPr/>
        </p:nvPicPr>
        <p:blipFill>
          <a:blip r:embed="rId3"/>
          <a:stretch>
            <a:fillRect/>
          </a:stretch>
        </p:blipFill>
        <p:spPr>
          <a:xfrm>
            <a:off x="5394077" y="2951244"/>
            <a:ext cx="1798589" cy="1650082"/>
          </a:xfrm>
          <a:prstGeom prst="rect">
            <a:avLst/>
          </a:prstGeom>
        </p:spPr>
      </p:pic>
      <p:pic>
        <p:nvPicPr>
          <p:cNvPr id="3" name="Picture 2"/>
          <p:cNvPicPr>
            <a:picLocks noChangeAspect="1"/>
          </p:cNvPicPr>
          <p:nvPr/>
        </p:nvPicPr>
        <p:blipFill>
          <a:blip r:embed="rId4"/>
          <a:stretch>
            <a:fillRect/>
          </a:stretch>
        </p:blipFill>
        <p:spPr>
          <a:xfrm>
            <a:off x="1977852" y="5109748"/>
            <a:ext cx="4876269" cy="1202568"/>
          </a:xfrm>
          <a:prstGeom prst="rect">
            <a:avLst/>
          </a:prstGeom>
        </p:spPr>
      </p:pic>
      <p:pic>
        <p:nvPicPr>
          <p:cNvPr id="4" name="Picture 3"/>
          <p:cNvPicPr>
            <a:picLocks noChangeAspect="1"/>
          </p:cNvPicPr>
          <p:nvPr/>
        </p:nvPicPr>
        <p:blipFill>
          <a:blip r:embed="rId5"/>
          <a:stretch>
            <a:fillRect/>
          </a:stretch>
        </p:blipFill>
        <p:spPr>
          <a:xfrm>
            <a:off x="821062" y="2881819"/>
            <a:ext cx="3489848" cy="2155929"/>
          </a:xfrm>
          <a:prstGeom prst="rect">
            <a:avLst/>
          </a:prstGeom>
        </p:spPr>
      </p:pic>
    </p:spTree>
    <p:extLst>
      <p:ext uri="{BB962C8B-B14F-4D97-AF65-F5344CB8AC3E}">
        <p14:creationId xmlns:p14="http://schemas.microsoft.com/office/powerpoint/2010/main" val="363558347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663425435"/>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1248</TotalTime>
  <Words>1547</Words>
  <Application>Microsoft Office PowerPoint</Application>
  <PresentationFormat>On-screen Show (4:3)</PresentationFormat>
  <Paragraphs>305</Paragraphs>
  <Slides>14</Slides>
  <Notes>14</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14</vt:i4>
      </vt:variant>
    </vt:vector>
  </HeadingPairs>
  <TitlesOfParts>
    <vt:vector size="22" baseType="lpstr">
      <vt:lpstr>Noto Sans Symbols</vt:lpstr>
      <vt:lpstr>Arial</vt:lpstr>
      <vt:lpstr>Calibri</vt:lpstr>
      <vt:lpstr>Times New Roman</vt:lpstr>
      <vt:lpstr>Wingdings</vt:lpstr>
      <vt:lpstr>Default Design</vt:lpstr>
      <vt:lpstr>1_Default Design</vt:lpstr>
      <vt:lpstr>2_Default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Faculty of engineering, University of Alberta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JR Cocchio</dc:creator>
  <cp:lastModifiedBy>Li Dekr0</cp:lastModifiedBy>
  <cp:revision>96</cp:revision>
  <dcterms:created xsi:type="dcterms:W3CDTF">2020-05-24T15:55:07Z</dcterms:created>
  <dcterms:modified xsi:type="dcterms:W3CDTF">2022-07-08T04:14:33Z</dcterms:modified>
</cp:coreProperties>
</file>