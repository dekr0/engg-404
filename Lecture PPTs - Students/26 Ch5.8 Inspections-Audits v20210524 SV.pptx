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8" r:id="rId1"/>
  </p:sldMasterIdLst>
  <p:notesMasterIdLst>
    <p:notesMasterId r:id="rId31"/>
  </p:notesMasterIdLst>
  <p:handoutMasterIdLst>
    <p:handoutMasterId r:id="rId32"/>
  </p:handoutMasterIdLst>
  <p:sldIdLst>
    <p:sldId id="895" r:id="rId2"/>
    <p:sldId id="1259" r:id="rId3"/>
    <p:sldId id="928" r:id="rId4"/>
    <p:sldId id="1224" r:id="rId5"/>
    <p:sldId id="1251" r:id="rId6"/>
    <p:sldId id="926" r:id="rId7"/>
    <p:sldId id="1252" r:id="rId8"/>
    <p:sldId id="1228" r:id="rId9"/>
    <p:sldId id="1233" r:id="rId10"/>
    <p:sldId id="1230" r:id="rId11"/>
    <p:sldId id="1234" r:id="rId12"/>
    <p:sldId id="1235" r:id="rId13"/>
    <p:sldId id="1229" r:id="rId14"/>
    <p:sldId id="1258" r:id="rId15"/>
    <p:sldId id="1236" r:id="rId16"/>
    <p:sldId id="1237" r:id="rId17"/>
    <p:sldId id="1238" r:id="rId18"/>
    <p:sldId id="1239" r:id="rId19"/>
    <p:sldId id="1240" r:id="rId20"/>
    <p:sldId id="1255" r:id="rId21"/>
    <p:sldId id="1254" r:id="rId22"/>
    <p:sldId id="1242" r:id="rId23"/>
    <p:sldId id="1243" r:id="rId24"/>
    <p:sldId id="1244" r:id="rId25"/>
    <p:sldId id="1256" r:id="rId26"/>
    <p:sldId id="1257" r:id="rId27"/>
    <p:sldId id="1247" r:id="rId28"/>
    <p:sldId id="1249" r:id="rId29"/>
    <p:sldId id="1250" r:id="rId30"/>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a White" initials="LW" lastIdx="1" clrIdx="0">
    <p:extLst>
      <p:ext uri="{19B8F6BF-5375-455C-9EA6-DF929625EA0E}">
        <p15:presenceInfo xmlns:p15="http://schemas.microsoft.com/office/powerpoint/2012/main" userId="Lisa Whit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808080"/>
    <a:srgbClr val="000000"/>
    <a:srgbClr val="FFFFFF"/>
    <a:srgbClr val="66FFCC"/>
    <a:srgbClr val="99FFCC"/>
    <a:srgbClr val="CCFFFF"/>
    <a:srgbClr val="00FFFF"/>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05" autoAdjust="0"/>
    <p:restoredTop sz="86656" autoAdjust="0"/>
  </p:normalViewPr>
  <p:slideViewPr>
    <p:cSldViewPr>
      <p:cViewPr varScale="1">
        <p:scale>
          <a:sx n="70" d="100"/>
          <a:sy n="70" d="100"/>
        </p:scale>
        <p:origin x="1148" y="6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324"/>
    </p:cViewPr>
  </p:sorterViewPr>
  <p:notesViewPr>
    <p:cSldViewPr>
      <p:cViewPr varScale="1">
        <p:scale>
          <a:sx n="51" d="100"/>
          <a:sy n="51" d="100"/>
        </p:scale>
        <p:origin x="2664" y="5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p:cNvSpPr>
            <a:spLocks noGrp="1" noChangeArrowheads="1"/>
          </p:cNvSpPr>
          <p:nvPr>
            <p:ph type="hdr" sz="quarter"/>
          </p:nvPr>
        </p:nvSpPr>
        <p:spPr bwMode="auto">
          <a:xfrm>
            <a:off x="1" y="2"/>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t" anchorCtr="0" compatLnSpc="1">
            <a:prstTxWarp prst="textNoShape">
              <a:avLst/>
            </a:prstTxWarp>
          </a:bodyPr>
          <a:lstStyle>
            <a:lvl1pPr defTabSz="931755">
              <a:defRPr sz="1200"/>
            </a:lvl1pPr>
          </a:lstStyle>
          <a:p>
            <a:pPr>
              <a:defRPr/>
            </a:pPr>
            <a:r>
              <a:rPr lang="en-US" altLang="en-US" dirty="0"/>
              <a:t>2017-2018</a:t>
            </a:r>
          </a:p>
        </p:txBody>
      </p:sp>
      <p:sp>
        <p:nvSpPr>
          <p:cNvPr id="135171" name="Rectangle 3"/>
          <p:cNvSpPr>
            <a:spLocks noGrp="1" noChangeArrowheads="1"/>
          </p:cNvSpPr>
          <p:nvPr>
            <p:ph type="dt" sz="quarter" idx="1"/>
          </p:nvPr>
        </p:nvSpPr>
        <p:spPr bwMode="auto">
          <a:xfrm>
            <a:off x="3971409" y="2"/>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t" anchorCtr="0" compatLnSpc="1">
            <a:prstTxWarp prst="textNoShape">
              <a:avLst/>
            </a:prstTxWarp>
          </a:bodyPr>
          <a:lstStyle>
            <a:lvl1pPr algn="r" defTabSz="931755">
              <a:defRPr sz="1200"/>
            </a:lvl1pPr>
          </a:lstStyle>
          <a:p>
            <a:pPr>
              <a:defRPr/>
            </a:pPr>
            <a:endParaRPr lang="en-US" altLang="en-US"/>
          </a:p>
        </p:txBody>
      </p:sp>
      <p:sp>
        <p:nvSpPr>
          <p:cNvPr id="135172" name="Rectangle 4"/>
          <p:cNvSpPr>
            <a:spLocks noGrp="1" noChangeArrowheads="1"/>
          </p:cNvSpPr>
          <p:nvPr>
            <p:ph type="ftr" sz="quarter" idx="2"/>
          </p:nvPr>
        </p:nvSpPr>
        <p:spPr bwMode="auto">
          <a:xfrm>
            <a:off x="1" y="8829277"/>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b" anchorCtr="0" compatLnSpc="1">
            <a:prstTxWarp prst="textNoShape">
              <a:avLst/>
            </a:prstTxWarp>
          </a:bodyPr>
          <a:lstStyle>
            <a:lvl1pPr defTabSz="931755">
              <a:defRPr sz="1200"/>
            </a:lvl1pPr>
          </a:lstStyle>
          <a:p>
            <a:pPr>
              <a:defRPr/>
            </a:pPr>
            <a:endParaRPr lang="en-US" altLang="en-US"/>
          </a:p>
        </p:txBody>
      </p:sp>
      <p:sp>
        <p:nvSpPr>
          <p:cNvPr id="135173" name="Rectangle 5"/>
          <p:cNvSpPr>
            <a:spLocks noGrp="1" noChangeArrowheads="1"/>
          </p:cNvSpPr>
          <p:nvPr>
            <p:ph type="sldNum" sz="quarter" idx="3"/>
          </p:nvPr>
        </p:nvSpPr>
        <p:spPr bwMode="auto">
          <a:xfrm>
            <a:off x="3971409" y="8829277"/>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b" anchorCtr="0" compatLnSpc="1">
            <a:prstTxWarp prst="textNoShape">
              <a:avLst/>
            </a:prstTxWarp>
          </a:bodyPr>
          <a:lstStyle>
            <a:lvl1pPr algn="r" defTabSz="931755">
              <a:defRPr sz="1200"/>
            </a:lvl1pPr>
          </a:lstStyle>
          <a:p>
            <a:pPr>
              <a:defRPr/>
            </a:pPr>
            <a:fld id="{A04733FA-8C16-43F0-928E-A9ECEAF73952}" type="slidenum">
              <a:rPr lang="en-US" altLang="en-US"/>
              <a:pPr>
                <a:defRPr/>
              </a:pPr>
              <a:t>‹#›</a:t>
            </a:fld>
            <a:endParaRPr lang="en-US" altLang="en-US"/>
          </a:p>
        </p:txBody>
      </p:sp>
    </p:spTree>
    <p:extLst>
      <p:ext uri="{BB962C8B-B14F-4D97-AF65-F5344CB8AC3E}">
        <p14:creationId xmlns:p14="http://schemas.microsoft.com/office/powerpoint/2010/main" val="30879753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1" y="2"/>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t" anchorCtr="0" compatLnSpc="1">
            <a:prstTxWarp prst="textNoShape">
              <a:avLst/>
            </a:prstTxWarp>
          </a:bodyPr>
          <a:lstStyle>
            <a:lvl1pPr defTabSz="931755" eaLnBrk="1" hangingPunct="1">
              <a:defRPr sz="1200"/>
            </a:lvl1pPr>
          </a:lstStyle>
          <a:p>
            <a:pPr>
              <a:defRPr/>
            </a:pPr>
            <a:r>
              <a:rPr lang="en-US" altLang="en-US"/>
              <a:t>Don't Get Splashed! </a:t>
            </a:r>
          </a:p>
        </p:txBody>
      </p:sp>
      <p:sp>
        <p:nvSpPr>
          <p:cNvPr id="53251" name="Rectangle 3"/>
          <p:cNvSpPr>
            <a:spLocks noGrp="1" noChangeArrowheads="1"/>
          </p:cNvSpPr>
          <p:nvPr>
            <p:ph type="dt" idx="1"/>
          </p:nvPr>
        </p:nvSpPr>
        <p:spPr bwMode="auto">
          <a:xfrm>
            <a:off x="3971409" y="2"/>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t" anchorCtr="0" compatLnSpc="1">
            <a:prstTxWarp prst="textNoShape">
              <a:avLst/>
            </a:prstTxWarp>
          </a:bodyPr>
          <a:lstStyle>
            <a:lvl1pPr algn="r" defTabSz="931755" eaLnBrk="1" hangingPunct="1">
              <a:defRPr sz="1200"/>
            </a:lvl1pPr>
          </a:lstStyle>
          <a:p>
            <a:pPr>
              <a:defRPr/>
            </a:pPr>
            <a:r>
              <a:rPr lang="en-US" altLang="en-US" dirty="0"/>
              <a:t>10-Sept-13-April-2017</a:t>
            </a:r>
          </a:p>
        </p:txBody>
      </p:sp>
      <p:sp>
        <p:nvSpPr>
          <p:cNvPr id="3076" name="Rectangle 4"/>
          <p:cNvSpPr>
            <a:spLocks noGrp="1" noRot="1" noChangeAspect="1" noChangeArrowheads="1" noTextEdit="1"/>
          </p:cNvSpPr>
          <p:nvPr>
            <p:ph type="sldImg" idx="2"/>
          </p:nvPr>
        </p:nvSpPr>
        <p:spPr bwMode="auto">
          <a:xfrm>
            <a:off x="1182688" y="698500"/>
            <a:ext cx="4645025" cy="34845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3253" name="Rectangle 5"/>
          <p:cNvSpPr>
            <a:spLocks noGrp="1" noChangeArrowheads="1"/>
          </p:cNvSpPr>
          <p:nvPr>
            <p:ph type="body" sz="quarter" idx="3"/>
          </p:nvPr>
        </p:nvSpPr>
        <p:spPr bwMode="auto">
          <a:xfrm>
            <a:off x="701398" y="4415686"/>
            <a:ext cx="5607605" cy="4183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3254" name="Rectangle 6"/>
          <p:cNvSpPr>
            <a:spLocks noGrp="1" noChangeArrowheads="1"/>
          </p:cNvSpPr>
          <p:nvPr>
            <p:ph type="ftr" sz="quarter" idx="4"/>
          </p:nvPr>
        </p:nvSpPr>
        <p:spPr bwMode="auto">
          <a:xfrm>
            <a:off x="1" y="8829277"/>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b" anchorCtr="0" compatLnSpc="1">
            <a:prstTxWarp prst="textNoShape">
              <a:avLst/>
            </a:prstTxWarp>
          </a:bodyPr>
          <a:lstStyle>
            <a:lvl1pPr defTabSz="931755" eaLnBrk="1" hangingPunct="1">
              <a:defRPr sz="1200"/>
            </a:lvl1pPr>
          </a:lstStyle>
          <a:p>
            <a:pPr>
              <a:defRPr/>
            </a:pPr>
            <a:r>
              <a:rPr lang="en-US" altLang="en-US"/>
              <a:t>Total pages = 25</a:t>
            </a:r>
          </a:p>
        </p:txBody>
      </p:sp>
      <p:sp>
        <p:nvSpPr>
          <p:cNvPr id="53255" name="Rectangle 7"/>
          <p:cNvSpPr>
            <a:spLocks noGrp="1" noChangeArrowheads="1"/>
          </p:cNvSpPr>
          <p:nvPr>
            <p:ph type="sldNum" sz="quarter" idx="5"/>
          </p:nvPr>
        </p:nvSpPr>
        <p:spPr bwMode="auto">
          <a:xfrm>
            <a:off x="3971409" y="8829277"/>
            <a:ext cx="3037800" cy="465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5" tIns="46587" rIns="93175" bIns="46587" numCol="1" anchor="b" anchorCtr="0" compatLnSpc="1">
            <a:prstTxWarp prst="textNoShape">
              <a:avLst/>
            </a:prstTxWarp>
          </a:bodyPr>
          <a:lstStyle>
            <a:lvl1pPr algn="r" defTabSz="931755" eaLnBrk="1" hangingPunct="1">
              <a:defRPr sz="1200"/>
            </a:lvl1pPr>
          </a:lstStyle>
          <a:p>
            <a:pPr>
              <a:defRPr/>
            </a:pPr>
            <a:fld id="{F0DBC70E-D7F2-47D2-A586-4E2DDEFFEDF1}" type="slidenum">
              <a:rPr lang="en-US" altLang="en-US"/>
              <a:pPr>
                <a:defRPr/>
              </a:pPr>
              <a:t>‹#›</a:t>
            </a:fld>
            <a:endParaRPr lang="en-US" altLang="en-US"/>
          </a:p>
        </p:txBody>
      </p:sp>
    </p:spTree>
    <p:extLst>
      <p:ext uri="{BB962C8B-B14F-4D97-AF65-F5344CB8AC3E}">
        <p14:creationId xmlns:p14="http://schemas.microsoft.com/office/powerpoint/2010/main" val="2490712002"/>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6336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9062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4026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719105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2887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endParaRPr lang="en-CA" altLang="en-US" dirty="0">
              <a:ea typeface="ＭＳ Ｐゴシック" panose="020B0600070205080204" pitchFamily="34" charset="-128"/>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090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4169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1921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5528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2763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4958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7375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5160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8449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2362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96108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420626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912197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0575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4473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53595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endParaRPr lang="en-CA" altLang="en-US" dirty="0">
              <a:ea typeface="ＭＳ Ｐゴシック" panose="020B0600070205080204" pitchFamily="34" charset="-128"/>
            </a:endParaRP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314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3490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82383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738133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4469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312209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6844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99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9/26/2021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3762995899"/>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033641"/>
      </p:ext>
    </p:extLst>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jpeg"/></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jpeg"/></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5.8:</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Job Observations &amp;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Planned Inspections (Audits</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 &amp; PI Method</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create a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 Checklist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 &amp; PI Checklist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use, interpret, critique, and check the compliance of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physical conditions in the work-place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or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practices of work-in-progress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 &amp; PI Method</a:t>
            </a:r>
            <a:r>
              <a:rPr kumimoji="0" lang="en-CA" altLang="en-US" sz="20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a rudimentary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leadership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skill to observe, interact,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commend, or intervene / coach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employees in the work-place i.e. at the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individual </a:t>
            </a:r>
            <a:b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level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 the team (crew,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work-group</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level.</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leader’s job is to </a:t>
            </a:r>
            <a:r>
              <a:rPr kumimoji="0" lang="en-CA" altLang="en-US" sz="20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20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coach </a:t>
            </a:r>
            <a:r>
              <a:rPr kumimoji="0" lang="en-CA" altLang="en-US" sz="20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mentor</a:t>
            </a:r>
            <a:r>
              <a:rPr kumimoji="0" lang="en-CA" altLang="en-US" sz="20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b="1"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1"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“Leverage”!</a:t>
            </a:r>
            <a:endParaRPr kumimoji="0" lang="en-CA" altLang="en-US" sz="20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pic>
        <p:nvPicPr>
          <p:cNvPr id="6" name="Picture 5">
            <a:extLst>
              <a:ext uri="{FF2B5EF4-FFF2-40B4-BE49-F238E27FC236}">
                <a16:creationId xmlns:a16="http://schemas.microsoft.com/office/drawing/2014/main" id="{EA870A00-4B7A-4F68-8B60-D6B4DEA9813A}"/>
              </a:ext>
            </a:extLst>
          </p:cNvPr>
          <p:cNvPicPr>
            <a:picLocks noChangeAspect="1"/>
          </p:cNvPicPr>
          <p:nvPr/>
        </p:nvPicPr>
        <p:blipFill>
          <a:blip r:embed="rId3"/>
          <a:stretch>
            <a:fillRect/>
          </a:stretch>
        </p:blipFill>
        <p:spPr>
          <a:xfrm>
            <a:off x="6653662" y="4141061"/>
            <a:ext cx="2159738" cy="1981411"/>
          </a:xfrm>
          <a:prstGeom prst="rect">
            <a:avLst/>
          </a:prstGeom>
        </p:spPr>
      </p:pic>
      <p:pic>
        <p:nvPicPr>
          <p:cNvPr id="2" name="Picture 1"/>
          <p:cNvPicPr>
            <a:picLocks noChangeAspect="1"/>
          </p:cNvPicPr>
          <p:nvPr/>
        </p:nvPicPr>
        <p:blipFill>
          <a:blip r:embed="rId4"/>
          <a:stretch>
            <a:fillRect/>
          </a:stretch>
        </p:blipFill>
        <p:spPr>
          <a:xfrm>
            <a:off x="2222963" y="720000"/>
            <a:ext cx="4554074" cy="1097768"/>
          </a:xfrm>
          <a:prstGeom prst="rect">
            <a:avLst/>
          </a:prstGeom>
        </p:spPr>
      </p:pic>
      <p:sp>
        <p:nvSpPr>
          <p:cNvPr id="3" name="Isosceles Triangle 2"/>
          <p:cNvSpPr/>
          <p:nvPr/>
        </p:nvSpPr>
        <p:spPr>
          <a:xfrm>
            <a:off x="5400000" y="5638800"/>
            <a:ext cx="696000" cy="483672"/>
          </a:xfrm>
          <a:prstGeom prst="triangle">
            <a:avLst/>
          </a:prstGeom>
          <a:solidFill>
            <a:srgbClr val="FF0000"/>
          </a:solid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3510240" y="5024820"/>
            <a:ext cx="3148462" cy="8382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924723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Orientation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integration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new employees and contractors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ensure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adequate and effective administrative controls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training purposes </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combatting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Why Do We Do Job Observations and Planned Inspections?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pic>
        <p:nvPicPr>
          <p:cNvPr id="6" name="Picture 5" descr="Construction and engineering students visit the Folsom spi ...">
            <a:extLst>
              <a:ext uri="{FF2B5EF4-FFF2-40B4-BE49-F238E27FC236}">
                <a16:creationId xmlns:a16="http://schemas.microsoft.com/office/drawing/2014/main" id="{CAC2BBA3-F8EC-41E3-BB43-F28A2B9173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5711" y="3391319"/>
            <a:ext cx="4132578" cy="2756397"/>
          </a:xfrm>
          <a:prstGeom prst="rect">
            <a:avLst/>
          </a:prstGeom>
        </p:spPr>
      </p:pic>
    </p:spTree>
    <p:extLst>
      <p:ext uri="{BB962C8B-B14F-4D97-AF65-F5344CB8AC3E}">
        <p14:creationId xmlns:p14="http://schemas.microsoft.com/office/powerpoint/2010/main" val="128517005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Two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different kinds of a Planned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914400" marR="0" lvl="1" indent="-457200" algn="l" defTabSz="914400" rtl="0" eaLnBrk="1" fontAlgn="base" latinLnBrk="0" hangingPunct="1">
              <a:lnSpc>
                <a:spcPct val="110000"/>
              </a:lnSpc>
              <a:spcBef>
                <a:spcPct val="20000"/>
              </a:spcBef>
              <a:spcAft>
                <a:spcPct val="0"/>
              </a:spcAft>
              <a:buClr>
                <a:srgbClr val="000000"/>
              </a:buClr>
              <a:buSzTx/>
              <a:buFont typeface="+mj-lt"/>
              <a:buAutoNum type="arabicParenR"/>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Physical conditions in the workplace</a:t>
            </a:r>
          </a:p>
          <a:p>
            <a:pPr marL="914400" marR="0" lvl="1" indent="-457200" algn="l" defTabSz="914400" rtl="0" eaLnBrk="1" fontAlgn="base" latinLnBrk="0" hangingPunct="1">
              <a:lnSpc>
                <a:spcPct val="110000"/>
              </a:lnSpc>
              <a:spcBef>
                <a:spcPct val="20000"/>
              </a:spcBef>
              <a:spcAft>
                <a:spcPct val="0"/>
              </a:spcAft>
              <a:buClrTx/>
              <a:buSzTx/>
              <a:buFont typeface="+mj-lt"/>
              <a:buAutoNum type="arabicParenR"/>
              <a:tabLst/>
              <a:defRPr/>
            </a:pPr>
            <a:r>
              <a:rPr kumimoji="0" lang="en-US" altLang="en-US" sz="20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ＭＳ Ｐゴシック" panose="020B0600070205080204" pitchFamily="34" charset="-128"/>
                <a:cs typeface="+mn-cs"/>
              </a:rPr>
              <a:t>Practices of work-in-progress</a:t>
            </a:r>
          </a:p>
          <a:p>
            <a:pPr marL="914400" marR="0" lvl="1" indent="-457200" algn="l" defTabSz="914400" rtl="0" eaLnBrk="1" fontAlgn="base" latinLnBrk="0" hangingPunct="1">
              <a:lnSpc>
                <a:spcPct val="110000"/>
              </a:lnSpc>
              <a:spcBef>
                <a:spcPct val="20000"/>
              </a:spcBef>
              <a:spcAft>
                <a:spcPct val="0"/>
              </a:spcAft>
              <a:buClrTx/>
              <a:buSzTx/>
              <a:buFont typeface="+mj-lt"/>
              <a:buAutoNum type="arabicParenR"/>
              <a:tabLst/>
              <a:defRPr/>
            </a:pPr>
            <a:endParaRPr lang="en-US" altLang="en-US" sz="2000" dirty="0">
              <a:solidFill>
                <a:srgbClr val="000000">
                  <a:lumMod val="50000"/>
                  <a:lumOff val="50000"/>
                </a:srgbClr>
              </a:solidFill>
              <a:latin typeface="Arial" panose="020B0604020202020204" pitchFamily="34" charset="0"/>
              <a:ea typeface="ＭＳ Ｐゴシック" panose="020B0600070205080204" pitchFamily="34" charset="-128"/>
            </a:endParaRPr>
          </a:p>
          <a:p>
            <a:pPr marL="457200" marR="0" lvl="1" indent="0" algn="l" defTabSz="914400" rtl="0" eaLnBrk="1" fontAlgn="base" latinLnBrk="0" hangingPunct="1">
              <a:lnSpc>
                <a:spcPct val="110000"/>
              </a:lnSpc>
              <a:spcBef>
                <a:spcPct val="20000"/>
              </a:spcBef>
              <a:spcAft>
                <a:spcPct val="0"/>
              </a:spcAft>
              <a:buClrTx/>
              <a:buSzTx/>
              <a:buNone/>
              <a:tabLst/>
              <a:defRPr/>
            </a:pPr>
            <a:endParaRPr kumimoji="0" lang="en-US" altLang="en-US" sz="20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ＭＳ Ｐゴシック" panose="020B0600070205080204" pitchFamily="34" charset="-128"/>
              <a:cs typeface="+mn-cs"/>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Left Arrow 1">
            <a:extLst>
              <a:ext uri="{FF2B5EF4-FFF2-40B4-BE49-F238E27FC236}">
                <a16:creationId xmlns:a16="http://schemas.microsoft.com/office/drawing/2014/main" id="{9EAB9178-4FFE-4DBE-8A05-9895F4EEEA09}"/>
              </a:ext>
            </a:extLst>
          </p:cNvPr>
          <p:cNvSpPr/>
          <p:nvPr/>
        </p:nvSpPr>
        <p:spPr bwMode="auto">
          <a:xfrm>
            <a:off x="5715000" y="884618"/>
            <a:ext cx="2209800" cy="1020382"/>
          </a:xfrm>
          <a:prstGeom prst="leftArrow">
            <a:avLst/>
          </a:prstGeom>
          <a:solidFill>
            <a:srgbClr val="92D050"/>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1" hangingPunct="1"/>
            <a:r>
              <a:rPr lang="en-US" sz="2400" i="1" dirty="0">
                <a:solidFill>
                  <a:srgbClr val="463634"/>
                </a:solidFill>
                <a:cs typeface="Arial" panose="020B0604020202020204" pitchFamily="34" charset="0"/>
              </a:rPr>
              <a:t>Easy to do!</a:t>
            </a:r>
          </a:p>
        </p:txBody>
      </p:sp>
      <p:pic>
        <p:nvPicPr>
          <p:cNvPr id="7" name="Picture 6">
            <a:extLst>
              <a:ext uri="{FF2B5EF4-FFF2-40B4-BE49-F238E27FC236}">
                <a16:creationId xmlns:a16="http://schemas.microsoft.com/office/drawing/2014/main" id="{D66C52D6-1DCD-436A-AB71-79666B8039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892" y="2438400"/>
            <a:ext cx="7038284" cy="3705199"/>
          </a:xfrm>
          <a:prstGeom prst="rect">
            <a:avLst/>
          </a:prstGeom>
        </p:spPr>
      </p:pic>
    </p:spTree>
    <p:extLst>
      <p:ext uri="{BB962C8B-B14F-4D97-AF65-F5344CB8AC3E}">
        <p14:creationId xmlns:p14="http://schemas.microsoft.com/office/powerpoint/2010/main" val="196337026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Two different kinds of a Planned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914400" marR="0" lvl="1" indent="-457200" algn="l" defTabSz="914400" rtl="0" eaLnBrk="1" fontAlgn="base" latinLnBrk="0" hangingPunct="1">
              <a:lnSpc>
                <a:spcPct val="110000"/>
              </a:lnSpc>
              <a:spcBef>
                <a:spcPct val="20000"/>
              </a:spcBef>
              <a:spcAft>
                <a:spcPct val="0"/>
              </a:spcAft>
              <a:buClrTx/>
              <a:buSzTx/>
              <a:buFont typeface="+mj-lt"/>
              <a:buAutoNum type="arabicParenR"/>
              <a:tabLst/>
              <a:defRPr/>
            </a:pPr>
            <a:r>
              <a:rPr kumimoji="0" lang="en-US" altLang="en-US" sz="2000" i="0" u="none" strike="noStrike" kern="1200" cap="none" spc="0" normalizeH="0" baseline="0" noProof="0" dirty="0">
                <a:ln>
                  <a:noFill/>
                </a:ln>
                <a:solidFill>
                  <a:srgbClr val="808080"/>
                </a:solidFill>
                <a:effectLst/>
                <a:uLnTx/>
                <a:uFillTx/>
                <a:latin typeface="Arial" panose="020B0604020202020204" pitchFamily="34" charset="0"/>
                <a:ea typeface="ＭＳ Ｐゴシック" panose="020B0600070205080204" pitchFamily="34" charset="-128"/>
                <a:cs typeface="+mn-cs"/>
              </a:rPr>
              <a:t>Physical conditions in the workplace</a:t>
            </a:r>
          </a:p>
          <a:p>
            <a:pPr marL="914400" marR="0" lvl="1" indent="-457200" algn="l" defTabSz="914400" rtl="0" eaLnBrk="1" fontAlgn="base" latinLnBrk="0" hangingPunct="1">
              <a:lnSpc>
                <a:spcPct val="110000"/>
              </a:lnSpc>
              <a:spcBef>
                <a:spcPct val="20000"/>
              </a:spcBef>
              <a:spcAft>
                <a:spcPct val="0"/>
              </a:spcAft>
              <a:buClr>
                <a:srgbClr val="000000"/>
              </a:buClr>
              <a:buSzTx/>
              <a:buFont typeface="+mj-lt"/>
              <a:buAutoNum type="arabicParenR"/>
              <a:tabLst/>
              <a:defRPr/>
            </a:pPr>
            <a:endParaRPr kumimoji="0" lang="en-US" altLang="en-US" sz="2000" i="0" u="none" strike="noStrike" kern="1200" cap="none" spc="0" normalizeH="0" baseline="0" noProof="0" dirty="0">
              <a:ln>
                <a:noFill/>
              </a:ln>
              <a:solidFill>
                <a:srgbClr val="808080"/>
              </a:solidFill>
              <a:effectLst/>
              <a:uLnTx/>
              <a:uFillTx/>
              <a:latin typeface="Arial" panose="020B0604020202020204" pitchFamily="34" charset="0"/>
              <a:ea typeface="ＭＳ Ｐゴシック" panose="020B0600070205080204" pitchFamily="34" charset="-128"/>
              <a:cs typeface="+mn-cs"/>
            </a:endParaRPr>
          </a:p>
          <a:p>
            <a:pPr marL="914400" lvl="1" indent="-457200" eaLnBrk="1" hangingPunct="1">
              <a:lnSpc>
                <a:spcPct val="110000"/>
              </a:lnSpc>
              <a:spcBef>
                <a:spcPct val="20000"/>
              </a:spcBef>
              <a:buClrTx/>
              <a:buFont typeface="+mj-lt"/>
              <a:buAutoNum type="arabicParenR"/>
              <a:defRPr/>
            </a:pPr>
            <a:r>
              <a:rPr kumimoji="0" lang="en-US" altLang="en-US" sz="2000" b="1"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rPr>
              <a:t>Practices of work-in-progress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(to </a:t>
            </a: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observe</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interact</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check</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2000" b="1"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endParaRPr>
          </a:p>
          <a:p>
            <a:pPr marL="857250" marR="0" lvl="2" indent="0" algn="l" defTabSz="914400" rtl="0" eaLnBrk="1" fontAlgn="base" latinLnBrk="0" hangingPunct="1">
              <a:lnSpc>
                <a:spcPct val="100000"/>
              </a:lnSpc>
              <a:spcBef>
                <a:spcPts val="0"/>
              </a:spcBef>
              <a:spcAft>
                <a:spcPct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the </a:t>
            </a: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Individual</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Level (the manager and the worker) or </a:t>
            </a:r>
          </a:p>
          <a:p>
            <a:pPr marL="857250" marR="0" lvl="2" indent="0" algn="l" defTabSz="914400" rtl="0" eaLnBrk="1" fontAlgn="base" latinLnBrk="0" hangingPunct="1">
              <a:lnSpc>
                <a:spcPct val="100000"/>
              </a:lnSpc>
              <a:spcBef>
                <a:spcPts val="0"/>
              </a:spcBef>
              <a:spcAft>
                <a:spcPct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the </a:t>
            </a: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Team</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Level (the manager and a team i.e. a crew or shift or group of workers).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Left Arrow 10">
            <a:extLst>
              <a:ext uri="{FF2B5EF4-FFF2-40B4-BE49-F238E27FC236}">
                <a16:creationId xmlns:a16="http://schemas.microsoft.com/office/drawing/2014/main" id="{FC648825-C11F-48EF-A623-7D8C7BB5C29C}"/>
              </a:ext>
            </a:extLst>
          </p:cNvPr>
          <p:cNvSpPr/>
          <p:nvPr/>
        </p:nvSpPr>
        <p:spPr bwMode="auto">
          <a:xfrm rot="19784728">
            <a:off x="4366931" y="893479"/>
            <a:ext cx="2310129" cy="1020382"/>
          </a:xfrm>
          <a:prstGeom prst="leftArrow">
            <a:avLst/>
          </a:prstGeom>
          <a:solidFill>
            <a:srgbClr val="FF0000"/>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a:ln>
                  <a:noFill/>
                </a:ln>
                <a:solidFill>
                  <a:srgbClr val="FFFFFF"/>
                </a:solidFill>
                <a:effectLst/>
                <a:uLnTx/>
                <a:uFillTx/>
                <a:cs typeface="Arial" panose="020B0604020202020204" pitchFamily="34" charset="0"/>
              </a:rPr>
              <a:t>Challenging!</a:t>
            </a:r>
          </a:p>
        </p:txBody>
      </p:sp>
      <p:pic>
        <p:nvPicPr>
          <p:cNvPr id="7" name="Picture 6" descr="Commons:Photo challenge/2015 - August - Personal ...">
            <a:extLst>
              <a:ext uri="{FF2B5EF4-FFF2-40B4-BE49-F238E27FC236}">
                <a16:creationId xmlns:a16="http://schemas.microsoft.com/office/drawing/2014/main" id="{320D1909-8CD9-440E-B44F-AE48CCBBB2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999" y="3481952"/>
            <a:ext cx="2196529" cy="1699648"/>
          </a:xfrm>
          <a:prstGeom prst="rect">
            <a:avLst/>
          </a:prstGeom>
        </p:spPr>
      </p:pic>
      <p:pic>
        <p:nvPicPr>
          <p:cNvPr id="10" name="Picture 9" descr="Free photo: &lt;strong&gt;Industrial&lt;/strong&gt;, Security, Logistic - Free Image on ...">
            <a:extLst>
              <a:ext uri="{FF2B5EF4-FFF2-40B4-BE49-F238E27FC236}">
                <a16:creationId xmlns:a16="http://schemas.microsoft.com/office/drawing/2014/main" id="{486C4D98-3F6A-4681-8FF3-EFA5A84A2C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37098" y="4301631"/>
            <a:ext cx="2184673" cy="1689599"/>
          </a:xfrm>
          <a:prstGeom prst="rect">
            <a:avLst/>
          </a:prstGeom>
        </p:spPr>
      </p:pic>
      <p:pic>
        <p:nvPicPr>
          <p:cNvPr id="11" name="Picture 10" descr="Builder PNG image">
            <a:extLst>
              <a:ext uri="{FF2B5EF4-FFF2-40B4-BE49-F238E27FC236}">
                <a16:creationId xmlns:a16="http://schemas.microsoft.com/office/drawing/2014/main" id="{6A789622-89DF-4BB7-B1E2-4132FC975E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1701" y="3072051"/>
            <a:ext cx="2628299" cy="2964648"/>
          </a:xfrm>
          <a:prstGeom prst="rect">
            <a:avLst/>
          </a:prstGeom>
        </p:spPr>
      </p:pic>
    </p:spTree>
    <p:extLst>
      <p:ext uri="{BB962C8B-B14F-4D97-AF65-F5344CB8AC3E}">
        <p14:creationId xmlns:p14="http://schemas.microsoft.com/office/powerpoint/2010/main" val="401255167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 is it Challenging to do Planned Inspections</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a:lnSpc>
                <a:spcPct val="90000"/>
              </a:lnSpc>
              <a:spcBef>
                <a:spcPts val="0"/>
              </a:spcBef>
              <a:buClr>
                <a:srgbClr val="000000"/>
              </a:buClr>
              <a:buSzPct val="100000"/>
              <a:defRPr/>
            </a:pPr>
            <a:r>
              <a:rPr lang="en-US" altLang="en-US" sz="2000" dirty="0" smtClean="0">
                <a:solidFill>
                  <a:srgbClr val="F8F8F8"/>
                </a:solidFill>
                <a:ea typeface="ＭＳ Ｐゴシック" panose="020B0600070205080204" pitchFamily="34" charset="-128"/>
                <a:cs typeface="Arial" panose="020B0604020202020204" pitchFamily="34" charset="0"/>
              </a:rPr>
              <a:t>It is challenging to do planned inspections i.e. to inspect / audit practices </a:t>
            </a:r>
            <a:r>
              <a:rPr lang="en-US" altLang="en-US" sz="2000" dirty="0">
                <a:solidFill>
                  <a:srgbClr val="F8F8F8"/>
                </a:solidFill>
                <a:ea typeface="ＭＳ Ｐゴシック" panose="020B0600070205080204" pitchFamily="34" charset="-128"/>
                <a:cs typeface="Arial" panose="020B0604020202020204" pitchFamily="34" charset="0"/>
              </a:rPr>
              <a:t>of work-in-progress (to observe, interact, check</a:t>
            </a:r>
            <a:r>
              <a:rPr lang="en-US" altLang="en-US" sz="2000" dirty="0" smtClean="0">
                <a:solidFill>
                  <a:srgbClr val="F8F8F8"/>
                </a:solidFill>
                <a:ea typeface="ＭＳ Ｐゴシック" panose="020B0600070205080204" pitchFamily="34" charset="-128"/>
                <a:cs typeface="Arial" panose="020B0604020202020204" pitchFamily="34" charset="0"/>
              </a:rPr>
              <a:t>) because:</a:t>
            </a:r>
            <a:endParaRPr lang="en-US" altLang="en-US" sz="2000" dirty="0">
              <a:solidFill>
                <a:srgbClr val="F8F8F8"/>
              </a:solidFill>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We </a:t>
            </a:r>
            <a:r>
              <a:rPr lang="en-CA" altLang="en-US" sz="2000" dirty="0">
                <a:solidFill>
                  <a:srgbClr val="FFFFFF"/>
                </a:solidFill>
                <a:ea typeface="ＭＳ Ｐゴシック" panose="020B0600070205080204" pitchFamily="34" charset="-128"/>
              </a:rPr>
              <a:t>typically and naturally do not know how to do this effectively. </a:t>
            </a: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It </a:t>
            </a:r>
            <a:r>
              <a:rPr lang="en-CA" altLang="en-US" sz="2000" dirty="0">
                <a:solidFill>
                  <a:srgbClr val="FFFFFF"/>
                </a:solidFill>
                <a:ea typeface="ＭＳ Ｐゴシック" panose="020B0600070205080204" pitchFamily="34" charset="-128"/>
              </a:rPr>
              <a:t>is uncomfortable </a:t>
            </a:r>
            <a:r>
              <a:rPr lang="en-CA" altLang="en-US" sz="2000" dirty="0" smtClean="0">
                <a:solidFill>
                  <a:srgbClr val="FFFFFF"/>
                </a:solidFill>
                <a:ea typeface="ＭＳ Ｐゴシック" panose="020B0600070205080204" pitchFamily="34" charset="-128"/>
              </a:rPr>
              <a:t>for us to “confront” </a:t>
            </a:r>
            <a:r>
              <a:rPr lang="en-CA" altLang="en-US" sz="2000" dirty="0">
                <a:solidFill>
                  <a:srgbClr val="FFFFFF"/>
                </a:solidFill>
                <a:ea typeface="ＭＳ Ｐゴシック" panose="020B0600070205080204" pitchFamily="34" charset="-128"/>
              </a:rPr>
              <a:t>a worker.</a:t>
            </a: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Take any “people-skills” training on how to observe, interact, and coach workers at your employer – in-line with the culture of your employer. </a:t>
            </a:r>
          </a:p>
          <a:p>
            <a:pPr marL="360000" lvl="2" indent="-360000" eaLnBrk="1" hangingPunct="1">
              <a:lnSpc>
                <a:spcPct val="90000"/>
              </a:lnSpc>
              <a:spcBef>
                <a:spcPts val="0"/>
              </a:spcBef>
              <a:buFont typeface="Wingdings" panose="05000000000000000000" pitchFamily="2" charset="2"/>
              <a:buChar char="Ø"/>
              <a:defRPr/>
            </a:pPr>
            <a:r>
              <a:rPr lang="en-CA" altLang="en-US" sz="2000" b="1" u="sng" dirty="0" smtClean="0">
                <a:solidFill>
                  <a:srgbClr val="FFFFFF"/>
                </a:solidFill>
                <a:ea typeface="ＭＳ Ｐゴシック" panose="020B0600070205080204" pitchFamily="34" charset="-128"/>
              </a:rPr>
              <a:t>This will support your becoming a leader!</a:t>
            </a:r>
            <a:endParaRPr lang="en-CA" altLang="en-US" sz="2000" b="1" u="sng" dirty="0">
              <a:solidFill>
                <a:srgbClr val="FFFFFF"/>
              </a:solidFill>
              <a:ea typeface="ＭＳ Ｐゴシック" panose="020B0600070205080204" pitchFamily="34" charset="-128"/>
            </a:endParaRPr>
          </a:p>
        </p:txBody>
      </p:sp>
      <p:pic>
        <p:nvPicPr>
          <p:cNvPr id="12" name="Picture 11" descr="Commons:Photo challenge/2015 - August - Personal ...">
            <a:extLst>
              <a:ext uri="{FF2B5EF4-FFF2-40B4-BE49-F238E27FC236}">
                <a16:creationId xmlns:a16="http://schemas.microsoft.com/office/drawing/2014/main" id="{320D1909-8CD9-440E-B44F-AE48CCBBB2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999" y="3481952"/>
            <a:ext cx="2196529" cy="1699648"/>
          </a:xfrm>
          <a:prstGeom prst="rect">
            <a:avLst/>
          </a:prstGeom>
        </p:spPr>
      </p:pic>
      <p:pic>
        <p:nvPicPr>
          <p:cNvPr id="13" name="Picture 12" descr="Free photo: &lt;strong&gt;Industrial&lt;/strong&gt;, Security, Logistic - Free Image on ...">
            <a:extLst>
              <a:ext uri="{FF2B5EF4-FFF2-40B4-BE49-F238E27FC236}">
                <a16:creationId xmlns:a16="http://schemas.microsoft.com/office/drawing/2014/main" id="{486C4D98-3F6A-4681-8FF3-EFA5A84A2C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37098" y="4301631"/>
            <a:ext cx="2184673" cy="1689599"/>
          </a:xfrm>
          <a:prstGeom prst="rect">
            <a:avLst/>
          </a:prstGeom>
        </p:spPr>
      </p:pic>
      <p:pic>
        <p:nvPicPr>
          <p:cNvPr id="14" name="Picture 13" descr="Builder PNG image">
            <a:extLst>
              <a:ext uri="{FF2B5EF4-FFF2-40B4-BE49-F238E27FC236}">
                <a16:creationId xmlns:a16="http://schemas.microsoft.com/office/drawing/2014/main" id="{6A789622-89DF-4BB7-B1E2-4132FC975E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1701" y="3072051"/>
            <a:ext cx="2628299" cy="2964648"/>
          </a:xfrm>
          <a:prstGeom prst="rect">
            <a:avLst/>
          </a:prstGeom>
        </p:spPr>
      </p:pic>
    </p:spTree>
    <p:extLst>
      <p:ext uri="{BB962C8B-B14F-4D97-AF65-F5344CB8AC3E}">
        <p14:creationId xmlns:p14="http://schemas.microsoft.com/office/powerpoint/2010/main" val="279750497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 of Work Practices:</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a:lnSpc>
                <a:spcPct val="90000"/>
              </a:lnSpc>
              <a:spcBef>
                <a:spcPts val="0"/>
              </a:spcBef>
              <a:buClr>
                <a:srgbClr val="000000"/>
              </a:buClr>
              <a:buSzPct val="100000"/>
              <a:defRPr/>
            </a:pPr>
            <a:r>
              <a:rPr lang="en-US" altLang="en-US" sz="2000" dirty="0">
                <a:solidFill>
                  <a:srgbClr val="F8F8F8"/>
                </a:solidFill>
                <a:ea typeface="ＭＳ Ｐゴシック" panose="020B0600070205080204" pitchFamily="34" charset="-128"/>
                <a:cs typeface="Arial" panose="020B0604020202020204" pitchFamily="34" charset="0"/>
              </a:rPr>
              <a:t>I</a:t>
            </a:r>
            <a:r>
              <a:rPr lang="en-US" altLang="en-US" sz="2000" dirty="0" smtClean="0">
                <a:solidFill>
                  <a:srgbClr val="F8F8F8"/>
                </a:solidFill>
                <a:ea typeface="ＭＳ Ｐゴシック" panose="020B0600070205080204" pitchFamily="34" charset="-128"/>
                <a:cs typeface="Arial" panose="020B0604020202020204" pitchFamily="34" charset="0"/>
              </a:rPr>
              <a:t>nspect / audit practices </a:t>
            </a:r>
            <a:r>
              <a:rPr lang="en-US" altLang="en-US" sz="2000" dirty="0">
                <a:solidFill>
                  <a:srgbClr val="F8F8F8"/>
                </a:solidFill>
                <a:ea typeface="ＭＳ Ｐゴシック" panose="020B0600070205080204" pitchFamily="34" charset="-128"/>
                <a:cs typeface="Arial" panose="020B0604020202020204" pitchFamily="34" charset="0"/>
              </a:rPr>
              <a:t>of work-in-progress (to observe, interact, check)</a:t>
            </a:r>
          </a:p>
          <a:p>
            <a:pPr marL="360000" marR="0" lvl="2" indent="-360000" algn="l" defTabSz="914400" rtl="0" eaLnBrk="1" fontAlgn="base" latinLnBrk="0" hangingPunct="1">
              <a:lnSpc>
                <a:spcPct val="90000"/>
              </a:lnSpc>
              <a:spcBef>
                <a:spcPts val="0"/>
              </a:spcBef>
              <a:spcAft>
                <a:spcPct val="0"/>
              </a:spcAft>
              <a:buClrTx/>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At the </a:t>
            </a:r>
            <a:r>
              <a:rPr kumimoji="0" lang="en-US" altLang="en-US" sz="20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Individual</a:t>
            </a:r>
            <a:r>
              <a:rPr kumimoji="0" lang="en-US" altLang="en-US" sz="20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Level (the manager and the worker) or </a:t>
            </a:r>
          </a:p>
          <a:p>
            <a:pPr marL="360000" marR="0" lvl="2" indent="-360000" algn="l" defTabSz="914400" rtl="0" eaLnBrk="1" fontAlgn="base" latinLnBrk="0" hangingPunct="1">
              <a:lnSpc>
                <a:spcPct val="90000"/>
              </a:lnSpc>
              <a:spcBef>
                <a:spcPts val="0"/>
              </a:spcBef>
              <a:spcAft>
                <a:spcPct val="0"/>
              </a:spcAft>
              <a:buClrTx/>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At </a:t>
            </a:r>
            <a:r>
              <a:rPr kumimoji="0" lang="en-US" altLang="en-US" sz="20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the </a:t>
            </a:r>
            <a:r>
              <a:rPr kumimoji="0" lang="en-US" altLang="en-US" sz="20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Team</a:t>
            </a:r>
            <a:r>
              <a:rPr kumimoji="0" lang="en-US" altLang="en-US" sz="20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 Level (the manager and a team i.e. a crew or shift or group of workers). </a:t>
            </a: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Think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back to your work experiences … </a:t>
            </a: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2" indent="-360000" eaLnBrk="1" hangingPunct="1">
              <a:lnSpc>
                <a:spcPct val="90000"/>
              </a:lnSpc>
              <a:spcBef>
                <a:spcPts val="0"/>
              </a:spcBef>
              <a:buFont typeface="Wingdings" panose="05000000000000000000" pitchFamily="2" charset="2"/>
              <a:buChar char="Ø"/>
              <a:defRPr/>
            </a:pPr>
            <a:r>
              <a:rPr lang="en-CA" altLang="en-US" sz="2000" dirty="0">
                <a:solidFill>
                  <a:srgbClr val="FFFFFF"/>
                </a:solidFill>
                <a:ea typeface="ＭＳ Ｐゴシック" panose="020B0600070205080204" pitchFamily="34" charset="-128"/>
              </a:rPr>
              <a:t>Did your supervisor or any other manager approach you and your work crew, and ask questions about hazards and risks on the job, about any control measures such as the FLRA, Procedures, or </a:t>
            </a:r>
            <a:r>
              <a:rPr lang="en-CA" altLang="en-US" sz="2000" dirty="0" smtClean="0">
                <a:solidFill>
                  <a:srgbClr val="FFFFFF"/>
                </a:solidFill>
                <a:ea typeface="ＭＳ Ｐゴシック" panose="020B0600070205080204" pitchFamily="34" charset="-128"/>
              </a:rPr>
              <a:t>Permit-to-Work?</a:t>
            </a: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Was </a:t>
            </a:r>
            <a:r>
              <a:rPr lang="en-CA" altLang="en-US" sz="2000" dirty="0">
                <a:solidFill>
                  <a:srgbClr val="FFFFFF"/>
                </a:solidFill>
                <a:ea typeface="ＭＳ Ｐゴシック" panose="020B0600070205080204" pitchFamily="34" charset="-128"/>
              </a:rPr>
              <a:t>it a positive, productive  experience? </a:t>
            </a: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If the answers to these questions are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yes, then you were working in a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leading organization! </a:t>
            </a: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lang="en-CA" altLang="en-US" sz="2000" dirty="0">
              <a:solidFill>
                <a:srgbClr val="F8F8F8"/>
              </a:solidFill>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r>
              <a:rPr kumimoji="0" lang="en-CA" altLang="en-US" sz="2000" b="1" i="0" u="sng"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1"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leader </a:t>
            </a:r>
            <a:r>
              <a:rPr kumimoji="0" lang="en-CA" altLang="en-US" sz="2000" b="1" i="0" u="sng"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was </a:t>
            </a:r>
            <a:r>
              <a:rPr kumimoji="0" lang="en-CA" altLang="en-US" sz="2000" b="1"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doing their job!</a:t>
            </a: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10" name="Picture 9" descr="Commons:Photo challenge/2015 - August - Personal ...">
            <a:extLst>
              <a:ext uri="{FF2B5EF4-FFF2-40B4-BE49-F238E27FC236}">
                <a16:creationId xmlns:a16="http://schemas.microsoft.com/office/drawing/2014/main" id="{E8A9D7C3-B7F6-4335-9D50-EA0F5C837E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4400" y="4648200"/>
            <a:ext cx="1600200" cy="1272600"/>
          </a:xfrm>
          <a:prstGeom prst="rect">
            <a:avLst/>
          </a:prstGeom>
        </p:spPr>
      </p:pic>
      <p:pic>
        <p:nvPicPr>
          <p:cNvPr id="11" name="Picture 10" descr="Free photo: &lt;strong&gt;Industrial&lt;/strong&gt;, Security, Logistic - Free Image on ...">
            <a:extLst>
              <a:ext uri="{FF2B5EF4-FFF2-40B4-BE49-F238E27FC236}">
                <a16:creationId xmlns:a16="http://schemas.microsoft.com/office/drawing/2014/main" id="{E8030FA1-A0A5-4718-B243-9D453E34B60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43747" y="4648200"/>
            <a:ext cx="1902953" cy="1272600"/>
          </a:xfrm>
          <a:prstGeom prst="rect">
            <a:avLst/>
          </a:prstGeom>
        </p:spPr>
      </p:pic>
    </p:spTree>
    <p:extLst>
      <p:ext uri="{BB962C8B-B14F-4D97-AF65-F5344CB8AC3E}">
        <p14:creationId xmlns:p14="http://schemas.microsoft.com/office/powerpoint/2010/main" val="94333188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acceptance of SCs and SPs in the workplace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 sets in when:</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Workers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become accustomed to and comfortable with</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operations, facility, equipment, procedures, and work processes.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This comfort level leads to complacency.</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workers may begin to take “short-cuts” with practices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and/or conditions.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manager can – and must – combat complacency:</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inspections check for compliance AND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 to correct deviations.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Face-to-face coaching to be empowered to address sub-standard conditions and at-risk behaviours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Positively influence safety culture of the organization.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JO &amp; PI as a Means to Combat Complacency: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Tree>
    <p:extLst>
      <p:ext uri="{BB962C8B-B14F-4D97-AF65-F5344CB8AC3E}">
        <p14:creationId xmlns:p14="http://schemas.microsoft.com/office/powerpoint/2010/main" val="119293645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1EFB3B-CB86-4BC7-8FEA-E188C77EC267}"/>
              </a:ext>
            </a:extLst>
          </p:cNvPr>
          <p:cNvPicPr>
            <a:picLocks noChangeAspect="1"/>
          </p:cNvPicPr>
          <p:nvPr/>
        </p:nvPicPr>
        <p:blipFill>
          <a:blip r:embed="rId3"/>
          <a:stretch>
            <a:fillRect/>
          </a:stretch>
        </p:blipFill>
        <p:spPr>
          <a:xfrm>
            <a:off x="175710" y="2667000"/>
            <a:ext cx="8637690" cy="1605280"/>
          </a:xfrm>
          <a:prstGeom prst="rect">
            <a:avLst/>
          </a:prstGeom>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Tx/>
              <a:buSzPct val="100000"/>
              <a:buNone/>
              <a:defRPr/>
            </a:pPr>
            <a:r>
              <a:rPr lang="en-US"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Limitations </a:t>
            </a:r>
            <a:r>
              <a:rPr lang="en-US"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Drawbacks of Checklists: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Too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narrow: does not cover every anticipated need or every situation.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carefully observant, hazards / deficiencies can be overlooked.</a:t>
            </a:r>
          </a:p>
          <a:p>
            <a:pPr marL="0" marR="0" indent="0" defTabSz="914400" latinLnBrk="0">
              <a:lnSpc>
                <a:spcPct val="100000"/>
              </a:lnSpc>
              <a:spcBef>
                <a:spcPts val="0"/>
              </a:spcBef>
              <a:buClrTx/>
              <a:buSzPct val="100000"/>
              <a:buNone/>
              <a:tabLst/>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overcome these </a:t>
            </a: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drawbacks, checklists become longer:</a:t>
            </a:r>
            <a:endPar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it</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becomes a p</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erfunctory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fashion (so called “checking the boxes” or “pencil whipping exercise”).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Outcome: </a:t>
            </a: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impact </a:t>
            </a: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 culture </a:t>
            </a: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complacency!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sets in with repeated use and lack of leadership support;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thus</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 opportunity for leadership in risk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Complacency: “normalization of deviation”, “atrophy of vigilance”,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 to risk”, the casual acceptance of unacceptable risk levels.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cs typeface="Arial" panose="020B0604020202020204" pitchFamily="34" charset="0"/>
              </a:rPr>
              <a:t>JO &amp; PI as a Means to Combat Complacency: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5.6: Checklists for Executing Work</a:t>
            </a:r>
          </a:p>
        </p:txBody>
      </p:sp>
      <p:sp>
        <p:nvSpPr>
          <p:cNvPr id="6" name="Text Box 6">
            <a:extLst>
              <a:ext uri="{FF2B5EF4-FFF2-40B4-BE49-F238E27FC236}">
                <a16:creationId xmlns:a16="http://schemas.microsoft.com/office/drawing/2014/main" id="{0434AA85-6252-48E1-8DE1-BB49D21AF9F2}"/>
              </a:ext>
            </a:extLst>
          </p:cNvPr>
          <p:cNvSpPr txBox="1">
            <a:spLocks noChangeArrowheads="1"/>
          </p:cNvSpPr>
          <p:nvPr/>
        </p:nvSpPr>
        <p:spPr bwMode="auto">
          <a:xfrm>
            <a:off x="317100" y="4416280"/>
            <a:ext cx="8229600" cy="1772254"/>
          </a:xfrm>
          <a:prstGeom prst="rect">
            <a:avLst/>
          </a:prstGeom>
          <a:solidFill>
            <a:schemeClr val="tx1"/>
          </a:solidFill>
          <a:ln w="9525">
            <a:solidFill>
              <a:srgbClr val="000000"/>
            </a:solidFill>
            <a:miter lim="800000"/>
            <a:headEnd/>
            <a:tailEnd/>
          </a:ln>
          <a:effectLst>
            <a:prstShdw prst="shdw17" dist="17961" dir="2700000">
              <a:srgbClr val="000000"/>
            </a:prstShdw>
          </a:effec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5000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This an opportunity for leadership. </a:t>
            </a:r>
            <a:endPar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5000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So</a:t>
            </a: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 </a:t>
            </a:r>
            <a:r>
              <a:rPr kumimoji="0" lang="en-CA" altLang="en-US" sz="2000" b="0" i="1" u="sng"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what can leaders do to combat complacency</a:t>
            </a: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a:t>
            </a:r>
          </a:p>
          <a:p>
            <a:pPr marL="342900" marR="0" lvl="0" indent="-342900" algn="l" defTabSz="914400" rtl="0" eaLnBrk="0" fontAlgn="base" latinLnBrk="0" hangingPunct="0">
              <a:lnSpc>
                <a:spcPct val="100000"/>
              </a:lnSpc>
              <a:spcBef>
                <a:spcPct val="50000"/>
              </a:spcBef>
              <a:spcAft>
                <a:spcPct val="0"/>
              </a:spcAft>
              <a:buClrTx/>
              <a:buSzTx/>
              <a:buFont typeface="Wingdings" panose="05000000000000000000" pitchFamily="2" charset="2"/>
              <a:buChar char="Ø"/>
              <a:tabLst/>
              <a:defRPr/>
            </a:pPr>
            <a:r>
              <a:rPr lang="en-CA" altLang="en-US" sz="2000" i="1" dirty="0" smtClean="0">
                <a:solidFill>
                  <a:srgbClr val="FFFFFF"/>
                </a:solidFill>
                <a:latin typeface="Arial" panose="020B0604020202020204" pitchFamily="34" charset="0"/>
              </a:rPr>
              <a:t>Let’s explore this </a:t>
            </a: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question. </a:t>
            </a: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0856285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cs typeface="Arial" panose="020B0604020202020204" pitchFamily="34" charset="0"/>
              </a:rPr>
              <a:t>Planned Inspections and </a:t>
            </a:r>
            <a:r>
              <a:rPr lang="en-US" altLang="en-US" sz="2400" dirty="0" smtClean="0">
                <a:solidFill>
                  <a:srgbClr val="333399"/>
                </a:solidFill>
                <a:latin typeface="Arial" panose="020B0604020202020204" pitchFamily="34" charset="0"/>
                <a:cs typeface="Arial" panose="020B0604020202020204" pitchFamily="34" charset="0"/>
              </a:rPr>
              <a:t>Audits: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CA" sz="1200" b="1" i="1" kern="0" dirty="0">
                <a:solidFill>
                  <a:srgbClr val="000000"/>
                </a:solidFill>
                <a:latin typeface="Arial" charset="0"/>
                <a:ea typeface="Times New Roman"/>
                <a:cs typeface="Arial" panose="020B0604020202020204" pitchFamily="34" charset="0"/>
                <a:sym typeface="Times New Roman"/>
              </a:rPr>
              <a:t>Chapter 5.8: Job Observations &amp; Planned Inspections (Audits)</a:t>
            </a:r>
          </a:p>
        </p:txBody>
      </p:sp>
      <p:sp>
        <p:nvSpPr>
          <p:cNvPr id="10" name="Rectangle 3"/>
          <p:cNvSpPr>
            <a:spLocks noChangeArrowheads="1"/>
          </p:cNvSpPr>
          <p:nvPr/>
        </p:nvSpPr>
        <p:spPr bwMode="auto">
          <a:xfrm>
            <a:off x="252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nSpc>
                <a:spcPct val="100000"/>
              </a:lnSpc>
              <a:spcBef>
                <a:spcPts val="0"/>
              </a:spcBef>
              <a:buClrTx/>
              <a:buSzPct val="100000"/>
              <a:buNone/>
              <a:defRPr/>
            </a:pPr>
            <a:r>
              <a:rPr lang="en-CA" altLang="en-US"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Planned Inspections and Audits – What is the Difference?</a:t>
            </a:r>
            <a:endPar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difference: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Planned</a:t>
            </a:r>
          </a:p>
          <a:p>
            <a:pPr marL="720000" lvl="0" indent="-360000">
              <a:lnSpc>
                <a:spcPct val="100000"/>
              </a:lnSpc>
              <a:spcBef>
                <a:spcPts val="0"/>
              </a:spcBef>
              <a:buClrTx/>
              <a:buSzPct val="100000"/>
              <a:buFont typeface="Wingdings" panose="05000000000000000000" pitchFamily="2" charset="2"/>
              <a:buChar char="Ø"/>
              <a:defRPr/>
            </a:pPr>
            <a:r>
              <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Looking for deviations</a:t>
            </a:r>
            <a:r>
              <a:rPr kumimoji="0" lang="en-CA" altLang="en-US"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deficiencies</a:t>
            </a: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“Audit” can have negative connotations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lnSpc>
                <a:spcPct val="100000"/>
              </a:lnSpc>
              <a:spcBef>
                <a:spcPts val="0"/>
              </a:spcBef>
              <a:buClrTx/>
              <a:buSzPct val="100000"/>
              <a:buFont typeface="Wingdings" panose="05000000000000000000" pitchFamily="2" charset="2"/>
              <a:buChar char="Ø"/>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context of risk management:</a:t>
            </a:r>
          </a:p>
          <a:p>
            <a:pPr marL="720000" lvl="0" indent="-360000">
              <a:lnSpc>
                <a:spcPct val="100000"/>
              </a:lnSpc>
              <a:spcBef>
                <a:spcPts val="0"/>
              </a:spcBef>
              <a:buClrTx/>
              <a:buSzPct val="100000"/>
              <a:buFont typeface="Wingdings" panose="05000000000000000000" pitchFamily="2" charset="2"/>
              <a:buChar char="Ø"/>
              <a:defRPr/>
            </a:pPr>
            <a:endPar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a:lnSpc>
                <a:spcPct val="100000"/>
              </a:lnSpc>
              <a:spcBef>
                <a:spcPts val="0"/>
              </a:spcBef>
              <a:buClrTx/>
              <a:buSzPct val="100000"/>
              <a:buFont typeface="Wingdings" panose="05000000000000000000" pitchFamily="2" charset="2"/>
              <a:buChar char="Ø"/>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Planned Inspection</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the </a:t>
            </a:r>
            <a:r>
              <a:rPr lang="en-US" altLang="en-US"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Individual / Team Level</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checks the work practices in real-time with interactions with workers</a:t>
            </a:r>
          </a:p>
          <a:p>
            <a:pPr marL="720000" lvl="0" indent="-360000">
              <a:lnSpc>
                <a:spcPct val="100000"/>
              </a:lnSpc>
              <a:spcBef>
                <a:spcPts val="0"/>
              </a:spcBef>
              <a:buClrTx/>
              <a:buSzPct val="100000"/>
              <a:buFont typeface="Wingdings" panose="05000000000000000000" pitchFamily="2" charset="2"/>
              <a:buChar char="Ø"/>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0" indent="-360000">
              <a:lnSpc>
                <a:spcPct val="100000"/>
              </a:lnSpc>
              <a:spcBef>
                <a:spcPts val="0"/>
              </a:spcBef>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t>
            </a:r>
            <a:r>
              <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checks the </a:t>
            </a:r>
            <a:r>
              <a:rPr lang="en-US" altLang="en-US"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integrity of specific components of the risk management system and program</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more is discussed in the topic on </a:t>
            </a:r>
            <a:r>
              <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RME #6 PECI</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49707792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dirty="0" smtClean="0">
                <a:solidFill>
                  <a:srgbClr val="333399"/>
                </a:solidFill>
                <a:latin typeface="Arial" panose="020B0604020202020204" pitchFamily="34" charset="0"/>
                <a:cs typeface="Arial" panose="020B0604020202020204" pitchFamily="34" charset="0"/>
              </a:rPr>
              <a:t>Audits on Critical Administrative Controls</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CA" sz="1200" b="1" i="1" kern="0" dirty="0">
                <a:solidFill>
                  <a:srgbClr val="000000"/>
                </a:solidFill>
                <a:latin typeface="Arial" charset="0"/>
                <a:ea typeface="Times New Roman"/>
                <a:cs typeface="Arial" panose="020B0604020202020204" pitchFamily="34" charset="0"/>
                <a:sym typeface="Times New Roman"/>
              </a:rPr>
              <a:t>Chapter 5.8: Job Observations &amp; Planned Inspections (Audits)</a:t>
            </a:r>
          </a:p>
        </p:txBody>
      </p:sp>
      <p:sp>
        <p:nvSpPr>
          <p:cNvPr id="10" name="Rectangle 3"/>
          <p:cNvSpPr>
            <a:spLocks noChangeArrowheads="1"/>
          </p:cNvSpPr>
          <p:nvPr/>
        </p:nvSpPr>
        <p:spPr bwMode="auto">
          <a:xfrm>
            <a:off x="252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nSpc>
                <a:spcPct val="100000"/>
              </a:lnSpc>
              <a:spcBef>
                <a:spcPts val="0"/>
              </a:spcBef>
              <a:buClrTx/>
              <a:buSzPct val="100000"/>
              <a:buNone/>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PTWs and the </a:t>
            </a: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Piper Alpha LI?</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PTW and its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associated safety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rule / procedure / policy / protocol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a:t>
            </a:r>
            <a:r>
              <a:rPr kumimoji="0" lang="en-CA"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critical administrative controls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PTW is a component of a RMS,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specifically under RME #2 RA&amp;MR</a:t>
            </a: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Deviations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from the PTW checklist indicate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risk level may be or is higher than the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acceptable level. </a:t>
            </a:r>
          </a:p>
          <a:p>
            <a:pPr marL="360000" indent="-360000">
              <a:lnSpc>
                <a:spcPct val="100000"/>
              </a:lnSpc>
              <a:spcBef>
                <a:spcPts val="0"/>
              </a:spcBef>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100000"/>
              </a:lnSpc>
              <a:spcBef>
                <a:spcPts val="0"/>
              </a:spcBef>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PTWs were not managed properly,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were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treated as a mere “formality”;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risks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associated with putting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equipment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back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on-line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 thorough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checks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resulted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“unchecked</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risks and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with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tragic losses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PEAP. </a:t>
            </a:r>
          </a:p>
        </p:txBody>
      </p:sp>
      <p:pic>
        <p:nvPicPr>
          <p:cNvPr id="5" name="Picture 4"/>
          <p:cNvPicPr>
            <a:picLocks noChangeAspect="1"/>
          </p:cNvPicPr>
          <p:nvPr/>
        </p:nvPicPr>
        <p:blipFill>
          <a:blip r:embed="rId3"/>
          <a:stretch>
            <a:fillRect/>
          </a:stretch>
        </p:blipFill>
        <p:spPr>
          <a:xfrm>
            <a:off x="5384400" y="918770"/>
            <a:ext cx="3429000" cy="2443618"/>
          </a:xfrm>
          <a:prstGeom prst="rect">
            <a:avLst/>
          </a:prstGeom>
        </p:spPr>
      </p:pic>
      <p:pic>
        <p:nvPicPr>
          <p:cNvPr id="2" name="Picture 1"/>
          <p:cNvPicPr>
            <a:picLocks noChangeAspect="1"/>
          </p:cNvPicPr>
          <p:nvPr/>
        </p:nvPicPr>
        <p:blipFill>
          <a:blip r:embed="rId4"/>
          <a:stretch>
            <a:fillRect/>
          </a:stretch>
        </p:blipFill>
        <p:spPr>
          <a:xfrm>
            <a:off x="5155801" y="3453158"/>
            <a:ext cx="3657599" cy="2743199"/>
          </a:xfrm>
          <a:prstGeom prst="rect">
            <a:avLst/>
          </a:prstGeom>
          <a:ln>
            <a:solidFill>
              <a:schemeClr val="tx1"/>
            </a:solidFill>
          </a:ln>
        </p:spPr>
      </p:pic>
    </p:spTree>
    <p:extLst>
      <p:ext uri="{BB962C8B-B14F-4D97-AF65-F5344CB8AC3E}">
        <p14:creationId xmlns:p14="http://schemas.microsoft.com/office/powerpoint/2010/main" val="31128263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6">
            <a:extLst>
              <a:ext uri="{FF2B5EF4-FFF2-40B4-BE49-F238E27FC236}">
                <a16:creationId xmlns:a16="http://schemas.microsoft.com/office/drawing/2014/main" id="{D1DC28EA-AEA6-4796-8B9C-A0BCC2F7F8DE}"/>
              </a:ext>
            </a:extLst>
          </p:cNvPr>
          <p:cNvSpPr txBox="1">
            <a:spLocks noChangeArrowheads="1"/>
          </p:cNvSpPr>
          <p:nvPr/>
        </p:nvSpPr>
        <p:spPr bwMode="auto">
          <a:xfrm>
            <a:off x="180000" y="828000"/>
            <a:ext cx="8640000" cy="5364000"/>
          </a:xfrm>
          <a:prstGeom prst="rect">
            <a:avLst/>
          </a:prstGeom>
          <a:solidFill>
            <a:schemeClr val="tx1"/>
          </a:solidFill>
          <a:ln w="9525">
            <a:solidFill>
              <a:schemeClr val="tx1"/>
            </a:solidFill>
            <a:miter lim="800000"/>
            <a:headEnd/>
            <a:tailEnd/>
          </a:ln>
          <a:effectLst>
            <a:prstShdw prst="shdw17" dist="17961" dir="2700000">
              <a:srgbClr val="000000"/>
            </a:prstShdw>
          </a:effec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lvl="0">
              <a:spcBef>
                <a:spcPts val="0"/>
              </a:spcBef>
              <a:buClrTx/>
              <a:buSzTx/>
              <a:buNone/>
              <a:defRPr/>
            </a:pPr>
            <a:r>
              <a:rPr lang="en-US" altLang="en-US" sz="1600" i="1" dirty="0">
                <a:solidFill>
                  <a:srgbClr val="FFFFFF"/>
                </a:solidFill>
                <a:latin typeface="Arial" panose="020B0604020202020204" pitchFamily="34" charset="0"/>
              </a:rPr>
              <a:t>If you were a manager on Piper Alpha, what would you do to combat complacency about the use of the PTW, a critical administrative </a:t>
            </a:r>
            <a:r>
              <a:rPr lang="en-US" altLang="en-US" sz="1600" i="1" dirty="0" smtClean="0">
                <a:solidFill>
                  <a:srgbClr val="FFFFFF"/>
                </a:solidFill>
                <a:latin typeface="Arial" panose="020B0604020202020204" pitchFamily="34" charset="0"/>
              </a:rPr>
              <a:t>control? All of the items listed!</a:t>
            </a:r>
            <a:r>
              <a:rPr lang="en-US" altLang="en-US" sz="1600" i="1" dirty="0">
                <a:solidFill>
                  <a:srgbClr val="FFFFFF"/>
                </a:solidFill>
                <a:latin typeface="Arial" panose="020B0604020202020204" pitchFamily="34" charset="0"/>
              </a:rPr>
              <a:t/>
            </a:r>
            <a:br>
              <a:rPr lang="en-US" altLang="en-US" sz="1600" i="1" dirty="0">
                <a:solidFill>
                  <a:srgbClr val="FFFFFF"/>
                </a:solidFill>
                <a:latin typeface="Arial" panose="020B0604020202020204" pitchFamily="34" charset="0"/>
              </a:rPr>
            </a:br>
            <a:endParaRPr lang="en-US" altLang="en-US" sz="1600" i="1" dirty="0">
              <a:solidFill>
                <a:srgbClr val="FFFFFF"/>
              </a:solidFill>
              <a:latin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Tx/>
              <a:buFontTx/>
              <a:buNone/>
              <a:tabLst/>
              <a:defRPr/>
            </a:pPr>
            <a:r>
              <a:rPr kumimoji="0" lang="en-CA" altLang="en-US" sz="1600" b="0" i="1" u="none" strike="noStrike" kern="1200" cap="none" spc="0" normalizeH="0" baseline="0" noProof="0" dirty="0" smtClean="0">
                <a:ln>
                  <a:noFill/>
                </a:ln>
                <a:solidFill>
                  <a:srgbClr val="FFFFFF"/>
                </a:solidFill>
                <a:effectLst/>
                <a:uLnTx/>
                <a:uFillTx/>
                <a:latin typeface="Arial" panose="020B0604020202020204" pitchFamily="34" charset="0"/>
              </a:rPr>
              <a:t>Indeed, an audit using an audit checklist</a:t>
            </a:r>
            <a:r>
              <a:rPr kumimoji="0" lang="en-CA" altLang="en-US" sz="1600" b="0" i="1" u="none" strike="noStrike" kern="1200" cap="none" spc="0" normalizeH="0" noProof="0" dirty="0" smtClean="0">
                <a:ln>
                  <a:noFill/>
                </a:ln>
                <a:solidFill>
                  <a:srgbClr val="FFFFFF"/>
                </a:solidFill>
                <a:effectLst/>
                <a:uLnTx/>
                <a:uFillTx/>
                <a:latin typeface="Arial" panose="020B0604020202020204" pitchFamily="34" charset="0"/>
              </a:rPr>
              <a:t> on the PTW would  combat complacency about the use of the PTW, a critical administrative control</a:t>
            </a:r>
            <a:r>
              <a:rPr kumimoji="0" lang="en-CA" altLang="en-US" sz="1600" b="0" i="1" u="none" strike="noStrike" kern="1200" cap="none" spc="0" normalizeH="0" baseline="0" noProof="0" dirty="0" smtClean="0">
                <a:ln>
                  <a:noFill/>
                </a:ln>
                <a:solidFill>
                  <a:srgbClr val="FFFFFF"/>
                </a:solidFill>
                <a:effectLst/>
                <a:uLnTx/>
                <a:uFillTx/>
                <a:latin typeface="Arial" panose="020B0604020202020204" pitchFamily="34" charset="0"/>
              </a:rPr>
              <a:t>.</a:t>
            </a:r>
          </a:p>
          <a:p>
            <a:pPr marL="342900" marR="0" lvl="0" indent="-342900" algn="l" defTabSz="914400" rtl="0" eaLnBrk="0" fontAlgn="base" latinLnBrk="0" hangingPunct="0">
              <a:lnSpc>
                <a:spcPct val="100000"/>
              </a:lnSpc>
              <a:spcBef>
                <a:spcPts val="0"/>
              </a:spcBef>
              <a:spcAft>
                <a:spcPct val="0"/>
              </a:spcAft>
              <a:buClrTx/>
              <a:buSzTx/>
              <a:buFont typeface="Wingdings" panose="05000000000000000000" pitchFamily="2" charset="2"/>
              <a:buChar char="Ø"/>
              <a:tabLst/>
              <a:defRPr/>
            </a:pPr>
            <a:r>
              <a:rPr kumimoji="0" lang="en-CA" altLang="en-US" sz="1600" b="0" i="1" u="none" strike="noStrike" kern="1200" cap="none" spc="0" normalizeH="0" baseline="0" noProof="0" dirty="0" smtClean="0">
                <a:ln>
                  <a:noFill/>
                </a:ln>
                <a:solidFill>
                  <a:srgbClr val="FFFFFF"/>
                </a:solidFill>
                <a:effectLst/>
                <a:uLnTx/>
                <a:uFillTx/>
                <a:latin typeface="Arial" panose="020B0604020202020204" pitchFamily="34" charset="0"/>
              </a:rPr>
              <a:t>It</a:t>
            </a:r>
            <a:r>
              <a:rPr kumimoji="0" lang="en-CA" altLang="en-US" sz="1600" b="0" i="1" u="none" strike="noStrike" kern="1200" cap="none" spc="0" normalizeH="0" noProof="0" dirty="0" smtClean="0">
                <a:ln>
                  <a:noFill/>
                </a:ln>
                <a:solidFill>
                  <a:srgbClr val="FFFFFF"/>
                </a:solidFill>
                <a:effectLst/>
                <a:uLnTx/>
                <a:uFillTx/>
                <a:latin typeface="Arial" panose="020B0604020202020204" pitchFamily="34" charset="0"/>
              </a:rPr>
              <a:t> is NOT simply the audit check-list; that is a required starting point. </a:t>
            </a:r>
          </a:p>
          <a:p>
            <a:pPr marL="342900" marR="0" lvl="0" indent="-342900" algn="l" defTabSz="914400" rtl="0" eaLnBrk="0" fontAlgn="base" latinLnBrk="0" hangingPunct="0">
              <a:lnSpc>
                <a:spcPct val="100000"/>
              </a:lnSpc>
              <a:spcBef>
                <a:spcPts val="0"/>
              </a:spcBef>
              <a:spcAft>
                <a:spcPct val="0"/>
              </a:spcAft>
              <a:buClrTx/>
              <a:buSzTx/>
              <a:buFont typeface="Wingdings" panose="05000000000000000000" pitchFamily="2" charset="2"/>
              <a:buChar char="Ø"/>
              <a:tabLst/>
              <a:defRPr/>
            </a:pPr>
            <a:r>
              <a:rPr kumimoji="0" lang="en-CA" altLang="en-US" sz="1600" b="0" i="1" u="none" strike="noStrike" kern="1200" cap="none" spc="0" normalizeH="0" noProof="0" dirty="0" smtClean="0">
                <a:ln>
                  <a:noFill/>
                </a:ln>
                <a:solidFill>
                  <a:srgbClr val="FFFFFF"/>
                </a:solidFill>
                <a:effectLst/>
                <a:uLnTx/>
                <a:uFillTx/>
                <a:latin typeface="Arial" panose="020B0604020202020204" pitchFamily="34" charset="0"/>
              </a:rPr>
              <a:t>It is about applying the audit checklist to confirm that work is being executed as it should!</a:t>
            </a:r>
            <a:r>
              <a:rPr kumimoji="0" lang="en-CA" altLang="en-US" sz="1600" b="0" i="1" u="none" strike="noStrike" kern="1200" cap="none" spc="0" normalizeH="0" baseline="0" noProof="0" dirty="0">
                <a:ln>
                  <a:noFill/>
                </a:ln>
                <a:solidFill>
                  <a:srgbClr val="FFFFFF"/>
                </a:solidFill>
                <a:effectLst/>
                <a:uLnTx/>
                <a:uFillTx/>
                <a:latin typeface="Arial" panose="020B0604020202020204" pitchFamily="34" charset="0"/>
              </a:rPr>
              <a:t/>
            </a:r>
            <a:br>
              <a:rPr kumimoji="0" lang="en-CA" altLang="en-US" sz="1600" b="0" i="1" u="none" strike="noStrike" kern="1200" cap="none" spc="0" normalizeH="0" baseline="0" noProof="0" dirty="0">
                <a:ln>
                  <a:noFill/>
                </a:ln>
                <a:solidFill>
                  <a:srgbClr val="FFFFFF"/>
                </a:solidFill>
                <a:effectLst/>
                <a:uLnTx/>
                <a:uFillTx/>
                <a:latin typeface="Arial" panose="020B0604020202020204" pitchFamily="34" charset="0"/>
              </a:rPr>
            </a:br>
            <a:endParaRPr kumimoji="0" lang="en-CA" altLang="en-US" sz="1600" b="0" i="1" u="none" strike="noStrike" kern="1200" cap="none" spc="0" normalizeH="0" baseline="0" noProof="0" dirty="0">
              <a:ln>
                <a:noFill/>
              </a:ln>
              <a:solidFill>
                <a:srgbClr val="FFFFFF"/>
              </a:solidFill>
              <a:effectLst/>
              <a:uLnTx/>
              <a:uFillTx/>
              <a:latin typeface="Arial" panose="020B0604020202020204" pitchFamily="34" charset="0"/>
            </a:endParaRP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Create an audit checklist that specifies the items to check on a PTW. The PTW Audit checklist will look similar to the actual PTW checklist. </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Schedule yourself and other leaders on the rig to conduct a weekly series of audits on a sampling of completed and filed PTWs.</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Schedule yourself and other leaders on the rig to conduct a weekly series of planned inspections on a sampling of jobs-in-progress that are using PTWs.</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Do the audits and planned inspections. </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Identify deficiencies, errors, omissions, and take action to correct. For example, the checklist is too long and confusing, a condition which undesirably encourages workers to take short-cuts. </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Continue the series of audits and planned inspections to confirm that actions have indeed corrected the deficiencies.</a:t>
            </a: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wrap="square" anchor="ctr" anchorCtr="0">
            <a:noAutofit/>
          </a:bodyPr>
          <a:lstStyle/>
          <a:p>
            <a:r>
              <a:rPr lang="en-US" altLang="en-US" sz="24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dirty="0">
                <a:solidFill>
                  <a:srgbClr val="F8F8F8"/>
                </a:solidFill>
                <a:ea typeface="ＭＳ Ｐゴシック" panose="020B0600070205080204" pitchFamily="34" charset="-128"/>
                <a:cs typeface="Arial" panose="020B0604020202020204" pitchFamily="34" charset="0"/>
              </a:rPr>
              <a:t>Audit on the PTW at Piper Alpha: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CA" sz="1200" b="1" i="1" kern="0" dirty="0">
                <a:solidFill>
                  <a:srgbClr val="000000"/>
                </a:solidFill>
                <a:latin typeface="Arial" charset="0"/>
                <a:ea typeface="Times New Roman"/>
                <a:cs typeface="Arial" panose="020B0604020202020204" pitchFamily="34" charset="0"/>
                <a:sym typeface="Times New Roman"/>
              </a:rPr>
              <a:t>Chapter 5.8: Job Observations &amp; Planned Inspections (Audits)</a:t>
            </a:r>
          </a:p>
        </p:txBody>
      </p:sp>
    </p:spTree>
    <p:extLst>
      <p:ext uri="{BB962C8B-B14F-4D97-AF65-F5344CB8AC3E}">
        <p14:creationId xmlns:p14="http://schemas.microsoft.com/office/powerpoint/2010/main" val="365003876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inspections are a means to:</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 for conditions and practices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Provide management visibility and engaging workers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Combat complacency.</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Combatting complacency</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IS one way to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positively influence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culture of the organization.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must engage workers and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must value the conversation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workers about their practices.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Managers need skills to “talk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people”! These skills are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essential successful leadership</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risk management.</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pic>
        <p:nvPicPr>
          <p:cNvPr id="6" name="Picture 5" descr="Construction and engineering students visit the Folsom spi ...">
            <a:extLst>
              <a:ext uri="{FF2B5EF4-FFF2-40B4-BE49-F238E27FC236}">
                <a16:creationId xmlns:a16="http://schemas.microsoft.com/office/drawing/2014/main" id="{59E781C0-B39C-4CD1-A05A-72CFFD4351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5682" y="3124200"/>
            <a:ext cx="3947718" cy="2633098"/>
          </a:xfrm>
          <a:prstGeom prst="rect">
            <a:avLst/>
          </a:prstGeom>
        </p:spPr>
      </p:pic>
    </p:spTree>
    <p:extLst>
      <p:ext uri="{BB962C8B-B14F-4D97-AF65-F5344CB8AC3E}">
        <p14:creationId xmlns:p14="http://schemas.microsoft.com/office/powerpoint/2010/main" val="14161848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auto" latinLnBrk="0" hangingPunct="0">
              <a:lnSpc>
                <a:spcPct val="100000"/>
              </a:lnSpc>
              <a:spcBef>
                <a:spcPts val="0"/>
              </a:spcBef>
              <a:spcAft>
                <a:spcPts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auto" latinLnBrk="0" hangingPunct="0">
              <a:lnSpc>
                <a:spcPct val="100000"/>
              </a:lnSpc>
              <a:spcBef>
                <a:spcPts val="0"/>
              </a:spcBef>
              <a:spcAft>
                <a:spcPts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Complete Slide Deck</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follows with details.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53137830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 &amp; PI Method</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create a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 Checklist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 &amp; PI Checklist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use, interpret, critique, and check the compliance of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physical conditions in the work-place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or the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practices of work-in-progress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Apply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 &amp; PI Method</a:t>
            </a:r>
            <a:r>
              <a:rPr kumimoji="0" lang="en-CA" altLang="en-US" sz="2000" b="0" i="0"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a rudimentary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leadership skill to observe, interact,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 commend, or intervene / coach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employees in the work-place i.e. at the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individual level or the team (crew,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work-group) level.</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leader’s job is to coach and mentor!</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pic>
        <p:nvPicPr>
          <p:cNvPr id="6" name="Picture 5">
            <a:extLst>
              <a:ext uri="{FF2B5EF4-FFF2-40B4-BE49-F238E27FC236}">
                <a16:creationId xmlns:a16="http://schemas.microsoft.com/office/drawing/2014/main" id="{EA870A00-4B7A-4F68-8B60-D6B4DEA9813A}"/>
              </a:ext>
            </a:extLst>
          </p:cNvPr>
          <p:cNvPicPr>
            <a:picLocks noChangeAspect="1"/>
          </p:cNvPicPr>
          <p:nvPr/>
        </p:nvPicPr>
        <p:blipFill>
          <a:blip r:embed="rId3"/>
          <a:stretch>
            <a:fillRect/>
          </a:stretch>
        </p:blipFill>
        <p:spPr>
          <a:xfrm>
            <a:off x="5621914" y="2667000"/>
            <a:ext cx="2658086" cy="2438611"/>
          </a:xfrm>
          <a:prstGeom prst="rect">
            <a:avLst/>
          </a:prstGeom>
        </p:spPr>
      </p:pic>
    </p:spTree>
    <p:extLst>
      <p:ext uri="{BB962C8B-B14F-4D97-AF65-F5344CB8AC3E}">
        <p14:creationId xmlns:p14="http://schemas.microsoft.com/office/powerpoint/2010/main" val="176726777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Risk Management Tools: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grpSp>
        <p:nvGrpSpPr>
          <p:cNvPr id="6" name="Google Shape;699;p2">
            <a:extLst>
              <a:ext uri="{FF2B5EF4-FFF2-40B4-BE49-F238E27FC236}">
                <a16:creationId xmlns:a16="http://schemas.microsoft.com/office/drawing/2014/main" id="{99A44EA0-BED2-402D-9295-4E97FDEBF17A}"/>
              </a:ext>
            </a:extLst>
          </p:cNvPr>
          <p:cNvGrpSpPr/>
          <p:nvPr/>
        </p:nvGrpSpPr>
        <p:grpSpPr>
          <a:xfrm>
            <a:off x="444598" y="2465961"/>
            <a:ext cx="8254803" cy="1926077"/>
            <a:chOff x="305869" y="2843240"/>
            <a:chExt cx="8760861" cy="2085919"/>
          </a:xfrm>
        </p:grpSpPr>
        <p:sp>
          <p:nvSpPr>
            <p:cNvPr id="7" name="Google Shape;700;p2">
              <a:extLst>
                <a:ext uri="{FF2B5EF4-FFF2-40B4-BE49-F238E27FC236}">
                  <a16:creationId xmlns:a16="http://schemas.microsoft.com/office/drawing/2014/main" id="{223C098C-16E0-44FD-840D-121279AABABB}"/>
                </a:ext>
              </a:extLst>
            </p:cNvPr>
            <p:cNvSpPr/>
            <p:nvPr/>
          </p:nvSpPr>
          <p:spPr>
            <a:xfrm>
              <a:off x="305869" y="2843240"/>
              <a:ext cx="2085919" cy="2085919"/>
            </a:xfrm>
            <a:custGeom>
              <a:avLst/>
              <a:gdLst/>
              <a:ahLst/>
              <a:cxnLst/>
              <a:rect l="l" t="t" r="r" b="b"/>
              <a:pathLst>
                <a:path w="2085919" h="2085919" extrusionOk="0">
                  <a:moveTo>
                    <a:pt x="0" y="1042960"/>
                  </a:moveTo>
                  <a:cubicBezTo>
                    <a:pt x="0" y="466949"/>
                    <a:pt x="466949" y="0"/>
                    <a:pt x="1042960" y="0"/>
                  </a:cubicBezTo>
                  <a:cubicBezTo>
                    <a:pt x="1618971" y="0"/>
                    <a:pt x="2085920" y="466949"/>
                    <a:pt x="2085920" y="1042960"/>
                  </a:cubicBezTo>
                  <a:cubicBezTo>
                    <a:pt x="2085920" y="1618971"/>
                    <a:pt x="1618971" y="2085920"/>
                    <a:pt x="1042960" y="2085920"/>
                  </a:cubicBezTo>
                  <a:cubicBezTo>
                    <a:pt x="466949" y="2085920"/>
                    <a:pt x="0" y="1618971"/>
                    <a:pt x="0" y="1042960"/>
                  </a:cubicBezTo>
                  <a:close/>
                </a:path>
              </a:pathLst>
            </a:custGeom>
            <a:gradFill flip="none" rotWithShape="1">
              <a:gsLst>
                <a:gs pos="0">
                  <a:srgbClr val="297FD5">
                    <a:shade val="30000"/>
                    <a:satMod val="115000"/>
                  </a:srgbClr>
                </a:gs>
                <a:gs pos="50000">
                  <a:srgbClr val="297FD5">
                    <a:shade val="67500"/>
                    <a:satMod val="115000"/>
                  </a:srgbClr>
                </a:gs>
                <a:gs pos="100000">
                  <a:srgbClr val="297FD5">
                    <a:shade val="100000"/>
                    <a:satMod val="115000"/>
                  </a:srgbClr>
                </a:gs>
              </a:gsLst>
              <a:path path="circle">
                <a:fillToRect l="50000" t="50000" r="50000" b="50000"/>
              </a:path>
              <a:tileRect/>
            </a:gradFill>
            <a:ln w="3175" cap="flat" cmpd="sng">
              <a:solidFill>
                <a:srgbClr val="000000"/>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180000" tIns="180000" rIns="180000" bIns="180000" anchor="ctr" anchorCtr="1">
              <a:noAutofit/>
            </a:bodyPr>
            <a:lstStyle/>
            <a:p>
              <a:pPr marL="0" marR="0" lvl="0" indent="0" algn="ctr" defTabSz="914400" eaLnBrk="1" fontAlgn="auto" latinLnBrk="0" hangingPunct="1">
                <a:lnSpc>
                  <a:spcPct val="90000"/>
                </a:lnSpc>
                <a:spcBef>
                  <a:spcPts val="0"/>
                </a:spcBef>
                <a:spcAft>
                  <a:spcPts val="0"/>
                </a:spcAft>
                <a:buClr>
                  <a:srgbClr val="FFFFFF"/>
                </a:buClr>
                <a:buSzPts val="2000"/>
                <a:buFont typeface="Arial"/>
                <a:buNone/>
                <a:tabLst/>
                <a:defRPr/>
              </a:pPr>
              <a:r>
                <a:rPr kumimoji="0" lang="en-US" sz="2000" b="1" i="0" u="none" strike="noStrike" kern="0" cap="none" spc="0" normalizeH="0" baseline="0" noProof="0">
                  <a:ln>
                    <a:noFill/>
                  </a:ln>
                  <a:solidFill>
                    <a:srgbClr val="ACCBF9">
                      <a:lumMod val="75000"/>
                    </a:srgbClr>
                  </a:solidFill>
                  <a:effectLst/>
                  <a:uLnTx/>
                  <a:uFillTx/>
                  <a:latin typeface="Arial"/>
                  <a:ea typeface="Arial"/>
                  <a:cs typeface="Arial"/>
                  <a:sym typeface="Arial"/>
                </a:rPr>
                <a:t>FLRAs</a:t>
              </a:r>
              <a:endParaRPr kumimoji="0" sz="2000" b="1" i="0" u="none" strike="noStrike" kern="0" cap="none" spc="0" normalizeH="0" baseline="0" noProof="0">
                <a:ln>
                  <a:noFill/>
                </a:ln>
                <a:solidFill>
                  <a:srgbClr val="ACCBF9">
                    <a:lumMod val="75000"/>
                  </a:srgbClr>
                </a:solidFill>
                <a:effectLst/>
                <a:uLnTx/>
                <a:uFillTx/>
                <a:latin typeface="Arial"/>
                <a:ea typeface="Arial"/>
                <a:cs typeface="Arial"/>
                <a:sym typeface="Arial"/>
              </a:endParaRPr>
            </a:p>
          </p:txBody>
        </p:sp>
        <p:sp>
          <p:nvSpPr>
            <p:cNvPr id="10" name="Google Shape;701;p2">
              <a:extLst>
                <a:ext uri="{FF2B5EF4-FFF2-40B4-BE49-F238E27FC236}">
                  <a16:creationId xmlns:a16="http://schemas.microsoft.com/office/drawing/2014/main" id="{99499DA1-03AF-48F1-A299-FBC73948EA5F}"/>
                </a:ext>
              </a:extLst>
            </p:cNvPr>
            <p:cNvSpPr/>
            <p:nvPr/>
          </p:nvSpPr>
          <p:spPr>
            <a:xfrm>
              <a:off x="1974605" y="2843240"/>
              <a:ext cx="2085919" cy="2085919"/>
            </a:xfrm>
            <a:custGeom>
              <a:avLst/>
              <a:gdLst/>
              <a:ahLst/>
              <a:cxnLst/>
              <a:rect l="l" t="t" r="r" b="b"/>
              <a:pathLst>
                <a:path w="2085919" h="2085919" extrusionOk="0">
                  <a:moveTo>
                    <a:pt x="0" y="1042960"/>
                  </a:moveTo>
                  <a:cubicBezTo>
                    <a:pt x="0" y="466949"/>
                    <a:pt x="466949" y="0"/>
                    <a:pt x="1042960" y="0"/>
                  </a:cubicBezTo>
                  <a:cubicBezTo>
                    <a:pt x="1618971" y="0"/>
                    <a:pt x="2085920" y="466949"/>
                    <a:pt x="2085920" y="1042960"/>
                  </a:cubicBezTo>
                  <a:cubicBezTo>
                    <a:pt x="2085920" y="1618971"/>
                    <a:pt x="1618971" y="2085920"/>
                    <a:pt x="1042960" y="2085920"/>
                  </a:cubicBezTo>
                  <a:cubicBezTo>
                    <a:pt x="466949" y="2085920"/>
                    <a:pt x="0" y="1618971"/>
                    <a:pt x="0" y="1042960"/>
                  </a:cubicBezTo>
                  <a:close/>
                </a:path>
              </a:pathLst>
            </a:custGeom>
            <a:gradFill flip="none" rotWithShape="1">
              <a:gsLst>
                <a:gs pos="0">
                  <a:srgbClr val="297FD5">
                    <a:shade val="30000"/>
                    <a:satMod val="115000"/>
                  </a:srgbClr>
                </a:gs>
                <a:gs pos="50000">
                  <a:srgbClr val="297FD5">
                    <a:shade val="67500"/>
                    <a:satMod val="115000"/>
                  </a:srgbClr>
                </a:gs>
                <a:gs pos="100000">
                  <a:srgbClr val="297FD5">
                    <a:shade val="100000"/>
                    <a:satMod val="115000"/>
                  </a:srgbClr>
                </a:gs>
              </a:gsLst>
              <a:path path="circle">
                <a:fillToRect l="50000" t="50000" r="50000" b="50000"/>
              </a:path>
              <a:tileRect/>
            </a:gradFill>
            <a:ln w="3175" cap="flat" cmpd="sng">
              <a:solidFill>
                <a:srgbClr val="000000"/>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180000" tIns="180000" rIns="180000" bIns="180000" anchor="ctr" anchorCtr="1">
              <a:noAutofit/>
            </a:bodyPr>
            <a:lstStyle/>
            <a:p>
              <a:pPr marL="0" marR="0" lvl="0" indent="0" algn="ctr" defTabSz="914400" eaLnBrk="1" fontAlgn="auto" latinLnBrk="0" hangingPunct="1">
                <a:lnSpc>
                  <a:spcPct val="90000"/>
                </a:lnSpc>
                <a:spcBef>
                  <a:spcPts val="0"/>
                </a:spcBef>
                <a:spcAft>
                  <a:spcPts val="0"/>
                </a:spcAft>
                <a:buClr>
                  <a:srgbClr val="FFFFFF"/>
                </a:buClr>
                <a:buSzPts val="2000"/>
                <a:buFont typeface="Arial"/>
                <a:buNone/>
                <a:tabLst/>
                <a:defRPr/>
              </a:pPr>
              <a:r>
                <a:rPr kumimoji="0" lang="en-US" sz="2000" b="1" i="0" u="none" strike="noStrike" kern="0" cap="none" spc="0" normalizeH="0" baseline="0" noProof="0" dirty="0">
                  <a:ln>
                    <a:noFill/>
                  </a:ln>
                  <a:solidFill>
                    <a:srgbClr val="ACCBF9">
                      <a:lumMod val="75000"/>
                    </a:srgbClr>
                  </a:solidFill>
                  <a:effectLst/>
                  <a:uLnTx/>
                  <a:uFillTx/>
                  <a:latin typeface="Arial"/>
                  <a:ea typeface="Arial"/>
                  <a:cs typeface="Arial"/>
                  <a:sym typeface="Arial"/>
                </a:rPr>
                <a:t>SQRAs</a:t>
              </a:r>
              <a:endParaRPr kumimoji="0" sz="2000" b="0" i="0" u="none" strike="noStrike" kern="0" cap="none" spc="0" normalizeH="0" baseline="0" noProof="0" dirty="0">
                <a:ln>
                  <a:noFill/>
                </a:ln>
                <a:solidFill>
                  <a:srgbClr val="ACCBF9">
                    <a:lumMod val="75000"/>
                  </a:srgbClr>
                </a:solidFill>
                <a:effectLst/>
                <a:uLnTx/>
                <a:uFillTx/>
                <a:latin typeface="Arial"/>
                <a:ea typeface="Arial"/>
                <a:cs typeface="Arial"/>
                <a:sym typeface="Arial"/>
              </a:endParaRPr>
            </a:p>
          </p:txBody>
        </p:sp>
        <p:sp>
          <p:nvSpPr>
            <p:cNvPr id="11" name="Google Shape;702;p2">
              <a:extLst>
                <a:ext uri="{FF2B5EF4-FFF2-40B4-BE49-F238E27FC236}">
                  <a16:creationId xmlns:a16="http://schemas.microsoft.com/office/drawing/2014/main" id="{DA01EB51-5C57-4BE6-9130-0F3B1BD07EE7}"/>
                </a:ext>
              </a:extLst>
            </p:cNvPr>
            <p:cNvSpPr/>
            <p:nvPr/>
          </p:nvSpPr>
          <p:spPr>
            <a:xfrm>
              <a:off x="3643339" y="2843240"/>
              <a:ext cx="2085919" cy="2085919"/>
            </a:xfrm>
            <a:custGeom>
              <a:avLst/>
              <a:gdLst/>
              <a:ahLst/>
              <a:cxnLst/>
              <a:rect l="l" t="t" r="r" b="b"/>
              <a:pathLst>
                <a:path w="2085919" h="2085919" extrusionOk="0">
                  <a:moveTo>
                    <a:pt x="0" y="1042960"/>
                  </a:moveTo>
                  <a:cubicBezTo>
                    <a:pt x="0" y="466949"/>
                    <a:pt x="466949" y="0"/>
                    <a:pt x="1042960" y="0"/>
                  </a:cubicBezTo>
                  <a:cubicBezTo>
                    <a:pt x="1618971" y="0"/>
                    <a:pt x="2085920" y="466949"/>
                    <a:pt x="2085920" y="1042960"/>
                  </a:cubicBezTo>
                  <a:cubicBezTo>
                    <a:pt x="2085920" y="1618971"/>
                    <a:pt x="1618971" y="2085920"/>
                    <a:pt x="1042960" y="2085920"/>
                  </a:cubicBezTo>
                  <a:cubicBezTo>
                    <a:pt x="466949" y="2085920"/>
                    <a:pt x="0" y="1618971"/>
                    <a:pt x="0" y="1042960"/>
                  </a:cubicBezTo>
                  <a:close/>
                </a:path>
              </a:pathLst>
            </a:custGeom>
            <a:gradFill flip="none" rotWithShape="1">
              <a:gsLst>
                <a:gs pos="0">
                  <a:srgbClr val="297FD5">
                    <a:shade val="30000"/>
                    <a:satMod val="115000"/>
                  </a:srgbClr>
                </a:gs>
                <a:gs pos="50000">
                  <a:srgbClr val="297FD5">
                    <a:shade val="67500"/>
                    <a:satMod val="115000"/>
                  </a:srgbClr>
                </a:gs>
                <a:gs pos="100000">
                  <a:srgbClr val="297FD5">
                    <a:shade val="100000"/>
                    <a:satMod val="115000"/>
                  </a:srgbClr>
                </a:gs>
              </a:gsLst>
              <a:path path="circle">
                <a:fillToRect l="50000" t="50000" r="50000" b="50000"/>
              </a:path>
              <a:tileRect/>
            </a:gradFill>
            <a:ln w="3175" cap="flat" cmpd="sng">
              <a:solidFill>
                <a:srgbClr val="000000"/>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180000" tIns="180000" rIns="180000" bIns="180000" anchor="ctr" anchorCtr="1">
              <a:noAutofit/>
            </a:bodyPr>
            <a:lstStyle/>
            <a:p>
              <a:pPr marL="0" marR="0" lvl="0" indent="0" algn="ctr" defTabSz="914400" eaLnBrk="1" fontAlgn="auto" latinLnBrk="0" hangingPunct="1">
                <a:lnSpc>
                  <a:spcPct val="90000"/>
                </a:lnSpc>
                <a:spcBef>
                  <a:spcPts val="0"/>
                </a:spcBef>
                <a:spcAft>
                  <a:spcPts val="0"/>
                </a:spcAft>
                <a:buClr>
                  <a:srgbClr val="FFFFFF"/>
                </a:buClr>
                <a:buSzPts val="1800"/>
                <a:buFont typeface="Arial"/>
                <a:buNone/>
                <a:tabLst/>
                <a:defRPr/>
              </a:pPr>
              <a:r>
                <a:rPr kumimoji="0" lang="en-US" sz="2000" b="1" i="0" u="none" strike="noStrike" kern="0" cap="none" spc="0" normalizeH="0" baseline="0" noProof="0" dirty="0">
                  <a:ln>
                    <a:noFill/>
                  </a:ln>
                  <a:solidFill>
                    <a:srgbClr val="ACCBF9">
                      <a:lumMod val="75000"/>
                    </a:srgbClr>
                  </a:solidFill>
                  <a:effectLst/>
                  <a:uLnTx/>
                  <a:uFillTx/>
                  <a:latin typeface="Arial"/>
                  <a:ea typeface="Arial"/>
                  <a:cs typeface="Arial"/>
                  <a:sym typeface="Arial"/>
                </a:rPr>
                <a:t>JSAs</a:t>
              </a:r>
              <a:endParaRPr kumimoji="0" sz="2000" b="1" i="0" u="none" strike="noStrike" kern="0" cap="none" spc="0" normalizeH="0" baseline="0" noProof="0" dirty="0">
                <a:ln>
                  <a:noFill/>
                </a:ln>
                <a:solidFill>
                  <a:srgbClr val="ACCBF9">
                    <a:lumMod val="75000"/>
                  </a:srgbClr>
                </a:solidFill>
                <a:effectLst/>
                <a:uLnTx/>
                <a:uFillTx/>
                <a:latin typeface="Arial"/>
                <a:ea typeface="Arial"/>
                <a:cs typeface="Arial"/>
                <a:sym typeface="Arial"/>
              </a:endParaRPr>
            </a:p>
          </p:txBody>
        </p:sp>
        <p:sp>
          <p:nvSpPr>
            <p:cNvPr id="14" name="Google Shape;703;p2">
              <a:extLst>
                <a:ext uri="{FF2B5EF4-FFF2-40B4-BE49-F238E27FC236}">
                  <a16:creationId xmlns:a16="http://schemas.microsoft.com/office/drawing/2014/main" id="{7867503C-70F2-441C-B1B8-D3E7C8EB699F}"/>
                </a:ext>
              </a:extLst>
            </p:cNvPr>
            <p:cNvSpPr/>
            <p:nvPr/>
          </p:nvSpPr>
          <p:spPr>
            <a:xfrm>
              <a:off x="5312074" y="2843240"/>
              <a:ext cx="2085919" cy="2085919"/>
            </a:xfrm>
            <a:custGeom>
              <a:avLst/>
              <a:gdLst/>
              <a:ahLst/>
              <a:cxnLst/>
              <a:rect l="l" t="t" r="r" b="b"/>
              <a:pathLst>
                <a:path w="2085919" h="2085919" extrusionOk="0">
                  <a:moveTo>
                    <a:pt x="0" y="1042960"/>
                  </a:moveTo>
                  <a:cubicBezTo>
                    <a:pt x="0" y="466949"/>
                    <a:pt x="466949" y="0"/>
                    <a:pt x="1042960" y="0"/>
                  </a:cubicBezTo>
                  <a:cubicBezTo>
                    <a:pt x="1618971" y="0"/>
                    <a:pt x="2085920" y="466949"/>
                    <a:pt x="2085920" y="1042960"/>
                  </a:cubicBezTo>
                  <a:cubicBezTo>
                    <a:pt x="2085920" y="1618971"/>
                    <a:pt x="1618971" y="2085920"/>
                    <a:pt x="1042960" y="2085920"/>
                  </a:cubicBezTo>
                  <a:cubicBezTo>
                    <a:pt x="466949" y="2085920"/>
                    <a:pt x="0" y="1618971"/>
                    <a:pt x="0" y="1042960"/>
                  </a:cubicBezTo>
                  <a:close/>
                </a:path>
              </a:pathLst>
            </a:custGeom>
            <a:gradFill flip="none" rotWithShape="1">
              <a:gsLst>
                <a:gs pos="0">
                  <a:srgbClr val="297FD5">
                    <a:shade val="30000"/>
                    <a:satMod val="115000"/>
                  </a:srgbClr>
                </a:gs>
                <a:gs pos="50000">
                  <a:srgbClr val="297FD5">
                    <a:shade val="67500"/>
                    <a:satMod val="115000"/>
                  </a:srgbClr>
                </a:gs>
                <a:gs pos="100000">
                  <a:srgbClr val="297FD5">
                    <a:shade val="100000"/>
                    <a:satMod val="115000"/>
                  </a:srgbClr>
                </a:gs>
              </a:gsLst>
              <a:path path="circle">
                <a:fillToRect l="50000" t="50000" r="50000" b="50000"/>
              </a:path>
              <a:tileRect/>
            </a:gradFill>
            <a:ln w="3175" cap="flat" cmpd="sng">
              <a:solidFill>
                <a:srgbClr val="000000"/>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180000" tIns="180000" rIns="180000" bIns="180000" anchor="ctr" anchorCtr="1">
              <a:noAutofit/>
            </a:bodyPr>
            <a:lstStyle/>
            <a:p>
              <a:pPr marL="0" marR="0" lvl="0" indent="0" algn="ctr" defTabSz="914400" eaLnBrk="1" fontAlgn="auto" latinLnBrk="0" hangingPunct="1">
                <a:lnSpc>
                  <a:spcPct val="90000"/>
                </a:lnSpc>
                <a:spcBef>
                  <a:spcPts val="0"/>
                </a:spcBef>
                <a:spcAft>
                  <a:spcPts val="0"/>
                </a:spcAft>
                <a:buClr>
                  <a:srgbClr val="FFFFFF"/>
                </a:buClr>
                <a:buSzPts val="1800"/>
                <a:buFont typeface="Arial"/>
                <a:buNone/>
                <a:tabLst/>
                <a:defRPr/>
              </a:pPr>
              <a:r>
                <a:rPr kumimoji="0" lang="en-US" sz="2000" b="1" i="0" u="none" strike="noStrike" kern="0" cap="none" spc="0" normalizeH="0" baseline="0" noProof="0">
                  <a:ln>
                    <a:noFill/>
                  </a:ln>
                  <a:solidFill>
                    <a:srgbClr val="ACCBF9">
                      <a:lumMod val="75000"/>
                    </a:srgbClr>
                  </a:solidFill>
                  <a:effectLst/>
                  <a:uLnTx/>
                  <a:uFillTx/>
                  <a:latin typeface="Arial"/>
                  <a:ea typeface="Arial"/>
                  <a:cs typeface="Arial"/>
                  <a:sym typeface="Arial"/>
                </a:rPr>
                <a:t>Checklists</a:t>
              </a:r>
              <a:endParaRPr kumimoji="0" sz="2000" b="1" i="0" u="none" strike="noStrike" kern="0" cap="none" spc="0" normalizeH="0" baseline="0" noProof="0">
                <a:ln>
                  <a:noFill/>
                </a:ln>
                <a:solidFill>
                  <a:srgbClr val="ACCBF9">
                    <a:lumMod val="75000"/>
                  </a:srgbClr>
                </a:solidFill>
                <a:effectLst/>
                <a:uLnTx/>
                <a:uFillTx/>
                <a:latin typeface="Arial"/>
                <a:ea typeface="Arial"/>
                <a:cs typeface="Arial"/>
                <a:sym typeface="Arial"/>
              </a:endParaRPr>
            </a:p>
          </p:txBody>
        </p:sp>
        <p:sp>
          <p:nvSpPr>
            <p:cNvPr id="15" name="Google Shape;704;p2">
              <a:extLst>
                <a:ext uri="{FF2B5EF4-FFF2-40B4-BE49-F238E27FC236}">
                  <a16:creationId xmlns:a16="http://schemas.microsoft.com/office/drawing/2014/main" id="{5226C266-2159-4642-B7AA-5EFCE085561D}"/>
                </a:ext>
              </a:extLst>
            </p:cNvPr>
            <p:cNvSpPr/>
            <p:nvPr/>
          </p:nvSpPr>
          <p:spPr>
            <a:xfrm>
              <a:off x="6980811" y="2843240"/>
              <a:ext cx="2085919" cy="2085919"/>
            </a:xfrm>
            <a:custGeom>
              <a:avLst/>
              <a:gdLst/>
              <a:ahLst/>
              <a:cxnLst/>
              <a:rect l="l" t="t" r="r" b="b"/>
              <a:pathLst>
                <a:path w="2085919" h="2085919" extrusionOk="0">
                  <a:moveTo>
                    <a:pt x="0" y="1042960"/>
                  </a:moveTo>
                  <a:cubicBezTo>
                    <a:pt x="0" y="466949"/>
                    <a:pt x="466949" y="0"/>
                    <a:pt x="1042960" y="0"/>
                  </a:cubicBezTo>
                  <a:cubicBezTo>
                    <a:pt x="1618971" y="0"/>
                    <a:pt x="2085920" y="466949"/>
                    <a:pt x="2085920" y="1042960"/>
                  </a:cubicBezTo>
                  <a:cubicBezTo>
                    <a:pt x="2085920" y="1618971"/>
                    <a:pt x="1618971" y="2085920"/>
                    <a:pt x="1042960" y="2085920"/>
                  </a:cubicBezTo>
                  <a:cubicBezTo>
                    <a:pt x="466949" y="2085920"/>
                    <a:pt x="0" y="1618971"/>
                    <a:pt x="0" y="1042960"/>
                  </a:cubicBezTo>
                  <a:close/>
                </a:path>
              </a:pathLst>
            </a:custGeom>
            <a:gradFill flip="none" rotWithShape="1">
              <a:gsLst>
                <a:gs pos="0">
                  <a:srgbClr val="297FD5">
                    <a:shade val="30000"/>
                    <a:satMod val="115000"/>
                  </a:srgbClr>
                </a:gs>
                <a:gs pos="50000">
                  <a:srgbClr val="297FD5">
                    <a:shade val="67500"/>
                    <a:satMod val="115000"/>
                  </a:srgbClr>
                </a:gs>
                <a:gs pos="100000">
                  <a:srgbClr val="297FD5">
                    <a:shade val="100000"/>
                    <a:satMod val="115000"/>
                  </a:srgbClr>
                </a:gs>
              </a:gsLst>
              <a:path path="circle">
                <a:fillToRect l="50000" t="50000" r="50000" b="50000"/>
              </a:path>
              <a:tileRect/>
            </a:gradFill>
            <a:ln w="3175" cap="flat" cmpd="sng">
              <a:solidFill>
                <a:srgbClr val="000000"/>
              </a:solidFill>
              <a:prstDash val="solid"/>
              <a:round/>
              <a:headEnd type="none" w="sm" len="sm"/>
              <a:tailEnd type="none" w="sm" len="sm"/>
            </a:ln>
            <a:effectLst>
              <a:outerShdw blurRad="40000" dist="23000" dir="5400000" rotWithShape="0">
                <a:srgbClr val="000000">
                  <a:alpha val="34509"/>
                </a:srgbClr>
              </a:outerShdw>
            </a:effectLst>
          </p:spPr>
          <p:txBody>
            <a:bodyPr spcFirstLastPara="1" wrap="square" lIns="180000" tIns="180000" rIns="180000" bIns="180000" anchor="ctr" anchorCtr="1">
              <a:noAutofit/>
            </a:bodyPr>
            <a:lstStyle/>
            <a:p>
              <a:pPr marL="0" marR="0" lvl="0" indent="0" algn="ctr" defTabSz="914400" eaLnBrk="1" fontAlgn="auto" latinLnBrk="0" hangingPunct="1">
                <a:lnSpc>
                  <a:spcPct val="90000"/>
                </a:lnSpc>
                <a:spcBef>
                  <a:spcPts val="0"/>
                </a:spcBef>
                <a:spcAft>
                  <a:spcPts val="0"/>
                </a:spcAft>
                <a:buClr>
                  <a:srgbClr val="FFFFFF"/>
                </a:buClr>
                <a:buSzPts val="1800"/>
                <a:buFont typeface="Arial"/>
                <a:buNone/>
                <a:tabLst/>
                <a:defRPr/>
              </a:pPr>
              <a:r>
                <a:rPr kumimoji="0" lang="en-US" sz="2000" b="1" i="0" u="none" strike="noStrike" kern="0" cap="none" spc="0" normalizeH="0" baseline="0" noProof="0" dirty="0">
                  <a:ln>
                    <a:noFill/>
                  </a:ln>
                  <a:solidFill>
                    <a:srgbClr val="FFFFFF"/>
                  </a:solidFill>
                  <a:effectLst/>
                  <a:uLnTx/>
                  <a:uFillTx/>
                  <a:latin typeface="Arial"/>
                  <a:ea typeface="Arial"/>
                  <a:cs typeface="Arial"/>
                  <a:sym typeface="Arial"/>
                </a:rPr>
                <a:t>Planned Inspections &amp; Audits</a:t>
              </a:r>
              <a:endParaRPr kumimoji="0" sz="2000" b="1" i="0" u="none" strike="noStrike" kern="0" cap="none" spc="0" normalizeH="0" baseline="0" noProof="0" dirty="0">
                <a:ln>
                  <a:noFill/>
                </a:ln>
                <a:solidFill>
                  <a:srgbClr val="FFFFFF"/>
                </a:solidFill>
                <a:effectLst/>
                <a:uLnTx/>
                <a:uFillTx/>
                <a:latin typeface="Arial"/>
                <a:ea typeface="Arial"/>
                <a:cs typeface="Arial"/>
                <a:sym typeface="Arial"/>
              </a:endParaRPr>
            </a:p>
          </p:txBody>
        </p:sp>
      </p:grpSp>
    </p:spTree>
    <p:extLst>
      <p:ext uri="{BB962C8B-B14F-4D97-AF65-F5344CB8AC3E}">
        <p14:creationId xmlns:p14="http://schemas.microsoft.com/office/powerpoint/2010/main" val="309532902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part of orientation and integration activities for new employees and contractors</a:t>
            </a:r>
          </a:p>
          <a:p>
            <a:pPr marL="360000" lvl="0" indent="-360000">
              <a:lnSpc>
                <a:spcPct val="100000"/>
              </a:lnSpc>
              <a:spcBef>
                <a:spcPts val="0"/>
              </a:spcBef>
              <a:buClrTx/>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ensure our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administrative controls are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adequate and effective</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b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too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confusing or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too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long;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appropriate for the work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task)</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training purposes </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combatting complacency</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Why Do We Do Job Observations and Planned Inspections?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pic>
        <p:nvPicPr>
          <p:cNvPr id="6" name="Picture 5" descr="Construction and engineering students visit the Folsom spi ...">
            <a:extLst>
              <a:ext uri="{FF2B5EF4-FFF2-40B4-BE49-F238E27FC236}">
                <a16:creationId xmlns:a16="http://schemas.microsoft.com/office/drawing/2014/main" id="{CAC2BBA3-F8EC-41E3-BB43-F28A2B9173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5711" y="3391319"/>
            <a:ext cx="4132578" cy="2756397"/>
          </a:xfrm>
          <a:prstGeom prst="rect">
            <a:avLst/>
          </a:prstGeom>
        </p:spPr>
      </p:pic>
    </p:spTree>
    <p:extLst>
      <p:ext uri="{BB962C8B-B14F-4D97-AF65-F5344CB8AC3E}">
        <p14:creationId xmlns:p14="http://schemas.microsoft.com/office/powerpoint/2010/main" val="58823404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Two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different kinds of a Planned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914400" marR="0" lvl="1" indent="-457200" algn="l" defTabSz="914400" rtl="0" eaLnBrk="1" fontAlgn="base" latinLnBrk="0" hangingPunct="1">
              <a:lnSpc>
                <a:spcPct val="110000"/>
              </a:lnSpc>
              <a:spcBef>
                <a:spcPct val="20000"/>
              </a:spcBef>
              <a:spcAft>
                <a:spcPct val="0"/>
              </a:spcAft>
              <a:buClr>
                <a:srgbClr val="000000"/>
              </a:buClr>
              <a:buSzTx/>
              <a:buFont typeface="+mj-lt"/>
              <a:buAutoNum type="arabicParenR"/>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Physical conditions in the workplace</a:t>
            </a:r>
          </a:p>
          <a:p>
            <a:pPr marL="914400" marR="0" lvl="1" indent="-457200" algn="l" defTabSz="914400" rtl="0" eaLnBrk="1" fontAlgn="base" latinLnBrk="0" hangingPunct="1">
              <a:lnSpc>
                <a:spcPct val="110000"/>
              </a:lnSpc>
              <a:spcBef>
                <a:spcPct val="20000"/>
              </a:spcBef>
              <a:spcAft>
                <a:spcPct val="0"/>
              </a:spcAft>
              <a:buClrTx/>
              <a:buSzTx/>
              <a:buFont typeface="+mj-lt"/>
              <a:buAutoNum type="arabicParenR"/>
              <a:tabLst/>
              <a:defRPr/>
            </a:pPr>
            <a:r>
              <a:rPr kumimoji="0" lang="en-US" altLang="en-US" sz="20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ＭＳ Ｐゴシック" panose="020B0600070205080204" pitchFamily="34" charset="-128"/>
                <a:cs typeface="+mn-cs"/>
              </a:rPr>
              <a:t>Practices of work-in-progress</a:t>
            </a:r>
          </a:p>
          <a:p>
            <a:pPr marL="914400" marR="0" lvl="1" indent="-457200" algn="l" defTabSz="914400" rtl="0" eaLnBrk="1" fontAlgn="base" latinLnBrk="0" hangingPunct="1">
              <a:lnSpc>
                <a:spcPct val="110000"/>
              </a:lnSpc>
              <a:spcBef>
                <a:spcPct val="20000"/>
              </a:spcBef>
              <a:spcAft>
                <a:spcPct val="0"/>
              </a:spcAft>
              <a:buClrTx/>
              <a:buSzTx/>
              <a:buFont typeface="+mj-lt"/>
              <a:buAutoNum type="arabicParenR"/>
              <a:tabLst/>
              <a:defRPr/>
            </a:pPr>
            <a:endParaRPr lang="en-US" altLang="en-US" sz="2000" dirty="0">
              <a:solidFill>
                <a:srgbClr val="000000">
                  <a:lumMod val="50000"/>
                  <a:lumOff val="50000"/>
                </a:srgbClr>
              </a:solidFill>
              <a:latin typeface="Arial" panose="020B0604020202020204" pitchFamily="34" charset="0"/>
              <a:ea typeface="ＭＳ Ｐゴシック" panose="020B0600070205080204" pitchFamily="34" charset="-128"/>
            </a:endParaRPr>
          </a:p>
          <a:p>
            <a:pPr marL="457200" marR="0" lvl="1" indent="0" algn="l" defTabSz="914400" rtl="0" eaLnBrk="1" fontAlgn="base" latinLnBrk="0" hangingPunct="1">
              <a:lnSpc>
                <a:spcPct val="110000"/>
              </a:lnSpc>
              <a:spcBef>
                <a:spcPct val="20000"/>
              </a:spcBef>
              <a:spcAft>
                <a:spcPct val="0"/>
              </a:spcAft>
              <a:buClrTx/>
              <a:buSzTx/>
              <a:buNone/>
              <a:tabLst/>
              <a:defRPr/>
            </a:pPr>
            <a:endParaRPr kumimoji="0" lang="en-US" altLang="en-US" sz="2000" b="0" i="0" u="none" strike="noStrike" kern="1200" cap="none" spc="0" normalizeH="0" baseline="0" noProof="0" dirty="0">
              <a:ln>
                <a:noFill/>
              </a:ln>
              <a:solidFill>
                <a:srgbClr val="000000">
                  <a:lumMod val="50000"/>
                  <a:lumOff val="50000"/>
                </a:srgbClr>
              </a:solidFill>
              <a:effectLst/>
              <a:uLnTx/>
              <a:uFillTx/>
              <a:latin typeface="Arial" panose="020B0604020202020204" pitchFamily="34" charset="0"/>
              <a:ea typeface="ＭＳ Ｐゴシック" panose="020B0600070205080204" pitchFamily="34" charset="-128"/>
              <a:cs typeface="+mn-cs"/>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Left Arrow 1">
            <a:extLst>
              <a:ext uri="{FF2B5EF4-FFF2-40B4-BE49-F238E27FC236}">
                <a16:creationId xmlns:a16="http://schemas.microsoft.com/office/drawing/2014/main" id="{9EAB9178-4FFE-4DBE-8A05-9895F4EEEA09}"/>
              </a:ext>
            </a:extLst>
          </p:cNvPr>
          <p:cNvSpPr/>
          <p:nvPr/>
        </p:nvSpPr>
        <p:spPr bwMode="auto">
          <a:xfrm>
            <a:off x="5715000" y="884618"/>
            <a:ext cx="2209800" cy="1020382"/>
          </a:xfrm>
          <a:prstGeom prst="leftArrow">
            <a:avLst/>
          </a:prstGeom>
          <a:solidFill>
            <a:srgbClr val="92D050"/>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1" hangingPunct="1"/>
            <a:r>
              <a:rPr lang="en-US" sz="2400" i="1" dirty="0">
                <a:solidFill>
                  <a:srgbClr val="463634"/>
                </a:solidFill>
                <a:cs typeface="Arial" panose="020B0604020202020204" pitchFamily="34" charset="0"/>
              </a:rPr>
              <a:t>Easy to do!</a:t>
            </a:r>
          </a:p>
        </p:txBody>
      </p:sp>
      <p:pic>
        <p:nvPicPr>
          <p:cNvPr id="7" name="Picture 6">
            <a:extLst>
              <a:ext uri="{FF2B5EF4-FFF2-40B4-BE49-F238E27FC236}">
                <a16:creationId xmlns:a16="http://schemas.microsoft.com/office/drawing/2014/main" id="{D66C52D6-1DCD-436A-AB71-79666B8039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892" y="2438400"/>
            <a:ext cx="7038284" cy="3705199"/>
          </a:xfrm>
          <a:prstGeom prst="rect">
            <a:avLst/>
          </a:prstGeom>
        </p:spPr>
      </p:pic>
    </p:spTree>
    <p:extLst>
      <p:ext uri="{BB962C8B-B14F-4D97-AF65-F5344CB8AC3E}">
        <p14:creationId xmlns:p14="http://schemas.microsoft.com/office/powerpoint/2010/main" val="652547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Two different kinds of a Planned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Inspection</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914400" marR="0" lvl="1" indent="-457200" algn="l" defTabSz="914400" rtl="0" eaLnBrk="1" fontAlgn="base" latinLnBrk="0" hangingPunct="1">
              <a:lnSpc>
                <a:spcPct val="110000"/>
              </a:lnSpc>
              <a:spcBef>
                <a:spcPct val="20000"/>
              </a:spcBef>
              <a:spcAft>
                <a:spcPct val="0"/>
              </a:spcAft>
              <a:buClrTx/>
              <a:buSzTx/>
              <a:buFont typeface="+mj-lt"/>
              <a:buAutoNum type="arabicParenR"/>
              <a:tabLst/>
              <a:defRPr/>
            </a:pPr>
            <a:r>
              <a:rPr kumimoji="0" lang="en-US" altLang="en-US" sz="2000" i="0" u="none" strike="noStrike" kern="1200" cap="none" spc="0" normalizeH="0" baseline="0" noProof="0" dirty="0">
                <a:ln>
                  <a:noFill/>
                </a:ln>
                <a:solidFill>
                  <a:srgbClr val="808080"/>
                </a:solidFill>
                <a:effectLst/>
                <a:uLnTx/>
                <a:uFillTx/>
                <a:latin typeface="Arial" panose="020B0604020202020204" pitchFamily="34" charset="0"/>
                <a:ea typeface="ＭＳ Ｐゴシック" panose="020B0600070205080204" pitchFamily="34" charset="-128"/>
                <a:cs typeface="+mn-cs"/>
              </a:rPr>
              <a:t>Physical conditions in the workplace</a:t>
            </a:r>
          </a:p>
          <a:p>
            <a:pPr marL="914400" marR="0" lvl="1" indent="-457200" algn="l" defTabSz="914400" rtl="0" eaLnBrk="1" fontAlgn="base" latinLnBrk="0" hangingPunct="1">
              <a:lnSpc>
                <a:spcPct val="110000"/>
              </a:lnSpc>
              <a:spcBef>
                <a:spcPct val="20000"/>
              </a:spcBef>
              <a:spcAft>
                <a:spcPct val="0"/>
              </a:spcAft>
              <a:buClr>
                <a:srgbClr val="000000"/>
              </a:buClr>
              <a:buSzTx/>
              <a:buFont typeface="+mj-lt"/>
              <a:buAutoNum type="arabicParenR"/>
              <a:tabLst/>
              <a:defRPr/>
            </a:pPr>
            <a:endParaRPr kumimoji="0" lang="en-US" altLang="en-US" sz="2000" i="0" u="none" strike="noStrike" kern="1200" cap="none" spc="0" normalizeH="0" baseline="0" noProof="0" dirty="0">
              <a:ln>
                <a:noFill/>
              </a:ln>
              <a:solidFill>
                <a:srgbClr val="808080"/>
              </a:solidFill>
              <a:effectLst/>
              <a:uLnTx/>
              <a:uFillTx/>
              <a:latin typeface="Arial" panose="020B0604020202020204" pitchFamily="34" charset="0"/>
              <a:ea typeface="ＭＳ Ｐゴシック" panose="020B0600070205080204" pitchFamily="34" charset="-128"/>
              <a:cs typeface="+mn-cs"/>
            </a:endParaRPr>
          </a:p>
          <a:p>
            <a:pPr marL="914400" lvl="1" indent="-457200" eaLnBrk="1" hangingPunct="1">
              <a:lnSpc>
                <a:spcPct val="110000"/>
              </a:lnSpc>
              <a:spcBef>
                <a:spcPct val="20000"/>
              </a:spcBef>
              <a:buClrTx/>
              <a:buFont typeface="+mj-lt"/>
              <a:buAutoNum type="arabicParenR"/>
              <a:defRPr/>
            </a:pPr>
            <a:r>
              <a:rPr kumimoji="0" lang="en-US" altLang="en-US" sz="2000" b="1"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rPr>
              <a:t>Practices of work-in-progress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(to </a:t>
            </a: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observe</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interact</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r>
              <a:rPr kumimoji="0" lang="en-US"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check</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a:r>
            <a:endParaRPr kumimoji="0" lang="en-US" altLang="en-US" sz="2000" b="1" i="0" u="none" strike="noStrike" kern="1200" cap="none" spc="0" normalizeH="0" baseline="0" noProof="0" dirty="0">
              <a:ln>
                <a:noFill/>
              </a:ln>
              <a:effectLst/>
              <a:uLnTx/>
              <a:uFillTx/>
              <a:latin typeface="Arial" panose="020B0604020202020204" pitchFamily="34" charset="0"/>
              <a:ea typeface="ＭＳ Ｐゴシック" panose="020B0600070205080204" pitchFamily="34" charset="-128"/>
              <a:cs typeface="+mn-cs"/>
            </a:endParaRPr>
          </a:p>
          <a:p>
            <a:pPr marL="857250" marR="0" lvl="2" indent="0" algn="l" defTabSz="914400" rtl="0" eaLnBrk="1" fontAlgn="base" latinLnBrk="0" hangingPunct="1">
              <a:lnSpc>
                <a:spcPct val="100000"/>
              </a:lnSpc>
              <a:spcBef>
                <a:spcPts val="0"/>
              </a:spcBef>
              <a:spcAft>
                <a:spcPct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the </a:t>
            </a: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Individual</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Level (the manager and the worker) or </a:t>
            </a:r>
          </a:p>
          <a:p>
            <a:pPr marL="857250" marR="0" lvl="2" indent="0" algn="l" defTabSz="914400" rtl="0" eaLnBrk="1" fontAlgn="base" latinLnBrk="0" hangingPunct="1">
              <a:lnSpc>
                <a:spcPct val="100000"/>
              </a:lnSpc>
              <a:spcBef>
                <a:spcPts val="0"/>
              </a:spcBef>
              <a:spcAft>
                <a:spcPct val="0"/>
              </a:spcAft>
              <a:buClr>
                <a:srgbClr val="000000"/>
              </a:buClr>
              <a:buSzTx/>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At the </a:t>
            </a: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Team</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Level (the manager and a team i.e. a crew or shift or group of workers).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Left Arrow 10">
            <a:extLst>
              <a:ext uri="{FF2B5EF4-FFF2-40B4-BE49-F238E27FC236}">
                <a16:creationId xmlns:a16="http://schemas.microsoft.com/office/drawing/2014/main" id="{FC648825-C11F-48EF-A623-7D8C7BB5C29C}"/>
              </a:ext>
            </a:extLst>
          </p:cNvPr>
          <p:cNvSpPr/>
          <p:nvPr/>
        </p:nvSpPr>
        <p:spPr bwMode="auto">
          <a:xfrm rot="19784728">
            <a:off x="4366931" y="893479"/>
            <a:ext cx="2310129" cy="1020382"/>
          </a:xfrm>
          <a:prstGeom prst="leftArrow">
            <a:avLst/>
          </a:prstGeom>
          <a:solidFill>
            <a:srgbClr val="FF0000"/>
          </a:solidFill>
          <a:ln w="9525" cap="flat" cmpd="sng" algn="ctr">
            <a:solidFill>
              <a:srgbClr val="0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1" u="none" strike="noStrike" kern="0" cap="none" spc="0" normalizeH="0" baseline="0" noProof="0" dirty="0">
                <a:ln>
                  <a:noFill/>
                </a:ln>
                <a:solidFill>
                  <a:srgbClr val="FFFFFF"/>
                </a:solidFill>
                <a:effectLst/>
                <a:uLnTx/>
                <a:uFillTx/>
                <a:cs typeface="Arial" panose="020B0604020202020204" pitchFamily="34" charset="0"/>
              </a:rPr>
              <a:t>Challenging!</a:t>
            </a:r>
          </a:p>
        </p:txBody>
      </p:sp>
      <p:pic>
        <p:nvPicPr>
          <p:cNvPr id="7" name="Picture 6" descr="Commons:Photo challenge/2015 - August - Personal ...">
            <a:extLst>
              <a:ext uri="{FF2B5EF4-FFF2-40B4-BE49-F238E27FC236}">
                <a16:creationId xmlns:a16="http://schemas.microsoft.com/office/drawing/2014/main" id="{320D1909-8CD9-440E-B44F-AE48CCBBB2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999" y="3481952"/>
            <a:ext cx="2196529" cy="1699648"/>
          </a:xfrm>
          <a:prstGeom prst="rect">
            <a:avLst/>
          </a:prstGeom>
        </p:spPr>
      </p:pic>
      <p:pic>
        <p:nvPicPr>
          <p:cNvPr id="10" name="Picture 9" descr="Free photo: &lt;strong&gt;Industrial&lt;/strong&gt;, Security, Logistic - Free Image on ...">
            <a:extLst>
              <a:ext uri="{FF2B5EF4-FFF2-40B4-BE49-F238E27FC236}">
                <a16:creationId xmlns:a16="http://schemas.microsoft.com/office/drawing/2014/main" id="{486C4D98-3F6A-4681-8FF3-EFA5A84A2C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37098" y="4301631"/>
            <a:ext cx="2184673" cy="1689599"/>
          </a:xfrm>
          <a:prstGeom prst="rect">
            <a:avLst/>
          </a:prstGeom>
        </p:spPr>
      </p:pic>
      <p:pic>
        <p:nvPicPr>
          <p:cNvPr id="11" name="Picture 10" descr="Builder PNG image">
            <a:extLst>
              <a:ext uri="{FF2B5EF4-FFF2-40B4-BE49-F238E27FC236}">
                <a16:creationId xmlns:a16="http://schemas.microsoft.com/office/drawing/2014/main" id="{6A789622-89DF-4BB7-B1E2-4132FC975E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1701" y="3072051"/>
            <a:ext cx="2628299" cy="2964648"/>
          </a:xfrm>
          <a:prstGeom prst="rect">
            <a:avLst/>
          </a:prstGeom>
        </p:spPr>
      </p:pic>
    </p:spTree>
    <p:extLst>
      <p:ext uri="{BB962C8B-B14F-4D97-AF65-F5344CB8AC3E}">
        <p14:creationId xmlns:p14="http://schemas.microsoft.com/office/powerpoint/2010/main" val="268167006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 is it Challenging to do Planned Inspections</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a:lnSpc>
                <a:spcPct val="90000"/>
              </a:lnSpc>
              <a:spcBef>
                <a:spcPts val="0"/>
              </a:spcBef>
              <a:buClr>
                <a:srgbClr val="000000"/>
              </a:buClr>
              <a:buSzPct val="100000"/>
              <a:defRPr/>
            </a:pPr>
            <a:r>
              <a:rPr lang="en-US" altLang="en-US" sz="2000" dirty="0" smtClean="0">
                <a:solidFill>
                  <a:srgbClr val="F8F8F8"/>
                </a:solidFill>
                <a:ea typeface="ＭＳ Ｐゴシック" panose="020B0600070205080204" pitchFamily="34" charset="-128"/>
                <a:cs typeface="Arial" panose="020B0604020202020204" pitchFamily="34" charset="0"/>
              </a:rPr>
              <a:t>It is challenging to do planned inspections i.e. to inspect / audit practices </a:t>
            </a:r>
            <a:r>
              <a:rPr lang="en-US" altLang="en-US" sz="2000" dirty="0">
                <a:solidFill>
                  <a:srgbClr val="F8F8F8"/>
                </a:solidFill>
                <a:ea typeface="ＭＳ Ｐゴシック" panose="020B0600070205080204" pitchFamily="34" charset="-128"/>
                <a:cs typeface="Arial" panose="020B0604020202020204" pitchFamily="34" charset="0"/>
              </a:rPr>
              <a:t>of work-in-progress (to observe, interact, check</a:t>
            </a:r>
            <a:r>
              <a:rPr lang="en-US" altLang="en-US" sz="2000" dirty="0" smtClean="0">
                <a:solidFill>
                  <a:srgbClr val="F8F8F8"/>
                </a:solidFill>
                <a:ea typeface="ＭＳ Ｐゴシック" panose="020B0600070205080204" pitchFamily="34" charset="-128"/>
                <a:cs typeface="Arial" panose="020B0604020202020204" pitchFamily="34" charset="0"/>
              </a:rPr>
              <a:t>) because:</a:t>
            </a:r>
            <a:endParaRPr lang="en-US" altLang="en-US" sz="2000" dirty="0">
              <a:solidFill>
                <a:srgbClr val="F8F8F8"/>
              </a:solidFill>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We </a:t>
            </a:r>
            <a:r>
              <a:rPr lang="en-CA" altLang="en-US" sz="2000" dirty="0">
                <a:solidFill>
                  <a:srgbClr val="FFFFFF"/>
                </a:solidFill>
                <a:ea typeface="ＭＳ Ｐゴシック" panose="020B0600070205080204" pitchFamily="34" charset="-128"/>
              </a:rPr>
              <a:t>typically and naturally do not know how to do this effectively. </a:t>
            </a: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It </a:t>
            </a:r>
            <a:r>
              <a:rPr lang="en-CA" altLang="en-US" sz="2000" dirty="0">
                <a:solidFill>
                  <a:srgbClr val="FFFFFF"/>
                </a:solidFill>
                <a:ea typeface="ＭＳ Ｐゴシック" panose="020B0600070205080204" pitchFamily="34" charset="-128"/>
              </a:rPr>
              <a:t>is uncomfortable </a:t>
            </a:r>
            <a:r>
              <a:rPr lang="en-CA" altLang="en-US" sz="2000" dirty="0" smtClean="0">
                <a:solidFill>
                  <a:srgbClr val="FFFFFF"/>
                </a:solidFill>
                <a:ea typeface="ＭＳ Ｐゴシック" panose="020B0600070205080204" pitchFamily="34" charset="-128"/>
              </a:rPr>
              <a:t>for us to “confront” </a:t>
            </a:r>
            <a:r>
              <a:rPr lang="en-CA" altLang="en-US" sz="2000" dirty="0">
                <a:solidFill>
                  <a:srgbClr val="FFFFFF"/>
                </a:solidFill>
                <a:ea typeface="ＭＳ Ｐゴシック" panose="020B0600070205080204" pitchFamily="34" charset="-128"/>
              </a:rPr>
              <a:t>a worker.</a:t>
            </a: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Take any “people-skills” training on how to observe, interact, and coach workers at your employer – in-line with the culture of your employer. </a:t>
            </a:r>
          </a:p>
          <a:p>
            <a:pPr marL="360000" lvl="2" indent="-360000" eaLnBrk="1" hangingPunct="1">
              <a:lnSpc>
                <a:spcPct val="90000"/>
              </a:lnSpc>
              <a:spcBef>
                <a:spcPts val="0"/>
              </a:spcBef>
              <a:buFont typeface="Wingdings" panose="05000000000000000000" pitchFamily="2" charset="2"/>
              <a:buChar char="Ø"/>
              <a:defRPr/>
            </a:pPr>
            <a:r>
              <a:rPr lang="en-CA" altLang="en-US" sz="2000" b="1" u="sng" dirty="0" smtClean="0">
                <a:solidFill>
                  <a:srgbClr val="FFFFFF"/>
                </a:solidFill>
                <a:ea typeface="ＭＳ Ｐゴシック" panose="020B0600070205080204" pitchFamily="34" charset="-128"/>
              </a:rPr>
              <a:t>This will support your becoming a leader!</a:t>
            </a:r>
            <a:endParaRPr lang="en-CA" altLang="en-US" sz="2000" b="1" u="sng" dirty="0">
              <a:solidFill>
                <a:srgbClr val="FFFFFF"/>
              </a:solidFill>
              <a:ea typeface="ＭＳ Ｐゴシック" panose="020B0600070205080204" pitchFamily="34" charset="-128"/>
            </a:endParaRPr>
          </a:p>
        </p:txBody>
      </p:sp>
      <p:pic>
        <p:nvPicPr>
          <p:cNvPr id="12" name="Picture 11" descr="Commons:Photo challenge/2015 - August - Personal ...">
            <a:extLst>
              <a:ext uri="{FF2B5EF4-FFF2-40B4-BE49-F238E27FC236}">
                <a16:creationId xmlns:a16="http://schemas.microsoft.com/office/drawing/2014/main" id="{320D1909-8CD9-440E-B44F-AE48CCBBB2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999" y="3481952"/>
            <a:ext cx="2196529" cy="1699648"/>
          </a:xfrm>
          <a:prstGeom prst="rect">
            <a:avLst/>
          </a:prstGeom>
        </p:spPr>
      </p:pic>
      <p:pic>
        <p:nvPicPr>
          <p:cNvPr id="13" name="Picture 12" descr="Free photo: &lt;strong&gt;Industrial&lt;/strong&gt;, Security, Logistic - Free Image on ...">
            <a:extLst>
              <a:ext uri="{FF2B5EF4-FFF2-40B4-BE49-F238E27FC236}">
                <a16:creationId xmlns:a16="http://schemas.microsoft.com/office/drawing/2014/main" id="{486C4D98-3F6A-4681-8FF3-EFA5A84A2C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37098" y="4301631"/>
            <a:ext cx="2184673" cy="1689599"/>
          </a:xfrm>
          <a:prstGeom prst="rect">
            <a:avLst/>
          </a:prstGeom>
        </p:spPr>
      </p:pic>
      <p:pic>
        <p:nvPicPr>
          <p:cNvPr id="14" name="Picture 13" descr="Builder PNG image">
            <a:extLst>
              <a:ext uri="{FF2B5EF4-FFF2-40B4-BE49-F238E27FC236}">
                <a16:creationId xmlns:a16="http://schemas.microsoft.com/office/drawing/2014/main" id="{6A789622-89DF-4BB7-B1E2-4132FC975E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1701" y="3072051"/>
            <a:ext cx="2628299" cy="2964648"/>
          </a:xfrm>
          <a:prstGeom prst="rect">
            <a:avLst/>
          </a:prstGeom>
        </p:spPr>
      </p:pic>
    </p:spTree>
    <p:extLst>
      <p:ext uri="{BB962C8B-B14F-4D97-AF65-F5344CB8AC3E}">
        <p14:creationId xmlns:p14="http://schemas.microsoft.com/office/powerpoint/2010/main" val="403652236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 of Work Practices:</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a:lnSpc>
                <a:spcPct val="90000"/>
              </a:lnSpc>
              <a:spcBef>
                <a:spcPts val="0"/>
              </a:spcBef>
              <a:buClr>
                <a:srgbClr val="000000"/>
              </a:buClr>
              <a:buSzPct val="100000"/>
              <a:defRPr/>
            </a:pPr>
            <a:r>
              <a:rPr lang="en-US" altLang="en-US" sz="2000" dirty="0">
                <a:solidFill>
                  <a:srgbClr val="F8F8F8"/>
                </a:solidFill>
                <a:ea typeface="ＭＳ Ｐゴシック" panose="020B0600070205080204" pitchFamily="34" charset="-128"/>
                <a:cs typeface="Arial" panose="020B0604020202020204" pitchFamily="34" charset="0"/>
              </a:rPr>
              <a:t>I</a:t>
            </a:r>
            <a:r>
              <a:rPr lang="en-US" altLang="en-US" sz="2000" dirty="0" smtClean="0">
                <a:solidFill>
                  <a:srgbClr val="F8F8F8"/>
                </a:solidFill>
                <a:ea typeface="ＭＳ Ｐゴシック" panose="020B0600070205080204" pitchFamily="34" charset="-128"/>
                <a:cs typeface="Arial" panose="020B0604020202020204" pitchFamily="34" charset="0"/>
              </a:rPr>
              <a:t>nspect / audit practices </a:t>
            </a:r>
            <a:r>
              <a:rPr lang="en-US" altLang="en-US" sz="2000" dirty="0">
                <a:solidFill>
                  <a:srgbClr val="F8F8F8"/>
                </a:solidFill>
                <a:ea typeface="ＭＳ Ｐゴシック" panose="020B0600070205080204" pitchFamily="34" charset="-128"/>
                <a:cs typeface="Arial" panose="020B0604020202020204" pitchFamily="34" charset="0"/>
              </a:rPr>
              <a:t>of work-in-progress (to observe, interact, check)</a:t>
            </a:r>
          </a:p>
          <a:p>
            <a:pPr marL="360000" marR="0" lvl="2" indent="-360000" algn="l" defTabSz="914400" rtl="0" eaLnBrk="1" fontAlgn="base" latinLnBrk="0" hangingPunct="1">
              <a:lnSpc>
                <a:spcPct val="90000"/>
              </a:lnSpc>
              <a:spcBef>
                <a:spcPts val="0"/>
              </a:spcBef>
              <a:spcAft>
                <a:spcPct val="0"/>
              </a:spcAft>
              <a:buClrTx/>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At the </a:t>
            </a:r>
            <a:r>
              <a:rPr kumimoji="0" lang="en-US" altLang="en-US" sz="2000" b="1"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Individual</a:t>
            </a:r>
            <a:r>
              <a:rPr kumimoji="0" lang="en-US" altLang="en-US" sz="20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Level (the manager and the worker) or </a:t>
            </a:r>
          </a:p>
          <a:p>
            <a:pPr marL="360000" marR="0" lvl="2" indent="-360000" algn="l" defTabSz="914400" rtl="0" eaLnBrk="1" fontAlgn="base" latinLnBrk="0" hangingPunct="1">
              <a:lnSpc>
                <a:spcPct val="90000"/>
              </a:lnSpc>
              <a:spcBef>
                <a:spcPts val="0"/>
              </a:spcBef>
              <a:spcAft>
                <a:spcPct val="0"/>
              </a:spcAft>
              <a:buClrTx/>
              <a:buSzTx/>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At </a:t>
            </a:r>
            <a:r>
              <a:rPr kumimoji="0" lang="en-US" altLang="en-US" sz="20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the </a:t>
            </a:r>
            <a:r>
              <a:rPr kumimoji="0" lang="en-US" altLang="en-US" sz="20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Team</a:t>
            </a:r>
            <a:r>
              <a:rPr kumimoji="0" lang="en-US" altLang="en-US" sz="2000"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 Level (the manager and a team i.e. a crew or shift or group of workers). </a:t>
            </a: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Think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back to your work experiences … </a:t>
            </a: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2" indent="-360000" eaLnBrk="1" hangingPunct="1">
              <a:lnSpc>
                <a:spcPct val="90000"/>
              </a:lnSpc>
              <a:spcBef>
                <a:spcPts val="0"/>
              </a:spcBef>
              <a:buFont typeface="Wingdings" panose="05000000000000000000" pitchFamily="2" charset="2"/>
              <a:buChar char="Ø"/>
              <a:defRPr/>
            </a:pPr>
            <a:r>
              <a:rPr lang="en-CA" altLang="en-US" sz="2000" dirty="0">
                <a:solidFill>
                  <a:srgbClr val="FFFFFF"/>
                </a:solidFill>
                <a:ea typeface="ＭＳ Ｐゴシック" panose="020B0600070205080204" pitchFamily="34" charset="-128"/>
              </a:rPr>
              <a:t>Did your supervisor or any other manager approach you and your work crew, and ask questions about hazards and risks on the job, about any control measures such as the FLRA, Procedures, or </a:t>
            </a:r>
            <a:r>
              <a:rPr lang="en-CA" altLang="en-US" sz="2000" dirty="0" smtClean="0">
                <a:solidFill>
                  <a:srgbClr val="FFFFFF"/>
                </a:solidFill>
                <a:ea typeface="ＭＳ Ｐゴシック" panose="020B0600070205080204" pitchFamily="34" charset="-128"/>
              </a:rPr>
              <a:t>Permit-to-Work?</a:t>
            </a:r>
          </a:p>
          <a:p>
            <a:pPr marL="360000" lvl="2" indent="-360000" eaLnBrk="1" hangingPunct="1">
              <a:lnSpc>
                <a:spcPct val="90000"/>
              </a:lnSpc>
              <a:spcBef>
                <a:spcPts val="0"/>
              </a:spcBef>
              <a:buFont typeface="Wingdings" panose="05000000000000000000" pitchFamily="2" charset="2"/>
              <a:buChar char="Ø"/>
              <a:defRPr/>
            </a:pPr>
            <a:r>
              <a:rPr lang="en-CA" altLang="en-US" sz="2000" dirty="0" smtClean="0">
                <a:solidFill>
                  <a:srgbClr val="FFFFFF"/>
                </a:solidFill>
                <a:ea typeface="ＭＳ Ｐゴシック" panose="020B0600070205080204" pitchFamily="34" charset="-128"/>
              </a:rPr>
              <a:t>Was </a:t>
            </a:r>
            <a:r>
              <a:rPr lang="en-CA" altLang="en-US" sz="2000" dirty="0">
                <a:solidFill>
                  <a:srgbClr val="FFFFFF"/>
                </a:solidFill>
                <a:ea typeface="ＭＳ Ｐゴシック" panose="020B0600070205080204" pitchFamily="34" charset="-128"/>
              </a:rPr>
              <a:t>it a positive, productive  experience? </a:t>
            </a: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If the answers to these questions are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yes, then you were working in a </a:t>
            </a:r>
            <a:b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leading organization! </a:t>
            </a:r>
            <a:endPar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lang="en-CA" altLang="en-US" sz="2000" dirty="0">
              <a:solidFill>
                <a:srgbClr val="F8F8F8"/>
              </a:solidFill>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r>
              <a:rPr kumimoji="0" lang="en-CA" altLang="en-US" sz="2000" b="1" i="0" u="sng"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1"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leader </a:t>
            </a:r>
            <a:r>
              <a:rPr kumimoji="0" lang="en-CA" altLang="en-US" sz="2000" b="1" i="0" u="sng"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was </a:t>
            </a:r>
            <a:r>
              <a:rPr kumimoji="0" lang="en-CA" altLang="en-US" sz="2000" b="1"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doing their job!</a:t>
            </a:r>
          </a:p>
          <a:p>
            <a:pPr marL="0" marR="0" lvl="0" indent="0" algn="l" defTabSz="914400" rtl="0" eaLnBrk="0" fontAlgn="base" latinLnBrk="0" hangingPunct="0">
              <a:lnSpc>
                <a:spcPct val="9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10" name="Picture 9" descr="Commons:Photo challenge/2015 - August - Personal ...">
            <a:extLst>
              <a:ext uri="{FF2B5EF4-FFF2-40B4-BE49-F238E27FC236}">
                <a16:creationId xmlns:a16="http://schemas.microsoft.com/office/drawing/2014/main" id="{E8A9D7C3-B7F6-4335-9D50-EA0F5C837E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4400" y="4648200"/>
            <a:ext cx="1600200" cy="1272600"/>
          </a:xfrm>
          <a:prstGeom prst="rect">
            <a:avLst/>
          </a:prstGeom>
        </p:spPr>
      </p:pic>
      <p:pic>
        <p:nvPicPr>
          <p:cNvPr id="11" name="Picture 10" descr="Free photo: &lt;strong&gt;Industrial&lt;/strong&gt;, Security, Logistic - Free Image on ...">
            <a:extLst>
              <a:ext uri="{FF2B5EF4-FFF2-40B4-BE49-F238E27FC236}">
                <a16:creationId xmlns:a16="http://schemas.microsoft.com/office/drawing/2014/main" id="{E8030FA1-A0A5-4718-B243-9D453E34B60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43747" y="4648200"/>
            <a:ext cx="1902953" cy="1272600"/>
          </a:xfrm>
          <a:prstGeom prst="rect">
            <a:avLst/>
          </a:prstGeom>
        </p:spPr>
      </p:pic>
    </p:spTree>
    <p:extLst>
      <p:ext uri="{BB962C8B-B14F-4D97-AF65-F5344CB8AC3E}">
        <p14:creationId xmlns:p14="http://schemas.microsoft.com/office/powerpoint/2010/main" val="240255183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JO</a:t>
            </a:r>
            <a:r>
              <a:rPr kumimoji="0" lang="en-US"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 Job Observation and Interaction</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PI = Planned Inspection</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lang="en-US" altLang="en-US"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lang="en-US" altLang="en-US"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JO &amp; PI at the Individual / Team Level:</a:t>
            </a:r>
          </a:p>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lang="en-US" altLang="en-US" baseline="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Checks</a:t>
            </a:r>
            <a:r>
              <a:rPr kumimoji="0" lang="en-US"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practices by workers when executing administrative controls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US" altLang="en-US"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Ensures</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that managers: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Will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be successful in their interactions with workers and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Reinforce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expected practices and conditions, and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Maintain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 visibility, and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Combat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 in the workplace.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Means of JO &amp; PI at the Individual / Team Level: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Tree>
    <p:extLst>
      <p:ext uri="{BB962C8B-B14F-4D97-AF65-F5344CB8AC3E}">
        <p14:creationId xmlns:p14="http://schemas.microsoft.com/office/powerpoint/2010/main" val="247778042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Purposes:</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Observe workers,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Interact with workers,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 for compliance i.e.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workers following the administrative controls? Sub-standard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conditions or sub-standard practices?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 on their findings: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compliant, commend the workers.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non-compliant, intervene (act, take steps to address)</a:t>
            </a: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Benefits to Managers / Leaders: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Successful in their interactions with workers.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Maintain management visibility.</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Reinforce the expected conditions and practices.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Combat complacency in the workplace.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JO &amp; PI at the Individual / Team Level: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Tree>
    <p:extLst>
      <p:ext uri="{BB962C8B-B14F-4D97-AF65-F5344CB8AC3E}">
        <p14:creationId xmlns:p14="http://schemas.microsoft.com/office/powerpoint/2010/main" val="64356837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 – the acceptance of SCs and SPs in the workplace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 sets in when:</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Workers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become accustomed to and comfortable with</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operations, facility, equipment, procedures, and work processes.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This comfort level leads to complacency.</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workers may begin to take “short-cuts” with practices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and/or conditions.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manager can – and must – combat complacency:</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inspections check for compliance AND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 to correct deviations.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Face-to-face coaching to be empowered to address sub-standard conditions and at-risk behaviours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Positively influence safety culture of the organization.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JO &amp; PI as a Means to Combat Complacency: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spTree>
    <p:extLst>
      <p:ext uri="{BB962C8B-B14F-4D97-AF65-F5344CB8AC3E}">
        <p14:creationId xmlns:p14="http://schemas.microsoft.com/office/powerpoint/2010/main" val="399564561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1EFB3B-CB86-4BC7-8FEA-E188C77EC267}"/>
              </a:ext>
            </a:extLst>
          </p:cNvPr>
          <p:cNvPicPr>
            <a:picLocks noChangeAspect="1"/>
          </p:cNvPicPr>
          <p:nvPr/>
        </p:nvPicPr>
        <p:blipFill>
          <a:blip r:embed="rId3"/>
          <a:stretch>
            <a:fillRect/>
          </a:stretch>
        </p:blipFill>
        <p:spPr>
          <a:xfrm>
            <a:off x="175710" y="2667000"/>
            <a:ext cx="8637690" cy="1605280"/>
          </a:xfrm>
          <a:prstGeom prst="rect">
            <a:avLst/>
          </a:prstGeom>
        </p:spPr>
      </p:pic>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a:lnSpc>
                <a:spcPct val="100000"/>
              </a:lnSpc>
              <a:spcBef>
                <a:spcPts val="0"/>
              </a:spcBef>
              <a:buClrTx/>
              <a:buSzPct val="100000"/>
              <a:buNone/>
              <a:defRPr/>
            </a:pPr>
            <a:r>
              <a:rPr lang="en-US"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Limitations </a:t>
            </a:r>
            <a:r>
              <a:rPr lang="en-US"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Drawbacks of Checklists: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Too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narrow: does not cover every anticipated need or every situation.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not carefully observant, hazards / deficiencies can be overlooked.</a:t>
            </a:r>
          </a:p>
          <a:p>
            <a:pPr marL="0" marR="0" indent="0" defTabSz="914400" latinLnBrk="0">
              <a:lnSpc>
                <a:spcPct val="100000"/>
              </a:lnSpc>
              <a:spcBef>
                <a:spcPts val="0"/>
              </a:spcBef>
              <a:buClrTx/>
              <a:buSzPct val="100000"/>
              <a:buNone/>
              <a:tabLst/>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overcome these </a:t>
            </a: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drawbacks, checklists become longer:</a:t>
            </a:r>
            <a:endPar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it</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becomes a p</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erfunctory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fashion (so called “checking the boxes” or “pencil whipping exercise”).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Outcome: </a:t>
            </a: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impact </a:t>
            </a:r>
            <a:r>
              <a:rPr kumimoji="0" lang="en-CA"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 culture </a:t>
            </a: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complacency!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Complacency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sets in with repeated use and lack of leadership support;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thus</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 opportunity for leadership in risk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Complacency: “normalization of deviation”, “atrophy of vigilance”,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“numb to risk”, the casual acceptance of unacceptable risk levels.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cs typeface="Arial" panose="020B0604020202020204" pitchFamily="34" charset="0"/>
              </a:rPr>
              <a:t>JO &amp; PI as a Means to Combat Complacency:</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5.6: Checklists for Executing Work</a:t>
            </a:r>
          </a:p>
        </p:txBody>
      </p:sp>
      <p:sp>
        <p:nvSpPr>
          <p:cNvPr id="6" name="Text Box 6">
            <a:extLst>
              <a:ext uri="{FF2B5EF4-FFF2-40B4-BE49-F238E27FC236}">
                <a16:creationId xmlns:a16="http://schemas.microsoft.com/office/drawing/2014/main" id="{0434AA85-6252-48E1-8DE1-BB49D21AF9F2}"/>
              </a:ext>
            </a:extLst>
          </p:cNvPr>
          <p:cNvSpPr txBox="1">
            <a:spLocks noChangeArrowheads="1"/>
          </p:cNvSpPr>
          <p:nvPr/>
        </p:nvSpPr>
        <p:spPr bwMode="auto">
          <a:xfrm>
            <a:off x="317100" y="4416280"/>
            <a:ext cx="8229600" cy="1772254"/>
          </a:xfrm>
          <a:prstGeom prst="rect">
            <a:avLst/>
          </a:prstGeom>
          <a:solidFill>
            <a:schemeClr val="tx1"/>
          </a:solidFill>
          <a:ln w="9525">
            <a:solidFill>
              <a:srgbClr val="000000"/>
            </a:solidFill>
            <a:miter lim="800000"/>
            <a:headEnd/>
            <a:tailEnd/>
          </a:ln>
          <a:effectLst>
            <a:prstShdw prst="shdw17" dist="17961" dir="2700000">
              <a:srgbClr val="000000"/>
            </a:prstShdw>
          </a:effec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342900" marR="0" lvl="0" indent="-342900" algn="l" defTabSz="914400" rtl="0" eaLnBrk="0" fontAlgn="base" latinLnBrk="0" hangingPunct="0">
              <a:lnSpc>
                <a:spcPct val="100000"/>
              </a:lnSpc>
              <a:spcBef>
                <a:spcPct val="5000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This an opportunity for leadership. </a:t>
            </a:r>
            <a:endPar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342900" marR="0" lvl="0" indent="-342900" algn="l" defTabSz="914400" rtl="0" eaLnBrk="0" fontAlgn="base" latinLnBrk="0" hangingPunct="0">
              <a:lnSpc>
                <a:spcPct val="100000"/>
              </a:lnSpc>
              <a:spcBef>
                <a:spcPct val="50000"/>
              </a:spcBef>
              <a:spcAft>
                <a:spcPct val="0"/>
              </a:spcAft>
              <a:buClrTx/>
              <a:buSzTx/>
              <a:buFont typeface="Wingdings" panose="05000000000000000000" pitchFamily="2" charset="2"/>
              <a:buChar char="Ø"/>
              <a:tabLst/>
              <a:defRPr/>
            </a:pP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So</a:t>
            </a:r>
            <a:r>
              <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 </a:t>
            </a:r>
            <a:r>
              <a:rPr kumimoji="0" lang="en-CA" altLang="en-US" sz="2000" b="0" i="1" u="sng"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what can leaders do to combat complacency</a:t>
            </a: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 </a:t>
            </a:r>
          </a:p>
          <a:p>
            <a:pPr marL="342900" marR="0" lvl="0" indent="-342900" algn="l" defTabSz="914400" rtl="0" eaLnBrk="0" fontAlgn="base" latinLnBrk="0" hangingPunct="0">
              <a:lnSpc>
                <a:spcPct val="100000"/>
              </a:lnSpc>
              <a:spcBef>
                <a:spcPct val="50000"/>
              </a:spcBef>
              <a:spcAft>
                <a:spcPct val="0"/>
              </a:spcAft>
              <a:buClrTx/>
              <a:buSzTx/>
              <a:buFont typeface="Wingdings" panose="05000000000000000000" pitchFamily="2" charset="2"/>
              <a:buChar char="Ø"/>
              <a:tabLst/>
              <a:defRPr/>
            </a:pPr>
            <a:r>
              <a:rPr lang="en-CA" altLang="en-US" sz="2000" i="1" dirty="0" smtClean="0">
                <a:solidFill>
                  <a:srgbClr val="FFFFFF"/>
                </a:solidFill>
                <a:latin typeface="Arial" panose="020B0604020202020204" pitchFamily="34" charset="0"/>
              </a:rPr>
              <a:t>Let’s explore this </a:t>
            </a:r>
            <a:r>
              <a:rPr kumimoji="0" lang="en-CA" altLang="en-US" sz="2000" b="0" i="1"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question. </a:t>
            </a:r>
            <a:endParaRPr kumimoji="0" lang="en-CA" altLang="en-US" sz="2000" b="0" i="1"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608134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eaLnBrk="1" hangingPunct="1">
              <a:lnSpc>
                <a:spcPct val="100000"/>
              </a:lnSpc>
              <a:spcBef>
                <a:spcPct val="0"/>
              </a:spcBef>
              <a:buClrTx/>
              <a:buNone/>
              <a:defRPr/>
            </a:pPr>
            <a:r>
              <a:rPr lang="en-US" altLang="en-US" sz="2400" dirty="0">
                <a:solidFill>
                  <a:srgbClr val="333399"/>
                </a:solidFill>
                <a:latin typeface="Arial" panose="020B0604020202020204" pitchFamily="34" charset="0"/>
                <a:cs typeface="Arial" panose="020B0604020202020204" pitchFamily="34" charset="0"/>
              </a:rPr>
              <a:t>Planned Inspections and </a:t>
            </a:r>
            <a:r>
              <a:rPr lang="en-US" altLang="en-US" sz="2400" dirty="0" smtClean="0">
                <a:solidFill>
                  <a:srgbClr val="333399"/>
                </a:solidFill>
                <a:latin typeface="Arial" panose="020B0604020202020204" pitchFamily="34" charset="0"/>
                <a:cs typeface="Arial" panose="020B0604020202020204" pitchFamily="34" charset="0"/>
              </a:rPr>
              <a:t>Audits: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CA" sz="1200" b="1" i="1" kern="0" dirty="0">
                <a:solidFill>
                  <a:srgbClr val="000000"/>
                </a:solidFill>
                <a:latin typeface="Arial" charset="0"/>
                <a:ea typeface="Times New Roman"/>
                <a:cs typeface="Arial" panose="020B0604020202020204" pitchFamily="34" charset="0"/>
                <a:sym typeface="Times New Roman"/>
              </a:rPr>
              <a:t>Chapter 5.8: Job Observations &amp; Planned Inspections (Audits)</a:t>
            </a:r>
          </a:p>
        </p:txBody>
      </p:sp>
      <p:sp>
        <p:nvSpPr>
          <p:cNvPr id="10" name="Rectangle 3"/>
          <p:cNvSpPr>
            <a:spLocks noChangeArrowheads="1"/>
          </p:cNvSpPr>
          <p:nvPr/>
        </p:nvSpPr>
        <p:spPr bwMode="auto">
          <a:xfrm>
            <a:off x="252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nSpc>
                <a:spcPct val="100000"/>
              </a:lnSpc>
              <a:spcBef>
                <a:spcPts val="0"/>
              </a:spcBef>
              <a:buClrTx/>
              <a:buSzPct val="100000"/>
              <a:buNone/>
              <a:defRPr/>
            </a:pPr>
            <a:r>
              <a:rPr lang="en-CA" altLang="en-US"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Planned Inspections and Audits – What is the Difference?</a:t>
            </a:r>
            <a:endPar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No difference: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Planned – various leaders are scheduled to conduct a PI</a:t>
            </a:r>
          </a:p>
          <a:p>
            <a:pPr marL="720000" lvl="0" indent="-360000">
              <a:lnSpc>
                <a:spcPct val="100000"/>
              </a:lnSpc>
              <a:spcBef>
                <a:spcPts val="0"/>
              </a:spcBef>
              <a:buClrTx/>
              <a:buSzPct val="100000"/>
              <a:buFont typeface="Wingdings" panose="05000000000000000000" pitchFamily="2" charset="2"/>
              <a:buChar char="Ø"/>
              <a:defRPr/>
            </a:pPr>
            <a:r>
              <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Looking for deviations</a:t>
            </a:r>
            <a:r>
              <a:rPr kumimoji="0" lang="en-CA" altLang="en-US"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and deficiencies:</a:t>
            </a:r>
            <a:r>
              <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a:t>
            </a:r>
            <a:r>
              <a:rPr kumimoji="0" lang="en-CA" altLang="en-US"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execution of critical administrative </a:t>
            </a: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controls (Individual / Team level), and in the execution of risk management systems and their programs! </a:t>
            </a: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term “audit” can have negative connotations though.</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a:lnSpc>
                <a:spcPct val="100000"/>
              </a:lnSpc>
              <a:spcBef>
                <a:spcPts val="0"/>
              </a:spcBef>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Nevertheless, to differentiate “planned inspection” and “audit” in the context of risk management:</a:t>
            </a:r>
          </a:p>
          <a:p>
            <a:pPr marL="720000" lvl="0" indent="-360000">
              <a:lnSpc>
                <a:spcPct val="100000"/>
              </a:lnSpc>
              <a:spcBef>
                <a:spcPts val="0"/>
              </a:spcBef>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Planned Inspection</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the </a:t>
            </a:r>
            <a:r>
              <a:rPr lang="en-US" altLang="en-US"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Individual / Team Level</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checks the work practices in real-time with interactions with workers</a:t>
            </a:r>
          </a:p>
          <a:p>
            <a:pPr marL="720000" lvl="0" indent="-360000">
              <a:lnSpc>
                <a:spcPct val="100000"/>
              </a:lnSpc>
              <a:spcBef>
                <a:spcPts val="0"/>
              </a:spcBef>
              <a:buClrTx/>
              <a:buSzPct val="100000"/>
              <a:buFont typeface="Wingdings" panose="05000000000000000000" pitchFamily="2" charset="2"/>
              <a:buChar char="Ø"/>
              <a:defRPr/>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t>
            </a:r>
            <a:r>
              <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checks the </a:t>
            </a:r>
            <a:r>
              <a:rPr lang="en-US" altLang="en-US"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integrity of specific components of the risk management system and program</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 more is discussed in the topic on </a:t>
            </a:r>
            <a:r>
              <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RME #6 PECI</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59667357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dirty="0" smtClean="0">
                <a:solidFill>
                  <a:srgbClr val="333399"/>
                </a:solidFill>
                <a:latin typeface="Arial" panose="020B0604020202020204" pitchFamily="34" charset="0"/>
                <a:cs typeface="Arial" panose="020B0604020202020204" pitchFamily="34" charset="0"/>
              </a:rPr>
              <a:t>Audits on Critical Administrative Controls</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CA" sz="1200" b="1" i="1" kern="0" dirty="0">
                <a:solidFill>
                  <a:srgbClr val="000000"/>
                </a:solidFill>
                <a:latin typeface="Arial" charset="0"/>
                <a:ea typeface="Times New Roman"/>
                <a:cs typeface="Arial" panose="020B0604020202020204" pitchFamily="34" charset="0"/>
                <a:sym typeface="Times New Roman"/>
              </a:rPr>
              <a:t>Chapter 5.8: Job Observations &amp; Planned Inspections (Audits)</a:t>
            </a:r>
          </a:p>
        </p:txBody>
      </p:sp>
      <p:sp>
        <p:nvSpPr>
          <p:cNvPr id="10" name="Rectangle 3"/>
          <p:cNvSpPr>
            <a:spLocks noChangeArrowheads="1"/>
          </p:cNvSpPr>
          <p:nvPr/>
        </p:nvSpPr>
        <p:spPr bwMode="auto">
          <a:xfrm>
            <a:off x="252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nSpc>
                <a:spcPct val="100000"/>
              </a:lnSpc>
              <a:spcBef>
                <a:spcPts val="0"/>
              </a:spcBef>
              <a:buClrTx/>
              <a:buSzPct val="100000"/>
              <a:buNone/>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a:t>
            </a: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PTWs and the </a:t>
            </a: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Piper Alpha LI?</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PTW and its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associated safety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rule / procedure / policy / protocol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a:t>
            </a:r>
            <a:r>
              <a:rPr kumimoji="0" lang="en-CA"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critical administrative controls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PTW is a component of a RMS,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specifically under RME #2 RA&amp;MR</a:t>
            </a: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Deviations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from the PTW checklist indicate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risk level may be or is higher than the </a:t>
            </a:r>
            <a:b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acceptable level. </a:t>
            </a:r>
          </a:p>
          <a:p>
            <a:pPr marL="360000" indent="-360000">
              <a:lnSpc>
                <a:spcPct val="100000"/>
              </a:lnSpc>
              <a:spcBef>
                <a:spcPts val="0"/>
              </a:spcBef>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100000"/>
              </a:lnSpc>
              <a:spcBef>
                <a:spcPts val="0"/>
              </a:spcBef>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PTWs were not managed properly,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were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treated as a mere “formality”;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risks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associated with putting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equipment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back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on-line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without thorough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checks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resulted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“unchecked</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risks and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with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tragic losses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on PEAP. </a:t>
            </a:r>
          </a:p>
        </p:txBody>
      </p:sp>
      <p:pic>
        <p:nvPicPr>
          <p:cNvPr id="5" name="Picture 4"/>
          <p:cNvPicPr>
            <a:picLocks noChangeAspect="1"/>
          </p:cNvPicPr>
          <p:nvPr/>
        </p:nvPicPr>
        <p:blipFill>
          <a:blip r:embed="rId3"/>
          <a:stretch>
            <a:fillRect/>
          </a:stretch>
        </p:blipFill>
        <p:spPr>
          <a:xfrm>
            <a:off x="5384400" y="918770"/>
            <a:ext cx="3429000" cy="2443618"/>
          </a:xfrm>
          <a:prstGeom prst="rect">
            <a:avLst/>
          </a:prstGeom>
        </p:spPr>
      </p:pic>
      <p:pic>
        <p:nvPicPr>
          <p:cNvPr id="2" name="Picture 1"/>
          <p:cNvPicPr>
            <a:picLocks noChangeAspect="1"/>
          </p:cNvPicPr>
          <p:nvPr/>
        </p:nvPicPr>
        <p:blipFill>
          <a:blip r:embed="rId4"/>
          <a:stretch>
            <a:fillRect/>
          </a:stretch>
        </p:blipFill>
        <p:spPr>
          <a:xfrm>
            <a:off x="5155801" y="3453158"/>
            <a:ext cx="3657599" cy="2743199"/>
          </a:xfrm>
          <a:prstGeom prst="rect">
            <a:avLst/>
          </a:prstGeom>
          <a:ln>
            <a:solidFill>
              <a:schemeClr val="tx1"/>
            </a:solidFill>
          </a:ln>
        </p:spPr>
      </p:pic>
    </p:spTree>
    <p:extLst>
      <p:ext uri="{BB962C8B-B14F-4D97-AF65-F5344CB8AC3E}">
        <p14:creationId xmlns:p14="http://schemas.microsoft.com/office/powerpoint/2010/main" val="202487140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6">
            <a:extLst>
              <a:ext uri="{FF2B5EF4-FFF2-40B4-BE49-F238E27FC236}">
                <a16:creationId xmlns:a16="http://schemas.microsoft.com/office/drawing/2014/main" id="{D1DC28EA-AEA6-4796-8B9C-A0BCC2F7F8DE}"/>
              </a:ext>
            </a:extLst>
          </p:cNvPr>
          <p:cNvSpPr txBox="1">
            <a:spLocks noChangeArrowheads="1"/>
          </p:cNvSpPr>
          <p:nvPr/>
        </p:nvSpPr>
        <p:spPr bwMode="auto">
          <a:xfrm>
            <a:off x="180000" y="828000"/>
            <a:ext cx="8640000" cy="5364000"/>
          </a:xfrm>
          <a:prstGeom prst="rect">
            <a:avLst/>
          </a:prstGeom>
          <a:solidFill>
            <a:schemeClr val="tx1"/>
          </a:solidFill>
          <a:ln w="9525">
            <a:solidFill>
              <a:schemeClr val="tx1"/>
            </a:solidFill>
            <a:miter lim="800000"/>
            <a:headEnd/>
            <a:tailEnd/>
          </a:ln>
          <a:effectLst>
            <a:prstShdw prst="shdw17" dist="17961" dir="2700000">
              <a:srgbClr val="000000"/>
            </a:prstShdw>
          </a:effec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lvl="0">
              <a:spcBef>
                <a:spcPts val="0"/>
              </a:spcBef>
              <a:buClrTx/>
              <a:buSzTx/>
              <a:buNone/>
              <a:defRPr/>
            </a:pPr>
            <a:r>
              <a:rPr lang="en-US" altLang="en-US" sz="1600" i="1" dirty="0">
                <a:solidFill>
                  <a:srgbClr val="FFFFFF"/>
                </a:solidFill>
                <a:latin typeface="Arial" panose="020B0604020202020204" pitchFamily="34" charset="0"/>
              </a:rPr>
              <a:t>If you were a manager on Piper Alpha, what would you do to combat complacency about the use of the PTW, a critical administrative </a:t>
            </a:r>
            <a:r>
              <a:rPr lang="en-US" altLang="en-US" sz="1600" i="1" dirty="0" smtClean="0">
                <a:solidFill>
                  <a:srgbClr val="FFFFFF"/>
                </a:solidFill>
                <a:latin typeface="Arial" panose="020B0604020202020204" pitchFamily="34" charset="0"/>
              </a:rPr>
              <a:t>control? All of the items listed!</a:t>
            </a:r>
            <a:r>
              <a:rPr lang="en-US" altLang="en-US" sz="1600" i="1" dirty="0">
                <a:solidFill>
                  <a:srgbClr val="FFFFFF"/>
                </a:solidFill>
                <a:latin typeface="Arial" panose="020B0604020202020204" pitchFamily="34" charset="0"/>
              </a:rPr>
              <a:t/>
            </a:r>
            <a:br>
              <a:rPr lang="en-US" altLang="en-US" sz="1600" i="1" dirty="0">
                <a:solidFill>
                  <a:srgbClr val="FFFFFF"/>
                </a:solidFill>
                <a:latin typeface="Arial" panose="020B0604020202020204" pitchFamily="34" charset="0"/>
              </a:rPr>
            </a:br>
            <a:endParaRPr lang="en-US" altLang="en-US" sz="1600" i="1" dirty="0">
              <a:solidFill>
                <a:srgbClr val="FFFFFF"/>
              </a:solidFill>
              <a:latin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Tx/>
              <a:buFontTx/>
              <a:buNone/>
              <a:tabLst/>
              <a:defRPr/>
            </a:pPr>
            <a:r>
              <a:rPr kumimoji="0" lang="en-CA" altLang="en-US" sz="1600" b="0" i="1" u="none" strike="noStrike" kern="1200" cap="none" spc="0" normalizeH="0" baseline="0" noProof="0" dirty="0" smtClean="0">
                <a:ln>
                  <a:noFill/>
                </a:ln>
                <a:solidFill>
                  <a:srgbClr val="FFFFFF"/>
                </a:solidFill>
                <a:effectLst/>
                <a:uLnTx/>
                <a:uFillTx/>
                <a:latin typeface="Arial" panose="020B0604020202020204" pitchFamily="34" charset="0"/>
              </a:rPr>
              <a:t>Indeed, an audit using an audit checklist</a:t>
            </a:r>
            <a:r>
              <a:rPr kumimoji="0" lang="en-CA" altLang="en-US" sz="1600" b="0" i="1" u="none" strike="noStrike" kern="1200" cap="none" spc="0" normalizeH="0" noProof="0" dirty="0" smtClean="0">
                <a:ln>
                  <a:noFill/>
                </a:ln>
                <a:solidFill>
                  <a:srgbClr val="FFFFFF"/>
                </a:solidFill>
                <a:effectLst/>
                <a:uLnTx/>
                <a:uFillTx/>
                <a:latin typeface="Arial" panose="020B0604020202020204" pitchFamily="34" charset="0"/>
              </a:rPr>
              <a:t> on the PTW would  combat complacency about the use of the PTW, a critical administrative control</a:t>
            </a:r>
            <a:r>
              <a:rPr kumimoji="0" lang="en-CA" altLang="en-US" sz="1600" b="0" i="1" u="none" strike="noStrike" kern="1200" cap="none" spc="0" normalizeH="0" baseline="0" noProof="0" dirty="0" smtClean="0">
                <a:ln>
                  <a:noFill/>
                </a:ln>
                <a:solidFill>
                  <a:srgbClr val="FFFFFF"/>
                </a:solidFill>
                <a:effectLst/>
                <a:uLnTx/>
                <a:uFillTx/>
                <a:latin typeface="Arial" panose="020B0604020202020204" pitchFamily="34" charset="0"/>
              </a:rPr>
              <a:t>.</a:t>
            </a:r>
          </a:p>
          <a:p>
            <a:pPr marL="342900" marR="0" lvl="0" indent="-342900" algn="l" defTabSz="914400" rtl="0" eaLnBrk="0" fontAlgn="base" latinLnBrk="0" hangingPunct="0">
              <a:lnSpc>
                <a:spcPct val="100000"/>
              </a:lnSpc>
              <a:spcBef>
                <a:spcPts val="0"/>
              </a:spcBef>
              <a:spcAft>
                <a:spcPct val="0"/>
              </a:spcAft>
              <a:buClrTx/>
              <a:buSzTx/>
              <a:buFont typeface="Wingdings" panose="05000000000000000000" pitchFamily="2" charset="2"/>
              <a:buChar char="Ø"/>
              <a:tabLst/>
              <a:defRPr/>
            </a:pPr>
            <a:r>
              <a:rPr kumimoji="0" lang="en-CA" altLang="en-US" sz="1600" b="0" i="1" u="none" strike="noStrike" kern="1200" cap="none" spc="0" normalizeH="0" baseline="0" noProof="0" dirty="0" smtClean="0">
                <a:ln>
                  <a:noFill/>
                </a:ln>
                <a:solidFill>
                  <a:srgbClr val="FFFFFF"/>
                </a:solidFill>
                <a:effectLst/>
                <a:uLnTx/>
                <a:uFillTx/>
                <a:latin typeface="Arial" panose="020B0604020202020204" pitchFamily="34" charset="0"/>
              </a:rPr>
              <a:t>It</a:t>
            </a:r>
            <a:r>
              <a:rPr kumimoji="0" lang="en-CA" altLang="en-US" sz="1600" b="0" i="1" u="none" strike="noStrike" kern="1200" cap="none" spc="0" normalizeH="0" noProof="0" dirty="0" smtClean="0">
                <a:ln>
                  <a:noFill/>
                </a:ln>
                <a:solidFill>
                  <a:srgbClr val="FFFFFF"/>
                </a:solidFill>
                <a:effectLst/>
                <a:uLnTx/>
                <a:uFillTx/>
                <a:latin typeface="Arial" panose="020B0604020202020204" pitchFamily="34" charset="0"/>
              </a:rPr>
              <a:t> is NOT simply the audit check-list; that is a required starting point. </a:t>
            </a:r>
          </a:p>
          <a:p>
            <a:pPr marL="342900" marR="0" lvl="0" indent="-342900" algn="l" defTabSz="914400" rtl="0" eaLnBrk="0" fontAlgn="base" latinLnBrk="0" hangingPunct="0">
              <a:lnSpc>
                <a:spcPct val="100000"/>
              </a:lnSpc>
              <a:spcBef>
                <a:spcPts val="0"/>
              </a:spcBef>
              <a:spcAft>
                <a:spcPct val="0"/>
              </a:spcAft>
              <a:buClrTx/>
              <a:buSzTx/>
              <a:buFont typeface="Wingdings" panose="05000000000000000000" pitchFamily="2" charset="2"/>
              <a:buChar char="Ø"/>
              <a:tabLst/>
              <a:defRPr/>
            </a:pPr>
            <a:r>
              <a:rPr kumimoji="0" lang="en-CA" altLang="en-US" sz="1600" b="0" i="1" u="none" strike="noStrike" kern="1200" cap="none" spc="0" normalizeH="0" noProof="0" dirty="0" smtClean="0">
                <a:ln>
                  <a:noFill/>
                </a:ln>
                <a:solidFill>
                  <a:srgbClr val="FFFFFF"/>
                </a:solidFill>
                <a:effectLst/>
                <a:uLnTx/>
                <a:uFillTx/>
                <a:latin typeface="Arial" panose="020B0604020202020204" pitchFamily="34" charset="0"/>
              </a:rPr>
              <a:t>It is about applying the audit checklist to confirm that work is being executed as it should!</a:t>
            </a:r>
            <a:r>
              <a:rPr kumimoji="0" lang="en-CA" altLang="en-US" sz="1600" b="0" i="1" u="none" strike="noStrike" kern="1200" cap="none" spc="0" normalizeH="0" baseline="0" noProof="0" dirty="0">
                <a:ln>
                  <a:noFill/>
                </a:ln>
                <a:solidFill>
                  <a:srgbClr val="FFFFFF"/>
                </a:solidFill>
                <a:effectLst/>
                <a:uLnTx/>
                <a:uFillTx/>
                <a:latin typeface="Arial" panose="020B0604020202020204" pitchFamily="34" charset="0"/>
              </a:rPr>
              <a:t/>
            </a:r>
            <a:br>
              <a:rPr kumimoji="0" lang="en-CA" altLang="en-US" sz="1600" b="0" i="1" u="none" strike="noStrike" kern="1200" cap="none" spc="0" normalizeH="0" baseline="0" noProof="0" dirty="0">
                <a:ln>
                  <a:noFill/>
                </a:ln>
                <a:solidFill>
                  <a:srgbClr val="FFFFFF"/>
                </a:solidFill>
                <a:effectLst/>
                <a:uLnTx/>
                <a:uFillTx/>
                <a:latin typeface="Arial" panose="020B0604020202020204" pitchFamily="34" charset="0"/>
              </a:rPr>
            </a:br>
            <a:endParaRPr kumimoji="0" lang="en-CA" altLang="en-US" sz="1600" b="0" i="1" u="none" strike="noStrike" kern="1200" cap="none" spc="0" normalizeH="0" baseline="0" noProof="0" dirty="0">
              <a:ln>
                <a:noFill/>
              </a:ln>
              <a:solidFill>
                <a:srgbClr val="FFFFFF"/>
              </a:solidFill>
              <a:effectLst/>
              <a:uLnTx/>
              <a:uFillTx/>
              <a:latin typeface="Arial" panose="020B0604020202020204" pitchFamily="34" charset="0"/>
            </a:endParaRP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Create an audit checklist that specifies the items to check on a PTW. The PTW Audit checklist will look similar to the actual PTW checklist. </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Schedule yourself and other leaders on the rig to conduct a weekly series of audits on a sampling of completed and filed PTWs.</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Schedule yourself and other leaders on the rig to conduct a weekly series of planned inspections on a sampling of jobs-in-progress that are using PTWs.</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Do the audits and planned inspections. </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Identify deficiencies, errors, omissions, and take action to correct. For example, the checklist is too long and confusing, a condition which undesirably encourages workers to take short-cuts. </a:t>
            </a:r>
          </a:p>
          <a:p>
            <a:pPr marL="360000" lvl="0" indent="-360000">
              <a:spcBef>
                <a:spcPts val="0"/>
              </a:spcBef>
              <a:spcAft>
                <a:spcPts val="600"/>
              </a:spcAft>
              <a:buClrTx/>
              <a:buSzTx/>
              <a:buFont typeface="+mj-lt"/>
              <a:buAutoNum type="alphaLcParenR"/>
              <a:defRPr/>
            </a:pPr>
            <a:r>
              <a:rPr lang="en-US" altLang="en-US" sz="1600" i="1" dirty="0">
                <a:solidFill>
                  <a:srgbClr val="FFFFFF"/>
                </a:solidFill>
                <a:latin typeface="Arial" panose="020B0604020202020204" pitchFamily="34" charset="0"/>
              </a:rPr>
              <a:t>Continue the series of audits and planned inspections to confirm that actions have indeed corrected the deficiencies.</a:t>
            </a: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6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wrap="square" anchor="ctr" anchorCtr="0">
            <a:noAutofit/>
          </a:bodyPr>
          <a:lstStyle/>
          <a:p>
            <a:r>
              <a:rPr lang="en-US" altLang="en-US" sz="24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t>
            </a:r>
            <a:r>
              <a:rPr lang="en-US" altLang="en-US" sz="2400" dirty="0">
                <a:solidFill>
                  <a:srgbClr val="F8F8F8"/>
                </a:solidFill>
                <a:ea typeface="ＭＳ Ｐゴシック" panose="020B0600070205080204" pitchFamily="34" charset="-128"/>
                <a:cs typeface="Arial" panose="020B0604020202020204" pitchFamily="34" charset="0"/>
              </a:rPr>
              <a:t>Audit on the PTW at Piper Alpha: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defRPr/>
            </a:pPr>
            <a:r>
              <a:rPr lang="en-CA" sz="1200" b="1" i="1" kern="0" dirty="0">
                <a:solidFill>
                  <a:srgbClr val="000000"/>
                </a:solidFill>
                <a:latin typeface="Arial" charset="0"/>
                <a:ea typeface="Times New Roman"/>
                <a:cs typeface="Arial" panose="020B0604020202020204" pitchFamily="34" charset="0"/>
                <a:sym typeface="Times New Roman"/>
              </a:rPr>
              <a:t>Chapter 5.8: Job Observations &amp; Planned Inspections (Audits)</a:t>
            </a:r>
          </a:p>
        </p:txBody>
      </p:sp>
    </p:spTree>
    <p:extLst>
      <p:ext uri="{BB962C8B-B14F-4D97-AF65-F5344CB8AC3E}">
        <p14:creationId xmlns:p14="http://schemas.microsoft.com/office/powerpoint/2010/main" val="146277164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Planned inspections are a means to:</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Check for conditions and practices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Provide management visibility and engaging workers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Combat complacency.</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Combatting complacency</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IS one way to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positively influence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culture of the organization.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must engage workers and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we must value the conversation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workers about their practices. </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Managers need skills to “talk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with people”! These skills are </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essential successful leadership</a:t>
            </a:r>
            <a:b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 risk management.</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5.8: Job Observations &amp; Planned Inspections (Audits)</a:t>
            </a:r>
          </a:p>
        </p:txBody>
      </p:sp>
      <p:pic>
        <p:nvPicPr>
          <p:cNvPr id="6" name="Picture 5" descr="Construction and engineering students visit the Folsom spi ...">
            <a:extLst>
              <a:ext uri="{FF2B5EF4-FFF2-40B4-BE49-F238E27FC236}">
                <a16:creationId xmlns:a16="http://schemas.microsoft.com/office/drawing/2014/main" id="{59E781C0-B39C-4CD1-A05A-72CFFD4351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5682" y="3124200"/>
            <a:ext cx="3947718" cy="2633098"/>
          </a:xfrm>
          <a:prstGeom prst="rect">
            <a:avLst/>
          </a:prstGeom>
        </p:spPr>
      </p:pic>
    </p:spTree>
    <p:extLst>
      <p:ext uri="{BB962C8B-B14F-4D97-AF65-F5344CB8AC3E}">
        <p14:creationId xmlns:p14="http://schemas.microsoft.com/office/powerpoint/2010/main" val="4229320053"/>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5871</TotalTime>
  <Words>2114</Words>
  <Application>Microsoft Office PowerPoint</Application>
  <PresentationFormat>On-screen Show (4:3)</PresentationFormat>
  <Paragraphs>392</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ＭＳ Ｐゴシック</vt:lpstr>
      <vt:lpstr>Arial</vt:lpstr>
      <vt:lpstr>Calibri</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Alberta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Don’t Get Splashed!</dc:title>
  <dc:creator>EPS</dc:creator>
  <cp:lastModifiedBy>JR Cocchio</cp:lastModifiedBy>
  <cp:revision>583</cp:revision>
  <cp:lastPrinted>2019-01-11T19:35:22Z</cp:lastPrinted>
  <dcterms:created xsi:type="dcterms:W3CDTF">2015-08-12T19:10:38Z</dcterms:created>
  <dcterms:modified xsi:type="dcterms:W3CDTF">2021-09-26T23:20:00Z</dcterms:modified>
</cp:coreProperties>
</file>