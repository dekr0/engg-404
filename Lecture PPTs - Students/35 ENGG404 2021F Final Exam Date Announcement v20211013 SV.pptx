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>
        <p15:guide id="1" orient="horz" pos="2928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:go="http://customooxmlschemas.google.com/" r:id="rId11" roundtripDataSignature="AMtx7mh2IOdfh9ciiSIP6LSqTgWlrOv/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792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3037146" cy="46450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1654" y="1"/>
            <a:ext cx="3037146" cy="46450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8830312"/>
            <a:ext cx="3037146" cy="464504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/>
          <p:nvPr>
            <p:ph type="ctrTitle"/>
          </p:nvPr>
        </p:nvSpPr>
        <p:spPr>
          <a:xfrm>
            <a:off x="685800" y="19050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" type="subTitle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560"/>
              </a:spcBef>
              <a:spcAft>
                <a:spcPts val="0"/>
              </a:spcAft>
              <a:buClr>
                <a:srgbClr val="AA9C8F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20"/>
              </a:spcBef>
              <a:spcAft>
                <a:spcPts val="0"/>
              </a:spcAft>
              <a:buClr>
                <a:srgbClr val="C75B1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C75B1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577850" y="168275"/>
            <a:ext cx="82296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AA9C8F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rgbClr val="C75B1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C75B1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2" type="body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AA9C8F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rgbClr val="C75B1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C75B1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2C5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2C5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2C5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2C5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2C5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2C5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2C5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2C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" name="Google Shape;11;p6"/>
          <p:cNvCxnSpPr/>
          <p:nvPr/>
        </p:nvCxnSpPr>
        <p:spPr>
          <a:xfrm>
            <a:off x="76200" y="762000"/>
            <a:ext cx="8763000" cy="1588"/>
          </a:xfrm>
          <a:prstGeom prst="straightConnector1">
            <a:avLst/>
          </a:prstGeom>
          <a:noFill/>
          <a:ln cap="flat" cmpd="sng" w="9525">
            <a:solidFill>
              <a:srgbClr val="AA9C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6"/>
          <p:cNvCxnSpPr/>
          <p:nvPr/>
        </p:nvCxnSpPr>
        <p:spPr>
          <a:xfrm>
            <a:off x="76200" y="6248400"/>
            <a:ext cx="8763000" cy="1588"/>
          </a:xfrm>
          <a:prstGeom prst="straightConnector1">
            <a:avLst/>
          </a:prstGeom>
          <a:noFill/>
          <a:ln cap="flat" cmpd="sng" w="9525">
            <a:solidFill>
              <a:srgbClr val="AA9C8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http://www.nanobridge.ca/Portals/0/Images/eng-logo.jpg" id="13" name="Google Shape;13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1999" y="6307038"/>
            <a:ext cx="1838325" cy="5524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Cocchio@ualberta.c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/>
        </p:nvSpPr>
        <p:spPr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On Becoming a </a:t>
            </a:r>
            <a:br>
              <a:rPr b="1" i="1" lang="en-US" sz="36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36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Leader in Risk Management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ENGG404 - Lecture</a:t>
            </a:r>
            <a:endParaRPr b="1" i="1" sz="36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9C8F"/>
              </a:buClr>
              <a:buSzPts val="3200"/>
              <a:buFont typeface="Noto Sans Symbols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Final Exam Date &amp; Time, 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Location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Fundamentals of RM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 System and Process</a:t>
            </a: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and Perspectives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&amp; Org.</a:t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Incident Investigation</a:t>
            </a: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 Tools &amp; Challenges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Leadership in RM</a:t>
            </a:r>
            <a:endParaRPr/>
          </a:p>
        </p:txBody>
      </p:sp>
      <p:cxnSp>
        <p:nvCxnSpPr>
          <p:cNvPr id="41" name="Google Shape;41;p1"/>
          <p:cNvCxnSpPr>
            <a:stCxn id="34" idx="3"/>
            <a:endCxn id="35" idx="1"/>
          </p:cNvCxnSpPr>
          <p:nvPr/>
        </p:nvCxnSpPr>
        <p:spPr>
          <a:xfrm flipH="1" rot="10800000">
            <a:off x="1329219" y="400847"/>
            <a:ext cx="1518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" name="Google Shape;42;p1"/>
          <p:cNvCxnSpPr>
            <a:stCxn id="35" idx="3"/>
            <a:endCxn id="40" idx="1"/>
          </p:cNvCxnSpPr>
          <p:nvPr/>
        </p:nvCxnSpPr>
        <p:spPr>
          <a:xfrm>
            <a:off x="2506036" y="400740"/>
            <a:ext cx="1518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" name="Google Shape;43;p1"/>
          <p:cNvCxnSpPr>
            <a:stCxn id="40" idx="3"/>
            <a:endCxn id="38" idx="1"/>
          </p:cNvCxnSpPr>
          <p:nvPr/>
        </p:nvCxnSpPr>
        <p:spPr>
          <a:xfrm flipH="1" rot="10800000">
            <a:off x="3682852" y="400664"/>
            <a:ext cx="1518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" name="Google Shape;44;p1"/>
          <p:cNvCxnSpPr>
            <a:stCxn id="38" idx="3"/>
            <a:endCxn id="39" idx="1"/>
          </p:cNvCxnSpPr>
          <p:nvPr/>
        </p:nvCxnSpPr>
        <p:spPr>
          <a:xfrm>
            <a:off x="4859669" y="400740"/>
            <a:ext cx="15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" name="Google Shape;45;p1"/>
          <p:cNvCxnSpPr>
            <a:stCxn id="39" idx="3"/>
          </p:cNvCxnSpPr>
          <p:nvPr/>
        </p:nvCxnSpPr>
        <p:spPr>
          <a:xfrm>
            <a:off x="6036485" y="400740"/>
            <a:ext cx="15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" name="Google Shape;46;p1"/>
          <p:cNvCxnSpPr>
            <a:endCxn id="37" idx="1"/>
          </p:cNvCxnSpPr>
          <p:nvPr/>
        </p:nvCxnSpPr>
        <p:spPr>
          <a:xfrm>
            <a:off x="6899417" y="400740"/>
            <a:ext cx="15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" name="Google Shape;47;p1"/>
          <p:cNvCxnSpPr>
            <a:stCxn id="37" idx="3"/>
            <a:endCxn id="36" idx="1"/>
          </p:cNvCxnSpPr>
          <p:nvPr/>
        </p:nvCxnSpPr>
        <p:spPr>
          <a:xfrm>
            <a:off x="7722313" y="400740"/>
            <a:ext cx="15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" name="Google Shape;48;p1"/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 in Industry</a:t>
            </a:r>
            <a:endParaRPr/>
          </a:p>
        </p:txBody>
      </p:sp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182" y="4405529"/>
            <a:ext cx="1766671" cy="1766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roduction to Sociology - 2013 - The Collaboratory" id="50" name="Google Shape;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500" y="4405342"/>
            <a:ext cx="2590300" cy="176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 of this lecture: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Communicate the date, time, and location of the Final Exam. 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Communicate about how to prepare for the Final Exam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57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Outcomes of this lecture: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will know when and where the Final Exam will be held.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explain how to prepare for the Final Exam. </a:t>
            </a:r>
            <a:endParaRPr/>
          </a:p>
          <a:p>
            <a:pPr indent="-2457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information will be shared later in the term e.g. nature of questions, format, content which will be covered, etc. in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#67 Expectations, Preparation, and Instructions For Writing the Final Exam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Defer your questions, please!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Purpose and Learning Outcomes:</a:t>
            </a:r>
            <a:endParaRPr b="0" i="0" sz="2400" u="none" cap="none" strike="noStrike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Expectations and Instructions For Writing the Final Exam</a:t>
            </a:r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 for Writing: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final exam will be administered on-line through eClass, much the same manner as the quizzes and assignments.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final exam will not be on-campus at LAC, so essentially this means that you, the students, will be able to write the exam at any location of your choosing. </a:t>
            </a:r>
            <a:endParaRPr/>
          </a:p>
          <a:p>
            <a:pPr indent="-359999" lvl="1" marL="720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Comfortable space – light, temperature, seating, accessibility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9999" lvl="1" marL="720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Set-up for no interruptions (let your family members know)</a:t>
            </a:r>
            <a:endParaRPr/>
          </a:p>
          <a:p>
            <a:pPr indent="-359999" lvl="1" marL="720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Reliability: computer power supply and internet access</a:t>
            </a:r>
            <a:endParaRPr/>
          </a:p>
          <a:p>
            <a:pPr indent="-359999" lvl="1" marL="720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ExamLock will NOT be used.</a:t>
            </a:r>
            <a:endParaRPr/>
          </a:p>
          <a:p>
            <a:pPr indent="-359999" lvl="1" marL="720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on-line proctoring system will be used.</a:t>
            </a:r>
            <a:endParaRPr/>
          </a:p>
          <a:p>
            <a:pPr indent="-232999" lvl="1" marL="720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Final Exam Day, Time, and Location:</a:t>
            </a:r>
            <a:endParaRPr b="0" i="0" sz="2400" u="none" cap="none" strike="noStrike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Expectations and Instructions For Writing the Final Exam</a:t>
            </a:r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 and Time for Writing: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Wednesday </a:t>
            </a:r>
            <a:r>
              <a:rPr lang="en-US" sz="2000"/>
              <a:t>27-April-2022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starts at 9:00AM MT (University Time), three (3) hours duration.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Conflicts, Accommodations, and Overseas Students: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students will have final exam conflicts. </a:t>
            </a:r>
            <a:endParaRPr/>
          </a:p>
          <a:p>
            <a:pPr indent="-359999" lvl="1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conflicts, the alternate is </a:t>
            </a:r>
            <a:r>
              <a:rPr b="1" lang="en-US" sz="2000"/>
              <a:t>27-April-2022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2:00PM-5:00PM.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 who are overseas and wish to write during “daylight” hours at your location, you must self-elect:</a:t>
            </a:r>
            <a:endParaRPr/>
          </a:p>
          <a:p>
            <a:pPr indent="-359999" lvl="1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Send an email to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Cocchio@ualberta.ca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59999" lvl="1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overseas student, the alternate will be ~10 to16 hours earlier. 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those with conflicts, accommodations, or self-elected overseas will receive further information via email in the weeks prior to the exam.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Final Exam Day, Time, and Location:</a:t>
            </a:r>
            <a:endParaRPr b="0" i="0" sz="2400" u="none" cap="none" strike="noStrike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Expectations and Instructions For Writing the Final Exam</a:t>
            </a:r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Final Exam is challenging!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Exam Preparation: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concepts, principles, and practices AND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them, AND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Assess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yourself on the “Learning Outcomes”.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Q: One question that is often asked is,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"What and how do I study for the final exam for this course?" </a:t>
            </a:r>
            <a:endParaRPr/>
          </a:p>
          <a:p>
            <a:pPr indent="-245699" lvl="0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A: The brief answer: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lecture Topic PPT starts with a slide that lists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"Learning Outcomes" and ends with a slide (or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two) that lists the "Summary and Key Lessons". 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the content on these lists to determine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level of skill and confidence in explaining /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applying those learning outcomes and the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 and key lessons, and as a guide to direct 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preparation efforts. 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Final Exam – How to Prepare for It!</a:t>
            </a:r>
            <a:endParaRPr b="0" i="0" sz="2400" u="none" cap="none" strike="noStrike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ENGG404 Expectations, Course Syllabus, Course Plan, and Exam</a:t>
            </a:r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28" y="3538610"/>
            <a:ext cx="1680000" cy="126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5073" y="4906610"/>
            <a:ext cx="1680000" cy="126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2007-03-28T16:18:47Z</dcterms:created>
  <dc:creator>MSB</dc:creator>
</cp:coreProperties>
</file>