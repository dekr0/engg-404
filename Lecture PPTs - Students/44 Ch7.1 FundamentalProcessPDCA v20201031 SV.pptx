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51" r:id="rId2"/>
  </p:sldMasterIdLst>
  <p:notesMasterIdLst>
    <p:notesMasterId r:id="rId13"/>
  </p:notesMasterIdLst>
  <p:handoutMasterIdLst>
    <p:handoutMasterId r:id="rId14"/>
  </p:handoutMasterIdLst>
  <p:sldIdLst>
    <p:sldId id="924" r:id="rId3"/>
    <p:sldId id="912" r:id="rId4"/>
    <p:sldId id="914" r:id="rId5"/>
    <p:sldId id="913" r:id="rId6"/>
    <p:sldId id="915" r:id="rId7"/>
    <p:sldId id="916" r:id="rId8"/>
    <p:sldId id="920" r:id="rId9"/>
    <p:sldId id="922" r:id="rId10"/>
    <p:sldId id="925" r:id="rId11"/>
    <p:sldId id="918" r:id="rId1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924"/>
            <p14:sldId id="912"/>
            <p14:sldId id="914"/>
            <p14:sldId id="913"/>
            <p14:sldId id="915"/>
            <p14:sldId id="916"/>
            <p14:sldId id="920"/>
            <p14:sldId id="922"/>
            <p14:sldId id="925"/>
            <p14:sldId id="9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0000FF"/>
    <a:srgbClr val="000000"/>
    <a:srgbClr val="0000CC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7" d="100"/>
          <a:sy n="77" d="100"/>
        </p:scale>
        <p:origin x="1020" y="6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11/2/2020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11/2/2020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81100" y="698500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8829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357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672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18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31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30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834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4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79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102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11/2/2020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4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27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4775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257175" indent="-257175">
              <a:buClrTx/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1pPr>
            <a:lvl2pPr marL="557213" indent="-214313">
              <a:buClrTx/>
              <a:buFont typeface="Arial"/>
              <a:buChar char="•"/>
              <a:defRPr sz="1650">
                <a:solidFill>
                  <a:schemeClr val="tx1"/>
                </a:solidFill>
              </a:defRPr>
            </a:lvl2pPr>
            <a:lvl3pPr marL="857250" indent="-171450">
              <a:buClrTx/>
              <a:buFont typeface="Arial"/>
              <a:buChar char="•"/>
              <a:defRPr sz="1500">
                <a:solidFill>
                  <a:schemeClr val="tx1"/>
                </a:solidFill>
              </a:defRPr>
            </a:lvl3pPr>
            <a:lvl4pPr marL="1200150" indent="-17145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543050" indent="-17145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77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9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9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492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11/2/2020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8856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42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54" r:id="rId3"/>
    <p:sldLayoutId id="2147484155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>
          <a:solidFill>
            <a:srgbClr val="002C5F"/>
          </a:solidFill>
          <a:latin typeface="Calibri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2700" b="1">
          <a:solidFill>
            <a:srgbClr val="002C5F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2700" b="1">
          <a:solidFill>
            <a:srgbClr val="002C5F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2700" b="1">
          <a:solidFill>
            <a:srgbClr val="002C5F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2700" b="1">
          <a:solidFill>
            <a:srgbClr val="002C5F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1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950">
          <a:solidFill>
            <a:schemeClr val="tx1"/>
          </a:solidFill>
          <a:latin typeface="Calibri" pitchFamily="34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800">
          <a:solidFill>
            <a:schemeClr val="tx1"/>
          </a:solidFill>
          <a:latin typeface="Calibri" pitchFamily="34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80000" y="864000"/>
            <a:ext cx="8820000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2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80000" y="2412000"/>
            <a:ext cx="8820000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8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7.1: The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Process of Management – The Plan-Do-Check-Act Cycle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35000" y="108000"/>
            <a:ext cx="991800" cy="54000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Fundamentals of Risk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215000" y="108000"/>
            <a:ext cx="900000" cy="5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RM System,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Process,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&amp; Program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695000" y="108000"/>
            <a:ext cx="991800" cy="5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Applications &amp;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4455000" y="108000"/>
            <a:ext cx="900000" cy="5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People &amp; Organizations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2295000" y="108000"/>
            <a:ext cx="900000" cy="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Incident Investigation &amp;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3375000" y="108000"/>
            <a:ext cx="810000" cy="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6615000" y="108000"/>
            <a:ext cx="810000" cy="54000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Leadership in RM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5535000" y="108000"/>
            <a:ext cx="900000" cy="5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RM as Applied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4320000"/>
            <a:ext cx="1800000" cy="1800000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313" y="4320000"/>
            <a:ext cx="2638887" cy="1800000"/>
          </a:xfrm>
          <a:prstGeom prst="rect">
            <a:avLst/>
          </a:prstGeom>
        </p:spPr>
      </p:pic>
      <p:cxnSp>
        <p:nvCxnSpPr>
          <p:cNvPr id="5" name="Straight Arrow Connector 4"/>
          <p:cNvCxnSpPr>
            <a:stCxn id="9" idx="3"/>
            <a:endCxn id="10" idx="1"/>
          </p:cNvCxnSpPr>
          <p:nvPr/>
        </p:nvCxnSpPr>
        <p:spPr>
          <a:xfrm>
            <a:off x="1126800" y="378000"/>
            <a:ext cx="88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13" idx="1"/>
          </p:cNvCxnSpPr>
          <p:nvPr/>
        </p:nvCxnSpPr>
        <p:spPr>
          <a:xfrm>
            <a:off x="2115000" y="378000"/>
            <a:ext cx="18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3" idx="3"/>
            <a:endCxn id="14" idx="1"/>
          </p:cNvCxnSpPr>
          <p:nvPr/>
        </p:nvCxnSpPr>
        <p:spPr>
          <a:xfrm>
            <a:off x="3195000" y="378000"/>
            <a:ext cx="18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3"/>
            <a:endCxn id="12" idx="1"/>
          </p:cNvCxnSpPr>
          <p:nvPr/>
        </p:nvCxnSpPr>
        <p:spPr>
          <a:xfrm>
            <a:off x="4185000" y="378000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2" idx="3"/>
            <a:endCxn id="23" idx="1"/>
          </p:cNvCxnSpPr>
          <p:nvPr/>
        </p:nvCxnSpPr>
        <p:spPr>
          <a:xfrm>
            <a:off x="5355000" y="378000"/>
            <a:ext cx="18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3" idx="3"/>
            <a:endCxn id="15" idx="1"/>
          </p:cNvCxnSpPr>
          <p:nvPr/>
        </p:nvCxnSpPr>
        <p:spPr>
          <a:xfrm>
            <a:off x="6435000" y="378000"/>
            <a:ext cx="18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15" idx="3"/>
            <a:endCxn id="11" idx="1"/>
          </p:cNvCxnSpPr>
          <p:nvPr/>
        </p:nvCxnSpPr>
        <p:spPr>
          <a:xfrm>
            <a:off x="7425000" y="378000"/>
            <a:ext cx="27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91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apply the four steps of the fundamental process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management: Plan – Do – Check – Act (PDCA)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it relates to the risk management process and other risk management principles and practices.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it is essential for effectively managing the residual risk.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</p:spTree>
    <p:extLst>
      <p:ext uri="{BB962C8B-B14F-4D97-AF65-F5344CB8AC3E}">
        <p14:creationId xmlns:p14="http://schemas.microsoft.com/office/powerpoint/2010/main" val="31440251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 - Do - Check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Act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(PDCA) is a generic work process: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any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manager's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regardless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level, or title, or scope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interest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influence!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You, as an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leader in risk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management,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all your jobs and throughout your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career!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889795"/>
            <a:ext cx="3400765" cy="33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46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Do - Check -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 (PDCA)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Originated with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Shewart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Deming.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Aimed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quality and productivity in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manufacturing.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and its variants are globally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practiced (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e.g.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Plan-Organize-Lead-Control,</a:t>
            </a:r>
            <a:b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Plan-Execute-Review-Improve). 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Tenets: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Proactive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– looking for issues before these have major impacts.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Continuous Improvement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– REPEAT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the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PDCA CI cycle does not stop after one (1) or a set # of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cycles.</a:t>
            </a:r>
          </a:p>
          <a:p>
            <a:pPr marL="108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on-going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operations, the frequency of repetitions decreases when the desired performance level is reached, but is repeated at a lower frequency to ensure the desired performance level is being maintained i.e. prevents “complacency and a gradual degradation in work practices and eventual return to low level of performance”. </a:t>
            </a:r>
          </a:p>
          <a:p>
            <a:pPr marL="108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project objectives, the cycle stops when the objective is met.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255" y="864000"/>
            <a:ext cx="2017745" cy="19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35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 - Do - Check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 little more detail: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Applying PDCA: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98" y="2667000"/>
            <a:ext cx="2529186" cy="11695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PLAN: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Define Problem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Identify Causes / Issues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Establish Objectives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Develop Plan</a:t>
            </a:r>
            <a:endParaRPr lang="en-US" sz="1400" b="0" dirty="0"/>
          </a:p>
        </p:txBody>
      </p:sp>
      <p:sp>
        <p:nvSpPr>
          <p:cNvPr id="10" name="TextBox 9"/>
          <p:cNvSpPr txBox="1"/>
          <p:nvPr/>
        </p:nvSpPr>
        <p:spPr>
          <a:xfrm>
            <a:off x="5577184" y="4193379"/>
            <a:ext cx="262409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DO: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Implement Plan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Document Impacts of Plan</a:t>
            </a:r>
            <a:endParaRPr lang="en-US" sz="14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3047999" y="5273621"/>
            <a:ext cx="2529187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CHECK: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Measure and Analyze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Determine Effectiveness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Acceptable Improvement?</a:t>
            </a:r>
            <a:endParaRPr lang="en-US" sz="1400" b="0" dirty="0"/>
          </a:p>
        </p:txBody>
      </p:sp>
      <p:sp>
        <p:nvSpPr>
          <p:cNvPr id="14" name="TextBox 13"/>
          <p:cNvSpPr txBox="1"/>
          <p:nvPr/>
        </p:nvSpPr>
        <p:spPr>
          <a:xfrm>
            <a:off x="423899" y="4193379"/>
            <a:ext cx="262409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ACT: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Standardize Success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/>
              <a:t>Adjust for Improvement</a:t>
            </a:r>
            <a:endParaRPr lang="en-US" sz="1400" b="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17149" y="3961207"/>
            <a:ext cx="1190884" cy="1168414"/>
          </a:xfrm>
          <a:prstGeom prst="rect">
            <a:avLst/>
          </a:prstGeom>
        </p:spPr>
      </p:pic>
      <p:cxnSp>
        <p:nvCxnSpPr>
          <p:cNvPr id="5" name="Straight Arrow Connector 4"/>
          <p:cNvCxnSpPr>
            <a:stCxn id="2" idx="2"/>
            <a:endCxn id="3" idx="0"/>
          </p:cNvCxnSpPr>
          <p:nvPr/>
        </p:nvCxnSpPr>
        <p:spPr>
          <a:xfrm>
            <a:off x="1790701" y="2209800"/>
            <a:ext cx="2521890" cy="45720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Bent Arrow 28"/>
          <p:cNvSpPr>
            <a:spLocks noChangeAspect="1"/>
          </p:cNvSpPr>
          <p:nvPr/>
        </p:nvSpPr>
        <p:spPr>
          <a:xfrm>
            <a:off x="1671541" y="3005305"/>
            <a:ext cx="1044000" cy="1044000"/>
          </a:xfrm>
          <a:prstGeom prst="bentArrow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Bent Arrow 29"/>
          <p:cNvSpPr>
            <a:spLocks noChangeAspect="1"/>
          </p:cNvSpPr>
          <p:nvPr/>
        </p:nvSpPr>
        <p:spPr>
          <a:xfrm rot="5400000">
            <a:off x="5966399" y="3005306"/>
            <a:ext cx="1044000" cy="1044000"/>
          </a:xfrm>
          <a:prstGeom prst="bentArrow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Bent Arrow 30"/>
          <p:cNvSpPr>
            <a:spLocks noChangeAspect="1"/>
          </p:cNvSpPr>
          <p:nvPr/>
        </p:nvSpPr>
        <p:spPr>
          <a:xfrm rot="10800000">
            <a:off x="5966399" y="5084303"/>
            <a:ext cx="1044000" cy="1044000"/>
          </a:xfrm>
          <a:prstGeom prst="bentArrow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/>
          <p:cNvSpPr>
            <a:spLocks noChangeAspect="1"/>
          </p:cNvSpPr>
          <p:nvPr/>
        </p:nvSpPr>
        <p:spPr>
          <a:xfrm rot="16200000">
            <a:off x="1671541" y="5084305"/>
            <a:ext cx="1044000" cy="1044000"/>
          </a:xfrm>
          <a:prstGeom prst="bentArrow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62400" y="1255693"/>
            <a:ext cx="3352800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Sunset the Team: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/>
              <a:t>The team has met its objectives and can “sunset” i.e. disband the team, free up resources for other teams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1" y="1255693"/>
            <a:ext cx="2971800" cy="954107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charset="0"/>
              </a:rPr>
              <a:t>Assemble 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the Team: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/>
              <a:t>A problem has been identified that </a:t>
            </a:r>
            <a:r>
              <a:rPr lang="en-US" sz="1400" b="0" dirty="0" smtClean="0"/>
              <a:t>needs resources and a strategy to address</a:t>
            </a:r>
            <a:endParaRPr lang="en-US" sz="1400" b="0" dirty="0"/>
          </a:p>
        </p:txBody>
      </p:sp>
      <p:cxnSp>
        <p:nvCxnSpPr>
          <p:cNvPr id="20" name="Straight Arrow Connector 19"/>
          <p:cNvCxnSpPr>
            <a:stCxn id="3" idx="0"/>
            <a:endCxn id="19" idx="2"/>
          </p:cNvCxnSpPr>
          <p:nvPr/>
        </p:nvCxnSpPr>
        <p:spPr>
          <a:xfrm flipV="1">
            <a:off x="4312591" y="2209800"/>
            <a:ext cx="1326209" cy="45720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38801" y="2235338"/>
            <a:ext cx="3352800" cy="664012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r>
              <a:rPr lang="en-US" sz="1100" b="0" i="1" dirty="0" smtClean="0"/>
              <a:t>Some teams may go on indefinitely for their purposes i.e. continuous improvement. Other teams may sunset after meeting their objectives.</a:t>
            </a:r>
            <a:endParaRPr lang="en-US" sz="1100" b="0" i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6439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Test at the Individual / Team Level e.g. how a leader may apply PDCA leading up to and during an audit (a planned inspection) on a critical safety rule:</a:t>
            </a:r>
          </a:p>
          <a:p>
            <a:pPr marL="432000" indent="-432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Issues: Informal observations and anecdotal information indicates that workers are not following requirements of the PTW Checklists and Policy</a:t>
            </a: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Set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expectations – explicit requirements for PTW with Checklists &amp; Policy</a:t>
            </a: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Do: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and train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on the PTW Checklist and Policy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Check: Assess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completed PTW forms against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requirements; observe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 i.e.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inspections, during the creation and use of PTWs in the facility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Act: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action to reinforce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expectations:</a:t>
            </a:r>
          </a:p>
          <a:p>
            <a:pPr marL="720000" lvl="1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commend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practices for those who follow all requirements</a:t>
            </a:r>
          </a:p>
          <a:p>
            <a:pPr marL="720000" lvl="1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correct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sub-standard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those who are not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following all requirements of the PTW Checklist and Policy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Repeat the PDCA Cycle.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PDCA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 as Applied to PTWs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334000"/>
            <a:ext cx="8640000" cy="822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txBody>
          <a:bodyPr wrap="square" anchor="ctr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Would the application </a:t>
            </a:r>
            <a:r>
              <a:rPr lang="en-US" sz="20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PDCA on </a:t>
            </a:r>
            <a:r>
              <a:rPr lang="en-US" sz="20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Piper-Alpha, </a:t>
            </a:r>
            <a:r>
              <a:rPr lang="en-US" sz="20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 this </a:t>
            </a:r>
            <a:r>
              <a:rPr lang="en-US" sz="20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example, have prevented the catastrophic loss incident?</a:t>
            </a:r>
            <a:endParaRPr lang="en-US" sz="20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296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PDCA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 may apply PDCA for the manufacture of electronic </a:t>
            </a:r>
            <a:r>
              <a:rPr lang="en-US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boards as listed in this “Test </a:t>
            </a:r>
            <a:r>
              <a:rPr lang="en-US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the Individual / Team </a:t>
            </a:r>
            <a:r>
              <a:rPr lang="en-US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Level”:</a:t>
            </a:r>
            <a:endParaRPr lang="en-US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Issues: Solder bridge welds; damaged/missing components; wrong components; excessive / insufficient solder; heat damages components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Plan: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List the </a:t>
            </a:r>
            <a:r>
              <a:rPr lang="en-US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current defects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determine which occur most often, target most commonly occurring for assessment and correction, determine % improvement required and time period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Do: 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Adjust production parameters (temperature, speed, etc.) for different product models, track results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Check: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Analyze results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Act: 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Present results to management, standardize changes resulting in significant improvements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</p:spTree>
    <p:extLst>
      <p:ext uri="{BB962C8B-B14F-4D97-AF65-F5344CB8AC3E}">
        <p14:creationId xmlns:p14="http://schemas.microsoft.com/office/powerpoint/2010/main" val="25426054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is committed to implementing an effective and robust risk management program.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large scale PDCA does this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program evaluation and continuous improvement.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Integration of PDCA into #1 MLCA and #6 PECI - APEGA: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80000" y="2362200"/>
            <a:ext cx="2196000" cy="193899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DRIVER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pic>
        <p:nvPicPr>
          <p:cNvPr id="7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97" y="2743136"/>
            <a:ext cx="1219807" cy="117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2549840" y="2209800"/>
            <a:ext cx="6318759" cy="3492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R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ENGG404 Risk Management System and its 11 Elements:</a:t>
            </a:r>
            <a:endParaRPr lang="en-US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 Leadership, Commitment and Accountability.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Assessment and Management of Risks.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Community Awareness and Emergency Preparedness.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 of Change.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Incident Reporting, Investigation, Analysis and Actions.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 Evaluation and Continuous Improvement. 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Design, Construction and Start-up.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Operations and Maintenance.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 Competency and Training.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Contractor Competency and Integration.</a:t>
            </a: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+mj-lt"/>
              <a:buAutoNum type="arabicParenR"/>
            </a:pP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Operations and Facilities Information and Documentation.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" y="2209800"/>
            <a:ext cx="2196000" cy="349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48000" y="3937800"/>
            <a:ext cx="6300000" cy="288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48000" y="2496600"/>
            <a:ext cx="6300000" cy="288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</p:spTree>
    <p:extLst>
      <p:ext uri="{BB962C8B-B14F-4D97-AF65-F5344CB8AC3E}">
        <p14:creationId xmlns:p14="http://schemas.microsoft.com/office/powerpoint/2010/main" val="743765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ExxonMobil OIMS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(Operations &amp; Integrity MS) and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its 11 Elements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Integration of PDCA into #1 MLCA and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#11 OIAI – OIMS: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3" y="1230312"/>
            <a:ext cx="8229600" cy="4941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146173" y="2754312"/>
            <a:ext cx="12192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6327773" y="2754312"/>
            <a:ext cx="19812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EVALUATION</a:t>
            </a:r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73" y="1376362"/>
            <a:ext cx="151447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3" y="1382712"/>
            <a:ext cx="151447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716682" y="1230312"/>
            <a:ext cx="2050473" cy="39554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27773" y="1230312"/>
            <a:ext cx="2050473" cy="39554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6871469" y="4478542"/>
            <a:ext cx="1053595" cy="26726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(aka PECI)</a:t>
            </a:r>
            <a:endParaRPr kumimoji="0" lang="en-US" altLang="en-US" sz="1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381000" y="5846496"/>
            <a:ext cx="8232774" cy="2672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similarities to the APEGA Model are readily apparent.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</p:spTree>
    <p:extLst>
      <p:ext uri="{BB962C8B-B14F-4D97-AF65-F5344CB8AC3E}">
        <p14:creationId xmlns:p14="http://schemas.microsoft.com/office/powerpoint/2010/main" val="18786844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– DO – CHECK – ACT activities don’t “just happen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”: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must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 these activities happen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actively engaged in driving these activities …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Piper-Alpha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Lesson: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“Without sound leadership … </a:t>
            </a:r>
            <a:b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control of risks breaks down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b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unacceptable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events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happen.”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Management’s lack of checking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PTW,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deficiencies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controlling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risks, 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ultimately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resulting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loss incident.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426" y="2787344"/>
            <a:ext cx="3404974" cy="3232455"/>
          </a:xfrm>
          <a:prstGeom prst="rect">
            <a:avLst/>
          </a:prstGeom>
        </p:spPr>
      </p:pic>
      <p:sp>
        <p:nvSpPr>
          <p:cNvPr id="7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7.1: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The Fundamental Process of Management</a:t>
            </a:r>
          </a:p>
        </p:txBody>
      </p:sp>
    </p:spTree>
    <p:extLst>
      <p:ext uri="{BB962C8B-B14F-4D97-AF65-F5344CB8AC3E}">
        <p14:creationId xmlns:p14="http://schemas.microsoft.com/office/powerpoint/2010/main" val="15278258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69488</TotalTime>
  <Words>896</Words>
  <Application>Microsoft Office PowerPoint</Application>
  <PresentationFormat>On-screen Show (4:3)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Times New Roman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1945</cp:revision>
  <cp:lastPrinted>2018-12-17T22:21:47Z</cp:lastPrinted>
  <dcterms:created xsi:type="dcterms:W3CDTF">2007-03-28T16:18:47Z</dcterms:created>
  <dcterms:modified xsi:type="dcterms:W3CDTF">2020-11-02T18:00:01Z</dcterms:modified>
</cp:coreProperties>
</file>