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17"/>
  </p:notesMasterIdLst>
  <p:sldIdLst>
    <p:sldId id="895" r:id="rId2"/>
    <p:sldId id="965" r:id="rId3"/>
    <p:sldId id="969" r:id="rId4"/>
    <p:sldId id="934" r:id="rId5"/>
    <p:sldId id="962" r:id="rId6"/>
    <p:sldId id="935" r:id="rId7"/>
    <p:sldId id="936" r:id="rId8"/>
    <p:sldId id="927" r:id="rId9"/>
    <p:sldId id="940" r:id="rId10"/>
    <p:sldId id="937" r:id="rId11"/>
    <p:sldId id="963" r:id="rId12"/>
    <p:sldId id="964" r:id="rId13"/>
    <p:sldId id="966" r:id="rId14"/>
    <p:sldId id="968" r:id="rId15"/>
    <p:sldId id="900" r:id="rId16"/>
  </p:sldIdLst>
  <p:sldSz cx="9144000" cy="6858000" type="screen4x3"/>
  <p:notesSz cx="7010400" cy="9296400"/>
  <p:embeddedFontLst>
    <p:embeddedFont>
      <p:font typeface="ＭＳ Ｐゴシック" panose="020B0600070205080204" pitchFamily="34" charset="-128"/>
      <p:regular r:id="rId18"/>
    </p:embeddedFont>
    <p:embeddedFont>
      <p:font typeface="Calibri" panose="020F0502020204030204" pitchFamily="3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9">
          <p15:clr>
            <a:srgbClr val="A4A3A4"/>
          </p15:clr>
        </p15:guide>
        <p15:guide id="2" pos="2209">
          <p15:clr>
            <a:srgbClr val="A4A3A4"/>
          </p15:clr>
        </p15:guide>
      </p15:notesGuideLst>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j/BtrGPG4P5KEB8nznYTApJ8ic3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EB556A3-5E30-47F9-BADC-CC6991BF2989}">
  <a:tblStyle styleId="{7EB556A3-5E30-47F9-BADC-CC6991BF298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77" autoAdjust="0"/>
    <p:restoredTop sz="82946" autoAdjust="0"/>
  </p:normalViewPr>
  <p:slideViewPr>
    <p:cSldViewPr snapToGrid="0">
      <p:cViewPr varScale="1">
        <p:scale>
          <a:sx n="58" d="100"/>
          <a:sy n="58" d="100"/>
        </p:scale>
        <p:origin x="1204" y="44"/>
      </p:cViewPr>
      <p:guideLst>
        <p:guide orient="horz" pos="2160"/>
        <p:guide pos="2880"/>
      </p:guideLst>
    </p:cSldViewPr>
  </p:slideViewPr>
  <p:notesTextViewPr>
    <p:cViewPr>
      <p:scale>
        <a:sx n="1" d="1"/>
        <a:sy n="1" d="1"/>
      </p:scale>
      <p:origin x="0" y="0"/>
    </p:cViewPr>
  </p:notesTextViewPr>
  <p:sorterViewPr>
    <p:cViewPr>
      <p:scale>
        <a:sx n="130" d="100"/>
        <a:sy n="130" d="100"/>
      </p:scale>
      <p:origin x="0" y="-9052"/>
    </p:cViewPr>
  </p:sorterViewPr>
  <p:notesViewPr>
    <p:cSldViewPr snapToGrid="0">
      <p:cViewPr varScale="1">
        <p:scale>
          <a:sx n="100" d="100"/>
          <a:sy n="100" d="100"/>
        </p:scale>
        <p:origin x="0" y="0"/>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font" Target="fonts/font2.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43"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2"/>
            <a:ext cx="3037760" cy="464714"/>
          </a:xfrm>
          <a:prstGeom prst="rect">
            <a:avLst/>
          </a:prstGeom>
          <a:noFill/>
          <a:ln>
            <a:noFill/>
          </a:ln>
        </p:spPr>
        <p:txBody>
          <a:bodyPr spcFirstLastPara="1" wrap="square" lIns="93275" tIns="46625" rIns="93275" bIns="46625"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972641" y="2"/>
            <a:ext cx="3037760" cy="464714"/>
          </a:xfrm>
          <a:prstGeom prst="rect">
            <a:avLst/>
          </a:prstGeom>
          <a:noFill/>
          <a:ln>
            <a:noFill/>
          </a:ln>
        </p:spPr>
        <p:txBody>
          <a:bodyPr spcFirstLastPara="1" wrap="square" lIns="93275" tIns="46625" rIns="93275" bIns="46625"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181100" y="695325"/>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34880" y="4415844"/>
            <a:ext cx="5140641" cy="4184546"/>
          </a:xfrm>
          <a:prstGeom prst="rect">
            <a:avLst/>
          </a:prstGeom>
          <a:noFill/>
          <a:ln>
            <a:noFill/>
          </a:ln>
        </p:spPr>
        <p:txBody>
          <a:bodyPr spcFirstLastPara="1" wrap="square" lIns="93275" tIns="46625" rIns="93275" bIns="4662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31686"/>
            <a:ext cx="3037760" cy="464714"/>
          </a:xfrm>
          <a:prstGeom prst="rect">
            <a:avLst/>
          </a:prstGeom>
          <a:noFill/>
          <a:ln>
            <a:noFill/>
          </a:ln>
        </p:spPr>
        <p:txBody>
          <a:bodyPr spcFirstLastPara="1" wrap="square" lIns="93275" tIns="46625" rIns="93275" bIns="46625"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972641" y="8831686"/>
            <a:ext cx="3037760" cy="464714"/>
          </a:xfrm>
          <a:prstGeom prst="rect">
            <a:avLst/>
          </a:prstGeom>
          <a:noFill/>
          <a:ln>
            <a:noFill/>
          </a:ln>
        </p:spPr>
        <p:txBody>
          <a:bodyPr spcFirstLastPara="1" wrap="square" lIns="93275" tIns="46625" rIns="93275" bIns="466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77735871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5026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4162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4675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6026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4974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50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257603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1676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116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01741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24076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05947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44739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716274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01263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9001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5/7/2022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395568730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1399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Arial" panose="020B0604020202020204" pitchFamily="34" charset="0"/>
              </a:rPr>
              <a:t>On Becoming a </a:t>
            </a:r>
            <a:br>
              <a:rPr kumimoji="0" lang="en-CA" altLang="en-US" sz="3600" b="1"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3600" b="1"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Arial" panose="020B0604020202020204" pitchFamily="34" charset="0"/>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600" b="1"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Rectangle 3"/>
          <p:cNvSpPr>
            <a:spLocks noGrp="1" noChangeArrowheads="1"/>
          </p:cNvSpPr>
          <p:nvPr>
            <p:ph type="subTitle" idx="4294967295"/>
          </p:nvPr>
        </p:nvSpPr>
        <p:spPr>
          <a:xfrm>
            <a:off x="838200" y="2500342"/>
            <a:ext cx="7315201" cy="222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Case </a:t>
            </a: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2</a:t>
            </a:r>
            <a:r>
              <a:rPr lang="en-CA"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a:t>
            </a:r>
            <a:r>
              <a:rPr lang="en-CA"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The Fernie Memorial Arena Loss Incident (2017)</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marR="0" lvl="0" algn="l" rtl="0">
              <a:lnSpc>
                <a:spcPct val="100000"/>
              </a:lnSpc>
              <a:spcBef>
                <a:spcPts val="0"/>
              </a:spcBef>
              <a:spcAft>
                <a:spcPts val="0"/>
              </a:spcAft>
              <a:defRPr/>
            </a:defPPr>
            <a:lvl1pPr marL="0" indent="0" algn="ctr" defTabSz="914400" eaLnBrk="1" fontAlgn="auto" latinLnBrk="0" hangingPunct="1">
              <a:buClrTx/>
              <a:buSzTx/>
              <a:buFontTx/>
              <a:buNone/>
              <a:tabLst/>
              <a:defRPr kumimoji="0" sz="1200" kern="0" spc="0" normalizeH="0" baseline="0">
                <a:ln>
                  <a:noFill/>
                </a:ln>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pitchFamily="34" charset="0"/>
                <a:ea typeface="ＭＳ Ｐゴシック" panose="020B0600070205080204" pitchFamily="34" charset="-128"/>
                <a:cs typeface="Calibri" panose="020F0502020204030204" pitchFamily="34" charset="0"/>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marR="0" lvl="0" algn="l" rtl="0">
              <a:lnSpc>
                <a:spcPct val="100000"/>
              </a:lnSpc>
              <a:spcBef>
                <a:spcPts val="0"/>
              </a:spcBef>
              <a:spcAft>
                <a:spcPts val="0"/>
              </a:spcAft>
              <a:defRPr/>
            </a:defPPr>
            <a:lvl1pPr marL="0" indent="0" algn="ctr" defTabSz="914400" eaLnBrk="1" fontAlgn="auto" latinLnBrk="0" hangingPunct="1">
              <a:buClrTx/>
              <a:buSzTx/>
              <a:buFontTx/>
              <a:buNone/>
              <a:tabLst/>
              <a:defRPr kumimoji="0" sz="1200" kern="0" spc="0" normalizeH="0" baseline="0">
                <a:ln>
                  <a:noFill/>
                </a:ln>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9"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41"/>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2" y="400741"/>
            <a:ext cx="151818"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3" y="400741"/>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marR="0" lvl="0" algn="l" rtl="0">
              <a:lnSpc>
                <a:spcPct val="100000"/>
              </a:lnSpc>
              <a:spcBef>
                <a:spcPts val="0"/>
              </a:spcBef>
              <a:spcAft>
                <a:spcPts val="0"/>
              </a:spcAft>
            </a:defPPr>
            <a:lvl1pPr marL="0" indent="0" algn="ctr" defTabSz="914400" eaLnBrk="1" fontAlgn="auto" latinLnBrk="0" hangingPunct="1">
              <a:buClrTx/>
              <a:buSzTx/>
              <a:buFontTx/>
              <a:buNone/>
              <a:tabLst/>
              <a:defRPr kumimoji="0" sz="1200" kern="0" spc="0" normalizeH="0" baseline="0">
                <a:ln>
                  <a:noFill/>
                </a:ln>
                <a:effectLst/>
                <a:uLnTx/>
                <a:uFillTx/>
                <a:latin typeface="Calibri" panose="020F0502020204030204" pitchFamily="34" charset="0"/>
                <a:ea typeface="ＭＳ Ｐゴシック" panose="020B0600070205080204" pitchFamily="34" charset="-128"/>
                <a:cs typeface="Calibri" panose="020F0502020204030204" pitchFamily="34" charset="0"/>
              </a:defRPr>
            </a:lvl1pPr>
          </a:lstStyle>
          <a:p>
            <a:r>
              <a:rPr lang="en-US" dirty="0"/>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Critique </a:t>
            </a:r>
            <a:r>
              <a:rPr lang="en-CA" altLang="en-US" u="sng"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actions of </a:t>
            </a:r>
            <a:r>
              <a:rPr lang="en-CA" altLang="en-US" u="sng"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on-site leadership</a:t>
            </a:r>
            <a:r>
              <a:rPr lang="en-CA"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CA"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(or lack thereof) in a medium-sized organization (municipal government and infrastructure management) which manages significant risks </a:t>
            </a:r>
            <a:r>
              <a:rPr lang="en-CA"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their daily jobs across </a:t>
            </a:r>
            <a:r>
              <a:rPr lang="en-CA"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city.</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smtClean="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rPr>
              <a:t>Case 16 The Fernie Arena LI (2017)</a:t>
            </a:r>
            <a:endParaRPr kumimoji="0" lang="en-CA" sz="1200" b="1" i="1" u="none" strike="noStrike" kern="0" cap="none" spc="0" normalizeH="0" baseline="0" noProof="0" dirty="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endParaRPr>
          </a:p>
        </p:txBody>
      </p:sp>
      <p:pic>
        <p:nvPicPr>
          <p:cNvPr id="2" name="Picture 1"/>
          <p:cNvPicPr>
            <a:picLocks noChangeAspect="1"/>
          </p:cNvPicPr>
          <p:nvPr/>
        </p:nvPicPr>
        <p:blipFill>
          <a:blip r:embed="rId3"/>
          <a:stretch>
            <a:fillRect/>
          </a:stretch>
        </p:blipFill>
        <p:spPr>
          <a:xfrm>
            <a:off x="634302" y="3234518"/>
            <a:ext cx="3637447" cy="2728086"/>
          </a:xfrm>
          <a:prstGeom prst="rect">
            <a:avLst/>
          </a:prstGeom>
          <a:ln>
            <a:solidFill>
              <a:schemeClr val="tx1"/>
            </a:solidFill>
          </a:ln>
        </p:spPr>
      </p:pic>
      <p:pic>
        <p:nvPicPr>
          <p:cNvPr id="3" name="Picture 2"/>
          <p:cNvPicPr>
            <a:picLocks noChangeAspect="1"/>
          </p:cNvPicPr>
          <p:nvPr/>
        </p:nvPicPr>
        <p:blipFill>
          <a:blip r:embed="rId4"/>
          <a:stretch>
            <a:fillRect/>
          </a:stretch>
        </p:blipFill>
        <p:spPr>
          <a:xfrm>
            <a:off x="4796870" y="3234518"/>
            <a:ext cx="3637447" cy="2728086"/>
          </a:xfrm>
          <a:prstGeom prst="rect">
            <a:avLst/>
          </a:prstGeom>
          <a:ln>
            <a:solidFill>
              <a:schemeClr val="tx1"/>
            </a:solidFill>
          </a:ln>
        </p:spPr>
      </p:pic>
    </p:spTree>
    <p:extLst>
      <p:ext uri="{BB962C8B-B14F-4D97-AF65-F5344CB8AC3E}">
        <p14:creationId xmlns:p14="http://schemas.microsoft.com/office/powerpoint/2010/main" val="406558017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Recall from Case 6: </a:t>
            </a:r>
            <a:r>
              <a:rPr kumimoji="0" lang="en-US" altLang="en-US" sz="2000" b="0" i="0" u="none" strike="noStrike" kern="1200" cap="none" spc="0" normalizeH="0" baseline="0" noProof="0" dirty="0" err="1"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Fernie</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Memorial Arena LI:</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err="1" smtClean="0">
                <a:ln>
                  <a:noFill/>
                </a:ln>
                <a:solidFill>
                  <a:srgbClr val="333399"/>
                </a:solidFill>
                <a:effectLst/>
                <a:uLnTx/>
                <a:uFillTx/>
                <a:latin typeface="Arial" panose="020B0604020202020204" pitchFamily="34" charset="0"/>
                <a:ea typeface="+mn-ea"/>
                <a:cs typeface="Arial" panose="020B0604020202020204" pitchFamily="34" charset="0"/>
              </a:rPr>
              <a:t>Fernie</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 Memorial Arena LI Background:</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smtClean="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rPr>
              <a:t>Case 16 The Fernie Arena LI (2017)</a:t>
            </a:r>
            <a:endParaRPr kumimoji="0" lang="en-CA" sz="1200" b="1" i="1" u="none" strike="noStrike" kern="0" cap="none" spc="0" normalizeH="0" baseline="0" noProof="0" dirty="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endParaRPr>
          </a:p>
        </p:txBody>
      </p:sp>
      <p:pic>
        <p:nvPicPr>
          <p:cNvPr id="4" name="Picture 3"/>
          <p:cNvPicPr>
            <a:picLocks noChangeAspect="1"/>
          </p:cNvPicPr>
          <p:nvPr/>
        </p:nvPicPr>
        <p:blipFill>
          <a:blip r:embed="rId3"/>
          <a:stretch>
            <a:fillRect/>
          </a:stretch>
        </p:blipFill>
        <p:spPr>
          <a:xfrm>
            <a:off x="180000" y="1303238"/>
            <a:ext cx="4320000" cy="3240000"/>
          </a:xfrm>
          <a:prstGeom prst="rect">
            <a:avLst/>
          </a:prstGeom>
          <a:ln>
            <a:solidFill>
              <a:schemeClr val="tx1"/>
            </a:solidFill>
          </a:ln>
        </p:spPr>
      </p:pic>
      <p:pic>
        <p:nvPicPr>
          <p:cNvPr id="5" name="Picture 4"/>
          <p:cNvPicPr>
            <a:picLocks noChangeAspect="1"/>
          </p:cNvPicPr>
          <p:nvPr/>
        </p:nvPicPr>
        <p:blipFill>
          <a:blip r:embed="rId4"/>
          <a:stretch>
            <a:fillRect/>
          </a:stretch>
        </p:blipFill>
        <p:spPr>
          <a:xfrm>
            <a:off x="4538633" y="2842817"/>
            <a:ext cx="4320000" cy="3240001"/>
          </a:xfrm>
          <a:prstGeom prst="rect">
            <a:avLst/>
          </a:prstGeom>
          <a:ln>
            <a:solidFill>
              <a:schemeClr val="tx1"/>
            </a:solidFill>
          </a:ln>
        </p:spPr>
      </p:pic>
    </p:spTree>
    <p:extLst>
      <p:ext uri="{BB962C8B-B14F-4D97-AF65-F5344CB8AC3E}">
        <p14:creationId xmlns:p14="http://schemas.microsoft.com/office/powerpoint/2010/main" val="277564613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City of </a:t>
            </a:r>
            <a:r>
              <a:rPr kumimoji="0" lang="en-CA" altLang="en-US" sz="1800" b="0" i="0" u="none" strike="noStrike" kern="1200" cap="none" spc="0" normalizeH="0" baseline="0" noProof="0" dirty="0" err="1"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Fernie</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Municipal Government (MG) owns, operates, and maintains the Fernie Memorial Arena (city workers were dispatched to the scene).</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Workers understood</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hazards of ammonia as evidenced by their wearing SCBA on their first entry to the mechanical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room.</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spcAft>
                <a:spcPct val="0"/>
              </a:spcAft>
              <a:buClrTx/>
              <a:buSzPct val="100000"/>
              <a:buNone/>
              <a:tabLst/>
              <a:defRPr/>
            </a:pPr>
            <a:r>
              <a:rPr lang="en-CA"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but for the second entry:</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underestimated</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Potential quantity of the leakage from the ammonia system to the brine system</a:t>
            </a:r>
          </a:p>
          <a:p>
            <a:pPr marL="72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kern="1200" baseline="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Build-up of pressure on the brine-side of the system </a:t>
            </a:r>
          </a:p>
          <a:p>
            <a:pPr marL="72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Pressure of the ammonia system exceeding the pressure-rating of the brine side</a:t>
            </a:r>
          </a:p>
          <a:p>
            <a:pPr marL="72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kern="1200" baseline="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potential for the over-pressure condition to rupture the brine piping system</a:t>
            </a:r>
            <a:endPar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Tx/>
              <a:buSzPct val="100000"/>
              <a:buNone/>
              <a:tabLst/>
              <a:defRPr/>
            </a:pPr>
            <a:endPar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did not wear self-contained breathing apparatus (SCBA</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[PPE]</a:t>
            </a:r>
            <a:endPar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90000"/>
              </a:lnSpc>
              <a:spcBef>
                <a:spcPts val="0"/>
              </a:spcBef>
              <a:spcAft>
                <a:spcPct val="0"/>
              </a:spcAft>
              <a:buClrTx/>
              <a:buSzPct val="100000"/>
              <a:buNone/>
              <a:tabLst/>
              <a:defRPr/>
            </a:pPr>
            <a:endPar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Tx/>
              <a:buSzPct val="100000"/>
              <a:buNone/>
              <a:tabLst/>
              <a:defRPr/>
            </a:pPr>
            <a:r>
              <a:rPr lang="en-CA" altLang="en-US" sz="1800" b="1"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Q: Would a FLRA have helped? (There is no evidence that one was used.)</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Key Points of the Loss Incident: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smtClean="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rPr>
              <a:t>Case 16 The Fernie Arena LI (2017)</a:t>
            </a:r>
            <a:endParaRPr kumimoji="0" lang="en-CA" sz="1200" b="1" i="1" u="none" strike="noStrike" kern="0" cap="none" spc="0" normalizeH="0" baseline="0" noProof="0" dirty="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02718808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disabled the ammonia alarm system and ventilation system without appropriate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backup controls or management of change. </a:t>
            </a:r>
            <a:r>
              <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[Engineering Control and Administrative Control</a:t>
            </a: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did not initially check nor monitor for ammonia in the mechanical room. </a:t>
            </a:r>
            <a:r>
              <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[EC &amp; AC</a:t>
            </a: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did not look for “signals” (excessive pressure in the brine side? Ammonia in the brine?) i.e. something is “not right” or disregarded any of these signals. </a:t>
            </a: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[EC &amp; AC]</a:t>
            </a: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did not ask and were not prepared for:</a:t>
            </a:r>
          </a:p>
          <a:p>
            <a:pPr marL="72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is something bad that can happen?”</a:t>
            </a:r>
          </a:p>
          <a:p>
            <a:pPr marL="72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“How bad can it be?”</a:t>
            </a:r>
          </a:p>
          <a:p>
            <a:pPr marL="72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“What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the worse case scenario</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eaLnBrk="0" fontAlgn="base" hangingPunct="0">
              <a:lnSpc>
                <a:spcPct val="90000"/>
              </a:lnSpc>
              <a:spcBef>
                <a:spcPts val="0"/>
              </a:spcBef>
              <a:spcAft>
                <a:spcPct val="0"/>
              </a:spcAft>
              <a:buClrTx/>
              <a:buSzPct val="100000"/>
              <a:buNone/>
              <a:defRPr/>
            </a:pPr>
            <a:r>
              <a:rPr kumimoji="0" lang="en-CA" altLang="en-US" sz="1800" b="1" i="1"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Q: Would a Permit-To-Work (PTW) have helped?</a:t>
            </a:r>
            <a:r>
              <a:rPr kumimoji="0" lang="en-CA" altLang="en-US" sz="1200" i="1"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r>
              <a:rPr lang="en-CA" altLang="en-US" sz="12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 </a:t>
            </a:r>
            <a:r>
              <a:rPr lang="en-CA" altLang="en-US" sz="12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evidence that one was used</a:t>
            </a:r>
            <a:r>
              <a:rPr lang="en-CA" altLang="en-US" sz="12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90000"/>
              </a:lnSpc>
              <a:spcBef>
                <a:spcPts val="0"/>
              </a:spcBef>
              <a:spcAft>
                <a:spcPct val="0"/>
              </a:spcAft>
              <a:buClrTx/>
              <a:buSzPct val="100000"/>
              <a:buNone/>
              <a:defRPr/>
            </a:pPr>
            <a:r>
              <a:rPr lang="en-CA" altLang="en-US" sz="1800" b="1"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Q: Would a detailed Job Safety Analysis / Safe Maintenance Procedure / Safe Operating Procedure JSA/SMP/SOP) have helped? </a:t>
            </a:r>
            <a:r>
              <a:rPr lang="en-CA" altLang="en-US" sz="14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 evidence that </a:t>
            </a:r>
            <a:r>
              <a:rPr lang="en-CA" altLang="en-US" sz="14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were used</a:t>
            </a:r>
            <a:r>
              <a:rPr lang="en-CA" altLang="en-US" sz="14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CA" altLang="en-US" sz="1800" b="1"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90000"/>
              </a:lnSpc>
              <a:spcBef>
                <a:spcPts val="0"/>
              </a:spcBef>
              <a:spcAft>
                <a:spcPct val="0"/>
              </a:spcAft>
              <a:buClrTx/>
              <a:buSzPct val="100000"/>
              <a:buNone/>
              <a:defRPr/>
            </a:pPr>
            <a:endParaRPr kumimoji="0" lang="en-CA" altLang="en-US" sz="1800" i="1"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eaLnBrk="0" fontAlgn="base" hangingPunct="0">
              <a:lnSpc>
                <a:spcPct val="90000"/>
              </a:lnSpc>
              <a:spcBef>
                <a:spcPts val="0"/>
              </a:spcBef>
              <a:spcAft>
                <a:spcPct val="0"/>
              </a:spcAft>
              <a:buClrTx/>
              <a:buSzPct val="100000"/>
              <a:buNone/>
              <a:defRPr/>
            </a:pPr>
            <a:r>
              <a:rPr kumimoji="0" lang="en-CA" altLang="en-US" sz="1800" i="1"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Note: The mechanical room would not meet the definition of a confined space. </a:t>
            </a:r>
            <a:endPar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Key Points of the Loss Incident: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smtClean="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rPr>
              <a:t>Case 16 The Fernie Arena LI (2017)</a:t>
            </a:r>
            <a:endParaRPr kumimoji="0" lang="en-CA" sz="1200" b="1" i="1" u="none" strike="noStrike" kern="0" cap="none" spc="0" normalizeH="0" baseline="0" noProof="0" dirty="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34326051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r>
              <a:rPr kumimoji="0" lang="en-US"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Organizational Factors</a:t>
            </a:r>
            <a:r>
              <a:rPr kumimoji="0" lang="en-US" altLang="en-US" sz="1800" b="1"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can drive decisions in unintended ways:</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Recall that it was old equipment</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near or at end-of-life</a:t>
            </a: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Equipment - who</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is responsible for:</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Assessing risks on end-of-life equipment?</a:t>
            </a:r>
          </a:p>
          <a:p>
            <a:pPr marL="72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Developing and implementing</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alternative and temporary controls to manage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risks on end-of-life equipment</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Making the decision that</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the risk level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end-of-life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equipment without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alternative and temporary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controls is acceptable / not acceptable? </a:t>
            </a: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capital</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replacement budget?</a:t>
            </a: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endPar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City Workers and Contractors -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who is responsible for:</a:t>
            </a:r>
          </a:p>
          <a:p>
            <a:pPr marL="72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 assessment training on ammonia-brine refrigeration systems and their hazards? </a:t>
            </a:r>
          </a:p>
          <a:p>
            <a:pPr marL="72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 assessment training of abnormal / upset / unusual workplace conditions?</a:t>
            </a:r>
          </a:p>
          <a:p>
            <a:pPr marL="72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Ensuring the use</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of FLRA, JSA/SOP/SMP, SQRA?</a:t>
            </a: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Organizational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Factors: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smtClean="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rPr>
              <a:t>Case 16 The Fernie Arena LI (2017)</a:t>
            </a:r>
            <a:endParaRPr kumimoji="0" lang="en-CA" sz="1200" b="1" i="1" u="none" strike="noStrike" kern="0" cap="none" spc="0" normalizeH="0" baseline="0" noProof="0" dirty="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19770586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57200" marR="0" lvl="2" indent="-457200" algn="l" defTabSz="914400" rtl="0" eaLnBrk="1" fontAlgn="auto" latinLnBrk="0" hangingPunct="1">
              <a:lnSpc>
                <a:spcPct val="110000"/>
              </a:lnSpc>
              <a:spcBef>
                <a:spcPts val="0"/>
              </a:spcBef>
              <a:spcAft>
                <a:spcPts val="0"/>
              </a:spcAft>
              <a:buClr>
                <a:srgbClr val="000000"/>
              </a:buClr>
              <a:buSzPts val="2000"/>
              <a:buFont typeface="Times New Roman"/>
              <a:buAutoNum type="arabicParenR"/>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Immediate Causes (sub-std conditions, sub-std practices):</a:t>
            </a:r>
          </a:p>
          <a:p>
            <a:pPr marL="742950" marR="0" lvl="1" indent="-285750" algn="l" defTabSz="914400" rtl="0" eaLnBrk="1" fontAlgn="auto" latinLnBrk="0" hangingPunct="1">
              <a:lnSpc>
                <a:spcPct val="110000"/>
              </a:lnSpc>
              <a:spcBef>
                <a:spcPts val="0"/>
              </a:spcBef>
              <a:spcAft>
                <a:spcPts val="0"/>
              </a:spcAft>
              <a:buClr>
                <a:srgbClr val="000000"/>
              </a:buClr>
              <a:buSzPts val="2000"/>
              <a:buFont typeface="Noto Sans Symbols"/>
              <a:buChar char="⮚"/>
              <a:tabLst/>
              <a:defRPr/>
            </a:pPr>
            <a:r>
              <a:rPr lang="en-CA" sz="1800" dirty="0" smtClean="0">
                <a:solidFill>
                  <a:srgbClr val="000000"/>
                </a:solidFill>
                <a:latin typeface="Arial" panose="020B0604020202020204" pitchFamily="34" charset="0"/>
                <a:cs typeface="Arial" panose="020B0604020202020204" pitchFamily="34" charset="0"/>
              </a:rPr>
              <a:t>Pin-hole leak</a:t>
            </a:r>
          </a:p>
          <a:p>
            <a:pPr marL="742950" marR="0" lvl="1" indent="-285750" algn="l" defTabSz="914400" rtl="0" eaLnBrk="1" fontAlgn="auto" latinLnBrk="0" hangingPunct="1">
              <a:lnSpc>
                <a:spcPct val="110000"/>
              </a:lnSpc>
              <a:spcBef>
                <a:spcPts val="0"/>
              </a:spcBef>
              <a:spcAft>
                <a:spcPts val="0"/>
              </a:spcAft>
              <a:buClr>
                <a:srgbClr val="000000"/>
              </a:buClr>
              <a:buSzPts val="2000"/>
              <a:buFont typeface="Noto Sans Symbols"/>
              <a:buChar char="⮚"/>
              <a:tabLst/>
              <a:defRPr/>
            </a:pP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sym typeface="Arial"/>
              </a:rPr>
              <a:t>Brine system</a:t>
            </a:r>
            <a:r>
              <a:rPr kumimoji="0" lang="en-CA" sz="1800" b="0" i="0" u="none" strike="noStrike" kern="0" cap="none" spc="0" normalizeH="0" noProof="0" dirty="0" smtClean="0">
                <a:ln>
                  <a:noFill/>
                </a:ln>
                <a:solidFill>
                  <a:srgbClr val="000000"/>
                </a:solidFill>
                <a:effectLst/>
                <a:uLnTx/>
                <a:uFillTx/>
                <a:latin typeface="Arial" panose="020B0604020202020204" pitchFamily="34" charset="0"/>
                <a:cs typeface="Arial" panose="020B0604020202020204" pitchFamily="34" charset="0"/>
                <a:sym typeface="Arial"/>
              </a:rPr>
              <a:t> was over-pressured and ruptured</a:t>
            </a: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742950" marR="0" lvl="1" indent="-285750" algn="l" defTabSz="914400" rtl="0" eaLnBrk="1" fontAlgn="auto" latinLnBrk="0" hangingPunct="1">
              <a:lnSpc>
                <a:spcPct val="110000"/>
              </a:lnSpc>
              <a:spcBef>
                <a:spcPts val="0"/>
              </a:spcBef>
              <a:spcAft>
                <a:spcPts val="0"/>
              </a:spcAft>
              <a:buClr>
                <a:srgbClr val="000000"/>
              </a:buClr>
              <a:buSzPts val="2000"/>
              <a:buFont typeface="Noto Sans Symbols"/>
              <a:buChar char="⮚"/>
              <a:tabLst/>
              <a:defRPr/>
            </a:pP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sym typeface="Arial"/>
              </a:rPr>
              <a:t>Did not recognize nor manage / control the potential for system rupture</a:t>
            </a:r>
          </a:p>
          <a:p>
            <a:pPr marL="742950" marR="0" lvl="1" indent="-285750" algn="l" defTabSz="914400" rtl="0" eaLnBrk="1" fontAlgn="auto" latinLnBrk="0" hangingPunct="1">
              <a:lnSpc>
                <a:spcPct val="110000"/>
              </a:lnSpc>
              <a:spcBef>
                <a:spcPts val="0"/>
              </a:spcBef>
              <a:spcAft>
                <a:spcPts val="0"/>
              </a:spcAft>
              <a:buClr>
                <a:srgbClr val="000000"/>
              </a:buClr>
              <a:buSzPts val="2000"/>
              <a:buFont typeface="Noto Sans Symbols"/>
              <a:buChar char="⮚"/>
              <a:tabLst/>
              <a:defRPr/>
            </a:pP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457200" marR="0" lvl="0" indent="-457200" algn="l" defTabSz="914400" rtl="0" eaLnBrk="1" fontAlgn="auto" latinLnBrk="0" hangingPunct="1">
              <a:lnSpc>
                <a:spcPct val="110000"/>
              </a:lnSpc>
              <a:spcBef>
                <a:spcPts val="0"/>
              </a:spcBef>
              <a:spcAft>
                <a:spcPts val="0"/>
              </a:spcAft>
              <a:buClr>
                <a:srgbClr val="000000"/>
              </a:buClr>
              <a:buSzPts val="2000"/>
              <a:buFont typeface="Times New Roman"/>
              <a:buAutoNum type="arabicParenR" startAt="2"/>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Basic Causes (Engineering and Design Factors, Job Factors, Personal Factors):</a:t>
            </a:r>
          </a:p>
          <a:p>
            <a:pPr marL="742950" marR="0" lvl="1" indent="-285750" algn="l" defTabSz="914400" rtl="0" eaLnBrk="1" fontAlgn="auto" latinLnBrk="0" hangingPunct="1">
              <a:lnSpc>
                <a:spcPct val="110000"/>
              </a:lnSpc>
              <a:spcBef>
                <a:spcPts val="0"/>
              </a:spcBef>
              <a:spcAft>
                <a:spcPts val="0"/>
              </a:spcAft>
              <a:buClr>
                <a:srgbClr val="000000"/>
              </a:buClr>
              <a:buSzPts val="2000"/>
              <a:buFont typeface="Noto Sans Symbols"/>
              <a:buChar char="⮚"/>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Relating to the Release</a:t>
            </a: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sym typeface="Arial"/>
              </a:rPr>
              <a:t>: inadequate monitoring of the pin-hole</a:t>
            </a:r>
            <a:r>
              <a:rPr kumimoji="0" lang="en-CA" sz="1800" b="0" i="0" u="none" strike="noStrike" kern="0" cap="none" spc="0" normalizeH="0" noProof="0" dirty="0" smtClean="0">
                <a:ln>
                  <a:noFill/>
                </a:ln>
                <a:solidFill>
                  <a:srgbClr val="000000"/>
                </a:solidFill>
                <a:effectLst/>
                <a:uLnTx/>
                <a:uFillTx/>
                <a:latin typeface="Arial" panose="020B0604020202020204" pitchFamily="34" charset="0"/>
                <a:cs typeface="Arial" panose="020B0604020202020204" pitchFamily="34" charset="0"/>
                <a:sym typeface="Arial"/>
              </a:rPr>
              <a:t> leak and system pressures; lack of over-pressure protection on the brine system</a:t>
            </a: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742950" marR="0" lvl="1" indent="-285750" algn="l" defTabSz="914400" rtl="0" eaLnBrk="1" fontAlgn="auto" latinLnBrk="0" hangingPunct="1">
              <a:lnSpc>
                <a:spcPct val="110000"/>
              </a:lnSpc>
              <a:spcBef>
                <a:spcPts val="0"/>
              </a:spcBef>
              <a:spcAft>
                <a:spcPts val="0"/>
              </a:spcAft>
              <a:buClr>
                <a:srgbClr val="000000"/>
              </a:buClr>
              <a:buSzPts val="2000"/>
              <a:buFont typeface="Noto Sans Symbols"/>
              <a:buChar char="⮚"/>
              <a:tabLst/>
              <a:defRPr/>
            </a:pP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sym typeface="Arial"/>
              </a:rPr>
              <a:t>Relating</a:t>
            </a:r>
            <a:r>
              <a:rPr kumimoji="0" lang="en-CA" sz="1800" b="0" i="0" u="none" strike="noStrike" kern="0" cap="none" spc="0" normalizeH="0" noProof="0" dirty="0" smtClean="0">
                <a:ln>
                  <a:noFill/>
                </a:ln>
                <a:solidFill>
                  <a:srgbClr val="000000"/>
                </a:solidFill>
                <a:effectLst/>
                <a:uLnTx/>
                <a:uFillTx/>
                <a:latin typeface="Arial" panose="020B0604020202020204" pitchFamily="34" charset="0"/>
                <a:cs typeface="Arial" panose="020B0604020202020204" pitchFamily="34" charset="0"/>
                <a:sym typeface="Arial"/>
              </a:rPr>
              <a:t> to assessment of risks: lack of using FLRA, JSA/SOP/SMP/SQRA</a:t>
            </a:r>
          </a:p>
          <a:p>
            <a:pPr marL="742950" marR="0" lvl="1" indent="-285750" algn="l" defTabSz="914400" rtl="0" eaLnBrk="1" fontAlgn="auto" latinLnBrk="0" hangingPunct="1">
              <a:lnSpc>
                <a:spcPct val="110000"/>
              </a:lnSpc>
              <a:spcBef>
                <a:spcPts val="0"/>
              </a:spcBef>
              <a:spcAft>
                <a:spcPts val="0"/>
              </a:spcAft>
              <a:buClr>
                <a:srgbClr val="000000"/>
              </a:buClr>
              <a:buSzPts val="2000"/>
              <a:buFont typeface="Noto Sans Symbols"/>
              <a:buChar char="⮚"/>
              <a:tabLst/>
              <a:defRPr/>
            </a:pP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sym typeface="Arial"/>
              </a:rPr>
              <a:t>Relating </a:t>
            </a: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to Mitigation (preventing release, or reducing impact of release): inadequate </a:t>
            </a:r>
            <a:r>
              <a:rPr kumimoji="0" lang="en-CA" sz="1800" b="0" i="0" u="none" strike="noStrike" kern="0" cap="none" spc="0" normalizeH="0" baseline="0" noProof="0" dirty="0" smtClean="0">
                <a:ln>
                  <a:noFill/>
                </a:ln>
                <a:solidFill>
                  <a:srgbClr val="000000"/>
                </a:solidFill>
                <a:effectLst/>
                <a:uLnTx/>
                <a:uFillTx/>
                <a:latin typeface="Arial" panose="020B0604020202020204" pitchFamily="34" charset="0"/>
                <a:cs typeface="Arial" panose="020B0604020202020204" pitchFamily="34" charset="0"/>
                <a:sym typeface="Arial"/>
              </a:rPr>
              <a:t>emergency preparedness and response</a:t>
            </a: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742950" marR="0" lvl="1" indent="-285750" algn="l" defTabSz="914400" rtl="0" eaLnBrk="1" fontAlgn="auto" latinLnBrk="0" hangingPunct="1">
              <a:lnSpc>
                <a:spcPct val="110000"/>
              </a:lnSpc>
              <a:spcBef>
                <a:spcPts val="0"/>
              </a:spcBef>
              <a:spcAft>
                <a:spcPts val="0"/>
              </a:spcAft>
              <a:buClr>
                <a:srgbClr val="000000"/>
              </a:buClr>
              <a:buSzPts val="2000"/>
              <a:buFont typeface="Noto Sans Symbols"/>
              <a:buChar char="⮚"/>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Relating to the Exposure: </a:t>
            </a:r>
            <a:r>
              <a:rPr lang="en-CA" sz="1800" dirty="0" smtClean="0">
                <a:solidFill>
                  <a:srgbClr val="000000"/>
                </a:solidFill>
                <a:latin typeface="Arial" panose="020B0604020202020204" pitchFamily="34" charset="0"/>
                <a:cs typeface="Arial" panose="020B0604020202020204" pitchFamily="34" charset="0"/>
              </a:rPr>
              <a:t>lack of personal protective equipment</a:t>
            </a: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457200" marR="0" lvl="2" indent="-457200" algn="l" defTabSz="914400" rtl="0" eaLnBrk="1" fontAlgn="auto" latinLnBrk="0" hangingPunct="1">
              <a:lnSpc>
                <a:spcPct val="110000"/>
              </a:lnSpc>
              <a:spcBef>
                <a:spcPts val="0"/>
              </a:spcBef>
              <a:spcAft>
                <a:spcPts val="0"/>
              </a:spcAft>
              <a:buClr>
                <a:srgbClr val="000000"/>
              </a:buClr>
              <a:buSzPts val="2000"/>
              <a:buFont typeface="Times New Roman"/>
              <a:buAutoNum type="arabicParenR" startAt="3"/>
              <a:tabLst/>
              <a:defRPr/>
            </a:pPr>
            <a:endPar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p>
            <a:pPr marL="457200" marR="0" lvl="2" indent="-457200" algn="l" defTabSz="914400" rtl="0" eaLnBrk="1" fontAlgn="auto" latinLnBrk="0" hangingPunct="1">
              <a:lnSpc>
                <a:spcPct val="110000"/>
              </a:lnSpc>
              <a:spcBef>
                <a:spcPts val="0"/>
              </a:spcBef>
              <a:spcAft>
                <a:spcPts val="0"/>
              </a:spcAft>
              <a:buClr>
                <a:srgbClr val="000000"/>
              </a:buClr>
              <a:buSzPts val="2000"/>
              <a:buFont typeface="Times New Roman"/>
              <a:buAutoNum type="arabicParenR" startAt="3"/>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Latent Causes (Weaknesses in which RMS Elements?):</a:t>
            </a:r>
          </a:p>
          <a:p>
            <a:pPr marL="742950" marR="0" lvl="1" indent="-285750" algn="l" defTabSz="914400" rtl="0" eaLnBrk="1" fontAlgn="auto" latinLnBrk="0" hangingPunct="1">
              <a:lnSpc>
                <a:spcPct val="110000"/>
              </a:lnSpc>
              <a:spcBef>
                <a:spcPts val="0"/>
              </a:spcBef>
              <a:spcAft>
                <a:spcPts val="0"/>
              </a:spcAft>
              <a:buClr>
                <a:srgbClr val="000000"/>
              </a:buClr>
              <a:buSzPts val="2000"/>
              <a:buFont typeface="Noto Sans Symbols"/>
              <a:buChar char="⮚"/>
              <a:tabLst/>
              <a:defRPr/>
            </a:pPr>
            <a:r>
              <a:rPr kumimoji="0" lang="en-CA" sz="18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rPr>
              <a:t>Let’s explore this area further…</a:t>
            </a: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A Brief Summary of Causes: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smtClean="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rPr>
              <a:t>Case 16 The Fernie Arena LI (2017)</a:t>
            </a:r>
            <a:endParaRPr kumimoji="0" lang="en-CA" sz="1200" b="1" i="1" u="none" strike="noStrike" kern="0" cap="none" spc="0" normalizeH="0" baseline="0" noProof="0" dirty="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5854939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#1: </a:t>
            </a: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Identify </a:t>
            </a: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and Describe Weaknesses </a:t>
            </a: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in the RMS</a:t>
            </a: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Please confer </a:t>
            </a:r>
            <a:r>
              <a:rPr kumimoji="0" 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(Zoom-Chat-Open):</a:t>
            </a:r>
            <a:endPar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
                <a:srgbClr val="000000"/>
              </a:buClr>
              <a:buSzTx/>
              <a:buFont typeface="Wingdings" panose="05000000000000000000" pitchFamily="2" charset="2"/>
              <a:buNone/>
              <a:tabLst/>
              <a:defRPr/>
            </a:pPr>
            <a:endPar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Not considering any weaknesses </a:t>
            </a:r>
            <a:r>
              <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in the first element (MLCA), </a:t>
            </a:r>
            <a:r>
              <a:rPr kumimoji="0" lang="en-CA" alt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select any other element </a:t>
            </a:r>
            <a:r>
              <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of the risk management system </a:t>
            </a:r>
            <a:r>
              <a:rPr kumimoji="0" lang="en-CA" alt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and describe how the that element was weak i.e. the rationale behind a latent cause.</a:t>
            </a:r>
            <a:endPar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smtClean="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rPr>
              <a:t>Case 16 The Fernie Arena LI (2017)</a:t>
            </a:r>
            <a:endParaRPr kumimoji="0" lang="en-CA" sz="1200" b="1" i="1" u="none" strike="noStrike" kern="0" cap="none" spc="0" normalizeH="0" baseline="0" noProof="0" dirty="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endParaRPr>
          </a:p>
        </p:txBody>
      </p:sp>
      <p:sp>
        <p:nvSpPr>
          <p:cNvPr id="6" name="Google Shape;309;p17">
            <a:extLst>
              <a:ext uri="{FF2B5EF4-FFF2-40B4-BE49-F238E27FC236}">
                <a16:creationId xmlns:a16="http://schemas.microsoft.com/office/drawing/2014/main" id="{B39F5243-E57A-46ED-BE4D-5B31F42A3A55}"/>
              </a:ext>
            </a:extLst>
          </p:cNvPr>
          <p:cNvSpPr/>
          <p:nvPr/>
        </p:nvSpPr>
        <p:spPr>
          <a:xfrm>
            <a:off x="914400" y="2641037"/>
            <a:ext cx="7315200" cy="3433961"/>
          </a:xfrm>
          <a:prstGeom prst="rect">
            <a:avLst/>
          </a:prstGeom>
          <a:solidFill>
            <a:srgbClr val="FFFFFF"/>
          </a:solidFill>
          <a:ln w="76200" cap="flat" cmpd="sng">
            <a:solidFill>
              <a:srgbClr val="3366CC"/>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defTabSz="914400" eaLnBrk="1" fontAlgn="auto" latinLnBrk="0" hangingPunct="1">
              <a:lnSpc>
                <a:spcPct val="110000"/>
              </a:lnSpc>
              <a:spcBef>
                <a:spcPts val="0"/>
              </a:spcBef>
              <a:spcAft>
                <a:spcPts val="0"/>
              </a:spcAft>
              <a:buClrTx/>
              <a:buSzPts val="1400"/>
              <a:buFont typeface="Noto Sans Symbols"/>
              <a:buNone/>
              <a:tabLst/>
              <a:defRPr/>
            </a:pPr>
            <a:r>
              <a:rPr kumimoji="0" lang="en-US" sz="1600" b="1"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Risk Management System (APEGA Model):</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Management Leadership, Commitment and Accountability (MLCA)</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Risk Assessment and Management of Risks (RAMR)</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Community Awareness and Emergency Preparedness (CAEP)</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Management of Change (MOC)</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Incident Reporting, Investigation, Analysis and Actions (IRIAA)</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Program Evaluation and Continuous Improvement (PECI)</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Design, Construction and Start-up (DCSU)</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Operations and Maintenance (OM)</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Employee Competency and Training (ECT)</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Contractor Competency and Integration (CCI)</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457200" marR="0" lvl="0" indent="-457200" defTabSz="914400" eaLnBrk="1" fontAlgn="auto" latinLnBrk="0" hangingPunct="1">
              <a:lnSpc>
                <a:spcPct val="110000"/>
              </a:lnSpc>
              <a:spcBef>
                <a:spcPts val="0"/>
              </a:spcBef>
              <a:spcAft>
                <a:spcPts val="0"/>
              </a:spcAft>
              <a:buClrTx/>
              <a:buSzPts val="1400"/>
              <a:buFont typeface="Times New Roman"/>
              <a:buAutoNum type="arabicParenR"/>
              <a:tabLst/>
              <a:defRPr/>
            </a:pPr>
            <a:r>
              <a:rPr kumimoji="0" lang="en-US"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Operations and Facilities Information and Documentation (OFID)</a:t>
            </a:r>
            <a:endParaRPr kumimoji="0" sz="16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498807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r>
              <a:rPr kumimoji="0" lang="en-CA"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#2 Risk Assessment and Management of Risks:</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hazards of a release of ammonia were understood but the potential for an ammonia-brine leak, brine system over-pressure and rupture were neither understood nor recognized. </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job to “change the oil” and the breadth of hazards associated with a system under “upset” conditions were not properly assessed. </a:t>
            </a:r>
            <a:endPar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lvl="0" indent="0" eaLnBrk="0" fontAlgn="base" hangingPunct="0">
              <a:lnSpc>
                <a:spcPct val="100000"/>
              </a:lnSpc>
              <a:spcBef>
                <a:spcPts val="0"/>
              </a:spcBef>
              <a:spcAft>
                <a:spcPct val="0"/>
              </a:spcAft>
              <a:buClr>
                <a:srgbClr val="000000"/>
              </a:buClr>
              <a:buSzPct val="100000"/>
              <a:buNone/>
              <a:defRPr/>
            </a:pPr>
            <a:r>
              <a:rPr lang="en-CA"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#3 Community Awareness and Emergency Preparedness:</a:t>
            </a: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Fernie MG illustrated deficiencies in the procedures for handling emergencies, both by the city workers and contractor employees. </a:t>
            </a:r>
          </a:p>
          <a:p>
            <a:pPr marL="360000" indent="-360000" defTabSz="91440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It showed the need for organizations to collaborate with the community emergency services to identify incidents that might occur and their consequences, drawing up plans to cope with them and exercising these plans – sounds like good risk management</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defTabSz="91440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Discussion on RMS Elements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#2</a:t>
            </a:r>
            <a:r>
              <a:rPr lang="en-US" altLang="en-US" sz="2400" kern="1200" dirty="0">
                <a:solidFill>
                  <a:srgbClr val="333399"/>
                </a:solidFill>
                <a:latin typeface="Arial" panose="020B0604020202020204" pitchFamily="34" charset="0"/>
                <a:ea typeface="+mn-ea"/>
                <a:cs typeface="Arial" panose="020B0604020202020204" pitchFamily="34" charset="0"/>
              </a:rPr>
              <a:t> </a:t>
            </a:r>
            <a:r>
              <a:rPr lang="en-US" altLang="en-US" sz="2400" kern="1200" dirty="0" smtClean="0">
                <a:solidFill>
                  <a:srgbClr val="333399"/>
                </a:solidFill>
                <a:latin typeface="Arial" panose="020B0604020202020204" pitchFamily="34" charset="0"/>
                <a:ea typeface="+mn-ea"/>
                <a:cs typeface="Arial" panose="020B0604020202020204" pitchFamily="34" charset="0"/>
              </a:rPr>
              <a:t>&amp; </a:t>
            </a:r>
            <a:r>
              <a:rPr kumimoji="0" lang="en-US" altLang="en-US" sz="2400" b="0" i="0" u="none" strike="noStrike" kern="1200" cap="none" spc="0" normalizeH="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#3:</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smtClean="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rPr>
              <a:t>Case 16 The Fernie Arena LI (2017)</a:t>
            </a:r>
            <a:endParaRPr kumimoji="0" lang="en-CA" sz="1200" b="1" i="1" u="none" strike="noStrike" kern="0" cap="none" spc="0" normalizeH="0" baseline="0" noProof="0" dirty="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32060629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fontAlgn="base" hangingPunct="0">
              <a:lnSpc>
                <a:spcPct val="90000"/>
              </a:lnSpc>
              <a:spcBef>
                <a:spcPts val="0"/>
              </a:spcBef>
              <a:spcAft>
                <a:spcPct val="0"/>
              </a:spcAft>
              <a:buClrTx/>
              <a:buSzPct val="100000"/>
              <a:buNone/>
              <a:defRPr/>
            </a:pP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4 Management of Change: </a:t>
            </a: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We often think of management of change as changes in areas such as design, operating procedures, equipment replacement, etc. </a:t>
            </a: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It is certainly apparent that MOC was not applied for the unusual / upset / abnormal shut-down and repair of the refrigeration system i.e. doing something different</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90000"/>
              </a:lnSpc>
              <a:spcBef>
                <a:spcPts val="0"/>
              </a:spcBef>
              <a:spcAft>
                <a:spcPct val="0"/>
              </a:spcAft>
              <a:buClrTx/>
              <a:buSzPct val="100000"/>
              <a:buNone/>
              <a:defRPr/>
            </a:pPr>
            <a:r>
              <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#5 Incident Reporting, Investigation, Analysis, &amp; Action: </a:t>
            </a: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Had similar events or close calls / near-misses happened in </a:t>
            </a:r>
            <a:r>
              <a:rPr lang="en-US" altLang="en-US" sz="1800" kern="12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Fernie</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or other municipal arenas, and had these been reported, investigated, and </a:t>
            </a:r>
            <a:r>
              <a:rPr lang="en-US" altLang="en-US" sz="1800" kern="12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analysed</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BC Provincial Government certainly did so after this loss incident.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Discussion on RMS Elements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#4 &amp; #5:</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smtClean="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rPr>
              <a:t>Case 16 The Fernie Arena LI (2017)</a:t>
            </a:r>
            <a:endParaRPr kumimoji="0" lang="en-CA" sz="1200" b="1" i="1" u="none" strike="noStrike" kern="0" cap="none" spc="0" normalizeH="0" baseline="0" noProof="0" dirty="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84884325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fontAlgn="base" hangingPunct="0">
              <a:lnSpc>
                <a:spcPct val="90000"/>
              </a:lnSpc>
              <a:spcBef>
                <a:spcPts val="0"/>
              </a:spcBef>
              <a:spcAft>
                <a:spcPct val="0"/>
              </a:spcAft>
              <a:buClrTx/>
              <a:buSzPct val="100000"/>
              <a:buNone/>
              <a:defRPr/>
            </a:pP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#6 Program Evaluation and Continuous Improvement: </a:t>
            </a:r>
            <a:endPar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Had senior management from the </a:t>
            </a:r>
            <a:r>
              <a:rPr lang="en-US" altLang="en-US" sz="1800" kern="12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Fernie</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MG conducted any:</a:t>
            </a:r>
          </a:p>
          <a:p>
            <a:pPr marL="72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On-site audits of work practices and the required administrative controls (PTW, FLRA)?</a:t>
            </a:r>
          </a:p>
          <a:p>
            <a:pPr marL="72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Checked training programs on FLRA? </a:t>
            </a:r>
            <a:r>
              <a:rPr lang="en-US" altLang="en-US" sz="1800" kern="120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Refrigeration systems? </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 assessment tools</a:t>
            </a:r>
          </a:p>
          <a:p>
            <a:pPr marL="72000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100000"/>
              </a:lnSpc>
              <a:spcBef>
                <a:spcPts val="0"/>
              </a:spcBef>
              <a:spcAft>
                <a:spcPct val="0"/>
              </a:spcAft>
              <a:buClrTx/>
              <a:buSzPct val="100000"/>
              <a:buNone/>
              <a:defRPr/>
            </a:pP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#7 Design, Construction, and Start-Up: </a:t>
            </a:r>
            <a:endPar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Building and maintaining the competency of employees and contractors in operating/maintaining/repairing complex unit operations with significant “process safety”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hazards (compressed ammonia gas),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implementing safeguards</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Similarly,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were senior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managers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aware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the hazards of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compressed ammonia gas,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do they have a “grasp” of the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purpose of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 the necessity of process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systems in controlling the hazards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of compressed ammonia gas? </a:t>
            </a: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Discussion on RMS Elements </a:t>
            </a:r>
            <a:r>
              <a:rPr kumimoji="0" lang="en-US" altLang="en-US" sz="2400" b="0" i="0" u="none" strike="noStrike" kern="1200" cap="none" spc="0" normalizeH="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#6 &amp; #7:</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smtClean="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rPr>
              <a:t>Case 16 The Fernie Arena LI (2017)</a:t>
            </a:r>
            <a:endParaRPr kumimoji="0" lang="en-CA" sz="1200" b="1" i="1" u="none" strike="noStrike" kern="0" cap="none" spc="0" normalizeH="0" baseline="0" noProof="0" dirty="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79121973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eaLnBrk="0" fontAlgn="base" hangingPunct="0">
              <a:lnSpc>
                <a:spcPct val="90000"/>
              </a:lnSpc>
              <a:spcBef>
                <a:spcPts val="0"/>
              </a:spcBef>
              <a:spcAft>
                <a:spcPct val="0"/>
              </a:spcAft>
              <a:buClrTx/>
              <a:buSzPct val="100000"/>
              <a:buNone/>
              <a:defRPr/>
            </a:pP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#8 Operations and Maintenance: </a:t>
            </a:r>
            <a:endPar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Did </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city </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workers and contractor refrigeration mechanic deem this as “a simple, ordinary job to change the oil”?</a:t>
            </a: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Were </a:t>
            </a: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their any maintenance procedures</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If so, were these maintenance procedures deficient?</a:t>
            </a: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If not deficient, were these followed? </a:t>
            </a: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Were the maintenance procedures detailed, based on a Job Safety Analysis or Semi-Quantitative Risk Assessment?</a:t>
            </a: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100000"/>
              </a:lnSpc>
              <a:spcBef>
                <a:spcPts val="0"/>
              </a:spcBef>
              <a:spcAft>
                <a:spcPct val="0"/>
              </a:spcAft>
              <a:buClrTx/>
              <a:buSzPct val="100000"/>
              <a:buNone/>
              <a:defRPr/>
            </a:pPr>
            <a:r>
              <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#9 Employee Competency &amp; </a:t>
            </a: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Training / #10 Contractor Competency &amp; Integration: </a:t>
            </a:r>
            <a:endParaRPr lang="en-US" altLang="en-US" sz="1800"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Developing and sustaining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competency of employees and contractors in operating/maintaining/repairing complex unit operations with significant “process safety” hazards, and implementing </a:t>
            </a: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safeguards.</a:t>
            </a: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Discussion on RMS Elements </a:t>
            </a:r>
            <a:r>
              <a:rPr kumimoji="0" lang="en-US" altLang="en-US" sz="2400" b="0" i="0" u="none" strike="noStrike" kern="1200" cap="none" spc="0" normalizeH="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#8 &amp; #9 &amp; #10:</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smtClean="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rPr>
              <a:t>Case 16 The Fernie Arena LI (2017)</a:t>
            </a:r>
            <a:endParaRPr kumimoji="0" lang="en-CA" sz="1200" b="1" i="1" u="none" strike="noStrike" kern="0" cap="none" spc="0" normalizeH="0" baseline="0" noProof="0" dirty="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50627285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Fernie LI was the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result of a breakdown in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many</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elements of a risk management system/program e.g. #2, #3, #4, #6, #7, #8, #9, &amp; #10.</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kern="1200" baseline="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Process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management,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specialized</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field of risk management, is often under-estimated in facilities operated and maintained by organizations whose core business (education, public infrastructure, retail complexes) is NOT related to process safety, and with which we, the public, have continual exposure.</a:t>
            </a: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fontAlgn="base">
              <a:lnSpc>
                <a:spcPct val="100000"/>
              </a:lnSpc>
              <a:spcBef>
                <a:spcPct val="0"/>
              </a:spcBef>
              <a:spcAft>
                <a:spcPct val="0"/>
              </a:spcAft>
              <a:buClrTx/>
              <a:buNone/>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and Key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Lessons</a:t>
            </a:r>
            <a:r>
              <a:rPr lang="en-CA" altLang="en-US" sz="2400" kern="1200" dirty="0" smtClean="0">
                <a:solidFill>
                  <a:srgbClr val="333399"/>
                </a:solidFill>
                <a:latin typeface="Arial" panose="020B0604020202020204" pitchFamily="34" charset="0"/>
                <a:ea typeface="+mn-ea"/>
                <a:cs typeface="Arial" panose="020B0604020202020204" pitchFamily="34" charset="0"/>
              </a:rPr>
              <a:t>:</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smtClean="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rPr>
              <a:t>Case 16 The Fernie Arena LI (2017)</a:t>
            </a:r>
            <a:endParaRPr kumimoji="0" lang="en-CA" sz="1200" b="1" i="1" u="none" strike="noStrike" kern="0" cap="none" spc="0" normalizeH="0" baseline="0" noProof="0" dirty="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04232365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2-Oct-2019: “We </a:t>
            </a:r>
            <a:r>
              <a:rPr lang="en-US"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have completely removed the ammonia gas refrigeration system and installed a new ice plant that uses Freon. The risks with exposure to Freon are significantly different to ammonia gas exposure, and generally, Freon exposure is only harmful at much higher concentrations as compared to ammonia. Our new plant alarm and call-out protocols have been revised based on the </a:t>
            </a:r>
            <a: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Freon </a:t>
            </a:r>
            <a:r>
              <a:rPr lang="en-US"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plant and in collaboration with Technical Safety BC. In the first year of training our staff with the new plant, we had a management contract set up with a refrigeration contractor for any maintenance and any alarm call-outs. We have also made significant changes to our corporate safety management system as a whole and are hiring a full-time permanent employee to manage our safety system. In the linked Council agenda, you will find a staff report by me regarding this position and some of the changes towards our corporate approach to workplace safety:</a:t>
            </a: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endParaRPr lang="en-US"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https</a:t>
            </a:r>
            <a:r>
              <a:rPr lang="en-US"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://fernie.civicweb.net/filepro/documents/87449?preview=99320</a:t>
            </a: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endParaRPr lang="en-US"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i="1" kern="12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Zabrina</a:t>
            </a:r>
            <a:r>
              <a:rPr lang="en-US"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i="1" kern="12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Pendon</a:t>
            </a:r>
            <a:r>
              <a:rPr lang="en-US"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i="1" kern="120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P.Eng</a:t>
            </a:r>
            <a:r>
              <a:rPr lang="en-US"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MBA  |  Director of Operational Services  |  City of </a:t>
            </a:r>
            <a:r>
              <a:rPr lang="en-US" altLang="en-US" sz="1800" i="1" kern="120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Fernie</a:t>
            </a:r>
            <a:endParaRPr kumimoji="0" lang="en-CA" altLang="en-US" sz="18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fontAlgn="base">
              <a:lnSpc>
                <a:spcPct val="100000"/>
              </a:lnSpc>
              <a:spcBef>
                <a:spcPct val="0"/>
              </a:spcBef>
              <a:spcAft>
                <a:spcPct val="0"/>
              </a:spcAft>
              <a:buClrTx/>
              <a:buNone/>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Update: The City of </a:t>
            </a:r>
            <a:r>
              <a:rPr kumimoji="0" lang="en-US" altLang="en-US" sz="2400" b="0" i="0" u="none" strike="noStrike" kern="1200" cap="none" spc="0" normalizeH="0" baseline="0" noProof="0" dirty="0" err="1" smtClean="0">
                <a:ln>
                  <a:noFill/>
                </a:ln>
                <a:solidFill>
                  <a:srgbClr val="333399"/>
                </a:solidFill>
                <a:effectLst/>
                <a:uLnTx/>
                <a:uFillTx/>
                <a:latin typeface="Arial" panose="020B0604020202020204" pitchFamily="34" charset="0"/>
                <a:ea typeface="+mn-ea"/>
                <a:cs typeface="Arial" panose="020B0604020202020204" pitchFamily="34" charset="0"/>
              </a:rPr>
              <a:t>Fernie</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 –</a:t>
            </a:r>
            <a:r>
              <a:rPr kumimoji="0" lang="en-US" altLang="en-US" sz="2400" b="0" i="0" u="none" strike="noStrike" kern="1200" cap="none" spc="0" normalizeH="0" noProof="0" dirty="0" smtClean="0">
                <a:ln>
                  <a:noFill/>
                </a:ln>
                <a:solidFill>
                  <a:srgbClr val="333399"/>
                </a:solidFill>
                <a:effectLst/>
                <a:uLnTx/>
                <a:uFillTx/>
                <a:latin typeface="Arial" panose="020B0604020202020204" pitchFamily="34" charset="0"/>
                <a:ea typeface="+mn-ea"/>
                <a:cs typeface="Arial" panose="020B0604020202020204" pitchFamily="34" charset="0"/>
              </a:rPr>
              <a:t> Replaced Ammonia with Freon</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smtClean="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rPr>
              <a:t>Case 16 The Fernie Arena LI (2017)</a:t>
            </a:r>
            <a:endParaRPr kumimoji="0" lang="en-CA" sz="1200" b="1" i="1" u="none" strike="noStrike" kern="0" cap="none" spc="0" normalizeH="0" baseline="0" noProof="0" dirty="0">
              <a:ln>
                <a:noFill/>
              </a:ln>
              <a:solidFill>
                <a:srgbClr val="000000"/>
              </a:solidFill>
              <a:effectLst/>
              <a:uLnTx/>
              <a:uFillTx/>
              <a:latin typeface="Arial" panose="020B0604020202020204" pitchFamily="34"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09252143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Any questions?</a:t>
            </a:r>
          </a:p>
        </p:txBody>
      </p:sp>
    </p:spTree>
    <p:extLst>
      <p:ext uri="{BB962C8B-B14F-4D97-AF65-F5344CB8AC3E}">
        <p14:creationId xmlns:p14="http://schemas.microsoft.com/office/powerpoint/2010/main" val="4077953517"/>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764</TotalTime>
  <Words>1788</Words>
  <Application>Microsoft Office PowerPoint</Application>
  <PresentationFormat>On-screen Show (4:3)</PresentationFormat>
  <Paragraphs>194</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Noto Sans Symbols</vt:lpstr>
      <vt:lpstr>Arial</vt:lpstr>
      <vt:lpstr>Times New Roman</vt:lpstr>
      <vt:lpstr>ＭＳ Ｐゴシック</vt:lpstr>
      <vt:lpstr>Calibri</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 Becoming a Leader in  Risk Management</dc:title>
  <dc:creator>D.MCM</dc:creator>
  <cp:lastModifiedBy>John Cocchio</cp:lastModifiedBy>
  <cp:revision>81</cp:revision>
  <dcterms:created xsi:type="dcterms:W3CDTF">2000-06-15T15:09:46Z</dcterms:created>
  <dcterms:modified xsi:type="dcterms:W3CDTF">2022-05-07T17:13:01Z</dcterms:modified>
</cp:coreProperties>
</file>