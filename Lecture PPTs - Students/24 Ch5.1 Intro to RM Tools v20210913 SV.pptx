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13" r:id="rId2"/>
    <p:sldMasterId id="2147483718" r:id="rId3"/>
    <p:sldMasterId id="2147483723" r:id="rId4"/>
  </p:sldMasterIdLst>
  <p:notesMasterIdLst>
    <p:notesMasterId r:id="rId28"/>
  </p:notesMasterIdLst>
  <p:sldIdLst>
    <p:sldId id="895" r:id="rId5"/>
    <p:sldId id="880" r:id="rId6"/>
    <p:sldId id="953" r:id="rId7"/>
    <p:sldId id="929" r:id="rId8"/>
    <p:sldId id="934" r:id="rId9"/>
    <p:sldId id="935" r:id="rId10"/>
    <p:sldId id="937" r:id="rId11"/>
    <p:sldId id="932" r:id="rId12"/>
    <p:sldId id="958" r:id="rId13"/>
    <p:sldId id="933" r:id="rId14"/>
    <p:sldId id="949" r:id="rId15"/>
    <p:sldId id="962" r:id="rId16"/>
    <p:sldId id="938" r:id="rId17"/>
    <p:sldId id="939" r:id="rId18"/>
    <p:sldId id="952" r:id="rId19"/>
    <p:sldId id="941" r:id="rId20"/>
    <p:sldId id="942" r:id="rId21"/>
    <p:sldId id="943" r:id="rId22"/>
    <p:sldId id="945" r:id="rId23"/>
    <p:sldId id="946" r:id="rId24"/>
    <p:sldId id="959" r:id="rId25"/>
    <p:sldId id="960" r:id="rId26"/>
    <p:sldId id="96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CCECFF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73" autoAdjust="0"/>
  </p:normalViewPr>
  <p:slideViewPr>
    <p:cSldViewPr snapToGrid="0">
      <p:cViewPr varScale="1">
        <p:scale>
          <a:sx n="77" d="100"/>
          <a:sy n="77" d="100"/>
        </p:scale>
        <p:origin x="108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B33E5-8C4C-4E85-BEBF-D3242DFF86DC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A2075-A6F1-4E03-8896-95FD9C4B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3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783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514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401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6661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13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680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93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386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916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32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544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0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37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997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319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1373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45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771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85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97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18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83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80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5/24/2022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7677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2724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810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8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5/24/2022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47135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218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95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3372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5/24/2022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49693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52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865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177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5/24/2022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74539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6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56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79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76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 to Tools to Reduce Risk </a:t>
            </a:r>
            <a:br>
              <a:rPr lang="en-CA" altLang="en-US" sz="3200" b="1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 the tools for leadership in risk management, and explain the overall purpose of these tools.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resolve risk concerns by applying a risk reduction hierarchy (order of effectiveness).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Interpret, critique, and create the following risk management tools: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Observations and Planned Inspections (Audits)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as a rudimentary skill of leadership to observe, interact, commend or intervene / coach employees in the work-place.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ask and the benefits of asking “open-ended questions”.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 and likelihood of an uncontrolled hazard.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Hazard: A potential source of serious harm to people, environment, assets or production.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Consequence: The harm imparted on people, environment, assets or production, when the hazard is uncontrolled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“Something Bad Could Happen”: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60" y="2947744"/>
            <a:ext cx="5691162" cy="2893296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0854683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RM work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/ without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measures, but can also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control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 tools can be used to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and reduce risk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an </a:t>
            </a:r>
            <a:b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i.e. reduce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kumimoji="0" lang="en-CA" alt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likelihood, or </a:t>
            </a:r>
            <a:br>
              <a:rPr kumimoji="0" lang="en-CA" alt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 the hazard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Management Work Process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877;p4">
            <a:extLst>
              <a:ext uri="{FF2B5EF4-FFF2-40B4-BE49-F238E27FC236}">
                <a16:creationId xmlns:a16="http://schemas.microsoft.com/office/drawing/2014/main" id="{115EB0BB-1DD2-41F7-9B88-E457F42545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864000"/>
            <a:ext cx="3972560" cy="5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69" y="4026969"/>
            <a:ext cx="3852605" cy="19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418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this course: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Planned Inspections &amp; Audits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000" y="2520000"/>
            <a:ext cx="8640000" cy="2160000"/>
            <a:chOff x="324000" y="2829430"/>
            <a:chExt cx="8489400" cy="2150396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24000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2000"/>
                <a:buFont typeface="Arial"/>
                <a:buNone/>
                <a:defRPr/>
              </a:pPr>
              <a:r>
                <a:rPr lang="en-US" sz="2000" b="1" ker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FLRAs</a:t>
              </a:r>
              <a:endParaRPr sz="2000" kern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41029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 ker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SQRAs</a:t>
              </a:r>
              <a:endParaRPr sz="2000" kern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558057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>
                  <a:solidFill>
                    <a:schemeClr val="accent5">
                      <a:lumMod val="25000"/>
                    </a:schemeClr>
                  </a:solidFill>
                  <a:ea typeface="Arial"/>
                  <a:cs typeface="Arial"/>
                  <a:sym typeface="Arial"/>
                </a:rPr>
                <a:t>JSAs</a:t>
              </a:r>
              <a:endParaRPr sz="2000" b="1" kern="0" dirty="0">
                <a:solidFill>
                  <a:schemeClr val="accent5">
                    <a:lumMod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17508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>
                  <a:solidFill>
                    <a:schemeClr val="accent5">
                      <a:lumMod val="25000"/>
                    </a:schemeClr>
                  </a:solidFill>
                  <a:ea typeface="Arial"/>
                  <a:cs typeface="Arial"/>
                  <a:sym typeface="Arial"/>
                </a:rPr>
                <a:t>Checklists</a:t>
              </a:r>
              <a:endParaRPr sz="2000" b="1" kern="0">
                <a:solidFill>
                  <a:schemeClr val="accent5">
                    <a:lumMod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79211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Planned Inspections &amp; Audits</a:t>
              </a:r>
              <a:endParaRPr sz="2000" b="1" kern="0" dirty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903;p6">
            <a:extLst>
              <a:ext uri="{FF2B5EF4-FFF2-40B4-BE49-F238E27FC236}">
                <a16:creationId xmlns:a16="http://schemas.microsoft.com/office/drawing/2014/main" id="{5BE426E2-117D-4B20-84BB-D60843F7FB1E}"/>
              </a:ext>
            </a:extLst>
          </p:cNvPr>
          <p:cNvSpPr txBox="1"/>
          <p:nvPr/>
        </p:nvSpPr>
        <p:spPr>
          <a:xfrm>
            <a:off x="180000" y="4932000"/>
            <a:ext cx="8640000" cy="1080000"/>
          </a:xfrm>
          <a:prstGeom prst="rect">
            <a:avLst/>
          </a:prstGeom>
          <a:solidFill>
            <a:srgbClr val="0000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2000"/>
              <a:buFont typeface="Noto Sans Symbols"/>
              <a:buNone/>
              <a:defRPr/>
            </a:pPr>
            <a:r>
              <a:rPr lang="en-US" sz="2000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What tools have you used in your work terms? MM-Poll</a:t>
            </a:r>
            <a:endParaRPr sz="2000" kern="0" dirty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218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approach to these and similar risk reduction tools is the same: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doing?” (Activity)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can go wrong?” (Hazards and Risks)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going to do about it?”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 Measures)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CA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Approach: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answers these questions in order to identify control measure to reduce risk to an acceptable level: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</a:t>
            </a:r>
            <a:r>
              <a:rPr lang="en-CA" altLang="en-US" i="1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Eng’g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000" y="1251627"/>
            <a:ext cx="3110080" cy="157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6599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lvl="0" fontAlgn="base"/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Risk Reduction to Making Soup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activity: “cooking noodle soup for lunch” and it needs to be done carefully to “prevent burning yourself”.</a:t>
            </a: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Responses to the questions: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activity: holding pot of boiling soup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or risk: hot handle, burn hand on hot handle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measure: use a pot holder or oven mitt.</a:t>
            </a:r>
          </a:p>
          <a:p>
            <a:pPr marL="432000" lvl="0" indent="-432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 descr="single word requests - What is the name for the &lt;strong&gt;glove&lt;/strong&gt; worn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80" b="2332"/>
          <a:stretch/>
        </p:blipFill>
        <p:spPr>
          <a:xfrm>
            <a:off x="4893686" y="3304898"/>
            <a:ext cx="3386314" cy="2424000"/>
          </a:xfrm>
          <a:prstGeom prst="rect">
            <a:avLst/>
          </a:prstGeom>
        </p:spPr>
      </p:pic>
      <p:pic>
        <p:nvPicPr>
          <p:cNvPr id="4" name="Picture 3" descr="food science - Is this &lt;strong&gt;soup&lt;/strong&gt;, stew, or something else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3" y="3304898"/>
            <a:ext cx="3232000" cy="242400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7013673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lang="en-CA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powerful management tools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can positively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safety culture in two ways: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Application: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 risks to acceptable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levels and prevent incidents.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Coaching &amp; Mentoring: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Trains managers to be effective;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Raises the visibility: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“walk the talk”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“lead by example”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CA" sz="20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Engages workers and sets expectations for leader-worker interactions!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Q: How and Why?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Management – Application &amp; Coaching: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327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are these powerful management tools applied and why?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this Key Leadership Skill: 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Successful leaders must develop and practice </a:t>
            </a:r>
            <a:b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their ability to ask “</a:t>
            </a: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open-ended questions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”: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“Help me understand the work you are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doing and its hazards.”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explain to me how your work is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done, and how to improve it?”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tell me about the hazards and safeguards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that are associated with your work?”</a:t>
            </a:r>
            <a:endParaRPr lang="en-CA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Why?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Demonstrates management commitment and leadership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(#1 MLCA)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Coach in a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visible and effective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manner (supportive, not adversarial, not confrontational).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– Application &amp; 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389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these questions: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Eng’g)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different risk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reductions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with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same basic approach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same outcome.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leader uses these tools to positively influence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by demonstrating commitment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</a:t>
            </a:r>
            <a:b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leadership. 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Leadership Skill: Ability to ask “open-ended questions”.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388B05BF-C68C-4DE7-81C0-F5899CED416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0203" y="3850640"/>
            <a:ext cx="2356497" cy="215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971" y="1053276"/>
            <a:ext cx="3109229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90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 Slide Deck</a:t>
            </a: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follows with </a:t>
            </a:r>
            <a:r>
              <a:rPr kumimoji="0" lang="en-US" altLang="en-US" sz="2400" b="0" i="0" u="none" strike="noStrike" kern="120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details.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01927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 the tools for leadership in risk management, and explain the overall purpose of these tools.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resolve risk concerns by applying a risk reduction hierarchy (order of effectiveness).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Interpret, critique, and create the following risk management tools: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Observations and Planned Inspections (Audits)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as a rudimentary skill of leadership to observe, interact, commend or intervene / coach employees in the work-place.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ask and the benefits of asking “open-ended questions”.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65905924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Note: Your courseware may also include instruction</a:t>
            </a:r>
            <a:r>
              <a:rPr kumimoji="0" lang="en-CA" alt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on: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CCOHS Job Safety Analysis Model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Checklists for Executing Work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Multi-layered Approach to Hazard /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Reporting and Correcting Sub-standard Conditions and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At-Risk Behaviours (Sub-standard Practices)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Observations and Planned Inspections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(</a:t>
            </a:r>
            <a:r>
              <a:rPr kumimoji="0" lang="en-CA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above and </a:t>
            </a:r>
            <a:r>
              <a:rPr lang="en-US" altLang="en-US" sz="180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Assessment, </a:t>
            </a: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Assessment, Job Observations and Planned Inspections (Audits)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as a rudimentary skill of leadership to observe, interact, commend or intervene / coach employees in the work-place.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17580936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these two definitions: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Hazard: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potential source of serious harm to people, environment, assets or production.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Consequence: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harm imparted on people, environment, assets or production, when the hazard is uncontrolled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– “something bad could happen”: </a:t>
            </a:r>
          </a:p>
          <a:p>
            <a:pPr marL="1253400" marR="0" lvl="2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possibility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exposures (PEAP)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created by a hazard. </a:t>
            </a:r>
          </a:p>
          <a:p>
            <a:pPr marL="1253400" marR="0" lvl="2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significance of risk is a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function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an unwanted incident and the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 on PEAP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1253400" marR="0" lvl="2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methodologies are widely </a:t>
            </a:r>
            <a:b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practiced. In practice, there are </a:t>
            </a:r>
            <a:b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countless variations of these tools, </a:t>
            </a:r>
            <a:b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some go by different names. </a:t>
            </a:r>
            <a:b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gaining skills in these builds </a:t>
            </a:r>
            <a:b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skills in most of those variations.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“Something Bad Could Happen”: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866078"/>
            <a:ext cx="3883398" cy="19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110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RM work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/ without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measures, but can also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control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 tools can be used to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and reduce risk to an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i.e. reduce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 or likelihood, or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 the hazard.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Management Work Process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877;p4">
            <a:extLst>
              <a:ext uri="{FF2B5EF4-FFF2-40B4-BE49-F238E27FC236}">
                <a16:creationId xmlns:a16="http://schemas.microsoft.com/office/drawing/2014/main" id="{115EB0BB-1DD2-41F7-9B88-E457F42545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864000"/>
            <a:ext cx="3972560" cy="5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69" y="4026969"/>
            <a:ext cx="3852605" cy="19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6096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Risk Reduction Tools used in Industry for Assessing Risk, and Reducing &amp; Controlling Risk to An Acceptable Level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Reduction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sp>
        <p:nvSpPr>
          <p:cNvPr id="6" name="Google Shape;903;p6">
            <a:extLst>
              <a:ext uri="{FF2B5EF4-FFF2-40B4-BE49-F238E27FC236}">
                <a16:creationId xmlns:a16="http://schemas.microsoft.com/office/drawing/2014/main" id="{5BE426E2-117D-4B20-84BB-D60843F7FB1E}"/>
              </a:ext>
            </a:extLst>
          </p:cNvPr>
          <p:cNvSpPr txBox="1"/>
          <p:nvPr/>
        </p:nvSpPr>
        <p:spPr>
          <a:xfrm>
            <a:off x="180000" y="4932000"/>
            <a:ext cx="8640000" cy="1080000"/>
          </a:xfrm>
          <a:prstGeom prst="rect">
            <a:avLst/>
          </a:prstGeom>
          <a:solidFill>
            <a:srgbClr val="0000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What tools have you used in your work terms? MM-Poll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699;p2">
            <a:extLst>
              <a:ext uri="{FF2B5EF4-FFF2-40B4-BE49-F238E27FC236}">
                <a16:creationId xmlns:a16="http://schemas.microsoft.com/office/drawing/2014/main" id="{B3663855-1660-4218-A380-483EB267AB84}"/>
              </a:ext>
            </a:extLst>
          </p:cNvPr>
          <p:cNvGrpSpPr/>
          <p:nvPr/>
        </p:nvGrpSpPr>
        <p:grpSpPr>
          <a:xfrm>
            <a:off x="180000" y="2520000"/>
            <a:ext cx="8640000" cy="2160000"/>
            <a:chOff x="305869" y="2843240"/>
            <a:chExt cx="8760861" cy="2085919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05869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FLRAs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74605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SQRAs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643340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JSAs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312075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Checklists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980811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Planned Inspections &amp; Audits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83097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this course: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Planned Inspections &amp; Audits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Reduction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000" y="2520000"/>
            <a:ext cx="8640000" cy="2160000"/>
            <a:chOff x="324000" y="2829430"/>
            <a:chExt cx="8489400" cy="2150396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24000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FLRAs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41029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SQRAs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558057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DAEDEF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JSAs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DAEDEF">
                    <a:lumMod val="25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17508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DAEDEF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Checklists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DAEDEF">
                    <a:lumMod val="25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79211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Planned Inspections &amp; Audits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2849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approach to these and similar risk reduction tools is the same: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doing?” (Activity)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can go wrong?” (Hazards and Risks)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going to do about it?” (Control Measures)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Approach: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answers these questions in order to identify control measure to reduce risk to an acceptable level: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</a:t>
            </a:r>
            <a:r>
              <a:rPr kumimoji="0" lang="en-CA" alt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Eng’g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Reduction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77834489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Apply Risk Reduction to Making Soup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activity: “cooking noodle soup for lunch” and it needs to be done carefully to “prevent burning yourself”.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Responses to the questions: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activity: holding pot of boiling soup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or risk: hot handle, burn hand on hot handle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measure: use a pot holder or oven mitt.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 descr="single word requests - What is the name for the &lt;strong&gt;glove&lt;/strong&gt; worn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80" b="2332"/>
          <a:stretch/>
        </p:blipFill>
        <p:spPr>
          <a:xfrm>
            <a:off x="4893686" y="3304898"/>
            <a:ext cx="3386314" cy="2424000"/>
          </a:xfrm>
          <a:prstGeom prst="rect">
            <a:avLst/>
          </a:prstGeom>
        </p:spPr>
      </p:pic>
      <p:pic>
        <p:nvPicPr>
          <p:cNvPr id="4" name="Picture 3" descr="food science - Is this &lt;strong&gt;soup&lt;/strong&gt;, stew, or something else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3" y="3304898"/>
            <a:ext cx="3232000" cy="242400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53222021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Management: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8E0F5EE3-8FDA-4679-9DF1-8170DAF22A2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5640" y="1656080"/>
            <a:ext cx="5068720" cy="4499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206981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lang="en-CA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powerful management tools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can positively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safety culture in two ways: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Application: 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 risks to acceptable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levels and prevent incidents.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Coaching &amp; Mentoring: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Trains managers to be effective;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Raises the visibility: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“walk the talk”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“lead by example”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CA" sz="20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Engages workers, sets expectations for leader-worker interactions, and </a:t>
            </a:r>
            <a:r>
              <a:rPr lang="en-US" sz="20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interactions with employees about the hazards/risks they face on-the-job and how they are going to manage those hazards/risks</a:t>
            </a:r>
            <a:r>
              <a:rPr lang="en-CA" sz="20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Q: How and Why?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Management – Application &amp; Coaching: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8883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are these powerful management tools applied and why?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this Key Leadership Skill: 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Successful leaders must develop and practice </a:t>
            </a:r>
            <a:b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their ability to ask “</a:t>
            </a: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open-ended questions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”: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“Help me understand the work you are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doing and its hazards.”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explain to me how your work is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done, and how to improve it?”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tell me about the hazards and safeguards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that are associated with your work?”</a:t>
            </a:r>
            <a:endParaRPr lang="en-CA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Why?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leader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demonstrates management commitment and leadership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(#1 MLCA) by applying and coaching in a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visible and effective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manner (supportive, not adversarial, not confrontational).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– Application &amp; 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4633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these questions: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Eng’g)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different risk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reductions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with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same basic approach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same outcome.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leader uses these tools to positively influence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by demonstrating commitment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</a:t>
            </a:r>
            <a:b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leadership. 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Leadership Skill: Ability to ask “open-ended questions”.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388B05BF-C68C-4DE7-81C0-F5899CED416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0203" y="3850640"/>
            <a:ext cx="2356497" cy="215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971" y="1053276"/>
            <a:ext cx="3109229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137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</TotalTime>
  <Words>2170</Words>
  <Application>Microsoft Office PowerPoint</Application>
  <PresentationFormat>On-screen Show (4:3)</PresentationFormat>
  <Paragraphs>318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Noto Sans Symbols</vt:lpstr>
      <vt:lpstr>Arial</vt:lpstr>
      <vt:lpstr>Calibri</vt:lpstr>
      <vt:lpstr>Times New Roman</vt:lpstr>
      <vt:lpstr>Wingdings</vt:lpstr>
      <vt:lpstr>Default Design</vt:lpstr>
      <vt:lpstr>1_Default Design</vt:lpstr>
      <vt:lpstr>2_Default Design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Li Dekr0</cp:lastModifiedBy>
  <cp:revision>63</cp:revision>
  <dcterms:created xsi:type="dcterms:W3CDTF">2020-05-22T23:48:02Z</dcterms:created>
  <dcterms:modified xsi:type="dcterms:W3CDTF">2022-05-24T21:19:34Z</dcterms:modified>
</cp:coreProperties>
</file>