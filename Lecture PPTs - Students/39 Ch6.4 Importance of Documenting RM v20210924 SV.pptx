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4151" r:id="rId2"/>
  </p:sldMasterIdLst>
  <p:notesMasterIdLst>
    <p:notesMasterId r:id="rId16"/>
  </p:notesMasterIdLst>
  <p:handoutMasterIdLst>
    <p:handoutMasterId r:id="rId17"/>
  </p:handoutMasterIdLst>
  <p:sldIdLst>
    <p:sldId id="895" r:id="rId3"/>
    <p:sldId id="938" r:id="rId4"/>
    <p:sldId id="969" r:id="rId5"/>
    <p:sldId id="955" r:id="rId6"/>
    <p:sldId id="923" r:id="rId7"/>
    <p:sldId id="930" r:id="rId8"/>
    <p:sldId id="941" r:id="rId9"/>
    <p:sldId id="928" r:id="rId10"/>
    <p:sldId id="920" r:id="rId11"/>
    <p:sldId id="976" r:id="rId12"/>
    <p:sldId id="973" r:id="rId13"/>
    <p:sldId id="975" r:id="rId14"/>
    <p:sldId id="922" r:id="rId15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92DFA-6333-4D24-89B4-B39EC0786CAA}">
          <p14:sldIdLst>
            <p14:sldId id="895"/>
            <p14:sldId id="938"/>
            <p14:sldId id="969"/>
            <p14:sldId id="955"/>
            <p14:sldId id="923"/>
            <p14:sldId id="930"/>
            <p14:sldId id="941"/>
            <p14:sldId id="928"/>
            <p14:sldId id="920"/>
            <p14:sldId id="976"/>
            <p14:sldId id="973"/>
            <p14:sldId id="975"/>
            <p14:sldId id="9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 Gehman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00000"/>
    <a:srgbClr val="0000CC"/>
    <a:srgbClr val="F8F8F8"/>
    <a:srgbClr val="F5D7F1"/>
    <a:srgbClr val="5F5F5F"/>
    <a:srgbClr val="DDDDDD"/>
    <a:srgbClr val="FBA3E8"/>
    <a:srgbClr val="333333"/>
    <a:srgbClr val="BDB1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9" autoAdjust="0"/>
    <p:restoredTop sz="90456" autoAdjust="0"/>
  </p:normalViewPr>
  <p:slideViewPr>
    <p:cSldViewPr>
      <p:cViewPr varScale="1">
        <p:scale>
          <a:sx n="63" d="100"/>
          <a:sy n="63" d="100"/>
        </p:scale>
        <p:origin x="1420" y="60"/>
      </p:cViewPr>
      <p:guideLst>
        <p:guide orient="horz" pos="576"/>
        <p:guide pos="3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-8748"/>
    </p:cViewPr>
  </p:sorterViewPr>
  <p:notesViewPr>
    <p:cSldViewPr>
      <p:cViewPr>
        <p:scale>
          <a:sx n="66" d="100"/>
          <a:sy n="66" d="100"/>
        </p:scale>
        <p:origin x="-2634" y="222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54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25E55AEC-8BF8-47AA-8A9C-C1CC4D3D3CD7}" type="datetimeFigureOut">
              <a:rPr lang="en-US"/>
              <a:pPr>
                <a:defRPr/>
              </a:pPr>
              <a:t>10/13/2021</a:t>
            </a:fld>
            <a:endParaRPr lang="en-US"/>
          </a:p>
        </p:txBody>
      </p:sp>
      <p:sp>
        <p:nvSpPr>
          <p:cNvPr id="220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54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E75F24CD-7E4C-4840-9EE0-3BA263838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7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654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B38EBD9A-77E5-4352-9685-9DCF1AB5D0AE}" type="datetimeFigureOut">
              <a:rPr lang="en-US"/>
              <a:pPr>
                <a:defRPr/>
              </a:pPr>
              <a:t>10/13/2021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6" tIns="46568" rIns="93136" bIns="4656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654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4A7289C4-4137-4B30-96C9-7C06C82291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21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937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327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6412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5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5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47678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14403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89163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68828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8440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2691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858458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403885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427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4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0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57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10/13/2021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8737125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59570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2909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7807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118CC2-884A-4430-8B4F-9976F3C29C24}" type="datetimeFigureOut"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10/13/2021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823322-A425-42F9-B4E6-DE1BA6748FF3}" type="slidenum"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149604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47" r:id="rId2"/>
    <p:sldLayoutId id="2147484148" r:id="rId3"/>
    <p:sldLayoutId id="214748415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119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2" r:id="rId1"/>
    <p:sldLayoutId id="2147484153" r:id="rId2"/>
    <p:sldLayoutId id="2147484154" r:id="rId3"/>
    <p:sldLayoutId id="2147484155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On Becoming a Leader </a:t>
            </a:r>
            <a:b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</a:br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in Risk Management</a:t>
            </a:r>
            <a:endParaRPr lang="en-US" altLang="en-US" i="1" kern="0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228600" y="2105520"/>
            <a:ext cx="8610600" cy="2161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Lecture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</a:t>
            </a: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6.4: The Importance of Documenting Risk Management Activities</a:t>
            </a:r>
            <a:endParaRPr lang="en-US" altLang="en-US" sz="3200" b="1" dirty="0">
              <a:solidFill>
                <a:schemeClr val="tx2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114800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114613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b="0" kern="0" dirty="0" smtClean="0">
                <a:solidFill>
                  <a:srgbClr val="000000"/>
                </a:solidFill>
                <a:latin typeface="Arial"/>
              </a:rPr>
              <a:t>Explain 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the importance of documenting </a:t>
            </a:r>
            <a:r>
              <a:rPr lang="en-US" altLang="en-US" sz="2000" b="0" kern="0" dirty="0" smtClean="0">
                <a:solidFill>
                  <a:srgbClr val="000000"/>
                </a:solidFill>
                <a:latin typeface="Arial"/>
              </a:rPr>
              <a:t>i.e. generating records of, risk 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management activities. </a:t>
            </a:r>
            <a:endParaRPr lang="en-US" altLang="en-US" sz="2000" b="0" kern="0" dirty="0" smtClean="0">
              <a:solidFill>
                <a:srgbClr val="000000"/>
              </a:solidFill>
              <a:latin typeface="Arial"/>
            </a:endParaRPr>
          </a:p>
          <a:p>
            <a:pPr marL="360000" lvl="1" indent="-36000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  <a:p>
            <a:pPr marL="360000" lvl="1" indent="-36000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b="0" kern="0" dirty="0" smtClean="0">
                <a:solidFill>
                  <a:srgbClr val="000000"/>
                </a:solidFill>
                <a:latin typeface="Arial"/>
              </a:rPr>
              <a:t>Explain a number of different types of records that document those risk management activities. </a:t>
            </a:r>
            <a:endParaRPr kumimoji="0" lang="en-CA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5146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6.4: The Importance of Documenting Risk Management Activities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2938655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lvl="1" indent="-3600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b="0" kern="0" dirty="0" smtClean="0">
              <a:solidFill>
                <a:srgbClr val="000000"/>
              </a:solidFill>
              <a:latin typeface="Arial"/>
            </a:endParaRPr>
          </a:p>
          <a:p>
            <a:pPr marL="360000" lvl="1" indent="-3600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b="0" kern="0" dirty="0" smtClean="0">
                <a:solidFill>
                  <a:srgbClr val="000000"/>
                </a:solidFill>
                <a:latin typeface="Arial"/>
              </a:rPr>
              <a:t>“Due diligence” as defined by APEGA means</a:t>
            </a:r>
            <a:r>
              <a:rPr lang="en-US" altLang="en-US" b="0" kern="0" dirty="0">
                <a:solidFill>
                  <a:srgbClr val="000000"/>
                </a:solidFill>
                <a:latin typeface="Arial"/>
              </a:rPr>
              <a:t>: </a:t>
            </a:r>
            <a:r>
              <a:rPr lang="en-US" altLang="en-US" b="0" kern="0" dirty="0" smtClean="0">
                <a:solidFill>
                  <a:srgbClr val="000000"/>
                </a:solidFill>
                <a:latin typeface="Arial"/>
              </a:rPr>
              <a:t/>
            </a:r>
            <a:br>
              <a:rPr lang="en-US" altLang="en-US" b="0" kern="0" dirty="0" smtClean="0">
                <a:solidFill>
                  <a:srgbClr val="000000"/>
                </a:solidFill>
                <a:latin typeface="Arial"/>
              </a:rPr>
            </a:br>
            <a:r>
              <a:rPr lang="en-US" altLang="en-US" b="0" i="1" kern="0" dirty="0" smtClean="0">
                <a:solidFill>
                  <a:srgbClr val="000000"/>
                </a:solidFill>
                <a:latin typeface="Arial"/>
              </a:rPr>
              <a:t>“The </a:t>
            </a:r>
            <a:r>
              <a:rPr lang="en-US" altLang="en-US" b="0" i="1" kern="0" dirty="0">
                <a:solidFill>
                  <a:srgbClr val="000000"/>
                </a:solidFill>
                <a:latin typeface="Arial"/>
              </a:rPr>
              <a:t>care that a reasonable person exercises under the circumstances </a:t>
            </a:r>
            <a:r>
              <a:rPr lang="en-US" altLang="en-US" b="0" i="1" kern="0" dirty="0" smtClean="0">
                <a:solidFill>
                  <a:srgbClr val="000000"/>
                </a:solidFill>
                <a:latin typeface="Arial"/>
              </a:rPr>
              <a:t/>
            </a:r>
            <a:br>
              <a:rPr lang="en-US" altLang="en-US" b="0" i="1" kern="0" dirty="0" smtClean="0">
                <a:solidFill>
                  <a:srgbClr val="000000"/>
                </a:solidFill>
                <a:latin typeface="Arial"/>
              </a:rPr>
            </a:br>
            <a:r>
              <a:rPr lang="en-US" altLang="en-US" b="0" i="1" kern="0" dirty="0" smtClean="0">
                <a:solidFill>
                  <a:srgbClr val="000000"/>
                </a:solidFill>
                <a:latin typeface="Arial"/>
              </a:rPr>
              <a:t>to </a:t>
            </a:r>
            <a:r>
              <a:rPr lang="en-US" altLang="en-US" b="0" i="1" kern="0" dirty="0">
                <a:solidFill>
                  <a:srgbClr val="000000"/>
                </a:solidFill>
                <a:latin typeface="Arial"/>
              </a:rPr>
              <a:t>avoid harm </a:t>
            </a:r>
            <a:r>
              <a:rPr lang="en-US" altLang="en-US" b="0" i="1" kern="0" dirty="0" smtClean="0">
                <a:solidFill>
                  <a:srgbClr val="000000"/>
                </a:solidFill>
                <a:latin typeface="Arial"/>
              </a:rPr>
              <a:t>to other </a:t>
            </a:r>
            <a:r>
              <a:rPr lang="en-US" altLang="en-US" b="0" i="1" kern="0" dirty="0">
                <a:solidFill>
                  <a:srgbClr val="000000"/>
                </a:solidFill>
                <a:latin typeface="Arial"/>
              </a:rPr>
              <a:t>persons or their property</a:t>
            </a:r>
            <a:r>
              <a:rPr lang="en-US" altLang="en-US" b="0" i="1" kern="0" dirty="0" smtClean="0">
                <a:solidFill>
                  <a:srgbClr val="000000"/>
                </a:solidFill>
                <a:latin typeface="Arial"/>
              </a:rPr>
              <a:t>.”</a:t>
            </a:r>
            <a:endParaRPr lang="en-US" altLang="en-US" b="0" i="1" kern="0" dirty="0">
              <a:solidFill>
                <a:srgbClr val="000000"/>
              </a:solidFill>
              <a:latin typeface="Arial"/>
            </a:endParaRPr>
          </a:p>
          <a:p>
            <a:pPr marL="360000" lvl="1" indent="-3600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b="0" kern="0" dirty="0">
              <a:solidFill>
                <a:srgbClr val="000000"/>
              </a:solidFill>
              <a:latin typeface="Arial"/>
            </a:endParaRPr>
          </a:p>
          <a:p>
            <a:pPr marL="360000" lvl="1" indent="-3600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b="0" kern="0" dirty="0" smtClean="0">
                <a:solidFill>
                  <a:srgbClr val="000000"/>
                </a:solidFill>
                <a:latin typeface="Arial"/>
              </a:rPr>
              <a:t>What </a:t>
            </a:r>
            <a:r>
              <a:rPr lang="en-US" altLang="en-US" b="0" kern="0" dirty="0">
                <a:solidFill>
                  <a:srgbClr val="000000"/>
                </a:solidFill>
                <a:latin typeface="Arial"/>
              </a:rPr>
              <a:t>is really meant </a:t>
            </a:r>
            <a:r>
              <a:rPr lang="en-US" altLang="en-US" b="0" kern="0" dirty="0" smtClean="0">
                <a:solidFill>
                  <a:srgbClr val="000000"/>
                </a:solidFill>
                <a:latin typeface="Arial"/>
              </a:rPr>
              <a:t>by </a:t>
            </a:r>
            <a:r>
              <a:rPr lang="en-US" altLang="en-US" b="0" kern="0" dirty="0">
                <a:solidFill>
                  <a:srgbClr val="000000"/>
                </a:solidFill>
                <a:latin typeface="Arial"/>
              </a:rPr>
              <a:t>this </a:t>
            </a:r>
            <a:r>
              <a:rPr lang="en-US" altLang="en-US" b="0" kern="0" dirty="0" smtClean="0">
                <a:solidFill>
                  <a:srgbClr val="000000"/>
                </a:solidFill>
                <a:latin typeface="Arial"/>
              </a:rPr>
              <a:t>term, “due diligence” </a:t>
            </a:r>
            <a:r>
              <a:rPr lang="en-US" altLang="en-US" b="0" kern="0" dirty="0">
                <a:solidFill>
                  <a:srgbClr val="000000"/>
                </a:solidFill>
                <a:latin typeface="Arial"/>
              </a:rPr>
              <a:t>in industry </a:t>
            </a:r>
            <a:r>
              <a:rPr lang="en-US" altLang="en-US" b="0" kern="0" dirty="0" smtClean="0">
                <a:solidFill>
                  <a:srgbClr val="000000"/>
                </a:solidFill>
                <a:latin typeface="Arial"/>
              </a:rPr>
              <a:t>is</a:t>
            </a:r>
            <a:r>
              <a:rPr lang="en-US" altLang="en-US" b="0" kern="0" dirty="0" smtClean="0">
                <a:solidFill>
                  <a:srgbClr val="000000"/>
                </a:solidFill>
                <a:latin typeface="Arial"/>
              </a:rPr>
              <a:t>:</a:t>
            </a:r>
          </a:p>
          <a:p>
            <a:pPr marL="360000" lvl="1" indent="-3600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b="0" kern="0" dirty="0" smtClean="0">
              <a:solidFill>
                <a:srgbClr val="000000"/>
              </a:solidFill>
              <a:latin typeface="Arial"/>
            </a:endParaRPr>
          </a:p>
          <a:p>
            <a:pPr marL="720000" lvl="1" indent="-3600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b="0" u="sng" kern="0" dirty="0" smtClean="0">
                <a:solidFill>
                  <a:srgbClr val="000000"/>
                </a:solidFill>
                <a:latin typeface="Arial"/>
              </a:rPr>
              <a:t>Prior</a:t>
            </a:r>
            <a:r>
              <a:rPr lang="en-US" altLang="en-US" b="0" kern="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en-US" b="0" kern="0" dirty="0" smtClean="0">
                <a:solidFill>
                  <a:srgbClr val="000000"/>
                </a:solidFill>
                <a:latin typeface="Arial"/>
              </a:rPr>
              <a:t>to a decision: </a:t>
            </a:r>
            <a:r>
              <a:rPr lang="en-US" altLang="en-US" b="0" u="sng" kern="0" dirty="0" smtClean="0">
                <a:solidFill>
                  <a:srgbClr val="000000"/>
                </a:solidFill>
                <a:latin typeface="Arial"/>
              </a:rPr>
              <a:t>the </a:t>
            </a:r>
            <a:r>
              <a:rPr lang="en-US" altLang="en-US" b="0" u="sng" kern="0" dirty="0">
                <a:solidFill>
                  <a:srgbClr val="000000"/>
                </a:solidFill>
                <a:latin typeface="Arial"/>
              </a:rPr>
              <a:t>application</a:t>
            </a:r>
            <a:r>
              <a:rPr lang="en-US" altLang="en-US" b="0" kern="0" dirty="0">
                <a:solidFill>
                  <a:srgbClr val="000000"/>
                </a:solidFill>
                <a:latin typeface="Arial"/>
              </a:rPr>
              <a:t> of risk </a:t>
            </a:r>
            <a:r>
              <a:rPr lang="en-US" altLang="en-US" b="0" kern="0" dirty="0" smtClean="0">
                <a:solidFill>
                  <a:srgbClr val="000000"/>
                </a:solidFill>
                <a:latin typeface="Arial"/>
              </a:rPr>
              <a:t>management to determine the most effective action to take to eliminate, mitigate, or control risks in order to avoid harm to persons, property, or the environment.</a:t>
            </a:r>
          </a:p>
          <a:p>
            <a:pPr marL="720000" lvl="1" indent="-3600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b="0" kern="0" dirty="0" smtClean="0">
              <a:solidFill>
                <a:srgbClr val="000000"/>
              </a:solidFill>
              <a:latin typeface="Arial"/>
            </a:endParaRPr>
          </a:p>
          <a:p>
            <a:pPr marL="720000" lvl="1" indent="-3600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b="0" u="sng" kern="0" dirty="0" smtClean="0">
                <a:solidFill>
                  <a:srgbClr val="000000"/>
                </a:solidFill>
                <a:latin typeface="Arial"/>
              </a:rPr>
              <a:t>After</a:t>
            </a:r>
            <a:r>
              <a:rPr lang="en-US" altLang="en-US" b="0" kern="0" dirty="0" smtClean="0">
                <a:solidFill>
                  <a:srgbClr val="000000"/>
                </a:solidFill>
                <a:latin typeface="Arial"/>
              </a:rPr>
              <a:t> implementation: </a:t>
            </a:r>
            <a:r>
              <a:rPr lang="en-US" altLang="en-US" b="0" u="sng" kern="0" dirty="0" smtClean="0">
                <a:solidFill>
                  <a:srgbClr val="000000"/>
                </a:solidFill>
                <a:latin typeface="Arial"/>
              </a:rPr>
              <a:t>the </a:t>
            </a:r>
            <a:r>
              <a:rPr lang="en-US" altLang="en-US" b="0" u="sng" kern="0" dirty="0">
                <a:solidFill>
                  <a:srgbClr val="000000"/>
                </a:solidFill>
                <a:latin typeface="Arial"/>
              </a:rPr>
              <a:t>ability to demonstrate</a:t>
            </a:r>
            <a:r>
              <a:rPr lang="en-US" altLang="en-US" b="0" kern="0" dirty="0">
                <a:solidFill>
                  <a:srgbClr val="000000"/>
                </a:solidFill>
                <a:latin typeface="Arial"/>
              </a:rPr>
              <a:t> that </a:t>
            </a:r>
            <a:r>
              <a:rPr lang="en-US" altLang="en-US" b="0" kern="0" dirty="0" smtClean="0">
                <a:solidFill>
                  <a:srgbClr val="000000"/>
                </a:solidFill>
                <a:latin typeface="Arial"/>
              </a:rPr>
              <a:t>the implementation was believed to be </a:t>
            </a:r>
            <a:r>
              <a:rPr lang="en-US" altLang="en-US" b="0" kern="0" dirty="0">
                <a:solidFill>
                  <a:srgbClr val="000000"/>
                </a:solidFill>
                <a:latin typeface="Arial"/>
              </a:rPr>
              <a:t>effective</a:t>
            </a:r>
            <a:r>
              <a:rPr lang="en-US" altLang="en-US" b="0" kern="0" dirty="0" smtClean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360000" lvl="1" indent="-3600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US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  <a:p>
            <a:pPr marL="360000" lvl="1" indent="-3600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b="0" kern="0" dirty="0">
                <a:solidFill>
                  <a:srgbClr val="000000"/>
                </a:solidFill>
                <a:latin typeface="Arial"/>
              </a:rPr>
              <a:t>Risk management activities are implemented with good intentions but… </a:t>
            </a:r>
            <a:br>
              <a:rPr lang="en-US" altLang="en-US" b="0" kern="0" dirty="0">
                <a:solidFill>
                  <a:srgbClr val="000000"/>
                </a:solidFill>
                <a:latin typeface="Arial"/>
              </a:rPr>
            </a:br>
            <a:r>
              <a:rPr lang="en-US" altLang="en-US" b="0" kern="0" dirty="0">
                <a:solidFill>
                  <a:srgbClr val="000000"/>
                </a:solidFill>
                <a:latin typeface="Arial"/>
              </a:rPr>
              <a:t>loss incidents can and do happen!</a:t>
            </a:r>
          </a:p>
          <a:p>
            <a:pPr marL="360000" lvl="1" indent="-3600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b="0" kern="0" dirty="0" smtClean="0">
              <a:solidFill>
                <a:srgbClr val="000000"/>
              </a:solidFill>
              <a:latin typeface="Arial"/>
            </a:endParaRPr>
          </a:p>
          <a:p>
            <a:pPr marL="360000" lvl="1" indent="-3600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b="0" kern="0" dirty="0" smtClean="0">
                <a:solidFill>
                  <a:srgbClr val="000000"/>
                </a:solidFill>
                <a:latin typeface="Arial"/>
              </a:rPr>
              <a:t>This topic </a:t>
            </a:r>
            <a:r>
              <a:rPr lang="en-US" altLang="en-US" b="0" kern="0" dirty="0">
                <a:solidFill>
                  <a:srgbClr val="000000"/>
                </a:solidFill>
                <a:latin typeface="Arial"/>
              </a:rPr>
              <a:t>is intended to inform you</a:t>
            </a:r>
            <a:r>
              <a:rPr lang="en-US" altLang="en-US" b="0" kern="0" dirty="0" smtClean="0">
                <a:solidFill>
                  <a:srgbClr val="000000"/>
                </a:solidFill>
                <a:latin typeface="Arial"/>
              </a:rPr>
              <a:t>:</a:t>
            </a:r>
          </a:p>
          <a:p>
            <a:pPr marL="720000" lvl="1" indent="-3600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100000"/>
              <a:buFont typeface="+mj-lt"/>
              <a:buAutoNum type="alphaLcParenR"/>
              <a:defRPr/>
            </a:pPr>
            <a:r>
              <a:rPr lang="en-US" altLang="en-US" b="0" kern="0" dirty="0" smtClean="0">
                <a:solidFill>
                  <a:srgbClr val="000000"/>
                </a:solidFill>
                <a:latin typeface="Arial"/>
              </a:rPr>
              <a:t>your </a:t>
            </a:r>
            <a:r>
              <a:rPr lang="en-US" altLang="en-US" b="0" kern="0" dirty="0">
                <a:solidFill>
                  <a:srgbClr val="000000"/>
                </a:solidFill>
                <a:latin typeface="Arial"/>
              </a:rPr>
              <a:t>decisions </a:t>
            </a:r>
            <a:r>
              <a:rPr lang="en-US" altLang="en-US" b="0" kern="0" dirty="0" smtClean="0">
                <a:solidFill>
                  <a:srgbClr val="000000"/>
                </a:solidFill>
                <a:latin typeface="Arial"/>
              </a:rPr>
              <a:t>may </a:t>
            </a:r>
            <a:r>
              <a:rPr lang="en-US" altLang="en-US" b="0" kern="0" dirty="0">
                <a:solidFill>
                  <a:srgbClr val="000000"/>
                </a:solidFill>
                <a:latin typeface="Arial"/>
              </a:rPr>
              <a:t>be questioned, even scrutinized, </a:t>
            </a:r>
            <a:r>
              <a:rPr lang="en-US" altLang="en-US" b="0" kern="0" dirty="0" smtClean="0">
                <a:solidFill>
                  <a:srgbClr val="000000"/>
                </a:solidFill>
                <a:latin typeface="Arial"/>
              </a:rPr>
              <a:t>post loss incident, and</a:t>
            </a:r>
          </a:p>
          <a:p>
            <a:pPr marL="720000" lvl="1" indent="-3600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100000"/>
              <a:buFont typeface="+mj-lt"/>
              <a:buAutoNum type="alphaLcParenR"/>
              <a:defRPr/>
            </a:pPr>
            <a:r>
              <a:rPr lang="en-US" altLang="en-US" b="0" kern="0" dirty="0" smtClean="0">
                <a:solidFill>
                  <a:srgbClr val="000000"/>
                </a:solidFill>
                <a:latin typeface="Arial"/>
              </a:rPr>
              <a:t>what </a:t>
            </a:r>
            <a:r>
              <a:rPr lang="en-US" altLang="en-US" b="0" kern="0" dirty="0">
                <a:solidFill>
                  <a:srgbClr val="000000"/>
                </a:solidFill>
                <a:latin typeface="Arial"/>
              </a:rPr>
              <a:t>to do before the loss incident happens.</a:t>
            </a:r>
            <a:endParaRPr kumimoji="0" lang="en-CA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  <a:defRPr/>
            </a:pPr>
            <a:r>
              <a:rPr lang="en-US" altLang="en-US" sz="2400" b="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industry, one may hear the term </a:t>
            </a:r>
            <a:r>
              <a:rPr lang="en-US" altLang="en-US" sz="2400" b="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“do </a:t>
            </a:r>
            <a:r>
              <a:rPr lang="en-US" altLang="en-US" sz="2400" b="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 due </a:t>
            </a:r>
            <a:r>
              <a:rPr lang="en-US" altLang="en-US" sz="2400" b="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diligence” </a:t>
            </a:r>
            <a:r>
              <a:rPr lang="en-US" altLang="en-US" sz="2400" b="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5146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6.4: The Importance of Documenting Risk Management Activities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345520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Consider this scenario:</a:t>
            </a:r>
            <a:endParaRPr kumimoji="0" lang="en-US" altLang="en-US" sz="200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42900" marR="0" lvl="1" indent="-3429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1" indent="-360000" defTabSz="9144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sz="2000" b="0" kern="0" dirty="0">
                <a:solidFill>
                  <a:schemeClr val="bg1"/>
                </a:solidFill>
                <a:latin typeface="Arial"/>
              </a:rPr>
              <a:t>A loss incident happened – someone was injured or killed, or there was a release of a harmful substance that caused or may have caused harm to the environment – and the evidence is </a:t>
            </a:r>
            <a:r>
              <a:rPr lang="en-US" altLang="en-US" sz="2000" b="0" kern="0" dirty="0" smtClean="0">
                <a:solidFill>
                  <a:schemeClr val="bg1"/>
                </a:solidFill>
                <a:latin typeface="Arial"/>
              </a:rPr>
              <a:t>clear and </a:t>
            </a:r>
            <a:r>
              <a:rPr lang="en-US" altLang="en-US" sz="2000" b="0" kern="0" dirty="0">
                <a:solidFill>
                  <a:schemeClr val="bg1"/>
                </a:solidFill>
                <a:latin typeface="Arial"/>
              </a:rPr>
              <a:t>undeniable. </a:t>
            </a:r>
          </a:p>
          <a:p>
            <a:pPr marL="342900" marR="0" lvl="1" indent="-3429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</a:endParaRPr>
          </a:p>
          <a:p>
            <a:pPr marL="342900" marR="0" lvl="1" indent="-3429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sz="2000" b="0" kern="0" dirty="0" smtClean="0">
                <a:solidFill>
                  <a:schemeClr val="bg1"/>
                </a:solidFill>
                <a:latin typeface="Arial"/>
              </a:rPr>
              <a:t>A government agency </a:t>
            </a:r>
            <a:r>
              <a:rPr lang="en-US" altLang="en-US" sz="2000" kern="0" dirty="0" smtClean="0">
                <a:solidFill>
                  <a:schemeClr val="bg1"/>
                </a:solidFill>
                <a:latin typeface="Arial"/>
              </a:rPr>
              <a:t>investigates</a:t>
            </a:r>
            <a:r>
              <a:rPr lang="en-US" altLang="en-US" sz="2000" b="0" kern="0" dirty="0" smtClean="0">
                <a:solidFill>
                  <a:schemeClr val="bg1"/>
                </a:solidFill>
                <a:latin typeface="Arial"/>
              </a:rPr>
              <a:t>. </a:t>
            </a:r>
            <a:endParaRPr lang="en-US" altLang="en-US" sz="2000" b="0" kern="0" dirty="0">
              <a:solidFill>
                <a:schemeClr val="bg1"/>
              </a:solidFill>
              <a:latin typeface="Arial"/>
            </a:endParaRPr>
          </a:p>
          <a:p>
            <a:pPr marL="342900" marR="0" lvl="1" indent="-34290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</a:endParaRPr>
          </a:p>
          <a:p>
            <a:pPr marL="360000" lvl="1" indent="-36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b="0" kern="0" dirty="0" smtClean="0">
                <a:solidFill>
                  <a:schemeClr val="bg1"/>
                </a:solidFill>
                <a:latin typeface="Arial"/>
              </a:rPr>
              <a:t>Your organization (you) </a:t>
            </a:r>
            <a:r>
              <a:rPr lang="en-US" altLang="en-US" sz="2000" b="0" kern="0" dirty="0">
                <a:solidFill>
                  <a:schemeClr val="bg1"/>
                </a:solidFill>
                <a:latin typeface="Arial"/>
              </a:rPr>
              <a:t>intended to do the right </a:t>
            </a:r>
            <a:r>
              <a:rPr lang="en-US" altLang="en-US" sz="2000" b="0" kern="0" dirty="0" smtClean="0">
                <a:solidFill>
                  <a:schemeClr val="bg1"/>
                </a:solidFill>
                <a:latin typeface="Arial"/>
              </a:rPr>
              <a:t>thing:</a:t>
            </a:r>
            <a:endParaRPr lang="en-US" altLang="en-US" sz="2000" b="0" kern="0" dirty="0">
              <a:solidFill>
                <a:schemeClr val="bg1"/>
              </a:solidFill>
              <a:latin typeface="Arial"/>
            </a:endParaRPr>
          </a:p>
          <a:p>
            <a:pPr marL="720000" lvl="2" indent="-36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b="0" kern="0" dirty="0" smtClean="0">
                <a:solidFill>
                  <a:schemeClr val="bg1"/>
                </a:solidFill>
                <a:latin typeface="Arial"/>
              </a:rPr>
              <a:t>You made well-meaning decisions i.e. you did </a:t>
            </a:r>
            <a:r>
              <a:rPr lang="en-US" altLang="en-US" sz="2000" b="0" kern="0" dirty="0">
                <a:solidFill>
                  <a:schemeClr val="bg1"/>
                </a:solidFill>
                <a:latin typeface="Arial"/>
              </a:rPr>
              <a:t>not intend to do harm, and you believe you were not </a:t>
            </a:r>
            <a:r>
              <a:rPr lang="en-US" altLang="en-US" sz="2000" b="0" kern="0" dirty="0" smtClean="0">
                <a:solidFill>
                  <a:schemeClr val="bg1"/>
                </a:solidFill>
                <a:latin typeface="Arial"/>
              </a:rPr>
              <a:t>negligent.</a:t>
            </a:r>
            <a:endParaRPr lang="en-US" altLang="en-US" sz="2000" b="0" kern="0" dirty="0">
              <a:solidFill>
                <a:schemeClr val="bg1"/>
              </a:solidFill>
              <a:latin typeface="Arial"/>
            </a:endParaRPr>
          </a:p>
          <a:p>
            <a:pPr marL="720000" lvl="2" indent="-36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b="0" kern="0" dirty="0">
                <a:solidFill>
                  <a:schemeClr val="bg1"/>
                </a:solidFill>
                <a:latin typeface="Arial"/>
              </a:rPr>
              <a:t>You took appropriate action(s) under the circumstances (applied appropriate hazard &amp; risk control measures), </a:t>
            </a:r>
            <a:r>
              <a:rPr lang="en-US" altLang="en-US" sz="2000" b="0" kern="0" dirty="0" smtClean="0">
                <a:solidFill>
                  <a:schemeClr val="bg1"/>
                </a:solidFill>
                <a:latin typeface="Arial"/>
              </a:rPr>
              <a:t>yet </a:t>
            </a:r>
            <a:r>
              <a:rPr lang="en-US" altLang="en-US" sz="2000" b="0" kern="0" dirty="0">
                <a:solidFill>
                  <a:schemeClr val="bg1"/>
                </a:solidFill>
                <a:latin typeface="Arial"/>
              </a:rPr>
              <a:t>something went wrong that lead to the </a:t>
            </a:r>
            <a:r>
              <a:rPr lang="en-US" altLang="en-US" sz="2000" b="0" kern="0" dirty="0" smtClean="0">
                <a:solidFill>
                  <a:schemeClr val="bg1"/>
                </a:solidFill>
                <a:latin typeface="Arial"/>
              </a:rPr>
              <a:t>incident.</a:t>
            </a:r>
            <a:endParaRPr lang="en-US" altLang="en-US" sz="2000" b="0" kern="0" dirty="0">
              <a:solidFill>
                <a:schemeClr val="bg1"/>
              </a:solidFill>
              <a:latin typeface="Arial"/>
            </a:endParaRPr>
          </a:p>
          <a:p>
            <a:pPr marL="360000" lvl="1" indent="-36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sz="2000" b="0" kern="0" dirty="0" smtClean="0">
              <a:solidFill>
                <a:schemeClr val="bg1"/>
              </a:solidFill>
              <a:latin typeface="Arial"/>
            </a:endParaRPr>
          </a:p>
          <a:p>
            <a:pPr marL="360000" lvl="1" indent="-36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b="0" kern="0" dirty="0" smtClean="0">
                <a:solidFill>
                  <a:schemeClr val="bg1"/>
                </a:solidFill>
                <a:latin typeface="Arial"/>
              </a:rPr>
              <a:t>So</a:t>
            </a:r>
            <a:r>
              <a:rPr lang="en-US" altLang="en-US" sz="2000" b="0" kern="0" dirty="0">
                <a:solidFill>
                  <a:schemeClr val="bg1"/>
                </a:solidFill>
                <a:latin typeface="Arial"/>
              </a:rPr>
              <a:t>, how do you explain </a:t>
            </a:r>
            <a:r>
              <a:rPr lang="en-US" altLang="en-US" sz="2000" b="0" kern="0" dirty="0" smtClean="0">
                <a:solidFill>
                  <a:schemeClr val="bg1"/>
                </a:solidFill>
                <a:latin typeface="Arial"/>
              </a:rPr>
              <a:t>and </a:t>
            </a:r>
            <a:r>
              <a:rPr lang="en-US" altLang="en-US" sz="2000" b="0" kern="0" dirty="0">
                <a:solidFill>
                  <a:schemeClr val="bg1"/>
                </a:solidFill>
                <a:latin typeface="Arial"/>
              </a:rPr>
              <a:t>defend that your action(s) or inaction(s) were neither </a:t>
            </a:r>
            <a:r>
              <a:rPr lang="en-US" altLang="en-US" sz="2000" b="0" kern="0" dirty="0" smtClean="0">
                <a:solidFill>
                  <a:schemeClr val="bg1"/>
                </a:solidFill>
                <a:latin typeface="Arial"/>
              </a:rPr>
              <a:t>intentional nor negligent?</a:t>
            </a:r>
            <a:endParaRPr lang="en-US" altLang="en-US" sz="2000" b="0" kern="0" dirty="0">
              <a:solidFill>
                <a:schemeClr val="bg1"/>
              </a:solidFill>
              <a:latin typeface="Arial"/>
            </a:endParaRPr>
          </a:p>
          <a:p>
            <a:pPr marL="360000" lvl="1" indent="-36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sz="2000" b="0" kern="0" dirty="0">
              <a:solidFill>
                <a:schemeClr val="bg1"/>
              </a:solidFill>
              <a:latin typeface="Arial"/>
            </a:endParaRPr>
          </a:p>
          <a:p>
            <a:pPr marL="360000" lvl="1" indent="-360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b="0" kern="0" dirty="0">
                <a:solidFill>
                  <a:schemeClr val="bg1"/>
                </a:solidFill>
                <a:latin typeface="Arial"/>
              </a:rPr>
              <a:t>And here is where </a:t>
            </a:r>
            <a:r>
              <a:rPr lang="en-US" altLang="en-US" sz="2000" b="0" kern="0" dirty="0" smtClean="0">
                <a:solidFill>
                  <a:schemeClr val="bg1"/>
                </a:solidFill>
                <a:latin typeface="Arial"/>
              </a:rPr>
              <a:t>the </a:t>
            </a:r>
            <a:r>
              <a:rPr lang="en-US" altLang="en-US" sz="2000" u="sng" kern="0" dirty="0" smtClean="0">
                <a:solidFill>
                  <a:schemeClr val="bg1"/>
                </a:solidFill>
                <a:latin typeface="Arial"/>
              </a:rPr>
              <a:t>importance of documentation</a:t>
            </a:r>
            <a:r>
              <a:rPr lang="en-US" altLang="en-US" sz="2000" b="0" kern="0" dirty="0" smtClean="0">
                <a:solidFill>
                  <a:schemeClr val="bg1"/>
                </a:solidFill>
                <a:latin typeface="Arial"/>
              </a:rPr>
              <a:t> </a:t>
            </a:r>
            <a:r>
              <a:rPr lang="en-US" altLang="en-US" sz="2000" b="0" kern="0" dirty="0">
                <a:solidFill>
                  <a:schemeClr val="bg1"/>
                </a:solidFill>
                <a:latin typeface="Arial"/>
              </a:rPr>
              <a:t>comes into play.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xtLst/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Aftermath of What Happens After a Loss Incident: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5146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6.4: The Importance of Documenting Risk Management Activities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2306962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xtLst/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 Applying Risk Management</a:t>
            </a:r>
            <a:endParaRPr lang="en-US" altLang="en-US" sz="24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>
            <a:noAutofit/>
          </a:bodyPr>
          <a:lstStyle/>
          <a:p>
            <a:pPr marL="342900" lvl="0" indent="-342900" eaLnBrk="0" hangingPunct="0">
              <a:buFont typeface="Wingdings" panose="05000000000000000000" pitchFamily="2" charset="2"/>
              <a:buChar char="Ø"/>
              <a:defRPr/>
            </a:pP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Consider 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daily activity of an </a:t>
            </a:r>
            <a:r>
              <a:rPr lang="en-US" altLang="en-US" sz="2000" b="0" i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acceptable truck-loading operation 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US" altLang="en-US" sz="2000" b="0" i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Rate Propane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 company owned by The ABC Conglomerate in the same business as Sunrise Propane, but with a </a:t>
            </a:r>
            <a:r>
              <a:rPr lang="en-US" altLang="en-US" sz="2000" b="0" i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best-in-class risk management program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342900" lvl="0" indent="-342900" eaLnBrk="0" hangingPunct="0">
              <a:buFont typeface="Wingdings" panose="05000000000000000000" pitchFamily="2" charset="2"/>
              <a:buChar char="Ø"/>
              <a:defRPr/>
            </a:pPr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eaLnBrk="0" hangingPunct="0">
              <a:buFont typeface="Wingdings" panose="05000000000000000000" pitchFamily="2" charset="2"/>
              <a:buChar char="Ø"/>
              <a:defRPr/>
            </a:pP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Think about </a:t>
            </a:r>
            <a:r>
              <a:rPr lang="en-US" altLang="en-US" sz="2000" b="0" i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detailed activity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relevant to the above daily activity, </a:t>
            </a:r>
            <a:r>
              <a:rPr lang="en-US" altLang="en-US" sz="2000" b="0" i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hazard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that detailed activity, and </a:t>
            </a:r>
            <a:r>
              <a:rPr lang="en-US" altLang="en-US" sz="2000" b="0" i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control measure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used by </a:t>
            </a:r>
            <a:r>
              <a:rPr lang="en-US" altLang="en-US" sz="2000" b="0" i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Rate Propane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maintain the risk of the </a:t>
            </a:r>
            <a:r>
              <a:rPr lang="en-US" altLang="en-US" sz="2000" i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Truck Loading Operation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at an acceptable level. A simple </a:t>
            </a:r>
            <a:r>
              <a:rPr lang="en-US" altLang="en-US" sz="2000" i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SQRA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a </a:t>
            </a:r>
            <a:r>
              <a:rPr lang="en-US" altLang="en-US" sz="2000" i="1" u="sng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What-If</a:t>
            </a: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can 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suffice</a:t>
            </a: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lvl="0" indent="-342900" eaLnBrk="0" hangingPunct="0">
              <a:buFont typeface="Wingdings" panose="05000000000000000000" pitchFamily="2" charset="2"/>
              <a:buChar char="Ø"/>
              <a:defRPr/>
            </a:pPr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hangingPunct="0">
              <a:defRPr/>
            </a:pPr>
            <a:r>
              <a:rPr lang="en-US" altLang="en-US" sz="20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Title: Truck-loading Operation at First Rate Propane</a:t>
            </a:r>
            <a:r>
              <a:rPr lang="en-US" altLang="en-US" sz="200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888434"/>
              </p:ext>
            </p:extLst>
          </p:nvPr>
        </p:nvGraphicFramePr>
        <p:xfrm>
          <a:off x="228600" y="4382132"/>
          <a:ext cx="8508600" cy="875668"/>
        </p:xfrm>
        <a:graphic>
          <a:graphicData uri="http://schemas.openxmlformats.org/drawingml/2006/table">
            <a:tbl>
              <a:tblPr firstRow="1" bandRow="1"/>
              <a:tblGrid>
                <a:gridCol w="2836200">
                  <a:extLst>
                    <a:ext uri="{9D8B030D-6E8A-4147-A177-3AD203B41FA5}">
                      <a16:colId xmlns:a16="http://schemas.microsoft.com/office/drawing/2014/main" val="3443704447"/>
                    </a:ext>
                  </a:extLst>
                </a:gridCol>
                <a:gridCol w="2836200">
                  <a:extLst>
                    <a:ext uri="{9D8B030D-6E8A-4147-A177-3AD203B41FA5}">
                      <a16:colId xmlns:a16="http://schemas.microsoft.com/office/drawing/2014/main" val="3518489996"/>
                    </a:ext>
                  </a:extLst>
                </a:gridCol>
                <a:gridCol w="2836200">
                  <a:extLst>
                    <a:ext uri="{9D8B030D-6E8A-4147-A177-3AD203B41FA5}">
                      <a16:colId xmlns:a16="http://schemas.microsoft.com/office/drawing/2014/main" val="73636416"/>
                    </a:ext>
                  </a:extLst>
                </a:gridCol>
              </a:tblGrid>
              <a:tr h="43783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 smtClean="0"/>
                        <a:t>Detailed</a:t>
                      </a:r>
                      <a:r>
                        <a:rPr lang="en-US" baseline="0" dirty="0" smtClean="0"/>
                        <a:t> Activity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 smtClean="0"/>
                        <a:t>Hazard or What-If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 smtClean="0"/>
                        <a:t>Control Measure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54743"/>
                  </a:ext>
                </a:extLst>
              </a:tr>
              <a:tr h="43783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593792"/>
                  </a:ext>
                </a:extLst>
              </a:tr>
            </a:tbl>
          </a:graphicData>
        </a:graphic>
      </p:graphicFrame>
      <p:sp>
        <p:nvSpPr>
          <p:cNvPr id="10" name="Google Shape;125;p2"/>
          <p:cNvSpPr/>
          <p:nvPr/>
        </p:nvSpPr>
        <p:spPr>
          <a:xfrm>
            <a:off x="25146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6.4: The Importance of Documenting Risk Management Activities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838097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xtLst/>
        </p:spPr>
        <p:txBody>
          <a:bodyPr wrap="square" anchor="ctr" anchorCtr="0">
            <a:no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 Documenting the Application of </a:t>
            </a: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</a:t>
            </a: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</a:t>
            </a:r>
            <a:endParaRPr lang="en-US" altLang="en-US" sz="24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en-US" sz="2000" i="1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Job Title: Truck-loading Operation at First Rate Propane</a:t>
            </a:r>
            <a:r>
              <a:rPr kumimoji="0" lang="en-US" altLang="en-US" sz="2000" i="1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60000" lvl="0" indent="-360000" eaLnBrk="0" hangingPunct="0">
              <a:buFont typeface="Wingdings" panose="05000000000000000000" pitchFamily="2" charset="2"/>
              <a:buChar char="Ø"/>
              <a:defRPr/>
            </a:pP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control measures have been implemented, what kinds of records or documents can </a:t>
            </a: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produced 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demonstrate that these control measures were, in fact, carried out and completed? </a:t>
            </a:r>
            <a:endParaRPr lang="en-US" altLang="en-US" sz="2000" b="0" i="1" dirty="0" smtClea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lvl="0" indent="-360000" eaLnBrk="0" hangingPunct="0">
              <a:buFont typeface="Wingdings" panose="05000000000000000000" pitchFamily="2" charset="2"/>
              <a:buChar char="Ø"/>
              <a:defRPr/>
            </a:pP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one and consider. For example, how can one demonstrate that:</a:t>
            </a:r>
          </a:p>
          <a:p>
            <a:pPr marL="720000" lvl="0" indent="-360000" eaLnBrk="0" hangingPunct="0">
              <a:buFont typeface="Wingdings" panose="05000000000000000000" pitchFamily="2" charset="2"/>
              <a:buChar char="Ø"/>
              <a:defRPr/>
            </a:pP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Workers were not smoking in the area? </a:t>
            </a:r>
          </a:p>
          <a:p>
            <a:pPr marL="720000" lvl="0" indent="-360000" eaLnBrk="0" hangingPunct="0">
              <a:buFont typeface="Wingdings" panose="05000000000000000000" pitchFamily="2" charset="2"/>
              <a:buChar char="Ø"/>
              <a:defRPr/>
            </a:pP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Trained worker used an approved JSA and completed the checklist?</a:t>
            </a:r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897460"/>
              </p:ext>
            </p:extLst>
          </p:nvPr>
        </p:nvGraphicFramePr>
        <p:xfrm>
          <a:off x="304800" y="1371600"/>
          <a:ext cx="8382000" cy="2620264"/>
        </p:xfrm>
        <a:graphic>
          <a:graphicData uri="http://schemas.openxmlformats.org/drawingml/2006/table">
            <a:tbl>
              <a:tblPr firstRow="1" bandRow="1"/>
              <a:tblGrid>
                <a:gridCol w="2751827">
                  <a:extLst>
                    <a:ext uri="{9D8B030D-6E8A-4147-A177-3AD203B41FA5}">
                      <a16:colId xmlns:a16="http://schemas.microsoft.com/office/drawing/2014/main" val="3443704447"/>
                    </a:ext>
                  </a:extLst>
                </a:gridCol>
                <a:gridCol w="2214113">
                  <a:extLst>
                    <a:ext uri="{9D8B030D-6E8A-4147-A177-3AD203B41FA5}">
                      <a16:colId xmlns:a16="http://schemas.microsoft.com/office/drawing/2014/main" val="3518489996"/>
                    </a:ext>
                  </a:extLst>
                </a:gridCol>
                <a:gridCol w="3416060">
                  <a:extLst>
                    <a:ext uri="{9D8B030D-6E8A-4147-A177-3AD203B41FA5}">
                      <a16:colId xmlns:a16="http://schemas.microsoft.com/office/drawing/2014/main" val="73636416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b="1" dirty="0" smtClean="0"/>
                        <a:t>Detailed</a:t>
                      </a:r>
                      <a:r>
                        <a:rPr lang="en-US" b="1" baseline="0" dirty="0" smtClean="0"/>
                        <a:t> Activity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b="1" dirty="0" smtClean="0"/>
                        <a:t>Hazard or What-If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b="1" dirty="0" smtClean="0"/>
                        <a:t>Control Measure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5474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b="0" dirty="0" smtClean="0"/>
                        <a:t>Secure area</a:t>
                      </a:r>
                      <a:r>
                        <a:rPr lang="en-US" b="0" baseline="0" dirty="0" smtClean="0"/>
                        <a:t> of ignition sources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b="0" dirty="0" smtClean="0"/>
                        <a:t>Ignites</a:t>
                      </a:r>
                      <a:r>
                        <a:rPr lang="en-US" b="0" baseline="0" dirty="0" smtClean="0"/>
                        <a:t> propane if there is a leak. 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b="0" dirty="0" smtClean="0"/>
                        <a:t>Shut off truck.</a:t>
                      </a:r>
                    </a:p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b="0" dirty="0" smtClean="0"/>
                        <a:t>Ensure</a:t>
                      </a:r>
                      <a:r>
                        <a:rPr lang="en-US" b="0" baseline="0" dirty="0" smtClean="0"/>
                        <a:t> no smoking.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59379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b="0" dirty="0" smtClean="0"/>
                        <a:t>Connect hose from storage tank to truck tank.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b="0" dirty="0" smtClean="0"/>
                        <a:t>Improper connection.</a:t>
                      </a:r>
                    </a:p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b="0" dirty="0" smtClean="0"/>
                        <a:t>Truck</a:t>
                      </a:r>
                      <a:r>
                        <a:rPr lang="en-US" b="0" baseline="0" dirty="0" smtClean="0"/>
                        <a:t> rolls away.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b="0" dirty="0" smtClean="0"/>
                        <a:t>Trained</a:t>
                      </a:r>
                      <a:r>
                        <a:rPr lang="en-US" b="0" baseline="0" dirty="0" smtClean="0"/>
                        <a:t> worker uses approved JSA &amp; completes the check list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388345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b="0" dirty="0" smtClean="0"/>
                        <a:t>Pressurize</a:t>
                      </a:r>
                      <a:r>
                        <a:rPr lang="en-US" b="0" baseline="0" dirty="0" smtClean="0"/>
                        <a:t> hose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b="0" dirty="0" smtClean="0"/>
                        <a:t>Hose ruptures.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b="0" dirty="0" smtClean="0"/>
                        <a:t>Hoses rated for service.</a:t>
                      </a:r>
                    </a:p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b="0" dirty="0" smtClean="0"/>
                        <a:t>Hoses periodically</a:t>
                      </a:r>
                      <a:r>
                        <a:rPr lang="en-US" b="0" baseline="0" dirty="0" smtClean="0"/>
                        <a:t> inspected. Damaged hoses discarded.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961582"/>
                  </a:ext>
                </a:extLst>
              </a:tr>
            </a:tbl>
          </a:graphicData>
        </a:graphic>
      </p:graphicFrame>
      <p:sp>
        <p:nvSpPr>
          <p:cNvPr id="16" name="Google Shape;125;p2"/>
          <p:cNvSpPr/>
          <p:nvPr/>
        </p:nvSpPr>
        <p:spPr>
          <a:xfrm>
            <a:off x="25146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6.4: The Importance of Documenting Risk Management Activities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9168417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xtLst/>
        </p:spPr>
        <p:txBody>
          <a:bodyPr wrap="square" anchor="ctr" anchorCtr="0">
            <a:no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 Documenting the Application of </a:t>
            </a: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</a:t>
            </a: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</a:t>
            </a:r>
            <a:endParaRPr lang="en-US" altLang="en-US" sz="24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en-US" sz="2000" i="1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Job Title: Truck-loading Operation at First Rate Propane</a:t>
            </a:r>
            <a:r>
              <a:rPr kumimoji="0" lang="en-US" altLang="en-US" sz="2000" i="1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lvl="0" indent="-342900" eaLnBrk="0" hangingPunct="0">
              <a:buFont typeface="Wingdings" panose="05000000000000000000" pitchFamily="2" charset="2"/>
              <a:buChar char="Ø"/>
              <a:defRPr/>
            </a:pPr>
            <a:r>
              <a:rPr lang="en-US" altLang="en-US" sz="2000" b="0" i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 of </a:t>
            </a:r>
            <a:r>
              <a:rPr lang="en-US" altLang="en-US" sz="2000" b="0" i="1" u="sng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records for “Trained worker uses …” </a:t>
            </a: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SQRA, FLRA, JSA, 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Procedure, Check-list 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signed and dated by the </a:t>
            </a: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worker; 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certification / qualification of the </a:t>
            </a: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worker; 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audits / inspections of work-in-progress and checks on the </a:t>
            </a: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records of completed administrative controls. </a:t>
            </a:r>
            <a:endParaRPr kumimoji="0" lang="en-US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713755"/>
              </p:ext>
            </p:extLst>
          </p:nvPr>
        </p:nvGraphicFramePr>
        <p:xfrm>
          <a:off x="304800" y="1371600"/>
          <a:ext cx="8382000" cy="2620264"/>
        </p:xfrm>
        <a:graphic>
          <a:graphicData uri="http://schemas.openxmlformats.org/drawingml/2006/table">
            <a:tbl>
              <a:tblPr firstRow="1" bandRow="1"/>
              <a:tblGrid>
                <a:gridCol w="2751827">
                  <a:extLst>
                    <a:ext uri="{9D8B030D-6E8A-4147-A177-3AD203B41FA5}">
                      <a16:colId xmlns:a16="http://schemas.microsoft.com/office/drawing/2014/main" val="3443704447"/>
                    </a:ext>
                  </a:extLst>
                </a:gridCol>
                <a:gridCol w="2214113">
                  <a:extLst>
                    <a:ext uri="{9D8B030D-6E8A-4147-A177-3AD203B41FA5}">
                      <a16:colId xmlns:a16="http://schemas.microsoft.com/office/drawing/2014/main" val="3518489996"/>
                    </a:ext>
                  </a:extLst>
                </a:gridCol>
                <a:gridCol w="3416060">
                  <a:extLst>
                    <a:ext uri="{9D8B030D-6E8A-4147-A177-3AD203B41FA5}">
                      <a16:colId xmlns:a16="http://schemas.microsoft.com/office/drawing/2014/main" val="73636416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Detailed</a:t>
                      </a:r>
                      <a:r>
                        <a:rPr lang="en-US" baseline="0" dirty="0" smtClean="0"/>
                        <a:t> Activity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Hazard or What-If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Control Measure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5474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Secure area</a:t>
                      </a:r>
                      <a:r>
                        <a:rPr lang="en-US" baseline="0" dirty="0" smtClean="0"/>
                        <a:t> of ignition sources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Ignites</a:t>
                      </a:r>
                      <a:r>
                        <a:rPr lang="en-US" baseline="0" dirty="0" smtClean="0"/>
                        <a:t> propane if there is a leak. 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Shut off truck.</a:t>
                      </a:r>
                    </a:p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Ensure</a:t>
                      </a:r>
                      <a:r>
                        <a:rPr lang="en-US" baseline="0" dirty="0" smtClean="0"/>
                        <a:t> no smoking.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59379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Connect hose from storage tank to truck tank.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Improper connection.</a:t>
                      </a:r>
                    </a:p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Truck</a:t>
                      </a:r>
                      <a:r>
                        <a:rPr lang="en-US" baseline="0" dirty="0" smtClean="0"/>
                        <a:t> rolls away.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b="1" dirty="0" smtClean="0"/>
                        <a:t>Trained</a:t>
                      </a:r>
                      <a:r>
                        <a:rPr lang="en-US" b="1" baseline="0" dirty="0" smtClean="0"/>
                        <a:t> worker uses approved JSA &amp; completes the check list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388345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Pressurize</a:t>
                      </a:r>
                      <a:r>
                        <a:rPr lang="en-US" baseline="0" dirty="0" smtClean="0"/>
                        <a:t> hose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Hose ruptures.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Hoses rated for service.</a:t>
                      </a:r>
                    </a:p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Hoses periodically</a:t>
                      </a:r>
                      <a:r>
                        <a:rPr lang="en-US" baseline="0" dirty="0" smtClean="0"/>
                        <a:t> inspected. Damaged hoses discarded.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961582"/>
                  </a:ext>
                </a:extLst>
              </a:tr>
            </a:tbl>
          </a:graphicData>
        </a:graphic>
      </p:graphicFrame>
      <p:sp>
        <p:nvSpPr>
          <p:cNvPr id="3" name="Rounded Rectangle 2"/>
          <p:cNvSpPr/>
          <p:nvPr/>
        </p:nvSpPr>
        <p:spPr>
          <a:xfrm>
            <a:off x="5105400" y="2301240"/>
            <a:ext cx="3352800" cy="8382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164700" y="4215424"/>
            <a:ext cx="8648700" cy="1575776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>
            <a:stCxn id="3" idx="2"/>
            <a:endCxn id="12" idx="0"/>
          </p:cNvCxnSpPr>
          <p:nvPr/>
        </p:nvCxnSpPr>
        <p:spPr>
          <a:xfrm flipH="1">
            <a:off x="4489050" y="3139440"/>
            <a:ext cx="2292750" cy="1075984"/>
          </a:xfrm>
          <a:prstGeom prst="lin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Google Shape;125;p2"/>
          <p:cNvSpPr/>
          <p:nvPr/>
        </p:nvSpPr>
        <p:spPr>
          <a:xfrm>
            <a:off x="25146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6.4: The Importance of Documenting Risk Management Activities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1670424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xtLst/>
        </p:spPr>
        <p:txBody>
          <a:bodyPr wrap="square" anchor="ctr" anchorCtr="0">
            <a:no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 </a:t>
            </a: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Documentation that </a:t>
            </a: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Management Was </a:t>
            </a: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Applied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>
            <a:noAutofit/>
          </a:bodyPr>
          <a:lstStyle/>
          <a:p>
            <a:pPr lvl="0" eaLnBrk="0" hangingPunct="0">
              <a:defRPr/>
            </a:pPr>
            <a:r>
              <a:rPr lang="en-CA" altLang="en-US" b="0" i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 Study:</a:t>
            </a:r>
            <a:r>
              <a:rPr lang="en-CA" altLang="en-US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First Rate Propane, great RM Program, but failed hose</a:t>
            </a:r>
            <a:r>
              <a:rPr lang="en-CA" altLang="en-US" b="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CA" altLang="en-US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eaLnBrk="0" hangingPunct="0">
              <a:buFont typeface="Wingdings" panose="05000000000000000000" pitchFamily="2" charset="2"/>
              <a:buChar char="Ø"/>
              <a:defRPr/>
            </a:pPr>
            <a:r>
              <a:rPr lang="en-US" altLang="en-US" b="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application of risk management is demonstrated through records </a:t>
            </a:r>
            <a:r>
              <a:rPr lang="en-US" altLang="en-US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documentation depending on the kind of </a:t>
            </a:r>
            <a:r>
              <a:rPr lang="en-US" altLang="en-US" b="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 measure.</a:t>
            </a:r>
            <a:endParaRPr lang="en-US" altLang="en-US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57455"/>
              </p:ext>
            </p:extLst>
          </p:nvPr>
        </p:nvGraphicFramePr>
        <p:xfrm>
          <a:off x="304799" y="1828800"/>
          <a:ext cx="8382001" cy="3815080"/>
        </p:xfrm>
        <a:graphic>
          <a:graphicData uri="http://schemas.openxmlformats.org/drawingml/2006/table">
            <a:tbl>
              <a:tblPr firstRow="1" bandRow="1"/>
              <a:tblGrid>
                <a:gridCol w="1818736">
                  <a:extLst>
                    <a:ext uri="{9D8B030D-6E8A-4147-A177-3AD203B41FA5}">
                      <a16:colId xmlns:a16="http://schemas.microsoft.com/office/drawing/2014/main" val="3443704447"/>
                    </a:ext>
                  </a:extLst>
                </a:gridCol>
                <a:gridCol w="2293189">
                  <a:extLst>
                    <a:ext uri="{9D8B030D-6E8A-4147-A177-3AD203B41FA5}">
                      <a16:colId xmlns:a16="http://schemas.microsoft.com/office/drawing/2014/main" val="3518489996"/>
                    </a:ext>
                  </a:extLst>
                </a:gridCol>
                <a:gridCol w="4270076">
                  <a:extLst>
                    <a:ext uri="{9D8B030D-6E8A-4147-A177-3AD203B41FA5}">
                      <a16:colId xmlns:a16="http://schemas.microsoft.com/office/drawing/2014/main" val="73636416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1400" dirty="0" smtClean="0"/>
                        <a:t>Hazard / Risk Deviation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1400" dirty="0" smtClean="0"/>
                        <a:t>Control Measure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1400" baseline="0" dirty="0" smtClean="0"/>
                        <a:t>Records &amp; Documentation </a:t>
                      </a:r>
                      <a:br>
                        <a:rPr lang="en-US" sz="1400" baseline="0" dirty="0" smtClean="0"/>
                      </a:br>
                      <a:r>
                        <a:rPr lang="en-US" sz="1400" baseline="0" dirty="0" smtClean="0"/>
                        <a:t>(that demonstrate effectiveness)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5474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1400" dirty="0" smtClean="0"/>
                        <a:t>Ruptured hose</a:t>
                      </a:r>
                      <a:endParaRPr lang="en-US" sz="140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indent="0">
                        <a:buFontTx/>
                        <a:buNone/>
                      </a:pPr>
                      <a:r>
                        <a:rPr lang="en-US" sz="1400" dirty="0" smtClean="0"/>
                        <a:t>Routine inspections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Maintenance service and inspection records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59379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1400" dirty="0" smtClean="0"/>
                        <a:t>Improper</a:t>
                      </a:r>
                      <a:r>
                        <a:rPr lang="en-US" sz="1400" baseline="0" dirty="0" smtClean="0"/>
                        <a:t> job procedures used</a:t>
                      </a:r>
                      <a:endParaRPr lang="en-US" sz="140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indent="0">
                        <a:buFontTx/>
                        <a:buNone/>
                      </a:pPr>
                      <a:r>
                        <a:rPr lang="en-US" sz="1400" dirty="0" smtClean="0"/>
                        <a:t>TQA Employees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 smtClean="0"/>
                        <a:t>Training (class-</a:t>
                      </a:r>
                      <a:r>
                        <a:rPr lang="en-US" sz="1400" baseline="0" dirty="0" smtClean="0"/>
                        <a:t> room) </a:t>
                      </a:r>
                      <a:r>
                        <a:rPr lang="en-US" sz="1400" dirty="0" smtClean="0"/>
                        <a:t>records and tests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 smtClean="0"/>
                        <a:t>Work</a:t>
                      </a:r>
                      <a:r>
                        <a:rPr lang="en-US" sz="1400" baseline="0" dirty="0" smtClean="0"/>
                        <a:t> under direct supervision (trainee / apprentice), tested for “hands on” skills and competency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388345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Ruptured hose</a:t>
                      </a:r>
                    </a:p>
                    <a:p>
                      <a:endParaRPr lang="en-US" sz="140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Adequate design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1400" dirty="0" smtClean="0"/>
                        <a:t>Approved hose</a:t>
                      </a:r>
                      <a:r>
                        <a:rPr lang="en-US" sz="1400" baseline="0" dirty="0" smtClean="0"/>
                        <a:t> specification / design for propane.</a:t>
                      </a:r>
                      <a:endParaRPr lang="en-US" sz="140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4132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1400" dirty="0" smtClean="0"/>
                        <a:t>Improper job</a:t>
                      </a:r>
                      <a:r>
                        <a:rPr lang="en-US" sz="1400" baseline="0" dirty="0" smtClean="0"/>
                        <a:t> procedures</a:t>
                      </a:r>
                      <a:r>
                        <a:rPr lang="en-US" sz="1400" dirty="0" smtClean="0"/>
                        <a:t> used</a:t>
                      </a:r>
                      <a:endParaRPr lang="en-US" sz="140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Employees doing  work per the JSA</a:t>
                      </a:r>
                      <a:endParaRPr lang="en-US" sz="140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 smtClean="0"/>
                        <a:t>Job order record to load truck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 smtClean="0"/>
                        <a:t>Planned inspections by managers to check JSA is followed, and intervention</a:t>
                      </a:r>
                      <a:r>
                        <a:rPr lang="en-US" sz="1400" baseline="0" dirty="0" smtClean="0"/>
                        <a:t> if required</a:t>
                      </a:r>
                      <a:endParaRPr lang="en-US" sz="140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94824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1400" dirty="0" smtClean="0"/>
                        <a:t>Exposure</a:t>
                      </a:r>
                      <a:r>
                        <a:rPr lang="en-US" sz="1400" baseline="0" dirty="0" smtClean="0"/>
                        <a:t> to LPG</a:t>
                      </a:r>
                      <a:endParaRPr lang="en-US" sz="140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PPE (heavy</a:t>
                      </a:r>
                      <a:r>
                        <a:rPr lang="en-US" sz="1400" baseline="0" dirty="0" smtClean="0"/>
                        <a:t> thermal gloves, flame-retardant clothing)</a:t>
                      </a:r>
                      <a:endParaRPr lang="en-US" sz="140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400" dirty="0" smtClean="0"/>
                        <a:t>Planned inspections</a:t>
                      </a:r>
                      <a:r>
                        <a:rPr lang="en-US" sz="1400" baseline="0" dirty="0" smtClean="0"/>
                        <a:t> and audits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400" baseline="0" dirty="0" smtClean="0"/>
                        <a:t>FLRAs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400" baseline="0" dirty="0" smtClean="0"/>
                        <a:t>Completed JSA loading checklists</a:t>
                      </a:r>
                      <a:endParaRPr lang="en-US" sz="140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780234"/>
                  </a:ext>
                </a:extLst>
              </a:tr>
            </a:tbl>
          </a:graphicData>
        </a:graphic>
      </p:graphicFrame>
      <p:sp>
        <p:nvSpPr>
          <p:cNvPr id="7" name="Google Shape;125;p2"/>
          <p:cNvSpPr/>
          <p:nvPr/>
        </p:nvSpPr>
        <p:spPr>
          <a:xfrm>
            <a:off x="25146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6.4: The Importance of Documenting Risk Management Activities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284814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Answer: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42900" lvl="1" indent="-342900">
              <a:lnSpc>
                <a:spcPct val="80000"/>
              </a:lnSpc>
              <a:spcBef>
                <a:spcPct val="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The </a:t>
            </a:r>
            <a:r>
              <a:rPr lang="en-US" altLang="en-US" sz="2000" b="0" u="sng" kern="0" dirty="0">
                <a:solidFill>
                  <a:srgbClr val="000000"/>
                </a:solidFill>
                <a:latin typeface="Arial"/>
              </a:rPr>
              <a:t>application of risk management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 and the effectiveness of control measures, especially the execution of administrative controls, </a:t>
            </a:r>
            <a:r>
              <a:rPr lang="en-US" altLang="en-US" sz="2000" b="0" u="sng" kern="0" dirty="0">
                <a:solidFill>
                  <a:srgbClr val="000000"/>
                </a:solidFill>
                <a:latin typeface="Arial"/>
              </a:rPr>
              <a:t>can be demonstrated after the fact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, whether an activity was completed successfully or not i.e. after a loss incident, ONLY through </a:t>
            </a:r>
            <a:r>
              <a:rPr lang="en-US" altLang="en-US" sz="2000" b="0" u="sng" kern="0" dirty="0">
                <a:solidFill>
                  <a:srgbClr val="000000"/>
                </a:solidFill>
                <a:latin typeface="Arial"/>
              </a:rPr>
              <a:t>good records and documentation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. </a:t>
            </a:r>
          </a:p>
          <a:p>
            <a:pPr marL="342900" lvl="1" indent="-342900">
              <a:lnSpc>
                <a:spcPct val="80000"/>
              </a:lnSpc>
              <a:spcBef>
                <a:spcPct val="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sz="2000" b="0" kern="0" dirty="0">
              <a:solidFill>
                <a:srgbClr val="000000"/>
              </a:solidFill>
              <a:latin typeface="Arial"/>
            </a:endParaRPr>
          </a:p>
          <a:p>
            <a:pPr marL="342900" lvl="1" indent="-342900">
              <a:lnSpc>
                <a:spcPct val="80000"/>
              </a:lnSpc>
              <a:spcBef>
                <a:spcPct val="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Records </a:t>
            </a:r>
            <a:r>
              <a:rPr lang="en-US" altLang="en-US" sz="2000" b="0" kern="0" dirty="0" smtClean="0">
                <a:solidFill>
                  <a:srgbClr val="000000"/>
                </a:solidFill>
                <a:latin typeface="Arial"/>
              </a:rPr>
              <a:t>demonstrate “what 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you say you </a:t>
            </a:r>
            <a:r>
              <a:rPr lang="en-US" altLang="en-US" sz="2000" b="0" kern="0" dirty="0" smtClean="0">
                <a:solidFill>
                  <a:srgbClr val="000000"/>
                </a:solidFill>
                <a:latin typeface="Arial"/>
              </a:rPr>
              <a:t>did, what the workers say they did, what your 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organization </a:t>
            </a:r>
            <a:r>
              <a:rPr lang="en-US" altLang="en-US" sz="2000" b="0" kern="0" dirty="0" smtClean="0">
                <a:solidFill>
                  <a:srgbClr val="000000"/>
                </a:solidFill>
                <a:latin typeface="Arial"/>
              </a:rPr>
              <a:t>says it did” 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to complete the activity.</a:t>
            </a:r>
          </a:p>
          <a:p>
            <a:pPr marL="342900" lvl="1" indent="-342900">
              <a:lnSpc>
                <a:spcPct val="80000"/>
              </a:lnSpc>
              <a:spcBef>
                <a:spcPct val="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sz="2000" b="0" kern="0" dirty="0">
              <a:solidFill>
                <a:srgbClr val="000000"/>
              </a:solidFill>
              <a:latin typeface="Arial"/>
            </a:endParaRPr>
          </a:p>
          <a:p>
            <a:pPr marL="342900" lvl="1" indent="-342900">
              <a:lnSpc>
                <a:spcPct val="80000"/>
              </a:lnSpc>
              <a:spcBef>
                <a:spcPct val="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Records span across all </a:t>
            </a:r>
            <a:br>
              <a:rPr lang="en-US" altLang="en-US" sz="2000" b="0" kern="0" dirty="0">
                <a:solidFill>
                  <a:srgbClr val="000000"/>
                </a:solidFill>
                <a:latin typeface="Arial"/>
              </a:rPr>
            </a:b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elements of a risk </a:t>
            </a:r>
            <a:br>
              <a:rPr lang="en-US" altLang="en-US" sz="2000" b="0" kern="0" dirty="0">
                <a:solidFill>
                  <a:srgbClr val="000000"/>
                </a:solidFill>
                <a:latin typeface="Arial"/>
              </a:rPr>
            </a:b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management </a:t>
            </a:r>
            <a:r>
              <a:rPr lang="en-US" altLang="en-US" sz="2000" b="0" kern="0" dirty="0" smtClean="0">
                <a:solidFill>
                  <a:srgbClr val="000000"/>
                </a:solidFill>
                <a:latin typeface="Arial"/>
              </a:rPr>
              <a:t>system </a:t>
            </a:r>
            <a:br>
              <a:rPr lang="en-US" altLang="en-US" sz="2000" b="0" kern="0" dirty="0" smtClean="0">
                <a:solidFill>
                  <a:srgbClr val="000000"/>
                </a:solidFill>
                <a:latin typeface="Arial"/>
              </a:rPr>
            </a:br>
            <a:r>
              <a:rPr lang="en-US" altLang="en-US" sz="2000" b="0" kern="0" dirty="0" smtClean="0">
                <a:solidFill>
                  <a:srgbClr val="000000"/>
                </a:solidFill>
                <a:latin typeface="Arial"/>
              </a:rPr>
              <a:t>and programs. </a:t>
            </a:r>
            <a:endParaRPr lang="en-US" altLang="en-US" sz="2000" b="0" kern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: </a:t>
            </a: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How is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Risk Management Demonstrated?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35997" y="3550344"/>
            <a:ext cx="5184003" cy="2677656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ENGG404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Risk Management </a:t>
            </a: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System: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Management Leadership, Commitment and Accountability.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Risk Assessment and Management of Risks.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Community Awareness and Emergency Preparedness.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Management of Change.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Incident Reporting, Investigation, Analysis and Actions.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Program Evaluation and Continuous Improvement.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Design, Construction and Start-up.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Operations and Maintenance.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Employee Competency and Training.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Contractor Competency and Integration.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Operations and Facilities Information and Documentation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5146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6.4: The Importance of Documenting Risk Management Activities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668557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42900" indent="-3429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75000"/>
              <a:buFont typeface="Wingdings" panose="05000000000000000000" pitchFamily="2" charset="2"/>
              <a:buChar char="Ø"/>
              <a:defRPr/>
            </a:pPr>
            <a:r>
              <a:rPr lang="en-US" altLang="en-US" b="0" kern="0" dirty="0">
                <a:solidFill>
                  <a:srgbClr val="000000"/>
                </a:solidFill>
                <a:latin typeface="Arial"/>
              </a:rPr>
              <a:t>“Due </a:t>
            </a:r>
            <a:r>
              <a:rPr lang="en-US" altLang="en-US" b="0" kern="0" dirty="0" smtClean="0">
                <a:solidFill>
                  <a:srgbClr val="000000"/>
                </a:solidFill>
                <a:latin typeface="Arial"/>
              </a:rPr>
              <a:t>diligence” is a </a:t>
            </a:r>
            <a:r>
              <a:rPr lang="en-US" altLang="en-US" b="0" kern="0" dirty="0">
                <a:solidFill>
                  <a:srgbClr val="000000"/>
                </a:solidFill>
                <a:latin typeface="Arial"/>
              </a:rPr>
              <a:t>specific legal </a:t>
            </a:r>
            <a:r>
              <a:rPr lang="en-US" altLang="en-US" b="0" kern="0" dirty="0" smtClean="0">
                <a:solidFill>
                  <a:srgbClr val="000000"/>
                </a:solidFill>
                <a:latin typeface="Arial"/>
              </a:rPr>
              <a:t>definition; a full discussion is outside </a:t>
            </a:r>
            <a:r>
              <a:rPr lang="en-US" altLang="en-US" b="0" kern="0" dirty="0">
                <a:solidFill>
                  <a:srgbClr val="000000"/>
                </a:solidFill>
                <a:latin typeface="Arial"/>
              </a:rPr>
              <a:t>scope of this lecture:</a:t>
            </a:r>
            <a:br>
              <a:rPr lang="en-US" altLang="en-US" b="0" kern="0" dirty="0">
                <a:solidFill>
                  <a:srgbClr val="000000"/>
                </a:solidFill>
                <a:latin typeface="Arial"/>
              </a:rPr>
            </a:br>
            <a:r>
              <a:rPr lang="en-US" altLang="en-US" b="0" kern="0" dirty="0">
                <a:solidFill>
                  <a:srgbClr val="000000"/>
                </a:solidFill>
                <a:latin typeface="Arial"/>
              </a:rPr>
              <a:t>“</a:t>
            </a:r>
            <a:r>
              <a:rPr lang="en-US" altLang="en-US" b="0" i="1" kern="0" dirty="0">
                <a:solidFill>
                  <a:srgbClr val="000000"/>
                </a:solidFill>
                <a:latin typeface="Arial"/>
              </a:rPr>
              <a:t>Reasonable verifications and precautions taken to identify or prevent foreseeable risks</a:t>
            </a:r>
            <a:r>
              <a:rPr lang="en-US" altLang="en-US" b="0" kern="0" dirty="0">
                <a:solidFill>
                  <a:srgbClr val="000000"/>
                </a:solidFill>
                <a:latin typeface="Arial"/>
              </a:rPr>
              <a:t>” </a:t>
            </a:r>
            <a:r>
              <a:rPr lang="en-US" altLang="en-US" sz="1600" b="0" i="1" kern="0" dirty="0">
                <a:solidFill>
                  <a:srgbClr val="000000"/>
                </a:solidFill>
                <a:latin typeface="Arial"/>
              </a:rPr>
              <a:t>http://www.duhaime.org/LegalDictionary/D-Page3.aspx</a:t>
            </a:r>
            <a:endParaRPr lang="en-US" altLang="en-US" b="0" i="1" kern="0" dirty="0">
              <a:solidFill>
                <a:srgbClr val="000000"/>
              </a:solidFill>
              <a:latin typeface="Arial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75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7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How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organization sees it:</a:t>
            </a:r>
            <a:b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/>
            </a:r>
            <a:b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It is the </a:t>
            </a:r>
            <a:r>
              <a:rPr kumimoji="0" lang="en-US" altLang="en-US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attempt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whether successful or not in the context of the activity being undertaken,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that the organization made “</a:t>
            </a:r>
            <a:r>
              <a:rPr kumimoji="0" lang="en-US" altLang="en-US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reasonable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verifications and </a:t>
            </a:r>
            <a:r>
              <a:rPr kumimoji="0" lang="en-US" altLang="en-US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precautions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to </a:t>
            </a:r>
            <a:r>
              <a:rPr kumimoji="0" lang="en-US" altLang="en-US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identify or prevent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altLang="en-US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foreseeable risks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.”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75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7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Due diligence is the </a:t>
            </a:r>
            <a:r>
              <a:rPr kumimoji="0" lang="en-US" altLang="en-US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application of risk management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Assess </a:t>
            </a:r>
            <a:r>
              <a:rPr kumimoji="0" lang="en-US" altLang="en-US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foreseeable risks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Implement </a:t>
            </a:r>
            <a:r>
              <a:rPr kumimoji="0" lang="en-US" altLang="en-US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reasonable precautions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Verify </a:t>
            </a:r>
            <a:r>
              <a:rPr kumimoji="0" lang="en-US" altLang="en-US" sz="2000" b="0" i="0" u="sng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effectiveness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80000"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These three points are explored …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Due Diligence – The Organization’s Perspective: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5146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6.4: The Importance of Documenting Risk Management Activities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9556682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xtLst/>
        </p:spPr>
        <p:txBody>
          <a:bodyPr wrap="square" anchor="ctr" anchorCtr="0">
            <a:no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Q: What is an Example of “Due Diligence”?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>
            <a:noAutofit/>
          </a:bodyPr>
          <a:lstStyle/>
          <a:p>
            <a:pPr marL="342900" lvl="0" indent="-342900" eaLnBrk="0" hangingPunct="0">
              <a:buFont typeface="Wingdings" panose="05000000000000000000" pitchFamily="2" charset="2"/>
              <a:buChar char="Ø"/>
              <a:defRPr/>
            </a:pP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Title: </a:t>
            </a:r>
            <a:r>
              <a:rPr lang="en-US" altLang="en-US" sz="2000" i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Truck-loading Operation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at </a:t>
            </a:r>
            <a:r>
              <a:rPr lang="en-US" altLang="en-US" sz="2000" b="0" i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Rate Propane</a:t>
            </a: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381000" y="1889760"/>
          <a:ext cx="8077200" cy="2620264"/>
        </p:xfrm>
        <a:graphic>
          <a:graphicData uri="http://schemas.openxmlformats.org/drawingml/2006/table">
            <a:tbl>
              <a:tblPr firstRow="1" bandRow="1"/>
              <a:tblGrid>
                <a:gridCol w="2651760">
                  <a:extLst>
                    <a:ext uri="{9D8B030D-6E8A-4147-A177-3AD203B41FA5}">
                      <a16:colId xmlns:a16="http://schemas.microsoft.com/office/drawing/2014/main" val="3443704447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518489996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73636416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Detailed</a:t>
                      </a:r>
                      <a:r>
                        <a:rPr lang="en-US" baseline="0" dirty="0" smtClean="0"/>
                        <a:t> Activity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Hazard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Control Measure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5474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Secure area</a:t>
                      </a:r>
                      <a:r>
                        <a:rPr lang="en-US" baseline="0" dirty="0" smtClean="0"/>
                        <a:t> of ignition sources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Ignites</a:t>
                      </a:r>
                      <a:r>
                        <a:rPr lang="en-US" baseline="0" dirty="0" smtClean="0"/>
                        <a:t> propane if there is a leak. 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Shut off truck.</a:t>
                      </a:r>
                    </a:p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Ensure</a:t>
                      </a:r>
                      <a:r>
                        <a:rPr lang="en-US" baseline="0" dirty="0" smtClean="0"/>
                        <a:t> no smoking.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59379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Connect hose from storage tank to truck tank.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Improper connection.</a:t>
                      </a:r>
                    </a:p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Truck</a:t>
                      </a:r>
                      <a:r>
                        <a:rPr lang="en-US" baseline="0" dirty="0" smtClean="0"/>
                        <a:t> rolls away.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Trained</a:t>
                      </a:r>
                      <a:r>
                        <a:rPr lang="en-US" baseline="0" dirty="0" smtClean="0"/>
                        <a:t> worker uses approved JSA &amp; completes the check list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388345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Pressurize</a:t>
                      </a:r>
                      <a:r>
                        <a:rPr lang="en-US" baseline="0" dirty="0" smtClean="0"/>
                        <a:t> hose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Hose ruptures.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Hoses rated for service.</a:t>
                      </a:r>
                    </a:p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Hoses periodically</a:t>
                      </a:r>
                      <a:r>
                        <a:rPr lang="en-US" baseline="0" dirty="0" smtClean="0"/>
                        <a:t> inspected. Damaged hoses discarded.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961582"/>
                  </a:ext>
                </a:extLst>
              </a:tr>
            </a:tbl>
          </a:graphicData>
        </a:graphic>
      </p:graphicFrame>
      <p:sp>
        <p:nvSpPr>
          <p:cNvPr id="7" name="Rounded Rectangular Callout 6"/>
          <p:cNvSpPr/>
          <p:nvPr/>
        </p:nvSpPr>
        <p:spPr bwMode="auto">
          <a:xfrm>
            <a:off x="5318760" y="1295402"/>
            <a:ext cx="2773680" cy="408622"/>
          </a:xfrm>
          <a:prstGeom prst="wedgeRoundRectCallout">
            <a:avLst>
              <a:gd name="adj1" fmla="val -26636"/>
              <a:gd name="adj2" fmla="val 111446"/>
              <a:gd name="adj3" fmla="val 16667"/>
            </a:avLst>
          </a:prstGeom>
          <a:solidFill>
            <a:srgbClr val="FFFFFF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b="0" dirty="0" smtClean="0">
                <a:solidFill>
                  <a:srgbClr val="00B050"/>
                </a:solidFill>
                <a:latin typeface="Arial" pitchFamily="34" charset="0"/>
              </a:rPr>
              <a:t>“reasonable precautions”</a:t>
            </a: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2880360" y="1295400"/>
            <a:ext cx="2133600" cy="408624"/>
          </a:xfrm>
          <a:prstGeom prst="wedgeRoundRectCallout">
            <a:avLst>
              <a:gd name="adj1" fmla="val -20470"/>
              <a:gd name="adj2" fmla="val 103970"/>
              <a:gd name="adj3" fmla="val 16667"/>
            </a:avLst>
          </a:prstGeom>
          <a:solidFill>
            <a:srgbClr val="FF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b="0" dirty="0" smtClean="0">
                <a:solidFill>
                  <a:srgbClr val="FF0000"/>
                </a:solidFill>
                <a:latin typeface="Arial" pitchFamily="34" charset="0"/>
              </a:rPr>
              <a:t>“foreseeable risks”</a:t>
            </a:r>
          </a:p>
        </p:txBody>
      </p:sp>
      <p:sp>
        <p:nvSpPr>
          <p:cNvPr id="11" name="Google Shape;125;p2"/>
          <p:cNvSpPr/>
          <p:nvPr/>
        </p:nvSpPr>
        <p:spPr>
          <a:xfrm>
            <a:off x="25146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6.4: The Importance of Documenting Risk Management Activities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3754866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xtLst/>
        </p:spPr>
        <p:txBody>
          <a:bodyPr wrap="square" anchor="ctr" anchorCtr="0">
            <a:no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Q: How is “Due Diligence” Verified?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>
            <a:no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Job Title: </a:t>
            </a:r>
            <a:r>
              <a:rPr kumimoji="0" lang="en-US" altLang="en-US" sz="2000" b="1" i="1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Truck-loading Operation</a:t>
            </a: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at </a:t>
            </a:r>
            <a:r>
              <a:rPr kumimoji="0" lang="en-US" altLang="en-US" sz="2000" b="0" i="1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First Rate Propane</a:t>
            </a:r>
            <a:r>
              <a:rPr kumimoji="0" lang="en-US" alt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1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lvl="0" indent="-342900" eaLnBrk="0" hangingPunct="0">
              <a:buFont typeface="Wingdings" panose="05000000000000000000" pitchFamily="2" charset="2"/>
              <a:buChar char="Ø"/>
              <a:defRPr/>
            </a:pPr>
            <a:r>
              <a:rPr lang="en-US" altLang="en-US" sz="2000" b="0" i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 of verifications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JSA or Check-list signed and dated by the worker, training certification / qualification of the worker, audits / inspections of work-in-progress and checks on the JSA and check-lists. </a:t>
            </a:r>
            <a:endParaRPr kumimoji="0" lang="en-US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381000" y="1889760"/>
          <a:ext cx="8077200" cy="2620264"/>
        </p:xfrm>
        <a:graphic>
          <a:graphicData uri="http://schemas.openxmlformats.org/drawingml/2006/table">
            <a:tbl>
              <a:tblPr firstRow="1" bandRow="1"/>
              <a:tblGrid>
                <a:gridCol w="2651760">
                  <a:extLst>
                    <a:ext uri="{9D8B030D-6E8A-4147-A177-3AD203B41FA5}">
                      <a16:colId xmlns:a16="http://schemas.microsoft.com/office/drawing/2014/main" val="3443704447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518489996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73636416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Detailed</a:t>
                      </a:r>
                      <a:r>
                        <a:rPr lang="en-US" baseline="0" dirty="0" smtClean="0"/>
                        <a:t> Activity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Hazard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Control Measure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5474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Secure area</a:t>
                      </a:r>
                      <a:r>
                        <a:rPr lang="en-US" baseline="0" dirty="0" smtClean="0"/>
                        <a:t> of ignition sources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Ignites</a:t>
                      </a:r>
                      <a:r>
                        <a:rPr lang="en-US" baseline="0" dirty="0" smtClean="0"/>
                        <a:t> propane if there is a leak. 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Shut off truck.</a:t>
                      </a:r>
                    </a:p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Ensure</a:t>
                      </a:r>
                      <a:r>
                        <a:rPr lang="en-US" baseline="0" dirty="0" smtClean="0"/>
                        <a:t> no smoking.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59379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Connect hose from storage tank to truck tank.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Improper connection.</a:t>
                      </a:r>
                    </a:p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Truck</a:t>
                      </a:r>
                      <a:r>
                        <a:rPr lang="en-US" baseline="0" dirty="0" smtClean="0"/>
                        <a:t> rolls away.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b="1" dirty="0" smtClean="0"/>
                        <a:t>Trained</a:t>
                      </a:r>
                      <a:r>
                        <a:rPr lang="en-US" b="1" baseline="0" dirty="0" smtClean="0"/>
                        <a:t> worker uses approved JSA &amp; completes the check list</a:t>
                      </a:r>
                      <a:endParaRPr lang="en-US" b="1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388345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Pressurize</a:t>
                      </a:r>
                      <a:r>
                        <a:rPr lang="en-US" baseline="0" dirty="0" smtClean="0"/>
                        <a:t> hose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Hose ruptures.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Hoses rated for service.</a:t>
                      </a:r>
                    </a:p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dirty="0" smtClean="0"/>
                        <a:t>Hoses periodically</a:t>
                      </a:r>
                      <a:r>
                        <a:rPr lang="en-US" baseline="0" dirty="0" smtClean="0"/>
                        <a:t> inspected. Damaged hoses discarded.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961582"/>
                  </a:ext>
                </a:extLst>
              </a:tr>
            </a:tbl>
          </a:graphicData>
        </a:graphic>
      </p:graphicFrame>
      <p:sp>
        <p:nvSpPr>
          <p:cNvPr id="7" name="Rounded Rectangular Callout 6"/>
          <p:cNvSpPr/>
          <p:nvPr/>
        </p:nvSpPr>
        <p:spPr bwMode="auto">
          <a:xfrm>
            <a:off x="5318760" y="1295402"/>
            <a:ext cx="2773680" cy="408622"/>
          </a:xfrm>
          <a:prstGeom prst="wedgeRoundRectCallout">
            <a:avLst>
              <a:gd name="adj1" fmla="val -26636"/>
              <a:gd name="adj2" fmla="val 111446"/>
              <a:gd name="adj3" fmla="val 16667"/>
            </a:avLst>
          </a:prstGeom>
          <a:solidFill>
            <a:srgbClr val="FFFFFF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“reasonable precautions”</a:t>
            </a: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2880360" y="1295400"/>
            <a:ext cx="2133600" cy="408624"/>
          </a:xfrm>
          <a:prstGeom prst="wedgeRoundRectCallout">
            <a:avLst>
              <a:gd name="adj1" fmla="val -20470"/>
              <a:gd name="adj2" fmla="val 103970"/>
              <a:gd name="adj3" fmla="val 16667"/>
            </a:avLst>
          </a:prstGeom>
          <a:solidFill>
            <a:srgbClr val="FF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“foreseeable risks”</a:t>
            </a: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623455" y="1295400"/>
            <a:ext cx="1828800" cy="457200"/>
          </a:xfrm>
          <a:prstGeom prst="wedgeRoundRectCallout">
            <a:avLst>
              <a:gd name="adj1" fmla="val -8845"/>
              <a:gd name="adj2" fmla="val 732127"/>
              <a:gd name="adj3" fmla="val 16667"/>
            </a:avLst>
          </a:prstGeom>
          <a:solidFill>
            <a:srgbClr val="FFFFFF"/>
          </a:solidFill>
          <a:ln w="38100" cap="flat" cmpd="sng" algn="ctr">
            <a:solidFill>
              <a:srgbClr val="CACA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itchFamily="34" charset="0"/>
              </a:rPr>
              <a:t>“verifications”</a:t>
            </a:r>
          </a:p>
        </p:txBody>
      </p:sp>
      <p:sp>
        <p:nvSpPr>
          <p:cNvPr id="12" name="Google Shape;125;p2"/>
          <p:cNvSpPr/>
          <p:nvPr/>
        </p:nvSpPr>
        <p:spPr>
          <a:xfrm>
            <a:off x="25146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6.4: The Importance of Documenting Risk Management Activities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9674113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application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risk management and the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effectiveness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control measures can be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demonstrated after the fact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whether an activity was completed successfully or not i.e. after a loss incident,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ONLY through good records and documentation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 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Without good records and documentation, your application of risk management and the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presumed effectiveness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control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measures post-incident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be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 demonstrated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 </a:t>
            </a: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Due diligence is the application of risk management:</a:t>
            </a:r>
          </a:p>
          <a:p>
            <a:pPr marL="72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Assess foreseeable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risks = “What are the hazards or risks?”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Implement reasonable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precautions = “Control measures”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Verify effectiveness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= “records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documentation that the hazards/risks were identified, assessed, and that control measures were implemented that were presumed effective”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Summary and Key Lesson: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514600" y="6300000"/>
            <a:ext cx="558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6.4: The Importance of Documenting Risk Management Activities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0730316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69398</TotalTime>
  <Words>1510</Words>
  <Application>Microsoft Office PowerPoint</Application>
  <PresentationFormat>On-screen Show (4:3)</PresentationFormat>
  <Paragraphs>284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ＭＳ Ｐゴシック</vt:lpstr>
      <vt:lpstr>Arial</vt:lpstr>
      <vt:lpstr>Calibri</vt:lpstr>
      <vt:lpstr>Times New Roman</vt:lpstr>
      <vt:lpstr>Wingdings</vt:lpstr>
      <vt:lpstr>Default Design</vt:lpstr>
      <vt:lpstr>1_Default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MSB</dc:creator>
  <cp:lastModifiedBy>JR Cocchio</cp:lastModifiedBy>
  <cp:revision>1964</cp:revision>
  <cp:lastPrinted>2018-12-17T22:21:47Z</cp:lastPrinted>
  <dcterms:created xsi:type="dcterms:W3CDTF">2007-03-28T16:18:47Z</dcterms:created>
  <dcterms:modified xsi:type="dcterms:W3CDTF">2021-10-13T17:15:34Z</dcterms:modified>
</cp:coreProperties>
</file>