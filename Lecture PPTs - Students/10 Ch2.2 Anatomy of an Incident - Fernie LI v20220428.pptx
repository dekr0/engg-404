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1"/>
  </p:notesMasterIdLst>
  <p:sldIdLst>
    <p:sldId id="895" r:id="rId2"/>
    <p:sldId id="880" r:id="rId3"/>
    <p:sldId id="928" r:id="rId4"/>
    <p:sldId id="940" r:id="rId5"/>
    <p:sldId id="929" r:id="rId6"/>
    <p:sldId id="930" r:id="rId7"/>
    <p:sldId id="931" r:id="rId8"/>
    <p:sldId id="932" r:id="rId9"/>
    <p:sldId id="946" r:id="rId10"/>
    <p:sldId id="947" r:id="rId11"/>
    <p:sldId id="935" r:id="rId12"/>
    <p:sldId id="937" r:id="rId13"/>
    <p:sldId id="944" r:id="rId14"/>
    <p:sldId id="945" r:id="rId15"/>
    <p:sldId id="938" r:id="rId16"/>
    <p:sldId id="939" r:id="rId17"/>
    <p:sldId id="948" r:id="rId18"/>
    <p:sldId id="923" r:id="rId19"/>
    <p:sldId id="900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grr8jSQxZ+5+tpFC61ubFGFah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3399FF"/>
    <a:srgbClr val="FFFF00"/>
    <a:srgbClr val="0000CC"/>
    <a:srgbClr val="33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2B0D30-6337-4A17-AE85-70FA403E741C}">
  <a:tblStyle styleId="{4A2B0D30-6337-4A17-AE85-70FA403E7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1489" autoAdjust="0"/>
  </p:normalViewPr>
  <p:slideViewPr>
    <p:cSldViewPr snapToGrid="0">
      <p:cViewPr varScale="1">
        <p:scale>
          <a:sx n="81" d="100"/>
          <a:sy n="81" d="100"/>
        </p:scale>
        <p:origin x="688" y="68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32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2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2641" y="2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2688" y="696913"/>
            <a:ext cx="4646612" cy="3484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686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2641" y="8831686"/>
            <a:ext cx="3037760" cy="46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Incident versus accident – make the distinction here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When we examine activities, that’s when we also find efficiencies in productivity (i.e. how an RM program increases profit by minimizing loss)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89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14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83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Occupational safety – keeping people safe at work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Process safety – keeping it in the pipe or tank, control over the material you’re working with</a:t>
            </a:r>
          </a:p>
          <a:p>
            <a:pPr algn="l"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18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Use example in the classroom – overhead projector, </a:t>
            </a:r>
            <a:r>
              <a:rPr lang="en-CA" dirty="0" err="1"/>
              <a:t>etc</a:t>
            </a:r>
            <a:endParaRPr lang="en-CA" dirty="0"/>
          </a:p>
          <a:p>
            <a:pPr algn="l"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Use example in the classroom – overhead projector, </a:t>
            </a:r>
            <a:r>
              <a:rPr lang="en-CA" dirty="0" err="1"/>
              <a:t>etc</a:t>
            </a:r>
            <a:endParaRPr lang="en-CA" dirty="0"/>
          </a:p>
          <a:p>
            <a:pPr algn="l"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12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98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02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287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80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544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04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155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254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6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8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94902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61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2.2: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Anatomy of an </a:t>
            </a: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&amp; </a:t>
            </a:r>
            <a:b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16: The </a:t>
            </a:r>
            <a:r>
              <a:rPr lang="en-CA" altLang="en-US" sz="3200" b="1" dirty="0" err="1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Fernie</a:t>
            </a: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Memorial LI</a:t>
            </a:r>
            <a:endParaRPr lang="en-CA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observation skills and supposition skills to analyze a typical activity and possible loss incident for hazards &amp; consequences.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two different models to examine the components of an incident.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a situation where things are being done.  Activities are often associated with hazards. An activity can describe: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task or job being performed by a person.</a:t>
            </a:r>
            <a:endParaRPr lang="en-CA" dirty="0"/>
          </a:p>
          <a:p>
            <a:pPr marL="62865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ascending a ladder, operating a crane, driving a truck.</a:t>
            </a:r>
            <a:endParaRPr lang="en-CA" sz="2000"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complex set of unit process operations in an industrial facility. </a:t>
            </a:r>
            <a:endParaRPr lang="en-CA" dirty="0"/>
          </a:p>
          <a:p>
            <a:pPr marL="62865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a tank used for storing materials; a mine; a drilling rig; a rail-car loading facility. </a:t>
            </a:r>
            <a:endParaRPr lang="en-CA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“things” that can do harm, and help inform us about </a:t>
            </a:r>
            <a:b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can go wrong”</a:t>
            </a:r>
            <a:endParaRPr lang="en-CA" dirty="0"/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“</a:t>
            </a:r>
            <a:r>
              <a:rPr lang="en-CA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bad it can be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if something goes wrong (described as the negative impacts on PEAP, or losses)</a:t>
            </a:r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CA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Incident</a:t>
            </a:r>
            <a:r>
              <a:rPr lang="en-CA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unplanned, undesired event that resulted in a loss.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Activity, Hazards, Consequences, and Loss Incident: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Importance to Learn How and Why Incidents Occur: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Why it is important to understand and analyse how and why incidents occur?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want to learn from our own incidents AND also from others.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in examining: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to prevent a loss incident – proactive.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to: </a:t>
            </a:r>
          </a:p>
          <a:p>
            <a:pPr marL="1143000" marR="0" lvl="2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sym typeface="Arial"/>
              </a:rPr>
              <a:t>prevent its recurrence – reactive / responsive (our incidents).</a:t>
            </a:r>
            <a:endParaRPr lang="en-CA" sz="2000" dirty="0"/>
          </a:p>
          <a:p>
            <a:pPr marL="1143000" marR="0" lvl="2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FFFFFF"/>
                </a:solidFill>
                <a:sym typeface="Arial"/>
              </a:rPr>
              <a:t>prevent it from happening at our workplace  - proactive (others’ incidents).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4209339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#1: An </a:t>
            </a:r>
            <a:r>
              <a:rPr lang="en-CA" altLang="en-US" sz="2400" dirty="0">
                <a:solidFill>
                  <a:srgbClr val="FFFFFF"/>
                </a:solidFill>
              </a:rPr>
              <a:t>Activity and its Hazards </a:t>
            </a:r>
            <a:r>
              <a:rPr lang="en-CA" altLang="en-US" sz="2400" dirty="0" smtClean="0">
                <a:solidFill>
                  <a:srgbClr val="FFFFFF"/>
                </a:solidFill>
              </a:rPr>
              <a:t>and </a:t>
            </a:r>
            <a:r>
              <a:rPr lang="en-CA" altLang="en-US" sz="2400" dirty="0">
                <a:solidFill>
                  <a:srgbClr val="FFFFFF"/>
                </a:solidFill>
              </a:rPr>
              <a:t>Consequences: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9F701C41-5CBE-4427-A10E-474543A535DE}"/>
              </a:ext>
            </a:extLst>
          </p:cNvPr>
          <p:cNvSpPr txBox="1"/>
          <p:nvPr/>
        </p:nvSpPr>
        <p:spPr>
          <a:xfrm>
            <a:off x="180000" y="828000"/>
            <a:ext cx="8229600" cy="856182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confer </a:t>
            </a:r>
            <a:r>
              <a:rPr lang="en-US" sz="2000" dirty="0" smtClean="0">
                <a:solidFill>
                  <a:srgbClr val="FFFFFF"/>
                </a:solidFill>
              </a:rPr>
              <a:t>(Zoom Chat)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: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Q: In this photo: what are some plausible activities? </a:t>
            </a:r>
          </a:p>
        </p:txBody>
      </p:sp>
      <p:pic>
        <p:nvPicPr>
          <p:cNvPr id="7" name="Google Shape;186;p7" descr="BD19585_">
            <a:extLst>
              <a:ext uri="{FF2B5EF4-FFF2-40B4-BE49-F238E27FC236}">
                <a16:creationId xmlns:a16="http://schemas.microsoft.com/office/drawing/2014/main" id="{F0B2A269-D8A3-4076-AB0A-267394513D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19" y="1812879"/>
            <a:ext cx="5120640" cy="365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41816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#2: An </a:t>
            </a:r>
            <a:r>
              <a:rPr lang="en-CA" altLang="en-US" sz="2400" dirty="0">
                <a:solidFill>
                  <a:srgbClr val="FFFFFF"/>
                </a:solidFill>
              </a:rPr>
              <a:t>Activity and its Hazards </a:t>
            </a:r>
            <a:r>
              <a:rPr lang="en-CA" altLang="en-US" sz="2400" dirty="0" smtClean="0">
                <a:solidFill>
                  <a:srgbClr val="FFFFFF"/>
                </a:solidFill>
              </a:rPr>
              <a:t>and </a:t>
            </a:r>
            <a:r>
              <a:rPr lang="en-CA" altLang="en-US" sz="2400" dirty="0">
                <a:solidFill>
                  <a:srgbClr val="FFFFFF"/>
                </a:solidFill>
              </a:rPr>
              <a:t>Consequences: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Google Shape;187;p7">
            <a:extLst>
              <a:ext uri="{FF2B5EF4-FFF2-40B4-BE49-F238E27FC236}">
                <a16:creationId xmlns:a16="http://schemas.microsoft.com/office/drawing/2014/main" id="{D977DEA7-F580-4120-83C4-CD11BED86797}"/>
              </a:ext>
            </a:extLst>
          </p:cNvPr>
          <p:cNvSpPr txBox="1"/>
          <p:nvPr/>
        </p:nvSpPr>
        <p:spPr>
          <a:xfrm>
            <a:off x="180000" y="828000"/>
            <a:ext cx="8229600" cy="173736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confer: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With a common understanding of the plausible activities, what are the hazards &amp; associated consequences?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Respond as “hazard-consequence” </a:t>
            </a:r>
            <a:b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e.g. “cold water – hypothermia”  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(Zoom Chat)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/>
            </a:r>
            <a:b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7" name="Google Shape;186;p7" descr="BD19585_">
            <a:extLst>
              <a:ext uri="{FF2B5EF4-FFF2-40B4-BE49-F238E27FC236}">
                <a16:creationId xmlns:a16="http://schemas.microsoft.com/office/drawing/2014/main" id="{AA04B990-B6F8-45EE-9F05-7C59426D53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2560320"/>
            <a:ext cx="4516016" cy="28887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20734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Activity – Fishing In A Row Boat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graphicFrame>
        <p:nvGraphicFramePr>
          <p:cNvPr id="6" name="Google Shape;199;p8">
            <a:extLst>
              <a:ext uri="{FF2B5EF4-FFF2-40B4-BE49-F238E27FC236}">
                <a16:creationId xmlns:a16="http://schemas.microsoft.com/office/drawing/2014/main" id="{6B121DA7-DEC1-4196-95B3-5C03BB16D2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134425"/>
              </p:ext>
            </p:extLst>
          </p:nvPr>
        </p:nvGraphicFramePr>
        <p:xfrm>
          <a:off x="180000" y="961753"/>
          <a:ext cx="6074931" cy="36726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74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6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Hazards - Consequences</a:t>
                      </a:r>
                      <a:endParaRPr sz="20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 (cold water) – Hypothermia, drowning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Sitting on the edge – Falling out, drowning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Unstable boat for a big fish – falling out, drowning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Rough waters (waves, swell) – falling out, boat is swamped, boat sinks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6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Gusting winds – boat is swamped, boat sinks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8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Intoxicated – “at risk” behaviours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8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wearing a PFD – drowning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Sunny day, high UV – sun burn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8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Hot day – hyperthermia, heat related illness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8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" name="Google Shape;200;p8" descr="BD19585_">
            <a:extLst>
              <a:ext uri="{FF2B5EF4-FFF2-40B4-BE49-F238E27FC236}">
                <a16:creationId xmlns:a16="http://schemas.microsoft.com/office/drawing/2014/main" id="{9CD89B73-4D07-4A90-8A98-9753E7320A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3756" y="3219031"/>
            <a:ext cx="3866244" cy="2830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39364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 &amp; causes that result in losses must be understood.</a:t>
            </a:r>
            <a:endParaRPr lang="en-CA" dirty="0"/>
          </a:p>
          <a:p>
            <a:pPr marL="457200" marR="0" lvl="0" indent="-330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lang="en-CA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understand the causes, the components of what makes an incident must be understood. </a:t>
            </a:r>
            <a:endParaRPr lang="en-CA" dirty="0"/>
          </a:p>
          <a:p>
            <a:pPr marL="457200" marR="0" lvl="0" indent="-330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lang="en-CA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First, two broad types of loss incidents:</a:t>
            </a:r>
            <a:endParaRPr lang="en-CA" dirty="0"/>
          </a:p>
          <a:p>
            <a:pPr marL="742950" marR="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Workplace (Occupational) Safety</a:t>
            </a:r>
            <a:endParaRPr lang="en-CA" dirty="0"/>
          </a:p>
          <a:p>
            <a:pPr marL="742950" marR="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Safety </a:t>
            </a:r>
            <a:endParaRPr lang="en-CA" dirty="0"/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Model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is presented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to explain how loss incidents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happen.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lvl="1" defTabSz="914400" eaLnBrk="0" fontAlgn="base" latinLnBrk="0" hangingPunct="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2000"/>
              <a:buFont typeface="Noto Sans Symbols"/>
              <a:buChar char="⮚"/>
              <a:tabLst/>
              <a:defRPr/>
            </a:pPr>
            <a:r>
              <a:rPr lang="en-CA" altLang="en-US" sz="2000" i="1" dirty="0" smtClean="0">
                <a:solidFill>
                  <a:srgbClr val="000000"/>
                </a:solidFill>
                <a:latin typeface="Arial"/>
              </a:rPr>
              <a:t>Note</a:t>
            </a:r>
            <a:r>
              <a:rPr lang="en-CA" altLang="en-US" sz="2000" i="1" dirty="0">
                <a:solidFill>
                  <a:srgbClr val="000000"/>
                </a:solidFill>
                <a:latin typeface="Arial"/>
              </a:rPr>
              <a:t>: This Model is one of many, many different models!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How Loss Incidents Happen: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247308855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ALE #3: The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Incident </a:t>
            </a:r>
            <a:r>
              <a:rPr lang="en-US" altLang="en-US" sz="2400" kern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Google Shape;227;p10">
            <a:extLst>
              <a:ext uri="{FF2B5EF4-FFF2-40B4-BE49-F238E27FC236}">
                <a16:creationId xmlns:a16="http://schemas.microsoft.com/office/drawing/2014/main" id="{781F0EF1-952D-4F49-A775-0C2F252E380D}"/>
              </a:ext>
            </a:extLst>
          </p:cNvPr>
          <p:cNvSpPr txBox="1"/>
          <p:nvPr/>
        </p:nvSpPr>
        <p:spPr>
          <a:xfrm>
            <a:off x="180000" y="827997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dist="107763" dir="27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</a:t>
            </a:r>
            <a: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Incident Model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a </a:t>
            </a:r>
            <a:r>
              <a:rPr kumimoji="0" lang="en-US" sz="1800" b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combination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of: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b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b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lvl="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b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lang="en-US" sz="1800" dirty="0" smtClean="0">
                <a:solidFill>
                  <a:schemeClr val="bg1"/>
                </a:solidFill>
              </a:rPr>
              <a:t> 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… will result in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</a:t>
            </a:r>
            <a:r>
              <a:rPr kumimoji="0" lang="en-US" sz="18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800" b="0" u="sng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loss </a:t>
            </a:r>
            <a:r>
              <a:rPr kumimoji="0" lang="en-US" sz="1800" b="0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incident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. </a:t>
            </a:r>
            <a:endParaRPr kumimoji="0" lang="en-US" sz="18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endParaRPr lang="en-US" sz="1800" dirty="0">
              <a:solidFill>
                <a:schemeClr val="bg1"/>
              </a:solidFill>
            </a:endParaRPr>
          </a:p>
          <a:p>
            <a:pPr lvl="0">
              <a:spcBef>
                <a:spcPts val="400"/>
              </a:spcBef>
              <a:buClrTx/>
              <a:buSzPts val="1600"/>
              <a:defRPr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u="sng" dirty="0" smtClean="0">
                <a:solidFill>
                  <a:schemeClr val="bg1"/>
                </a:solidFill>
              </a:rPr>
              <a:t>triggering event</a:t>
            </a:r>
            <a:r>
              <a:rPr lang="en-US" sz="1800" dirty="0" smtClean="0">
                <a:solidFill>
                  <a:schemeClr val="bg1"/>
                </a:solidFill>
              </a:rPr>
              <a:t> </a:t>
            </a:r>
            <a:r>
              <a:rPr lang="en-US" sz="1800" dirty="0" smtClean="0">
                <a:solidFill>
                  <a:schemeClr val="bg1"/>
                </a:solidFill>
              </a:rPr>
              <a:t>may: 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b="1" dirty="0" smtClean="0">
                <a:solidFill>
                  <a:schemeClr val="bg1"/>
                </a:solidFill>
              </a:rPr>
              <a:t> </a:t>
            </a:r>
            <a:br>
              <a:rPr lang="en-US" sz="1800" b="1" dirty="0" smtClean="0">
                <a:solidFill>
                  <a:schemeClr val="bg1"/>
                </a:solidFill>
              </a:rPr>
            </a:br>
            <a:endParaRPr lang="en-US" sz="1800" b="1" dirty="0" smtClean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</a:rPr>
              <a:t/>
            </a:r>
            <a:br>
              <a:rPr lang="en-US" sz="1800" b="1" dirty="0" smtClean="0">
                <a:solidFill>
                  <a:schemeClr val="bg1"/>
                </a:solidFill>
              </a:rPr>
            </a:br>
            <a:endParaRPr lang="en-US" sz="1800" b="1" dirty="0" smtClean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b="1" dirty="0" smtClean="0">
                <a:solidFill>
                  <a:schemeClr val="bg1"/>
                </a:solidFill>
              </a:rPr>
              <a:t> </a:t>
            </a:r>
          </a:p>
          <a:p>
            <a:pPr>
              <a:spcBef>
                <a:spcPts val="400"/>
              </a:spcBef>
              <a:buClrTx/>
              <a:buSzPts val="1600"/>
              <a:defRPr/>
            </a:pP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Please confer</a:t>
            </a:r>
            <a:r>
              <a:rPr kumimoji="0" lang="en-US" sz="18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on an example!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328140" y="1572400"/>
            <a:ext cx="4490059" cy="4490058"/>
            <a:chOff x="4162598" y="1517219"/>
            <a:chExt cx="4490059" cy="4490058"/>
          </a:xfrm>
        </p:grpSpPr>
        <p:sp>
          <p:nvSpPr>
            <p:cNvPr id="26" name="Freeform 25"/>
            <p:cNvSpPr/>
            <p:nvPr/>
          </p:nvSpPr>
          <p:spPr>
            <a:xfrm>
              <a:off x="5285113" y="3762247"/>
              <a:ext cx="2245029" cy="2245030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2245029" y="0"/>
                  </a:moveTo>
                  <a:lnTo>
                    <a:pt x="1122514" y="2245029"/>
                  </a:lnTo>
                  <a:lnTo>
                    <a:pt x="0" y="0"/>
                  </a:lnTo>
                  <a:lnTo>
                    <a:pt x="2245029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36001" rIns="561256" bIns="1158515" numCol="1" spcCol="1270" anchor="t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Loss Incident</a:t>
              </a:r>
              <a:endParaRPr lang="en-US" sz="1800" b="1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85113" y="1517219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FF00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 Source</a:t>
              </a:r>
              <a:endParaRPr lang="en-US" sz="1800" b="1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416259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66FFFF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of Fire</a:t>
              </a:r>
              <a:endParaRPr lang="en-US" sz="18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640762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00FF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Measures</a:t>
              </a:r>
              <a:endParaRPr lang="en-US" sz="18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Picture 29" descr="Free vector graphic: &lt;strong&gt;Lightning, Bolt&lt;/strong&gt;, Yellow, Energy ...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80180">
              <a:off x="5956449" y="2080354"/>
              <a:ext cx="929600" cy="1008000"/>
            </a:xfrm>
            <a:prstGeom prst="rect">
              <a:avLst/>
            </a:prstGeom>
          </p:spPr>
        </p:pic>
        <p:pic>
          <p:nvPicPr>
            <p:cNvPr id="31" name="Picture 30" descr="&lt;strong&gt;Target&lt;/strong&gt; Arrow &lt;strong&gt;Bulls Eye&lt;/strong&gt; - Free vector graphic on Pixabay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476" y="4606212"/>
              <a:ext cx="813049" cy="788276"/>
            </a:xfrm>
            <a:prstGeom prst="rect">
              <a:avLst/>
            </a:prstGeom>
          </p:spPr>
        </p:pic>
        <p:pic>
          <p:nvPicPr>
            <p:cNvPr id="32" name="Picture 31" descr="Clipart - Safety helmet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660" y="4606212"/>
              <a:ext cx="943240" cy="791929"/>
            </a:xfrm>
            <a:prstGeom prst="rect">
              <a:avLst/>
            </a:prstGeom>
          </p:spPr>
        </p:pic>
        <p:pic>
          <p:nvPicPr>
            <p:cNvPr id="33" name="Picture 32" descr="File:072-face-with-&lt;strong&gt;head&lt;/strong&gt;-&lt;strong&gt;bandage&lt;/strong&gt;.svg - Wikimedia Commons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3851" y="4257036"/>
              <a:ext cx="1030441" cy="1030441"/>
            </a:xfrm>
            <a:prstGeom prst="rect">
              <a:avLst/>
            </a:prstGeom>
          </p:spPr>
        </p:pic>
        <p:pic>
          <p:nvPicPr>
            <p:cNvPr id="34" name="Picture 33" descr="&lt;strong&gt;Cross&lt;/strong&gt; Delete Remove · Free vector graphic on Pixabay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4292" y="4677895"/>
              <a:ext cx="949559" cy="6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23913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Example: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The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Incident </a:t>
            </a:r>
            <a:r>
              <a:rPr lang="en-US" altLang="en-US" sz="2400" kern="12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Google Shape;227;p10">
            <a:extLst>
              <a:ext uri="{FF2B5EF4-FFF2-40B4-BE49-F238E27FC236}">
                <a16:creationId xmlns:a16="http://schemas.microsoft.com/office/drawing/2014/main" id="{781F0EF1-952D-4F49-A775-0C2F252E380D}"/>
              </a:ext>
            </a:extLst>
          </p:cNvPr>
          <p:cNvSpPr txBox="1"/>
          <p:nvPr/>
        </p:nvSpPr>
        <p:spPr>
          <a:xfrm>
            <a:off x="180000" y="827999"/>
            <a:ext cx="8640000" cy="532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Tx/>
              <a:buSzPts val="1600"/>
              <a:defRPr/>
            </a:pPr>
            <a:r>
              <a:rPr lang="en-US" sz="1800" dirty="0">
                <a:solidFill>
                  <a:schemeClr val="bg1"/>
                </a:solidFill>
              </a:rPr>
              <a:t>The </a:t>
            </a:r>
            <a:r>
              <a:rPr lang="en-US" sz="1800" b="1" dirty="0">
                <a:solidFill>
                  <a:schemeClr val="bg1"/>
                </a:solidFill>
              </a:rPr>
              <a:t>Incident Model</a:t>
            </a:r>
            <a:r>
              <a:rPr lang="en-US" sz="1800" dirty="0">
                <a:solidFill>
                  <a:schemeClr val="bg1"/>
                </a:solidFill>
              </a:rPr>
              <a:t> is a </a:t>
            </a:r>
            <a:r>
              <a:rPr kumimoji="0" lang="en-US" sz="1800" b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combination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of: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Energy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(controlled or uncontrolled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release, or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/>
            </a:r>
            <a:b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protected / unprotected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exposure to a source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), </a:t>
            </a:r>
            <a:r>
              <a:rPr kumimoji="0" lang="en-US" sz="1800" b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and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Line-of-Fire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(no safe distance,</a:t>
            </a:r>
            <a:r>
              <a:rPr kumimoji="0" lang="en-US" sz="18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separation, or space; </a:t>
            </a:r>
            <a:br>
              <a:rPr kumimoji="0" lang="en-US" sz="18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intentional 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or not intentional), </a:t>
            </a:r>
            <a:r>
              <a:rPr kumimoji="0" lang="en-US" sz="1800" b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and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lvl="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kumimoji="0" lang="en-US" sz="1800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Control Measures </a:t>
            </a:r>
            <a:r>
              <a:rPr kumimoji="0" lang="en-US" sz="180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</a:t>
            </a:r>
            <a:r>
              <a:rPr kumimoji="0" lang="en-US" sz="180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</a:t>
            </a:r>
            <a:r>
              <a:rPr lang="en-US" sz="1800" dirty="0" err="1" smtClean="0">
                <a:solidFill>
                  <a:schemeClr val="bg1"/>
                </a:solidFill>
              </a:rPr>
              <a:t>nadequate</a:t>
            </a:r>
            <a:r>
              <a:rPr lang="en-US" sz="1800" dirty="0" smtClean="0">
                <a:solidFill>
                  <a:schemeClr val="bg1"/>
                </a:solidFill>
              </a:rPr>
              <a:t>, defective, </a:t>
            </a:r>
            <a:br>
              <a:rPr lang="en-US" sz="1800" dirty="0" smtClean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ineffective, </a:t>
            </a:r>
            <a:r>
              <a:rPr lang="en-US" sz="1800" dirty="0">
                <a:solidFill>
                  <a:schemeClr val="bg1"/>
                </a:solidFill>
              </a:rPr>
              <a:t>or </a:t>
            </a:r>
            <a:r>
              <a:rPr lang="en-US" sz="1800" dirty="0" smtClean="0">
                <a:solidFill>
                  <a:schemeClr val="bg1"/>
                </a:solidFill>
              </a:rPr>
              <a:t>lack of) 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… will result in </a:t>
            </a:r>
            <a:r>
              <a:rPr kumimoji="0" lang="en-US" sz="18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</a:t>
            </a:r>
            <a:r>
              <a:rPr kumimoji="0" lang="en-US" sz="18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800" b="0" u="sng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loss </a:t>
            </a:r>
            <a:r>
              <a:rPr kumimoji="0" lang="en-US" sz="1800" b="0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incident</a:t>
            </a: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. </a:t>
            </a:r>
            <a:endParaRPr kumimoji="0" lang="en-US" sz="18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endParaRPr lang="en-US" sz="1800" dirty="0">
              <a:solidFill>
                <a:schemeClr val="bg1"/>
              </a:solidFill>
            </a:endParaRPr>
          </a:p>
          <a:p>
            <a:pPr lvl="0">
              <a:spcBef>
                <a:spcPts val="400"/>
              </a:spcBef>
              <a:buClrTx/>
              <a:buSzPts val="1600"/>
              <a:defRPr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u="sng" dirty="0" smtClean="0">
                <a:solidFill>
                  <a:schemeClr val="bg1"/>
                </a:solidFill>
              </a:rPr>
              <a:t>triggering event</a:t>
            </a:r>
            <a:r>
              <a:rPr lang="en-US" sz="1800" dirty="0" smtClean="0">
                <a:solidFill>
                  <a:schemeClr val="bg1"/>
                </a:solidFill>
              </a:rPr>
              <a:t> (dashed lines) may</a:t>
            </a:r>
            <a:r>
              <a:rPr lang="en-US" sz="1800" dirty="0" smtClean="0">
                <a:solidFill>
                  <a:schemeClr val="bg1"/>
                </a:solidFill>
              </a:rPr>
              <a:t>: 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solidFill>
                  <a:schemeClr val="bg1"/>
                </a:solidFill>
              </a:rPr>
              <a:t>Put someone or something </a:t>
            </a:r>
            <a:r>
              <a:rPr lang="en-US" sz="1800" dirty="0" smtClean="0">
                <a:solidFill>
                  <a:schemeClr val="bg1"/>
                </a:solidFill>
              </a:rPr>
              <a:t>in </a:t>
            </a:r>
            <a:r>
              <a:rPr lang="en-US" sz="1800" dirty="0">
                <a:solidFill>
                  <a:schemeClr val="bg1"/>
                </a:solidFill>
              </a:rPr>
              <a:t>the </a:t>
            </a:r>
            <a:r>
              <a:rPr lang="en-US" sz="1800" dirty="0" smtClean="0">
                <a:solidFill>
                  <a:schemeClr val="bg1"/>
                </a:solidFill>
              </a:rPr>
              <a:t/>
            </a:r>
            <a:br>
              <a:rPr lang="en-US" sz="1800" dirty="0" smtClean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line </a:t>
            </a:r>
            <a:r>
              <a:rPr lang="en-US" sz="1800" dirty="0">
                <a:solidFill>
                  <a:schemeClr val="bg1"/>
                </a:solidFill>
              </a:rPr>
              <a:t>of </a:t>
            </a:r>
            <a:r>
              <a:rPr lang="en-US" sz="1800" dirty="0" smtClean="0">
                <a:solidFill>
                  <a:schemeClr val="bg1"/>
                </a:solidFill>
              </a:rPr>
              <a:t>fire, or 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solidFill>
                  <a:schemeClr val="bg1"/>
                </a:solidFill>
              </a:rPr>
              <a:t>Initiate the release of an energy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 smtClean="0">
                <a:solidFill>
                  <a:schemeClr val="bg1"/>
                </a:solidFill>
              </a:rPr>
              <a:t>source, or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sz="1800" dirty="0" smtClean="0">
                <a:solidFill>
                  <a:schemeClr val="bg1"/>
                </a:solidFill>
              </a:rPr>
              <a:t>Defeat a </a:t>
            </a:r>
            <a:r>
              <a:rPr lang="en-US" sz="1800" dirty="0">
                <a:solidFill>
                  <a:schemeClr val="bg1"/>
                </a:solidFill>
              </a:rPr>
              <a:t>control </a:t>
            </a:r>
            <a:r>
              <a:rPr lang="en-US" sz="1800" dirty="0" smtClean="0">
                <a:solidFill>
                  <a:schemeClr val="bg1"/>
                </a:solidFill>
              </a:rPr>
              <a:t>measure. </a:t>
            </a:r>
            <a:endParaRPr lang="en-US" sz="1800" dirty="0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endParaRPr lang="en-US" sz="1800" dirty="0" smtClean="0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r>
              <a:rPr lang="en-US" sz="1800" dirty="0" smtClean="0">
                <a:solidFill>
                  <a:schemeClr val="bg1"/>
                </a:solidFill>
              </a:rPr>
              <a:t>Something falls (energy), the person is under it, and is not wearing a hard hat.</a:t>
            </a:r>
            <a:endParaRPr kumimoji="0" sz="1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328140" y="1067902"/>
            <a:ext cx="4490059" cy="4490058"/>
            <a:chOff x="4162598" y="1517219"/>
            <a:chExt cx="4490059" cy="4490058"/>
          </a:xfrm>
        </p:grpSpPr>
        <p:sp>
          <p:nvSpPr>
            <p:cNvPr id="17" name="Freeform 16"/>
            <p:cNvSpPr/>
            <p:nvPr/>
          </p:nvSpPr>
          <p:spPr>
            <a:xfrm>
              <a:off x="5285113" y="3762247"/>
              <a:ext cx="2245029" cy="2245030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2245029" y="0"/>
                  </a:moveTo>
                  <a:lnTo>
                    <a:pt x="1122514" y="2245029"/>
                  </a:lnTo>
                  <a:lnTo>
                    <a:pt x="0" y="0"/>
                  </a:lnTo>
                  <a:lnTo>
                    <a:pt x="2245029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36001" rIns="561256" bIns="1158515" numCol="1" spcCol="1270" anchor="t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Loss Incident</a:t>
              </a:r>
              <a:endParaRPr lang="en-US" sz="1800" b="1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5285113" y="1517219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FF00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 Source</a:t>
              </a:r>
              <a:endParaRPr lang="en-US" sz="1800" b="1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416259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66FFFF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of Fire</a:t>
              </a:r>
              <a:endParaRPr lang="en-US" sz="18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640762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00FF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Measures</a:t>
              </a:r>
              <a:endParaRPr lang="en-US" sz="18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Picture 2" descr="Free vector graphic: &lt;strong&gt;Lightning, Bolt&lt;/strong&gt;, Yellow, Energy ...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80180">
              <a:off x="5956449" y="2080354"/>
              <a:ext cx="929600" cy="1008000"/>
            </a:xfrm>
            <a:prstGeom prst="rect">
              <a:avLst/>
            </a:prstGeom>
          </p:spPr>
        </p:pic>
        <p:pic>
          <p:nvPicPr>
            <p:cNvPr id="4" name="Picture 3" descr="&lt;strong&gt;Target&lt;/strong&gt; Arrow &lt;strong&gt;Bulls Eye&lt;/strong&gt; - Free vector graphic on Pixabay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476" y="4606212"/>
              <a:ext cx="813049" cy="788276"/>
            </a:xfrm>
            <a:prstGeom prst="rect">
              <a:avLst/>
            </a:prstGeom>
          </p:spPr>
        </p:pic>
        <p:pic>
          <p:nvPicPr>
            <p:cNvPr id="7" name="Picture 6" descr="Clipart - Safety helmet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660" y="4606212"/>
              <a:ext cx="943240" cy="791929"/>
            </a:xfrm>
            <a:prstGeom prst="rect">
              <a:avLst/>
            </a:prstGeom>
          </p:spPr>
        </p:pic>
        <p:pic>
          <p:nvPicPr>
            <p:cNvPr id="8" name="Picture 7" descr="File:072-face-with-&lt;strong&gt;head&lt;/strong&gt;-&lt;strong&gt;bandage&lt;/strong&gt;.svg - Wikimedia Commons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3851" y="4257036"/>
              <a:ext cx="1030441" cy="1030441"/>
            </a:xfrm>
            <a:prstGeom prst="rect">
              <a:avLst/>
            </a:prstGeom>
          </p:spPr>
        </p:pic>
        <p:pic>
          <p:nvPicPr>
            <p:cNvPr id="10" name="Picture 9" descr="&lt;strong&gt;Cross&lt;/strong&gt; Delete Remove · Free vector graphic on Pixabay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4292" y="4677895"/>
              <a:ext cx="949559" cy="6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04450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Can be applied to analyze a loss incident …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Can be applied to analyze a set of conditions or circumstances that may lead to a loss incident …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Applications of 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Incident Model: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184030" y="1580281"/>
            <a:ext cx="4490059" cy="4490058"/>
            <a:chOff x="4162598" y="1517219"/>
            <a:chExt cx="4490059" cy="4490058"/>
          </a:xfrm>
        </p:grpSpPr>
        <p:sp>
          <p:nvSpPr>
            <p:cNvPr id="15" name="Freeform 14"/>
            <p:cNvSpPr/>
            <p:nvPr/>
          </p:nvSpPr>
          <p:spPr>
            <a:xfrm>
              <a:off x="5285113" y="3762247"/>
              <a:ext cx="2245029" cy="2245030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2245029" y="0"/>
                  </a:moveTo>
                  <a:lnTo>
                    <a:pt x="1122514" y="2245029"/>
                  </a:lnTo>
                  <a:lnTo>
                    <a:pt x="0" y="0"/>
                  </a:lnTo>
                  <a:lnTo>
                    <a:pt x="2245029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36001" rIns="561256" bIns="1158515" numCol="1" spcCol="1270" anchor="t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Loss Incident</a:t>
              </a:r>
              <a:endParaRPr lang="en-US" sz="1800" b="1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5285113" y="1517219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FF00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 Source</a:t>
              </a:r>
              <a:endParaRPr lang="en-US" sz="1800" b="1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416259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66FFFF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of Fire</a:t>
              </a:r>
              <a:endParaRPr lang="en-US" sz="18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6407628" y="3762248"/>
              <a:ext cx="2245029" cy="2245029"/>
            </a:xfrm>
            <a:custGeom>
              <a:avLst/>
              <a:gdLst>
                <a:gd name="connsiteX0" fmla="*/ 0 w 2245029"/>
                <a:gd name="connsiteY0" fmla="*/ 2245029 h 2245029"/>
                <a:gd name="connsiteX1" fmla="*/ 1122515 w 2245029"/>
                <a:gd name="connsiteY1" fmla="*/ 0 h 2245029"/>
                <a:gd name="connsiteX2" fmla="*/ 2245029 w 2245029"/>
                <a:gd name="connsiteY2" fmla="*/ 2245029 h 2245029"/>
                <a:gd name="connsiteX3" fmla="*/ 0 w 2245029"/>
                <a:gd name="connsiteY3" fmla="*/ 2245029 h 2245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5029" h="2245029">
                  <a:moveTo>
                    <a:pt x="0" y="2245029"/>
                  </a:moveTo>
                  <a:lnTo>
                    <a:pt x="1122515" y="0"/>
                  </a:lnTo>
                  <a:lnTo>
                    <a:pt x="2245029" y="2245029"/>
                  </a:lnTo>
                  <a:lnTo>
                    <a:pt x="0" y="2245029"/>
                  </a:lnTo>
                  <a:close/>
                </a:path>
              </a:pathLst>
            </a:custGeom>
            <a:solidFill>
              <a:srgbClr val="00FF00"/>
            </a:solidFill>
            <a:ln w="76200">
              <a:solidFill>
                <a:srgbClr val="FFFF00"/>
              </a:solidFill>
              <a:prstDash val="sysDash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1257" tIns="1158515" rIns="561257" bIns="36000" numCol="1" spcCol="1270" anchor="b" anchorCtr="1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Measures</a:t>
              </a:r>
              <a:endParaRPr lang="en-US" sz="18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 descr="Free vector graphic: &lt;strong&gt;Lightning, Bolt&lt;/strong&gt;, Yellow, Energy ...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80180">
              <a:off x="5956449" y="2080354"/>
              <a:ext cx="929600" cy="1008000"/>
            </a:xfrm>
            <a:prstGeom prst="rect">
              <a:avLst/>
            </a:prstGeom>
          </p:spPr>
        </p:pic>
        <p:pic>
          <p:nvPicPr>
            <p:cNvPr id="20" name="Picture 19" descr="&lt;strong&gt;Target&lt;/strong&gt; Arrow &lt;strong&gt;Bulls Eye&lt;/strong&gt; - Free vector graphic on Pixabay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4476" y="4606212"/>
              <a:ext cx="813049" cy="788276"/>
            </a:xfrm>
            <a:prstGeom prst="rect">
              <a:avLst/>
            </a:prstGeom>
          </p:spPr>
        </p:pic>
        <p:pic>
          <p:nvPicPr>
            <p:cNvPr id="21" name="Picture 20" descr="Clipart - Safety helmet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2660" y="4606212"/>
              <a:ext cx="943240" cy="791929"/>
            </a:xfrm>
            <a:prstGeom prst="rect">
              <a:avLst/>
            </a:prstGeom>
          </p:spPr>
        </p:pic>
        <p:pic>
          <p:nvPicPr>
            <p:cNvPr id="22" name="Picture 21" descr="File:072-face-with-&lt;strong&gt;head&lt;/strong&gt;-&lt;strong&gt;bandage&lt;/strong&gt;.svg - Wikimedia Commons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3851" y="4257036"/>
              <a:ext cx="1030441" cy="1030441"/>
            </a:xfrm>
            <a:prstGeom prst="rect">
              <a:avLst/>
            </a:prstGeom>
          </p:spPr>
        </p:pic>
        <p:pic>
          <p:nvPicPr>
            <p:cNvPr id="23" name="Picture 22" descr="&lt;strong&gt;Cross&lt;/strong&gt; Delete Remove · Free vector graphic on Pixabay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4292" y="4677895"/>
              <a:ext cx="949559" cy="6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84312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Activity/Process: Refrigeration process uses ammonia and brine to make ice surfaces for skating, hockey, and curling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Hazard: Ammonia contained in piping (highly toxic, reactive, corrosive, operates at higher pressure than brine</a:t>
            </a: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Refrigeration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component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the brine chiller: brine solution flows through tubes inside a heat exchanger; ammonia liquid in side the shell of the heat exchanger and over the outside of the tubes full of brine; the cooler ammonia liquid cools the hotter brine; the brine flows to the sub-surface pipes in the ice rink to create ice.</a:t>
            </a: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b="1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</a:t>
            </a:r>
            <a:r>
              <a:rPr lang="en-CA" altLang="en-US" b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keep ammonia gas (high pressure system) from leaking into the brine (low pressure system) </a:t>
            </a:r>
            <a:r>
              <a:rPr lang="en-CA" altLang="en-US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system. </a:t>
            </a:r>
            <a:endParaRPr lang="en-CA" altLang="en-US" b="1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 if it does: ammonia gas over-pressures and ruptures the lower-pressure-rated brine piping system, resulting in a leak of ammonia gas into the work space.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Memorial Arena – Refrigeration Primer: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92435568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CA" altLang="en-US" sz="1600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 to the Incident: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Refrigeration </a:t>
            </a: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Equipment: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~ 30 years old at time of incident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Life span: 20-25 years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Oct 5, 2010 – recommendation to replace equipment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Jan 4, 2011 – another recommendation to replace </a:t>
            </a: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eqpt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Pin-hole leak in the chiller brine tube developed over time due to corrosion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Pin-hole leak was not repaired during the 2017 Summer Shutdown </a:t>
            </a:r>
            <a:b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(not known if or when it was detected)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Chiller was put back into service on Oct. 16, 2017, 06:00 AM</a:t>
            </a:r>
            <a:endParaRPr lang="en-CA" altLang="en-US" sz="16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Ammonia Leak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at The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Memorial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Arena LI: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7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55" y="3117289"/>
            <a:ext cx="6528113" cy="31107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8562" y="3492000"/>
            <a:ext cx="1624155" cy="738664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Brine Recirculation Pumps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9264" y="5131619"/>
            <a:ext cx="1494759" cy="523220"/>
          </a:xfrm>
          <a:prstGeom prst="homePlate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Ammonia Compressors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22577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Date </a:t>
            </a:r>
            <a:r>
              <a:rPr kumimoji="0" lang="en-CA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of incident: Oct 17, 2017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Early morning: Ammonia escaped into the mechanical / compressor room</a:t>
            </a:r>
            <a:r>
              <a:rPr kumimoji="0" lang="en-CA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at</a:t>
            </a: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the </a:t>
            </a:r>
            <a:r>
              <a:rPr kumimoji="0" lang="en-CA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Arena</a:t>
            </a:r>
            <a:endParaRPr kumimoji="0" lang="en-CA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03:52 AM: Ammonia </a:t>
            </a:r>
            <a:r>
              <a:rPr kumimoji="0" lang="en-CA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monitoring </a:t>
            </a: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system </a:t>
            </a: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triggered alarms in response to the leak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Emergency </a:t>
            </a: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responders and workers </a:t>
            </a:r>
            <a:r>
              <a:rPr kumimoji="0" lang="en-CA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responded to </a:t>
            </a:r>
            <a:r>
              <a:rPr kumimoji="0" lang="en-CA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alarms and entered the mechanical room</a:t>
            </a:r>
            <a:r>
              <a:rPr kumimoji="0" lang="en-CA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wearing self-contained breathing apparatus; ammonia concentration was 300 ppm, IDLH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Emergency responders ventilated the building to reduce ammonia concentration, 50 ppm</a:t>
            </a:r>
            <a:endParaRPr kumimoji="0" lang="en-CA" altLang="en-US" sz="16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City worker isolated the leaking chiller, shutdown the system, and dismissed the emergency responders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City workers subsequently decided to restart the compressor but could not because the compressor oil was contaminated with brine (compressors are on the ammonia system)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600" b="0" i="0" u="none" strike="noStrike" kern="1200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Refrigeration mechanic assigned to change compressor oil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kumimoji="0" lang="en-CA" altLang="en-US" sz="1600" b="0" i="0" u="none" strike="noStrike" kern="1200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mmonia alarm was silenced</a:t>
            </a:r>
            <a:endParaRPr kumimoji="0" lang="en-CA" altLang="en-US" sz="16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9:00AM: The mechanic and the </a:t>
            </a: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city workers entered the compressor room to change the oil </a:t>
            </a:r>
            <a:r>
              <a:rPr kumimoji="0" lang="en-CA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without adequate safeguards and control measures (no SCBA PPE, no personal exposure monitors, no back-up team, no emergency responders)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Since the chiller start-up the previous day, ammonia continued to leak into the brine piping system and building pressure in the brine system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600" b="0" i="0" u="none" strike="noStrike" kern="1200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9:30AM The brine system over-pressure eventually caused a piping component to fail catastrophically; bine-ammonia mixture rapidly sprayed the workers and filled the room </a:t>
            </a:r>
            <a:endParaRPr kumimoji="0" lang="en-CA" altLang="en-US" sz="16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Ammonia concentrations were not survivable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6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 </a:t>
            </a:r>
            <a:r>
              <a:rPr lang="en-CA" altLang="en-US" sz="16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PEAP: three fatalities (P), leak of toxic material (E), ? (A), rinks out of use for a period of time, schedule disruption (P)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Ammonia Leak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at The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Memorial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Arena LI: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7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56630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Tx/>
              <a:buSzPts val="2400"/>
              <a:buFontTx/>
              <a:buNone/>
            </a:pPr>
            <a:r>
              <a:rPr lang="en-CA" altLang="en-US" sz="2400" dirty="0" smtClean="0">
                <a:solidFill>
                  <a:srgbClr val="FFFFFF"/>
                </a:solidFill>
              </a:rPr>
              <a:t>ALE #4: </a:t>
            </a:r>
            <a:r>
              <a:rPr lang="en-CA" altLang="en-US" sz="2400" dirty="0">
                <a:solidFill>
                  <a:srgbClr val="FFFFFF"/>
                </a:solidFill>
              </a:rPr>
              <a:t>Ammonia Leak at The </a:t>
            </a:r>
            <a:r>
              <a:rPr lang="en-CA" altLang="en-US" sz="2400" dirty="0" err="1">
                <a:solidFill>
                  <a:srgbClr val="FFFFFF"/>
                </a:solidFill>
              </a:rPr>
              <a:t>Fernie</a:t>
            </a:r>
            <a:r>
              <a:rPr lang="en-CA" altLang="en-US" sz="2400" dirty="0">
                <a:solidFill>
                  <a:srgbClr val="FFFFFF"/>
                </a:solidFill>
              </a:rPr>
              <a:t> Memorial Arena LI: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sp>
        <p:nvSpPr>
          <p:cNvPr id="6" name="Google Shape;292;p15">
            <a:extLst>
              <a:ext uri="{FF2B5EF4-FFF2-40B4-BE49-F238E27FC236}">
                <a16:creationId xmlns:a16="http://schemas.microsoft.com/office/drawing/2014/main" id="{24D2CDEC-D4D5-4A3B-AE1A-9E4913B3F240}"/>
              </a:ext>
            </a:extLst>
          </p:cNvPr>
          <p:cNvSpPr txBox="1"/>
          <p:nvPr/>
        </p:nvSpPr>
        <p:spPr>
          <a:xfrm>
            <a:off x="180000" y="828000"/>
            <a:ext cx="8633400" cy="2478726"/>
          </a:xfrm>
          <a:prstGeom prst="rect">
            <a:avLst/>
          </a:prstGeom>
          <a:solidFill>
            <a:srgbClr val="0000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400"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confer: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What components of the </a:t>
            </a:r>
            <a:r>
              <a:rPr kumimoji="0" lang="en-US" sz="2000" b="1" u="sng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Incident Model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do you see? 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</a:t>
            </a:r>
            <a:r>
              <a:rPr lang="en-US" sz="2000" dirty="0" smtClean="0">
                <a:solidFill>
                  <a:srgbClr val="FFFFFF"/>
                </a:solidFill>
              </a:rPr>
              <a:t>MM-Poll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)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indent="-342900">
              <a:spcBef>
                <a:spcPts val="600"/>
              </a:spcBef>
              <a:buClr>
                <a:srgbClr val="FFFFFF"/>
              </a:buClr>
              <a:buSzPts val="2400"/>
              <a:buFont typeface="Noto Sans Symbols"/>
              <a:buChar char="⮚"/>
              <a:defRPr/>
            </a:pPr>
            <a:r>
              <a:rPr lang="en-US" sz="2000" dirty="0">
                <a:solidFill>
                  <a:srgbClr val="FFFFFF"/>
                </a:solidFill>
              </a:rPr>
              <a:t>Type of incident: </a:t>
            </a:r>
            <a:r>
              <a:rPr lang="en-US" sz="2000" u="sng" dirty="0">
                <a:solidFill>
                  <a:srgbClr val="FFFFFF"/>
                </a:solidFill>
              </a:rPr>
              <a:t>Occupational</a:t>
            </a:r>
            <a:r>
              <a:rPr lang="en-US" sz="2000" dirty="0">
                <a:solidFill>
                  <a:srgbClr val="FFFFFF"/>
                </a:solidFill>
              </a:rPr>
              <a:t> Safety or </a:t>
            </a:r>
            <a:r>
              <a:rPr lang="en-US" sz="2000" u="sng" dirty="0">
                <a:solidFill>
                  <a:srgbClr val="FFFFFF"/>
                </a:solidFill>
              </a:rPr>
              <a:t>Process</a:t>
            </a:r>
            <a:r>
              <a:rPr lang="en-US" sz="2000" dirty="0">
                <a:solidFill>
                  <a:srgbClr val="FFFFFF"/>
                </a:solidFill>
              </a:rPr>
              <a:t> Safety? (MM-Poll)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If 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you were in charge of Alberta OH&amp;S, what would you do in response to reading the </a:t>
            </a:r>
            <a:r>
              <a:rPr kumimoji="0" lang="en-US" sz="2000" b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WorkSafeBC</a:t>
            </a: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 Report?   </a:t>
            </a:r>
            <a:b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</a:t>
            </a:r>
            <a:r>
              <a:rPr lang="en-US" sz="2000" noProof="0" dirty="0" smtClean="0">
                <a:solidFill>
                  <a:srgbClr val="FFFFFF"/>
                </a:solidFill>
              </a:rPr>
              <a:t>MM-Poll</a:t>
            </a:r>
            <a:r>
              <a:rPr kumimoji="0" lang="en-US" sz="2000" b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)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/>
            </a:r>
            <a:b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7" name="Google Shape;294;p15">
            <a:extLst>
              <a:ext uri="{FF2B5EF4-FFF2-40B4-BE49-F238E27FC236}">
                <a16:creationId xmlns:a16="http://schemas.microsoft.com/office/drawing/2014/main" id="{A56E3754-4687-44C7-96ED-446B4DDD8F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618" y="4055920"/>
            <a:ext cx="3605819" cy="20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95;p15">
            <a:extLst>
              <a:ext uri="{FF2B5EF4-FFF2-40B4-BE49-F238E27FC236}">
                <a16:creationId xmlns:a16="http://schemas.microsoft.com/office/drawing/2014/main" id="{52CFA4C0-A4E0-4253-8A9C-0993F6FB58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9297" y="4055920"/>
            <a:ext cx="3201659" cy="1974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96;p15">
            <a:extLst>
              <a:ext uri="{FF2B5EF4-FFF2-40B4-BE49-F238E27FC236}">
                <a16:creationId xmlns:a16="http://schemas.microsoft.com/office/drawing/2014/main" id="{FCFC2352-52BB-40AC-8193-FE953ADF7670}"/>
              </a:ext>
            </a:extLst>
          </p:cNvPr>
          <p:cNvSpPr txBox="1"/>
          <p:nvPr/>
        </p:nvSpPr>
        <p:spPr>
          <a:xfrm>
            <a:off x="180000" y="3373097"/>
            <a:ext cx="8229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Image courtesy of Technical Safety BC. Accessed at: https://www.technicalsafetybc.ca/sites/default/files/2018-07/FaultTrees/TSBC_257671_InvestigationReport_v14_online.pdf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Google Shape;297;p15">
            <a:extLst>
              <a:ext uri="{FF2B5EF4-FFF2-40B4-BE49-F238E27FC236}">
                <a16:creationId xmlns:a16="http://schemas.microsoft.com/office/drawing/2014/main" id="{0D7332C2-046D-4155-A52A-A87C7C53F411}"/>
              </a:ext>
            </a:extLst>
          </p:cNvPr>
          <p:cNvSpPr/>
          <p:nvPr/>
        </p:nvSpPr>
        <p:spPr>
          <a:xfrm>
            <a:off x="3871114" y="4650327"/>
            <a:ext cx="1354388" cy="83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365" y="3527884"/>
            <a:ext cx="1903095" cy="19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1278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Components of the Incident Model?</a:t>
            </a: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 of Fire: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went into the maintenance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building</a:t>
            </a: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Lack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Control Measure: 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Workers did not clear the inside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air before entry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baseline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did not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wear breathing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apparatus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containment (loss of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“control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”)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ammonia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Energy Source: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Ammonia, a compressed toxic gas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Trigger: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Non-detected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corrosion of the piping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system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/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inadequate corrosion monitoring of the ammonia chiller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tubes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Ammonia Leak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at The </a:t>
            </a:r>
            <a:r>
              <a:rPr kumimoji="0" lang="en-CA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 Deeper Dive Into The Incident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69" y="2270234"/>
            <a:ext cx="3115770" cy="31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316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CA" altLang="en-US" i="1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Type of incident: “Occupational Safety” or “Process Safety”?  Both!</a:t>
            </a:r>
            <a:endParaRPr lang="en-US" altLang="en-US" i="1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OS: Failure to wear PPE, respiratory protection, breathing apparatus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PS: Failure to prevent corrosion of the piping system</a:t>
            </a: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lang="en-CA" altLang="en-US" i="1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If you were in charge of Alberta OH&amp;S, what would you do in response to reading the </a:t>
            </a:r>
            <a:r>
              <a:rPr kumimoji="0" lang="en-CA" altLang="en-US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WorkSafeBC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Report?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November 2017: </a:t>
            </a:r>
            <a:r>
              <a:rPr kumimoji="0" lang="en-CA" alt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WorkSafe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BC kicked off a 3 phase review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Phase I – 180 of 223 rinks in BC use ammonia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Phase II – review of contractors who work on ammonia systems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Phase III – review other BC industries that use ammonia (food processing, industrial chemical manufacturing)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Ammonia Leak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at The </a:t>
            </a:r>
            <a:r>
              <a:rPr kumimoji="0" lang="en-CA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Fernie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 Deeper Dive Into The Incident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260096740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activities have associated hazards; uncontrolled hazards lead to consequences.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Understanding and analyzing the why &amp; how of incidents are important for learning to prevent loss incidents.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best organizations learn from both their incidents &amp; those of others.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and process safety are related &amp; both are important.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Incident Model: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Energy,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Fire,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Measures,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Triggering Event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2.2 Anatomy of an Incident</a:t>
            </a: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1674</Words>
  <Application>Microsoft Office PowerPoint</Application>
  <PresentationFormat>On-screen Show (4:3)</PresentationFormat>
  <Paragraphs>261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Noto Sans Symbols</vt:lpstr>
      <vt:lpstr>Times New Roman</vt:lpstr>
      <vt:lpstr>Tw Cen MT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Becoming a Leader in Risk Management</dc:title>
  <dc:creator>JR Cocchio</dc:creator>
  <cp:lastModifiedBy>John Cocchio</cp:lastModifiedBy>
  <cp:revision>74</cp:revision>
  <dcterms:created xsi:type="dcterms:W3CDTF">2011-09-07T03:22:54Z</dcterms:created>
  <dcterms:modified xsi:type="dcterms:W3CDTF">2022-05-02T18:35:13Z</dcterms:modified>
</cp:coreProperties>
</file>