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33"/>
  </p:notesMasterIdLst>
  <p:handoutMasterIdLst>
    <p:handoutMasterId r:id="rId34"/>
  </p:handoutMasterIdLst>
  <p:sldIdLst>
    <p:sldId id="895" r:id="rId3"/>
    <p:sldId id="880" r:id="rId4"/>
    <p:sldId id="924" r:id="rId5"/>
    <p:sldId id="959" r:id="rId6"/>
    <p:sldId id="961" r:id="rId7"/>
    <p:sldId id="962" r:id="rId8"/>
    <p:sldId id="946" r:id="rId9"/>
    <p:sldId id="907" r:id="rId10"/>
    <p:sldId id="926" r:id="rId11"/>
    <p:sldId id="966" r:id="rId12"/>
    <p:sldId id="969" r:id="rId13"/>
    <p:sldId id="972" r:id="rId14"/>
    <p:sldId id="965" r:id="rId15"/>
    <p:sldId id="947" r:id="rId16"/>
    <p:sldId id="911" r:id="rId17"/>
    <p:sldId id="968" r:id="rId18"/>
    <p:sldId id="931" r:id="rId19"/>
    <p:sldId id="914" r:id="rId20"/>
    <p:sldId id="948" r:id="rId21"/>
    <p:sldId id="916" r:id="rId22"/>
    <p:sldId id="970" r:id="rId23"/>
    <p:sldId id="935" r:id="rId24"/>
    <p:sldId id="936" r:id="rId25"/>
    <p:sldId id="930" r:id="rId26"/>
    <p:sldId id="949" r:id="rId27"/>
    <p:sldId id="967" r:id="rId28"/>
    <p:sldId id="971" r:id="rId29"/>
    <p:sldId id="952" r:id="rId30"/>
    <p:sldId id="940" r:id="rId31"/>
    <p:sldId id="900" r:id="rId32"/>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24"/>
            <p14:sldId id="959"/>
            <p14:sldId id="961"/>
            <p14:sldId id="962"/>
            <p14:sldId id="946"/>
            <p14:sldId id="907"/>
            <p14:sldId id="926"/>
            <p14:sldId id="966"/>
            <p14:sldId id="969"/>
            <p14:sldId id="972"/>
            <p14:sldId id="965"/>
            <p14:sldId id="947"/>
            <p14:sldId id="911"/>
            <p14:sldId id="968"/>
            <p14:sldId id="931"/>
            <p14:sldId id="914"/>
            <p14:sldId id="948"/>
            <p14:sldId id="916"/>
            <p14:sldId id="970"/>
            <p14:sldId id="935"/>
            <p14:sldId id="936"/>
            <p14:sldId id="930"/>
            <p14:sldId id="949"/>
            <p14:sldId id="967"/>
            <p14:sldId id="971"/>
            <p14:sldId id="952"/>
            <p14:sldId id="940"/>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99FF99"/>
    <a:srgbClr val="FFFF99"/>
    <a:srgbClr val="FF9999"/>
    <a:srgbClr val="CC99FF"/>
    <a:srgbClr val="FF99CC"/>
    <a:srgbClr val="99CCFF"/>
    <a:srgbClr val="6699FF"/>
    <a:srgbClr val="FFCC99"/>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658" autoAdjust="0"/>
    <p:restoredTop sz="82391" autoAdjust="0"/>
  </p:normalViewPr>
  <p:slideViewPr>
    <p:cSldViewPr>
      <p:cViewPr varScale="1">
        <p:scale>
          <a:sx n="58" d="100"/>
          <a:sy n="58" d="100"/>
        </p:scale>
        <p:origin x="1172" y="3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0" d="100"/>
        <a:sy n="110" d="100"/>
      </p:scale>
      <p:origin x="0" y="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5BB718-C6EC-4723-BCED-180DD21E2FF6}"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4FF97EF3-2A45-46E9-8AA5-3DFB1B77E9B4}">
      <dgm:prSet phldrT="[Text]" custT="1"/>
      <dgm:spPr>
        <a:solidFill>
          <a:srgbClr val="FF99CC"/>
        </a:solidFill>
        <a:ln>
          <a:solidFill>
            <a:srgbClr val="0000FF"/>
          </a:solidFill>
        </a:ln>
      </dgm:spPr>
      <dgm:t>
        <a:bodyPr/>
        <a:lstStyle/>
        <a:p>
          <a:r>
            <a:rPr lang="en-US" sz="1600" dirty="0" smtClean="0">
              <a:solidFill>
                <a:schemeClr val="tx1"/>
              </a:solidFill>
            </a:rPr>
            <a:t>Transparency</a:t>
          </a:r>
          <a:endParaRPr lang="en-US" sz="1600" dirty="0">
            <a:solidFill>
              <a:schemeClr val="tx1"/>
            </a:solidFill>
          </a:endParaRPr>
        </a:p>
      </dgm:t>
    </dgm:pt>
    <dgm:pt modelId="{243B07EB-BEA2-4E88-8C30-3CFCB5DC3D36}" type="parTrans" cxnId="{70F4253E-127E-4538-B3C0-2986DF31E608}">
      <dgm:prSet/>
      <dgm:spPr/>
      <dgm:t>
        <a:bodyPr/>
        <a:lstStyle/>
        <a:p>
          <a:endParaRPr lang="en-US" sz="1600">
            <a:solidFill>
              <a:schemeClr val="tx1"/>
            </a:solidFill>
          </a:endParaRPr>
        </a:p>
      </dgm:t>
    </dgm:pt>
    <dgm:pt modelId="{5D888BAA-DB3E-49E4-A288-9F9CBAAB12ED}" type="sibTrans" cxnId="{70F4253E-127E-4538-B3C0-2986DF31E608}">
      <dgm:prSet/>
      <dgm:spPr>
        <a:ln w="57150">
          <a:solidFill>
            <a:srgbClr val="0000FF"/>
          </a:solidFill>
        </a:ln>
      </dgm:spPr>
      <dgm:t>
        <a:bodyPr/>
        <a:lstStyle/>
        <a:p>
          <a:endParaRPr lang="en-US" sz="1600">
            <a:solidFill>
              <a:schemeClr val="tx1"/>
            </a:solidFill>
          </a:endParaRPr>
        </a:p>
      </dgm:t>
    </dgm:pt>
    <dgm:pt modelId="{45FACE26-60A0-4D5E-94AB-BDE0D68BF89A}">
      <dgm:prSet phldrT="[Text]" custT="1"/>
      <dgm:spPr>
        <a:solidFill>
          <a:srgbClr val="CC99FF"/>
        </a:solidFill>
        <a:ln>
          <a:solidFill>
            <a:srgbClr val="0000FF"/>
          </a:solidFill>
        </a:ln>
      </dgm:spPr>
      <dgm:t>
        <a:bodyPr/>
        <a:lstStyle/>
        <a:p>
          <a:r>
            <a:rPr lang="en-US" sz="1600" dirty="0" smtClean="0">
              <a:solidFill>
                <a:schemeClr val="tx1"/>
              </a:solidFill>
            </a:rPr>
            <a:t>Accountability</a:t>
          </a:r>
          <a:endParaRPr lang="en-US" sz="1600" dirty="0">
            <a:solidFill>
              <a:schemeClr val="tx1"/>
            </a:solidFill>
          </a:endParaRPr>
        </a:p>
      </dgm:t>
    </dgm:pt>
    <dgm:pt modelId="{F434D03B-8194-40F0-8163-5EF5B771E9B4}" type="parTrans" cxnId="{1670553B-62E1-4D8D-8DB0-82890E81EA2A}">
      <dgm:prSet/>
      <dgm:spPr/>
      <dgm:t>
        <a:bodyPr/>
        <a:lstStyle/>
        <a:p>
          <a:endParaRPr lang="en-US" sz="1600">
            <a:solidFill>
              <a:schemeClr val="tx1"/>
            </a:solidFill>
          </a:endParaRPr>
        </a:p>
      </dgm:t>
    </dgm:pt>
    <dgm:pt modelId="{E89C5B80-467D-4DA3-80A5-8D2EA766163B}" type="sibTrans" cxnId="{1670553B-62E1-4D8D-8DB0-82890E81EA2A}">
      <dgm:prSet/>
      <dgm:spPr>
        <a:ln w="57150">
          <a:solidFill>
            <a:srgbClr val="0000FF"/>
          </a:solidFill>
        </a:ln>
      </dgm:spPr>
      <dgm:t>
        <a:bodyPr/>
        <a:lstStyle/>
        <a:p>
          <a:endParaRPr lang="en-US" sz="1600">
            <a:solidFill>
              <a:schemeClr val="tx1"/>
            </a:solidFill>
          </a:endParaRPr>
        </a:p>
      </dgm:t>
    </dgm:pt>
    <dgm:pt modelId="{CEA2A226-7C53-491D-8347-80CF3312A5CD}">
      <dgm:prSet phldrT="[Text]" custT="1"/>
      <dgm:spPr>
        <a:solidFill>
          <a:srgbClr val="FF9999"/>
        </a:solidFill>
        <a:ln>
          <a:solidFill>
            <a:srgbClr val="0000FF"/>
          </a:solidFill>
        </a:ln>
      </dgm:spPr>
      <dgm:t>
        <a:bodyPr/>
        <a:lstStyle/>
        <a:p>
          <a:r>
            <a:rPr lang="en-US" sz="1600" dirty="0" smtClean="0">
              <a:solidFill>
                <a:schemeClr val="tx1"/>
              </a:solidFill>
            </a:rPr>
            <a:t>Empathy</a:t>
          </a:r>
          <a:endParaRPr lang="en-US" sz="1600" dirty="0">
            <a:solidFill>
              <a:schemeClr val="tx1"/>
            </a:solidFill>
          </a:endParaRPr>
        </a:p>
      </dgm:t>
    </dgm:pt>
    <dgm:pt modelId="{0813D3E1-0D83-4B2D-8E16-7606CD5BC118}" type="parTrans" cxnId="{E8BD25A4-7AFA-41BC-8389-081EB25F9D1E}">
      <dgm:prSet/>
      <dgm:spPr/>
      <dgm:t>
        <a:bodyPr/>
        <a:lstStyle/>
        <a:p>
          <a:endParaRPr lang="en-US" sz="1600">
            <a:solidFill>
              <a:schemeClr val="tx1"/>
            </a:solidFill>
          </a:endParaRPr>
        </a:p>
      </dgm:t>
    </dgm:pt>
    <dgm:pt modelId="{471F349C-236A-4F7D-87F9-5E9D4FBC4EFC}" type="sibTrans" cxnId="{E8BD25A4-7AFA-41BC-8389-081EB25F9D1E}">
      <dgm:prSet/>
      <dgm:spPr>
        <a:ln w="57150">
          <a:solidFill>
            <a:srgbClr val="0000FF"/>
          </a:solidFill>
        </a:ln>
      </dgm:spPr>
      <dgm:t>
        <a:bodyPr/>
        <a:lstStyle/>
        <a:p>
          <a:endParaRPr lang="en-US" sz="1600">
            <a:solidFill>
              <a:schemeClr val="tx1"/>
            </a:solidFill>
          </a:endParaRPr>
        </a:p>
      </dgm:t>
    </dgm:pt>
    <dgm:pt modelId="{FD0EC924-9DCC-41C5-B3DC-CFF23EB447FC}">
      <dgm:prSet phldrT="[Text]" custT="1"/>
      <dgm:spPr>
        <a:solidFill>
          <a:srgbClr val="FFFF99"/>
        </a:solidFill>
        <a:ln>
          <a:solidFill>
            <a:srgbClr val="0000FF"/>
          </a:solidFill>
        </a:ln>
      </dgm:spPr>
      <dgm:t>
        <a:bodyPr/>
        <a:lstStyle/>
        <a:p>
          <a:r>
            <a:rPr lang="en-US" sz="1600" dirty="0" smtClean="0">
              <a:solidFill>
                <a:schemeClr val="tx1"/>
              </a:solidFill>
            </a:rPr>
            <a:t>Respect</a:t>
          </a:r>
          <a:endParaRPr lang="en-US" sz="1600" dirty="0">
            <a:solidFill>
              <a:schemeClr val="tx1"/>
            </a:solidFill>
          </a:endParaRPr>
        </a:p>
      </dgm:t>
    </dgm:pt>
    <dgm:pt modelId="{737462C9-0990-4492-8EA1-20601AD4C2BB}" type="parTrans" cxnId="{B1CCF486-A61D-481A-9881-C13F6D68792B}">
      <dgm:prSet/>
      <dgm:spPr/>
      <dgm:t>
        <a:bodyPr/>
        <a:lstStyle/>
        <a:p>
          <a:endParaRPr lang="en-US" sz="1600">
            <a:solidFill>
              <a:schemeClr val="tx1"/>
            </a:solidFill>
          </a:endParaRPr>
        </a:p>
      </dgm:t>
    </dgm:pt>
    <dgm:pt modelId="{C15A4BEE-FCCB-4544-82F6-26B7320D8A38}" type="sibTrans" cxnId="{B1CCF486-A61D-481A-9881-C13F6D68792B}">
      <dgm:prSet/>
      <dgm:spPr>
        <a:ln w="57150">
          <a:solidFill>
            <a:srgbClr val="0000FF"/>
          </a:solidFill>
        </a:ln>
      </dgm:spPr>
      <dgm:t>
        <a:bodyPr/>
        <a:lstStyle/>
        <a:p>
          <a:endParaRPr lang="en-US" sz="1600">
            <a:solidFill>
              <a:schemeClr val="tx1"/>
            </a:solidFill>
          </a:endParaRPr>
        </a:p>
      </dgm:t>
    </dgm:pt>
    <dgm:pt modelId="{4CBF9B7E-6A7C-40CE-9A52-AD10F951F1BD}">
      <dgm:prSet phldrT="[Text]" custT="1"/>
      <dgm:spPr>
        <a:solidFill>
          <a:srgbClr val="99FF99"/>
        </a:solidFill>
        <a:ln>
          <a:solidFill>
            <a:srgbClr val="0000FF"/>
          </a:solidFill>
        </a:ln>
      </dgm:spPr>
      <dgm:t>
        <a:bodyPr/>
        <a:lstStyle/>
        <a:p>
          <a:r>
            <a:rPr lang="en-US" sz="1600" dirty="0" smtClean="0">
              <a:solidFill>
                <a:schemeClr val="tx1"/>
              </a:solidFill>
            </a:rPr>
            <a:t>Continuous Improvement</a:t>
          </a:r>
          <a:endParaRPr lang="en-US" sz="1600" dirty="0">
            <a:solidFill>
              <a:schemeClr val="tx1"/>
            </a:solidFill>
          </a:endParaRPr>
        </a:p>
      </dgm:t>
    </dgm:pt>
    <dgm:pt modelId="{7C0512AE-FA58-4938-BA97-E0CA2A80E535}" type="parTrans" cxnId="{588D3536-11AB-4EF9-9930-E10895FCF983}">
      <dgm:prSet/>
      <dgm:spPr/>
      <dgm:t>
        <a:bodyPr/>
        <a:lstStyle/>
        <a:p>
          <a:endParaRPr lang="en-US" sz="1600">
            <a:solidFill>
              <a:schemeClr val="tx1"/>
            </a:solidFill>
          </a:endParaRPr>
        </a:p>
      </dgm:t>
    </dgm:pt>
    <dgm:pt modelId="{CD3C6F62-36EE-442D-B5A1-D7F4E0291134}" type="sibTrans" cxnId="{588D3536-11AB-4EF9-9930-E10895FCF983}">
      <dgm:prSet/>
      <dgm:spPr>
        <a:ln w="57150">
          <a:solidFill>
            <a:srgbClr val="0000FF"/>
          </a:solidFill>
        </a:ln>
      </dgm:spPr>
      <dgm:t>
        <a:bodyPr/>
        <a:lstStyle/>
        <a:p>
          <a:endParaRPr lang="en-US" sz="1600">
            <a:solidFill>
              <a:schemeClr val="tx1"/>
            </a:solidFill>
          </a:endParaRPr>
        </a:p>
      </dgm:t>
    </dgm:pt>
    <dgm:pt modelId="{B07F483F-2933-477E-8780-79B69D2BBA8B}" type="pres">
      <dgm:prSet presAssocID="{905BB718-C6EC-4723-BCED-180DD21E2FF6}" presName="cycle" presStyleCnt="0">
        <dgm:presLayoutVars>
          <dgm:dir/>
          <dgm:resizeHandles val="exact"/>
        </dgm:presLayoutVars>
      </dgm:prSet>
      <dgm:spPr/>
      <dgm:t>
        <a:bodyPr/>
        <a:lstStyle/>
        <a:p>
          <a:endParaRPr lang="en-US"/>
        </a:p>
      </dgm:t>
    </dgm:pt>
    <dgm:pt modelId="{DDD30386-AFB2-4C66-A560-9B929957C8A8}" type="pres">
      <dgm:prSet presAssocID="{4FF97EF3-2A45-46E9-8AA5-3DFB1B77E9B4}" presName="node" presStyleLbl="node1" presStyleIdx="0" presStyleCnt="5" custScaleX="129860">
        <dgm:presLayoutVars>
          <dgm:bulletEnabled val="1"/>
        </dgm:presLayoutVars>
      </dgm:prSet>
      <dgm:spPr/>
      <dgm:t>
        <a:bodyPr/>
        <a:lstStyle/>
        <a:p>
          <a:endParaRPr lang="en-US"/>
        </a:p>
      </dgm:t>
    </dgm:pt>
    <dgm:pt modelId="{4669C39D-6BB9-4C26-8F89-1B32B8ED9DB4}" type="pres">
      <dgm:prSet presAssocID="{4FF97EF3-2A45-46E9-8AA5-3DFB1B77E9B4}" presName="spNode" presStyleCnt="0"/>
      <dgm:spPr/>
    </dgm:pt>
    <dgm:pt modelId="{BA24D806-03EB-4626-9627-C18C1FC32CAC}" type="pres">
      <dgm:prSet presAssocID="{5D888BAA-DB3E-49E4-A288-9F9CBAAB12ED}" presName="sibTrans" presStyleLbl="sibTrans1D1" presStyleIdx="0" presStyleCnt="5"/>
      <dgm:spPr/>
      <dgm:t>
        <a:bodyPr/>
        <a:lstStyle/>
        <a:p>
          <a:endParaRPr lang="en-US"/>
        </a:p>
      </dgm:t>
    </dgm:pt>
    <dgm:pt modelId="{85DE560D-68A0-4B88-A6E1-BEA0A424FB9C}" type="pres">
      <dgm:prSet presAssocID="{45FACE26-60A0-4D5E-94AB-BDE0D68BF89A}" presName="node" presStyleLbl="node1" presStyleIdx="1" presStyleCnt="5" custScaleX="129860">
        <dgm:presLayoutVars>
          <dgm:bulletEnabled val="1"/>
        </dgm:presLayoutVars>
      </dgm:prSet>
      <dgm:spPr/>
      <dgm:t>
        <a:bodyPr/>
        <a:lstStyle/>
        <a:p>
          <a:endParaRPr lang="en-US"/>
        </a:p>
      </dgm:t>
    </dgm:pt>
    <dgm:pt modelId="{9A05E151-9322-4C1A-AD44-EE7C8615629E}" type="pres">
      <dgm:prSet presAssocID="{45FACE26-60A0-4D5E-94AB-BDE0D68BF89A}" presName="spNode" presStyleCnt="0"/>
      <dgm:spPr/>
    </dgm:pt>
    <dgm:pt modelId="{6158AA02-5EAB-46DB-A5D8-2E657E133375}" type="pres">
      <dgm:prSet presAssocID="{E89C5B80-467D-4DA3-80A5-8D2EA766163B}" presName="sibTrans" presStyleLbl="sibTrans1D1" presStyleIdx="1" presStyleCnt="5"/>
      <dgm:spPr/>
      <dgm:t>
        <a:bodyPr/>
        <a:lstStyle/>
        <a:p>
          <a:endParaRPr lang="en-US"/>
        </a:p>
      </dgm:t>
    </dgm:pt>
    <dgm:pt modelId="{E34880ED-5DCD-47B6-A17A-BC64F94A24D0}" type="pres">
      <dgm:prSet presAssocID="{CEA2A226-7C53-491D-8347-80CF3312A5CD}" presName="node" presStyleLbl="node1" presStyleIdx="2" presStyleCnt="5" custScaleX="129860" custRadScaleRad="93129" custRadScaleInc="-57566">
        <dgm:presLayoutVars>
          <dgm:bulletEnabled val="1"/>
        </dgm:presLayoutVars>
      </dgm:prSet>
      <dgm:spPr/>
      <dgm:t>
        <a:bodyPr/>
        <a:lstStyle/>
        <a:p>
          <a:endParaRPr lang="en-US"/>
        </a:p>
      </dgm:t>
    </dgm:pt>
    <dgm:pt modelId="{DAF50A7D-9A94-4725-A139-2F6E155EB447}" type="pres">
      <dgm:prSet presAssocID="{CEA2A226-7C53-491D-8347-80CF3312A5CD}" presName="spNode" presStyleCnt="0"/>
      <dgm:spPr/>
    </dgm:pt>
    <dgm:pt modelId="{D80525AA-E743-47A2-A2F4-B6536C9AC2BF}" type="pres">
      <dgm:prSet presAssocID="{471F349C-236A-4F7D-87F9-5E9D4FBC4EFC}" presName="sibTrans" presStyleLbl="sibTrans1D1" presStyleIdx="2" presStyleCnt="5"/>
      <dgm:spPr/>
      <dgm:t>
        <a:bodyPr/>
        <a:lstStyle/>
        <a:p>
          <a:endParaRPr lang="en-US"/>
        </a:p>
      </dgm:t>
    </dgm:pt>
    <dgm:pt modelId="{651481CE-3D45-475D-A3DD-A579CEDED838}" type="pres">
      <dgm:prSet presAssocID="{FD0EC924-9DCC-41C5-B3DC-CFF23EB447FC}" presName="node" presStyleLbl="node1" presStyleIdx="3" presStyleCnt="5" custScaleX="129860" custRadScaleRad="95275" custRadScaleInc="63921">
        <dgm:presLayoutVars>
          <dgm:bulletEnabled val="1"/>
        </dgm:presLayoutVars>
      </dgm:prSet>
      <dgm:spPr/>
      <dgm:t>
        <a:bodyPr/>
        <a:lstStyle/>
        <a:p>
          <a:endParaRPr lang="en-US"/>
        </a:p>
      </dgm:t>
    </dgm:pt>
    <dgm:pt modelId="{761378F5-9BF4-48E6-A763-F503582BC03A}" type="pres">
      <dgm:prSet presAssocID="{FD0EC924-9DCC-41C5-B3DC-CFF23EB447FC}" presName="spNode" presStyleCnt="0"/>
      <dgm:spPr/>
    </dgm:pt>
    <dgm:pt modelId="{9C78C913-BE8C-4D1E-804B-F157F0EE0906}" type="pres">
      <dgm:prSet presAssocID="{C15A4BEE-FCCB-4544-82F6-26B7320D8A38}" presName="sibTrans" presStyleLbl="sibTrans1D1" presStyleIdx="3" presStyleCnt="5"/>
      <dgm:spPr/>
      <dgm:t>
        <a:bodyPr/>
        <a:lstStyle/>
        <a:p>
          <a:endParaRPr lang="en-US"/>
        </a:p>
      </dgm:t>
    </dgm:pt>
    <dgm:pt modelId="{BF6BB1E3-2307-490A-BC6E-5CE8FC59A482}" type="pres">
      <dgm:prSet presAssocID="{4CBF9B7E-6A7C-40CE-9A52-AD10F951F1BD}" presName="node" presStyleLbl="node1" presStyleIdx="4" presStyleCnt="5" custScaleX="129860">
        <dgm:presLayoutVars>
          <dgm:bulletEnabled val="1"/>
        </dgm:presLayoutVars>
      </dgm:prSet>
      <dgm:spPr/>
      <dgm:t>
        <a:bodyPr/>
        <a:lstStyle/>
        <a:p>
          <a:endParaRPr lang="en-US"/>
        </a:p>
      </dgm:t>
    </dgm:pt>
    <dgm:pt modelId="{7AB96E0A-386E-46AF-AA88-1186F19AF768}" type="pres">
      <dgm:prSet presAssocID="{4CBF9B7E-6A7C-40CE-9A52-AD10F951F1BD}" presName="spNode" presStyleCnt="0"/>
      <dgm:spPr/>
    </dgm:pt>
    <dgm:pt modelId="{0C3798C1-9EA6-46C4-95C2-3A146999ACB3}" type="pres">
      <dgm:prSet presAssocID="{CD3C6F62-36EE-442D-B5A1-D7F4E0291134}" presName="sibTrans" presStyleLbl="sibTrans1D1" presStyleIdx="4" presStyleCnt="5"/>
      <dgm:spPr/>
      <dgm:t>
        <a:bodyPr/>
        <a:lstStyle/>
        <a:p>
          <a:endParaRPr lang="en-US"/>
        </a:p>
      </dgm:t>
    </dgm:pt>
  </dgm:ptLst>
  <dgm:cxnLst>
    <dgm:cxn modelId="{520F7F26-AACF-45F1-A333-68E9A5C69DA4}" type="presOf" srcId="{CD3C6F62-36EE-442D-B5A1-D7F4E0291134}" destId="{0C3798C1-9EA6-46C4-95C2-3A146999ACB3}" srcOrd="0" destOrd="0" presId="urn:microsoft.com/office/officeart/2005/8/layout/cycle6"/>
    <dgm:cxn modelId="{FA9F7F22-227B-4482-9416-6533A23DA8D9}" type="presOf" srcId="{5D888BAA-DB3E-49E4-A288-9F9CBAAB12ED}" destId="{BA24D806-03EB-4626-9627-C18C1FC32CAC}" srcOrd="0" destOrd="0" presId="urn:microsoft.com/office/officeart/2005/8/layout/cycle6"/>
    <dgm:cxn modelId="{8BF4D206-54BC-4E9F-9D71-6E0A0BA0833A}" type="presOf" srcId="{C15A4BEE-FCCB-4544-82F6-26B7320D8A38}" destId="{9C78C913-BE8C-4D1E-804B-F157F0EE0906}" srcOrd="0" destOrd="0" presId="urn:microsoft.com/office/officeart/2005/8/layout/cycle6"/>
    <dgm:cxn modelId="{90C0CDFA-486F-48E4-B6D5-808FA263F81D}" type="presOf" srcId="{FD0EC924-9DCC-41C5-B3DC-CFF23EB447FC}" destId="{651481CE-3D45-475D-A3DD-A579CEDED838}" srcOrd="0" destOrd="0" presId="urn:microsoft.com/office/officeart/2005/8/layout/cycle6"/>
    <dgm:cxn modelId="{A9F2ECE7-56DC-44C9-AB36-D6C5DA3F9C76}" type="presOf" srcId="{E89C5B80-467D-4DA3-80A5-8D2EA766163B}" destId="{6158AA02-5EAB-46DB-A5D8-2E657E133375}" srcOrd="0" destOrd="0" presId="urn:microsoft.com/office/officeart/2005/8/layout/cycle6"/>
    <dgm:cxn modelId="{81F457A6-807C-486E-9CDE-4A6471E402A8}" type="presOf" srcId="{905BB718-C6EC-4723-BCED-180DD21E2FF6}" destId="{B07F483F-2933-477E-8780-79B69D2BBA8B}" srcOrd="0" destOrd="0" presId="urn:microsoft.com/office/officeart/2005/8/layout/cycle6"/>
    <dgm:cxn modelId="{E8BD25A4-7AFA-41BC-8389-081EB25F9D1E}" srcId="{905BB718-C6EC-4723-BCED-180DD21E2FF6}" destId="{CEA2A226-7C53-491D-8347-80CF3312A5CD}" srcOrd="2" destOrd="0" parTransId="{0813D3E1-0D83-4B2D-8E16-7606CD5BC118}" sibTransId="{471F349C-236A-4F7D-87F9-5E9D4FBC4EFC}"/>
    <dgm:cxn modelId="{588D3536-11AB-4EF9-9930-E10895FCF983}" srcId="{905BB718-C6EC-4723-BCED-180DD21E2FF6}" destId="{4CBF9B7E-6A7C-40CE-9A52-AD10F951F1BD}" srcOrd="4" destOrd="0" parTransId="{7C0512AE-FA58-4938-BA97-E0CA2A80E535}" sibTransId="{CD3C6F62-36EE-442D-B5A1-D7F4E0291134}"/>
    <dgm:cxn modelId="{70F4253E-127E-4538-B3C0-2986DF31E608}" srcId="{905BB718-C6EC-4723-BCED-180DD21E2FF6}" destId="{4FF97EF3-2A45-46E9-8AA5-3DFB1B77E9B4}" srcOrd="0" destOrd="0" parTransId="{243B07EB-BEA2-4E88-8C30-3CFCB5DC3D36}" sibTransId="{5D888BAA-DB3E-49E4-A288-9F9CBAAB12ED}"/>
    <dgm:cxn modelId="{3EAAB0C2-3D06-4C96-866D-0A72F72A2142}" type="presOf" srcId="{4CBF9B7E-6A7C-40CE-9A52-AD10F951F1BD}" destId="{BF6BB1E3-2307-490A-BC6E-5CE8FC59A482}" srcOrd="0" destOrd="0" presId="urn:microsoft.com/office/officeart/2005/8/layout/cycle6"/>
    <dgm:cxn modelId="{1670553B-62E1-4D8D-8DB0-82890E81EA2A}" srcId="{905BB718-C6EC-4723-BCED-180DD21E2FF6}" destId="{45FACE26-60A0-4D5E-94AB-BDE0D68BF89A}" srcOrd="1" destOrd="0" parTransId="{F434D03B-8194-40F0-8163-5EF5B771E9B4}" sibTransId="{E89C5B80-467D-4DA3-80A5-8D2EA766163B}"/>
    <dgm:cxn modelId="{FE65317F-1789-4268-804A-9D6BE7A2D5D7}" type="presOf" srcId="{45FACE26-60A0-4D5E-94AB-BDE0D68BF89A}" destId="{85DE560D-68A0-4B88-A6E1-BEA0A424FB9C}" srcOrd="0" destOrd="0" presId="urn:microsoft.com/office/officeart/2005/8/layout/cycle6"/>
    <dgm:cxn modelId="{78B90736-88D4-4672-A294-5D3061E81511}" type="presOf" srcId="{471F349C-236A-4F7D-87F9-5E9D4FBC4EFC}" destId="{D80525AA-E743-47A2-A2F4-B6536C9AC2BF}" srcOrd="0" destOrd="0" presId="urn:microsoft.com/office/officeart/2005/8/layout/cycle6"/>
    <dgm:cxn modelId="{B1CCF486-A61D-481A-9881-C13F6D68792B}" srcId="{905BB718-C6EC-4723-BCED-180DD21E2FF6}" destId="{FD0EC924-9DCC-41C5-B3DC-CFF23EB447FC}" srcOrd="3" destOrd="0" parTransId="{737462C9-0990-4492-8EA1-20601AD4C2BB}" sibTransId="{C15A4BEE-FCCB-4544-82F6-26B7320D8A38}"/>
    <dgm:cxn modelId="{1033C30B-B497-4541-86FA-371FF7DEDC28}" type="presOf" srcId="{CEA2A226-7C53-491D-8347-80CF3312A5CD}" destId="{E34880ED-5DCD-47B6-A17A-BC64F94A24D0}" srcOrd="0" destOrd="0" presId="urn:microsoft.com/office/officeart/2005/8/layout/cycle6"/>
    <dgm:cxn modelId="{6F7A160D-36AB-4E4D-9FCF-0DA9BB40269C}" type="presOf" srcId="{4FF97EF3-2A45-46E9-8AA5-3DFB1B77E9B4}" destId="{DDD30386-AFB2-4C66-A560-9B929957C8A8}" srcOrd="0" destOrd="0" presId="urn:microsoft.com/office/officeart/2005/8/layout/cycle6"/>
    <dgm:cxn modelId="{1C33BC18-C989-43D9-A8C2-4BB0B4F69399}" type="presParOf" srcId="{B07F483F-2933-477E-8780-79B69D2BBA8B}" destId="{DDD30386-AFB2-4C66-A560-9B929957C8A8}" srcOrd="0" destOrd="0" presId="urn:microsoft.com/office/officeart/2005/8/layout/cycle6"/>
    <dgm:cxn modelId="{6410EF25-BCF9-4E63-B93D-A22801D44E14}" type="presParOf" srcId="{B07F483F-2933-477E-8780-79B69D2BBA8B}" destId="{4669C39D-6BB9-4C26-8F89-1B32B8ED9DB4}" srcOrd="1" destOrd="0" presId="urn:microsoft.com/office/officeart/2005/8/layout/cycle6"/>
    <dgm:cxn modelId="{EA166337-D311-4B4E-912C-E78464C2E2ED}" type="presParOf" srcId="{B07F483F-2933-477E-8780-79B69D2BBA8B}" destId="{BA24D806-03EB-4626-9627-C18C1FC32CAC}" srcOrd="2" destOrd="0" presId="urn:microsoft.com/office/officeart/2005/8/layout/cycle6"/>
    <dgm:cxn modelId="{B478E87D-3711-4D66-B529-5B0644ECB1F2}" type="presParOf" srcId="{B07F483F-2933-477E-8780-79B69D2BBA8B}" destId="{85DE560D-68A0-4B88-A6E1-BEA0A424FB9C}" srcOrd="3" destOrd="0" presId="urn:microsoft.com/office/officeart/2005/8/layout/cycle6"/>
    <dgm:cxn modelId="{1CD183C8-A3C5-4751-AD5B-FC5D96599F7F}" type="presParOf" srcId="{B07F483F-2933-477E-8780-79B69D2BBA8B}" destId="{9A05E151-9322-4C1A-AD44-EE7C8615629E}" srcOrd="4" destOrd="0" presId="urn:microsoft.com/office/officeart/2005/8/layout/cycle6"/>
    <dgm:cxn modelId="{0C74F1D5-7D5F-4000-99FB-33B5EFF87809}" type="presParOf" srcId="{B07F483F-2933-477E-8780-79B69D2BBA8B}" destId="{6158AA02-5EAB-46DB-A5D8-2E657E133375}" srcOrd="5" destOrd="0" presId="urn:microsoft.com/office/officeart/2005/8/layout/cycle6"/>
    <dgm:cxn modelId="{AA4BE0F9-3B62-4F9A-8160-F2DE941AE327}" type="presParOf" srcId="{B07F483F-2933-477E-8780-79B69D2BBA8B}" destId="{E34880ED-5DCD-47B6-A17A-BC64F94A24D0}" srcOrd="6" destOrd="0" presId="urn:microsoft.com/office/officeart/2005/8/layout/cycle6"/>
    <dgm:cxn modelId="{61178D7F-92ED-42B9-B77C-632EDA6911F7}" type="presParOf" srcId="{B07F483F-2933-477E-8780-79B69D2BBA8B}" destId="{DAF50A7D-9A94-4725-A139-2F6E155EB447}" srcOrd="7" destOrd="0" presId="urn:microsoft.com/office/officeart/2005/8/layout/cycle6"/>
    <dgm:cxn modelId="{B7A47F36-7D22-47FF-B83F-8DAC492D8D56}" type="presParOf" srcId="{B07F483F-2933-477E-8780-79B69D2BBA8B}" destId="{D80525AA-E743-47A2-A2F4-B6536C9AC2BF}" srcOrd="8" destOrd="0" presId="urn:microsoft.com/office/officeart/2005/8/layout/cycle6"/>
    <dgm:cxn modelId="{1C916822-2010-4879-A1AE-94142CC631D2}" type="presParOf" srcId="{B07F483F-2933-477E-8780-79B69D2BBA8B}" destId="{651481CE-3D45-475D-A3DD-A579CEDED838}" srcOrd="9" destOrd="0" presId="urn:microsoft.com/office/officeart/2005/8/layout/cycle6"/>
    <dgm:cxn modelId="{2EE77E28-5ADF-41FC-AE34-6D90B9A76E1E}" type="presParOf" srcId="{B07F483F-2933-477E-8780-79B69D2BBA8B}" destId="{761378F5-9BF4-48E6-A763-F503582BC03A}" srcOrd="10" destOrd="0" presId="urn:microsoft.com/office/officeart/2005/8/layout/cycle6"/>
    <dgm:cxn modelId="{E4EAC5B5-8AE6-4555-9D95-EEED073923D0}" type="presParOf" srcId="{B07F483F-2933-477E-8780-79B69D2BBA8B}" destId="{9C78C913-BE8C-4D1E-804B-F157F0EE0906}" srcOrd="11" destOrd="0" presId="urn:microsoft.com/office/officeart/2005/8/layout/cycle6"/>
    <dgm:cxn modelId="{2C487D1F-E1DA-4737-BD4D-561806F2BD13}" type="presParOf" srcId="{B07F483F-2933-477E-8780-79B69D2BBA8B}" destId="{BF6BB1E3-2307-490A-BC6E-5CE8FC59A482}" srcOrd="12" destOrd="0" presId="urn:microsoft.com/office/officeart/2005/8/layout/cycle6"/>
    <dgm:cxn modelId="{4F398659-BA5B-496E-95E3-C50B844E2BF7}" type="presParOf" srcId="{B07F483F-2933-477E-8780-79B69D2BBA8B}" destId="{7AB96E0A-386E-46AF-AA88-1186F19AF768}" srcOrd="13" destOrd="0" presId="urn:microsoft.com/office/officeart/2005/8/layout/cycle6"/>
    <dgm:cxn modelId="{E80C1A1A-FFE1-4B7B-A085-0480E25DD914}" type="presParOf" srcId="{B07F483F-2933-477E-8780-79B69D2BBA8B}" destId="{0C3798C1-9EA6-46C4-95C2-3A146999ACB3}" srcOrd="14" destOrd="0" presId="urn:microsoft.com/office/officeart/2005/8/layout/cycle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D30386-AFB2-4C66-A560-9B929957C8A8}">
      <dsp:nvSpPr>
        <dsp:cNvPr id="0" name=""/>
        <dsp:cNvSpPr/>
      </dsp:nvSpPr>
      <dsp:spPr>
        <a:xfrm>
          <a:off x="1946548" y="1736"/>
          <a:ext cx="1593303" cy="797510"/>
        </a:xfrm>
        <a:prstGeom prst="roundRect">
          <a:avLst/>
        </a:prstGeom>
        <a:solidFill>
          <a:srgbClr val="FF99CC"/>
        </a:solidFill>
        <a:ln w="25400" cap="flat" cmpd="sng" algn="ctr">
          <a:solidFill>
            <a:srgbClr val="0000F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tx1"/>
              </a:solidFill>
            </a:rPr>
            <a:t>Transparency</a:t>
          </a:r>
          <a:endParaRPr lang="en-US" sz="1600" kern="1200" dirty="0">
            <a:solidFill>
              <a:schemeClr val="tx1"/>
            </a:solidFill>
          </a:endParaRPr>
        </a:p>
      </dsp:txBody>
      <dsp:txXfrm>
        <a:off x="1985479" y="40667"/>
        <a:ext cx="1515441" cy="719648"/>
      </dsp:txXfrm>
    </dsp:sp>
    <dsp:sp modelId="{BA24D806-03EB-4626-9627-C18C1FC32CAC}">
      <dsp:nvSpPr>
        <dsp:cNvPr id="0" name=""/>
        <dsp:cNvSpPr/>
      </dsp:nvSpPr>
      <dsp:spPr>
        <a:xfrm>
          <a:off x="1151030" y="400491"/>
          <a:ext cx="3184339" cy="3184339"/>
        </a:xfrm>
        <a:custGeom>
          <a:avLst/>
          <a:gdLst/>
          <a:ahLst/>
          <a:cxnLst/>
          <a:rect l="0" t="0" r="0" b="0"/>
          <a:pathLst>
            <a:path>
              <a:moveTo>
                <a:pt x="2395005" y="217229"/>
              </a:moveTo>
              <a:arcTo wR="1592169" hR="1592169" stAng="18016855" swAng="1526576"/>
            </a:path>
          </a:pathLst>
        </a:custGeom>
        <a:noFill/>
        <a:ln w="57150" cap="flat" cmpd="sng" algn="ctr">
          <a:solidFill>
            <a:srgbClr val="0000FF"/>
          </a:solidFill>
          <a:prstDash val="solid"/>
        </a:ln>
        <a:effectLst/>
      </dsp:spPr>
      <dsp:style>
        <a:lnRef idx="1">
          <a:scrgbClr r="0" g="0" b="0"/>
        </a:lnRef>
        <a:fillRef idx="0">
          <a:scrgbClr r="0" g="0" b="0"/>
        </a:fillRef>
        <a:effectRef idx="0">
          <a:scrgbClr r="0" g="0" b="0"/>
        </a:effectRef>
        <a:fontRef idx="minor"/>
      </dsp:style>
    </dsp:sp>
    <dsp:sp modelId="{85DE560D-68A0-4B88-A6E1-BEA0A424FB9C}">
      <dsp:nvSpPr>
        <dsp:cNvPr id="0" name=""/>
        <dsp:cNvSpPr/>
      </dsp:nvSpPr>
      <dsp:spPr>
        <a:xfrm>
          <a:off x="3460791" y="1101898"/>
          <a:ext cx="1593303" cy="797510"/>
        </a:xfrm>
        <a:prstGeom prst="roundRect">
          <a:avLst/>
        </a:prstGeom>
        <a:solidFill>
          <a:srgbClr val="CC99FF"/>
        </a:solidFill>
        <a:ln w="25400" cap="flat" cmpd="sng" algn="ctr">
          <a:solidFill>
            <a:srgbClr val="0000F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tx1"/>
              </a:solidFill>
            </a:rPr>
            <a:t>Accountability</a:t>
          </a:r>
          <a:endParaRPr lang="en-US" sz="1600" kern="1200" dirty="0">
            <a:solidFill>
              <a:schemeClr val="tx1"/>
            </a:solidFill>
          </a:endParaRPr>
        </a:p>
      </dsp:txBody>
      <dsp:txXfrm>
        <a:off x="3499722" y="1140829"/>
        <a:ext cx="1515441" cy="719648"/>
      </dsp:txXfrm>
    </dsp:sp>
    <dsp:sp modelId="{6158AA02-5EAB-46DB-A5D8-2E657E133375}">
      <dsp:nvSpPr>
        <dsp:cNvPr id="0" name=""/>
        <dsp:cNvSpPr/>
      </dsp:nvSpPr>
      <dsp:spPr>
        <a:xfrm>
          <a:off x="1156677" y="144095"/>
          <a:ext cx="3184339" cy="3184339"/>
        </a:xfrm>
        <a:custGeom>
          <a:avLst/>
          <a:gdLst/>
          <a:ahLst/>
          <a:cxnLst/>
          <a:rect l="0" t="0" r="0" b="0"/>
          <a:pathLst>
            <a:path>
              <a:moveTo>
                <a:pt x="3175241" y="1762136"/>
              </a:moveTo>
              <a:arcTo wR="1592169" hR="1592169" stAng="367686" swAng="1463329"/>
            </a:path>
          </a:pathLst>
        </a:custGeom>
        <a:noFill/>
        <a:ln w="57150" cap="flat" cmpd="sng" algn="ctr">
          <a:solidFill>
            <a:srgbClr val="0000FF"/>
          </a:solidFill>
          <a:prstDash val="solid"/>
        </a:ln>
        <a:effectLst/>
      </dsp:spPr>
      <dsp:style>
        <a:lnRef idx="1">
          <a:scrgbClr r="0" g="0" b="0"/>
        </a:lnRef>
        <a:fillRef idx="0">
          <a:scrgbClr r="0" g="0" b="0"/>
        </a:fillRef>
        <a:effectRef idx="0">
          <a:scrgbClr r="0" g="0" b="0"/>
        </a:effectRef>
        <a:fontRef idx="minor"/>
      </dsp:style>
    </dsp:sp>
    <dsp:sp modelId="{E34880ED-5DCD-47B6-A17A-BC64F94A24D0}">
      <dsp:nvSpPr>
        <dsp:cNvPr id="0" name=""/>
        <dsp:cNvSpPr/>
      </dsp:nvSpPr>
      <dsp:spPr>
        <a:xfrm>
          <a:off x="3079348" y="2550659"/>
          <a:ext cx="1593303" cy="797510"/>
        </a:xfrm>
        <a:prstGeom prst="roundRect">
          <a:avLst/>
        </a:prstGeom>
        <a:solidFill>
          <a:srgbClr val="FF9999"/>
        </a:solidFill>
        <a:ln w="25400" cap="flat" cmpd="sng" algn="ctr">
          <a:solidFill>
            <a:srgbClr val="0000F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tx1"/>
              </a:solidFill>
            </a:rPr>
            <a:t>Empathy</a:t>
          </a:r>
          <a:endParaRPr lang="en-US" sz="1600" kern="1200" dirty="0">
            <a:solidFill>
              <a:schemeClr val="tx1"/>
            </a:solidFill>
          </a:endParaRPr>
        </a:p>
      </dsp:txBody>
      <dsp:txXfrm>
        <a:off x="3118279" y="2589590"/>
        <a:ext cx="1515441" cy="719648"/>
      </dsp:txXfrm>
    </dsp:sp>
    <dsp:sp modelId="{D80525AA-E743-47A2-A2F4-B6536C9AC2BF}">
      <dsp:nvSpPr>
        <dsp:cNvPr id="0" name=""/>
        <dsp:cNvSpPr/>
      </dsp:nvSpPr>
      <dsp:spPr>
        <a:xfrm>
          <a:off x="1112326" y="297996"/>
          <a:ext cx="3184339" cy="3184339"/>
        </a:xfrm>
        <a:custGeom>
          <a:avLst/>
          <a:gdLst/>
          <a:ahLst/>
          <a:cxnLst/>
          <a:rect l="0" t="0" r="0" b="0"/>
          <a:pathLst>
            <a:path>
              <a:moveTo>
                <a:pt x="2219954" y="3055347"/>
              </a:moveTo>
              <a:arcTo wR="1592169" hR="1592169" stAng="4006678" swAng="2835020"/>
            </a:path>
          </a:pathLst>
        </a:custGeom>
        <a:noFill/>
        <a:ln w="57150" cap="flat" cmpd="sng" algn="ctr">
          <a:solidFill>
            <a:srgbClr val="0000FF"/>
          </a:solidFill>
          <a:prstDash val="solid"/>
        </a:ln>
        <a:effectLst/>
      </dsp:spPr>
      <dsp:style>
        <a:lnRef idx="1">
          <a:scrgbClr r="0" g="0" b="0"/>
        </a:lnRef>
        <a:fillRef idx="0">
          <a:scrgbClr r="0" g="0" b="0"/>
        </a:fillRef>
        <a:effectRef idx="0">
          <a:scrgbClr r="0" g="0" b="0"/>
        </a:effectRef>
        <a:fontRef idx="minor"/>
      </dsp:style>
    </dsp:sp>
    <dsp:sp modelId="{651481CE-3D45-475D-A3DD-A579CEDED838}">
      <dsp:nvSpPr>
        <dsp:cNvPr id="0" name=""/>
        <dsp:cNvSpPr/>
      </dsp:nvSpPr>
      <dsp:spPr>
        <a:xfrm>
          <a:off x="762003" y="2541513"/>
          <a:ext cx="1593303" cy="797510"/>
        </a:xfrm>
        <a:prstGeom prst="roundRect">
          <a:avLst/>
        </a:prstGeom>
        <a:solidFill>
          <a:srgbClr val="FFFF99"/>
        </a:solidFill>
        <a:ln w="25400" cap="flat" cmpd="sng" algn="ctr">
          <a:solidFill>
            <a:srgbClr val="0000F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tx1"/>
              </a:solidFill>
            </a:rPr>
            <a:t>Respect</a:t>
          </a:r>
          <a:endParaRPr lang="en-US" sz="1600" kern="1200" dirty="0">
            <a:solidFill>
              <a:schemeClr val="tx1"/>
            </a:solidFill>
          </a:endParaRPr>
        </a:p>
      </dsp:txBody>
      <dsp:txXfrm>
        <a:off x="800934" y="2580444"/>
        <a:ext cx="1515441" cy="719648"/>
      </dsp:txXfrm>
    </dsp:sp>
    <dsp:sp modelId="{9C78C913-BE8C-4D1E-804B-F157F0EE0906}">
      <dsp:nvSpPr>
        <dsp:cNvPr id="0" name=""/>
        <dsp:cNvSpPr/>
      </dsp:nvSpPr>
      <dsp:spPr>
        <a:xfrm>
          <a:off x="1151276" y="218289"/>
          <a:ext cx="3184339" cy="3184339"/>
        </a:xfrm>
        <a:custGeom>
          <a:avLst/>
          <a:gdLst/>
          <a:ahLst/>
          <a:cxnLst/>
          <a:rect l="0" t="0" r="0" b="0"/>
          <a:pathLst>
            <a:path>
              <a:moveTo>
                <a:pt x="174712" y="2317304"/>
              </a:moveTo>
              <a:arcTo wR="1592169" hR="1592169" stAng="9174413" swAng="1419060"/>
            </a:path>
          </a:pathLst>
        </a:custGeom>
        <a:noFill/>
        <a:ln w="57150" cap="flat" cmpd="sng" algn="ctr">
          <a:solidFill>
            <a:srgbClr val="0000FF"/>
          </a:solidFill>
          <a:prstDash val="solid"/>
        </a:ln>
        <a:effectLst/>
      </dsp:spPr>
      <dsp:style>
        <a:lnRef idx="1">
          <a:scrgbClr r="0" g="0" b="0"/>
        </a:lnRef>
        <a:fillRef idx="0">
          <a:scrgbClr r="0" g="0" b="0"/>
        </a:fillRef>
        <a:effectRef idx="0">
          <a:scrgbClr r="0" g="0" b="0"/>
        </a:effectRef>
        <a:fontRef idx="minor"/>
      </dsp:style>
    </dsp:sp>
    <dsp:sp modelId="{BF6BB1E3-2307-490A-BC6E-5CE8FC59A482}">
      <dsp:nvSpPr>
        <dsp:cNvPr id="0" name=""/>
        <dsp:cNvSpPr/>
      </dsp:nvSpPr>
      <dsp:spPr>
        <a:xfrm>
          <a:off x="432305" y="1101898"/>
          <a:ext cx="1593303" cy="797510"/>
        </a:xfrm>
        <a:prstGeom prst="roundRect">
          <a:avLst/>
        </a:prstGeom>
        <a:solidFill>
          <a:srgbClr val="99FF99"/>
        </a:solidFill>
        <a:ln w="25400" cap="flat" cmpd="sng" algn="ctr">
          <a:solidFill>
            <a:srgbClr val="0000F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tx1"/>
              </a:solidFill>
            </a:rPr>
            <a:t>Continuous Improvement</a:t>
          </a:r>
          <a:endParaRPr lang="en-US" sz="1600" kern="1200" dirty="0">
            <a:solidFill>
              <a:schemeClr val="tx1"/>
            </a:solidFill>
          </a:endParaRPr>
        </a:p>
      </dsp:txBody>
      <dsp:txXfrm>
        <a:off x="471236" y="1140829"/>
        <a:ext cx="1515441" cy="719648"/>
      </dsp:txXfrm>
    </dsp:sp>
    <dsp:sp modelId="{0C3798C1-9EA6-46C4-95C2-3A146999ACB3}">
      <dsp:nvSpPr>
        <dsp:cNvPr id="0" name=""/>
        <dsp:cNvSpPr/>
      </dsp:nvSpPr>
      <dsp:spPr>
        <a:xfrm>
          <a:off x="1151030" y="400491"/>
          <a:ext cx="3184339" cy="3184339"/>
        </a:xfrm>
        <a:custGeom>
          <a:avLst/>
          <a:gdLst/>
          <a:ahLst/>
          <a:cxnLst/>
          <a:rect l="0" t="0" r="0" b="0"/>
          <a:pathLst>
            <a:path>
              <a:moveTo>
                <a:pt x="276507" y="695488"/>
              </a:moveTo>
              <a:arcTo wR="1592169" hR="1592169" stAng="12856569" swAng="1526576"/>
            </a:path>
          </a:pathLst>
        </a:custGeom>
        <a:noFill/>
        <a:ln w="57150" cap="flat" cmpd="sng" algn="ctr">
          <a:solidFill>
            <a:srgbClr val="0000FF"/>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7/4/2022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7/4/2022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5469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2015-2016</a:t>
            </a: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Google Shape;123;p3: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124" name="Google Shape;124;p3: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125" name="Google Shape;125;p3: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3: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4004240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709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1741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40563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txBox="1">
            <a:spLocks noGrp="1" noChangeArrowheads="1"/>
          </p:cNvSpPr>
          <p:nvPr/>
        </p:nvSpPr>
        <p:spPr bwMode="auto">
          <a:xfrm>
            <a:off x="4048940" y="9039201"/>
            <a:ext cx="3095868" cy="475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538" tIns="47769" rIns="95538" bIns="47769" anchor="b"/>
          <a:lstStyle>
            <a:lvl1pPr defTabSz="939800">
              <a:spcBef>
                <a:spcPct val="30000"/>
              </a:spcBef>
              <a:defRPr sz="1200">
                <a:solidFill>
                  <a:schemeClr val="tx1"/>
                </a:solidFill>
                <a:latin typeface="Times New Roman" panose="02020603050405020304" pitchFamily="18" charset="0"/>
              </a:defRPr>
            </a:lvl1pPr>
            <a:lvl2pPr marL="742950" indent="-285750" defTabSz="939800">
              <a:spcBef>
                <a:spcPct val="30000"/>
              </a:spcBef>
              <a:defRPr sz="1200">
                <a:solidFill>
                  <a:schemeClr val="tx1"/>
                </a:solidFill>
                <a:latin typeface="Times New Roman" panose="02020603050405020304" pitchFamily="18" charset="0"/>
              </a:defRPr>
            </a:lvl2pPr>
            <a:lvl3pPr marL="1143000" indent="-228600" defTabSz="939800">
              <a:spcBef>
                <a:spcPct val="30000"/>
              </a:spcBef>
              <a:defRPr sz="1200">
                <a:solidFill>
                  <a:schemeClr val="tx1"/>
                </a:solidFill>
                <a:latin typeface="Times New Roman" panose="02020603050405020304" pitchFamily="18" charset="0"/>
              </a:defRPr>
            </a:lvl3pPr>
            <a:lvl4pPr marL="1600200" indent="-228600" defTabSz="939800">
              <a:spcBef>
                <a:spcPct val="30000"/>
              </a:spcBef>
              <a:defRPr sz="1200">
                <a:solidFill>
                  <a:schemeClr val="tx1"/>
                </a:solidFill>
                <a:latin typeface="Times New Roman" panose="02020603050405020304" pitchFamily="18" charset="0"/>
              </a:defRPr>
            </a:lvl4pPr>
            <a:lvl5pPr marL="2057400" indent="-228600" defTabSz="939800">
              <a:spcBef>
                <a:spcPct val="30000"/>
              </a:spcBef>
              <a:defRPr sz="1200">
                <a:solidFill>
                  <a:schemeClr val="tx1"/>
                </a:solidFill>
                <a:latin typeface="Times New Roman" panose="02020603050405020304" pitchFamily="18" charset="0"/>
              </a:defRPr>
            </a:lvl5pPr>
            <a:lvl6pPr marL="2514600" indent="-228600" defTabSz="9398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98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98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98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275E7355-D40A-4C49-BB60-B507001853BA}" type="slidenum">
              <a:rPr lang="en-US" altLang="en-US"/>
              <a:pPr algn="r">
                <a:spcBef>
                  <a:spcPct val="0"/>
                </a:spcBef>
              </a:pPr>
              <a:t>8</a:t>
            </a:fld>
            <a:endParaRPr lang="en-US" altLang="en-US"/>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pPr>
            <a:r>
              <a:rPr lang="en-US" altLang="en-US" dirty="0" smtClean="0"/>
              <a:t>People – your superiors, your peers, and your subordinates – s</a:t>
            </a:r>
            <a:r>
              <a:rPr lang="en-US" altLang="en-US" baseline="0" dirty="0" smtClean="0"/>
              <a:t>ee your actions and your behaviours. </a:t>
            </a:r>
          </a:p>
          <a:p>
            <a:pPr>
              <a:lnSpc>
                <a:spcPct val="150000"/>
              </a:lnSpc>
            </a:pPr>
            <a:endParaRPr lang="en-US" altLang="en-US" baseline="0" dirty="0" smtClean="0"/>
          </a:p>
          <a:p>
            <a:pPr>
              <a:lnSpc>
                <a:spcPct val="150000"/>
              </a:lnSpc>
            </a:pPr>
            <a:r>
              <a:rPr lang="en-US" altLang="en-US" baseline="0" dirty="0" smtClean="0"/>
              <a:t>They cannot know what you are thinking, or know any of the underlying opinions, goals, needs and wants, attitudes, values and principles, and core strengths – unless you explicitly inform them! And that would take a lot of time and effort, not only because there is a lot to communicate in a clear and succinct terms, but also because we have a difficult time determining, defining, refining, and articulating the same list!</a:t>
            </a:r>
          </a:p>
          <a:p>
            <a:pPr>
              <a:lnSpc>
                <a:spcPct val="150000"/>
              </a:lnSpc>
            </a:pPr>
            <a:endParaRPr lang="en-US" altLang="en-US" baseline="0" dirty="0" smtClean="0"/>
          </a:p>
          <a:p>
            <a:pPr>
              <a:lnSpc>
                <a:spcPct val="150000"/>
              </a:lnSpc>
            </a:pPr>
            <a:r>
              <a:rPr lang="en-US" altLang="en-US" baseline="0" dirty="0" smtClean="0"/>
              <a:t>Because they cannot know, it is critically important for us in our leadership role to ensure that our actions and behaviours are exactly aligned with our intentions. </a:t>
            </a:r>
            <a:endParaRPr lang="en-US" altLang="en-US" dirty="0" smtClean="0"/>
          </a:p>
        </p:txBody>
      </p:sp>
    </p:spTree>
    <p:extLst>
      <p:ext uri="{BB962C8B-B14F-4D97-AF65-F5344CB8AC3E}">
        <p14:creationId xmlns:p14="http://schemas.microsoft.com/office/powerpoint/2010/main" val="1849849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5221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noChangeArrowheads="1"/>
          </p:cNvSpPr>
          <p:nvPr/>
        </p:nvSpPr>
        <p:spPr bwMode="auto">
          <a:xfrm>
            <a:off x="5349753" y="6726472"/>
            <a:ext cx="4090797" cy="35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pPr>
            <a:fld id="{6B7B77ED-228E-4608-B76D-8B25839050B4}" type="slidenum">
              <a:rPr lang="en-US" altLang="en-US"/>
              <a:pPr algn="r" eaLnBrk="1" hangingPunct="1">
                <a:spcBef>
                  <a:spcPct val="0"/>
                </a:spcBef>
              </a:pPr>
              <a:t>10</a:t>
            </a:fld>
            <a:endParaRPr lang="en-US" altLang="en-US"/>
          </a:p>
        </p:txBody>
      </p:sp>
      <p:sp>
        <p:nvSpPr>
          <p:cNvPr id="36867" name="Rectangle 2"/>
          <p:cNvSpPr>
            <a:spLocks noGrp="1" noRot="1" noChangeAspect="1" noChangeArrowheads="1" noTextEdit="1"/>
          </p:cNvSpPr>
          <p:nvPr>
            <p:ph type="sldImg"/>
          </p:nvPr>
        </p:nvSpPr>
        <p:spPr>
          <a:xfrm>
            <a:off x="2952750" y="531813"/>
            <a:ext cx="3536950" cy="2652712"/>
          </a:xfrm>
          <a:ln/>
        </p:spPr>
      </p:sp>
      <p:sp>
        <p:nvSpPr>
          <p:cNvPr id="36868" name="Rectangle 3"/>
          <p:cNvSpPr>
            <a:spLocks noGrp="1" noChangeArrowheads="1"/>
          </p:cNvSpPr>
          <p:nvPr>
            <p:ph type="body" idx="1"/>
          </p:nvPr>
        </p:nvSpPr>
        <p:spPr>
          <a:xfrm>
            <a:off x="1258955" y="3363236"/>
            <a:ext cx="6922640" cy="31870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lstStyle/>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337954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noChangeArrowheads="1"/>
          </p:cNvSpPr>
          <p:nvPr/>
        </p:nvSpPr>
        <p:spPr bwMode="auto">
          <a:xfrm>
            <a:off x="5349753" y="6726472"/>
            <a:ext cx="4090797" cy="35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pPr>
            <a:fld id="{6B7B77ED-228E-4608-B76D-8B25839050B4}" type="slidenum">
              <a:rPr lang="en-US" altLang="en-US"/>
              <a:pPr algn="r" eaLnBrk="1" hangingPunct="1">
                <a:spcBef>
                  <a:spcPct val="0"/>
                </a:spcBef>
              </a:pPr>
              <a:t>11</a:t>
            </a:fld>
            <a:endParaRPr lang="en-US" altLang="en-US"/>
          </a:p>
        </p:txBody>
      </p:sp>
      <p:sp>
        <p:nvSpPr>
          <p:cNvPr id="36867" name="Rectangle 2"/>
          <p:cNvSpPr>
            <a:spLocks noGrp="1" noRot="1" noChangeAspect="1" noChangeArrowheads="1" noTextEdit="1"/>
          </p:cNvSpPr>
          <p:nvPr>
            <p:ph type="sldImg"/>
          </p:nvPr>
        </p:nvSpPr>
        <p:spPr>
          <a:xfrm>
            <a:off x="2952750" y="531813"/>
            <a:ext cx="3536950" cy="2652712"/>
          </a:xfrm>
          <a:ln/>
        </p:spPr>
      </p:sp>
      <p:sp>
        <p:nvSpPr>
          <p:cNvPr id="36868" name="Rectangle 3"/>
          <p:cNvSpPr>
            <a:spLocks noGrp="1" noChangeArrowheads="1"/>
          </p:cNvSpPr>
          <p:nvPr>
            <p:ph type="body" idx="1"/>
          </p:nvPr>
        </p:nvSpPr>
        <p:spPr>
          <a:xfrm>
            <a:off x="1258955" y="3363236"/>
            <a:ext cx="6922640" cy="31870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lstStyle/>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1622460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noChangeArrowheads="1"/>
          </p:cNvSpPr>
          <p:nvPr/>
        </p:nvSpPr>
        <p:spPr bwMode="auto">
          <a:xfrm>
            <a:off x="5349753" y="6726472"/>
            <a:ext cx="4090797" cy="35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pPr>
            <a:fld id="{6B7B77ED-228E-4608-B76D-8B25839050B4}" type="slidenum">
              <a:rPr lang="en-US" altLang="en-US"/>
              <a:pPr algn="r" eaLnBrk="1" hangingPunct="1">
                <a:spcBef>
                  <a:spcPct val="0"/>
                </a:spcBef>
              </a:pPr>
              <a:t>12</a:t>
            </a:fld>
            <a:endParaRPr lang="en-US" altLang="en-US"/>
          </a:p>
        </p:txBody>
      </p:sp>
      <p:sp>
        <p:nvSpPr>
          <p:cNvPr id="36867" name="Rectangle 2"/>
          <p:cNvSpPr>
            <a:spLocks noGrp="1" noRot="1" noChangeAspect="1" noChangeArrowheads="1" noTextEdit="1"/>
          </p:cNvSpPr>
          <p:nvPr>
            <p:ph type="sldImg"/>
          </p:nvPr>
        </p:nvSpPr>
        <p:spPr>
          <a:xfrm>
            <a:off x="2952750" y="531813"/>
            <a:ext cx="3536950" cy="2652712"/>
          </a:xfrm>
          <a:ln/>
        </p:spPr>
      </p:sp>
      <p:sp>
        <p:nvSpPr>
          <p:cNvPr id="36868" name="Rectangle 3"/>
          <p:cNvSpPr>
            <a:spLocks noGrp="1" noChangeArrowheads="1"/>
          </p:cNvSpPr>
          <p:nvPr>
            <p:ph type="body" idx="1"/>
          </p:nvPr>
        </p:nvSpPr>
        <p:spPr>
          <a:xfrm>
            <a:off x="1258955" y="3363236"/>
            <a:ext cx="6922640" cy="31870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lstStyle/>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10446779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noChangeArrowheads="1"/>
          </p:cNvSpPr>
          <p:nvPr/>
        </p:nvSpPr>
        <p:spPr bwMode="auto">
          <a:xfrm>
            <a:off x="5349753" y="6726472"/>
            <a:ext cx="4090797" cy="35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pPr>
            <a:fld id="{6B7B77ED-228E-4608-B76D-8B25839050B4}" type="slidenum">
              <a:rPr lang="en-US" altLang="en-US"/>
              <a:pPr algn="r" eaLnBrk="1" hangingPunct="1">
                <a:spcBef>
                  <a:spcPct val="0"/>
                </a:spcBef>
              </a:pPr>
              <a:t>13</a:t>
            </a:fld>
            <a:endParaRPr lang="en-US" altLang="en-US"/>
          </a:p>
        </p:txBody>
      </p:sp>
      <p:sp>
        <p:nvSpPr>
          <p:cNvPr id="36867" name="Rectangle 2"/>
          <p:cNvSpPr>
            <a:spLocks noGrp="1" noRot="1" noChangeAspect="1" noChangeArrowheads="1" noTextEdit="1"/>
          </p:cNvSpPr>
          <p:nvPr>
            <p:ph type="sldImg"/>
          </p:nvPr>
        </p:nvSpPr>
        <p:spPr>
          <a:xfrm>
            <a:off x="2952750" y="531813"/>
            <a:ext cx="3536950" cy="2652712"/>
          </a:xfrm>
          <a:ln/>
        </p:spPr>
      </p:sp>
      <p:sp>
        <p:nvSpPr>
          <p:cNvPr id="36868" name="Rectangle 3"/>
          <p:cNvSpPr>
            <a:spLocks noGrp="1" noChangeArrowheads="1"/>
          </p:cNvSpPr>
          <p:nvPr>
            <p:ph type="body" idx="1"/>
          </p:nvPr>
        </p:nvSpPr>
        <p:spPr>
          <a:xfrm>
            <a:off x="1258955" y="3363236"/>
            <a:ext cx="6922640" cy="31870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lstStyle/>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28817677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noChangeArrowheads="1"/>
          </p:cNvSpPr>
          <p:nvPr/>
        </p:nvSpPr>
        <p:spPr bwMode="auto">
          <a:xfrm>
            <a:off x="5349753" y="6726472"/>
            <a:ext cx="4090797" cy="35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pPr>
            <a:fld id="{6B7B77ED-228E-4608-B76D-8B25839050B4}" type="slidenum">
              <a:rPr lang="en-US" altLang="en-US"/>
              <a:pPr algn="r" eaLnBrk="1" hangingPunct="1">
                <a:spcBef>
                  <a:spcPct val="0"/>
                </a:spcBef>
              </a:pPr>
              <a:t>14</a:t>
            </a:fld>
            <a:endParaRPr lang="en-US" altLang="en-US"/>
          </a:p>
        </p:txBody>
      </p:sp>
      <p:sp>
        <p:nvSpPr>
          <p:cNvPr id="36867" name="Rectangle 2"/>
          <p:cNvSpPr>
            <a:spLocks noGrp="1" noRot="1" noChangeAspect="1" noChangeArrowheads="1" noTextEdit="1"/>
          </p:cNvSpPr>
          <p:nvPr>
            <p:ph type="sldImg"/>
          </p:nvPr>
        </p:nvSpPr>
        <p:spPr>
          <a:xfrm>
            <a:off x="2952750" y="531813"/>
            <a:ext cx="3536950" cy="2652712"/>
          </a:xfrm>
          <a:ln/>
        </p:spPr>
      </p:sp>
      <p:sp>
        <p:nvSpPr>
          <p:cNvPr id="36868" name="Rectangle 3"/>
          <p:cNvSpPr>
            <a:spLocks noGrp="1" noChangeArrowheads="1"/>
          </p:cNvSpPr>
          <p:nvPr>
            <p:ph type="body" idx="1"/>
          </p:nvPr>
        </p:nvSpPr>
        <p:spPr>
          <a:xfrm>
            <a:off x="1258955" y="3363236"/>
            <a:ext cx="6922640" cy="31870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lstStyle/>
          <a:p>
            <a:r>
              <a:rPr lang="en-US" altLang="en-US" dirty="0" smtClean="0">
                <a:latin typeface="Times New Roman" panose="02020603050405020304" pitchFamily="18" charset="0"/>
              </a:rPr>
              <a:t>Here, the professor can relate</a:t>
            </a:r>
            <a:r>
              <a:rPr lang="en-US" altLang="en-US" baseline="0" dirty="0" smtClean="0">
                <a:latin typeface="Times New Roman" panose="02020603050405020304" pitchFamily="18" charset="0"/>
              </a:rPr>
              <a:t> a simple example, such as:</a:t>
            </a:r>
          </a:p>
          <a:p>
            <a:r>
              <a:rPr lang="en-US" altLang="en-US" baseline="0" dirty="0" smtClean="0">
                <a:latin typeface="Times New Roman" panose="02020603050405020304" pitchFamily="18" charset="0"/>
              </a:rPr>
              <a:t>“I passed by three of my students sitting at a table in the Food Court earlier in the week with a very meek nod. Perhaps so meek that they did not see it. I did see them, and they did see me looking at them, so it was not as though I did not see them. I occurred to me after that perhaps I appeared uninterested in them, or that I was in too much of a rush to say hello to them, or worse that I did not care about them. Indeed, it was not my intention to come across in such bad light. In fact, I was somewhat embarrassed as I could recall two of their names, but not able to recall correctly nor recall the third person. I failed in “being professional” with my manners. So, I </a:t>
            </a:r>
            <a:r>
              <a:rPr lang="en-US" altLang="en-US" baseline="0" dirty="0" err="1" smtClean="0">
                <a:latin typeface="Times New Roman" panose="02020603050405020304" pitchFamily="18" charset="0"/>
              </a:rPr>
              <a:t>wasa</a:t>
            </a:r>
            <a:r>
              <a:rPr lang="en-US" altLang="en-US" baseline="0" dirty="0" smtClean="0">
                <a:latin typeface="Times New Roman" panose="02020603050405020304" pitchFamily="18" charset="0"/>
              </a:rPr>
              <a:t> determined to set this right. The very next time I saw those students in class, I purposely went up to them, introduced myself in our way, and then apologized to them for not stopping to say “hello” earlier in the week. AS a matter of fact, I used this example along with an explanation for this same topic!”</a:t>
            </a:r>
          </a:p>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1324628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noChangeArrowheads="1"/>
          </p:cNvSpPr>
          <p:nvPr/>
        </p:nvSpPr>
        <p:spPr bwMode="auto">
          <a:xfrm>
            <a:off x="5349753" y="6726472"/>
            <a:ext cx="4090797" cy="35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pPr>
            <a:fld id="{6B7B77ED-228E-4608-B76D-8B25839050B4}" type="slidenum">
              <a:rPr lang="en-US" altLang="en-US"/>
              <a:pPr algn="r" eaLnBrk="1" hangingPunct="1">
                <a:spcBef>
                  <a:spcPct val="0"/>
                </a:spcBef>
              </a:pPr>
              <a:t>15</a:t>
            </a:fld>
            <a:endParaRPr lang="en-US" altLang="en-US"/>
          </a:p>
        </p:txBody>
      </p:sp>
      <p:sp>
        <p:nvSpPr>
          <p:cNvPr id="36867" name="Rectangle 2"/>
          <p:cNvSpPr>
            <a:spLocks noGrp="1" noRot="1" noChangeAspect="1" noChangeArrowheads="1" noTextEdit="1"/>
          </p:cNvSpPr>
          <p:nvPr>
            <p:ph type="sldImg"/>
          </p:nvPr>
        </p:nvSpPr>
        <p:spPr>
          <a:xfrm>
            <a:off x="2952750" y="531813"/>
            <a:ext cx="3536950" cy="2652712"/>
          </a:xfrm>
          <a:ln/>
        </p:spPr>
      </p:sp>
      <p:sp>
        <p:nvSpPr>
          <p:cNvPr id="36868" name="Rectangle 3"/>
          <p:cNvSpPr>
            <a:spLocks noGrp="1" noChangeArrowheads="1"/>
          </p:cNvSpPr>
          <p:nvPr>
            <p:ph type="body" idx="1"/>
          </p:nvPr>
        </p:nvSpPr>
        <p:spPr>
          <a:xfrm>
            <a:off x="1258955" y="3363236"/>
            <a:ext cx="6922640" cy="31870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88" tIns="47394" rIns="94788" bIns="47394"/>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188467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67342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2410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noChangeArrowheads="1"/>
          </p:cNvSpPr>
          <p:nvPr/>
        </p:nvSpPr>
        <p:spPr bwMode="auto">
          <a:xfrm>
            <a:off x="5348141" y="6724857"/>
            <a:ext cx="4090798" cy="35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05" tIns="47403" rIns="94805" bIns="47403"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a:spcBef>
                <a:spcPct val="0"/>
              </a:spcBef>
            </a:pPr>
            <a:fld id="{62D8E5B3-E5CF-40EA-A0BD-A2283E150001}" type="slidenum">
              <a:rPr lang="en-US" altLang="en-US"/>
              <a:pPr algn="r">
                <a:spcBef>
                  <a:spcPct val="0"/>
                </a:spcBef>
              </a:pPr>
              <a:t>18</a:t>
            </a:fld>
            <a:endParaRPr lang="en-US" alt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1258955" y="3363236"/>
            <a:ext cx="6922640" cy="31870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Times New Roman" panose="02020603050405020304" pitchFamily="18" charset="0"/>
              </a:rPr>
              <a:t>The discussion about the $5 bill</a:t>
            </a:r>
            <a:r>
              <a:rPr lang="en-US" altLang="en-US" baseline="0" dirty="0" smtClean="0">
                <a:latin typeface="Times New Roman" panose="02020603050405020304" pitchFamily="18" charset="0"/>
              </a:rPr>
              <a:t> and two scenarios:</a:t>
            </a: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Scenario 1) The professor is walking through the empty Food Court early</a:t>
            </a:r>
            <a:r>
              <a:rPr lang="en-US" altLang="en-US" baseline="0" dirty="0" smtClean="0">
                <a:latin typeface="Times New Roman" panose="02020603050405020304" pitchFamily="18" charset="0"/>
              </a:rPr>
              <a:t> in the morning</a:t>
            </a:r>
            <a:r>
              <a:rPr lang="en-US" altLang="en-US" dirty="0" smtClean="0">
                <a:latin typeface="Times New Roman" panose="02020603050405020304" pitchFamily="18" charset="0"/>
              </a:rPr>
              <a:t> and sees a $5 on the floor.</a:t>
            </a:r>
            <a:r>
              <a:rPr lang="en-US" altLang="en-US" baseline="0" dirty="0" smtClean="0">
                <a:latin typeface="Times New Roman" panose="02020603050405020304" pitchFamily="18" charset="0"/>
              </a:rPr>
              <a:t> What does the professor do? The professor actively looks for someone, but seeing as no one is around and there is not even a remote possibility of looking the rightful owner of the $5, the professor pockets the money … and likely with the intention of donating it to one of the campus charities. What value(s) did the professor exhibit? Values: Rightful ownership, generosity, charity. </a:t>
            </a:r>
          </a:p>
          <a:p>
            <a:endParaRPr lang="en-US" altLang="en-US" baseline="0" dirty="0" smtClean="0">
              <a:latin typeface="Times New Roman" panose="02020603050405020304" pitchFamily="18" charset="0"/>
            </a:endParaRPr>
          </a:p>
          <a:p>
            <a:r>
              <a:rPr lang="en-US" altLang="en-US" baseline="0" dirty="0" smtClean="0">
                <a:latin typeface="Times New Roman" panose="02020603050405020304" pitchFamily="18" charset="0"/>
              </a:rPr>
              <a:t>Scenario 2) The professor is walking through the busy Food Court. The professor observes a student pull out their cell-phone from their pocket, and unbeknownst to the student, a $5 bill falls onto the floor. What does the professor do? What choices does the professor have? 1) Quietly and quickly scope up and keep the $5. 2) Pick it up and contact the student to return the $5. On what values are each of these choices based? 1) Greed. Lack of ethics. “Finders keepers, losers weepers.” Lack of integrity – if the professor claims to be honest, but does not demonstrate it. 2) Honesty.  Rightful ownership of property.  Integrity – living by their good values. </a:t>
            </a:r>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2196390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noChangeArrowheads="1"/>
          </p:cNvSpPr>
          <p:nvPr/>
        </p:nvSpPr>
        <p:spPr bwMode="auto">
          <a:xfrm>
            <a:off x="5348141" y="6724857"/>
            <a:ext cx="4090798" cy="35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05" tIns="47403" rIns="94805" bIns="47403"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a:spcBef>
                <a:spcPct val="0"/>
              </a:spcBef>
            </a:pPr>
            <a:fld id="{62D8E5B3-E5CF-40EA-A0BD-A2283E150001}" type="slidenum">
              <a:rPr lang="en-US" altLang="en-US"/>
              <a:pPr algn="r">
                <a:spcBef>
                  <a:spcPct val="0"/>
                </a:spcBef>
              </a:pPr>
              <a:t>19</a:t>
            </a:fld>
            <a:endParaRPr lang="en-US" alt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1258955" y="3363236"/>
            <a:ext cx="6922640" cy="31870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Times New Roman" panose="02020603050405020304" pitchFamily="18" charset="0"/>
              </a:rPr>
              <a:t>The discussion about the $5 bill</a:t>
            </a:r>
            <a:r>
              <a:rPr lang="en-US" altLang="en-US" baseline="0" dirty="0" smtClean="0">
                <a:latin typeface="Times New Roman" panose="02020603050405020304" pitchFamily="18" charset="0"/>
              </a:rPr>
              <a:t> and two scenarios:</a:t>
            </a: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Scenario 1) The professor is walking through the empty Food Court early</a:t>
            </a:r>
            <a:r>
              <a:rPr lang="en-US" altLang="en-US" baseline="0" dirty="0" smtClean="0">
                <a:latin typeface="Times New Roman" panose="02020603050405020304" pitchFamily="18" charset="0"/>
              </a:rPr>
              <a:t> in the morning</a:t>
            </a:r>
            <a:r>
              <a:rPr lang="en-US" altLang="en-US" dirty="0" smtClean="0">
                <a:latin typeface="Times New Roman" panose="02020603050405020304" pitchFamily="18" charset="0"/>
              </a:rPr>
              <a:t> and sees a $5 on the floor.</a:t>
            </a:r>
            <a:r>
              <a:rPr lang="en-US" altLang="en-US" baseline="0" dirty="0" smtClean="0">
                <a:latin typeface="Times New Roman" panose="02020603050405020304" pitchFamily="18" charset="0"/>
              </a:rPr>
              <a:t> What does the professor do? The professor actively looks for someone, but seeing as no one is around and there is not even a remote possibility of looking the rightful owner of the $5, the professor pockets the money … and likely with the intention of donating it to one of the campus charities. What value(s) did the professor exhibit? Values: Rightful ownership, generosity, charity. </a:t>
            </a:r>
          </a:p>
          <a:p>
            <a:endParaRPr lang="en-US" altLang="en-US" baseline="0" dirty="0" smtClean="0">
              <a:latin typeface="Times New Roman" panose="02020603050405020304" pitchFamily="18" charset="0"/>
            </a:endParaRPr>
          </a:p>
          <a:p>
            <a:r>
              <a:rPr lang="en-US" altLang="en-US" baseline="0" dirty="0" smtClean="0">
                <a:latin typeface="Times New Roman" panose="02020603050405020304" pitchFamily="18" charset="0"/>
              </a:rPr>
              <a:t>Scenario 2) The professor is walking through the busy Food Court. The professor observes a student pull out their cell-phone from their pocket, and unbeknownst to the student, a $5 bill falls onto the floor. What does the professor do? What choices does the professor have? 1) Quietly and quickly scope up and keep the $5. 2) Pick it up and contact the student to return the $5. On what values are each of these choices based? 1) Greed. Lack of ethics. “Finders keepers, losers weepers.” Lack of integrity – if the professor claims to be honest, but does not demonstrate it. 2) Honesty.  Rightful ownership of property.  Integrity – living by their good values. </a:t>
            </a:r>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2705942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noChangeArrowheads="1"/>
          </p:cNvSpPr>
          <p:nvPr/>
        </p:nvSpPr>
        <p:spPr bwMode="auto">
          <a:xfrm>
            <a:off x="5348141" y="6724857"/>
            <a:ext cx="4090798" cy="35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05" tIns="47403" rIns="94805" bIns="47403"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a:spcBef>
                <a:spcPct val="0"/>
              </a:spcBef>
            </a:pPr>
            <a:fld id="{62D8E5B3-E5CF-40EA-A0BD-A2283E150001}" type="slidenum">
              <a:rPr lang="en-US" altLang="en-US"/>
              <a:pPr algn="r">
                <a:spcBef>
                  <a:spcPct val="0"/>
                </a:spcBef>
              </a:pPr>
              <a:t>20</a:t>
            </a:fld>
            <a:endParaRPr lang="en-US" alt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1258955" y="3363236"/>
            <a:ext cx="6922640" cy="31870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Times New Roman" panose="02020603050405020304" pitchFamily="18" charset="0"/>
              </a:rPr>
              <a:t>The discussion about the $5 bill</a:t>
            </a:r>
            <a:r>
              <a:rPr lang="en-US" altLang="en-US" baseline="0" dirty="0" smtClean="0">
                <a:latin typeface="Times New Roman" panose="02020603050405020304" pitchFamily="18" charset="0"/>
              </a:rPr>
              <a:t> and two scenarios:</a:t>
            </a: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Scenario 1) The professor is walking through the empty Food Court early</a:t>
            </a:r>
            <a:r>
              <a:rPr lang="en-US" altLang="en-US" baseline="0" dirty="0" smtClean="0">
                <a:latin typeface="Times New Roman" panose="02020603050405020304" pitchFamily="18" charset="0"/>
              </a:rPr>
              <a:t> in the morning</a:t>
            </a:r>
            <a:r>
              <a:rPr lang="en-US" altLang="en-US" dirty="0" smtClean="0">
                <a:latin typeface="Times New Roman" panose="02020603050405020304" pitchFamily="18" charset="0"/>
              </a:rPr>
              <a:t> and sees a $5 on the floor.</a:t>
            </a:r>
            <a:r>
              <a:rPr lang="en-US" altLang="en-US" baseline="0" dirty="0" smtClean="0">
                <a:latin typeface="Times New Roman" panose="02020603050405020304" pitchFamily="18" charset="0"/>
              </a:rPr>
              <a:t> What does the professor do? The professor actively looks for someone, but seeing as no one is around and there is not even a remote possibility of looking the rightful owner of the $5, the professor pockets the money … and likely with the intention of donating it to one of the campus charities. What value(s) did the professor exhibit? Values: Rightful ownership, generosity, charity. </a:t>
            </a:r>
          </a:p>
          <a:p>
            <a:endParaRPr lang="en-US" altLang="en-US" baseline="0" dirty="0" smtClean="0">
              <a:latin typeface="Times New Roman" panose="02020603050405020304" pitchFamily="18" charset="0"/>
            </a:endParaRPr>
          </a:p>
          <a:p>
            <a:r>
              <a:rPr lang="en-US" altLang="en-US" baseline="0" dirty="0" smtClean="0">
                <a:latin typeface="Times New Roman" panose="02020603050405020304" pitchFamily="18" charset="0"/>
              </a:rPr>
              <a:t>Scenario 2) The professor is walking through the busy Food Court. The professor observes a student pull out their cell-phone from their pocket, and unbeknownst to the student, a $5 bill falls onto the floor. What does the professor do? What choices does the professor have? 1) Quietly and quickly scope up and keep the $5. 2) Pick it up and contact the student to return the $5. On what values are each of these choices based? 1) Greed. Dishonest. “Finders keepers, losers weepers.” Lack of integrity – if the professor claims to be honest, but does not demonstrate it. 2) Honesty.  Rightful ownership of property.  Integrity – living by their good values. </a:t>
            </a:r>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2738754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noChangeArrowheads="1"/>
          </p:cNvSpPr>
          <p:nvPr/>
        </p:nvSpPr>
        <p:spPr bwMode="auto">
          <a:xfrm>
            <a:off x="5348141" y="6724857"/>
            <a:ext cx="4090798" cy="35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05" tIns="47403" rIns="94805" bIns="47403"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a:spcBef>
                <a:spcPct val="0"/>
              </a:spcBef>
            </a:pPr>
            <a:fld id="{62D8E5B3-E5CF-40EA-A0BD-A2283E150001}" type="slidenum">
              <a:rPr lang="en-US" altLang="en-US"/>
              <a:pPr algn="r">
                <a:spcBef>
                  <a:spcPct val="0"/>
                </a:spcBef>
              </a:pPr>
              <a:t>21</a:t>
            </a:fld>
            <a:endParaRPr lang="en-US" alt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1258955" y="3363236"/>
            <a:ext cx="6922640" cy="31870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Times New Roman" panose="02020603050405020304" pitchFamily="18" charset="0"/>
              </a:rPr>
              <a:t>A</a:t>
            </a:r>
            <a:r>
              <a:rPr lang="en-US" altLang="en-US" baseline="0" dirty="0" smtClean="0">
                <a:latin typeface="Times New Roman" panose="02020603050405020304" pitchFamily="18" charset="0"/>
              </a:rPr>
              <a:t> professor who teaches ethics should know the right action to take, the right thing to do, and their credibility is based not on what they say or teach, but what their actions “say”. </a:t>
            </a:r>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2240980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92895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49638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89275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71378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02726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767671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278569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03598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30</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30</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7/4/2022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167496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31253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875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53118CC2-884A-4430-8B4F-9976F3C29C24}" type="datetimeFigureOut">
              <a:rPr kumimoji="0" lang="en-US" sz="1800" b="0" i="0" u="none" strike="noStrike" kern="1200" cap="none" spc="0" normalizeH="0" baseline="0" noProof="0">
                <a:ln>
                  <a:noFill/>
                </a:ln>
                <a:solidFill>
                  <a:srgbClr val="000000"/>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7/4/2022</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91823322-A425-42F9-B4E6-DE1BA6748FF3}" type="slidenum">
              <a:rPr kumimoji="0" lang="en-US" altLang="en-US" sz="1800" b="0" i="0" u="none" strike="noStrike" kern="1200" cap="none" spc="0" normalizeH="0" baseline="0" noProof="0">
                <a:ln>
                  <a:noFill/>
                </a:ln>
                <a:solidFill>
                  <a:srgbClr val="000000"/>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alt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48727606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7135393"/>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2.jp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2.jp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2.jp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careermetis.com/organization-core-values/" TargetMode="External"/><Relationship Id="rId7" Type="http://schemas.openxmlformats.org/officeDocument/2006/relationships/diagramColors" Target="../diagrams/colors1.xml"/><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7.7: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Leadership –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What Makes an Effective Leader</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difference between “managers and leaders”. </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concept of “Leadership” in the context of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management.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diagram “Our Personal Iceberg” Model, and why it is critically important that our actions are consistent with our intentions.</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Begin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process to determine your personal values. </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basic scenario with alternative choices, and determine the values on which those choices are based. </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good and effective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is founded on good values:</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how good characteristics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actions of leaders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positively influence the culture of an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importance of the organization’s values, the leader’s values, the leader’s intentions, and the leader’s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actions;</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that the leader’s actions must be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consistent with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their intention and values;</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importance that the values of the leader must be congruent with the values of the organization.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Lesson: Leaders make positive things happen (in a principled manner) that would not have otherwise happened.</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Significant study and experience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condensed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vast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topic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leadership:</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33350" lvl="1" indent="0" eaLnBrk="0" hangingPunct="0">
              <a:lnSpc>
                <a:spcPct val="90000"/>
              </a:lnSpc>
              <a:spcBef>
                <a:spcPts val="0"/>
              </a:spcBef>
              <a:buClr>
                <a:srgbClr val="000000"/>
              </a:buClr>
              <a:buSzPct val="100000"/>
              <a:buNone/>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20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is the use of </a:t>
            </a:r>
            <a:r>
              <a:rPr lang="en-US" altLang="en-US" sz="20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power and influence</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direct the activities of followers </a:t>
            </a:r>
            <a:r>
              <a:rPr lang="en-US" altLang="en-US" sz="20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toward goal achievement</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133350" lvl="1" indent="0" eaLnBrk="0" hangingPunct="0">
              <a:lnSpc>
                <a:spcPct val="90000"/>
              </a:lnSpc>
              <a:spcBef>
                <a:spcPts val="0"/>
              </a:spcBef>
              <a:buClr>
                <a:srgbClr val="000000"/>
              </a:buClr>
              <a:buSzPct val="100000"/>
              <a:buNone/>
            </a:pPr>
            <a:endPar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33350" lvl="1" indent="0" eaLnBrk="0" hangingPunct="0">
              <a:lnSpc>
                <a:spcPct val="90000"/>
              </a:lnSpc>
              <a:spcBef>
                <a:spcPts val="0"/>
              </a:spcBef>
              <a:buClr>
                <a:srgbClr val="000000"/>
              </a:buClr>
              <a:buSzPct val="100000"/>
              <a:buNone/>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accomplish this, a leader is </a:t>
            </a:r>
            <a:r>
              <a:rPr lang="en-US" altLang="en-US" sz="20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entrusted with people and resources</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a:t>
            </a:r>
            <a:r>
              <a:rPr lang="en-US" altLang="en-US" sz="20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add value</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the business in a </a:t>
            </a:r>
            <a:r>
              <a:rPr lang="en-US" altLang="en-US" sz="20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principled</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(legal, ethical, moral) </a:t>
            </a:r>
            <a:r>
              <a:rPr lang="en-US" altLang="en-US" sz="20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way</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133350" lvl="1" indent="0" eaLnBrk="0" hangingPunct="0">
              <a:lnSpc>
                <a:spcPct val="90000"/>
              </a:lnSpc>
              <a:spcBef>
                <a:spcPts val="0"/>
              </a:spcBef>
              <a:buClr>
                <a:srgbClr val="000000"/>
              </a:buClr>
              <a:buSzPct val="100000"/>
              <a:buNone/>
            </a:pPr>
            <a:endPar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33350" lvl="1" indent="0" eaLnBrk="0" hangingPunct="0">
              <a:lnSpc>
                <a:spcPct val="90000"/>
              </a:lnSpc>
              <a:spcBef>
                <a:spcPts val="0"/>
              </a:spcBef>
              <a:buClr>
                <a:srgbClr val="000000"/>
              </a:buClr>
              <a:buSzPct val="100000"/>
              <a:buNone/>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US" altLang="en-US" sz="2000"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 adds value by supporting their employees</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a team or business unit so that they can do their jobs better.” </a:t>
            </a:r>
          </a:p>
          <a:p>
            <a:pPr marL="133350" lvl="1" indent="0" eaLnBrk="0" hangingPunct="0">
              <a:lnSpc>
                <a:spcPct val="90000"/>
              </a:lnSpc>
              <a:spcBef>
                <a:spcPts val="0"/>
              </a:spcBef>
              <a:buClr>
                <a:srgbClr val="000000"/>
              </a:buClr>
              <a:buSzPct val="100000"/>
              <a:buNone/>
            </a:pPr>
            <a:endPar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33350" lvl="1" indent="0" eaLnBrk="0" hangingPunct="0">
              <a:lnSpc>
                <a:spcPct val="90000"/>
              </a:lnSpc>
              <a:spcBef>
                <a:spcPts val="0"/>
              </a:spcBef>
              <a:buClr>
                <a:srgbClr val="000000"/>
              </a:buClr>
              <a:buSzPct val="100000"/>
              <a:buNone/>
            </a:pPr>
            <a:r>
              <a:rPr lang="en-US" altLang="en-US" sz="2000" b="0" i="1"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Gord</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000" b="0" i="1"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Winkel</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2013.</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could be further condensed as: </a:t>
            </a:r>
            <a:endPar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1" indent="0" algn="ctr" eaLnBrk="0" hangingPunct="0">
              <a:lnSpc>
                <a:spcPct val="90000"/>
              </a:lnSpc>
              <a:spcBef>
                <a:spcPts val="0"/>
              </a:spcBef>
              <a:buClr>
                <a:srgbClr val="000000"/>
              </a:buClr>
              <a:buSzPct val="100000"/>
              <a:buNone/>
            </a:pPr>
            <a:r>
              <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a:t>
            </a:r>
            <a:r>
              <a:rPr lang="en-US" altLang="en-US" sz="20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positive things happen in a principled </a:t>
            </a:r>
            <a:r>
              <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manner </a:t>
            </a:r>
            <a:r>
              <a:rPr lang="en-US" altLang="en-US" sz="20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would not have otherwise happened</a:t>
            </a:r>
            <a:r>
              <a:rPr lang="en-US" altLang="en-US" sz="200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00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Q: What is Effective Leadership?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4006513627"/>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8" name="Google Shape;128;p3"/>
          <p:cNvSpPr txBox="1">
            <a:spLocks/>
          </p:cNvSpPr>
          <p:nvPr/>
        </p:nvSpPr>
        <p:spPr>
          <a:xfrm>
            <a:off x="180000" y="828000"/>
            <a:ext cx="8640000" cy="5328000"/>
          </a:xfrm>
          <a:prstGeom prst="rect">
            <a:avLst/>
          </a:prstGeom>
          <a:solidFill>
            <a:schemeClr val="tx1"/>
          </a:solidFill>
          <a:ln w="9525" cap="flat" cmpd="sng">
            <a:solidFill>
              <a:schemeClr val="tx1"/>
            </a:solidFill>
            <a:prstDash val="solid"/>
            <a:miter lim="800000"/>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0680" algn="l" rtl="0">
              <a:lnSpc>
                <a:spcPct val="100000"/>
              </a:lnSpc>
              <a:spcBef>
                <a:spcPts val="640"/>
              </a:spcBef>
              <a:spcAft>
                <a:spcPts val="0"/>
              </a:spcAft>
              <a:buClr>
                <a:schemeClr val="dk2"/>
              </a:buClr>
              <a:buSzPts val="208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marR="0" lvl="0" indent="0" algn="l" defTabSz="457200" rtl="0" eaLnBrk="1" fontAlgn="auto" latinLnBrk="0" hangingPunct="1">
              <a:lnSpc>
                <a:spcPct val="100000"/>
              </a:lnSpc>
              <a:spcBef>
                <a:spcPts val="0"/>
              </a:spcBef>
              <a:spcAft>
                <a:spcPts val="0"/>
              </a:spcAft>
              <a:buClr>
                <a:srgbClr val="000000"/>
              </a:buClr>
              <a:buSzPts val="2000"/>
              <a:buFont typeface="Noto Sans Symbols"/>
              <a:buNone/>
              <a:tabLst/>
              <a:defRPr/>
            </a:pPr>
            <a:r>
              <a:rPr kumimoji="0" lang="en-CA" sz="1800" b="0" i="0" u="none" strike="noStrike" kern="1200" cap="none" spc="0" normalizeH="0" baseline="0" noProof="0" dirty="0" smtClean="0">
                <a:ln>
                  <a:noFill/>
                </a:ln>
                <a:solidFill>
                  <a:schemeClr val="bg1"/>
                </a:solidFill>
                <a:effectLst/>
                <a:uLnTx/>
                <a:uFillTx/>
                <a:latin typeface="Arial"/>
                <a:ea typeface="Arial"/>
                <a:cs typeface="Arial"/>
                <a:sym typeface="Times New Roman"/>
              </a:rPr>
              <a:t>Managing safety provides a solid basis for an organization to achieve compliance, but an emphasis on leadership is needed to achieve significantly higher levels of safety &amp; business performance. </a:t>
            </a:r>
          </a:p>
          <a:p>
            <a:pPr marL="609600" marR="0" lvl="0" indent="-609600" algn="l" defTabSz="457200" rtl="0" eaLnBrk="1" fontAlgn="auto" latinLnBrk="0" hangingPunct="1">
              <a:lnSpc>
                <a:spcPct val="100000"/>
              </a:lnSpc>
              <a:spcBef>
                <a:spcPts val="0"/>
              </a:spcBef>
              <a:spcAft>
                <a:spcPts val="0"/>
              </a:spcAft>
              <a:buClr>
                <a:srgbClr val="000000"/>
              </a:buClr>
              <a:buSzPts val="2000"/>
              <a:buFont typeface="Noto Sans Symbols"/>
              <a:buChar char="⮚"/>
              <a:tabLst/>
              <a:defRPr/>
            </a:pPr>
            <a:endParaRPr kumimoji="0" lang="en-CA" sz="1800" b="0" i="0" u="none" strike="noStrike" kern="1200" cap="none" spc="0" normalizeH="0" baseline="0" noProof="0" dirty="0" smtClean="0">
              <a:ln>
                <a:noFill/>
              </a:ln>
              <a:solidFill>
                <a:schemeClr val="bg1"/>
              </a:solidFill>
              <a:effectLst/>
              <a:uLnTx/>
              <a:uFillTx/>
              <a:latin typeface="Arial"/>
              <a:ea typeface="Arial"/>
              <a:cs typeface="Arial"/>
              <a:sym typeface="Times New Roman"/>
            </a:endParaRPr>
          </a:p>
        </p:txBody>
      </p:sp>
      <p:sp>
        <p:nvSpPr>
          <p:cNvPr id="6" name="Google Shape;166;p6"/>
          <p:cNvSpPr/>
          <p:nvPr/>
        </p:nvSpPr>
        <p:spPr>
          <a:xfrm>
            <a:off x="180000" y="180000"/>
            <a:ext cx="8640000" cy="504000"/>
          </a:xfrm>
          <a:prstGeom prst="rect">
            <a:avLst/>
          </a:prstGeom>
          <a:solidFill>
            <a:schemeClr val="tx1"/>
          </a:solidFill>
          <a:ln>
            <a:solidFill>
              <a:schemeClr val="tx1"/>
            </a:solidFill>
          </a:ln>
        </p:spPr>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sym typeface="Times New Roman"/>
              </a:rPr>
              <a:t>Comparison of Managers and Leaders – Risk</a:t>
            </a:r>
            <a:r>
              <a:rPr kumimoji="0" lang="en-US" sz="2400" b="0" i="0" u="none" strike="noStrike" kern="1200" cap="none" spc="0" normalizeH="0" noProof="0" dirty="0" smtClean="0">
                <a:ln>
                  <a:noFill/>
                </a:ln>
                <a:solidFill>
                  <a:schemeClr val="bg1"/>
                </a:solidFill>
                <a:effectLst/>
                <a:uLnTx/>
                <a:uFillTx/>
                <a:latin typeface="Arial" panose="020B0604020202020204" pitchFamily="34" charset="0"/>
                <a:ea typeface="+mn-ea"/>
                <a:cs typeface="Arial" panose="020B0604020202020204" pitchFamily="34" charset="0"/>
                <a:sym typeface="Times New Roman"/>
              </a:rPr>
              <a:t> Management</a:t>
            </a:r>
            <a:r>
              <a:rPr kumimoji="0" 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sym typeface="Times New Roman"/>
              </a:rPr>
              <a:t>:</a:t>
            </a:r>
            <a:endParaRPr kumimoji="0" lang="en-US" sz="24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sym typeface="Times New Roman"/>
            </a:endParaRPr>
          </a:p>
        </p:txBody>
      </p:sp>
      <p:graphicFrame>
        <p:nvGraphicFramePr>
          <p:cNvPr id="2" name="Table 1"/>
          <p:cNvGraphicFramePr>
            <a:graphicFrameLocks noGrp="1"/>
          </p:cNvGraphicFramePr>
          <p:nvPr>
            <p:extLst>
              <p:ext uri="{D42A27DB-BD31-4B8C-83A1-F6EECF244321}">
                <p14:modId xmlns:p14="http://schemas.microsoft.com/office/powerpoint/2010/main" val="4231615076"/>
              </p:ext>
            </p:extLst>
          </p:nvPr>
        </p:nvGraphicFramePr>
        <p:xfrm>
          <a:off x="362309" y="1811528"/>
          <a:ext cx="8333118" cy="4284472"/>
        </p:xfrm>
        <a:graphic>
          <a:graphicData uri="http://schemas.openxmlformats.org/drawingml/2006/table">
            <a:tbl>
              <a:tblPr firstRow="1" bandRow="1"/>
              <a:tblGrid>
                <a:gridCol w="3726125">
                  <a:extLst>
                    <a:ext uri="{9D8B030D-6E8A-4147-A177-3AD203B41FA5}">
                      <a16:colId xmlns:a16="http://schemas.microsoft.com/office/drawing/2014/main" val="2393273970"/>
                    </a:ext>
                  </a:extLst>
                </a:gridCol>
                <a:gridCol w="4606993">
                  <a:extLst>
                    <a:ext uri="{9D8B030D-6E8A-4147-A177-3AD203B41FA5}">
                      <a16:colId xmlns:a16="http://schemas.microsoft.com/office/drawing/2014/main" val="1502542232"/>
                    </a:ext>
                  </a:extLst>
                </a:gridCol>
              </a:tblGrid>
              <a:tr h="370840">
                <a:tc>
                  <a:txBody>
                    <a:bodyPr/>
                    <a:lstStyle/>
                    <a:p>
                      <a:pPr marR="0" algn="ctr" rtl="0">
                        <a:lnSpc>
                          <a:spcPct val="90000"/>
                        </a:lnSpc>
                        <a:spcBef>
                          <a:spcPts val="0"/>
                        </a:spcBef>
                        <a:spcAft>
                          <a:spcPts val="0"/>
                        </a:spcAft>
                        <a:buClr>
                          <a:srgbClr val="000000"/>
                        </a:buClr>
                        <a:buFont typeface="Arial"/>
                      </a:pPr>
                      <a:r>
                        <a:rPr lang="en-US" sz="1800" b="1" i="0" u="none" strike="noStrike" cap="none" dirty="0" smtClean="0">
                          <a:solidFill>
                            <a:srgbClr val="000000"/>
                          </a:solidFill>
                          <a:latin typeface="Arial"/>
                          <a:ea typeface="Arial"/>
                          <a:cs typeface="Arial"/>
                          <a:sym typeface="Times New Roman"/>
                        </a:rPr>
                        <a:t>Managers</a:t>
                      </a:r>
                      <a:endParaRPr lang="en-US" sz="1800" b="1" i="0" u="none" strike="noStrike" cap="none" dirty="0">
                        <a:solidFill>
                          <a:srgbClr val="000000"/>
                        </a:solidFill>
                        <a:latin typeface="Arial"/>
                        <a:ea typeface="Arial"/>
                        <a:cs typeface="Arial"/>
                        <a:sym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marR="0" algn="ctr" rtl="0">
                        <a:lnSpc>
                          <a:spcPct val="90000"/>
                        </a:lnSpc>
                        <a:spcBef>
                          <a:spcPts val="0"/>
                        </a:spcBef>
                        <a:spcAft>
                          <a:spcPts val="0"/>
                        </a:spcAft>
                        <a:buClr>
                          <a:srgbClr val="000000"/>
                        </a:buClr>
                        <a:buFont typeface="Arial"/>
                      </a:pPr>
                      <a:r>
                        <a:rPr lang="en-US" sz="1800" b="1" i="0" u="none" strike="noStrike" cap="none" dirty="0" smtClean="0">
                          <a:solidFill>
                            <a:srgbClr val="000000"/>
                          </a:solidFill>
                          <a:latin typeface="Arial"/>
                          <a:ea typeface="Arial"/>
                          <a:cs typeface="Arial"/>
                          <a:sym typeface="Arial"/>
                        </a:rPr>
                        <a:t>Leaders</a:t>
                      </a:r>
                      <a:endParaRPr lang="en-US" sz="1800" b="1" i="0" u="none" strike="noStrike" cap="none" dirty="0">
                        <a:solidFill>
                          <a:srgbClr val="000000"/>
                        </a:solidFill>
                        <a:latin typeface="Arial"/>
                        <a:ea typeface="Arial"/>
                        <a:cs typeface="Arial"/>
                        <a:sym typeface="Aria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289367380"/>
                  </a:ext>
                </a:extLst>
              </a:tr>
              <a:tr h="370840">
                <a:tc>
                  <a:txBody>
                    <a:bodyPr/>
                    <a:lstStyle/>
                    <a:p>
                      <a:pPr marL="0" marR="0" indent="0" algn="l" rtl="0">
                        <a:lnSpc>
                          <a:spcPct val="90000"/>
                        </a:lnSpc>
                        <a:spcBef>
                          <a:spcPts val="0"/>
                        </a:spcBef>
                        <a:spcAft>
                          <a:spcPts val="0"/>
                        </a:spcAft>
                        <a:buClr>
                          <a:srgbClr val="000000"/>
                        </a:buClr>
                        <a:buSzPts val="2000"/>
                        <a:buFontTx/>
                        <a:buNone/>
                      </a:pPr>
                      <a:r>
                        <a:rPr lang="en-US" sz="1800" b="0" i="0" u="none" strike="noStrike" cap="none" dirty="0" smtClean="0">
                          <a:solidFill>
                            <a:srgbClr val="000000"/>
                          </a:solidFill>
                          <a:latin typeface="Arial"/>
                          <a:ea typeface="Arial"/>
                          <a:cs typeface="Arial"/>
                          <a:sym typeface="Times New Roman"/>
                        </a:rPr>
                        <a:t>Focus on systems, processes, programs,</a:t>
                      </a:r>
                      <a:r>
                        <a:rPr lang="en-US" sz="1800" b="0" i="0" u="none" strike="noStrike" cap="none" baseline="0" dirty="0" smtClean="0">
                          <a:solidFill>
                            <a:srgbClr val="000000"/>
                          </a:solidFill>
                          <a:latin typeface="Arial"/>
                          <a:ea typeface="Arial"/>
                          <a:cs typeface="Arial"/>
                          <a:sym typeface="Times New Roman"/>
                        </a:rPr>
                        <a:t> and </a:t>
                      </a:r>
                      <a:r>
                        <a:rPr lang="en-US" sz="1800" b="0" i="0" u="none" strike="noStrike" cap="none" dirty="0" smtClean="0">
                          <a:solidFill>
                            <a:srgbClr val="000000"/>
                          </a:solidFill>
                          <a:latin typeface="Arial"/>
                          <a:ea typeface="Arial"/>
                          <a:cs typeface="Arial"/>
                          <a:sym typeface="Times New Roman"/>
                        </a:rPr>
                        <a:t>the “status quo” (maintain performance)</a:t>
                      </a:r>
                      <a:endParaRPr lang="en-US" sz="1800" b="0" i="0" u="none" strike="noStrike" cap="none" dirty="0">
                        <a:solidFill>
                          <a:srgbClr val="000000"/>
                        </a:solidFill>
                        <a:latin typeface="Arial"/>
                        <a:ea typeface="Arial"/>
                        <a:cs typeface="Arial"/>
                        <a:sym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marL="0" marR="0" indent="0" algn="l" rtl="0">
                        <a:lnSpc>
                          <a:spcPct val="90000"/>
                        </a:lnSpc>
                        <a:spcBef>
                          <a:spcPts val="0"/>
                        </a:spcBef>
                        <a:spcAft>
                          <a:spcPts val="0"/>
                        </a:spcAft>
                        <a:buClr>
                          <a:srgbClr val="000000"/>
                        </a:buClr>
                        <a:buSzPts val="2000"/>
                        <a:buFontTx/>
                        <a:buNone/>
                      </a:pPr>
                      <a:r>
                        <a:rPr lang="en-CA" sz="1800" b="0" i="0" u="none" strike="noStrike" cap="none" noProof="0" dirty="0" smtClean="0">
                          <a:solidFill>
                            <a:srgbClr val="000000"/>
                          </a:solidFill>
                          <a:latin typeface="Arial"/>
                          <a:ea typeface="Arial"/>
                          <a:cs typeface="Arial"/>
                          <a:sym typeface="Times New Roman"/>
                        </a:rPr>
                        <a:t>Focus on people, change for the good of the organization, and the future </a:t>
                      </a:r>
                      <a:endParaRPr lang="en-US" sz="1800" b="0" i="0" u="none" strike="noStrike" cap="none" dirty="0">
                        <a:solidFill>
                          <a:srgbClr val="000000"/>
                        </a:solidFill>
                        <a:latin typeface="Arial"/>
                        <a:ea typeface="Arial"/>
                        <a:cs typeface="Arial"/>
                        <a:sym typeface="Aria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536096945"/>
                  </a:ext>
                </a:extLst>
              </a:tr>
              <a:tr h="370840">
                <a:tc>
                  <a:txBody>
                    <a:bodyPr/>
                    <a:lstStyle/>
                    <a:p>
                      <a:pPr marL="0" marR="0" indent="0" algn="l" rtl="0">
                        <a:lnSpc>
                          <a:spcPct val="90000"/>
                        </a:lnSpc>
                        <a:spcBef>
                          <a:spcPts val="0"/>
                        </a:spcBef>
                        <a:spcAft>
                          <a:spcPts val="0"/>
                        </a:spcAft>
                        <a:buClr>
                          <a:srgbClr val="000000"/>
                        </a:buClr>
                        <a:buSzPts val="2000"/>
                        <a:buFontTx/>
                        <a:buNone/>
                      </a:pPr>
                      <a:r>
                        <a:rPr lang="en-CA" sz="1800" b="0" i="0" u="none" strike="noStrike" cap="none" noProof="0" dirty="0" smtClean="0">
                          <a:solidFill>
                            <a:srgbClr val="000000"/>
                          </a:solidFill>
                          <a:latin typeface="Arial"/>
                          <a:ea typeface="Arial"/>
                          <a:cs typeface="Arial"/>
                          <a:sym typeface="Times New Roman"/>
                        </a:rPr>
                        <a:t>Organizations seen as machines</a:t>
                      </a:r>
                      <a:endParaRPr lang="en-US" sz="1800" b="0" i="0" u="none" strike="noStrike" cap="none" dirty="0">
                        <a:solidFill>
                          <a:srgbClr val="000000"/>
                        </a:solidFill>
                        <a:latin typeface="Arial"/>
                        <a:ea typeface="Arial"/>
                        <a:cs typeface="Arial"/>
                        <a:sym typeface="Aria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marL="0" marR="0" indent="0" algn="l" rtl="0">
                        <a:lnSpc>
                          <a:spcPct val="90000"/>
                        </a:lnSpc>
                        <a:spcBef>
                          <a:spcPts val="0"/>
                        </a:spcBef>
                        <a:spcAft>
                          <a:spcPts val="0"/>
                        </a:spcAft>
                        <a:buClr>
                          <a:srgbClr val="000000"/>
                        </a:buClr>
                        <a:buSzPts val="2000"/>
                        <a:buFontTx/>
                        <a:buNone/>
                      </a:pPr>
                      <a:r>
                        <a:rPr lang="en-CA" sz="1800" b="0" i="0" u="none" strike="noStrike" cap="none" noProof="0" dirty="0" smtClean="0">
                          <a:solidFill>
                            <a:srgbClr val="000000"/>
                          </a:solidFill>
                          <a:latin typeface="Arial"/>
                          <a:ea typeface="Arial"/>
                          <a:cs typeface="Arial"/>
                          <a:sym typeface="Times New Roman"/>
                        </a:rPr>
                        <a:t>Organizations seen as living systems: complex, adapting, self-organizing networks of people</a:t>
                      </a:r>
                      <a:endParaRPr lang="en-US" sz="1800" b="0" i="0" u="none" strike="noStrike" cap="none" dirty="0">
                        <a:solidFill>
                          <a:srgbClr val="000000"/>
                        </a:solidFill>
                        <a:latin typeface="Arial"/>
                        <a:ea typeface="Arial"/>
                        <a:cs typeface="Arial"/>
                        <a:sym typeface="Aria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649851300"/>
                  </a:ext>
                </a:extLst>
              </a:tr>
              <a:tr h="370840">
                <a:tc>
                  <a:txBody>
                    <a:bodyPr/>
                    <a:lstStyle/>
                    <a:p>
                      <a:pPr marL="0" marR="0" indent="0" algn="l" rtl="0">
                        <a:lnSpc>
                          <a:spcPct val="90000"/>
                        </a:lnSpc>
                        <a:spcBef>
                          <a:spcPts val="0"/>
                        </a:spcBef>
                        <a:spcAft>
                          <a:spcPts val="0"/>
                        </a:spcAft>
                        <a:buClr>
                          <a:srgbClr val="000000"/>
                        </a:buClr>
                        <a:buSzPts val="2000"/>
                        <a:buFontTx/>
                        <a:buNone/>
                      </a:pPr>
                      <a:r>
                        <a:rPr lang="en-CA" sz="1800" b="0" i="0" u="none" strike="noStrike" cap="none" noProof="0" dirty="0" smtClean="0">
                          <a:solidFill>
                            <a:srgbClr val="000000"/>
                          </a:solidFill>
                          <a:latin typeface="Arial"/>
                          <a:ea typeface="Arial"/>
                          <a:cs typeface="Arial"/>
                          <a:sym typeface="Times New Roman"/>
                        </a:rPr>
                        <a:t>Value reliability, stability, predictability, and control</a:t>
                      </a:r>
                      <a:endParaRPr lang="en-US" sz="1800" b="0" i="0" u="none" strike="noStrike" cap="none" dirty="0">
                        <a:solidFill>
                          <a:srgbClr val="000000"/>
                        </a:solidFill>
                        <a:latin typeface="Arial"/>
                        <a:ea typeface="Arial"/>
                        <a:cs typeface="Arial"/>
                        <a:sym typeface="Aria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marL="0" marR="0" indent="0" algn="l" rtl="0">
                        <a:lnSpc>
                          <a:spcPct val="90000"/>
                        </a:lnSpc>
                        <a:spcBef>
                          <a:spcPts val="0"/>
                        </a:spcBef>
                        <a:spcAft>
                          <a:spcPts val="0"/>
                        </a:spcAft>
                        <a:buClr>
                          <a:srgbClr val="000000"/>
                        </a:buClr>
                        <a:buSzPts val="2000"/>
                        <a:buFontTx/>
                        <a:buNone/>
                      </a:pPr>
                      <a:r>
                        <a:rPr lang="en-US" sz="1800" b="0" i="0" u="none" strike="noStrike" cap="none" dirty="0" smtClean="0">
                          <a:solidFill>
                            <a:srgbClr val="000000"/>
                          </a:solidFill>
                          <a:latin typeface="Arial"/>
                          <a:ea typeface="Arial"/>
                          <a:cs typeface="Arial"/>
                          <a:sym typeface="Arial"/>
                        </a:rPr>
                        <a:t>Value the open flow of information, building trust,</a:t>
                      </a:r>
                      <a:r>
                        <a:rPr lang="en-US" sz="1800" b="0" i="0" u="none" strike="noStrike" cap="none" baseline="0" dirty="0" smtClean="0">
                          <a:solidFill>
                            <a:srgbClr val="000000"/>
                          </a:solidFill>
                          <a:latin typeface="Arial"/>
                          <a:ea typeface="Arial"/>
                          <a:cs typeface="Arial"/>
                          <a:sym typeface="Arial"/>
                        </a:rPr>
                        <a:t> and</a:t>
                      </a:r>
                      <a:r>
                        <a:rPr lang="en-US" sz="1800" b="0" i="0" u="none" strike="noStrike" cap="none" dirty="0" smtClean="0">
                          <a:solidFill>
                            <a:srgbClr val="000000"/>
                          </a:solidFill>
                          <a:latin typeface="Arial"/>
                          <a:ea typeface="Arial"/>
                          <a:cs typeface="Arial"/>
                          <a:sym typeface="Arial"/>
                        </a:rPr>
                        <a:t> sense of belonging (meaning), </a:t>
                      </a:r>
                      <a:endParaRPr lang="en-US" sz="1800" b="0" i="0" u="none" strike="noStrike" cap="none" dirty="0">
                        <a:solidFill>
                          <a:srgbClr val="000000"/>
                        </a:solidFill>
                        <a:latin typeface="Arial"/>
                        <a:ea typeface="Arial"/>
                        <a:cs typeface="Arial"/>
                        <a:sym typeface="Aria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273889018"/>
                  </a:ext>
                </a:extLst>
              </a:tr>
              <a:tr h="370840">
                <a:tc>
                  <a:txBody>
                    <a:bodyPr/>
                    <a:lstStyle/>
                    <a:p>
                      <a:pPr marL="0" marR="0" indent="0" algn="l" rtl="0">
                        <a:lnSpc>
                          <a:spcPct val="90000"/>
                        </a:lnSpc>
                        <a:spcBef>
                          <a:spcPts val="0"/>
                        </a:spcBef>
                        <a:spcAft>
                          <a:spcPts val="0"/>
                        </a:spcAft>
                        <a:buClr>
                          <a:srgbClr val="000000"/>
                        </a:buClr>
                        <a:buSzPts val="2000"/>
                        <a:buFontTx/>
                        <a:buNone/>
                      </a:pPr>
                      <a:r>
                        <a:rPr lang="en-CA" sz="1800" b="0" i="0" u="none" strike="noStrike" cap="none" noProof="0" dirty="0" smtClean="0">
                          <a:solidFill>
                            <a:srgbClr val="000000"/>
                          </a:solidFill>
                          <a:latin typeface="Arial"/>
                          <a:ea typeface="Arial"/>
                          <a:cs typeface="Arial"/>
                          <a:sym typeface="Times New Roman"/>
                        </a:rPr>
                        <a:t>Needed for linear, step-by-step processes (e.g. payroll, production schedules, human resources procedures) to keep things running</a:t>
                      </a:r>
                      <a:endParaRPr lang="en-US" sz="1800" b="0" i="0" u="none" strike="noStrike" cap="none" dirty="0">
                        <a:solidFill>
                          <a:srgbClr val="000000"/>
                        </a:solidFill>
                        <a:latin typeface="Arial"/>
                        <a:ea typeface="Arial"/>
                        <a:cs typeface="Arial"/>
                        <a:sym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marL="0" marR="0" indent="0" algn="l" rtl="0">
                        <a:lnSpc>
                          <a:spcPct val="90000"/>
                        </a:lnSpc>
                        <a:spcBef>
                          <a:spcPts val="0"/>
                        </a:spcBef>
                        <a:spcAft>
                          <a:spcPts val="0"/>
                        </a:spcAft>
                        <a:buClr>
                          <a:srgbClr val="000000"/>
                        </a:buClr>
                        <a:buSzPts val="2000"/>
                        <a:buFontTx/>
                        <a:buNone/>
                      </a:pPr>
                      <a:r>
                        <a:rPr lang="en-CA" sz="1800" b="0" i="0" u="none" strike="noStrike" cap="none" noProof="0" dirty="0" smtClean="0">
                          <a:solidFill>
                            <a:srgbClr val="000000"/>
                          </a:solidFill>
                          <a:latin typeface="Arial"/>
                          <a:ea typeface="Arial"/>
                          <a:cs typeface="Arial"/>
                          <a:sym typeface="Times New Roman"/>
                        </a:rPr>
                        <a:t>Takes on new challenges; sees continuous improvement as a core function.</a:t>
                      </a:r>
                    </a:p>
                    <a:p>
                      <a:pPr marL="0" marR="0" indent="0" algn="l" rtl="0">
                        <a:lnSpc>
                          <a:spcPct val="90000"/>
                        </a:lnSpc>
                        <a:spcBef>
                          <a:spcPts val="0"/>
                        </a:spcBef>
                        <a:spcAft>
                          <a:spcPts val="0"/>
                        </a:spcAft>
                        <a:buClr>
                          <a:srgbClr val="000000"/>
                        </a:buClr>
                        <a:buSzPts val="2000"/>
                        <a:buFontTx/>
                        <a:buNone/>
                      </a:pPr>
                      <a:r>
                        <a:rPr lang="en-CA" sz="1800" b="0" i="0" u="none" strike="noStrike" cap="none" noProof="0" dirty="0" smtClean="0">
                          <a:solidFill>
                            <a:srgbClr val="000000"/>
                          </a:solidFill>
                          <a:latin typeface="Arial"/>
                          <a:ea typeface="Arial"/>
                          <a:cs typeface="Arial"/>
                          <a:sym typeface="Times New Roman"/>
                        </a:rPr>
                        <a:t>Require courage, care, concern, &amp; commitment.</a:t>
                      </a:r>
                      <a:endParaRPr lang="en-US" sz="1800" b="0" i="0" u="none" strike="noStrike" cap="none" dirty="0">
                        <a:solidFill>
                          <a:srgbClr val="000000"/>
                        </a:solidFill>
                        <a:latin typeface="Arial"/>
                        <a:ea typeface="Arial"/>
                        <a:cs typeface="Arial"/>
                        <a:sym typeface="Aria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172255917"/>
                  </a:ext>
                </a:extLst>
              </a:tr>
              <a:tr h="370840">
                <a:tc>
                  <a:txBody>
                    <a:bodyPr/>
                    <a:lstStyle/>
                    <a:p>
                      <a:pPr marL="0" marR="0" indent="0" algn="l" rtl="0">
                        <a:lnSpc>
                          <a:spcPct val="90000"/>
                        </a:lnSpc>
                        <a:spcBef>
                          <a:spcPts val="0"/>
                        </a:spcBef>
                        <a:spcAft>
                          <a:spcPts val="0"/>
                        </a:spcAft>
                        <a:buClr>
                          <a:srgbClr val="000000"/>
                        </a:buClr>
                        <a:buSzPts val="2000"/>
                        <a:buFontTx/>
                        <a:buNone/>
                      </a:pPr>
                      <a:r>
                        <a:rPr lang="en-US" sz="1800" b="0" i="0" u="none" strike="noStrike" cap="none" dirty="0" smtClean="0">
                          <a:solidFill>
                            <a:srgbClr val="000000"/>
                          </a:solidFill>
                          <a:latin typeface="Arial"/>
                          <a:ea typeface="Arial"/>
                          <a:cs typeface="Arial"/>
                          <a:sym typeface="Times New Roman"/>
                        </a:rPr>
                        <a:t>Supervising, directing, problem solving, leader-directed teams</a:t>
                      </a:r>
                      <a:endParaRPr lang="en-US" sz="1800" b="0" i="0" u="none" strike="noStrike" cap="none" dirty="0">
                        <a:solidFill>
                          <a:srgbClr val="000000"/>
                        </a:solidFill>
                        <a:latin typeface="Arial"/>
                        <a:ea typeface="Arial"/>
                        <a:cs typeface="Arial"/>
                        <a:sym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marL="0" marR="0" indent="0" algn="l" rtl="0">
                        <a:lnSpc>
                          <a:spcPct val="90000"/>
                        </a:lnSpc>
                        <a:spcBef>
                          <a:spcPts val="0"/>
                        </a:spcBef>
                        <a:spcAft>
                          <a:spcPts val="0"/>
                        </a:spcAft>
                        <a:buClr>
                          <a:srgbClr val="000000"/>
                        </a:buClr>
                        <a:buSzPts val="2000"/>
                        <a:buFontTx/>
                        <a:buNone/>
                      </a:pPr>
                      <a:r>
                        <a:rPr lang="en-US" sz="1800" b="0" i="0" u="none" strike="noStrike" cap="none" dirty="0" smtClean="0">
                          <a:solidFill>
                            <a:srgbClr val="000000"/>
                          </a:solidFill>
                          <a:latin typeface="Arial"/>
                          <a:ea typeface="Arial"/>
                          <a:cs typeface="Arial"/>
                          <a:sym typeface="Arial"/>
                        </a:rPr>
                        <a:t>Engages</a:t>
                      </a:r>
                      <a:r>
                        <a:rPr lang="en-US" sz="1800" b="0" i="0" u="none" strike="noStrike" cap="none" baseline="0" dirty="0" smtClean="0">
                          <a:solidFill>
                            <a:srgbClr val="000000"/>
                          </a:solidFill>
                          <a:latin typeface="Arial"/>
                          <a:ea typeface="Arial"/>
                          <a:cs typeface="Arial"/>
                          <a:sym typeface="Arial"/>
                        </a:rPr>
                        <a:t> and </a:t>
                      </a:r>
                      <a:r>
                        <a:rPr lang="en-US" sz="1800" b="0" i="0" u="none" strike="noStrike" cap="none" dirty="0" smtClean="0">
                          <a:solidFill>
                            <a:srgbClr val="000000"/>
                          </a:solidFill>
                          <a:latin typeface="Arial"/>
                          <a:ea typeface="Arial"/>
                          <a:cs typeface="Arial"/>
                          <a:sym typeface="Arial"/>
                        </a:rPr>
                        <a:t>empowers people; enables and promotes self-directed teams</a:t>
                      </a:r>
                      <a:endParaRPr lang="en-US" sz="1800" b="0" i="0" u="none" strike="noStrike" cap="none" dirty="0">
                        <a:solidFill>
                          <a:srgbClr val="000000"/>
                        </a:solidFill>
                        <a:latin typeface="Arial"/>
                        <a:ea typeface="Arial"/>
                        <a:cs typeface="Arial"/>
                        <a:sym typeface="Aria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958793061"/>
                  </a:ext>
                </a:extLst>
              </a:tr>
            </a:tbl>
          </a:graphicData>
        </a:graphic>
      </p:graphicFrame>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80692019"/>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5CC1C9B-7593-42CE-8BDE-2154A5BAE0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600" y="1600200"/>
            <a:ext cx="3445730" cy="2587237"/>
          </a:xfrm>
          <a:prstGeom prst="rect">
            <a:avLst/>
          </a:prstGeom>
          <a:ln>
            <a:solidFill>
              <a:sysClr val="windowText" lastClr="000000"/>
            </a:solidFill>
          </a:ln>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 shape and influence the culture of their organization for optimum performance and benefit of the organization.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Characteristics of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Good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Leaders: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6">
            <a:extLst>
              <a:ext uri="{FF2B5EF4-FFF2-40B4-BE49-F238E27FC236}">
                <a16:creationId xmlns:a16="http://schemas.microsoft.com/office/drawing/2014/main" id="{00702B42-BBAE-4BBC-980A-CFE70172F0D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18504" y="3593761"/>
            <a:ext cx="2881496" cy="2562239"/>
          </a:xfrm>
          <a:prstGeom prst="rect">
            <a:avLst/>
          </a:prstGeom>
          <a:ln>
            <a:solidFill>
              <a:sysClr val="windowText" lastClr="000000"/>
            </a:solidFill>
          </a:ln>
        </p:spPr>
      </p:pic>
      <p:pic>
        <p:nvPicPr>
          <p:cNvPr id="2" name="Picture 1"/>
          <p:cNvPicPr>
            <a:picLocks noChangeAspect="1"/>
          </p:cNvPicPr>
          <p:nvPr/>
        </p:nvPicPr>
        <p:blipFill>
          <a:blip r:embed="rId5"/>
          <a:stretch>
            <a:fillRect/>
          </a:stretch>
        </p:blipFill>
        <p:spPr>
          <a:xfrm>
            <a:off x="5577496" y="4435574"/>
            <a:ext cx="3079184" cy="1472288"/>
          </a:xfrm>
          <a:prstGeom prst="rect">
            <a:avLst/>
          </a:prstGeom>
          <a:ln>
            <a:solidFill>
              <a:schemeClr val="tx1"/>
            </a:solidFill>
          </a:ln>
        </p:spPr>
      </p:pic>
      <p:sp>
        <p:nvSpPr>
          <p:cNvPr id="1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pic>
        <p:nvPicPr>
          <p:cNvPr id="5" name="Picture 4"/>
          <p:cNvPicPr>
            <a:picLocks noChangeAspect="1"/>
          </p:cNvPicPr>
          <p:nvPr/>
        </p:nvPicPr>
        <p:blipFill>
          <a:blip r:embed="rId6"/>
          <a:stretch>
            <a:fillRect/>
          </a:stretch>
        </p:blipFill>
        <p:spPr>
          <a:xfrm>
            <a:off x="180000" y="1600200"/>
            <a:ext cx="3588735" cy="2691552"/>
          </a:xfrm>
          <a:prstGeom prst="rect">
            <a:avLst/>
          </a:prstGeom>
          <a:ln>
            <a:solidFill>
              <a:schemeClr val="tx1"/>
            </a:solidFill>
          </a:ln>
        </p:spPr>
      </p:pic>
    </p:spTree>
    <p:extLst>
      <p:ext uri="{BB962C8B-B14F-4D97-AF65-F5344CB8AC3E}">
        <p14:creationId xmlns:p14="http://schemas.microsoft.com/office/powerpoint/2010/main" val="260882949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Characteristics of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Good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Leaders: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Freeform 7">
            <a:extLst>
              <a:ext uri="{FF2B5EF4-FFF2-40B4-BE49-F238E27FC236}">
                <a16:creationId xmlns:a16="http://schemas.microsoft.com/office/drawing/2014/main" id="{30FC26F0-1C89-4D81-BBB1-EC47B6D6C1B9}"/>
              </a:ext>
            </a:extLst>
          </p:cNvPr>
          <p:cNvSpPr/>
          <p:nvPr/>
        </p:nvSpPr>
        <p:spPr>
          <a:xfrm>
            <a:off x="1799304" y="1540919"/>
            <a:ext cx="2694038" cy="678759"/>
          </a:xfrm>
          <a:custGeom>
            <a:avLst/>
            <a:gdLst>
              <a:gd name="connsiteX0" fmla="*/ 0 w 1873587"/>
              <a:gd name="connsiteY0" fmla="*/ 104088 h 1040882"/>
              <a:gd name="connsiteX1" fmla="*/ 104088 w 1873587"/>
              <a:gd name="connsiteY1" fmla="*/ 0 h 1040882"/>
              <a:gd name="connsiteX2" fmla="*/ 1769499 w 1873587"/>
              <a:gd name="connsiteY2" fmla="*/ 0 h 1040882"/>
              <a:gd name="connsiteX3" fmla="*/ 1873587 w 1873587"/>
              <a:gd name="connsiteY3" fmla="*/ 104088 h 1040882"/>
              <a:gd name="connsiteX4" fmla="*/ 1873587 w 1873587"/>
              <a:gd name="connsiteY4" fmla="*/ 936794 h 1040882"/>
              <a:gd name="connsiteX5" fmla="*/ 1769499 w 1873587"/>
              <a:gd name="connsiteY5" fmla="*/ 1040882 h 1040882"/>
              <a:gd name="connsiteX6" fmla="*/ 104088 w 1873587"/>
              <a:gd name="connsiteY6" fmla="*/ 1040882 h 1040882"/>
              <a:gd name="connsiteX7" fmla="*/ 0 w 1873587"/>
              <a:gd name="connsiteY7" fmla="*/ 936794 h 1040882"/>
              <a:gd name="connsiteX8" fmla="*/ 0 w 1873587"/>
              <a:gd name="connsiteY8" fmla="*/ 104088 h 1040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1040882">
                <a:moveTo>
                  <a:pt x="0" y="104088"/>
                </a:moveTo>
                <a:cubicBezTo>
                  <a:pt x="0" y="46602"/>
                  <a:pt x="46602" y="0"/>
                  <a:pt x="104088" y="0"/>
                </a:cubicBezTo>
                <a:lnTo>
                  <a:pt x="1769499" y="0"/>
                </a:lnTo>
                <a:cubicBezTo>
                  <a:pt x="1826985" y="0"/>
                  <a:pt x="1873587" y="46602"/>
                  <a:pt x="1873587" y="104088"/>
                </a:cubicBezTo>
                <a:lnTo>
                  <a:pt x="1873587" y="936794"/>
                </a:lnTo>
                <a:cubicBezTo>
                  <a:pt x="1873587" y="994280"/>
                  <a:pt x="1826985" y="1040882"/>
                  <a:pt x="1769499" y="1040882"/>
                </a:cubicBezTo>
                <a:lnTo>
                  <a:pt x="104088" y="1040882"/>
                </a:lnTo>
                <a:cubicBezTo>
                  <a:pt x="46602" y="1040882"/>
                  <a:pt x="0" y="994280"/>
                  <a:pt x="0" y="936794"/>
                </a:cubicBezTo>
                <a:lnTo>
                  <a:pt x="0" y="104088"/>
                </a:lnTo>
                <a:close/>
              </a:path>
            </a:pathLst>
          </a:custGeom>
          <a:solidFill>
            <a:srgbClr val="2FA3EE">
              <a:alpha val="90000"/>
              <a:tint val="40000"/>
              <a:hueOff val="0"/>
              <a:satOff val="0"/>
              <a:lumOff val="0"/>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10496" tIns="110496" rIns="110496" bIns="110496"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tabLst/>
              <a:defRPr/>
            </a:pPr>
            <a:r>
              <a:rPr kumimoji="0" lang="en-US" sz="2100" b="0" i="0" u="none" strike="noStrike" kern="0" cap="none" spc="0" normalizeH="0" baseline="0" noProof="0" dirty="0">
                <a:ln>
                  <a:noFill/>
                </a:ln>
                <a:solidFill>
                  <a:prstClr val="black">
                    <a:hueOff val="0"/>
                    <a:satOff val="0"/>
                    <a:lumOff val="0"/>
                    <a:alphaOff val="0"/>
                  </a:prstClr>
                </a:solidFill>
                <a:effectLst/>
                <a:uLnTx/>
                <a:uFillTx/>
                <a:latin typeface="Tw Cen MT" panose="020B0602020104020603"/>
                <a:ea typeface="+mn-ea"/>
                <a:cs typeface="+mn-cs"/>
              </a:rPr>
              <a:t>Commits to the RMP</a:t>
            </a:r>
          </a:p>
        </p:txBody>
      </p:sp>
      <p:sp>
        <p:nvSpPr>
          <p:cNvPr id="7" name="Freeform 8">
            <a:extLst>
              <a:ext uri="{FF2B5EF4-FFF2-40B4-BE49-F238E27FC236}">
                <a16:creationId xmlns:a16="http://schemas.microsoft.com/office/drawing/2014/main" id="{897078C6-E9CC-443E-9713-C6E48F789B15}"/>
              </a:ext>
            </a:extLst>
          </p:cNvPr>
          <p:cNvSpPr/>
          <p:nvPr/>
        </p:nvSpPr>
        <p:spPr>
          <a:xfrm>
            <a:off x="4650657" y="1540919"/>
            <a:ext cx="2682769" cy="678759"/>
          </a:xfrm>
          <a:custGeom>
            <a:avLst/>
            <a:gdLst>
              <a:gd name="connsiteX0" fmla="*/ 0 w 1873587"/>
              <a:gd name="connsiteY0" fmla="*/ 104088 h 1040882"/>
              <a:gd name="connsiteX1" fmla="*/ 104088 w 1873587"/>
              <a:gd name="connsiteY1" fmla="*/ 0 h 1040882"/>
              <a:gd name="connsiteX2" fmla="*/ 1769499 w 1873587"/>
              <a:gd name="connsiteY2" fmla="*/ 0 h 1040882"/>
              <a:gd name="connsiteX3" fmla="*/ 1873587 w 1873587"/>
              <a:gd name="connsiteY3" fmla="*/ 104088 h 1040882"/>
              <a:gd name="connsiteX4" fmla="*/ 1873587 w 1873587"/>
              <a:gd name="connsiteY4" fmla="*/ 936794 h 1040882"/>
              <a:gd name="connsiteX5" fmla="*/ 1769499 w 1873587"/>
              <a:gd name="connsiteY5" fmla="*/ 1040882 h 1040882"/>
              <a:gd name="connsiteX6" fmla="*/ 104088 w 1873587"/>
              <a:gd name="connsiteY6" fmla="*/ 1040882 h 1040882"/>
              <a:gd name="connsiteX7" fmla="*/ 0 w 1873587"/>
              <a:gd name="connsiteY7" fmla="*/ 936794 h 1040882"/>
              <a:gd name="connsiteX8" fmla="*/ 0 w 1873587"/>
              <a:gd name="connsiteY8" fmla="*/ 104088 h 1040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1040882">
                <a:moveTo>
                  <a:pt x="0" y="104088"/>
                </a:moveTo>
                <a:cubicBezTo>
                  <a:pt x="0" y="46602"/>
                  <a:pt x="46602" y="0"/>
                  <a:pt x="104088" y="0"/>
                </a:cubicBezTo>
                <a:lnTo>
                  <a:pt x="1769499" y="0"/>
                </a:lnTo>
                <a:cubicBezTo>
                  <a:pt x="1826985" y="0"/>
                  <a:pt x="1873587" y="46602"/>
                  <a:pt x="1873587" y="104088"/>
                </a:cubicBezTo>
                <a:lnTo>
                  <a:pt x="1873587" y="936794"/>
                </a:lnTo>
                <a:cubicBezTo>
                  <a:pt x="1873587" y="994280"/>
                  <a:pt x="1826985" y="1040882"/>
                  <a:pt x="1769499" y="1040882"/>
                </a:cubicBezTo>
                <a:lnTo>
                  <a:pt x="104088" y="1040882"/>
                </a:lnTo>
                <a:cubicBezTo>
                  <a:pt x="46602" y="1040882"/>
                  <a:pt x="0" y="994280"/>
                  <a:pt x="0" y="936794"/>
                </a:cubicBezTo>
                <a:lnTo>
                  <a:pt x="0" y="104088"/>
                </a:lnTo>
                <a:close/>
              </a:path>
            </a:pathLst>
          </a:custGeom>
          <a:solidFill>
            <a:srgbClr val="2FA3EE">
              <a:alpha val="90000"/>
              <a:tint val="40000"/>
              <a:hueOff val="0"/>
              <a:satOff val="0"/>
              <a:lumOff val="0"/>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10496" tIns="110496" rIns="110496" bIns="110496"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tabLst/>
              <a:defRPr/>
            </a:pPr>
            <a:r>
              <a:rPr kumimoji="0" lang="en-US" sz="2100" b="0" i="0" u="none" strike="noStrike" kern="0" cap="none" spc="0" normalizeH="0" baseline="0" noProof="0" dirty="0">
                <a:ln>
                  <a:noFill/>
                </a:ln>
                <a:solidFill>
                  <a:prstClr val="black">
                    <a:hueOff val="0"/>
                    <a:satOff val="0"/>
                    <a:lumOff val="0"/>
                    <a:alphaOff val="0"/>
                  </a:prstClr>
                </a:solidFill>
                <a:effectLst/>
                <a:uLnTx/>
                <a:uFillTx/>
                <a:latin typeface="Tw Cen MT" panose="020B0602020104020603"/>
                <a:ea typeface="+mn-ea"/>
                <a:cs typeface="+mn-cs"/>
              </a:rPr>
              <a:t>Effectively implements the RMP</a:t>
            </a:r>
          </a:p>
        </p:txBody>
      </p:sp>
      <p:sp>
        <p:nvSpPr>
          <p:cNvPr id="10" name="Isosceles Triangle 9">
            <a:extLst>
              <a:ext uri="{FF2B5EF4-FFF2-40B4-BE49-F238E27FC236}">
                <a16:creationId xmlns:a16="http://schemas.microsoft.com/office/drawing/2014/main" id="{D83B57C1-57C7-4809-9491-136C43D99A06}"/>
              </a:ext>
            </a:extLst>
          </p:cNvPr>
          <p:cNvSpPr/>
          <p:nvPr/>
        </p:nvSpPr>
        <p:spPr>
          <a:xfrm>
            <a:off x="4176034" y="5478250"/>
            <a:ext cx="780661" cy="535464"/>
          </a:xfrm>
          <a:prstGeom prst="triangle">
            <a:avLst/>
          </a:prstGeom>
          <a:solidFill>
            <a:srgbClr val="2FA3EE">
              <a:alpha val="90000"/>
              <a:tint val="40000"/>
              <a:hueOff val="0"/>
              <a:satOff val="0"/>
              <a:lumOff val="0"/>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p:spPr>
      </p:sp>
      <p:sp>
        <p:nvSpPr>
          <p:cNvPr id="11" name="Rectangle 10">
            <a:extLst>
              <a:ext uri="{FF2B5EF4-FFF2-40B4-BE49-F238E27FC236}">
                <a16:creationId xmlns:a16="http://schemas.microsoft.com/office/drawing/2014/main" id="{7C9F284D-F3A1-4A56-93CB-48CFEE881E7C}"/>
              </a:ext>
            </a:extLst>
          </p:cNvPr>
          <p:cNvSpPr/>
          <p:nvPr/>
        </p:nvSpPr>
        <p:spPr>
          <a:xfrm>
            <a:off x="1799303" y="5199026"/>
            <a:ext cx="5534124" cy="279223"/>
          </a:xfrm>
          <a:prstGeom prst="rect">
            <a:avLst/>
          </a:prstGeom>
          <a:solidFill>
            <a:srgbClr val="2FA3EE">
              <a:alpha val="90000"/>
              <a:tint val="40000"/>
              <a:hueOff val="0"/>
              <a:satOff val="0"/>
              <a:lumOff val="0"/>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p:spPr>
      </p:sp>
      <p:sp>
        <p:nvSpPr>
          <p:cNvPr id="14" name="Freeform 11">
            <a:extLst>
              <a:ext uri="{FF2B5EF4-FFF2-40B4-BE49-F238E27FC236}">
                <a16:creationId xmlns:a16="http://schemas.microsoft.com/office/drawing/2014/main" id="{B8ECE558-12A6-46E3-A246-772B38A7855B}"/>
              </a:ext>
            </a:extLst>
          </p:cNvPr>
          <p:cNvSpPr/>
          <p:nvPr/>
        </p:nvSpPr>
        <p:spPr>
          <a:xfrm>
            <a:off x="4650657" y="3015815"/>
            <a:ext cx="2682769" cy="649264"/>
          </a:xfrm>
          <a:custGeom>
            <a:avLst/>
            <a:gdLst>
              <a:gd name="connsiteX0" fmla="*/ 0 w 1873587"/>
              <a:gd name="connsiteY0" fmla="*/ 145726 h 874340"/>
              <a:gd name="connsiteX1" fmla="*/ 145726 w 1873587"/>
              <a:gd name="connsiteY1" fmla="*/ 0 h 874340"/>
              <a:gd name="connsiteX2" fmla="*/ 1727861 w 1873587"/>
              <a:gd name="connsiteY2" fmla="*/ 0 h 874340"/>
              <a:gd name="connsiteX3" fmla="*/ 1873587 w 1873587"/>
              <a:gd name="connsiteY3" fmla="*/ 145726 h 874340"/>
              <a:gd name="connsiteX4" fmla="*/ 1873587 w 1873587"/>
              <a:gd name="connsiteY4" fmla="*/ 728614 h 874340"/>
              <a:gd name="connsiteX5" fmla="*/ 1727861 w 1873587"/>
              <a:gd name="connsiteY5" fmla="*/ 874340 h 874340"/>
              <a:gd name="connsiteX6" fmla="*/ 145726 w 1873587"/>
              <a:gd name="connsiteY6" fmla="*/ 874340 h 874340"/>
              <a:gd name="connsiteX7" fmla="*/ 0 w 1873587"/>
              <a:gd name="connsiteY7" fmla="*/ 728614 h 874340"/>
              <a:gd name="connsiteX8" fmla="*/ 0 w 1873587"/>
              <a:gd name="connsiteY8" fmla="*/ 145726 h 87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874340">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FA3EE">
              <a:hueOff val="0"/>
              <a:satOff val="0"/>
              <a:lumOff val="0"/>
              <a:alphaOff val="0"/>
            </a:srgb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07452" tIns="107452" rIns="107452" bIns="10745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700" b="0" i="0" u="none" strike="noStrike" kern="0" cap="none" spc="0" normalizeH="0" baseline="0" noProof="0" dirty="0">
                <a:ln>
                  <a:noFill/>
                </a:ln>
                <a:solidFill>
                  <a:prstClr val="white"/>
                </a:solidFill>
                <a:effectLst/>
                <a:uLnTx/>
                <a:uFillTx/>
                <a:latin typeface="Tw Cen MT" panose="020B0602020104020603"/>
                <a:ea typeface="+mn-ea"/>
                <a:cs typeface="+mn-cs"/>
              </a:rPr>
              <a:t>Critiques performance effectively</a:t>
            </a:r>
          </a:p>
        </p:txBody>
      </p:sp>
      <p:sp>
        <p:nvSpPr>
          <p:cNvPr id="15" name="Freeform 12">
            <a:extLst>
              <a:ext uri="{FF2B5EF4-FFF2-40B4-BE49-F238E27FC236}">
                <a16:creationId xmlns:a16="http://schemas.microsoft.com/office/drawing/2014/main" id="{8FEEA210-4033-4CD2-BB53-6644957898CD}"/>
              </a:ext>
            </a:extLst>
          </p:cNvPr>
          <p:cNvSpPr/>
          <p:nvPr/>
        </p:nvSpPr>
        <p:spPr>
          <a:xfrm>
            <a:off x="4650657" y="4458420"/>
            <a:ext cx="2682769" cy="649264"/>
          </a:xfrm>
          <a:custGeom>
            <a:avLst/>
            <a:gdLst>
              <a:gd name="connsiteX0" fmla="*/ 0 w 1873587"/>
              <a:gd name="connsiteY0" fmla="*/ 145726 h 874340"/>
              <a:gd name="connsiteX1" fmla="*/ 145726 w 1873587"/>
              <a:gd name="connsiteY1" fmla="*/ 0 h 874340"/>
              <a:gd name="connsiteX2" fmla="*/ 1727861 w 1873587"/>
              <a:gd name="connsiteY2" fmla="*/ 0 h 874340"/>
              <a:gd name="connsiteX3" fmla="*/ 1873587 w 1873587"/>
              <a:gd name="connsiteY3" fmla="*/ 145726 h 874340"/>
              <a:gd name="connsiteX4" fmla="*/ 1873587 w 1873587"/>
              <a:gd name="connsiteY4" fmla="*/ 728614 h 874340"/>
              <a:gd name="connsiteX5" fmla="*/ 1727861 w 1873587"/>
              <a:gd name="connsiteY5" fmla="*/ 874340 h 874340"/>
              <a:gd name="connsiteX6" fmla="*/ 145726 w 1873587"/>
              <a:gd name="connsiteY6" fmla="*/ 874340 h 874340"/>
              <a:gd name="connsiteX7" fmla="*/ 0 w 1873587"/>
              <a:gd name="connsiteY7" fmla="*/ 728614 h 874340"/>
              <a:gd name="connsiteX8" fmla="*/ 0 w 1873587"/>
              <a:gd name="connsiteY8" fmla="*/ 145726 h 87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874340">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FA3EE">
              <a:hueOff val="0"/>
              <a:satOff val="0"/>
              <a:lumOff val="0"/>
              <a:alphaOff val="0"/>
            </a:srgb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07452" tIns="107452" rIns="107452" bIns="10745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700" b="0" i="0" u="none" strike="noStrike" kern="0" cap="none" spc="0" normalizeH="0" baseline="0" noProof="0" dirty="0">
                <a:ln>
                  <a:noFill/>
                </a:ln>
                <a:solidFill>
                  <a:prstClr val="white"/>
                </a:solidFill>
                <a:effectLst/>
                <a:uLnTx/>
                <a:uFillTx/>
                <a:latin typeface="Tw Cen MT" panose="020B0602020104020603"/>
                <a:ea typeface="+mn-ea"/>
                <a:cs typeface="+mn-cs"/>
              </a:rPr>
              <a:t>Has a working knowledge of tasks and activities</a:t>
            </a:r>
          </a:p>
        </p:txBody>
      </p:sp>
      <p:sp>
        <p:nvSpPr>
          <p:cNvPr id="16" name="Freeform 13">
            <a:extLst>
              <a:ext uri="{FF2B5EF4-FFF2-40B4-BE49-F238E27FC236}">
                <a16:creationId xmlns:a16="http://schemas.microsoft.com/office/drawing/2014/main" id="{A02C3435-2FC5-4BE5-B2DE-8BBBE7AF18D5}"/>
              </a:ext>
            </a:extLst>
          </p:cNvPr>
          <p:cNvSpPr/>
          <p:nvPr/>
        </p:nvSpPr>
        <p:spPr>
          <a:xfrm>
            <a:off x="4650657" y="3737930"/>
            <a:ext cx="2682769" cy="649264"/>
          </a:xfrm>
          <a:custGeom>
            <a:avLst/>
            <a:gdLst>
              <a:gd name="connsiteX0" fmla="*/ 0 w 1873587"/>
              <a:gd name="connsiteY0" fmla="*/ 145726 h 874340"/>
              <a:gd name="connsiteX1" fmla="*/ 145726 w 1873587"/>
              <a:gd name="connsiteY1" fmla="*/ 0 h 874340"/>
              <a:gd name="connsiteX2" fmla="*/ 1727861 w 1873587"/>
              <a:gd name="connsiteY2" fmla="*/ 0 h 874340"/>
              <a:gd name="connsiteX3" fmla="*/ 1873587 w 1873587"/>
              <a:gd name="connsiteY3" fmla="*/ 145726 h 874340"/>
              <a:gd name="connsiteX4" fmla="*/ 1873587 w 1873587"/>
              <a:gd name="connsiteY4" fmla="*/ 728614 h 874340"/>
              <a:gd name="connsiteX5" fmla="*/ 1727861 w 1873587"/>
              <a:gd name="connsiteY5" fmla="*/ 874340 h 874340"/>
              <a:gd name="connsiteX6" fmla="*/ 145726 w 1873587"/>
              <a:gd name="connsiteY6" fmla="*/ 874340 h 874340"/>
              <a:gd name="connsiteX7" fmla="*/ 0 w 1873587"/>
              <a:gd name="connsiteY7" fmla="*/ 728614 h 874340"/>
              <a:gd name="connsiteX8" fmla="*/ 0 w 1873587"/>
              <a:gd name="connsiteY8" fmla="*/ 145726 h 87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874340">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FA3EE">
              <a:hueOff val="0"/>
              <a:satOff val="0"/>
              <a:lumOff val="0"/>
              <a:alphaOff val="0"/>
            </a:srgb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07452" tIns="107452" rIns="107452" bIns="10745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700" b="0" i="0" u="none" strike="noStrike" kern="0" cap="none" spc="0" normalizeH="0" baseline="0" noProof="0" dirty="0">
                <a:ln>
                  <a:noFill/>
                </a:ln>
                <a:solidFill>
                  <a:prstClr val="white"/>
                </a:solidFill>
                <a:effectLst/>
                <a:uLnTx/>
                <a:uFillTx/>
                <a:latin typeface="Tw Cen MT" panose="020B0602020104020603"/>
                <a:ea typeface="+mn-ea"/>
                <a:cs typeface="+mn-cs"/>
              </a:rPr>
              <a:t>Holds people accountable</a:t>
            </a:r>
          </a:p>
        </p:txBody>
      </p:sp>
      <p:sp>
        <p:nvSpPr>
          <p:cNvPr id="17" name="Freeform 14">
            <a:extLst>
              <a:ext uri="{FF2B5EF4-FFF2-40B4-BE49-F238E27FC236}">
                <a16:creationId xmlns:a16="http://schemas.microsoft.com/office/drawing/2014/main" id="{AADFD8A2-60C2-4B3A-BFAC-BD6BF8746834}"/>
              </a:ext>
            </a:extLst>
          </p:cNvPr>
          <p:cNvSpPr/>
          <p:nvPr/>
        </p:nvSpPr>
        <p:spPr>
          <a:xfrm>
            <a:off x="1799304" y="3015815"/>
            <a:ext cx="2694038" cy="649264"/>
          </a:xfrm>
          <a:custGeom>
            <a:avLst/>
            <a:gdLst>
              <a:gd name="connsiteX0" fmla="*/ 0 w 1873587"/>
              <a:gd name="connsiteY0" fmla="*/ 145726 h 874340"/>
              <a:gd name="connsiteX1" fmla="*/ 145726 w 1873587"/>
              <a:gd name="connsiteY1" fmla="*/ 0 h 874340"/>
              <a:gd name="connsiteX2" fmla="*/ 1727861 w 1873587"/>
              <a:gd name="connsiteY2" fmla="*/ 0 h 874340"/>
              <a:gd name="connsiteX3" fmla="*/ 1873587 w 1873587"/>
              <a:gd name="connsiteY3" fmla="*/ 145726 h 874340"/>
              <a:gd name="connsiteX4" fmla="*/ 1873587 w 1873587"/>
              <a:gd name="connsiteY4" fmla="*/ 728614 h 874340"/>
              <a:gd name="connsiteX5" fmla="*/ 1727861 w 1873587"/>
              <a:gd name="connsiteY5" fmla="*/ 874340 h 874340"/>
              <a:gd name="connsiteX6" fmla="*/ 145726 w 1873587"/>
              <a:gd name="connsiteY6" fmla="*/ 874340 h 874340"/>
              <a:gd name="connsiteX7" fmla="*/ 0 w 1873587"/>
              <a:gd name="connsiteY7" fmla="*/ 728614 h 874340"/>
              <a:gd name="connsiteX8" fmla="*/ 0 w 1873587"/>
              <a:gd name="connsiteY8" fmla="*/ 145726 h 87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874340">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FA3EE">
              <a:hueOff val="0"/>
              <a:satOff val="0"/>
              <a:lumOff val="0"/>
              <a:alphaOff val="0"/>
            </a:srgb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07452" tIns="107452" rIns="107452" bIns="10745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700" b="0" i="0" u="none" strike="noStrike" kern="0" cap="none" spc="0" normalizeH="0" baseline="0" noProof="0" dirty="0">
                <a:ln>
                  <a:noFill/>
                </a:ln>
                <a:solidFill>
                  <a:prstClr val="white"/>
                </a:solidFill>
                <a:effectLst/>
                <a:uLnTx/>
                <a:uFillTx/>
                <a:latin typeface="Tw Cen MT" panose="020B0602020104020603"/>
                <a:ea typeface="+mn-ea"/>
                <a:cs typeface="+mn-cs"/>
              </a:rPr>
              <a:t>Sets expectations for performance</a:t>
            </a:r>
          </a:p>
        </p:txBody>
      </p:sp>
      <p:sp>
        <p:nvSpPr>
          <p:cNvPr id="18" name="Freeform 15">
            <a:extLst>
              <a:ext uri="{FF2B5EF4-FFF2-40B4-BE49-F238E27FC236}">
                <a16:creationId xmlns:a16="http://schemas.microsoft.com/office/drawing/2014/main" id="{9C2538A3-AD75-4C24-A713-6EA60680F9D8}"/>
              </a:ext>
            </a:extLst>
          </p:cNvPr>
          <p:cNvSpPr/>
          <p:nvPr/>
        </p:nvSpPr>
        <p:spPr>
          <a:xfrm>
            <a:off x="1799304" y="4458420"/>
            <a:ext cx="2694038" cy="649264"/>
          </a:xfrm>
          <a:custGeom>
            <a:avLst/>
            <a:gdLst>
              <a:gd name="connsiteX0" fmla="*/ 0 w 1873587"/>
              <a:gd name="connsiteY0" fmla="*/ 145726 h 874340"/>
              <a:gd name="connsiteX1" fmla="*/ 145726 w 1873587"/>
              <a:gd name="connsiteY1" fmla="*/ 0 h 874340"/>
              <a:gd name="connsiteX2" fmla="*/ 1727861 w 1873587"/>
              <a:gd name="connsiteY2" fmla="*/ 0 h 874340"/>
              <a:gd name="connsiteX3" fmla="*/ 1873587 w 1873587"/>
              <a:gd name="connsiteY3" fmla="*/ 145726 h 874340"/>
              <a:gd name="connsiteX4" fmla="*/ 1873587 w 1873587"/>
              <a:gd name="connsiteY4" fmla="*/ 728614 h 874340"/>
              <a:gd name="connsiteX5" fmla="*/ 1727861 w 1873587"/>
              <a:gd name="connsiteY5" fmla="*/ 874340 h 874340"/>
              <a:gd name="connsiteX6" fmla="*/ 145726 w 1873587"/>
              <a:gd name="connsiteY6" fmla="*/ 874340 h 874340"/>
              <a:gd name="connsiteX7" fmla="*/ 0 w 1873587"/>
              <a:gd name="connsiteY7" fmla="*/ 728614 h 874340"/>
              <a:gd name="connsiteX8" fmla="*/ 0 w 1873587"/>
              <a:gd name="connsiteY8" fmla="*/ 145726 h 87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874340">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FA3EE">
              <a:hueOff val="0"/>
              <a:satOff val="0"/>
              <a:lumOff val="0"/>
              <a:alphaOff val="0"/>
            </a:srgb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07452" tIns="107452" rIns="107452" bIns="10745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700" b="0" i="0" u="none" strike="noStrike" kern="0" cap="none" spc="0" normalizeH="0" baseline="0" noProof="0" dirty="0">
                <a:ln>
                  <a:noFill/>
                </a:ln>
                <a:solidFill>
                  <a:prstClr val="white"/>
                </a:solidFill>
                <a:effectLst/>
                <a:uLnTx/>
                <a:uFillTx/>
                <a:latin typeface="Tw Cen MT" panose="020B0602020104020603"/>
                <a:ea typeface="+mn-ea"/>
                <a:cs typeface="+mn-cs"/>
              </a:rPr>
              <a:t>Translates the vision into culture</a:t>
            </a:r>
          </a:p>
        </p:txBody>
      </p:sp>
      <p:sp>
        <p:nvSpPr>
          <p:cNvPr id="19" name="Freeform 16">
            <a:extLst>
              <a:ext uri="{FF2B5EF4-FFF2-40B4-BE49-F238E27FC236}">
                <a16:creationId xmlns:a16="http://schemas.microsoft.com/office/drawing/2014/main" id="{F95014C9-1735-49D5-B065-49AB291CE007}"/>
              </a:ext>
            </a:extLst>
          </p:cNvPr>
          <p:cNvSpPr/>
          <p:nvPr/>
        </p:nvSpPr>
        <p:spPr>
          <a:xfrm>
            <a:off x="1799304" y="3737930"/>
            <a:ext cx="2694038" cy="649264"/>
          </a:xfrm>
          <a:custGeom>
            <a:avLst/>
            <a:gdLst>
              <a:gd name="connsiteX0" fmla="*/ 0 w 1873587"/>
              <a:gd name="connsiteY0" fmla="*/ 145726 h 874340"/>
              <a:gd name="connsiteX1" fmla="*/ 145726 w 1873587"/>
              <a:gd name="connsiteY1" fmla="*/ 0 h 874340"/>
              <a:gd name="connsiteX2" fmla="*/ 1727861 w 1873587"/>
              <a:gd name="connsiteY2" fmla="*/ 0 h 874340"/>
              <a:gd name="connsiteX3" fmla="*/ 1873587 w 1873587"/>
              <a:gd name="connsiteY3" fmla="*/ 145726 h 874340"/>
              <a:gd name="connsiteX4" fmla="*/ 1873587 w 1873587"/>
              <a:gd name="connsiteY4" fmla="*/ 728614 h 874340"/>
              <a:gd name="connsiteX5" fmla="*/ 1727861 w 1873587"/>
              <a:gd name="connsiteY5" fmla="*/ 874340 h 874340"/>
              <a:gd name="connsiteX6" fmla="*/ 145726 w 1873587"/>
              <a:gd name="connsiteY6" fmla="*/ 874340 h 874340"/>
              <a:gd name="connsiteX7" fmla="*/ 0 w 1873587"/>
              <a:gd name="connsiteY7" fmla="*/ 728614 h 874340"/>
              <a:gd name="connsiteX8" fmla="*/ 0 w 1873587"/>
              <a:gd name="connsiteY8" fmla="*/ 145726 h 87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874340">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FA3EE">
              <a:hueOff val="0"/>
              <a:satOff val="0"/>
              <a:lumOff val="0"/>
              <a:alphaOff val="0"/>
            </a:srgb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07452" tIns="107452" rIns="107452" bIns="10745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700" b="0" i="0" u="none" strike="noStrike" kern="0" cap="none" spc="0" normalizeH="0" baseline="0" noProof="0" dirty="0">
                <a:ln>
                  <a:noFill/>
                </a:ln>
                <a:solidFill>
                  <a:prstClr val="white"/>
                </a:solidFill>
                <a:effectLst/>
                <a:uLnTx/>
                <a:uFillTx/>
                <a:latin typeface="Tw Cen MT" panose="020B0602020104020603"/>
                <a:ea typeface="+mn-ea"/>
                <a:cs typeface="+mn-cs"/>
              </a:rPr>
              <a:t>Provides recognition for good work</a:t>
            </a:r>
          </a:p>
        </p:txBody>
      </p:sp>
      <p:sp>
        <p:nvSpPr>
          <p:cNvPr id="20" name="Freeform 17">
            <a:extLst>
              <a:ext uri="{FF2B5EF4-FFF2-40B4-BE49-F238E27FC236}">
                <a16:creationId xmlns:a16="http://schemas.microsoft.com/office/drawing/2014/main" id="{50609235-ABC4-4113-8E56-42997CB20A75}"/>
              </a:ext>
            </a:extLst>
          </p:cNvPr>
          <p:cNvSpPr/>
          <p:nvPr/>
        </p:nvSpPr>
        <p:spPr>
          <a:xfrm>
            <a:off x="4650657" y="2293709"/>
            <a:ext cx="2682769" cy="649264"/>
          </a:xfrm>
          <a:custGeom>
            <a:avLst/>
            <a:gdLst>
              <a:gd name="connsiteX0" fmla="*/ 0 w 1873587"/>
              <a:gd name="connsiteY0" fmla="*/ 145726 h 874340"/>
              <a:gd name="connsiteX1" fmla="*/ 145726 w 1873587"/>
              <a:gd name="connsiteY1" fmla="*/ 0 h 874340"/>
              <a:gd name="connsiteX2" fmla="*/ 1727861 w 1873587"/>
              <a:gd name="connsiteY2" fmla="*/ 0 h 874340"/>
              <a:gd name="connsiteX3" fmla="*/ 1873587 w 1873587"/>
              <a:gd name="connsiteY3" fmla="*/ 145726 h 874340"/>
              <a:gd name="connsiteX4" fmla="*/ 1873587 w 1873587"/>
              <a:gd name="connsiteY4" fmla="*/ 728614 h 874340"/>
              <a:gd name="connsiteX5" fmla="*/ 1727861 w 1873587"/>
              <a:gd name="connsiteY5" fmla="*/ 874340 h 874340"/>
              <a:gd name="connsiteX6" fmla="*/ 145726 w 1873587"/>
              <a:gd name="connsiteY6" fmla="*/ 874340 h 874340"/>
              <a:gd name="connsiteX7" fmla="*/ 0 w 1873587"/>
              <a:gd name="connsiteY7" fmla="*/ 728614 h 874340"/>
              <a:gd name="connsiteX8" fmla="*/ 0 w 1873587"/>
              <a:gd name="connsiteY8" fmla="*/ 145726 h 87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874340">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FA3EE">
              <a:hueOff val="0"/>
              <a:satOff val="0"/>
              <a:lumOff val="0"/>
              <a:alphaOff val="0"/>
            </a:srgb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07452" tIns="107452" rIns="107452" bIns="10745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700" b="0" i="0" u="none" strike="noStrike" kern="0" cap="none" spc="0" normalizeH="0" baseline="0" noProof="0" dirty="0">
                <a:ln>
                  <a:noFill/>
                </a:ln>
                <a:solidFill>
                  <a:prstClr val="white"/>
                </a:solidFill>
                <a:effectLst/>
                <a:uLnTx/>
                <a:uFillTx/>
                <a:latin typeface="Tw Cen MT" panose="020B0602020104020603"/>
                <a:ea typeface="+mn-ea"/>
                <a:cs typeface="+mn-cs"/>
              </a:rPr>
              <a:t>Effectively allocates resources – people &amp; funds </a:t>
            </a:r>
          </a:p>
        </p:txBody>
      </p:sp>
      <p:sp>
        <p:nvSpPr>
          <p:cNvPr id="21" name="Freeform 18">
            <a:extLst>
              <a:ext uri="{FF2B5EF4-FFF2-40B4-BE49-F238E27FC236}">
                <a16:creationId xmlns:a16="http://schemas.microsoft.com/office/drawing/2014/main" id="{EE1C309D-6DB1-48F0-A040-328AD3506BB8}"/>
              </a:ext>
            </a:extLst>
          </p:cNvPr>
          <p:cNvSpPr/>
          <p:nvPr/>
        </p:nvSpPr>
        <p:spPr>
          <a:xfrm>
            <a:off x="1799304" y="2293709"/>
            <a:ext cx="2694038" cy="649264"/>
          </a:xfrm>
          <a:custGeom>
            <a:avLst/>
            <a:gdLst>
              <a:gd name="connsiteX0" fmla="*/ 0 w 1873587"/>
              <a:gd name="connsiteY0" fmla="*/ 145726 h 874340"/>
              <a:gd name="connsiteX1" fmla="*/ 145726 w 1873587"/>
              <a:gd name="connsiteY1" fmla="*/ 0 h 874340"/>
              <a:gd name="connsiteX2" fmla="*/ 1727861 w 1873587"/>
              <a:gd name="connsiteY2" fmla="*/ 0 h 874340"/>
              <a:gd name="connsiteX3" fmla="*/ 1873587 w 1873587"/>
              <a:gd name="connsiteY3" fmla="*/ 145726 h 874340"/>
              <a:gd name="connsiteX4" fmla="*/ 1873587 w 1873587"/>
              <a:gd name="connsiteY4" fmla="*/ 728614 h 874340"/>
              <a:gd name="connsiteX5" fmla="*/ 1727861 w 1873587"/>
              <a:gd name="connsiteY5" fmla="*/ 874340 h 874340"/>
              <a:gd name="connsiteX6" fmla="*/ 145726 w 1873587"/>
              <a:gd name="connsiteY6" fmla="*/ 874340 h 874340"/>
              <a:gd name="connsiteX7" fmla="*/ 0 w 1873587"/>
              <a:gd name="connsiteY7" fmla="*/ 728614 h 874340"/>
              <a:gd name="connsiteX8" fmla="*/ 0 w 1873587"/>
              <a:gd name="connsiteY8" fmla="*/ 145726 h 87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874340">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FA3EE">
              <a:hueOff val="0"/>
              <a:satOff val="0"/>
              <a:lumOff val="0"/>
              <a:alphaOff val="0"/>
            </a:srgb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07452" tIns="107452" rIns="107452" bIns="10745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700" b="0" i="0" u="none" strike="noStrike" kern="0" cap="none" spc="0" normalizeH="0" baseline="0" noProof="0" dirty="0">
                <a:ln>
                  <a:noFill/>
                </a:ln>
                <a:solidFill>
                  <a:prstClr val="white"/>
                </a:solidFill>
                <a:effectLst/>
                <a:uLnTx/>
                <a:uFillTx/>
                <a:latin typeface="Tw Cen MT" panose="020B0602020104020603"/>
                <a:ea typeface="+mn-ea"/>
                <a:cs typeface="+mn-cs"/>
              </a:rPr>
              <a:t>Clearly defines responsibilities</a:t>
            </a:r>
          </a:p>
        </p:txBody>
      </p:sp>
      <p:sp>
        <p:nvSpPr>
          <p:cNvPr id="22" name="Freeform 19">
            <a:extLst>
              <a:ext uri="{FF2B5EF4-FFF2-40B4-BE49-F238E27FC236}">
                <a16:creationId xmlns:a16="http://schemas.microsoft.com/office/drawing/2014/main" id="{D7CC678F-54BC-4C23-8B16-0A03ADF1BED4}"/>
              </a:ext>
            </a:extLst>
          </p:cNvPr>
          <p:cNvSpPr/>
          <p:nvPr/>
        </p:nvSpPr>
        <p:spPr>
          <a:xfrm>
            <a:off x="1799303" y="1004570"/>
            <a:ext cx="5534124" cy="395062"/>
          </a:xfrm>
          <a:custGeom>
            <a:avLst/>
            <a:gdLst>
              <a:gd name="connsiteX0" fmla="*/ 0 w 1873587"/>
              <a:gd name="connsiteY0" fmla="*/ 104088 h 1040882"/>
              <a:gd name="connsiteX1" fmla="*/ 104088 w 1873587"/>
              <a:gd name="connsiteY1" fmla="*/ 0 h 1040882"/>
              <a:gd name="connsiteX2" fmla="*/ 1769499 w 1873587"/>
              <a:gd name="connsiteY2" fmla="*/ 0 h 1040882"/>
              <a:gd name="connsiteX3" fmla="*/ 1873587 w 1873587"/>
              <a:gd name="connsiteY3" fmla="*/ 104088 h 1040882"/>
              <a:gd name="connsiteX4" fmla="*/ 1873587 w 1873587"/>
              <a:gd name="connsiteY4" fmla="*/ 936794 h 1040882"/>
              <a:gd name="connsiteX5" fmla="*/ 1769499 w 1873587"/>
              <a:gd name="connsiteY5" fmla="*/ 1040882 h 1040882"/>
              <a:gd name="connsiteX6" fmla="*/ 104088 w 1873587"/>
              <a:gd name="connsiteY6" fmla="*/ 1040882 h 1040882"/>
              <a:gd name="connsiteX7" fmla="*/ 0 w 1873587"/>
              <a:gd name="connsiteY7" fmla="*/ 936794 h 1040882"/>
              <a:gd name="connsiteX8" fmla="*/ 0 w 1873587"/>
              <a:gd name="connsiteY8" fmla="*/ 104088 h 1040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3587" h="1040882">
                <a:moveTo>
                  <a:pt x="0" y="104088"/>
                </a:moveTo>
                <a:cubicBezTo>
                  <a:pt x="0" y="46602"/>
                  <a:pt x="46602" y="0"/>
                  <a:pt x="104088" y="0"/>
                </a:cubicBezTo>
                <a:lnTo>
                  <a:pt x="1769499" y="0"/>
                </a:lnTo>
                <a:cubicBezTo>
                  <a:pt x="1826985" y="0"/>
                  <a:pt x="1873587" y="46602"/>
                  <a:pt x="1873587" y="104088"/>
                </a:cubicBezTo>
                <a:lnTo>
                  <a:pt x="1873587" y="936794"/>
                </a:lnTo>
                <a:cubicBezTo>
                  <a:pt x="1873587" y="994280"/>
                  <a:pt x="1826985" y="1040882"/>
                  <a:pt x="1769499" y="1040882"/>
                </a:cubicBezTo>
                <a:lnTo>
                  <a:pt x="104088" y="1040882"/>
                </a:lnTo>
                <a:cubicBezTo>
                  <a:pt x="46602" y="1040882"/>
                  <a:pt x="0" y="994280"/>
                  <a:pt x="0" y="936794"/>
                </a:cubicBezTo>
                <a:lnTo>
                  <a:pt x="0" y="104088"/>
                </a:lnTo>
                <a:close/>
              </a:path>
            </a:pathLst>
          </a:custGeom>
          <a:solidFill>
            <a:srgbClr val="2FA3EE">
              <a:alpha val="90000"/>
              <a:tint val="40000"/>
              <a:hueOff val="0"/>
              <a:satOff val="0"/>
              <a:lumOff val="0"/>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p:spPr>
        <p:txBody>
          <a:bodyPr spcFirstLastPara="0" vert="horz" wrap="square" lIns="110496" tIns="110496" rIns="110496" bIns="110496"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tabLst/>
              <a:defRPr/>
            </a:pPr>
            <a:r>
              <a:rPr kumimoji="0" lang="en-US" sz="2100" b="0" i="0" u="none" strike="noStrike" kern="0" cap="none" spc="0" normalizeH="0" baseline="0" noProof="0" dirty="0">
                <a:ln>
                  <a:noFill/>
                </a:ln>
                <a:solidFill>
                  <a:prstClr val="black">
                    <a:hueOff val="0"/>
                    <a:satOff val="0"/>
                    <a:lumOff val="0"/>
                    <a:alphaOff val="0"/>
                  </a:prstClr>
                </a:solidFill>
                <a:effectLst/>
                <a:uLnTx/>
                <a:uFillTx/>
                <a:latin typeface="Tw Cen MT" panose="020B0602020104020603"/>
                <a:ea typeface="+mn-ea"/>
                <a:cs typeface="+mn-cs"/>
              </a:rPr>
              <a:t>Provides leadership</a:t>
            </a:r>
          </a:p>
        </p:txBody>
      </p:sp>
      <p:sp>
        <p:nvSpPr>
          <p:cNvPr id="2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284037897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Consider: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Are Leaders “Born” or “Made”?</a:t>
            </a: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a:lnSpc>
                <a:spcPct val="90000"/>
              </a:lnSpc>
              <a:spcBef>
                <a:spcPts val="0"/>
              </a:spcBef>
              <a:spcAft>
                <a:spcPts val="0"/>
              </a:spcAft>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Recall: </a:t>
            </a:r>
          </a:p>
          <a:p>
            <a:pPr marL="360000"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Safety culture is determined by the actions of leaders!</a:t>
            </a:r>
          </a:p>
          <a:p>
            <a:pPr marL="360000"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leaders actions (practices, behaviours) are the strongest form of messaging.</a:t>
            </a:r>
          </a:p>
          <a:p>
            <a:pPr>
              <a:lnSpc>
                <a:spcPct val="90000"/>
              </a:lnSpc>
              <a:spcBef>
                <a:spcPts val="0"/>
              </a:spcBef>
              <a:spcAft>
                <a:spcPts val="0"/>
              </a:spcAft>
            </a:pPr>
            <a:endPar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a:lnSpc>
                <a:spcPct val="90000"/>
              </a:lnSpc>
              <a:spcBef>
                <a:spcPts val="0"/>
              </a:spcBef>
              <a:spcAft>
                <a:spcPts val="0"/>
              </a:spcAft>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Two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theories of the “making” of effective leaders have evolved:</a:t>
            </a:r>
          </a:p>
          <a:p>
            <a:pPr marL="360000" indent="-360000">
              <a:lnSpc>
                <a:spcPct val="90000"/>
              </a:lnSpc>
              <a:spcBef>
                <a:spcPts val="0"/>
              </a:spcBef>
              <a:spcAft>
                <a:spcPts val="0"/>
              </a:spcAft>
              <a:buFont typeface="+mj-lt"/>
              <a:buAutoNum type="arabicParenR"/>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Trait-based models – “leaders are born”.</a:t>
            </a:r>
          </a:p>
          <a:p>
            <a:pPr marL="360000" indent="-360000">
              <a:lnSpc>
                <a:spcPct val="90000"/>
              </a:lnSpc>
              <a:spcBef>
                <a:spcPts val="0"/>
              </a:spcBef>
              <a:spcAft>
                <a:spcPts val="0"/>
              </a:spcAft>
              <a:buFont typeface="+mj-lt"/>
              <a:buAutoNum type="arabicParenR"/>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Behaviour-based models –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“people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can be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trained to be good leaders”.</a:t>
            </a: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lnSpc>
                <a:spcPct val="90000"/>
              </a:lnSpc>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Think of any “leaders” you know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or for whom you worked in your work terms.  What was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your perspective of those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leaders? Were they: </a:t>
            </a: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“Born leaders?” </a:t>
            </a:r>
          </a:p>
          <a:p>
            <a:pPr marL="720000" lvl="1"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“Trained leaders?”</a:t>
            </a:r>
          </a:p>
          <a:p>
            <a:pPr marL="432000" indent="-432000">
              <a:lnSpc>
                <a:spcPct val="90000"/>
              </a:lnSpc>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Research, beginning well over 50 years ago, supports that leaders can be trained.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This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lecture aims to explore these universal questions:</a:t>
            </a:r>
          </a:p>
          <a:p>
            <a:pPr marL="720000" lvl="1"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is leadership? Effective leadership?</a:t>
            </a:r>
          </a:p>
          <a:p>
            <a:pPr marL="720000" lvl="1"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makes a great leader?</a:t>
            </a:r>
          </a:p>
          <a:p>
            <a:pPr marL="720000" lvl="1" indent="-360000">
              <a:lnSpc>
                <a:spcPct val="90000"/>
              </a:lnSpc>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Why does it matter</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What Makes an Effective Leader?</a:t>
            </a:r>
          </a:p>
        </p:txBody>
      </p:sp>
    </p:spTree>
    <p:extLst>
      <p:ext uri="{BB962C8B-B14F-4D97-AF65-F5344CB8AC3E}">
        <p14:creationId xmlns:p14="http://schemas.microsoft.com/office/powerpoint/2010/main" val="884269533"/>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4294967295"/>
          </p:nvPr>
        </p:nvSpPr>
        <p:spPr>
          <a:xfrm>
            <a:off x="455613" y="822960"/>
            <a:ext cx="8226425" cy="5577840"/>
          </a:xfrm>
          <a:solidFill>
            <a:schemeClr val="bg1">
              <a:alpha val="50000"/>
            </a:schemeClr>
          </a:solidFill>
          <a:ln>
            <a:solidFill>
              <a:schemeClr val="tx2"/>
            </a:solidFill>
          </a:ln>
        </p:spPr>
        <p:txBody>
          <a:bodyPr vert="horz" lIns="91440" tIns="45720" rIns="91440" bIns="45720" rtlCol="0">
            <a:normAutofit/>
          </a:bodyPr>
          <a:lstStyle/>
          <a:p>
            <a:pPr marL="0" indent="0">
              <a:lnSpc>
                <a:spcPct val="100000"/>
              </a:lnSpc>
              <a:spcBef>
                <a:spcPts val="0"/>
              </a:spcBef>
              <a:buNone/>
            </a:pPr>
            <a:r>
              <a:rPr lang="en-US" altLang="en-US" cap="none" dirty="0" smtClean="0">
                <a:latin typeface="Arial" panose="020B0604020202020204" pitchFamily="34" charset="0"/>
                <a:cs typeface="Arial" panose="020B0604020202020204" pitchFamily="34" charset="0"/>
              </a:rPr>
              <a:t> </a:t>
            </a:r>
            <a:endParaRPr lang="en-US" altLang="en-US" cap="none" dirty="0">
              <a:latin typeface="Arial" panose="020B0604020202020204" pitchFamily="34" charset="0"/>
              <a:cs typeface="Arial" panose="020B0604020202020204" pitchFamily="34" charset="0"/>
            </a:endParaRPr>
          </a:p>
        </p:txBody>
      </p:sp>
      <p:sp>
        <p:nvSpPr>
          <p:cNvPr id="12"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Our Personal Iceberg: </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3"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grpSp>
        <p:nvGrpSpPr>
          <p:cNvPr id="8" name="Group 7"/>
          <p:cNvGrpSpPr/>
          <p:nvPr/>
        </p:nvGrpSpPr>
        <p:grpSpPr>
          <a:xfrm>
            <a:off x="351852" y="914400"/>
            <a:ext cx="8182548" cy="5277127"/>
            <a:chOff x="161872" y="990600"/>
            <a:chExt cx="8182548" cy="5277127"/>
          </a:xfrm>
        </p:grpSpPr>
        <p:pic>
          <p:nvPicPr>
            <p:cNvPr id="2" name="Picture 1"/>
            <p:cNvPicPr>
              <a:picLocks noChangeAspect="1"/>
            </p:cNvPicPr>
            <p:nvPr/>
          </p:nvPicPr>
          <p:blipFill>
            <a:blip r:embed="rId3"/>
            <a:stretch>
              <a:fillRect/>
            </a:stretch>
          </p:blipFill>
          <p:spPr>
            <a:xfrm>
              <a:off x="891705" y="990600"/>
              <a:ext cx="7096826" cy="5277127"/>
            </a:xfrm>
            <a:prstGeom prst="rect">
              <a:avLst/>
            </a:prstGeom>
          </p:spPr>
        </p:pic>
        <p:sp>
          <p:nvSpPr>
            <p:cNvPr id="3" name="Rounded Rectangle 2"/>
            <p:cNvSpPr/>
            <p:nvPr/>
          </p:nvSpPr>
          <p:spPr>
            <a:xfrm>
              <a:off x="3088376" y="2219429"/>
              <a:ext cx="2098766" cy="34834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Up Arrow Callout 4"/>
            <p:cNvSpPr/>
            <p:nvPr/>
          </p:nvSpPr>
          <p:spPr>
            <a:xfrm>
              <a:off x="2593571" y="3045556"/>
              <a:ext cx="3150524" cy="2856015"/>
            </a:xfrm>
            <a:prstGeom prst="upArrowCallout">
              <a:avLst>
                <a:gd name="adj1" fmla="val 38530"/>
                <a:gd name="adj2" fmla="val 25000"/>
                <a:gd name="adj3" fmla="val 10305"/>
                <a:gd name="adj4" fmla="val 79660"/>
              </a:avLst>
            </a:prstGeom>
            <a:noFill/>
            <a:ln w="571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05592" y="1507701"/>
              <a:ext cx="1221971" cy="37324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ular Callout 3"/>
            <p:cNvSpPr/>
            <p:nvPr/>
          </p:nvSpPr>
          <p:spPr>
            <a:xfrm>
              <a:off x="161872" y="1431777"/>
              <a:ext cx="2306584" cy="628387"/>
            </a:xfrm>
            <a:prstGeom prst="wedgeRoundRectCallout">
              <a:avLst>
                <a:gd name="adj1" fmla="val 78062"/>
                <a:gd name="adj2" fmla="val 107131"/>
                <a:gd name="adj3" fmla="val 16667"/>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1) This is what people “see about you”.</a:t>
              </a:r>
              <a:endParaRPr lang="en-US" sz="1400" dirty="0">
                <a:solidFill>
                  <a:schemeClr val="tx1"/>
                </a:solidFill>
              </a:endParaRPr>
            </a:p>
          </p:txBody>
        </p:sp>
        <p:sp>
          <p:nvSpPr>
            <p:cNvPr id="14" name="Rounded Rectangular Callout 13"/>
            <p:cNvSpPr/>
            <p:nvPr/>
          </p:nvSpPr>
          <p:spPr>
            <a:xfrm>
              <a:off x="6037836" y="2417169"/>
              <a:ext cx="2306584" cy="628387"/>
            </a:xfrm>
            <a:prstGeom prst="wedgeRoundRectCallout">
              <a:avLst>
                <a:gd name="adj1" fmla="val -92581"/>
                <a:gd name="adj2" fmla="val -112564"/>
                <a:gd name="adj3" fmla="val 16667"/>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2) People “form perceptions about you”.</a:t>
              </a:r>
              <a:endParaRPr lang="en-US" sz="1400" dirty="0">
                <a:solidFill>
                  <a:schemeClr val="tx1"/>
                </a:solidFill>
              </a:endParaRPr>
            </a:p>
          </p:txBody>
        </p:sp>
      </p:grpSp>
    </p:spTree>
    <p:extLst>
      <p:ext uri="{BB962C8B-B14F-4D97-AF65-F5344CB8AC3E}">
        <p14:creationId xmlns:p14="http://schemas.microsoft.com/office/powerpoint/2010/main" val="37017594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your superiors, your peers, and your subordinates – see your actions and your behaviours. </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“their perception of you” or “how they perceive you”.</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They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cannot know what you are thinking</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nor do they know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of your underlying</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opinions, goals, needs and wants, attitudes, values and principles, and core strengths – unless you explicitly inform them!</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that would take a lot of time and effort, not only because there is a lot to communicate in </a:t>
            </a: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clear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succinct terms, but also because we have a difficult time </a:t>
            </a: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determining,</a:t>
            </a:r>
            <a:b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defining</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refining, and articulating </a:t>
            </a: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same </a:t>
            </a: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list about ourselves!</a:t>
            </a:r>
            <a:endPar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Because they cannot know, it is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critically important for us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our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role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ensure that our </a:t>
            </a:r>
            <a:b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actions and behaviours are exactly </a:t>
            </a:r>
            <a:b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aligned and consistent with our </a:t>
            </a:r>
            <a:b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good intentions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Our </a:t>
            </a:r>
            <a:r>
              <a:rPr lang="en-US" altLang="en-US" sz="2400" b="0" dirty="0">
                <a:solidFill>
                  <a:schemeClr val="accent2"/>
                </a:solidFill>
                <a:latin typeface="Arial" panose="020B0604020202020204" pitchFamily="34" charset="0"/>
                <a:ea typeface="+mj-ea"/>
                <a:cs typeface="Arial" panose="020B0604020202020204" pitchFamily="34" charset="0"/>
              </a:rPr>
              <a:t>“Personal Iceberg Model” and Effective Leadership: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pic>
        <p:nvPicPr>
          <p:cNvPr id="2" name="Picture 1"/>
          <p:cNvPicPr>
            <a:picLocks noChangeAspect="1"/>
          </p:cNvPicPr>
          <p:nvPr/>
        </p:nvPicPr>
        <p:blipFill>
          <a:blip r:embed="rId3"/>
          <a:stretch>
            <a:fillRect/>
          </a:stretch>
        </p:blipFill>
        <p:spPr>
          <a:xfrm>
            <a:off x="4944169" y="3505200"/>
            <a:ext cx="4120066" cy="2650800"/>
          </a:xfrm>
          <a:prstGeom prst="rect">
            <a:avLst/>
          </a:prstGeom>
        </p:spPr>
      </p:pic>
    </p:spTree>
    <p:extLst>
      <p:ext uri="{BB962C8B-B14F-4D97-AF65-F5344CB8AC3E}">
        <p14:creationId xmlns:p14="http://schemas.microsoft.com/office/powerpoint/2010/main" val="653675887"/>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p:cNvSpPr txBox="1">
            <a:spLocks noChangeArrowheads="1"/>
          </p:cNvSpPr>
          <p:nvPr/>
        </p:nvSpPr>
        <p:spPr>
          <a:xfrm>
            <a:off x="180000" y="828000"/>
            <a:ext cx="8640000" cy="5328000"/>
          </a:xfrm>
          <a:prstGeom prst="rect">
            <a:avLst/>
          </a:prstGeom>
          <a:solidFill>
            <a:schemeClr val="tx1"/>
          </a:solidFill>
          <a:ln>
            <a:solidFill>
              <a:schemeClr val="tx1"/>
            </a:solidFill>
            <a:miter lim="800000"/>
            <a:headEnd/>
            <a:tailEnd/>
          </a:ln>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nSpc>
                <a:spcPct val="90000"/>
              </a:lnSpc>
              <a:spcBef>
                <a:spcPts val="0"/>
              </a:spcBef>
              <a:buClr>
                <a:srgbClr val="000000"/>
              </a:buClr>
              <a:buNone/>
              <a:defRPr/>
            </a:pPr>
            <a:endParaRPr lang="en-US" altLang="en-US" i="1"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i="1"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r>
              <a:rPr lang="en-US" altLang="en-US" i="1" cap="none" dirty="0" smtClean="0">
                <a:solidFill>
                  <a:schemeClr val="bg1"/>
                </a:solidFill>
                <a:latin typeface="Arial" panose="020B0604020202020204" pitchFamily="34" charset="0"/>
              </a:rPr>
              <a:t>This is the desired state!</a:t>
            </a:r>
            <a:endParaRPr lang="en-US" altLang="en-US" i="1" cap="none" dirty="0" smtClean="0">
              <a:solidFill>
                <a:schemeClr val="bg1"/>
              </a:solidFill>
              <a:latin typeface="Arial" panose="020B0604020202020204" pitchFamily="34" charset="0"/>
            </a:endParaRPr>
          </a:p>
        </p:txBody>
      </p:sp>
      <p:sp>
        <p:nvSpPr>
          <p:cNvPr id="13"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
        <p:nvSpPr>
          <p:cNvPr id="16" name="Rounded Rectangle 15"/>
          <p:cNvSpPr/>
          <p:nvPr/>
        </p:nvSpPr>
        <p:spPr>
          <a:xfrm>
            <a:off x="216000" y="3068184"/>
            <a:ext cx="8568000" cy="2088000"/>
          </a:xfrm>
          <a:prstGeom prst="roundRect">
            <a:avLst/>
          </a:prstGeom>
          <a:solidFill>
            <a:srgbClr val="99FF99"/>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solidFill>
                  <a:schemeClr val="tx1"/>
                </a:solidFill>
                <a:latin typeface="Arial" panose="020B0604020202020204" pitchFamily="34" charset="0"/>
                <a:cs typeface="Arial" panose="020B0604020202020204" pitchFamily="34" charset="0"/>
              </a:rPr>
              <a:t>3) IF </a:t>
            </a:r>
            <a:r>
              <a:rPr lang="en-US" sz="1600" dirty="0" smtClean="0">
                <a:solidFill>
                  <a:schemeClr val="tx1"/>
                </a:solidFill>
                <a:latin typeface="Arial" panose="020B0604020202020204" pitchFamily="34" charset="0"/>
                <a:cs typeface="Arial" panose="020B0604020202020204" pitchFamily="34" charset="0"/>
              </a:rPr>
              <a:t>our actions and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behaviours are perceived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as positive or desirable,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THEN we are shaping the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desired culture AND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we ARE effective leaders!</a:t>
            </a:r>
            <a:endParaRPr lang="en-US" sz="1600" dirty="0">
              <a:solidFill>
                <a:schemeClr val="tx1"/>
              </a:solidFill>
              <a:latin typeface="Arial" panose="020B0604020202020204" pitchFamily="34" charset="0"/>
              <a:cs typeface="Arial" panose="020B0604020202020204" pitchFamily="34" charset="0"/>
            </a:endParaRPr>
          </a:p>
        </p:txBody>
      </p:sp>
      <p:pic>
        <p:nvPicPr>
          <p:cNvPr id="18" name="Picture 17"/>
          <p:cNvPicPr preferRelativeResize="0">
            <a:picLocks noChangeAspect="1"/>
          </p:cNvPicPr>
          <p:nvPr/>
        </p:nvPicPr>
        <p:blipFill>
          <a:blip r:embed="rId3"/>
          <a:stretch>
            <a:fillRect/>
          </a:stretch>
        </p:blipFill>
        <p:spPr>
          <a:xfrm>
            <a:off x="3494431" y="3162984"/>
            <a:ext cx="2512009" cy="1965000"/>
          </a:xfrm>
          <a:prstGeom prst="rect">
            <a:avLst/>
          </a:prstGeom>
        </p:spPr>
      </p:pic>
      <p:pic>
        <p:nvPicPr>
          <p:cNvPr id="19" name="Picture 18"/>
          <p:cNvPicPr preferRelativeResize="0">
            <a:picLocks noChangeAspect="1"/>
          </p:cNvPicPr>
          <p:nvPr/>
        </p:nvPicPr>
        <p:blipFill>
          <a:blip r:embed="rId4"/>
          <a:stretch>
            <a:fillRect/>
          </a:stretch>
        </p:blipFill>
        <p:spPr>
          <a:xfrm>
            <a:off x="6065693" y="3162984"/>
            <a:ext cx="2512011" cy="1965000"/>
          </a:xfrm>
          <a:prstGeom prst="rect">
            <a:avLst/>
          </a:prstGeom>
        </p:spPr>
      </p:pic>
      <p:sp>
        <p:nvSpPr>
          <p:cNvPr id="22" name="Pentagon 21"/>
          <p:cNvSpPr/>
          <p:nvPr/>
        </p:nvSpPr>
        <p:spPr>
          <a:xfrm rot="2700000">
            <a:off x="4708593" y="3645584"/>
            <a:ext cx="807893" cy="304800"/>
          </a:xfrm>
          <a:prstGeom prst="homePlate">
            <a:avLst/>
          </a:prstGeom>
          <a:solidFill>
            <a:schemeClr val="tx1"/>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entagon 22"/>
          <p:cNvSpPr/>
          <p:nvPr/>
        </p:nvSpPr>
        <p:spPr>
          <a:xfrm rot="2700000">
            <a:off x="7279857" y="3645584"/>
            <a:ext cx="807893" cy="304800"/>
          </a:xfrm>
          <a:prstGeom prst="homePlate">
            <a:avLst/>
          </a:prstGeom>
          <a:solidFill>
            <a:schemeClr val="tx1"/>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7648" y="1522200"/>
            <a:ext cx="4264152" cy="1500350"/>
          </a:xfrm>
          <a:prstGeom prst="rect">
            <a:avLst/>
          </a:prstGeom>
        </p:spPr>
      </p:pic>
      <p:sp>
        <p:nvSpPr>
          <p:cNvPr id="20" name="Rectangular Callout 19"/>
          <p:cNvSpPr/>
          <p:nvPr/>
        </p:nvSpPr>
        <p:spPr>
          <a:xfrm>
            <a:off x="216000" y="862368"/>
            <a:ext cx="2700000" cy="1080000"/>
          </a:xfrm>
          <a:prstGeom prst="wedgeRectCallout">
            <a:avLst>
              <a:gd name="adj1" fmla="val 66418"/>
              <a:gd name="adj2" fmla="val 100904"/>
            </a:avLst>
          </a:prstGeom>
          <a:solidFill>
            <a:srgbClr val="99FF99"/>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1) If our intentions ARE manifested in our actions &amp; behaviours;</a:t>
            </a:r>
          </a:p>
        </p:txBody>
      </p:sp>
      <p:sp>
        <p:nvSpPr>
          <p:cNvPr id="21" name="Rectangular Callout 20"/>
          <p:cNvSpPr/>
          <p:nvPr/>
        </p:nvSpPr>
        <p:spPr>
          <a:xfrm>
            <a:off x="6120000" y="838200"/>
            <a:ext cx="2700000" cy="1080000"/>
          </a:xfrm>
          <a:prstGeom prst="wedgeRectCallout">
            <a:avLst>
              <a:gd name="adj1" fmla="val -99460"/>
              <a:gd name="adj2" fmla="val 74839"/>
            </a:avLst>
          </a:prstGeom>
          <a:solidFill>
            <a:srgbClr val="99FF99"/>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2) Then people will see you for what your actions and behaviours are, AND your ACTUAL intentions!</a:t>
            </a:r>
          </a:p>
        </p:txBody>
      </p:sp>
      <p:sp>
        <p:nvSpPr>
          <p:cNvPr id="24" name="Rectangle 2"/>
          <p:cNvSpPr>
            <a:spLocks noChangeArrowheads="1"/>
          </p:cNvSpPr>
          <p:nvPr/>
        </p:nvSpPr>
        <p:spPr bwMode="auto">
          <a:xfrm>
            <a:off x="180000" y="216000"/>
            <a:ext cx="8640000" cy="504000"/>
          </a:xfrm>
          <a:prstGeom prst="rect">
            <a:avLst/>
          </a:prstGeom>
          <a:solidFill>
            <a:schemeClr val="tx1"/>
          </a:solidFill>
          <a:ln>
            <a:solidFill>
              <a:schemeClr val="tx1"/>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Our “Personal Iceberg Model” and Effective Leadership: </a:t>
            </a:r>
          </a:p>
        </p:txBody>
      </p:sp>
    </p:spTree>
    <p:extLst>
      <p:ext uri="{BB962C8B-B14F-4D97-AF65-F5344CB8AC3E}">
        <p14:creationId xmlns:p14="http://schemas.microsoft.com/office/powerpoint/2010/main" val="39562763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p:cNvSpPr txBox="1">
            <a:spLocks noChangeArrowheads="1"/>
          </p:cNvSpPr>
          <p:nvPr/>
        </p:nvSpPr>
        <p:spPr>
          <a:xfrm>
            <a:off x="180000" y="828000"/>
            <a:ext cx="8640000" cy="5328000"/>
          </a:xfrm>
          <a:prstGeom prst="rect">
            <a:avLst/>
          </a:prstGeom>
          <a:solidFill>
            <a:srgbClr val="0000FF"/>
          </a:solidFill>
          <a:ln>
            <a:solidFill>
              <a:schemeClr val="tx1"/>
            </a:solidFill>
            <a:miter lim="800000"/>
            <a:headEnd/>
            <a:tailEnd/>
          </a:ln>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r>
              <a:rPr lang="en-US" altLang="en-US" b="0" i="1" cap="none" dirty="0" smtClean="0">
                <a:solidFill>
                  <a:schemeClr val="bg1"/>
                </a:solidFill>
                <a:latin typeface="Arial" panose="020B0604020202020204" pitchFamily="34" charset="0"/>
              </a:rPr>
              <a:t>Please confer: How would you complete sentence #3? (Open discussion) </a:t>
            </a:r>
            <a:endParaRPr lang="en-US" altLang="en-US" b="0" i="1" cap="none" dirty="0" smtClean="0">
              <a:solidFill>
                <a:schemeClr val="bg1"/>
              </a:solidFill>
              <a:latin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FF"/>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Our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“Personal Iceberg Model”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&amp;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Effective Leadership: </a:t>
            </a:r>
          </a:p>
        </p:txBody>
      </p:sp>
      <p:sp>
        <p:nvSpPr>
          <p:cNvPr id="13"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
        <p:nvSpPr>
          <p:cNvPr id="16" name="Rounded Rectangle 15"/>
          <p:cNvSpPr/>
          <p:nvPr/>
        </p:nvSpPr>
        <p:spPr>
          <a:xfrm>
            <a:off x="216000" y="3068184"/>
            <a:ext cx="8568000" cy="2088000"/>
          </a:xfrm>
          <a:prstGeom prst="roundRect">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3</a:t>
            </a:r>
            <a:r>
              <a:rPr lang="en-US" sz="1600" dirty="0" smtClean="0">
                <a:solidFill>
                  <a:schemeClr val="tx1"/>
                </a:solidFill>
                <a:latin typeface="Arial" panose="020B0604020202020204" pitchFamily="34" charset="0"/>
                <a:cs typeface="Arial" panose="020B0604020202020204" pitchFamily="34" charset="0"/>
              </a:rPr>
              <a:t>) So, regardless of our good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intentions, IF </a:t>
            </a:r>
            <a:r>
              <a:rPr lang="en-US" sz="1600" u="sng" dirty="0" smtClean="0">
                <a:solidFill>
                  <a:schemeClr val="tx1"/>
                </a:solidFill>
                <a:latin typeface="Arial" panose="020B0604020202020204" pitchFamily="34" charset="0"/>
                <a:cs typeface="Arial" panose="020B0604020202020204" pitchFamily="34" charset="0"/>
              </a:rPr>
              <a:t>our actions and </a:t>
            </a:r>
            <a:br>
              <a:rPr lang="en-US" sz="1600" u="sng" dirty="0" smtClean="0">
                <a:solidFill>
                  <a:schemeClr val="tx1"/>
                </a:solidFill>
                <a:latin typeface="Arial" panose="020B0604020202020204" pitchFamily="34" charset="0"/>
                <a:cs typeface="Arial" panose="020B0604020202020204" pitchFamily="34" charset="0"/>
              </a:rPr>
            </a:br>
            <a:r>
              <a:rPr lang="en-US" sz="1600" u="sng" dirty="0" smtClean="0">
                <a:solidFill>
                  <a:schemeClr val="tx1"/>
                </a:solidFill>
                <a:latin typeface="Arial" panose="020B0604020202020204" pitchFamily="34" charset="0"/>
                <a:cs typeface="Arial" panose="020B0604020202020204" pitchFamily="34" charset="0"/>
              </a:rPr>
              <a:t>behaviours are perceived </a:t>
            </a:r>
            <a:br>
              <a:rPr lang="en-US" sz="1600" u="sng" dirty="0" smtClean="0">
                <a:solidFill>
                  <a:schemeClr val="tx1"/>
                </a:solidFill>
                <a:latin typeface="Arial" panose="020B0604020202020204" pitchFamily="34" charset="0"/>
                <a:cs typeface="Arial" panose="020B0604020202020204" pitchFamily="34" charset="0"/>
              </a:rPr>
            </a:br>
            <a:r>
              <a:rPr lang="en-US" sz="1600" u="sng" dirty="0" smtClean="0">
                <a:solidFill>
                  <a:schemeClr val="tx1"/>
                </a:solidFill>
                <a:latin typeface="Arial" panose="020B0604020202020204" pitchFamily="34" charset="0"/>
                <a:cs typeface="Arial" panose="020B0604020202020204" pitchFamily="34" charset="0"/>
              </a:rPr>
              <a:t>as negative or undesirable</a:t>
            </a:r>
            <a:r>
              <a:rPr lang="en-US" sz="1600" dirty="0" smtClean="0">
                <a:solidFill>
                  <a:schemeClr val="tx1"/>
                </a:solidFill>
                <a:latin typeface="Arial" panose="020B0604020202020204" pitchFamily="34" charset="0"/>
                <a:cs typeface="Arial" panose="020B0604020202020204" pitchFamily="34" charset="0"/>
              </a:rPr>
              <a:t>,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THEN </a:t>
            </a:r>
            <a:r>
              <a:rPr lang="en-US" sz="1600" dirty="0" smtClean="0">
                <a:solidFill>
                  <a:schemeClr val="tx1"/>
                </a:solidFill>
                <a:latin typeface="Arial" panose="020B0604020202020204" pitchFamily="34" charset="0"/>
                <a:cs typeface="Arial" panose="020B0604020202020204" pitchFamily="34" charset="0"/>
              </a:rPr>
              <a:t>____________ AND </a:t>
            </a:r>
            <a:r>
              <a:rPr lang="en-US" sz="1600" dirty="0" smtClean="0">
                <a:solidFill>
                  <a:schemeClr val="tx1"/>
                </a:solidFill>
                <a:latin typeface="Arial" panose="020B0604020202020204" pitchFamily="34" charset="0"/>
                <a:cs typeface="Arial" panose="020B0604020202020204" pitchFamily="34" charset="0"/>
              </a:rPr>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________________________!</a:t>
            </a:r>
            <a:br>
              <a:rPr lang="en-US" sz="1600" dirty="0" smtClean="0">
                <a:solidFill>
                  <a:schemeClr val="tx1"/>
                </a:solidFill>
                <a:latin typeface="Arial" panose="020B0604020202020204" pitchFamily="34" charset="0"/>
                <a:cs typeface="Arial" panose="020B0604020202020204" pitchFamily="34" charset="0"/>
              </a:rPr>
            </a:br>
            <a:endParaRPr lang="en-US" sz="1600" dirty="0">
              <a:solidFill>
                <a:schemeClr val="tx1"/>
              </a:solidFill>
              <a:latin typeface="Arial" panose="020B0604020202020204" pitchFamily="34" charset="0"/>
              <a:cs typeface="Arial" panose="020B0604020202020204" pitchFamily="34" charset="0"/>
            </a:endParaRPr>
          </a:p>
        </p:txBody>
      </p:sp>
      <p:pic>
        <p:nvPicPr>
          <p:cNvPr id="2" name="Picture 1"/>
          <p:cNvPicPr preferRelativeResize="0">
            <a:picLocks noChangeAspect="1"/>
          </p:cNvPicPr>
          <p:nvPr/>
        </p:nvPicPr>
        <p:blipFill>
          <a:blip r:embed="rId3"/>
          <a:stretch>
            <a:fillRect/>
          </a:stretch>
        </p:blipFill>
        <p:spPr>
          <a:xfrm>
            <a:off x="3494431" y="3162984"/>
            <a:ext cx="2512009" cy="1965000"/>
          </a:xfrm>
          <a:prstGeom prst="rect">
            <a:avLst/>
          </a:prstGeom>
        </p:spPr>
      </p:pic>
      <p:pic>
        <p:nvPicPr>
          <p:cNvPr id="3" name="Picture 2"/>
          <p:cNvPicPr preferRelativeResize="0">
            <a:picLocks noChangeAspect="1"/>
          </p:cNvPicPr>
          <p:nvPr/>
        </p:nvPicPr>
        <p:blipFill>
          <a:blip r:embed="rId4"/>
          <a:stretch>
            <a:fillRect/>
          </a:stretch>
        </p:blipFill>
        <p:spPr>
          <a:xfrm>
            <a:off x="6065693" y="3162984"/>
            <a:ext cx="2512011" cy="1965000"/>
          </a:xfrm>
          <a:prstGeom prst="rect">
            <a:avLst/>
          </a:prstGeom>
        </p:spPr>
      </p:pic>
      <p:sp>
        <p:nvSpPr>
          <p:cNvPr id="4" name="Pentagon 3"/>
          <p:cNvSpPr/>
          <p:nvPr/>
        </p:nvSpPr>
        <p:spPr>
          <a:xfrm rot="8100000">
            <a:off x="3984171" y="3645584"/>
            <a:ext cx="807893" cy="304800"/>
          </a:xfrm>
          <a:prstGeom prst="homePlate">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entagon 16"/>
          <p:cNvSpPr/>
          <p:nvPr/>
        </p:nvSpPr>
        <p:spPr>
          <a:xfrm rot="8100000">
            <a:off x="6555435" y="3645584"/>
            <a:ext cx="807893" cy="304800"/>
          </a:xfrm>
          <a:prstGeom prst="homePlate">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7648" y="1522200"/>
            <a:ext cx="4264152" cy="1500350"/>
          </a:xfrm>
          <a:prstGeom prst="rect">
            <a:avLst/>
          </a:prstGeom>
        </p:spPr>
      </p:pic>
      <p:sp>
        <p:nvSpPr>
          <p:cNvPr id="19" name="Rectangular Callout 18"/>
          <p:cNvSpPr/>
          <p:nvPr/>
        </p:nvSpPr>
        <p:spPr>
          <a:xfrm>
            <a:off x="216000" y="862368"/>
            <a:ext cx="2700000" cy="1080000"/>
          </a:xfrm>
          <a:prstGeom prst="wedgeRectCallout">
            <a:avLst>
              <a:gd name="adj1" fmla="val 66418"/>
              <a:gd name="adj2" fmla="val 100904"/>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1) I</a:t>
            </a:r>
            <a:r>
              <a:rPr lang="en-US" sz="1600" dirty="0" smtClean="0">
                <a:solidFill>
                  <a:schemeClr val="tx1"/>
                </a:solidFill>
                <a:latin typeface="Arial" panose="020B0604020202020204" pitchFamily="34" charset="0"/>
                <a:cs typeface="Arial" panose="020B0604020202020204" pitchFamily="34" charset="0"/>
              </a:rPr>
              <a:t>f our </a:t>
            </a:r>
            <a:r>
              <a:rPr lang="en-US" sz="1600" dirty="0">
                <a:solidFill>
                  <a:schemeClr val="tx1"/>
                </a:solidFill>
                <a:latin typeface="Arial" panose="020B0604020202020204" pitchFamily="34" charset="0"/>
                <a:cs typeface="Arial" panose="020B0604020202020204" pitchFamily="34" charset="0"/>
              </a:rPr>
              <a:t>intentions are </a:t>
            </a:r>
            <a:r>
              <a:rPr lang="en-US" sz="1600" dirty="0" smtClean="0">
                <a:solidFill>
                  <a:schemeClr val="tx1"/>
                </a:solidFill>
                <a:latin typeface="Arial" panose="020B0604020202020204" pitchFamily="34" charset="0"/>
                <a:cs typeface="Arial" panose="020B0604020202020204" pitchFamily="34" charset="0"/>
              </a:rPr>
              <a:t>NOT manifested in </a:t>
            </a:r>
            <a:r>
              <a:rPr lang="en-US" sz="1600" dirty="0">
                <a:solidFill>
                  <a:schemeClr val="tx1"/>
                </a:solidFill>
                <a:latin typeface="Arial" panose="020B0604020202020204" pitchFamily="34" charset="0"/>
                <a:cs typeface="Arial" panose="020B0604020202020204" pitchFamily="34" charset="0"/>
              </a:rPr>
              <a:t>our actions &amp; </a:t>
            </a:r>
            <a:r>
              <a:rPr lang="en-US" sz="1600" dirty="0" smtClean="0">
                <a:solidFill>
                  <a:schemeClr val="tx1"/>
                </a:solidFill>
                <a:latin typeface="Arial" panose="020B0604020202020204" pitchFamily="34" charset="0"/>
                <a:cs typeface="Arial" panose="020B0604020202020204" pitchFamily="34" charset="0"/>
              </a:rPr>
              <a:t>behaviours;</a:t>
            </a:r>
            <a:endParaRPr lang="en-US" sz="1600" dirty="0">
              <a:solidFill>
                <a:schemeClr val="tx1"/>
              </a:solidFill>
              <a:latin typeface="Arial" panose="020B0604020202020204" pitchFamily="34" charset="0"/>
              <a:cs typeface="Arial" panose="020B0604020202020204" pitchFamily="34" charset="0"/>
            </a:endParaRPr>
          </a:p>
        </p:txBody>
      </p:sp>
      <p:sp>
        <p:nvSpPr>
          <p:cNvPr id="20" name="Rectangular Callout 19"/>
          <p:cNvSpPr/>
          <p:nvPr/>
        </p:nvSpPr>
        <p:spPr>
          <a:xfrm>
            <a:off x="6120000" y="838200"/>
            <a:ext cx="2700000" cy="1080000"/>
          </a:xfrm>
          <a:prstGeom prst="wedgeRectCallout">
            <a:avLst>
              <a:gd name="adj1" fmla="val -99460"/>
              <a:gd name="adj2" fmla="val 74839"/>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2) </a:t>
            </a:r>
            <a:r>
              <a:rPr lang="en-US" sz="1600" dirty="0" smtClean="0">
                <a:solidFill>
                  <a:schemeClr val="tx1"/>
                </a:solidFill>
                <a:latin typeface="Arial" panose="020B0604020202020204" pitchFamily="34" charset="0"/>
                <a:cs typeface="Arial" panose="020B0604020202020204" pitchFamily="34" charset="0"/>
              </a:rPr>
              <a:t>Then people will see </a:t>
            </a:r>
            <a:r>
              <a:rPr lang="en-US" sz="1600" dirty="0">
                <a:solidFill>
                  <a:schemeClr val="tx1"/>
                </a:solidFill>
                <a:latin typeface="Arial" panose="020B0604020202020204" pitchFamily="34" charset="0"/>
                <a:cs typeface="Arial" panose="020B0604020202020204" pitchFamily="34" charset="0"/>
              </a:rPr>
              <a:t>you for what your actions and behaviours </a:t>
            </a:r>
            <a:r>
              <a:rPr lang="en-US" sz="1600" dirty="0" smtClean="0">
                <a:solidFill>
                  <a:schemeClr val="tx1"/>
                </a:solidFill>
                <a:latin typeface="Arial" panose="020B0604020202020204" pitchFamily="34" charset="0"/>
                <a:cs typeface="Arial" panose="020B0604020202020204" pitchFamily="34" charset="0"/>
              </a:rPr>
              <a:t>are, and NOT your intentions!</a:t>
            </a:r>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72754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p:cNvSpPr txBox="1">
            <a:spLocks noChangeArrowheads="1"/>
          </p:cNvSpPr>
          <p:nvPr/>
        </p:nvSpPr>
        <p:spPr>
          <a:xfrm>
            <a:off x="180000" y="828000"/>
            <a:ext cx="8640000" cy="5328000"/>
          </a:xfrm>
          <a:prstGeom prst="rect">
            <a:avLst/>
          </a:prstGeom>
          <a:solidFill>
            <a:schemeClr val="tx1"/>
          </a:solidFill>
          <a:ln>
            <a:solidFill>
              <a:schemeClr val="tx1"/>
            </a:solidFill>
            <a:miter lim="800000"/>
            <a:headEnd/>
            <a:tailEnd/>
          </a:ln>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smtClean="0">
              <a:solidFill>
                <a:schemeClr val="bg1"/>
              </a:solidFill>
              <a:latin typeface="Arial" panose="020B0604020202020204" pitchFamily="34" charset="0"/>
            </a:endParaRPr>
          </a:p>
          <a:p>
            <a:pPr marL="0" indent="0">
              <a:lnSpc>
                <a:spcPct val="90000"/>
              </a:lnSpc>
              <a:spcBef>
                <a:spcPts val="0"/>
              </a:spcBef>
              <a:buClr>
                <a:srgbClr val="000000"/>
              </a:buClr>
              <a:buNone/>
              <a:defRPr/>
            </a:pPr>
            <a:endParaRPr lang="en-US" altLang="en-US" b="0" cap="none" dirty="0">
              <a:solidFill>
                <a:schemeClr val="bg1"/>
              </a:solidFill>
              <a:latin typeface="Arial" panose="020B0604020202020204" pitchFamily="34" charset="0"/>
            </a:endParaRPr>
          </a:p>
          <a:p>
            <a:pPr marL="0" indent="0">
              <a:lnSpc>
                <a:spcPct val="90000"/>
              </a:lnSpc>
              <a:spcBef>
                <a:spcPts val="0"/>
              </a:spcBef>
              <a:buClr>
                <a:srgbClr val="000000"/>
              </a:buClr>
              <a:buNone/>
              <a:defRPr/>
            </a:pPr>
            <a:r>
              <a:rPr lang="en-US" altLang="en-US" cap="none" dirty="0" smtClean="0">
                <a:solidFill>
                  <a:schemeClr val="bg1"/>
                </a:solidFill>
                <a:latin typeface="Arial" panose="020B0604020202020204" pitchFamily="34" charset="0"/>
              </a:rPr>
              <a:t>Therefore</a:t>
            </a:r>
            <a:r>
              <a:rPr lang="en-US" altLang="en-US" cap="none" dirty="0" smtClean="0">
                <a:solidFill>
                  <a:schemeClr val="bg1"/>
                </a:solidFill>
                <a:latin typeface="Arial" panose="020B0604020202020204" pitchFamily="34" charset="0"/>
              </a:rPr>
              <a:t>, it becomes </a:t>
            </a:r>
            <a:r>
              <a:rPr lang="en-US" altLang="en-US" u="sng" cap="none" dirty="0" smtClean="0">
                <a:solidFill>
                  <a:schemeClr val="bg1"/>
                </a:solidFill>
                <a:latin typeface="Arial" panose="020B0604020202020204" pitchFamily="34" charset="0"/>
              </a:rPr>
              <a:t>critically important</a:t>
            </a:r>
            <a:r>
              <a:rPr lang="en-US" altLang="en-US" cap="none" dirty="0" smtClean="0">
                <a:solidFill>
                  <a:schemeClr val="bg1"/>
                </a:solidFill>
                <a:latin typeface="Arial" panose="020B0604020202020204" pitchFamily="34" charset="0"/>
              </a:rPr>
              <a:t> for us to ensure that </a:t>
            </a:r>
            <a:r>
              <a:rPr lang="en-US" altLang="en-US" u="sng" cap="none" dirty="0" smtClean="0">
                <a:solidFill>
                  <a:schemeClr val="bg1"/>
                </a:solidFill>
                <a:latin typeface="Arial" panose="020B0604020202020204" pitchFamily="34" charset="0"/>
              </a:rPr>
              <a:t>our actions </a:t>
            </a:r>
            <a:r>
              <a:rPr lang="en-US" altLang="en-US" u="sng" cap="none" dirty="0">
                <a:solidFill>
                  <a:schemeClr val="bg1"/>
                </a:solidFill>
                <a:latin typeface="Arial" panose="020B0604020202020204" pitchFamily="34" charset="0"/>
              </a:rPr>
              <a:t>&amp;</a:t>
            </a:r>
            <a:r>
              <a:rPr lang="en-US" altLang="en-US" u="sng" cap="none" dirty="0" smtClean="0">
                <a:solidFill>
                  <a:schemeClr val="bg1"/>
                </a:solidFill>
                <a:latin typeface="Arial" panose="020B0604020202020204" pitchFamily="34" charset="0"/>
              </a:rPr>
              <a:t> </a:t>
            </a:r>
            <a:r>
              <a:rPr lang="en-US" altLang="en-US" u="sng" cap="none" dirty="0" smtClean="0">
                <a:solidFill>
                  <a:schemeClr val="bg1"/>
                </a:solidFill>
                <a:latin typeface="Arial" panose="020B0604020202020204" pitchFamily="34" charset="0"/>
              </a:rPr>
              <a:t>behaviours</a:t>
            </a:r>
            <a:r>
              <a:rPr lang="en-US" altLang="en-US" cap="none" dirty="0">
                <a:solidFill>
                  <a:schemeClr val="bg1"/>
                </a:solidFill>
                <a:latin typeface="Arial" panose="020B0604020202020204" pitchFamily="34" charset="0"/>
              </a:rPr>
              <a:t> are exactly </a:t>
            </a:r>
            <a:r>
              <a:rPr lang="en-US" altLang="en-US" cap="none" dirty="0" smtClean="0">
                <a:solidFill>
                  <a:schemeClr val="bg1"/>
                </a:solidFill>
                <a:latin typeface="Arial" panose="020B0604020202020204" pitchFamily="34" charset="0"/>
              </a:rPr>
              <a:t>aligned </a:t>
            </a:r>
            <a:r>
              <a:rPr lang="en-US" altLang="en-US" cap="none" dirty="0" smtClean="0">
                <a:solidFill>
                  <a:schemeClr val="bg1"/>
                </a:solidFill>
                <a:latin typeface="Arial" panose="020B0604020202020204" pitchFamily="34" charset="0"/>
              </a:rPr>
              <a:t>&amp; </a:t>
            </a:r>
            <a:r>
              <a:rPr lang="en-US" altLang="en-US" cap="none" dirty="0">
                <a:solidFill>
                  <a:schemeClr val="bg1"/>
                </a:solidFill>
                <a:latin typeface="Arial" panose="020B0604020202020204" pitchFamily="34" charset="0"/>
              </a:rPr>
              <a:t>consistent with </a:t>
            </a:r>
            <a:r>
              <a:rPr lang="en-US" altLang="en-US" u="sng" cap="none" dirty="0" smtClean="0">
                <a:solidFill>
                  <a:schemeClr val="bg1"/>
                </a:solidFill>
                <a:latin typeface="Arial" panose="020B0604020202020204" pitchFamily="34" charset="0"/>
              </a:rPr>
              <a:t>our good intentions</a:t>
            </a:r>
            <a:r>
              <a:rPr lang="en-US" altLang="en-US" cap="none" dirty="0" smtClean="0">
                <a:solidFill>
                  <a:schemeClr val="bg1"/>
                </a:solidFill>
                <a:latin typeface="Arial" panose="020B0604020202020204" pitchFamily="34" charset="0"/>
              </a:rPr>
              <a:t>!</a:t>
            </a:r>
            <a:endParaRPr lang="en-US" altLang="en-US" i="1" cap="none" dirty="0" smtClean="0">
              <a:solidFill>
                <a:schemeClr val="bg1"/>
              </a:solidFill>
              <a:latin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Our “Personal Iceberg Model” and Effective Leadership: </a:t>
            </a:r>
          </a:p>
        </p:txBody>
      </p:sp>
      <p:sp>
        <p:nvSpPr>
          <p:cNvPr id="13"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
        <p:nvSpPr>
          <p:cNvPr id="16" name="Rounded Rectangle 15"/>
          <p:cNvSpPr/>
          <p:nvPr/>
        </p:nvSpPr>
        <p:spPr>
          <a:xfrm>
            <a:off x="216000" y="3068184"/>
            <a:ext cx="8568000" cy="2088000"/>
          </a:xfrm>
          <a:prstGeom prst="roundRect">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3</a:t>
            </a:r>
            <a:r>
              <a:rPr lang="en-US" sz="1600" dirty="0" smtClean="0">
                <a:solidFill>
                  <a:schemeClr val="tx1"/>
                </a:solidFill>
                <a:latin typeface="Arial" panose="020B0604020202020204" pitchFamily="34" charset="0"/>
                <a:cs typeface="Arial" panose="020B0604020202020204" pitchFamily="34" charset="0"/>
              </a:rPr>
              <a:t>) So, regardless of our good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intentions, IF </a:t>
            </a:r>
            <a:r>
              <a:rPr lang="en-US" sz="1600" u="sng" dirty="0" smtClean="0">
                <a:solidFill>
                  <a:schemeClr val="tx1"/>
                </a:solidFill>
                <a:latin typeface="Arial" panose="020B0604020202020204" pitchFamily="34" charset="0"/>
                <a:cs typeface="Arial" panose="020B0604020202020204" pitchFamily="34" charset="0"/>
              </a:rPr>
              <a:t>our actions and </a:t>
            </a:r>
            <a:br>
              <a:rPr lang="en-US" sz="1600" u="sng" dirty="0" smtClean="0">
                <a:solidFill>
                  <a:schemeClr val="tx1"/>
                </a:solidFill>
                <a:latin typeface="Arial" panose="020B0604020202020204" pitchFamily="34" charset="0"/>
                <a:cs typeface="Arial" panose="020B0604020202020204" pitchFamily="34" charset="0"/>
              </a:rPr>
            </a:br>
            <a:r>
              <a:rPr lang="en-US" sz="1600" u="sng" dirty="0" smtClean="0">
                <a:solidFill>
                  <a:schemeClr val="tx1"/>
                </a:solidFill>
                <a:latin typeface="Arial" panose="020B0604020202020204" pitchFamily="34" charset="0"/>
                <a:cs typeface="Arial" panose="020B0604020202020204" pitchFamily="34" charset="0"/>
              </a:rPr>
              <a:t>behaviours are perceived </a:t>
            </a:r>
            <a:br>
              <a:rPr lang="en-US" sz="1600" u="sng" dirty="0" smtClean="0">
                <a:solidFill>
                  <a:schemeClr val="tx1"/>
                </a:solidFill>
                <a:latin typeface="Arial" panose="020B0604020202020204" pitchFamily="34" charset="0"/>
                <a:cs typeface="Arial" panose="020B0604020202020204" pitchFamily="34" charset="0"/>
              </a:rPr>
            </a:br>
            <a:r>
              <a:rPr lang="en-US" sz="1600" u="sng" dirty="0" smtClean="0">
                <a:solidFill>
                  <a:schemeClr val="tx1"/>
                </a:solidFill>
                <a:latin typeface="Arial" panose="020B0604020202020204" pitchFamily="34" charset="0"/>
                <a:cs typeface="Arial" panose="020B0604020202020204" pitchFamily="34" charset="0"/>
              </a:rPr>
              <a:t>as negative or undesirable</a:t>
            </a:r>
            <a:r>
              <a:rPr lang="en-US" sz="1600" dirty="0" smtClean="0">
                <a:solidFill>
                  <a:schemeClr val="tx1"/>
                </a:solidFill>
                <a:latin typeface="Arial" panose="020B0604020202020204" pitchFamily="34" charset="0"/>
                <a:cs typeface="Arial" panose="020B0604020202020204" pitchFamily="34" charset="0"/>
              </a:rPr>
              <a:t>,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THEN we are not shaping the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desired culture</a:t>
            </a:r>
            <a:r>
              <a:rPr lang="en-US" sz="1600" dirty="0">
                <a:solidFill>
                  <a:schemeClr val="tx1"/>
                </a:solidFill>
                <a:latin typeface="Arial" panose="020B0604020202020204" pitchFamily="34" charset="0"/>
                <a:cs typeface="Arial" panose="020B0604020202020204" pitchFamily="34" charset="0"/>
              </a:rPr>
              <a:t> </a:t>
            </a:r>
            <a:r>
              <a:rPr lang="en-US" sz="1600" dirty="0" smtClean="0">
                <a:solidFill>
                  <a:schemeClr val="tx1"/>
                </a:solidFill>
                <a:latin typeface="Arial" panose="020B0604020202020204" pitchFamily="34" charset="0"/>
                <a:cs typeface="Arial" panose="020B0604020202020204" pitchFamily="34" charset="0"/>
              </a:rPr>
              <a:t>AND </a:t>
            </a:r>
            <a:br>
              <a:rPr lang="en-US" sz="1600" dirty="0" smtClean="0">
                <a:solidFill>
                  <a:schemeClr val="tx1"/>
                </a:solidFill>
                <a:latin typeface="Arial" panose="020B0604020202020204" pitchFamily="34" charset="0"/>
                <a:cs typeface="Arial" panose="020B0604020202020204" pitchFamily="34" charset="0"/>
              </a:rPr>
            </a:br>
            <a:r>
              <a:rPr lang="en-US" sz="1600" dirty="0" smtClean="0">
                <a:solidFill>
                  <a:schemeClr val="tx1"/>
                </a:solidFill>
                <a:latin typeface="Arial" panose="020B0604020202020204" pitchFamily="34" charset="0"/>
                <a:cs typeface="Arial" panose="020B0604020202020204" pitchFamily="34" charset="0"/>
              </a:rPr>
              <a:t>we ARE NOT effective leaders!</a:t>
            </a:r>
            <a:endParaRPr lang="en-US" sz="1600" dirty="0">
              <a:solidFill>
                <a:schemeClr val="tx1"/>
              </a:solidFill>
              <a:latin typeface="Arial" panose="020B0604020202020204" pitchFamily="34" charset="0"/>
              <a:cs typeface="Arial" panose="020B0604020202020204" pitchFamily="34" charset="0"/>
            </a:endParaRPr>
          </a:p>
        </p:txBody>
      </p:sp>
      <p:pic>
        <p:nvPicPr>
          <p:cNvPr id="2" name="Picture 1"/>
          <p:cNvPicPr preferRelativeResize="0">
            <a:picLocks noChangeAspect="1"/>
          </p:cNvPicPr>
          <p:nvPr/>
        </p:nvPicPr>
        <p:blipFill>
          <a:blip r:embed="rId3"/>
          <a:stretch>
            <a:fillRect/>
          </a:stretch>
        </p:blipFill>
        <p:spPr>
          <a:xfrm>
            <a:off x="3494431" y="3162984"/>
            <a:ext cx="2512009" cy="1965000"/>
          </a:xfrm>
          <a:prstGeom prst="rect">
            <a:avLst/>
          </a:prstGeom>
        </p:spPr>
      </p:pic>
      <p:pic>
        <p:nvPicPr>
          <p:cNvPr id="3" name="Picture 2"/>
          <p:cNvPicPr preferRelativeResize="0">
            <a:picLocks noChangeAspect="1"/>
          </p:cNvPicPr>
          <p:nvPr/>
        </p:nvPicPr>
        <p:blipFill>
          <a:blip r:embed="rId4"/>
          <a:stretch>
            <a:fillRect/>
          </a:stretch>
        </p:blipFill>
        <p:spPr>
          <a:xfrm>
            <a:off x="6065693" y="3162984"/>
            <a:ext cx="2512011" cy="1965000"/>
          </a:xfrm>
          <a:prstGeom prst="rect">
            <a:avLst/>
          </a:prstGeom>
        </p:spPr>
      </p:pic>
      <p:sp>
        <p:nvSpPr>
          <p:cNvPr id="4" name="Pentagon 3"/>
          <p:cNvSpPr/>
          <p:nvPr/>
        </p:nvSpPr>
        <p:spPr>
          <a:xfrm rot="8100000">
            <a:off x="3984171" y="3645584"/>
            <a:ext cx="807893" cy="304800"/>
          </a:xfrm>
          <a:prstGeom prst="homePlate">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entagon 16"/>
          <p:cNvSpPr/>
          <p:nvPr/>
        </p:nvSpPr>
        <p:spPr>
          <a:xfrm rot="8100000">
            <a:off x="6555435" y="3645584"/>
            <a:ext cx="807893" cy="304800"/>
          </a:xfrm>
          <a:prstGeom prst="homePlate">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7648" y="1522200"/>
            <a:ext cx="4264152" cy="1500350"/>
          </a:xfrm>
          <a:prstGeom prst="rect">
            <a:avLst/>
          </a:prstGeom>
        </p:spPr>
      </p:pic>
      <p:sp>
        <p:nvSpPr>
          <p:cNvPr id="19" name="Rectangular Callout 18"/>
          <p:cNvSpPr/>
          <p:nvPr/>
        </p:nvSpPr>
        <p:spPr>
          <a:xfrm>
            <a:off x="216000" y="862368"/>
            <a:ext cx="2700000" cy="1080000"/>
          </a:xfrm>
          <a:prstGeom prst="wedgeRectCallout">
            <a:avLst>
              <a:gd name="adj1" fmla="val 66418"/>
              <a:gd name="adj2" fmla="val 100904"/>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1) I</a:t>
            </a:r>
            <a:r>
              <a:rPr lang="en-US" sz="1600" dirty="0" smtClean="0">
                <a:solidFill>
                  <a:schemeClr val="tx1"/>
                </a:solidFill>
                <a:latin typeface="Arial" panose="020B0604020202020204" pitchFamily="34" charset="0"/>
                <a:cs typeface="Arial" panose="020B0604020202020204" pitchFamily="34" charset="0"/>
              </a:rPr>
              <a:t>f our </a:t>
            </a:r>
            <a:r>
              <a:rPr lang="en-US" sz="1600" dirty="0">
                <a:solidFill>
                  <a:schemeClr val="tx1"/>
                </a:solidFill>
                <a:latin typeface="Arial" panose="020B0604020202020204" pitchFamily="34" charset="0"/>
                <a:cs typeface="Arial" panose="020B0604020202020204" pitchFamily="34" charset="0"/>
              </a:rPr>
              <a:t>intentions are </a:t>
            </a:r>
            <a:r>
              <a:rPr lang="en-US" sz="1600" dirty="0" smtClean="0">
                <a:solidFill>
                  <a:schemeClr val="tx1"/>
                </a:solidFill>
                <a:latin typeface="Arial" panose="020B0604020202020204" pitchFamily="34" charset="0"/>
                <a:cs typeface="Arial" panose="020B0604020202020204" pitchFamily="34" charset="0"/>
              </a:rPr>
              <a:t>NOT manifested in </a:t>
            </a:r>
            <a:r>
              <a:rPr lang="en-US" sz="1600" dirty="0">
                <a:solidFill>
                  <a:schemeClr val="tx1"/>
                </a:solidFill>
                <a:latin typeface="Arial" panose="020B0604020202020204" pitchFamily="34" charset="0"/>
                <a:cs typeface="Arial" panose="020B0604020202020204" pitchFamily="34" charset="0"/>
              </a:rPr>
              <a:t>our actions &amp; </a:t>
            </a:r>
            <a:r>
              <a:rPr lang="en-US" sz="1600" dirty="0" smtClean="0">
                <a:solidFill>
                  <a:schemeClr val="tx1"/>
                </a:solidFill>
                <a:latin typeface="Arial" panose="020B0604020202020204" pitchFamily="34" charset="0"/>
                <a:cs typeface="Arial" panose="020B0604020202020204" pitchFamily="34" charset="0"/>
              </a:rPr>
              <a:t>behaviours;</a:t>
            </a:r>
            <a:endParaRPr lang="en-US" sz="1600" dirty="0">
              <a:solidFill>
                <a:schemeClr val="tx1"/>
              </a:solidFill>
              <a:latin typeface="Arial" panose="020B0604020202020204" pitchFamily="34" charset="0"/>
              <a:cs typeface="Arial" panose="020B0604020202020204" pitchFamily="34" charset="0"/>
            </a:endParaRPr>
          </a:p>
        </p:txBody>
      </p:sp>
      <p:sp>
        <p:nvSpPr>
          <p:cNvPr id="20" name="Rectangular Callout 19"/>
          <p:cNvSpPr/>
          <p:nvPr/>
        </p:nvSpPr>
        <p:spPr>
          <a:xfrm>
            <a:off x="6120000" y="838200"/>
            <a:ext cx="2700000" cy="1080000"/>
          </a:xfrm>
          <a:prstGeom prst="wedgeRectCallout">
            <a:avLst>
              <a:gd name="adj1" fmla="val -99460"/>
              <a:gd name="adj2" fmla="val 74839"/>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2) </a:t>
            </a:r>
            <a:r>
              <a:rPr lang="en-US" sz="1600" dirty="0" smtClean="0">
                <a:solidFill>
                  <a:schemeClr val="tx1"/>
                </a:solidFill>
                <a:latin typeface="Arial" panose="020B0604020202020204" pitchFamily="34" charset="0"/>
                <a:cs typeface="Arial" panose="020B0604020202020204" pitchFamily="34" charset="0"/>
              </a:rPr>
              <a:t>Then people will see </a:t>
            </a:r>
            <a:r>
              <a:rPr lang="en-US" sz="1600" dirty="0">
                <a:solidFill>
                  <a:schemeClr val="tx1"/>
                </a:solidFill>
                <a:latin typeface="Arial" panose="020B0604020202020204" pitchFamily="34" charset="0"/>
                <a:cs typeface="Arial" panose="020B0604020202020204" pitchFamily="34" charset="0"/>
              </a:rPr>
              <a:t>you for what your actions and behaviours </a:t>
            </a:r>
            <a:r>
              <a:rPr lang="en-US" sz="1600" dirty="0" smtClean="0">
                <a:solidFill>
                  <a:schemeClr val="tx1"/>
                </a:solidFill>
                <a:latin typeface="Arial" panose="020B0604020202020204" pitchFamily="34" charset="0"/>
                <a:cs typeface="Arial" panose="020B0604020202020204" pitchFamily="34" charset="0"/>
              </a:rPr>
              <a:t>are, and NOT your intentions!</a:t>
            </a:r>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67787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p:cNvSpPr txBox="1">
            <a:spLocks noChangeArrowheads="1"/>
          </p:cNvSpPr>
          <p:nvPr/>
        </p:nvSpPr>
        <p:spPr>
          <a:xfrm>
            <a:off x="180000" y="827999"/>
            <a:ext cx="8640000" cy="5328000"/>
          </a:xfrm>
          <a:prstGeom prst="rect">
            <a:avLst/>
          </a:prstGeom>
          <a:noFill/>
          <a:ln>
            <a:noFill/>
            <a:miter lim="800000"/>
            <a:headEnd/>
            <a:tailEnd/>
          </a:ln>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a:lnSpc>
                <a:spcPct val="90000"/>
              </a:lnSpc>
              <a:buClr>
                <a:srgbClr val="000000"/>
              </a:buClr>
              <a:buFont typeface="Wingdings" panose="05000000000000000000" pitchFamily="2" charset="2"/>
              <a:buNone/>
              <a:defRPr/>
            </a:pPr>
            <a:endParaRPr lang="en-US" altLang="en-US" b="0" cap="none" dirty="0" smtClean="0">
              <a:latin typeface="Arial" panose="020B0604020202020204" pitchFamily="34" charset="0"/>
            </a:endParaRPr>
          </a:p>
          <a:p>
            <a:pPr>
              <a:lnSpc>
                <a:spcPct val="90000"/>
              </a:lnSpc>
              <a:buClr>
                <a:srgbClr val="000000"/>
              </a:buClr>
              <a:buFont typeface="Wingdings" panose="05000000000000000000" pitchFamily="2" charset="2"/>
              <a:buNone/>
              <a:defRPr/>
            </a:pPr>
            <a:endParaRPr lang="en-US" altLang="en-US" b="0" cap="none" dirty="0">
              <a:latin typeface="Arial" panose="020B0604020202020204" pitchFamily="34" charset="0"/>
            </a:endParaRPr>
          </a:p>
          <a:p>
            <a:pPr>
              <a:lnSpc>
                <a:spcPct val="90000"/>
              </a:lnSpc>
              <a:buClr>
                <a:srgbClr val="000000"/>
              </a:buClr>
              <a:buFont typeface="Wingdings" panose="05000000000000000000" pitchFamily="2" charset="2"/>
              <a:buNone/>
              <a:defRPr/>
            </a:pPr>
            <a:endParaRPr lang="en-US" altLang="en-US" b="0" cap="none" dirty="0" smtClean="0">
              <a:latin typeface="Arial" panose="020B0604020202020204" pitchFamily="34" charset="0"/>
            </a:endParaRPr>
          </a:p>
          <a:p>
            <a:pPr>
              <a:lnSpc>
                <a:spcPct val="90000"/>
              </a:lnSpc>
              <a:buClr>
                <a:srgbClr val="000000"/>
              </a:buClr>
              <a:buFont typeface="Wingdings" panose="05000000000000000000" pitchFamily="2" charset="2"/>
              <a:buNone/>
              <a:defRPr/>
            </a:pPr>
            <a:endParaRPr lang="en-US" altLang="en-US" b="0" cap="none" dirty="0">
              <a:latin typeface="Arial" panose="020B0604020202020204" pitchFamily="34" charset="0"/>
            </a:endParaRPr>
          </a:p>
          <a:p>
            <a:pPr>
              <a:lnSpc>
                <a:spcPct val="90000"/>
              </a:lnSpc>
              <a:buClr>
                <a:srgbClr val="000000"/>
              </a:buClr>
              <a:buFont typeface="Wingdings" panose="05000000000000000000" pitchFamily="2" charset="2"/>
              <a:buNone/>
              <a:defRPr/>
            </a:pPr>
            <a:endParaRPr lang="en-US" altLang="en-US" b="0" cap="none" dirty="0" smtClean="0">
              <a:latin typeface="Arial" panose="020B0604020202020204" pitchFamily="34" charset="0"/>
            </a:endParaRPr>
          </a:p>
          <a:p>
            <a:pPr>
              <a:lnSpc>
                <a:spcPct val="90000"/>
              </a:lnSpc>
              <a:buClr>
                <a:srgbClr val="000000"/>
              </a:buClr>
              <a:buFont typeface="Wingdings" panose="05000000000000000000" pitchFamily="2" charset="2"/>
              <a:buNone/>
              <a:defRPr/>
            </a:pPr>
            <a:endParaRPr lang="en-US" altLang="en-US" b="0" cap="none" dirty="0">
              <a:latin typeface="Arial" panose="020B0604020202020204" pitchFamily="34" charset="0"/>
            </a:endParaRPr>
          </a:p>
          <a:p>
            <a:pPr>
              <a:lnSpc>
                <a:spcPct val="90000"/>
              </a:lnSpc>
              <a:buClr>
                <a:srgbClr val="000000"/>
              </a:buClr>
              <a:buFont typeface="Wingdings" panose="05000000000000000000" pitchFamily="2" charset="2"/>
              <a:buNone/>
              <a:defRPr/>
            </a:pPr>
            <a:endParaRPr lang="en-US" altLang="en-US" b="0" cap="none" dirty="0" smtClean="0">
              <a:latin typeface="Arial" panose="020B0604020202020204" pitchFamily="34" charset="0"/>
            </a:endParaRPr>
          </a:p>
          <a:p>
            <a:pPr>
              <a:lnSpc>
                <a:spcPct val="90000"/>
              </a:lnSpc>
              <a:buClr>
                <a:srgbClr val="000000"/>
              </a:buClr>
              <a:buFont typeface="Wingdings" panose="05000000000000000000" pitchFamily="2" charset="2"/>
              <a:buNone/>
              <a:defRPr/>
            </a:pPr>
            <a:r>
              <a:rPr lang="en-US" altLang="en-US" b="0" cap="none" dirty="0" smtClean="0">
                <a:latin typeface="Arial" panose="020B0604020202020204" pitchFamily="34" charset="0"/>
              </a:rPr>
              <a:t>Your intentions</a:t>
            </a:r>
            <a:r>
              <a:rPr lang="en-US" altLang="en-US" b="0" cap="none" dirty="0">
                <a:latin typeface="Arial" panose="020B0604020202020204" pitchFamily="34" charset="0"/>
              </a:rPr>
              <a:t> </a:t>
            </a:r>
            <a:r>
              <a:rPr lang="en-US" altLang="en-US" b="0" cap="none" dirty="0" smtClean="0">
                <a:latin typeface="Arial" panose="020B0604020202020204" pitchFamily="34" charset="0"/>
              </a:rPr>
              <a:t>and an opportunity for self-reflection. </a:t>
            </a:r>
          </a:p>
          <a:p>
            <a:pPr>
              <a:lnSpc>
                <a:spcPct val="90000"/>
              </a:lnSpc>
              <a:buClr>
                <a:srgbClr val="000000"/>
              </a:buClr>
              <a:buFont typeface="Wingdings" panose="05000000000000000000" pitchFamily="2" charset="2"/>
              <a:buNone/>
              <a:defRPr/>
            </a:pPr>
            <a:r>
              <a:rPr lang="en-US" altLang="en-US" b="0" i="1" cap="none" dirty="0" smtClean="0">
                <a:latin typeface="Arial" panose="020B0604020202020204" pitchFamily="34" charset="0"/>
              </a:rPr>
              <a:t>Do you recall </a:t>
            </a:r>
            <a:r>
              <a:rPr lang="en-US" altLang="en-US" b="0" i="1" cap="none" dirty="0">
                <a:latin typeface="Arial" panose="020B0604020202020204" pitchFamily="34" charset="0"/>
              </a:rPr>
              <a:t>any </a:t>
            </a:r>
            <a:r>
              <a:rPr lang="en-US" altLang="en-US" b="0" i="1" cap="none" dirty="0" smtClean="0">
                <a:latin typeface="Arial" panose="020B0604020202020204" pitchFamily="34" charset="0"/>
              </a:rPr>
              <a:t>situation … </a:t>
            </a:r>
            <a:r>
              <a:rPr lang="en-US" altLang="en-US" b="0" i="1" cap="none" dirty="0" smtClean="0">
                <a:latin typeface="Arial" panose="020B0604020202020204" pitchFamily="34" charset="0"/>
              </a:rPr>
              <a:t>when others</a:t>
            </a:r>
            <a:r>
              <a:rPr lang="en-US" altLang="en-US" b="0" i="1" cap="none" dirty="0" smtClean="0">
                <a:latin typeface="Arial" panose="020B0604020202020204" pitchFamily="34" charset="0"/>
              </a:rPr>
              <a:t>’ </a:t>
            </a:r>
            <a:r>
              <a:rPr lang="en-US" altLang="en-US" b="0" i="1" u="sng" cap="none" dirty="0">
                <a:latin typeface="Arial" panose="020B0604020202020204" pitchFamily="34" charset="0"/>
              </a:rPr>
              <a:t>perceptions</a:t>
            </a:r>
            <a:r>
              <a:rPr lang="en-US" altLang="en-US" b="0" i="1" cap="none" dirty="0">
                <a:latin typeface="Arial" panose="020B0604020202020204" pitchFamily="34" charset="0"/>
              </a:rPr>
              <a:t> of </a:t>
            </a:r>
            <a:r>
              <a:rPr lang="en-US" altLang="en-US" b="0" i="1" cap="none" dirty="0" smtClean="0">
                <a:latin typeface="Arial" panose="020B0604020202020204" pitchFamily="34" charset="0"/>
              </a:rPr>
              <a:t>you </a:t>
            </a:r>
            <a:r>
              <a:rPr lang="en-US" altLang="en-US" b="0" i="1" cap="none" dirty="0" smtClean="0">
                <a:latin typeface="Arial" panose="020B0604020202020204" pitchFamily="34" charset="0"/>
              </a:rPr>
              <a:t>were </a:t>
            </a:r>
            <a:r>
              <a:rPr lang="en-US" altLang="en-US" b="0" i="1" u="sng" cap="none" dirty="0" smtClean="0">
                <a:latin typeface="Arial" panose="020B0604020202020204" pitchFamily="34" charset="0"/>
              </a:rPr>
              <a:t>different</a:t>
            </a:r>
            <a:r>
              <a:rPr lang="en-US" altLang="en-US" b="0" i="1" cap="none" dirty="0" smtClean="0">
                <a:latin typeface="Arial" panose="020B0604020202020204" pitchFamily="34" charset="0"/>
              </a:rPr>
              <a:t> </a:t>
            </a:r>
            <a:r>
              <a:rPr lang="en-US" altLang="en-US" b="0" i="1" cap="none" dirty="0">
                <a:latin typeface="Arial" panose="020B0604020202020204" pitchFamily="34" charset="0"/>
              </a:rPr>
              <a:t>than your </a:t>
            </a:r>
            <a:r>
              <a:rPr lang="en-US" altLang="en-US" b="0" i="1" u="sng" cap="none" dirty="0" smtClean="0">
                <a:latin typeface="Arial" panose="020B0604020202020204" pitchFamily="34" charset="0"/>
              </a:rPr>
              <a:t>intentions</a:t>
            </a:r>
            <a:r>
              <a:rPr lang="en-US" altLang="en-US" b="0" i="1" cap="none" dirty="0" smtClean="0">
                <a:latin typeface="Arial" panose="020B0604020202020204" pitchFamily="34" charset="0"/>
              </a:rPr>
              <a:t>?</a:t>
            </a:r>
          </a:p>
          <a:p>
            <a:pPr marL="360000" indent="-360000">
              <a:lnSpc>
                <a:spcPct val="100000"/>
              </a:lnSpc>
              <a:spcBef>
                <a:spcPts val="0"/>
              </a:spcBef>
              <a:buClr>
                <a:schemeClr val="bg1"/>
              </a:buClr>
              <a:buFont typeface="Wingdings" panose="05000000000000000000" pitchFamily="2" charset="2"/>
              <a:buChar char="Ø"/>
              <a:defRPr/>
            </a:pPr>
            <a:endParaRPr lang="en-US" altLang="en-US" b="0" i="1" cap="none" dirty="0" smtClean="0">
              <a:latin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Our </a:t>
            </a:r>
            <a:r>
              <a:rPr lang="en-US" altLang="en-US" sz="2400" b="0" dirty="0">
                <a:solidFill>
                  <a:schemeClr val="accent2"/>
                </a:solidFill>
                <a:latin typeface="Arial" panose="020B0604020202020204" pitchFamily="34" charset="0"/>
                <a:ea typeface="+mj-ea"/>
                <a:cs typeface="Arial" panose="020B0604020202020204" pitchFamily="34" charset="0"/>
              </a:rPr>
              <a:t>“Personal Iceberg Model” and Effective Leadership: </a:t>
            </a:r>
          </a:p>
        </p:txBody>
      </p:sp>
      <p:sp>
        <p:nvSpPr>
          <p:cNvPr id="13"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7648" y="1522200"/>
            <a:ext cx="4264152" cy="1500350"/>
          </a:xfrm>
          <a:prstGeom prst="rect">
            <a:avLst/>
          </a:prstGeom>
        </p:spPr>
      </p:pic>
      <p:sp>
        <p:nvSpPr>
          <p:cNvPr id="11" name="Rectangular Callout 10"/>
          <p:cNvSpPr/>
          <p:nvPr/>
        </p:nvSpPr>
        <p:spPr>
          <a:xfrm>
            <a:off x="216000" y="862368"/>
            <a:ext cx="2700000" cy="1080000"/>
          </a:xfrm>
          <a:prstGeom prst="wedgeRectCallout">
            <a:avLst>
              <a:gd name="adj1" fmla="val 66418"/>
              <a:gd name="adj2" fmla="val 100904"/>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1) I</a:t>
            </a:r>
            <a:r>
              <a:rPr lang="en-US" sz="1600" dirty="0" smtClean="0">
                <a:solidFill>
                  <a:schemeClr val="tx1"/>
                </a:solidFill>
                <a:latin typeface="Arial" panose="020B0604020202020204" pitchFamily="34" charset="0"/>
                <a:cs typeface="Arial" panose="020B0604020202020204" pitchFamily="34" charset="0"/>
              </a:rPr>
              <a:t>f our </a:t>
            </a:r>
            <a:r>
              <a:rPr lang="en-US" sz="1600" dirty="0">
                <a:solidFill>
                  <a:schemeClr val="tx1"/>
                </a:solidFill>
                <a:latin typeface="Arial" panose="020B0604020202020204" pitchFamily="34" charset="0"/>
                <a:cs typeface="Arial" panose="020B0604020202020204" pitchFamily="34" charset="0"/>
              </a:rPr>
              <a:t>intentions are </a:t>
            </a:r>
            <a:r>
              <a:rPr lang="en-US" sz="1600" dirty="0" smtClean="0">
                <a:solidFill>
                  <a:schemeClr val="tx1"/>
                </a:solidFill>
                <a:latin typeface="Arial" panose="020B0604020202020204" pitchFamily="34" charset="0"/>
                <a:cs typeface="Arial" panose="020B0604020202020204" pitchFamily="34" charset="0"/>
              </a:rPr>
              <a:t>NOT manifested in </a:t>
            </a:r>
            <a:r>
              <a:rPr lang="en-US" sz="1600" dirty="0">
                <a:solidFill>
                  <a:schemeClr val="tx1"/>
                </a:solidFill>
                <a:latin typeface="Arial" panose="020B0604020202020204" pitchFamily="34" charset="0"/>
                <a:cs typeface="Arial" panose="020B0604020202020204" pitchFamily="34" charset="0"/>
              </a:rPr>
              <a:t>our actions &amp; </a:t>
            </a:r>
            <a:r>
              <a:rPr lang="en-US" sz="1600" dirty="0" smtClean="0">
                <a:solidFill>
                  <a:schemeClr val="tx1"/>
                </a:solidFill>
                <a:latin typeface="Arial" panose="020B0604020202020204" pitchFamily="34" charset="0"/>
                <a:cs typeface="Arial" panose="020B0604020202020204" pitchFamily="34" charset="0"/>
              </a:rPr>
              <a:t>behaviours;</a:t>
            </a:r>
            <a:endParaRPr lang="en-US" sz="1600" dirty="0">
              <a:solidFill>
                <a:schemeClr val="tx1"/>
              </a:solidFill>
              <a:latin typeface="Arial" panose="020B0604020202020204" pitchFamily="34" charset="0"/>
              <a:cs typeface="Arial" panose="020B0604020202020204" pitchFamily="34" charset="0"/>
            </a:endParaRPr>
          </a:p>
        </p:txBody>
      </p:sp>
      <p:sp>
        <p:nvSpPr>
          <p:cNvPr id="12" name="Rectangular Callout 11"/>
          <p:cNvSpPr/>
          <p:nvPr/>
        </p:nvSpPr>
        <p:spPr>
          <a:xfrm>
            <a:off x="6120000" y="838200"/>
            <a:ext cx="2700000" cy="1080000"/>
          </a:xfrm>
          <a:prstGeom prst="wedgeRectCallout">
            <a:avLst>
              <a:gd name="adj1" fmla="val -99460"/>
              <a:gd name="adj2" fmla="val 74839"/>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2) </a:t>
            </a:r>
            <a:r>
              <a:rPr lang="en-US" sz="1600" dirty="0" smtClean="0">
                <a:solidFill>
                  <a:schemeClr val="tx1"/>
                </a:solidFill>
                <a:latin typeface="Arial" panose="020B0604020202020204" pitchFamily="34" charset="0"/>
                <a:cs typeface="Arial" panose="020B0604020202020204" pitchFamily="34" charset="0"/>
              </a:rPr>
              <a:t>Then people will see </a:t>
            </a:r>
            <a:r>
              <a:rPr lang="en-US" sz="1600" dirty="0">
                <a:solidFill>
                  <a:schemeClr val="tx1"/>
                </a:solidFill>
                <a:latin typeface="Arial" panose="020B0604020202020204" pitchFamily="34" charset="0"/>
                <a:cs typeface="Arial" panose="020B0604020202020204" pitchFamily="34" charset="0"/>
              </a:rPr>
              <a:t>you for what your actions and behaviours </a:t>
            </a:r>
            <a:r>
              <a:rPr lang="en-US" sz="1600" dirty="0" smtClean="0">
                <a:solidFill>
                  <a:schemeClr val="tx1"/>
                </a:solidFill>
                <a:latin typeface="Arial" panose="020B0604020202020204" pitchFamily="34" charset="0"/>
                <a:cs typeface="Arial" panose="020B0604020202020204" pitchFamily="34" charset="0"/>
              </a:rPr>
              <a:t>are, and NOT your intentions!</a:t>
            </a:r>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82159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Our </a:t>
            </a:r>
            <a:r>
              <a:rPr lang="en-US" altLang="en-US" sz="2400" b="0" dirty="0">
                <a:solidFill>
                  <a:schemeClr val="accent2"/>
                </a:solidFill>
                <a:latin typeface="Arial" panose="020B0604020202020204" pitchFamily="34" charset="0"/>
                <a:ea typeface="+mj-ea"/>
                <a:cs typeface="Arial" panose="020B0604020202020204" pitchFamily="34" charset="0"/>
              </a:rPr>
              <a:t>“Personal Iceberg Model” and Effective Leadership: </a:t>
            </a:r>
          </a:p>
        </p:txBody>
      </p:sp>
      <p:sp>
        <p:nvSpPr>
          <p:cNvPr id="8" name="Rectangle 3"/>
          <p:cNvSpPr txBox="1">
            <a:spLocks noChangeArrowheads="1"/>
          </p:cNvSpPr>
          <p:nvPr/>
        </p:nvSpPr>
        <p:spPr>
          <a:xfrm>
            <a:off x="180000" y="828000"/>
            <a:ext cx="8639999" cy="5328000"/>
          </a:xfrm>
          <a:prstGeom prst="rect">
            <a:avLst/>
          </a:prstGeom>
          <a:solidFill>
            <a:schemeClr val="tx1"/>
          </a:solidFill>
          <a:ln>
            <a:solidFill>
              <a:schemeClr val="tx1"/>
            </a:solidFill>
            <a:miter lim="800000"/>
            <a:headEnd/>
            <a:tailEnd/>
          </a:ln>
        </p:spPr>
        <p:txBody>
          <a:bodyPr vert="horz" lIns="91440" tIns="45720" rIns="91440" bIns="45720" rtlCol="0" anchor="b" anchorCtr="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nSpc>
                <a:spcPct val="110000"/>
              </a:lnSpc>
              <a:spcBef>
                <a:spcPts val="0"/>
              </a:spcBef>
              <a:buClr>
                <a:srgbClr val="000000"/>
              </a:buClr>
              <a:buFont typeface="Wingdings" panose="05000000000000000000" pitchFamily="2" charset="2"/>
              <a:buNone/>
              <a:defRPr/>
            </a:pPr>
            <a:r>
              <a:rPr lang="en-US" altLang="en-US" sz="1600" b="0" i="1" cap="none" dirty="0" smtClean="0">
                <a:solidFill>
                  <a:schemeClr val="bg1"/>
                </a:solidFill>
                <a:latin typeface="Arial" panose="020B0604020202020204" pitchFamily="34" charset="0"/>
              </a:rPr>
              <a:t>“</a:t>
            </a:r>
            <a:r>
              <a:rPr lang="en-US" altLang="en-US" sz="1600" b="0" i="1" cap="none" dirty="0">
                <a:solidFill>
                  <a:schemeClr val="bg1"/>
                </a:solidFill>
                <a:latin typeface="Arial" panose="020B0604020202020204" pitchFamily="34" charset="0"/>
              </a:rPr>
              <a:t>I passed by three of my students sitting at a table in the Food Court </a:t>
            </a:r>
            <a:r>
              <a:rPr lang="en-US" altLang="en-US" sz="1600" b="0" i="1" cap="none" dirty="0" smtClean="0">
                <a:solidFill>
                  <a:schemeClr val="bg1"/>
                </a:solidFill>
                <a:latin typeface="Arial" panose="020B0604020202020204" pitchFamily="34" charset="0"/>
              </a:rPr>
              <a:t>in a previous term, and gave them a </a:t>
            </a:r>
            <a:r>
              <a:rPr lang="en-US" altLang="en-US" sz="1600" b="0" i="1" cap="none" dirty="0">
                <a:solidFill>
                  <a:schemeClr val="bg1"/>
                </a:solidFill>
                <a:latin typeface="Arial" panose="020B0604020202020204" pitchFamily="34" charset="0"/>
              </a:rPr>
              <a:t>very meek nod. Perhaps so meek that they did not see it. I did see them, and they did see me looking at them, so it was not as though I did not see them. </a:t>
            </a:r>
            <a:r>
              <a:rPr lang="en-US" altLang="en-US" sz="1600" b="0" i="1" cap="none" dirty="0" smtClean="0">
                <a:solidFill>
                  <a:schemeClr val="bg1"/>
                </a:solidFill>
                <a:latin typeface="Arial" panose="020B0604020202020204" pitchFamily="34" charset="0"/>
              </a:rPr>
              <a:t>Later, it </a:t>
            </a:r>
            <a:r>
              <a:rPr lang="en-US" altLang="en-US" sz="1600" b="0" i="1" cap="none" dirty="0">
                <a:solidFill>
                  <a:schemeClr val="bg1"/>
                </a:solidFill>
                <a:latin typeface="Arial" panose="020B0604020202020204" pitchFamily="34" charset="0"/>
              </a:rPr>
              <a:t>occurred to me </a:t>
            </a:r>
            <a:r>
              <a:rPr lang="en-US" altLang="en-US" sz="1600" b="0" i="1" cap="none" dirty="0" smtClean="0">
                <a:solidFill>
                  <a:schemeClr val="bg1"/>
                </a:solidFill>
                <a:latin typeface="Arial" panose="020B0604020202020204" pitchFamily="34" charset="0"/>
              </a:rPr>
              <a:t>that </a:t>
            </a:r>
            <a:r>
              <a:rPr lang="en-US" altLang="en-US" sz="1600" b="0" i="1" cap="none" dirty="0">
                <a:solidFill>
                  <a:schemeClr val="bg1"/>
                </a:solidFill>
                <a:latin typeface="Arial" panose="020B0604020202020204" pitchFamily="34" charset="0"/>
              </a:rPr>
              <a:t>perhaps I appeared uninterested in them, or that I was in too much of a rush to say hello to them, or </a:t>
            </a:r>
            <a:r>
              <a:rPr lang="en-US" altLang="en-US" sz="1600" b="0" i="1" cap="none" dirty="0" smtClean="0">
                <a:solidFill>
                  <a:schemeClr val="bg1"/>
                </a:solidFill>
                <a:latin typeface="Arial" panose="020B0604020202020204" pitchFamily="34" charset="0"/>
              </a:rPr>
              <a:t>worse, </a:t>
            </a:r>
            <a:r>
              <a:rPr lang="en-US" altLang="en-US" sz="1600" b="0" i="1" cap="none" dirty="0">
                <a:solidFill>
                  <a:schemeClr val="bg1"/>
                </a:solidFill>
                <a:latin typeface="Arial" panose="020B0604020202020204" pitchFamily="34" charset="0"/>
              </a:rPr>
              <a:t>that I did not care about them. Indeed, it was not my intention to come across in such bad </a:t>
            </a:r>
            <a:r>
              <a:rPr lang="en-US" altLang="en-US" sz="1600" b="0" i="1" cap="none" dirty="0" smtClean="0">
                <a:solidFill>
                  <a:schemeClr val="bg1"/>
                </a:solidFill>
                <a:latin typeface="Arial" panose="020B0604020202020204" pitchFamily="34" charset="0"/>
              </a:rPr>
              <a:t>light but that is how they could perceive my behaviour. </a:t>
            </a:r>
            <a:r>
              <a:rPr lang="en-US" altLang="en-US" sz="1600" b="0" i="1" cap="none" dirty="0">
                <a:solidFill>
                  <a:schemeClr val="bg1"/>
                </a:solidFill>
                <a:latin typeface="Arial" panose="020B0604020202020204" pitchFamily="34" charset="0"/>
              </a:rPr>
              <a:t>In fact, I was somewhat embarrassed as I could recall two of their names, but not able to </a:t>
            </a:r>
            <a:r>
              <a:rPr lang="en-US" altLang="en-US" sz="1600" b="0" i="1" cap="none" dirty="0" smtClean="0">
                <a:solidFill>
                  <a:schemeClr val="bg1"/>
                </a:solidFill>
                <a:latin typeface="Arial" panose="020B0604020202020204" pitchFamily="34" charset="0"/>
              </a:rPr>
              <a:t>assign names to faces nor </a:t>
            </a:r>
            <a:r>
              <a:rPr lang="en-US" altLang="en-US" sz="1600" b="0" i="1" cap="none" dirty="0">
                <a:solidFill>
                  <a:schemeClr val="bg1"/>
                </a:solidFill>
                <a:latin typeface="Arial" panose="020B0604020202020204" pitchFamily="34" charset="0"/>
              </a:rPr>
              <a:t>recall the third </a:t>
            </a:r>
            <a:r>
              <a:rPr lang="en-US" altLang="en-US" sz="1600" b="0" i="1" cap="none" dirty="0" smtClean="0">
                <a:solidFill>
                  <a:schemeClr val="bg1"/>
                </a:solidFill>
                <a:latin typeface="Arial" panose="020B0604020202020204" pitchFamily="34" charset="0"/>
              </a:rPr>
              <a:t>name. </a:t>
            </a:r>
            <a:r>
              <a:rPr lang="en-US" altLang="en-US" sz="1600" b="0" i="1" cap="none" dirty="0">
                <a:solidFill>
                  <a:schemeClr val="bg1"/>
                </a:solidFill>
                <a:latin typeface="Arial" panose="020B0604020202020204" pitchFamily="34" charset="0"/>
              </a:rPr>
              <a:t>I failed in </a:t>
            </a:r>
            <a:r>
              <a:rPr lang="en-US" altLang="en-US" sz="1600" b="0" i="1" cap="none" dirty="0" smtClean="0">
                <a:solidFill>
                  <a:schemeClr val="bg1"/>
                </a:solidFill>
                <a:latin typeface="Arial" panose="020B0604020202020204" pitchFamily="34" charset="0"/>
              </a:rPr>
              <a:t>“professional courtesy”. </a:t>
            </a:r>
            <a:r>
              <a:rPr lang="en-US" altLang="en-US" sz="1600" b="0" i="1" cap="none" dirty="0">
                <a:solidFill>
                  <a:schemeClr val="bg1"/>
                </a:solidFill>
                <a:latin typeface="Arial" panose="020B0604020202020204" pitchFamily="34" charset="0"/>
              </a:rPr>
              <a:t>So, I </a:t>
            </a:r>
            <a:r>
              <a:rPr lang="en-US" altLang="en-US" sz="1600" b="0" i="1" cap="none" dirty="0" smtClean="0">
                <a:solidFill>
                  <a:schemeClr val="bg1"/>
                </a:solidFill>
                <a:latin typeface="Arial" panose="020B0604020202020204" pitchFamily="34" charset="0"/>
              </a:rPr>
              <a:t>was </a:t>
            </a:r>
            <a:r>
              <a:rPr lang="en-US" altLang="en-US" sz="1600" b="0" i="1" cap="none" dirty="0">
                <a:solidFill>
                  <a:schemeClr val="bg1"/>
                </a:solidFill>
                <a:latin typeface="Arial" panose="020B0604020202020204" pitchFamily="34" charset="0"/>
              </a:rPr>
              <a:t>determined to set this right. The very next time I saw those students in class, I purposely went up to them, introduced myself in our way, and then apologized to them for not stopping to say “hello” earlier in the week</a:t>
            </a:r>
            <a:r>
              <a:rPr lang="en-US" altLang="en-US" sz="1600" b="0" i="1" cap="none" dirty="0" smtClean="0">
                <a:solidFill>
                  <a:schemeClr val="bg1"/>
                </a:solidFill>
                <a:latin typeface="Arial" panose="020B0604020202020204" pitchFamily="34" charset="0"/>
              </a:rPr>
              <a:t>.</a:t>
            </a:r>
            <a:endParaRPr lang="en-US" altLang="en-US" sz="1600" b="0" cap="none" dirty="0">
              <a:solidFill>
                <a:schemeClr val="bg1"/>
              </a:solidFill>
              <a:latin typeface="Arial" panose="020B0604020202020204" pitchFamily="34" charset="0"/>
            </a:endParaRPr>
          </a:p>
        </p:txBody>
      </p:sp>
      <p:sp>
        <p:nvSpPr>
          <p:cNvPr id="13"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7648" y="1522200"/>
            <a:ext cx="4264152" cy="1500350"/>
          </a:xfrm>
          <a:prstGeom prst="rect">
            <a:avLst/>
          </a:prstGeom>
        </p:spPr>
      </p:pic>
      <p:sp>
        <p:nvSpPr>
          <p:cNvPr id="11" name="Rectangular Callout 10"/>
          <p:cNvSpPr/>
          <p:nvPr/>
        </p:nvSpPr>
        <p:spPr>
          <a:xfrm>
            <a:off x="216000" y="862368"/>
            <a:ext cx="2700000" cy="1080000"/>
          </a:xfrm>
          <a:prstGeom prst="wedgeRectCallout">
            <a:avLst>
              <a:gd name="adj1" fmla="val 66418"/>
              <a:gd name="adj2" fmla="val 100904"/>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1) I</a:t>
            </a:r>
            <a:r>
              <a:rPr lang="en-US" sz="1600" dirty="0" smtClean="0">
                <a:solidFill>
                  <a:schemeClr val="tx1"/>
                </a:solidFill>
                <a:latin typeface="Arial" panose="020B0604020202020204" pitchFamily="34" charset="0"/>
                <a:cs typeface="Arial" panose="020B0604020202020204" pitchFamily="34" charset="0"/>
              </a:rPr>
              <a:t>f our </a:t>
            </a:r>
            <a:r>
              <a:rPr lang="en-US" sz="1600" dirty="0">
                <a:solidFill>
                  <a:schemeClr val="tx1"/>
                </a:solidFill>
                <a:latin typeface="Arial" panose="020B0604020202020204" pitchFamily="34" charset="0"/>
                <a:cs typeface="Arial" panose="020B0604020202020204" pitchFamily="34" charset="0"/>
              </a:rPr>
              <a:t>intentions are </a:t>
            </a:r>
            <a:r>
              <a:rPr lang="en-US" sz="1600" dirty="0" smtClean="0">
                <a:solidFill>
                  <a:schemeClr val="tx1"/>
                </a:solidFill>
                <a:latin typeface="Arial" panose="020B0604020202020204" pitchFamily="34" charset="0"/>
                <a:cs typeface="Arial" panose="020B0604020202020204" pitchFamily="34" charset="0"/>
              </a:rPr>
              <a:t>NOT manifested in </a:t>
            </a:r>
            <a:r>
              <a:rPr lang="en-US" sz="1600" dirty="0">
                <a:solidFill>
                  <a:schemeClr val="tx1"/>
                </a:solidFill>
                <a:latin typeface="Arial" panose="020B0604020202020204" pitchFamily="34" charset="0"/>
                <a:cs typeface="Arial" panose="020B0604020202020204" pitchFamily="34" charset="0"/>
              </a:rPr>
              <a:t>our actions &amp; </a:t>
            </a:r>
            <a:r>
              <a:rPr lang="en-US" sz="1600" dirty="0" smtClean="0">
                <a:solidFill>
                  <a:schemeClr val="tx1"/>
                </a:solidFill>
                <a:latin typeface="Arial" panose="020B0604020202020204" pitchFamily="34" charset="0"/>
                <a:cs typeface="Arial" panose="020B0604020202020204" pitchFamily="34" charset="0"/>
              </a:rPr>
              <a:t>behaviours;</a:t>
            </a:r>
            <a:endParaRPr lang="en-US" sz="1600" dirty="0">
              <a:solidFill>
                <a:schemeClr val="tx1"/>
              </a:solidFill>
              <a:latin typeface="Arial" panose="020B0604020202020204" pitchFamily="34" charset="0"/>
              <a:cs typeface="Arial" panose="020B0604020202020204" pitchFamily="34" charset="0"/>
            </a:endParaRPr>
          </a:p>
        </p:txBody>
      </p:sp>
      <p:sp>
        <p:nvSpPr>
          <p:cNvPr id="12" name="Rectangular Callout 11"/>
          <p:cNvSpPr/>
          <p:nvPr/>
        </p:nvSpPr>
        <p:spPr>
          <a:xfrm>
            <a:off x="6120000" y="838200"/>
            <a:ext cx="2700000" cy="1080000"/>
          </a:xfrm>
          <a:prstGeom prst="wedgeRectCallout">
            <a:avLst>
              <a:gd name="adj1" fmla="val -99460"/>
              <a:gd name="adj2" fmla="val 74839"/>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2) </a:t>
            </a:r>
            <a:r>
              <a:rPr lang="en-US" sz="1600" dirty="0" smtClean="0">
                <a:solidFill>
                  <a:schemeClr val="tx1"/>
                </a:solidFill>
                <a:latin typeface="Arial" panose="020B0604020202020204" pitchFamily="34" charset="0"/>
                <a:cs typeface="Arial" panose="020B0604020202020204" pitchFamily="34" charset="0"/>
              </a:rPr>
              <a:t>Then people will see </a:t>
            </a:r>
            <a:r>
              <a:rPr lang="en-US" sz="1600" dirty="0">
                <a:solidFill>
                  <a:schemeClr val="tx1"/>
                </a:solidFill>
                <a:latin typeface="Arial" panose="020B0604020202020204" pitchFamily="34" charset="0"/>
                <a:cs typeface="Arial" panose="020B0604020202020204" pitchFamily="34" charset="0"/>
              </a:rPr>
              <a:t>you for what your actions and behaviours </a:t>
            </a:r>
            <a:r>
              <a:rPr lang="en-US" sz="1600" dirty="0" smtClean="0">
                <a:solidFill>
                  <a:schemeClr val="tx1"/>
                </a:solidFill>
                <a:latin typeface="Arial" panose="020B0604020202020204" pitchFamily="34" charset="0"/>
                <a:cs typeface="Arial" panose="020B0604020202020204" pitchFamily="34" charset="0"/>
              </a:rPr>
              <a:t>are, and NOT your intentions!</a:t>
            </a:r>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47159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494834" y="2948209"/>
            <a:ext cx="4242217" cy="3151499"/>
          </a:xfrm>
          <a:prstGeom prst="rect">
            <a:avLst/>
          </a:prstGeom>
        </p:spPr>
      </p:pic>
      <p:sp>
        <p:nvSpPr>
          <p:cNvPr id="5" name="Horizontal Scroll 4"/>
          <p:cNvSpPr/>
          <p:nvPr/>
        </p:nvSpPr>
        <p:spPr>
          <a:xfrm>
            <a:off x="216000" y="2052000"/>
            <a:ext cx="8568000" cy="863166"/>
          </a:xfrm>
          <a:prstGeom prst="horizontalScroll">
            <a:avLst/>
          </a:prstGeom>
          <a:solidFill>
            <a:srgbClr val="FFFF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lvl="0" algn="ctr"/>
            <a:r>
              <a:rPr lang="en-US" altLang="en-US" sz="2000" u="sng" dirty="0">
                <a:solidFill>
                  <a:srgbClr val="000000"/>
                </a:solidFill>
                <a:latin typeface="Arial" panose="020B0604020202020204" pitchFamily="34" charset="0"/>
                <a:cs typeface="Arial" panose="020B0604020202020204" pitchFamily="34" charset="0"/>
              </a:rPr>
              <a:t>“Treat others like you want to be treated</a:t>
            </a:r>
            <a:r>
              <a:rPr lang="en-US" altLang="en-US" sz="2000" u="sng" dirty="0" smtClean="0">
                <a:solidFill>
                  <a:srgbClr val="000000"/>
                </a:solidFill>
                <a:latin typeface="Arial" panose="020B0604020202020204" pitchFamily="34" charset="0"/>
                <a:cs typeface="Arial" panose="020B0604020202020204" pitchFamily="34" charset="0"/>
              </a:rPr>
              <a:t>.”</a:t>
            </a:r>
            <a:endParaRPr lang="en-US" sz="2000" dirty="0"/>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Our </a:t>
            </a:r>
            <a:r>
              <a:rPr lang="en-US" altLang="en-US" sz="2400" b="0" dirty="0">
                <a:solidFill>
                  <a:schemeClr val="accent2"/>
                </a:solidFill>
                <a:latin typeface="Arial" panose="020B0604020202020204" pitchFamily="34" charset="0"/>
                <a:ea typeface="+mj-ea"/>
                <a:cs typeface="Arial" panose="020B0604020202020204" pitchFamily="34" charset="0"/>
              </a:rPr>
              <a:t>“Personal Iceberg Model” and Effective Leadership: </a:t>
            </a:r>
          </a:p>
        </p:txBody>
      </p:sp>
      <p:sp>
        <p:nvSpPr>
          <p:cNvPr id="11"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lnSpc>
                <a:spcPct val="100000"/>
              </a:lnSpc>
              <a:spcBef>
                <a:spcPts val="0"/>
              </a:spcBef>
              <a:buClr>
                <a:srgbClr val="000000"/>
              </a:buClr>
              <a:buSzPct val="100000"/>
              <a:buNone/>
            </a:pPr>
            <a:r>
              <a:rPr lang="en-US" altLang="en-US" u="sng" dirty="0" smtClean="0">
                <a:solidFill>
                  <a:srgbClr val="000000"/>
                </a:solidFill>
                <a:latin typeface="Arial" panose="020B0604020202020204" pitchFamily="34" charset="0"/>
                <a:cs typeface="Arial" panose="020B0604020202020204" pitchFamily="34" charset="0"/>
              </a:rPr>
              <a:t>The </a:t>
            </a:r>
            <a:r>
              <a:rPr lang="en-US" altLang="en-US" u="sng" dirty="0">
                <a:solidFill>
                  <a:srgbClr val="000000"/>
                </a:solidFill>
                <a:latin typeface="Arial" panose="020B0604020202020204" pitchFamily="34" charset="0"/>
                <a:cs typeface="Arial" panose="020B0604020202020204" pitchFamily="34" charset="0"/>
              </a:rPr>
              <a:t>Golden Rule</a:t>
            </a:r>
            <a:r>
              <a:rPr lang="en-US" altLang="en-US" dirty="0">
                <a:solidFill>
                  <a:srgbClr val="000000"/>
                </a:solidFill>
                <a:latin typeface="Arial" panose="020B0604020202020204" pitchFamily="34" charset="0"/>
                <a:cs typeface="Arial" panose="020B0604020202020204" pitchFamily="34" charset="0"/>
              </a:rPr>
              <a:t> for all relationships:</a:t>
            </a:r>
          </a:p>
          <a:p>
            <a:pPr marL="360000" lvl="0" indent="-36000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cs typeface="Arial" panose="020B0604020202020204" pitchFamily="34" charset="0"/>
              </a:rPr>
              <a:t>Dignity, respect, and integrity in your interactions with your </a:t>
            </a:r>
            <a:r>
              <a:rPr lang="en-US" altLang="en-US" b="0" u="sng" dirty="0">
                <a:solidFill>
                  <a:srgbClr val="000000"/>
                </a:solidFill>
                <a:latin typeface="Arial" panose="020B0604020202020204" pitchFamily="34" charset="0"/>
                <a:cs typeface="Arial" panose="020B0604020202020204" pitchFamily="34" charset="0"/>
              </a:rPr>
              <a:t>supervisors</a:t>
            </a:r>
            <a:r>
              <a:rPr lang="en-US" altLang="en-US" b="0" dirty="0">
                <a:solidFill>
                  <a:srgbClr val="000000"/>
                </a:solidFill>
                <a:latin typeface="Arial" panose="020B0604020202020204" pitchFamily="34" charset="0"/>
                <a:cs typeface="Arial" panose="020B0604020202020204" pitchFamily="34" charset="0"/>
              </a:rPr>
              <a:t>, </a:t>
            </a:r>
            <a:r>
              <a:rPr lang="en-US" altLang="en-US" b="0" u="sng" dirty="0">
                <a:solidFill>
                  <a:srgbClr val="000000"/>
                </a:solidFill>
                <a:latin typeface="Arial" panose="020B0604020202020204" pitchFamily="34" charset="0"/>
                <a:cs typeface="Arial" panose="020B0604020202020204" pitchFamily="34" charset="0"/>
              </a:rPr>
              <a:t>peers</a:t>
            </a:r>
            <a:r>
              <a:rPr lang="en-US" altLang="en-US" b="0" dirty="0">
                <a:solidFill>
                  <a:srgbClr val="000000"/>
                </a:solidFill>
                <a:latin typeface="Arial" panose="020B0604020202020204" pitchFamily="34" charset="0"/>
                <a:cs typeface="Arial" panose="020B0604020202020204" pitchFamily="34" charset="0"/>
              </a:rPr>
              <a:t>, and </a:t>
            </a:r>
            <a:r>
              <a:rPr lang="en-US" altLang="en-US" b="0" u="sng" dirty="0">
                <a:solidFill>
                  <a:srgbClr val="000000"/>
                </a:solidFill>
                <a:latin typeface="Arial" panose="020B0604020202020204" pitchFamily="34" charset="0"/>
                <a:cs typeface="Arial" panose="020B0604020202020204" pitchFamily="34" charset="0"/>
              </a:rPr>
              <a:t>subordinates</a:t>
            </a:r>
            <a:r>
              <a:rPr lang="en-US" altLang="en-US" b="0" dirty="0">
                <a:solidFill>
                  <a:srgbClr val="000000"/>
                </a:solidFill>
                <a:latin typeface="Arial" panose="020B0604020202020204" pitchFamily="34" charset="0"/>
                <a:cs typeface="Arial" panose="020B0604020202020204" pitchFamily="34" charset="0"/>
              </a:rPr>
              <a:t> are essential for building and maintaining effective relationships.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pic>
        <p:nvPicPr>
          <p:cNvPr id="2" name="Picture 1"/>
          <p:cNvPicPr>
            <a:picLocks noChangeAspect="1"/>
          </p:cNvPicPr>
          <p:nvPr/>
        </p:nvPicPr>
        <p:blipFill>
          <a:blip r:embed="rId4"/>
          <a:stretch>
            <a:fillRect/>
          </a:stretch>
        </p:blipFill>
        <p:spPr>
          <a:xfrm>
            <a:off x="457200" y="3437549"/>
            <a:ext cx="3423141" cy="2172818"/>
          </a:xfrm>
          <a:prstGeom prst="rect">
            <a:avLst/>
          </a:prstGeom>
        </p:spPr>
      </p:pic>
    </p:spTree>
    <p:extLst>
      <p:ext uri="{BB962C8B-B14F-4D97-AF65-F5344CB8AC3E}">
        <p14:creationId xmlns:p14="http://schemas.microsoft.com/office/powerpoint/2010/main" val="9700081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Personal Iceberg discussions,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are who we are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result of the values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attitudes, and so on) that we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have developed early in our lives, and as we purposefully change our values as we grow, adapt, and mature.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values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become the basis for how we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prioritize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we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decisions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we do work around here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Depending on our period of life experience, these values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other  dimensions)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may be influenced very differently, and they share prevailing paradigms in society and the workplace.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What are Values? What are Your Values?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2474949002"/>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lnSpc>
                <a:spcPct val="100000"/>
              </a:lnSpc>
              <a:spcBef>
                <a:spcPts val="0"/>
              </a:spcBef>
              <a:buClr>
                <a:srgbClr val="000000"/>
              </a:buClr>
              <a:buSzPct val="100000"/>
              <a:buNone/>
            </a:pPr>
            <a:r>
              <a:rPr lang="en-CA" altLang="en-US" dirty="0" smtClean="0">
                <a:solidFill>
                  <a:srgbClr val="000000"/>
                </a:solidFill>
                <a:latin typeface="Arial" panose="020B0604020202020204" pitchFamily="34" charset="0"/>
                <a:cs typeface="Arial" panose="020B0604020202020204" pitchFamily="34" charset="0"/>
              </a:rPr>
              <a:t>Values:</a:t>
            </a:r>
          </a:p>
          <a:p>
            <a:pPr marL="0" lvl="0" indent="0">
              <a:lnSpc>
                <a:spcPct val="100000"/>
              </a:lnSpc>
              <a:spcBef>
                <a:spcPts val="0"/>
              </a:spcBef>
              <a:buClr>
                <a:srgbClr val="000000"/>
              </a:buClr>
              <a:buSzPct val="100000"/>
              <a:buNone/>
            </a:pPr>
            <a:r>
              <a:rPr lang="en-CA" altLang="en-US" sz="2000" dirty="0" smtClean="0">
                <a:solidFill>
                  <a:srgbClr val="000000"/>
                </a:solidFill>
                <a:latin typeface="Arial" panose="020B0604020202020204" pitchFamily="34" charset="0"/>
                <a:cs typeface="Arial" panose="020B0604020202020204" pitchFamily="34" charset="0"/>
              </a:rPr>
              <a:t>1) </a:t>
            </a:r>
            <a:r>
              <a:rPr lang="en-US" altLang="en-US" sz="2000" dirty="0" smtClean="0">
                <a:solidFill>
                  <a:srgbClr val="000000"/>
                </a:solidFill>
                <a:latin typeface="Arial" panose="020B0604020202020204" pitchFamily="34" charset="0"/>
                <a:cs typeface="Arial" panose="020B0604020202020204" pitchFamily="34" charset="0"/>
              </a:rPr>
              <a:t>Determine </a:t>
            </a:r>
            <a:r>
              <a:rPr lang="en-US" altLang="en-US" sz="2000" dirty="0">
                <a:solidFill>
                  <a:srgbClr val="000000"/>
                </a:solidFill>
                <a:latin typeface="Arial" panose="020B0604020202020204" pitchFamily="34" charset="0"/>
                <a:cs typeface="Arial" panose="020B0604020202020204" pitchFamily="34" charset="0"/>
              </a:rPr>
              <a:t>or set your priorities </a:t>
            </a:r>
            <a:r>
              <a:rPr lang="en-CA" altLang="en-US" sz="2000" dirty="0">
                <a:solidFill>
                  <a:srgbClr val="000000"/>
                </a:solidFill>
                <a:latin typeface="Arial" panose="020B0604020202020204" pitchFamily="34" charset="0"/>
                <a:cs typeface="Arial" panose="020B0604020202020204" pitchFamily="34" charset="0"/>
              </a:rPr>
              <a:t>… </a:t>
            </a:r>
            <a:endParaRPr lang="en-CA" altLang="en-US" sz="2000" dirty="0" smtClean="0">
              <a:solidFill>
                <a:srgbClr val="000000"/>
              </a:solidFill>
              <a:latin typeface="Arial" panose="020B0604020202020204" pitchFamily="34" charset="0"/>
              <a:cs typeface="Arial" panose="020B0604020202020204" pitchFamily="34" charset="0"/>
            </a:endParaRPr>
          </a:p>
          <a:p>
            <a:pPr marL="0" lvl="0" indent="0">
              <a:lnSpc>
                <a:spcPct val="100000"/>
              </a:lnSpc>
              <a:spcBef>
                <a:spcPts val="0"/>
              </a:spcBef>
              <a:buClr>
                <a:srgbClr val="000000"/>
              </a:buClr>
              <a:buSzPct val="100000"/>
              <a:buNone/>
            </a:pPr>
            <a:r>
              <a:rPr lang="en-CA" altLang="en-US" dirty="0" smtClean="0">
                <a:solidFill>
                  <a:srgbClr val="000000"/>
                </a:solidFill>
                <a:latin typeface="Arial" panose="020B0604020202020204" pitchFamily="34" charset="0"/>
                <a:cs typeface="Arial" panose="020B0604020202020204" pitchFamily="34" charset="0"/>
              </a:rPr>
              <a:t>2) </a:t>
            </a:r>
            <a:r>
              <a:rPr lang="en-CA" altLang="en-US" sz="2000" dirty="0" smtClean="0">
                <a:solidFill>
                  <a:srgbClr val="000000"/>
                </a:solidFill>
                <a:latin typeface="Arial" panose="020B0604020202020204" pitchFamily="34" charset="0"/>
                <a:cs typeface="Arial" panose="020B0604020202020204" pitchFamily="34" charset="0"/>
              </a:rPr>
              <a:t>Are </a:t>
            </a:r>
            <a:r>
              <a:rPr lang="en-CA" altLang="en-US" sz="2000" dirty="0">
                <a:solidFill>
                  <a:srgbClr val="000000"/>
                </a:solidFill>
                <a:latin typeface="Arial" panose="020B0604020202020204" pitchFamily="34" charset="0"/>
                <a:cs typeface="Arial" panose="020B0604020202020204" pitchFamily="34" charset="0"/>
              </a:rPr>
              <a:t>the basis on which </a:t>
            </a:r>
            <a:r>
              <a:rPr lang="en-CA" altLang="en-US" sz="2000" dirty="0" smtClean="0">
                <a:solidFill>
                  <a:srgbClr val="000000"/>
                </a:solidFill>
                <a:latin typeface="Arial" panose="020B0604020202020204" pitchFamily="34" charset="0"/>
                <a:cs typeface="Arial" panose="020B0604020202020204" pitchFamily="34" charset="0"/>
              </a:rPr>
              <a:t>you </a:t>
            </a:r>
            <a:r>
              <a:rPr lang="en-CA" altLang="en-US" sz="2000" dirty="0">
                <a:solidFill>
                  <a:srgbClr val="000000"/>
                </a:solidFill>
                <a:latin typeface="Arial" panose="020B0604020202020204" pitchFamily="34" charset="0"/>
                <a:cs typeface="Arial" panose="020B0604020202020204" pitchFamily="34" charset="0"/>
              </a:rPr>
              <a:t>make decisions </a:t>
            </a:r>
            <a:r>
              <a:rPr lang="en-CA" altLang="en-US" sz="2000" dirty="0" smtClean="0">
                <a:solidFill>
                  <a:srgbClr val="000000"/>
                </a:solidFill>
                <a:latin typeface="Arial" panose="020B0604020202020204" pitchFamily="34" charset="0"/>
                <a:cs typeface="Arial" panose="020B0604020202020204" pitchFamily="34" charset="0"/>
              </a:rPr>
              <a:t>…</a:t>
            </a:r>
          </a:p>
          <a:p>
            <a:pPr marL="0" lvl="0" indent="0">
              <a:lnSpc>
                <a:spcPct val="100000"/>
              </a:lnSpc>
              <a:spcBef>
                <a:spcPts val="0"/>
              </a:spcBef>
              <a:buClr>
                <a:srgbClr val="000000"/>
              </a:buClr>
              <a:buSzPct val="100000"/>
              <a:buNone/>
            </a:pPr>
            <a:endParaRPr lang="en-CA" altLang="en-US" b="0" dirty="0">
              <a:solidFill>
                <a:srgbClr val="000000"/>
              </a:solidFill>
              <a:latin typeface="Arial" panose="020B0604020202020204" pitchFamily="34" charset="0"/>
              <a:cs typeface="Arial" panose="020B0604020202020204" pitchFamily="34" charset="0"/>
            </a:endParaRPr>
          </a:p>
          <a:p>
            <a:pPr marL="0" lvl="0" indent="0">
              <a:lnSpc>
                <a:spcPct val="100000"/>
              </a:lnSpc>
              <a:spcBef>
                <a:spcPts val="0"/>
              </a:spcBef>
              <a:buClr>
                <a:srgbClr val="000000"/>
              </a:buClr>
              <a:buSzPct val="100000"/>
              <a:buNone/>
            </a:pPr>
            <a:r>
              <a:rPr lang="en-CA" altLang="en-US" sz="2000" b="0" dirty="0" smtClean="0">
                <a:solidFill>
                  <a:srgbClr val="000000"/>
                </a:solidFill>
                <a:latin typeface="Arial" panose="020B0604020202020204" pitchFamily="34" charset="0"/>
                <a:cs typeface="Arial" panose="020B0604020202020204" pitchFamily="34" charset="0"/>
              </a:rPr>
              <a:t>The </a:t>
            </a:r>
            <a:r>
              <a:rPr lang="en-CA" altLang="en-US" sz="2000" b="0" dirty="0">
                <a:solidFill>
                  <a:srgbClr val="000000"/>
                </a:solidFill>
                <a:latin typeface="Arial" panose="020B0604020202020204" pitchFamily="34" charset="0"/>
                <a:cs typeface="Arial" panose="020B0604020202020204" pitchFamily="34" charset="0"/>
              </a:rPr>
              <a:t>discussion about </a:t>
            </a:r>
            <a:r>
              <a:rPr lang="en-CA" altLang="en-US" sz="2000" b="0" dirty="0" smtClean="0">
                <a:solidFill>
                  <a:srgbClr val="000000"/>
                </a:solidFill>
                <a:latin typeface="Arial" panose="020B0604020202020204" pitchFamily="34" charset="0"/>
                <a:cs typeface="Arial" panose="020B0604020202020204" pitchFamily="34" charset="0"/>
              </a:rPr>
              <a:t/>
            </a:r>
            <a:br>
              <a:rPr lang="en-CA" altLang="en-US" sz="2000" b="0" dirty="0" smtClean="0">
                <a:solidFill>
                  <a:srgbClr val="000000"/>
                </a:solidFill>
                <a:latin typeface="Arial" panose="020B0604020202020204" pitchFamily="34" charset="0"/>
                <a:cs typeface="Arial" panose="020B0604020202020204" pitchFamily="34" charset="0"/>
              </a:rPr>
            </a:br>
            <a:r>
              <a:rPr lang="en-CA" altLang="en-US" sz="2000" b="0" dirty="0" smtClean="0">
                <a:solidFill>
                  <a:srgbClr val="000000"/>
                </a:solidFill>
                <a:latin typeface="Arial" panose="020B0604020202020204" pitchFamily="34" charset="0"/>
                <a:cs typeface="Arial" panose="020B0604020202020204" pitchFamily="34" charset="0"/>
              </a:rPr>
              <a:t>two </a:t>
            </a:r>
            <a:r>
              <a:rPr lang="en-CA" altLang="en-US" sz="2000" b="0" dirty="0">
                <a:solidFill>
                  <a:srgbClr val="000000"/>
                </a:solidFill>
                <a:latin typeface="Arial" panose="020B0604020202020204" pitchFamily="34" charset="0"/>
                <a:cs typeface="Arial" panose="020B0604020202020204" pitchFamily="34" charset="0"/>
              </a:rPr>
              <a:t>study </a:t>
            </a:r>
            <a:r>
              <a:rPr lang="en-CA" altLang="en-US" sz="2000" b="0" dirty="0" smtClean="0">
                <a:solidFill>
                  <a:srgbClr val="000000"/>
                </a:solidFill>
                <a:latin typeface="Arial" panose="020B0604020202020204" pitchFamily="34" charset="0"/>
                <a:cs typeface="Arial" panose="020B0604020202020204" pitchFamily="34" charset="0"/>
              </a:rPr>
              <a:t>groups:</a:t>
            </a: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Values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left </a:t>
            </a: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vs.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t>
            </a: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hose of the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right?</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discussion about the Professor </a:t>
            </a: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walking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through the ETLC and finding </a:t>
            </a:r>
            <a:b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$5 bill on </a:t>
            </a:r>
            <a:r>
              <a:rPr lang="en-CA" altLang="en-US" sz="2000" b="0" dirty="0">
                <a:solidFill>
                  <a:srgbClr val="000000"/>
                </a:solidFill>
                <a:latin typeface="Arial" panose="020B0604020202020204" pitchFamily="34" charset="0"/>
                <a:cs typeface="Arial" panose="020B0604020202020204" pitchFamily="34" charset="0"/>
              </a:rPr>
              <a:t>the floor?</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What are Values? What are Your Values?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pic>
        <p:nvPicPr>
          <p:cNvPr id="6" name="Picture 5"/>
          <p:cNvPicPr>
            <a:picLocks noChangeAspect="1"/>
          </p:cNvPicPr>
          <p:nvPr/>
        </p:nvPicPr>
        <p:blipFill>
          <a:blip r:embed="rId3"/>
          <a:stretch>
            <a:fillRect/>
          </a:stretch>
        </p:blipFill>
        <p:spPr>
          <a:xfrm>
            <a:off x="3048000" y="1764687"/>
            <a:ext cx="5772000" cy="2800370"/>
          </a:xfrm>
          <a:prstGeom prst="rect">
            <a:avLst/>
          </a:prstGeom>
          <a:noFill/>
        </p:spPr>
      </p:pic>
      <p:pic>
        <p:nvPicPr>
          <p:cNvPr id="7" name="Picture 6" descr="New Canadian $5 celebrates the space programme - Boing Boi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99999" y="5105401"/>
            <a:ext cx="2292217" cy="1050600"/>
          </a:xfrm>
          <a:prstGeom prst="rect">
            <a:avLst/>
          </a:prstGeom>
        </p:spPr>
      </p:pic>
    </p:spTree>
    <p:extLst>
      <p:ext uri="{BB962C8B-B14F-4D97-AF65-F5344CB8AC3E}">
        <p14:creationId xmlns:p14="http://schemas.microsoft.com/office/powerpoint/2010/main" val="17242059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ChangeArrowheads="1"/>
          </p:cNvSpPr>
          <p:nvPr/>
        </p:nvSpPr>
        <p:spPr bwMode="auto">
          <a:xfrm>
            <a:off x="180000" y="828000"/>
            <a:ext cx="8640000" cy="5328000"/>
          </a:xfrm>
          <a:prstGeom prst="rect">
            <a:avLst/>
          </a:prstGeom>
          <a:solidFill>
            <a:srgbClr val="0000FF"/>
          </a:solidFill>
          <a:ln w="9525">
            <a:solidFill>
              <a:schemeClr val="tx1"/>
            </a:solidFill>
            <a:miter lim="800000"/>
            <a:headEnd/>
            <a:tailEnd/>
          </a:ln>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indent="0">
              <a:spcBef>
                <a:spcPts val="0"/>
              </a:spcBef>
              <a:buClr>
                <a:srgbClr val="000000"/>
              </a:buClr>
              <a:buSzPct val="100000"/>
              <a:buNone/>
            </a:pPr>
            <a:endParaRPr lang="en-US" altLang="en-US" sz="1800" b="0" dirty="0" smtClean="0">
              <a:solidFill>
                <a:schemeClr val="bg1"/>
              </a:solidFill>
              <a:latin typeface="Arial" panose="020B0604020202020204" pitchFamily="34" charset="0"/>
              <a:cs typeface="Arial" panose="020B0604020202020204" pitchFamily="34" charset="0"/>
            </a:endParaRPr>
          </a:p>
          <a:p>
            <a:pPr marL="0" indent="0">
              <a:spcBef>
                <a:spcPts val="0"/>
              </a:spcBef>
              <a:buClr>
                <a:srgbClr val="000000"/>
              </a:buClr>
              <a:buSzPct val="100000"/>
              <a:buNone/>
            </a:pPr>
            <a:r>
              <a:rPr lang="en-US" altLang="en-US" sz="1800" dirty="0" smtClean="0">
                <a:solidFill>
                  <a:schemeClr val="bg1"/>
                </a:solidFill>
                <a:latin typeface="Arial" panose="020B0604020202020204" pitchFamily="34" charset="0"/>
                <a:cs typeface="Arial" panose="020B0604020202020204" pitchFamily="34" charset="0"/>
              </a:rPr>
              <a:t>Open discussion</a:t>
            </a:r>
            <a:r>
              <a:rPr lang="en-US" altLang="en-US" sz="1800" dirty="0" smtClean="0">
                <a:solidFill>
                  <a:schemeClr val="bg1"/>
                </a:solidFill>
                <a:latin typeface="Arial" panose="020B0604020202020204" pitchFamily="34" charset="0"/>
                <a:cs typeface="Arial" panose="020B0604020202020204" pitchFamily="34" charset="0"/>
              </a:rPr>
              <a:t>: The $5 </a:t>
            </a:r>
            <a:r>
              <a:rPr lang="en-US" altLang="en-US" sz="1800" dirty="0">
                <a:solidFill>
                  <a:schemeClr val="bg1"/>
                </a:solidFill>
                <a:latin typeface="Arial" panose="020B0604020202020204" pitchFamily="34" charset="0"/>
                <a:cs typeface="Arial" panose="020B0604020202020204" pitchFamily="34" charset="0"/>
              </a:rPr>
              <a:t>bill and </a:t>
            </a:r>
            <a:r>
              <a:rPr lang="en-US" altLang="en-US" sz="1800" dirty="0" smtClean="0">
                <a:solidFill>
                  <a:schemeClr val="bg1"/>
                </a:solidFill>
                <a:latin typeface="Arial" panose="020B0604020202020204" pitchFamily="34" charset="0"/>
                <a:cs typeface="Arial" panose="020B0604020202020204" pitchFamily="34" charset="0"/>
              </a:rPr>
              <a:t>two </a:t>
            </a:r>
            <a:r>
              <a:rPr lang="en-US" altLang="en-US" sz="1800" dirty="0">
                <a:solidFill>
                  <a:schemeClr val="bg1"/>
                </a:solidFill>
                <a:latin typeface="Arial" panose="020B0604020202020204" pitchFamily="34" charset="0"/>
                <a:cs typeface="Arial" panose="020B0604020202020204" pitchFamily="34" charset="0"/>
              </a:rPr>
              <a:t>scenarios:</a:t>
            </a:r>
          </a:p>
          <a:p>
            <a:pPr marL="0" indent="0">
              <a:spcBef>
                <a:spcPts val="0"/>
              </a:spcBef>
              <a:buClr>
                <a:srgbClr val="000000"/>
              </a:buClr>
              <a:buSzPct val="100000"/>
              <a:buNone/>
            </a:pPr>
            <a:endParaRPr lang="en-US" altLang="en-US" sz="1800" b="0" dirty="0" smtClean="0">
              <a:solidFill>
                <a:schemeClr val="bg1"/>
              </a:solidFill>
              <a:latin typeface="Arial" panose="020B0604020202020204" pitchFamily="34" charset="0"/>
              <a:cs typeface="Arial" panose="020B0604020202020204" pitchFamily="34" charset="0"/>
            </a:endParaRPr>
          </a:p>
          <a:p>
            <a:pPr marL="0" indent="0">
              <a:spcBef>
                <a:spcPts val="0"/>
              </a:spcBef>
              <a:buClr>
                <a:srgbClr val="000000"/>
              </a:buClr>
              <a:buSzPct val="100000"/>
              <a:buNone/>
            </a:pPr>
            <a:r>
              <a:rPr lang="en-US" altLang="en-US" sz="1800" dirty="0" smtClean="0">
                <a:solidFill>
                  <a:schemeClr val="bg1"/>
                </a:solidFill>
                <a:latin typeface="Arial" panose="020B0604020202020204" pitchFamily="34" charset="0"/>
                <a:cs typeface="Arial" panose="020B0604020202020204" pitchFamily="34" charset="0"/>
              </a:rPr>
              <a:t>Scenario </a:t>
            </a:r>
            <a:r>
              <a:rPr lang="en-US" altLang="en-US" sz="1800" dirty="0">
                <a:solidFill>
                  <a:schemeClr val="bg1"/>
                </a:solidFill>
                <a:latin typeface="Arial" panose="020B0604020202020204" pitchFamily="34" charset="0"/>
                <a:cs typeface="Arial" panose="020B0604020202020204" pitchFamily="34" charset="0"/>
              </a:rPr>
              <a:t>1) </a:t>
            </a:r>
            <a:r>
              <a:rPr lang="en-US" altLang="en-US" sz="1800" b="0" dirty="0">
                <a:solidFill>
                  <a:schemeClr val="bg1"/>
                </a:solidFill>
                <a:latin typeface="Arial" panose="020B0604020202020204" pitchFamily="34" charset="0"/>
                <a:cs typeface="Arial" panose="020B0604020202020204" pitchFamily="34" charset="0"/>
              </a:rPr>
              <a:t>The professor is walking through the empty Food Court early in the morning and sees a $5 on the floor. What does the professor do? </a:t>
            </a:r>
            <a:r>
              <a:rPr lang="en-US" altLang="en-US" sz="1800" b="0" dirty="0" smtClean="0">
                <a:solidFill>
                  <a:schemeClr val="bg1"/>
                </a:solidFill>
                <a:latin typeface="Arial" panose="020B0604020202020204" pitchFamily="34" charset="0"/>
                <a:cs typeface="Arial" panose="020B0604020202020204" pitchFamily="34" charset="0"/>
              </a:rPr>
              <a:t>On what value(s</a:t>
            </a:r>
            <a:r>
              <a:rPr lang="en-US" altLang="en-US" sz="1800" b="0" dirty="0">
                <a:solidFill>
                  <a:schemeClr val="bg1"/>
                </a:solidFill>
                <a:latin typeface="Arial" panose="020B0604020202020204" pitchFamily="34" charset="0"/>
                <a:cs typeface="Arial" panose="020B0604020202020204" pitchFamily="34" charset="0"/>
              </a:rPr>
              <a:t>) </a:t>
            </a:r>
            <a:r>
              <a:rPr lang="en-US" altLang="en-US" sz="1800" b="0" dirty="0" smtClean="0">
                <a:solidFill>
                  <a:schemeClr val="bg1"/>
                </a:solidFill>
                <a:latin typeface="Arial" panose="020B0604020202020204" pitchFamily="34" charset="0"/>
                <a:cs typeface="Arial" panose="020B0604020202020204" pitchFamily="34" charset="0"/>
              </a:rPr>
              <a:t>are each of these choices based? </a:t>
            </a:r>
          </a:p>
          <a:p>
            <a:pPr marL="0" indent="0">
              <a:spcBef>
                <a:spcPts val="0"/>
              </a:spcBef>
              <a:buClr>
                <a:srgbClr val="000000"/>
              </a:buClr>
              <a:buSzPct val="100000"/>
              <a:buNone/>
            </a:pPr>
            <a:endParaRPr lang="en-US" altLang="en-US" sz="1800" b="0" dirty="0" smtClean="0">
              <a:solidFill>
                <a:srgbClr val="FF0000"/>
              </a:solidFill>
              <a:latin typeface="Arial" panose="020B0604020202020204" pitchFamily="34" charset="0"/>
              <a:cs typeface="Arial" panose="020B0604020202020204" pitchFamily="34" charset="0"/>
            </a:endParaRPr>
          </a:p>
          <a:p>
            <a:pPr marL="0" indent="0">
              <a:spcBef>
                <a:spcPts val="0"/>
              </a:spcBef>
              <a:buClr>
                <a:srgbClr val="000000"/>
              </a:buClr>
              <a:buSzPct val="100000"/>
              <a:buNone/>
            </a:pPr>
            <a:endParaRPr lang="en-US" altLang="en-US" sz="1800" b="0" dirty="0">
              <a:solidFill>
                <a:srgbClr val="FF0000"/>
              </a:solidFill>
              <a:latin typeface="Arial" panose="020B0604020202020204" pitchFamily="34" charset="0"/>
              <a:cs typeface="Arial" panose="020B0604020202020204" pitchFamily="34" charset="0"/>
            </a:endParaRPr>
          </a:p>
          <a:p>
            <a:pPr marL="0" indent="0">
              <a:spcBef>
                <a:spcPts val="0"/>
              </a:spcBef>
              <a:buClr>
                <a:srgbClr val="000000"/>
              </a:buClr>
              <a:buSzPct val="100000"/>
              <a:buNone/>
            </a:pPr>
            <a:endParaRPr lang="en-US" altLang="en-US" sz="1800" b="0" dirty="0" smtClean="0">
              <a:solidFill>
                <a:srgbClr val="FF0000"/>
              </a:solidFill>
              <a:latin typeface="Arial" panose="020B0604020202020204" pitchFamily="34" charset="0"/>
              <a:cs typeface="Arial" panose="020B0604020202020204" pitchFamily="34" charset="0"/>
            </a:endParaRPr>
          </a:p>
          <a:p>
            <a:pPr marL="0" indent="0">
              <a:spcBef>
                <a:spcPts val="0"/>
              </a:spcBef>
              <a:buClr>
                <a:srgbClr val="000000"/>
              </a:buClr>
              <a:buSzPct val="100000"/>
              <a:buNone/>
            </a:pPr>
            <a:endParaRPr lang="en-US" altLang="en-US" sz="1800" b="0" dirty="0" smtClean="0">
              <a:solidFill>
                <a:srgbClr val="FF0000"/>
              </a:solidFill>
              <a:latin typeface="Arial" panose="020B0604020202020204" pitchFamily="34" charset="0"/>
              <a:cs typeface="Arial" panose="020B0604020202020204" pitchFamily="34" charset="0"/>
            </a:endParaRPr>
          </a:p>
          <a:p>
            <a:pPr marL="0" indent="0">
              <a:spcBef>
                <a:spcPts val="0"/>
              </a:spcBef>
              <a:buClr>
                <a:srgbClr val="000000"/>
              </a:buClr>
              <a:buSzPct val="100000"/>
              <a:buNone/>
            </a:pPr>
            <a:endParaRPr lang="en-US" altLang="en-US" sz="1800" b="0" dirty="0" smtClean="0">
              <a:solidFill>
                <a:srgbClr val="FF0000"/>
              </a:solidFill>
              <a:latin typeface="Arial" panose="020B0604020202020204" pitchFamily="34" charset="0"/>
              <a:cs typeface="Arial" panose="020B0604020202020204" pitchFamily="34" charset="0"/>
            </a:endParaRPr>
          </a:p>
          <a:p>
            <a:pPr marL="0" indent="0">
              <a:spcBef>
                <a:spcPts val="0"/>
              </a:spcBef>
              <a:buClr>
                <a:srgbClr val="000000"/>
              </a:buClr>
              <a:buSzPct val="100000"/>
              <a:buNone/>
            </a:pPr>
            <a:r>
              <a:rPr lang="en-US" altLang="en-US" sz="1800" dirty="0" smtClean="0">
                <a:solidFill>
                  <a:schemeClr val="bg1"/>
                </a:solidFill>
                <a:latin typeface="Arial" panose="020B0604020202020204" pitchFamily="34" charset="0"/>
                <a:cs typeface="Arial" panose="020B0604020202020204" pitchFamily="34" charset="0"/>
              </a:rPr>
              <a:t>Scenario </a:t>
            </a:r>
            <a:r>
              <a:rPr lang="en-US" altLang="en-US" sz="1800" dirty="0">
                <a:solidFill>
                  <a:schemeClr val="bg1"/>
                </a:solidFill>
                <a:latin typeface="Arial" panose="020B0604020202020204" pitchFamily="34" charset="0"/>
                <a:cs typeface="Arial" panose="020B0604020202020204" pitchFamily="34" charset="0"/>
              </a:rPr>
              <a:t>2) </a:t>
            </a:r>
            <a:r>
              <a:rPr lang="en-US" altLang="en-US" sz="1800" b="0" dirty="0">
                <a:solidFill>
                  <a:schemeClr val="bg1"/>
                </a:solidFill>
                <a:latin typeface="Arial" panose="020B0604020202020204" pitchFamily="34" charset="0"/>
                <a:cs typeface="Arial" panose="020B0604020202020204" pitchFamily="34" charset="0"/>
              </a:rPr>
              <a:t>The professor is walking through the busy Food Court. The professor observes a student pull out their cell-phone from their pocket, and unbeknownst to the student, a $5 bill falls onto the floor. What does the professor do? What choices does the professor have? </a:t>
            </a:r>
            <a:r>
              <a:rPr lang="en-US" altLang="en-US" sz="1800" b="0" dirty="0" smtClean="0">
                <a:solidFill>
                  <a:schemeClr val="bg1"/>
                </a:solidFill>
                <a:latin typeface="Arial" panose="020B0604020202020204" pitchFamily="34" charset="0"/>
                <a:cs typeface="Arial" panose="020B0604020202020204" pitchFamily="34" charset="0"/>
              </a:rPr>
              <a:t>On </a:t>
            </a:r>
            <a:r>
              <a:rPr lang="en-US" altLang="en-US" sz="1800" b="0" dirty="0">
                <a:solidFill>
                  <a:schemeClr val="bg1"/>
                </a:solidFill>
                <a:latin typeface="Arial" panose="020B0604020202020204" pitchFamily="34" charset="0"/>
                <a:cs typeface="Arial" panose="020B0604020202020204" pitchFamily="34" charset="0"/>
              </a:rPr>
              <a:t>what values are each of these choices based? </a:t>
            </a:r>
            <a:endParaRPr lang="en-US" altLang="en-US" sz="1800" b="0" i="1" dirty="0" smtClean="0">
              <a:solidFill>
                <a:schemeClr val="bg1"/>
              </a:solidFill>
              <a:latin typeface="Arial" panose="020B0604020202020204" pitchFamily="34" charset="0"/>
              <a:cs typeface="Arial" panose="020B0604020202020204" pitchFamily="34" charset="0"/>
            </a:endParaRPr>
          </a:p>
        </p:txBody>
      </p:sp>
      <p:sp>
        <p:nvSpPr>
          <p:cNvPr id="6" name="Rectangle 2"/>
          <p:cNvSpPr>
            <a:spLocks noChangeArrowheads="1"/>
          </p:cNvSpPr>
          <p:nvPr/>
        </p:nvSpPr>
        <p:spPr bwMode="auto">
          <a:xfrm>
            <a:off x="180000" y="180000"/>
            <a:ext cx="8640000" cy="504000"/>
          </a:xfrm>
          <a:prstGeom prst="rect">
            <a:avLst/>
          </a:prstGeom>
          <a:solidFill>
            <a:srgbClr val="0000FF"/>
          </a:solidFill>
          <a:ln>
            <a:solidFill>
              <a:srgbClr val="000000"/>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#2: What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are Your Values</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8" name="Picture 7" descr="New Canadian $5 celebrates the space programme - Boing Bo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8964" y="76201"/>
            <a:ext cx="3158836" cy="1447800"/>
          </a:xfrm>
          <a:prstGeom prst="rect">
            <a:avLst/>
          </a:prstGeom>
        </p:spPr>
      </p:pic>
      <p:sp>
        <p:nvSpPr>
          <p:cNvPr id="9"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1496055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ChangeArrowheads="1"/>
          </p:cNvSpPr>
          <p:nvPr/>
        </p:nvSpPr>
        <p:spPr bwMode="auto">
          <a:xfrm>
            <a:off x="180000" y="828000"/>
            <a:ext cx="8640000" cy="5328000"/>
          </a:xfrm>
          <a:prstGeom prst="rect">
            <a:avLst/>
          </a:prstGeom>
          <a:solidFill>
            <a:srgbClr val="000000"/>
          </a:solidFill>
          <a:ln w="9525">
            <a:solidFill>
              <a:schemeClr val="tx1"/>
            </a:solidFill>
            <a:miter lim="800000"/>
            <a:headEnd/>
            <a:tailEnd/>
          </a:ln>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indent="0">
              <a:spcBef>
                <a:spcPts val="0"/>
              </a:spcBef>
              <a:buClr>
                <a:srgbClr val="000000"/>
              </a:buClr>
              <a:buSzPct val="100000"/>
              <a:buNone/>
            </a:pPr>
            <a:endParaRPr lang="en-US" altLang="en-US" sz="1800" dirty="0" smtClean="0">
              <a:solidFill>
                <a:schemeClr val="bg1"/>
              </a:solidFill>
              <a:latin typeface="Arial" panose="020B0604020202020204" pitchFamily="34" charset="0"/>
              <a:cs typeface="Arial" panose="020B0604020202020204" pitchFamily="34" charset="0"/>
            </a:endParaRPr>
          </a:p>
          <a:p>
            <a:pPr marL="0" indent="0">
              <a:spcBef>
                <a:spcPts val="0"/>
              </a:spcBef>
              <a:buClr>
                <a:srgbClr val="000000"/>
              </a:buClr>
              <a:buSzPct val="100000"/>
              <a:buNone/>
            </a:pPr>
            <a:r>
              <a:rPr lang="en-US" altLang="en-US" sz="1800" dirty="0" smtClean="0">
                <a:solidFill>
                  <a:schemeClr val="bg1"/>
                </a:solidFill>
                <a:latin typeface="Arial" panose="020B0604020202020204" pitchFamily="34" charset="0"/>
                <a:cs typeface="Arial" panose="020B0604020202020204" pitchFamily="34" charset="0"/>
              </a:rPr>
              <a:t>Discussion: The $5 </a:t>
            </a:r>
            <a:r>
              <a:rPr lang="en-US" altLang="en-US" sz="1800" dirty="0">
                <a:solidFill>
                  <a:schemeClr val="bg1"/>
                </a:solidFill>
                <a:latin typeface="Arial" panose="020B0604020202020204" pitchFamily="34" charset="0"/>
                <a:cs typeface="Arial" panose="020B0604020202020204" pitchFamily="34" charset="0"/>
              </a:rPr>
              <a:t>bill and </a:t>
            </a:r>
            <a:r>
              <a:rPr lang="en-US" altLang="en-US" sz="1800" dirty="0" smtClean="0">
                <a:solidFill>
                  <a:schemeClr val="bg1"/>
                </a:solidFill>
                <a:latin typeface="Arial" panose="020B0604020202020204" pitchFamily="34" charset="0"/>
                <a:cs typeface="Arial" panose="020B0604020202020204" pitchFamily="34" charset="0"/>
              </a:rPr>
              <a:t>two </a:t>
            </a:r>
            <a:r>
              <a:rPr lang="en-US" altLang="en-US" sz="1800" dirty="0">
                <a:solidFill>
                  <a:schemeClr val="bg1"/>
                </a:solidFill>
                <a:latin typeface="Arial" panose="020B0604020202020204" pitchFamily="34" charset="0"/>
                <a:cs typeface="Arial" panose="020B0604020202020204" pitchFamily="34" charset="0"/>
              </a:rPr>
              <a:t>scenarios:</a:t>
            </a:r>
          </a:p>
          <a:p>
            <a:pPr marL="0" indent="0">
              <a:spcBef>
                <a:spcPts val="0"/>
              </a:spcBef>
              <a:buClr>
                <a:srgbClr val="000000"/>
              </a:buClr>
              <a:buSzPct val="100000"/>
              <a:buNone/>
            </a:pPr>
            <a:endParaRPr lang="en-US" altLang="en-US" sz="1800" dirty="0" smtClean="0">
              <a:solidFill>
                <a:schemeClr val="bg1"/>
              </a:solidFill>
              <a:latin typeface="Arial" panose="020B0604020202020204" pitchFamily="34" charset="0"/>
              <a:cs typeface="Arial" panose="020B0604020202020204" pitchFamily="34" charset="0"/>
            </a:endParaRPr>
          </a:p>
          <a:p>
            <a:pPr marL="0" indent="0">
              <a:spcBef>
                <a:spcPts val="0"/>
              </a:spcBef>
              <a:buClr>
                <a:srgbClr val="000000"/>
              </a:buClr>
              <a:buSzPct val="100000"/>
              <a:buNone/>
            </a:pPr>
            <a:r>
              <a:rPr lang="en-US" altLang="en-US" sz="1800" dirty="0" smtClean="0">
                <a:solidFill>
                  <a:schemeClr val="bg1"/>
                </a:solidFill>
                <a:latin typeface="Arial" panose="020B0604020202020204" pitchFamily="34" charset="0"/>
                <a:cs typeface="Arial" panose="020B0604020202020204" pitchFamily="34" charset="0"/>
              </a:rPr>
              <a:t>Scenario </a:t>
            </a:r>
            <a:r>
              <a:rPr lang="en-US" altLang="en-US" sz="1800" dirty="0">
                <a:solidFill>
                  <a:schemeClr val="bg1"/>
                </a:solidFill>
                <a:latin typeface="Arial" panose="020B0604020202020204" pitchFamily="34" charset="0"/>
                <a:cs typeface="Arial" panose="020B0604020202020204" pitchFamily="34" charset="0"/>
              </a:rPr>
              <a:t>1) </a:t>
            </a:r>
            <a:r>
              <a:rPr lang="en-US" altLang="en-US" sz="1800" b="0" dirty="0">
                <a:solidFill>
                  <a:schemeClr val="bg1"/>
                </a:solidFill>
                <a:latin typeface="Arial" panose="020B0604020202020204" pitchFamily="34" charset="0"/>
                <a:cs typeface="Arial" panose="020B0604020202020204" pitchFamily="34" charset="0"/>
              </a:rPr>
              <a:t>The professor is walking through the empty Food Court early in the morning and sees a $5 on the floor. What does the professor do? </a:t>
            </a:r>
            <a:r>
              <a:rPr lang="en-US" altLang="en-US" sz="1800" b="0" dirty="0" smtClean="0">
                <a:solidFill>
                  <a:schemeClr val="bg1"/>
                </a:solidFill>
                <a:latin typeface="Arial" panose="020B0604020202020204" pitchFamily="34" charset="0"/>
                <a:cs typeface="Arial" panose="020B0604020202020204" pitchFamily="34" charset="0"/>
              </a:rPr>
              <a:t>On what value(s</a:t>
            </a:r>
            <a:r>
              <a:rPr lang="en-US" altLang="en-US" sz="1800" b="0" dirty="0">
                <a:solidFill>
                  <a:schemeClr val="bg1"/>
                </a:solidFill>
                <a:latin typeface="Arial" panose="020B0604020202020204" pitchFamily="34" charset="0"/>
                <a:cs typeface="Arial" panose="020B0604020202020204" pitchFamily="34" charset="0"/>
              </a:rPr>
              <a:t>) </a:t>
            </a:r>
            <a:r>
              <a:rPr lang="en-US" altLang="en-US" sz="1800" b="0" dirty="0" smtClean="0">
                <a:solidFill>
                  <a:schemeClr val="bg1"/>
                </a:solidFill>
                <a:latin typeface="Arial" panose="020B0604020202020204" pitchFamily="34" charset="0"/>
                <a:cs typeface="Arial" panose="020B0604020202020204" pitchFamily="34" charset="0"/>
              </a:rPr>
              <a:t>are each of these choices based? </a:t>
            </a:r>
          </a:p>
          <a:p>
            <a:pPr marL="0" indent="0">
              <a:spcBef>
                <a:spcPts val="0"/>
              </a:spcBef>
              <a:buClr>
                <a:srgbClr val="000000"/>
              </a:buClr>
              <a:buSzPct val="100000"/>
              <a:buNone/>
            </a:pPr>
            <a:r>
              <a:rPr lang="en-US" altLang="en-US" sz="1800" i="1" dirty="0" smtClean="0">
                <a:solidFill>
                  <a:srgbClr val="FFFF00"/>
                </a:solidFill>
                <a:latin typeface="Arial" panose="020B0604020202020204" pitchFamily="34" charset="0"/>
                <a:cs typeface="Arial" panose="020B0604020202020204" pitchFamily="34" charset="0"/>
              </a:rPr>
              <a:t>The </a:t>
            </a:r>
            <a:r>
              <a:rPr lang="en-US" altLang="en-US" sz="1800" i="1" dirty="0">
                <a:solidFill>
                  <a:srgbClr val="FFFF00"/>
                </a:solidFill>
                <a:latin typeface="Arial" panose="020B0604020202020204" pitchFamily="34" charset="0"/>
                <a:cs typeface="Arial" panose="020B0604020202020204" pitchFamily="34" charset="0"/>
              </a:rPr>
              <a:t>professor actively looks for someone, but </a:t>
            </a:r>
            <a:r>
              <a:rPr lang="en-US" altLang="en-US" sz="1800" i="1" dirty="0" smtClean="0">
                <a:solidFill>
                  <a:srgbClr val="FFFF00"/>
                </a:solidFill>
                <a:latin typeface="Arial" panose="020B0604020202020204" pitchFamily="34" charset="0"/>
                <a:cs typeface="Arial" panose="020B0604020202020204" pitchFamily="34" charset="0"/>
              </a:rPr>
              <a:t>seeing </a:t>
            </a:r>
            <a:r>
              <a:rPr lang="en-US" altLang="en-US" sz="1800" i="1" dirty="0">
                <a:solidFill>
                  <a:srgbClr val="FFFF00"/>
                </a:solidFill>
                <a:latin typeface="Arial" panose="020B0604020202020204" pitchFamily="34" charset="0"/>
                <a:cs typeface="Arial" panose="020B0604020202020204" pitchFamily="34" charset="0"/>
              </a:rPr>
              <a:t>as no one is around and there is not even a remote possibility of </a:t>
            </a:r>
            <a:r>
              <a:rPr lang="en-US" altLang="en-US" sz="1800" i="1" dirty="0" smtClean="0">
                <a:solidFill>
                  <a:srgbClr val="FFFF00"/>
                </a:solidFill>
                <a:latin typeface="Arial" panose="020B0604020202020204" pitchFamily="34" charset="0"/>
                <a:cs typeface="Arial" panose="020B0604020202020204" pitchFamily="34" charset="0"/>
              </a:rPr>
              <a:t>finding </a:t>
            </a:r>
            <a:r>
              <a:rPr lang="en-US" altLang="en-US" sz="1800" i="1" dirty="0">
                <a:solidFill>
                  <a:srgbClr val="FFFF00"/>
                </a:solidFill>
                <a:latin typeface="Arial" panose="020B0604020202020204" pitchFamily="34" charset="0"/>
                <a:cs typeface="Arial" panose="020B0604020202020204" pitchFamily="34" charset="0"/>
              </a:rPr>
              <a:t>the rightful owner of the $5, the professor pockets the </a:t>
            </a:r>
            <a:r>
              <a:rPr lang="en-US" altLang="en-US" sz="1800" i="1" dirty="0" smtClean="0">
                <a:solidFill>
                  <a:srgbClr val="FFFF00"/>
                </a:solidFill>
                <a:latin typeface="Arial" panose="020B0604020202020204" pitchFamily="34" charset="0"/>
                <a:cs typeface="Arial" panose="020B0604020202020204" pitchFamily="34" charset="0"/>
              </a:rPr>
              <a:t>money for either 1) a fresh coffee, or 2) donate to a campus charity.</a:t>
            </a:r>
          </a:p>
          <a:p>
            <a:pPr marL="0" indent="0">
              <a:spcBef>
                <a:spcPts val="0"/>
              </a:spcBef>
              <a:buClr>
                <a:srgbClr val="000000"/>
              </a:buClr>
              <a:buSzPct val="100000"/>
              <a:buNone/>
            </a:pPr>
            <a:endParaRPr lang="en-US" altLang="en-US" sz="1800" dirty="0" smtClean="0">
              <a:solidFill>
                <a:schemeClr val="bg1"/>
              </a:solidFill>
              <a:latin typeface="Arial" panose="020B0604020202020204" pitchFamily="34" charset="0"/>
              <a:cs typeface="Arial" panose="020B0604020202020204" pitchFamily="34" charset="0"/>
            </a:endParaRPr>
          </a:p>
          <a:p>
            <a:pPr marL="0" indent="0">
              <a:spcBef>
                <a:spcPts val="0"/>
              </a:spcBef>
              <a:buClr>
                <a:srgbClr val="000000"/>
              </a:buClr>
              <a:buSzPct val="100000"/>
              <a:buNone/>
            </a:pPr>
            <a:r>
              <a:rPr lang="en-US" altLang="en-US" sz="1800" dirty="0" smtClean="0">
                <a:solidFill>
                  <a:schemeClr val="bg1"/>
                </a:solidFill>
                <a:latin typeface="Arial" panose="020B0604020202020204" pitchFamily="34" charset="0"/>
                <a:cs typeface="Arial" panose="020B0604020202020204" pitchFamily="34" charset="0"/>
              </a:rPr>
              <a:t>Scenario </a:t>
            </a:r>
            <a:r>
              <a:rPr lang="en-US" altLang="en-US" sz="1800" dirty="0">
                <a:solidFill>
                  <a:schemeClr val="bg1"/>
                </a:solidFill>
                <a:latin typeface="Arial" panose="020B0604020202020204" pitchFamily="34" charset="0"/>
                <a:cs typeface="Arial" panose="020B0604020202020204" pitchFamily="34" charset="0"/>
              </a:rPr>
              <a:t>2) </a:t>
            </a:r>
            <a:r>
              <a:rPr lang="en-US" altLang="en-US" sz="1800" b="0" dirty="0">
                <a:solidFill>
                  <a:schemeClr val="bg1"/>
                </a:solidFill>
                <a:latin typeface="Arial" panose="020B0604020202020204" pitchFamily="34" charset="0"/>
                <a:cs typeface="Arial" panose="020B0604020202020204" pitchFamily="34" charset="0"/>
              </a:rPr>
              <a:t>The professor is walking through the busy Food Court. The professor observes a student pull out their cell-phone from their pocket, and unbeknownst to the student, a $5 bill falls onto the floor. What does the professor do? What choices does the professor have? </a:t>
            </a:r>
            <a:r>
              <a:rPr lang="en-US" altLang="en-US" sz="1800" b="0" dirty="0" smtClean="0">
                <a:solidFill>
                  <a:schemeClr val="bg1"/>
                </a:solidFill>
                <a:latin typeface="Arial" panose="020B0604020202020204" pitchFamily="34" charset="0"/>
                <a:cs typeface="Arial" panose="020B0604020202020204" pitchFamily="34" charset="0"/>
              </a:rPr>
              <a:t>On </a:t>
            </a:r>
            <a:r>
              <a:rPr lang="en-US" altLang="en-US" sz="1800" b="0" dirty="0">
                <a:solidFill>
                  <a:schemeClr val="bg1"/>
                </a:solidFill>
                <a:latin typeface="Arial" panose="020B0604020202020204" pitchFamily="34" charset="0"/>
                <a:cs typeface="Arial" panose="020B0604020202020204" pitchFamily="34" charset="0"/>
              </a:rPr>
              <a:t>what values are each of these choices based? </a:t>
            </a:r>
            <a:endParaRPr lang="en-US" altLang="en-US" sz="1800" b="0" dirty="0" smtClean="0">
              <a:solidFill>
                <a:schemeClr val="bg1"/>
              </a:solidFill>
              <a:latin typeface="Arial" panose="020B0604020202020204" pitchFamily="34" charset="0"/>
              <a:cs typeface="Arial" panose="020B0604020202020204" pitchFamily="34" charset="0"/>
            </a:endParaRPr>
          </a:p>
          <a:p>
            <a:pPr marL="342900" indent="-342900">
              <a:spcBef>
                <a:spcPts val="0"/>
              </a:spcBef>
              <a:buClrTx/>
              <a:buSzPct val="100000"/>
              <a:buAutoNum type="arabicParenR"/>
            </a:pPr>
            <a:r>
              <a:rPr lang="en-US" altLang="en-US" sz="1800" i="1" dirty="0">
                <a:solidFill>
                  <a:srgbClr val="FFFF00"/>
                </a:solidFill>
                <a:latin typeface="Arial" panose="020B0604020202020204" pitchFamily="34" charset="0"/>
                <a:cs typeface="Arial" panose="020B0604020202020204" pitchFamily="34" charset="0"/>
              </a:rPr>
              <a:t>T</a:t>
            </a:r>
            <a:r>
              <a:rPr lang="en-US" altLang="en-US" sz="1800" i="1" dirty="0" smtClean="0">
                <a:solidFill>
                  <a:srgbClr val="FFFF00"/>
                </a:solidFill>
                <a:latin typeface="Arial" panose="020B0604020202020204" pitchFamily="34" charset="0"/>
                <a:cs typeface="Arial" panose="020B0604020202020204" pitchFamily="34" charset="0"/>
              </a:rPr>
              <a:t>he professor quickly scoops </a:t>
            </a:r>
            <a:r>
              <a:rPr lang="en-US" altLang="en-US" sz="1800" i="1" dirty="0">
                <a:solidFill>
                  <a:srgbClr val="FFFF00"/>
                </a:solidFill>
                <a:latin typeface="Arial" panose="020B0604020202020204" pitchFamily="34" charset="0"/>
                <a:cs typeface="Arial" panose="020B0604020202020204" pitchFamily="34" charset="0"/>
              </a:rPr>
              <a:t>up and </a:t>
            </a:r>
            <a:r>
              <a:rPr lang="en-US" altLang="en-US" sz="1800" i="1" dirty="0" smtClean="0">
                <a:solidFill>
                  <a:srgbClr val="FFFF00"/>
                </a:solidFill>
                <a:latin typeface="Arial" panose="020B0604020202020204" pitchFamily="34" charset="0"/>
                <a:cs typeface="Arial" panose="020B0604020202020204" pitchFamily="34" charset="0"/>
              </a:rPr>
              <a:t>keeps </a:t>
            </a:r>
            <a:r>
              <a:rPr lang="en-US" altLang="en-US" sz="1800" i="1" dirty="0">
                <a:solidFill>
                  <a:srgbClr val="FFFF00"/>
                </a:solidFill>
                <a:latin typeface="Arial" panose="020B0604020202020204" pitchFamily="34" charset="0"/>
                <a:cs typeface="Arial" panose="020B0604020202020204" pitchFamily="34" charset="0"/>
              </a:rPr>
              <a:t>the $5. </a:t>
            </a:r>
            <a:endParaRPr lang="en-US" altLang="en-US" sz="1800" i="1" dirty="0" smtClean="0">
              <a:solidFill>
                <a:srgbClr val="FFFF00"/>
              </a:solidFill>
              <a:latin typeface="Arial" panose="020B0604020202020204" pitchFamily="34" charset="0"/>
              <a:cs typeface="Arial" panose="020B0604020202020204" pitchFamily="34" charset="0"/>
            </a:endParaRPr>
          </a:p>
          <a:p>
            <a:pPr marL="342900" indent="-342900">
              <a:spcBef>
                <a:spcPts val="0"/>
              </a:spcBef>
              <a:buClrTx/>
              <a:buSzPct val="100000"/>
              <a:buAutoNum type="arabicParenR"/>
            </a:pPr>
            <a:r>
              <a:rPr lang="en-US" altLang="en-US" sz="1800" i="1" dirty="0" smtClean="0">
                <a:solidFill>
                  <a:srgbClr val="FFFF00"/>
                </a:solidFill>
                <a:latin typeface="Arial" panose="020B0604020202020204" pitchFamily="34" charset="0"/>
                <a:cs typeface="Arial" panose="020B0604020202020204" pitchFamily="34" charset="0"/>
              </a:rPr>
              <a:t>The professor picks </a:t>
            </a:r>
            <a:r>
              <a:rPr lang="en-US" altLang="en-US" sz="1800" i="1" dirty="0">
                <a:solidFill>
                  <a:srgbClr val="FFFF00"/>
                </a:solidFill>
                <a:latin typeface="Arial" panose="020B0604020202020204" pitchFamily="34" charset="0"/>
                <a:cs typeface="Arial" panose="020B0604020202020204" pitchFamily="34" charset="0"/>
              </a:rPr>
              <a:t>it up and </a:t>
            </a:r>
            <a:r>
              <a:rPr lang="en-US" altLang="en-US" sz="1800" i="1" dirty="0" smtClean="0">
                <a:solidFill>
                  <a:srgbClr val="FFFF00"/>
                </a:solidFill>
                <a:latin typeface="Arial" panose="020B0604020202020204" pitchFamily="34" charset="0"/>
                <a:cs typeface="Arial" panose="020B0604020202020204" pitchFamily="34" charset="0"/>
              </a:rPr>
              <a:t>contacts </a:t>
            </a:r>
            <a:r>
              <a:rPr lang="en-US" altLang="en-US" sz="1800" i="1" dirty="0">
                <a:solidFill>
                  <a:srgbClr val="FFFF00"/>
                </a:solidFill>
                <a:latin typeface="Arial" panose="020B0604020202020204" pitchFamily="34" charset="0"/>
                <a:cs typeface="Arial" panose="020B0604020202020204" pitchFamily="34" charset="0"/>
              </a:rPr>
              <a:t>the student to return the $5. </a:t>
            </a:r>
          </a:p>
          <a:p>
            <a:pPr marL="0" indent="0">
              <a:spcBef>
                <a:spcPts val="0"/>
              </a:spcBef>
              <a:buClr>
                <a:srgbClr val="000000"/>
              </a:buClr>
              <a:buSzPct val="100000"/>
              <a:buNone/>
            </a:pPr>
            <a:endParaRPr lang="en-CA" altLang="en-US" sz="1800" i="1" dirty="0">
              <a:solidFill>
                <a:schemeClr val="bg1"/>
              </a:solidFill>
              <a:latin typeface="Arial" panose="020B0604020202020204" pitchFamily="34" charset="0"/>
              <a:cs typeface="Arial" panose="020B0604020202020204" pitchFamily="34" charset="0"/>
            </a:endParaRPr>
          </a:p>
        </p:txBody>
      </p:sp>
      <p:sp>
        <p:nvSpPr>
          <p:cNvPr id="6"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are Values? What are Your Values</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8" name="Picture 7" descr="New Canadian $5 celebrates the space programme - Boing Bo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8964" y="76201"/>
            <a:ext cx="3158836" cy="1447800"/>
          </a:xfrm>
          <a:prstGeom prst="rect">
            <a:avLst/>
          </a:prstGeom>
        </p:spPr>
      </p:pic>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28508929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74582537"/>
              </p:ext>
            </p:extLst>
          </p:nvPr>
        </p:nvGraphicFramePr>
        <p:xfrm>
          <a:off x="180000" y="1600200"/>
          <a:ext cx="8640000" cy="4615128"/>
        </p:xfrm>
        <a:graphic>
          <a:graphicData uri="http://schemas.openxmlformats.org/drawingml/2006/table">
            <a:tbl>
              <a:tblPr firstRow="1" bandRow="1">
                <a:tableStyleId>{5C22544A-7EE6-4342-B048-85BDC9FD1C3A}</a:tableStyleId>
              </a:tblPr>
              <a:tblGrid>
                <a:gridCol w="2639400">
                  <a:extLst>
                    <a:ext uri="{9D8B030D-6E8A-4147-A177-3AD203B41FA5}">
                      <a16:colId xmlns:a16="http://schemas.microsoft.com/office/drawing/2014/main" val="3101102744"/>
                    </a:ext>
                  </a:extLst>
                </a:gridCol>
                <a:gridCol w="6000600">
                  <a:extLst>
                    <a:ext uri="{9D8B030D-6E8A-4147-A177-3AD203B41FA5}">
                      <a16:colId xmlns:a16="http://schemas.microsoft.com/office/drawing/2014/main" val="3244456520"/>
                    </a:ext>
                  </a:extLst>
                </a:gridCol>
              </a:tblGrid>
              <a:tr h="500328">
                <a:tc>
                  <a:txBody>
                    <a:bodyPr/>
                    <a:lstStyle/>
                    <a:p>
                      <a:pPr>
                        <a:lnSpc>
                          <a:spcPct val="90000"/>
                        </a:lnSpc>
                      </a:pPr>
                      <a:r>
                        <a:rPr lang="en-US" sz="2000" dirty="0" smtClean="0">
                          <a:solidFill>
                            <a:schemeClr val="tx1"/>
                          </a:solidFill>
                          <a:latin typeface="Arial" panose="020B0604020202020204" pitchFamily="34" charset="0"/>
                          <a:cs typeface="Arial" panose="020B0604020202020204" pitchFamily="34" charset="0"/>
                        </a:rPr>
                        <a:t>Scenario 1 Options</a:t>
                      </a:r>
                      <a:endParaRPr lang="en-US" sz="20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90000"/>
                        </a:lnSpc>
                      </a:pPr>
                      <a:r>
                        <a:rPr lang="en-US" sz="2000" dirty="0" smtClean="0">
                          <a:solidFill>
                            <a:schemeClr val="tx1"/>
                          </a:solidFill>
                          <a:latin typeface="Arial" panose="020B0604020202020204" pitchFamily="34" charset="0"/>
                          <a:cs typeface="Arial" panose="020B0604020202020204" pitchFamily="34" charset="0"/>
                        </a:rPr>
                        <a:t>Scenario 2</a:t>
                      </a:r>
                      <a:r>
                        <a:rPr lang="en-US" sz="2000" baseline="0" dirty="0" smtClean="0">
                          <a:solidFill>
                            <a:schemeClr val="tx1"/>
                          </a:solidFill>
                          <a:latin typeface="Arial" panose="020B0604020202020204" pitchFamily="34" charset="0"/>
                          <a:cs typeface="Arial" panose="020B0604020202020204" pitchFamily="34" charset="0"/>
                        </a:rPr>
                        <a:t> Options</a:t>
                      </a:r>
                      <a:endParaRPr lang="en-US" sz="20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083474"/>
                  </a:ext>
                </a:extLst>
              </a:tr>
              <a:tr h="500328">
                <a:tc>
                  <a:txBody>
                    <a:bodyPr/>
                    <a:lstStyle/>
                    <a:p>
                      <a:pPr>
                        <a:lnSpc>
                          <a:spcPct val="90000"/>
                        </a:lnSpc>
                      </a:pPr>
                      <a:r>
                        <a:rPr lang="en-US" sz="2000" dirty="0" smtClean="0">
                          <a:latin typeface="Arial" panose="020B0604020202020204" pitchFamily="34" charset="0"/>
                          <a:cs typeface="Arial" panose="020B0604020202020204" pitchFamily="34" charset="0"/>
                        </a:rPr>
                        <a:t>Buy fresh coffee:</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Rightful ownership (attempt)</a:t>
                      </a:r>
                    </a:p>
                    <a:p>
                      <a:pPr>
                        <a:lnSpc>
                          <a:spcPct val="90000"/>
                        </a:lnSpc>
                      </a:pP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90000"/>
                        </a:lnSpc>
                      </a:pPr>
                      <a:r>
                        <a:rPr lang="en-US" sz="2000" dirty="0" smtClean="0">
                          <a:latin typeface="Arial" panose="020B0604020202020204" pitchFamily="34" charset="0"/>
                          <a:cs typeface="Arial" panose="020B0604020202020204" pitchFamily="34" charset="0"/>
                        </a:rPr>
                        <a:t>Pocket</a:t>
                      </a:r>
                      <a:r>
                        <a:rPr lang="en-US" sz="2000" baseline="0" dirty="0" smtClean="0">
                          <a:latin typeface="Arial" panose="020B0604020202020204" pitchFamily="34" charset="0"/>
                          <a:cs typeface="Arial" panose="020B0604020202020204" pitchFamily="34" charset="0"/>
                        </a:rPr>
                        <a:t> the $5:</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Greed. </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Dishonest. </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Lack of integrity</a:t>
                      </a:r>
                      <a:endParaRPr lang="en-US" sz="2000" i="1"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8032243"/>
                  </a:ext>
                </a:extLst>
              </a:tr>
              <a:tr h="994083">
                <a:tc>
                  <a:txBody>
                    <a:bodyPr/>
                    <a:lstStyle/>
                    <a:p>
                      <a:pPr marL="0" indent="0">
                        <a:lnSpc>
                          <a:spcPct val="90000"/>
                        </a:lnSpc>
                        <a:buFont typeface="Wingdings" panose="05000000000000000000" pitchFamily="2" charset="2"/>
                        <a:buNone/>
                      </a:pPr>
                      <a:r>
                        <a:rPr lang="en-US" sz="2000" dirty="0" smtClean="0">
                          <a:latin typeface="Arial" panose="020B0604020202020204" pitchFamily="34" charset="0"/>
                          <a:cs typeface="Arial" panose="020B0604020202020204" pitchFamily="34" charset="0"/>
                        </a:rPr>
                        <a:t>Buy their colleague a coffee</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Generosity</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400" rtl="0" eaLnBrk="1" latinLnBrk="0" hangingPunct="1">
                        <a:lnSpc>
                          <a:spcPct val="90000"/>
                        </a:lnSpc>
                        <a:buFont typeface="Wingdings" panose="05000000000000000000" pitchFamily="2" charset="2"/>
                        <a:buNone/>
                      </a:pPr>
                      <a:r>
                        <a:rPr lang="en-US" sz="2000" kern="1200" dirty="0" smtClean="0">
                          <a:solidFill>
                            <a:schemeClr val="dk1"/>
                          </a:solidFill>
                          <a:latin typeface="Arial" panose="020B0604020202020204" pitchFamily="34" charset="0"/>
                          <a:ea typeface="+mn-ea"/>
                          <a:cs typeface="Arial" panose="020B0604020202020204" pitchFamily="34" charset="0"/>
                        </a:rPr>
                        <a:t>Return the $5 to the student:</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Honesty. </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Rightful ownership of property. </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Integrity – living by their values.</a:t>
                      </a:r>
                      <a:endParaRPr lang="en-US" sz="2000"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464904"/>
                  </a:ext>
                </a:extLst>
              </a:tr>
              <a:tr h="900591">
                <a:tc>
                  <a:txBody>
                    <a:bodyPr/>
                    <a:lstStyle/>
                    <a:p>
                      <a:pPr marL="0" marR="0" lvl="0" indent="0" algn="l" defTabSz="914400" rtl="0" eaLnBrk="1" fontAlgn="auto" latinLnBrk="0" hangingPunct="1">
                        <a:lnSpc>
                          <a:spcPct val="90000"/>
                        </a:lnSpc>
                        <a:spcBef>
                          <a:spcPts val="0"/>
                        </a:spcBef>
                        <a:spcAft>
                          <a:spcPts val="0"/>
                        </a:spcAft>
                        <a:buClrTx/>
                        <a:buSzTx/>
                        <a:buFont typeface="Wingdings" panose="05000000000000000000" pitchFamily="2" charset="2"/>
                        <a:buNone/>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Donate to Charity</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Charity</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90000"/>
                        </a:lnSpc>
                      </a:pPr>
                      <a:r>
                        <a:rPr lang="en-US" sz="2000" dirty="0" smtClean="0">
                          <a:latin typeface="Arial" panose="020B0604020202020204" pitchFamily="34" charset="0"/>
                          <a:cs typeface="Arial" panose="020B0604020202020204" pitchFamily="34" charset="0"/>
                        </a:rPr>
                        <a:t>Other choice:</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dirty="0" smtClean="0">
                          <a:ln>
                            <a:noFill/>
                          </a:ln>
                          <a:solidFill>
                            <a:prstClr val="black"/>
                          </a:solidFill>
                          <a:effectLst/>
                          <a:uLnTx/>
                          <a:uFillTx/>
                          <a:latin typeface="Arial" panose="020B0604020202020204" pitchFamily="34" charset="0"/>
                          <a:ea typeface="+mn-ea"/>
                          <a:cs typeface="Arial" panose="020B0604020202020204" pitchFamily="34" charset="0"/>
                        </a:rPr>
                        <a:t>Keep the money and then give to charity. This example explores the phase “Does the ends justify the means?” Delivered on a positive value, </a:t>
                      </a:r>
                      <a:r>
                        <a:rPr kumimoji="0" lang="en-US" sz="2000" b="0" i="0" u="sng" strike="noStrike" kern="1200" cap="none" spc="0" normalizeH="0" baseline="0" dirty="0" smtClean="0">
                          <a:ln>
                            <a:noFill/>
                          </a:ln>
                          <a:solidFill>
                            <a:prstClr val="black"/>
                          </a:solidFill>
                          <a:effectLst/>
                          <a:uLnTx/>
                          <a:uFillTx/>
                          <a:latin typeface="Arial" panose="020B0604020202020204" pitchFamily="34" charset="0"/>
                          <a:ea typeface="+mn-ea"/>
                          <a:cs typeface="Arial" panose="020B0604020202020204" pitchFamily="34" charset="0"/>
                        </a:rPr>
                        <a:t>charity</a:t>
                      </a:r>
                      <a:r>
                        <a:rPr kumimoji="0" lang="en-US" sz="2000" b="0" i="0" u="none" strike="noStrike" kern="1200" cap="none" spc="0" normalizeH="0" baseline="0" dirty="0" smtClean="0">
                          <a:ln>
                            <a:noFill/>
                          </a:ln>
                          <a:solidFill>
                            <a:prstClr val="black"/>
                          </a:solidFill>
                          <a:effectLst/>
                          <a:uLnTx/>
                          <a:uFillTx/>
                          <a:latin typeface="Arial" panose="020B0604020202020204" pitchFamily="34" charset="0"/>
                          <a:ea typeface="+mn-ea"/>
                          <a:cs typeface="Arial" panose="020B0604020202020204" pitchFamily="34" charset="0"/>
                        </a:rPr>
                        <a:t>, but based on a negative value, </a:t>
                      </a:r>
                      <a:r>
                        <a:rPr kumimoji="0" lang="en-US" sz="2000" b="0" i="0" u="sng" strike="noStrike" kern="1200" cap="none" spc="0" normalizeH="0" baseline="0" dirty="0" smtClean="0">
                          <a:ln>
                            <a:noFill/>
                          </a:ln>
                          <a:solidFill>
                            <a:prstClr val="black"/>
                          </a:solidFill>
                          <a:effectLst/>
                          <a:uLnTx/>
                          <a:uFillTx/>
                          <a:latin typeface="Arial" panose="020B0604020202020204" pitchFamily="34" charset="0"/>
                          <a:ea typeface="+mn-ea"/>
                          <a:cs typeface="Arial" panose="020B0604020202020204" pitchFamily="34" charset="0"/>
                        </a:rPr>
                        <a:t>dishonesty</a:t>
                      </a:r>
                      <a:r>
                        <a:rPr kumimoji="0" lang="en-US" sz="2000" b="0" i="0" u="none" strike="noStrike" kern="1200" cap="none" spc="0" normalizeH="0" baseline="0" dirty="0" smtClean="0">
                          <a:ln>
                            <a:noFill/>
                          </a:ln>
                          <a:solidFill>
                            <a:prstClr val="black"/>
                          </a:solidFill>
                          <a:effectLst/>
                          <a:uLnTx/>
                          <a:uFillTx/>
                          <a:latin typeface="Arial" panose="020B0604020202020204" pitchFamily="34" charset="0"/>
                          <a:ea typeface="+mn-ea"/>
                          <a:cs typeface="Arial" panose="020B0604020202020204" pitchFamily="34" charset="0"/>
                        </a:rPr>
                        <a:t>. </a:t>
                      </a:r>
                      <a:endParaRPr kumimoji="0" lang="en-US" sz="2000" b="0" i="0" u="none" strike="noStrike" kern="1200" cap="none" spc="0" normalizeH="0" baseline="0" dirty="0">
                        <a:ln>
                          <a:noFill/>
                        </a:ln>
                        <a:solidFill>
                          <a:prstClr val="black"/>
                        </a:solidFill>
                        <a:effectLst/>
                        <a:uLnTx/>
                        <a:uFillTx/>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5018200"/>
                  </a:ext>
                </a:extLst>
              </a:tr>
            </a:tbl>
          </a:graphicData>
        </a:graphic>
      </p:graphicFrame>
      <p:sp>
        <p:nvSpPr>
          <p:cNvPr id="6"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What are Values? What are Your Values?</a:t>
            </a:r>
          </a:p>
        </p:txBody>
      </p:sp>
      <p:pic>
        <p:nvPicPr>
          <p:cNvPr id="9" name="Picture 8" descr="New Canadian $5 celebrates the space programme - Boing Bo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8964" y="76201"/>
            <a:ext cx="3158836" cy="1447800"/>
          </a:xfrm>
          <a:prstGeom prst="rect">
            <a:avLst/>
          </a:prstGeom>
        </p:spPr>
      </p:pic>
      <p:sp>
        <p:nvSpPr>
          <p:cNvPr id="10"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Summary of Choices Based on Values:</a:t>
            </a:r>
          </a:p>
        </p:txBody>
      </p:sp>
      <p:sp>
        <p:nvSpPr>
          <p:cNvPr id="11"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35645432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25635974"/>
              </p:ext>
            </p:extLst>
          </p:nvPr>
        </p:nvGraphicFramePr>
        <p:xfrm>
          <a:off x="180000" y="1600200"/>
          <a:ext cx="8640000" cy="2073096"/>
        </p:xfrm>
        <a:graphic>
          <a:graphicData uri="http://schemas.openxmlformats.org/drawingml/2006/table">
            <a:tbl>
              <a:tblPr firstRow="1" bandRow="1">
                <a:tableStyleId>{5C22544A-7EE6-4342-B048-85BDC9FD1C3A}</a:tableStyleId>
              </a:tblPr>
              <a:tblGrid>
                <a:gridCol w="2639400">
                  <a:extLst>
                    <a:ext uri="{9D8B030D-6E8A-4147-A177-3AD203B41FA5}">
                      <a16:colId xmlns:a16="http://schemas.microsoft.com/office/drawing/2014/main" val="3101102744"/>
                    </a:ext>
                  </a:extLst>
                </a:gridCol>
                <a:gridCol w="6000600">
                  <a:extLst>
                    <a:ext uri="{9D8B030D-6E8A-4147-A177-3AD203B41FA5}">
                      <a16:colId xmlns:a16="http://schemas.microsoft.com/office/drawing/2014/main" val="3244456520"/>
                    </a:ext>
                  </a:extLst>
                </a:gridCol>
              </a:tblGrid>
              <a:tr h="500328">
                <a:tc>
                  <a:txBody>
                    <a:bodyPr/>
                    <a:lstStyle/>
                    <a:p>
                      <a:pPr>
                        <a:lnSpc>
                          <a:spcPct val="90000"/>
                        </a:lnSpc>
                      </a:pPr>
                      <a:r>
                        <a:rPr lang="en-US" sz="2000" dirty="0" smtClean="0">
                          <a:solidFill>
                            <a:schemeClr val="tx1"/>
                          </a:solidFill>
                          <a:latin typeface="Arial" panose="020B0604020202020204" pitchFamily="34" charset="0"/>
                          <a:cs typeface="Arial" panose="020B0604020202020204" pitchFamily="34" charset="0"/>
                        </a:rPr>
                        <a:t>Scenario 1 Options</a:t>
                      </a:r>
                      <a:endParaRPr lang="en-US" sz="20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90000"/>
                        </a:lnSpc>
                      </a:pPr>
                      <a:r>
                        <a:rPr lang="en-US" sz="2000" dirty="0" smtClean="0">
                          <a:solidFill>
                            <a:schemeClr val="tx1"/>
                          </a:solidFill>
                          <a:latin typeface="Arial" panose="020B0604020202020204" pitchFamily="34" charset="0"/>
                          <a:cs typeface="Arial" panose="020B0604020202020204" pitchFamily="34" charset="0"/>
                        </a:rPr>
                        <a:t>Scenario 2</a:t>
                      </a:r>
                      <a:r>
                        <a:rPr lang="en-US" sz="2000" baseline="0" dirty="0" smtClean="0">
                          <a:solidFill>
                            <a:schemeClr val="tx1"/>
                          </a:solidFill>
                          <a:latin typeface="Arial" panose="020B0604020202020204" pitchFamily="34" charset="0"/>
                          <a:cs typeface="Arial" panose="020B0604020202020204" pitchFamily="34" charset="0"/>
                        </a:rPr>
                        <a:t> Options</a:t>
                      </a:r>
                      <a:endParaRPr lang="en-US" sz="20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083474"/>
                  </a:ext>
                </a:extLst>
              </a:tr>
              <a:tr h="500328">
                <a:tc>
                  <a:txBody>
                    <a:bodyPr/>
                    <a:lstStyle/>
                    <a:p>
                      <a:pPr>
                        <a:lnSpc>
                          <a:spcPct val="90000"/>
                        </a:lnSpc>
                      </a:pPr>
                      <a:r>
                        <a:rPr lang="en-US" sz="2000" dirty="0" smtClean="0">
                          <a:latin typeface="Arial" panose="020B0604020202020204" pitchFamily="34" charset="0"/>
                          <a:cs typeface="Arial" panose="020B0604020202020204" pitchFamily="34" charset="0"/>
                        </a:rPr>
                        <a:t>Buy fresh coffee:</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Rightful ownership (attempt)</a:t>
                      </a:r>
                    </a:p>
                    <a:p>
                      <a:pPr>
                        <a:lnSpc>
                          <a:spcPct val="90000"/>
                        </a:lnSpc>
                      </a:pP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90000"/>
                        </a:lnSpc>
                      </a:pPr>
                      <a:r>
                        <a:rPr lang="en-US" sz="2000" dirty="0" smtClean="0">
                          <a:latin typeface="Arial" panose="020B0604020202020204" pitchFamily="34" charset="0"/>
                          <a:cs typeface="Arial" panose="020B0604020202020204" pitchFamily="34" charset="0"/>
                        </a:rPr>
                        <a:t>Pocket</a:t>
                      </a:r>
                      <a:r>
                        <a:rPr lang="en-US" sz="2000" baseline="0" dirty="0" smtClean="0">
                          <a:latin typeface="Arial" panose="020B0604020202020204" pitchFamily="34" charset="0"/>
                          <a:cs typeface="Arial" panose="020B0604020202020204" pitchFamily="34" charset="0"/>
                        </a:rPr>
                        <a:t> the $5:</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Greed. </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Dishonest. </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Lack of integrity, </a:t>
                      </a:r>
                      <a:r>
                        <a:rPr kumimoji="0" lang="en-US" sz="2400" b="1" i="1"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especially if the Professor teaches ethics!</a:t>
                      </a:r>
                      <a:endParaRPr lang="en-US" sz="2400" b="1" i="1"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8032243"/>
                  </a:ext>
                </a:extLst>
              </a:tr>
            </a:tbl>
          </a:graphicData>
        </a:graphic>
      </p:graphicFrame>
      <p:sp>
        <p:nvSpPr>
          <p:cNvPr id="6"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What are Values? What are Your Values?</a:t>
            </a:r>
          </a:p>
        </p:txBody>
      </p:sp>
      <p:pic>
        <p:nvPicPr>
          <p:cNvPr id="9" name="Picture 8" descr="New Canadian $5 celebrates the space programme - Boing Bo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8964" y="76201"/>
            <a:ext cx="3158836" cy="1447800"/>
          </a:xfrm>
          <a:prstGeom prst="rect">
            <a:avLst/>
          </a:prstGeom>
        </p:spPr>
      </p:pic>
      <p:sp>
        <p:nvSpPr>
          <p:cNvPr id="10"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Side discussion:</a:t>
            </a:r>
          </a:p>
        </p:txBody>
      </p:sp>
      <p:sp>
        <p:nvSpPr>
          <p:cNvPr id="11"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
        <p:nvSpPr>
          <p:cNvPr id="3" name="Rounded Rectangular Callout 2"/>
          <p:cNvSpPr/>
          <p:nvPr/>
        </p:nvSpPr>
        <p:spPr>
          <a:xfrm>
            <a:off x="1635518" y="4445496"/>
            <a:ext cx="5728964" cy="1600200"/>
          </a:xfrm>
          <a:prstGeom prst="wedgeRoundRectCallout">
            <a:avLst>
              <a:gd name="adj1" fmla="val -355"/>
              <a:gd name="adj2" fmla="val -100667"/>
              <a:gd name="adj3" fmla="val 16667"/>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i="1" dirty="0" smtClean="0"/>
              <a:t>Some people can, and should, be held to a higher standard. </a:t>
            </a:r>
            <a:endParaRPr lang="en-US" sz="2800" i="1" dirty="0"/>
          </a:p>
        </p:txBody>
      </p:sp>
    </p:spTree>
    <p:extLst>
      <p:ext uri="{BB962C8B-B14F-4D97-AF65-F5344CB8AC3E}">
        <p14:creationId xmlns:p14="http://schemas.microsoft.com/office/powerpoint/2010/main" val="32807987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Deep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down, values are probably the measures you use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tell if your life is turning out the way you want it to.</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the things that you do and the way you behave match your values, life is usually good – you're satisfied and content.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But when these don't align with your values, that's when things feel... wrong. This can be a real source of unhappiness.</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why making a conscious effort to identify your values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so important.</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What are Values? What are Your Values?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
        <p:nvSpPr>
          <p:cNvPr id="6" name="TextBox 1"/>
          <p:cNvSpPr txBox="1">
            <a:spLocks noChangeArrowheads="1"/>
          </p:cNvSpPr>
          <p:nvPr/>
        </p:nvSpPr>
        <p:spPr bwMode="auto">
          <a:xfrm>
            <a:off x="180000" y="4793671"/>
            <a:ext cx="8639999" cy="1362329"/>
          </a:xfrm>
          <a:prstGeom prst="rect">
            <a:avLst/>
          </a:prstGeom>
          <a:solidFill>
            <a:schemeClr val="tx1"/>
          </a:solidFill>
          <a:ln w="9525">
            <a:solidFill>
              <a:srgbClr val="000000"/>
            </a:solidFill>
            <a:miter lim="800000"/>
            <a:headEnd/>
            <a:tailEnd/>
          </a:ln>
        </p:spPr>
        <p:txBody>
          <a:bodyPr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
                <a:srgbClr val="000000"/>
              </a:buClr>
              <a:buSzPct val="100000"/>
              <a:buFont typeface="Wingdings" panose="05000000000000000000" pitchFamily="2" charset="2"/>
              <a:buNone/>
            </a:pPr>
            <a:r>
              <a:rPr lang="en-US" altLang="en-US" sz="2400" b="1" i="1" dirty="0">
                <a:solidFill>
                  <a:schemeClr val="bg1"/>
                </a:solidFill>
                <a:latin typeface="Arial" panose="020B0604020202020204" pitchFamily="34" charset="0"/>
                <a:cs typeface="Arial" panose="020B0604020202020204" pitchFamily="34" charset="0"/>
              </a:rPr>
              <a:t>Take some time in your </a:t>
            </a:r>
            <a:r>
              <a:rPr lang="en-US" altLang="en-US" sz="2400" b="1" i="1" dirty="0" smtClean="0">
                <a:solidFill>
                  <a:schemeClr val="bg1"/>
                </a:solidFill>
                <a:latin typeface="Arial" panose="020B0604020202020204" pitchFamily="34" charset="0"/>
                <a:cs typeface="Arial" panose="020B0604020202020204" pitchFamily="34" charset="0"/>
              </a:rPr>
              <a:t>career to develop and  </a:t>
            </a:r>
            <a:r>
              <a:rPr lang="en-US" altLang="en-US" sz="2400" b="1" i="1" dirty="0">
                <a:solidFill>
                  <a:schemeClr val="bg1"/>
                </a:solidFill>
                <a:latin typeface="Arial" panose="020B0604020202020204" pitchFamily="34" charset="0"/>
                <a:cs typeface="Arial" panose="020B0604020202020204" pitchFamily="34" charset="0"/>
              </a:rPr>
              <a:t/>
            </a:r>
            <a:br>
              <a:rPr lang="en-US" altLang="en-US" sz="2400" b="1" i="1" dirty="0">
                <a:solidFill>
                  <a:schemeClr val="bg1"/>
                </a:solidFill>
                <a:latin typeface="Arial" panose="020B0604020202020204" pitchFamily="34" charset="0"/>
                <a:cs typeface="Arial" panose="020B0604020202020204" pitchFamily="34" charset="0"/>
              </a:rPr>
            </a:br>
            <a:r>
              <a:rPr lang="en-US" altLang="en-US" sz="2400" b="1" i="1" dirty="0" smtClean="0">
                <a:solidFill>
                  <a:schemeClr val="bg1"/>
                </a:solidFill>
                <a:latin typeface="Arial" panose="020B0604020202020204" pitchFamily="34" charset="0"/>
                <a:cs typeface="Arial" panose="020B0604020202020204" pitchFamily="34" charset="0"/>
              </a:rPr>
              <a:t>crystallize YOUR </a:t>
            </a:r>
            <a:r>
              <a:rPr lang="en-US" altLang="en-US" sz="2400" b="1" i="1" dirty="0">
                <a:solidFill>
                  <a:schemeClr val="bg1"/>
                </a:solidFill>
                <a:latin typeface="Arial" panose="020B0604020202020204" pitchFamily="34" charset="0"/>
                <a:cs typeface="Arial" panose="020B0604020202020204" pitchFamily="34" charset="0"/>
              </a:rPr>
              <a:t>values!</a:t>
            </a:r>
            <a:endParaRPr lang="en-CA" altLang="en-US" sz="2400" dirty="0">
              <a:solidFill>
                <a:schemeClr val="bg1"/>
              </a:solidFill>
            </a:endParaRPr>
          </a:p>
        </p:txBody>
      </p:sp>
    </p:spTree>
    <p:extLst>
      <p:ext uri="{BB962C8B-B14F-4D97-AF65-F5344CB8AC3E}">
        <p14:creationId xmlns:p14="http://schemas.microsoft.com/office/powerpoint/2010/main" val="1174217872"/>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Values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essential for effective leadership,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good of the organization and the workers. </a:t>
            </a: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promote values that have meaning for team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members and will encourage norms of safe behaviour. </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Good Leadership Is Founded On Good Values: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7.7: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Leadership –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What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Makes an Effective Leader?</a:t>
            </a:r>
          </a:p>
        </p:txBody>
      </p:sp>
      <p:sp>
        <p:nvSpPr>
          <p:cNvPr id="6" name="Rectangle 5"/>
          <p:cNvSpPr/>
          <p:nvPr/>
        </p:nvSpPr>
        <p:spPr>
          <a:xfrm>
            <a:off x="4726200" y="2438400"/>
            <a:ext cx="4087200" cy="3702360"/>
          </a:xfrm>
          <a:prstGeom prst="rect">
            <a:avLst/>
          </a:prstGeom>
          <a:solidFill>
            <a:schemeClr val="tx1"/>
          </a:solidFill>
          <a:ln>
            <a:solidFill>
              <a:srgbClr val="0000CC"/>
            </a:solidFill>
          </a:ln>
        </p:spPr>
        <p:txBody>
          <a:bodyPr wrap="square">
            <a:noAutofit/>
          </a:bodyPr>
          <a:lstStyle/>
          <a:p>
            <a:pPr marL="0" marR="0">
              <a:spcBef>
                <a:spcPts val="0"/>
              </a:spcBef>
              <a:spcAft>
                <a:spcPts val="0"/>
              </a:spcAft>
            </a:pPr>
            <a:r>
              <a:rPr lang="en-US" b="0"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Typical Values Set of a Student:</a:t>
            </a:r>
          </a:p>
          <a:p>
            <a:pPr marL="432000" indent="-432000">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Academic Excellence</a:t>
            </a: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Balance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 Work and Life</a:t>
            </a:r>
          </a:p>
          <a:p>
            <a:pPr marL="432000" indent="-432000">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Mental / Psychological Health</a:t>
            </a: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Physical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Fitness / Fun/Recreation</a:t>
            </a: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Collaboration</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Commitment</a:t>
            </a: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Innovation</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Integrity</a:t>
            </a: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Initiative</a:t>
            </a: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Leadership</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Respect</a:t>
            </a: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Ambition</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533400" y="2438400"/>
            <a:ext cx="4087200" cy="3702360"/>
          </a:xfrm>
          <a:prstGeom prst="rect">
            <a:avLst/>
          </a:prstGeom>
          <a:solidFill>
            <a:schemeClr val="tx1"/>
          </a:solidFill>
          <a:ln>
            <a:solidFill>
              <a:srgbClr val="0000CC"/>
            </a:solidFill>
          </a:ln>
        </p:spPr>
        <p:txBody>
          <a:bodyPr wrap="square">
            <a:noAutofit/>
          </a:bodyPr>
          <a:lstStyle/>
          <a:p>
            <a:pPr marL="0" marR="0">
              <a:spcBef>
                <a:spcPts val="0"/>
              </a:spcBef>
              <a:spcAft>
                <a:spcPts val="0"/>
              </a:spcAft>
            </a:pPr>
            <a:r>
              <a:rPr lang="en-US" b="0"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Typical Values Set of a Team:</a:t>
            </a:r>
          </a:p>
          <a:p>
            <a:pPr marL="432000" indent="-432000">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Professional Excellence</a:t>
            </a: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Accountability</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Collaboration</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Empowerment</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Commitment</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Innovation</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Integrity</a:t>
            </a: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Initiative</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Leadership</a:t>
            </a:r>
          </a:p>
          <a:p>
            <a:pPr marL="432000" indent="-432000">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Respect</a:t>
            </a:r>
          </a:p>
          <a:p>
            <a:pPr marL="432000" indent="-432000">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Consistency</a:t>
            </a:r>
          </a:p>
          <a:p>
            <a:pPr marL="432000" indent="-432000">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Community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i.e. “Togetherness</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99655603"/>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xplosion 1 1"/>
          <p:cNvSpPr/>
          <p:nvPr/>
        </p:nvSpPr>
        <p:spPr>
          <a:xfrm>
            <a:off x="4934465" y="2044088"/>
            <a:ext cx="3867000" cy="2362200"/>
          </a:xfrm>
          <a:prstGeom prst="irregularSeal1">
            <a:avLst/>
          </a:prstGeom>
          <a:solidFill>
            <a:srgbClr val="7030A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smtClean="0"/>
              <a:t>I would add </a:t>
            </a:r>
            <a:r>
              <a:rPr lang="en-US" i="1" u="sng" dirty="0" smtClean="0"/>
              <a:t>COMMITMENT</a:t>
            </a:r>
            <a:endParaRPr lang="en-US" i="1" u="sng" dirty="0"/>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5 Core Values that Every Organization Should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Have;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Jessica Simms;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CareerMetis.com;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https</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://careermetis.com/organization-core-values</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a:t>
            </a:r>
            <a:endPar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kind of organization, from small community groups to multi-national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corporations) that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embrace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five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core values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more likely to succeed in the long-term.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Core Values of an Organization:</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graphicFrame>
        <p:nvGraphicFramePr>
          <p:cNvPr id="3" name="Diagram 2"/>
          <p:cNvGraphicFramePr/>
          <p:nvPr>
            <p:extLst>
              <p:ext uri="{D42A27DB-BD31-4B8C-83A1-F6EECF244321}">
                <p14:modId xmlns:p14="http://schemas.microsoft.com/office/powerpoint/2010/main" val="2394230263"/>
              </p:ext>
            </p:extLst>
          </p:nvPr>
        </p:nvGraphicFramePr>
        <p:xfrm>
          <a:off x="381000" y="2514600"/>
          <a:ext cx="5486400" cy="3733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Rounded Rectangular Callout 3"/>
          <p:cNvSpPr/>
          <p:nvPr/>
        </p:nvSpPr>
        <p:spPr>
          <a:xfrm>
            <a:off x="5562600" y="4876800"/>
            <a:ext cx="3352800" cy="1155300"/>
          </a:xfrm>
          <a:prstGeom prst="wedgeRoundRectCallout">
            <a:avLst>
              <a:gd name="adj1" fmla="val -14878"/>
              <a:gd name="adj2" fmla="val -165409"/>
              <a:gd name="adj3" fmla="val 16667"/>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And many great leaders will “test” for your commitment before asking you to join their team!</a:t>
            </a:r>
            <a:endParaRPr lang="en-US" dirty="0">
              <a:solidFill>
                <a:schemeClr val="bg1"/>
              </a:solidFill>
            </a:endParaRPr>
          </a:p>
        </p:txBody>
      </p:sp>
    </p:spTree>
    <p:extLst>
      <p:ext uri="{BB962C8B-B14F-4D97-AF65-F5344CB8AC3E}">
        <p14:creationId xmlns:p14="http://schemas.microsoft.com/office/powerpoint/2010/main" val="2370876422"/>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reach desired performance, the Leader must shape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desired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leader’s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values shape the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by providing the foundation for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who we are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we do things around here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Because the organization strives for the desired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people are assigned to leadership roles to shape the desired culture. </a:t>
            </a: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shape the desired culture, leader’s must set the example through their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actions and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behaviours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i.e. “Lead by Example” and “Walk the Talk”. </a:t>
            </a: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leader’s actions must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 consistent with their intentions, 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leader’s intentions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founded on values!</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The Personal Iceberg, Effective Leaders, and Their Values: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7.7: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Leadership –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What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3670538951"/>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 performance and culture are founded on leadership values.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assigned to leadership roles to shape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desired culture.</a:t>
            </a: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Thus; there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be congruence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between the leader’s values and the organization’s values!</a:t>
            </a: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Without congruence, the leader will fail and the organization will suffer a set-back. </a:t>
            </a: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Therefore, 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understand their own values and those of the organization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ideally, are aligned</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serve as the standards for others.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So they are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in conflict</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with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themselves;</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So they can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sincerely uphold</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values in the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 and</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Which enables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leader to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live the values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thereby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set the example</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2" indent="0" eaLnBrk="0" hangingPunct="0">
              <a:lnSpc>
                <a:spcPct val="100000"/>
              </a:lnSpc>
              <a:spcBef>
                <a:spcPts val="0"/>
              </a:spcBef>
              <a:buClr>
                <a:srgbClr val="000000"/>
              </a:buClr>
              <a:buSzPct val="100000"/>
              <a:buNone/>
            </a:pPr>
            <a:endPar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2" indent="0" eaLnBrk="0" hangingPunct="0">
              <a:lnSpc>
                <a:spcPct val="100000"/>
              </a:lnSpc>
              <a:spcBef>
                <a:spcPts val="0"/>
              </a:spcBef>
              <a:buClr>
                <a:srgbClr val="000000"/>
              </a:buClr>
              <a:buSzPct val="100000"/>
              <a:buNone/>
            </a:pP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Congruence </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 key factor in being an effective leader!</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smtClean="0">
                <a:solidFill>
                  <a:srgbClr val="333399"/>
                </a:solidFill>
                <a:latin typeface="Arial" panose="020B0604020202020204" pitchFamily="34" charset="0"/>
                <a:cs typeface="Arial" panose="020B0604020202020204" pitchFamily="34" charset="0"/>
              </a:rPr>
              <a:t>Congruence: Leader’s Values and the Organization’s </a:t>
            </a:r>
            <a:r>
              <a:rPr lang="en-US" altLang="en-US" sz="2400" b="0" dirty="0">
                <a:solidFill>
                  <a:srgbClr val="333399"/>
                </a:solidFill>
                <a:latin typeface="Arial" panose="020B0604020202020204" pitchFamily="34" charset="0"/>
                <a:cs typeface="Arial" panose="020B0604020202020204" pitchFamily="34" charset="0"/>
              </a:rPr>
              <a:t>Values: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7.7: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Leadership –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What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3153131311"/>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3"/>
          <p:cNvSpPr txBox="1">
            <a:spLocks noChangeArrowheads="1"/>
          </p:cNvSpPr>
          <p:nvPr/>
        </p:nvSpPr>
        <p:spPr>
          <a:xfrm>
            <a:off x="180000" y="828000"/>
            <a:ext cx="8640000" cy="5328000"/>
          </a:xfrm>
          <a:prstGeom prst="rect">
            <a:avLst/>
          </a:prstGeom>
          <a:solidFill>
            <a:srgbClr val="0000FF"/>
          </a:solidFill>
          <a:ln>
            <a:solidFill>
              <a:schemeClr val="tx1"/>
            </a:solidFill>
            <a:miter lim="800000"/>
            <a:headEnd/>
            <a:tailEnd/>
          </a:ln>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nSpc>
                <a:spcPct val="90000"/>
              </a:lnSpc>
              <a:spcBef>
                <a:spcPts val="0"/>
              </a:spcBef>
              <a:buClr>
                <a:srgbClr val="000000"/>
              </a:buClr>
              <a:buNone/>
              <a:defRPr/>
            </a:pPr>
            <a:r>
              <a:rPr lang="en-US" altLang="en-US" b="0" i="1" cap="none" dirty="0" smtClean="0">
                <a:solidFill>
                  <a:schemeClr val="bg1"/>
                </a:solidFill>
                <a:latin typeface="Arial" panose="020B0604020202020204" pitchFamily="34" charset="0"/>
              </a:rPr>
              <a:t>Please confer and respond (MM-Rank):</a:t>
            </a: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i="1" cap="none"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Pre-test: Can </a:t>
            </a:r>
            <a:r>
              <a:rPr lang="en-US" altLang="en-US" b="0" i="1" cap="none"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construct this </a:t>
            </a:r>
            <a:r>
              <a:rPr lang="en-US" altLang="en-US" b="0" i="1" cap="none"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model i.e. what </a:t>
            </a:r>
            <a:r>
              <a:rPr lang="en-US" altLang="en-US" b="0" i="1" cap="none"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is the order or relationship of these concepts</a:t>
            </a:r>
            <a:r>
              <a:rPr lang="en-US" altLang="en-US" b="0" i="1" cap="none"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i="1" cap="none"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ALE</a:t>
            </a:r>
            <a:r>
              <a:rPr kumimoji="0" lang="en-CA" altLang="en-US" sz="2400" b="0" i="0" u="none" strike="noStrike" kern="1200" cap="none" spc="0" normalizeH="0" noProof="0" dirty="0" smtClean="0">
                <a:ln>
                  <a:noFill/>
                </a:ln>
                <a:solidFill>
                  <a:schemeClr val="bg1"/>
                </a:solidFill>
                <a:effectLst/>
                <a:uLnTx/>
                <a:uFillTx/>
                <a:latin typeface="Arial" panose="020B0604020202020204" pitchFamily="34" charset="0"/>
                <a:ea typeface="+mn-ea"/>
                <a:cs typeface="Arial" panose="020B0604020202020204" pitchFamily="34" charset="0"/>
              </a:rPr>
              <a:t> #3: </a:t>
            </a:r>
            <a:r>
              <a:rPr lang="en-US" altLang="en-US" sz="2400" b="0" noProof="0" dirty="0" smtClean="0">
                <a:solidFill>
                  <a:schemeClr val="bg1"/>
                </a:solidFill>
                <a:latin typeface="Arial" panose="020B0604020202020204" pitchFamily="34" charset="0"/>
                <a:cs typeface="Arial" panose="020B0604020202020204" pitchFamily="34" charset="0"/>
              </a:rPr>
              <a:t>Can you construct this model</a:t>
            </a:r>
            <a:r>
              <a:rPr lang="en-US" altLang="en-US" sz="2400" b="0" dirty="0" smtClean="0">
                <a:solidFill>
                  <a:schemeClr val="bg1"/>
                </a:solidFill>
                <a:latin typeface="Arial" panose="020B0604020202020204" pitchFamily="34" charset="0"/>
                <a:cs typeface="Arial" panose="020B0604020202020204" pitchFamily="34" charset="0"/>
              </a:rPr>
              <a:t>?</a:t>
            </a:r>
            <a:endParaRPr lang="en-US" altLang="en-US" sz="2400" b="0" dirty="0">
              <a:solidFill>
                <a:schemeClr val="bg1"/>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886" y="1828801"/>
            <a:ext cx="4743893" cy="4157738"/>
          </a:xfrm>
          <a:prstGeom prst="rect">
            <a:avLst/>
          </a:prstGeom>
        </p:spPr>
      </p:pic>
      <p:sp>
        <p:nvSpPr>
          <p:cNvPr id="20" name="Rectangle 19"/>
          <p:cNvSpPr/>
          <p:nvPr/>
        </p:nvSpPr>
        <p:spPr>
          <a:xfrm>
            <a:off x="5236779" y="1831554"/>
            <a:ext cx="3373821" cy="4154984"/>
          </a:xfrm>
          <a:prstGeom prst="rect">
            <a:avLst/>
          </a:prstGeom>
          <a:solidFill>
            <a:schemeClr val="bg1"/>
          </a:solidFill>
        </p:spPr>
        <p:txBody>
          <a:bodyPr wrap="square" rtlCol="0">
            <a:spAutoFit/>
          </a:bodyPr>
          <a:lstStyle/>
          <a:p>
            <a:endParaRPr lang="en-US" sz="2400" dirty="0" smtClean="0">
              <a:solidFill>
                <a:schemeClr val="tx1"/>
              </a:solidFill>
              <a:latin typeface="Arial" charset="0"/>
            </a:endParaRPr>
          </a:p>
          <a:p>
            <a:endParaRPr lang="en-US" sz="2400" dirty="0"/>
          </a:p>
          <a:p>
            <a:r>
              <a:rPr lang="en-US" sz="2400" dirty="0" smtClean="0">
                <a:solidFill>
                  <a:schemeClr val="tx1"/>
                </a:solidFill>
                <a:latin typeface="Arial" charset="0"/>
              </a:rPr>
              <a:t>Leadership </a:t>
            </a:r>
            <a:r>
              <a:rPr lang="en-US" sz="2400" dirty="0">
                <a:solidFill>
                  <a:schemeClr val="tx1"/>
                </a:solidFill>
                <a:latin typeface="Arial" charset="0"/>
              </a:rPr>
              <a:t>Actions</a:t>
            </a:r>
          </a:p>
          <a:p>
            <a:endParaRPr lang="en-US" sz="2400" dirty="0">
              <a:solidFill>
                <a:schemeClr val="tx1"/>
              </a:solidFill>
              <a:latin typeface="Arial" charset="0"/>
            </a:endParaRPr>
          </a:p>
          <a:p>
            <a:r>
              <a:rPr lang="en-US" sz="2400" dirty="0">
                <a:solidFill>
                  <a:schemeClr val="tx1"/>
                </a:solidFill>
                <a:latin typeface="Arial" charset="0"/>
              </a:rPr>
              <a:t>Culture</a:t>
            </a:r>
          </a:p>
          <a:p>
            <a:endParaRPr lang="en-US" sz="2400" dirty="0">
              <a:solidFill>
                <a:schemeClr val="tx1"/>
              </a:solidFill>
              <a:latin typeface="Arial" charset="0"/>
            </a:endParaRPr>
          </a:p>
          <a:p>
            <a:r>
              <a:rPr lang="en-US" sz="2400" dirty="0">
                <a:solidFill>
                  <a:schemeClr val="tx1"/>
                </a:solidFill>
                <a:latin typeface="Arial" charset="0"/>
              </a:rPr>
              <a:t>Leadership Intentions</a:t>
            </a:r>
          </a:p>
          <a:p>
            <a:endParaRPr lang="en-US" sz="2400" dirty="0">
              <a:solidFill>
                <a:schemeClr val="tx1"/>
              </a:solidFill>
              <a:latin typeface="Arial" charset="0"/>
            </a:endParaRPr>
          </a:p>
          <a:p>
            <a:r>
              <a:rPr lang="en-US" sz="2400" dirty="0">
                <a:solidFill>
                  <a:schemeClr val="tx1"/>
                </a:solidFill>
                <a:latin typeface="Arial" charset="0"/>
              </a:rPr>
              <a:t>Performance</a:t>
            </a:r>
          </a:p>
          <a:p>
            <a:endParaRPr lang="en-US" sz="2400" dirty="0">
              <a:solidFill>
                <a:schemeClr val="tx1"/>
              </a:solidFill>
              <a:latin typeface="Arial" charset="0"/>
            </a:endParaRPr>
          </a:p>
          <a:p>
            <a:r>
              <a:rPr lang="en-US" sz="2400" dirty="0">
                <a:solidFill>
                  <a:schemeClr val="tx1"/>
                </a:solidFill>
                <a:latin typeface="Arial" charset="0"/>
              </a:rPr>
              <a:t>Leadership </a:t>
            </a:r>
            <a:r>
              <a:rPr lang="en-US" sz="2400" dirty="0" smtClean="0">
                <a:solidFill>
                  <a:schemeClr val="tx1"/>
                </a:solidFill>
                <a:latin typeface="Arial" charset="0"/>
              </a:rPr>
              <a:t>Values</a:t>
            </a:r>
            <a:endParaRPr lang="en-US" sz="2400" dirty="0">
              <a:solidFill>
                <a:schemeClr val="tx1"/>
              </a:solidFill>
              <a:latin typeface="Arial" charset="0"/>
            </a:endParaRPr>
          </a:p>
        </p:txBody>
      </p:sp>
    </p:spTree>
    <p:extLst>
      <p:ext uri="{BB962C8B-B14F-4D97-AF65-F5344CB8AC3E}">
        <p14:creationId xmlns:p14="http://schemas.microsoft.com/office/powerpoint/2010/main" val="261368057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drivers of safety performance are culture,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actions, and leadership intentions. </a:t>
            </a: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follows that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founded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Values!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Leading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organizations clearly see that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performance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depends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 just on the </a:t>
            </a:r>
            <a:b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culture of the organization,</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but goes</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much deeper down to shaping the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values of those persons in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roles and the values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organization.</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that there must be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congruence between each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individual leader’s values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the values of the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t>
            </a: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Effective Leader Sets the Foundation for Performance:</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1" name="Isosceles Triangle 10"/>
          <p:cNvSpPr/>
          <p:nvPr/>
        </p:nvSpPr>
        <p:spPr>
          <a:xfrm>
            <a:off x="5206821" y="1199004"/>
            <a:ext cx="1800000" cy="1512000"/>
          </a:xfrm>
          <a:prstGeom prst="triangle">
            <a:avLst>
              <a:gd name="adj" fmla="val 50697"/>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endParaRPr lang="en-US" sz="1600" dirty="0">
              <a:solidFill>
                <a:schemeClr val="tx1"/>
              </a:solidFill>
            </a:endParaRPr>
          </a:p>
        </p:txBody>
      </p:sp>
      <p:sp>
        <p:nvSpPr>
          <p:cNvPr id="13" name="Trapezoid 12"/>
          <p:cNvSpPr/>
          <p:nvPr/>
        </p:nvSpPr>
        <p:spPr>
          <a:xfrm>
            <a:off x="4673421" y="3049159"/>
            <a:ext cx="2844000" cy="576000"/>
          </a:xfrm>
          <a:prstGeom prst="trapezoid">
            <a:avLst>
              <a:gd name="adj" fmla="val 58631"/>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a:solidFill>
                  <a:schemeClr val="tx1"/>
                </a:solidFill>
              </a:rPr>
              <a:t>Culture</a:t>
            </a:r>
          </a:p>
        </p:txBody>
      </p:sp>
      <p:sp>
        <p:nvSpPr>
          <p:cNvPr id="14" name="Trapezoid 13"/>
          <p:cNvSpPr/>
          <p:nvPr/>
        </p:nvSpPr>
        <p:spPr>
          <a:xfrm>
            <a:off x="4191852" y="3886200"/>
            <a:ext cx="3816000" cy="576000"/>
          </a:xfrm>
          <a:prstGeom prst="trapezoid">
            <a:avLst>
              <a:gd name="adj" fmla="val 59680"/>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smtClean="0">
                <a:solidFill>
                  <a:schemeClr val="tx1"/>
                </a:solidFill>
              </a:rPr>
              <a:t>Leadership Actions</a:t>
            </a:r>
            <a:endParaRPr lang="en-US" dirty="0">
              <a:solidFill>
                <a:schemeClr val="tx1"/>
              </a:solidFill>
            </a:endParaRPr>
          </a:p>
        </p:txBody>
      </p:sp>
      <p:sp>
        <p:nvSpPr>
          <p:cNvPr id="21" name="Rectangle 20"/>
          <p:cNvSpPr/>
          <p:nvPr/>
        </p:nvSpPr>
        <p:spPr>
          <a:xfrm>
            <a:off x="4928443" y="2162481"/>
            <a:ext cx="2286472" cy="5397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r>
              <a:rPr lang="en-US" dirty="0" smtClean="0">
                <a:solidFill>
                  <a:schemeClr val="tx1"/>
                </a:solidFill>
              </a:rPr>
              <a:t>Performance</a:t>
            </a:r>
            <a:endParaRPr lang="en-US" dirty="0">
              <a:solidFill>
                <a:schemeClr val="tx1"/>
              </a:solidFill>
            </a:endParaRPr>
          </a:p>
        </p:txBody>
      </p:sp>
      <p:sp>
        <p:nvSpPr>
          <p:cNvPr id="22" name="Trapezoid 21"/>
          <p:cNvSpPr/>
          <p:nvPr/>
        </p:nvSpPr>
        <p:spPr>
          <a:xfrm>
            <a:off x="3682821" y="4768200"/>
            <a:ext cx="4824000" cy="576000"/>
          </a:xfrm>
          <a:prstGeom prst="trapezoid">
            <a:avLst>
              <a:gd name="adj" fmla="val 59680"/>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smtClean="0">
                <a:solidFill>
                  <a:schemeClr val="tx1"/>
                </a:solidFill>
              </a:rPr>
              <a:t>Leadership Intentions</a:t>
            </a:r>
            <a:endParaRPr lang="en-US" dirty="0">
              <a:solidFill>
                <a:schemeClr val="tx1"/>
              </a:solidFill>
            </a:endParaRPr>
          </a:p>
        </p:txBody>
      </p:sp>
      <p:sp>
        <p:nvSpPr>
          <p:cNvPr id="23" name="Trapezoid 22"/>
          <p:cNvSpPr/>
          <p:nvPr/>
        </p:nvSpPr>
        <p:spPr>
          <a:xfrm>
            <a:off x="3195321" y="5632200"/>
            <a:ext cx="5796279" cy="540000"/>
          </a:xfrm>
          <a:prstGeom prst="trapezoid">
            <a:avLst>
              <a:gd name="adj" fmla="val 54128"/>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smtClean="0">
                <a:solidFill>
                  <a:schemeClr val="tx1"/>
                </a:solidFill>
              </a:rPr>
              <a:t>Leadership Values </a:t>
            </a:r>
            <a:br>
              <a:rPr lang="en-US" dirty="0" smtClean="0">
                <a:solidFill>
                  <a:schemeClr val="tx1"/>
                </a:solidFill>
              </a:rPr>
            </a:br>
            <a:r>
              <a:rPr lang="en-US" dirty="0" smtClean="0">
                <a:solidFill>
                  <a:schemeClr val="tx1"/>
                </a:solidFill>
              </a:rPr>
              <a:t>(and Principles, Goals, Attitudes, etc.)</a:t>
            </a:r>
            <a:endParaRPr lang="en-US" dirty="0">
              <a:solidFill>
                <a:schemeClr val="tx1"/>
              </a:solidFill>
            </a:endParaRPr>
          </a:p>
        </p:txBody>
      </p:sp>
      <p:sp>
        <p:nvSpPr>
          <p:cNvPr id="24" name="Up Arrow 23"/>
          <p:cNvSpPr/>
          <p:nvPr/>
        </p:nvSpPr>
        <p:spPr>
          <a:xfrm>
            <a:off x="5029085" y="4354240"/>
            <a:ext cx="2130872" cy="472480"/>
          </a:xfrm>
          <a:prstGeom prst="upArrow">
            <a:avLst>
              <a:gd name="adj1" fmla="val 80548"/>
              <a:gd name="adj2" fmla="val 50000"/>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Up Arrow 24"/>
          <p:cNvSpPr/>
          <p:nvPr/>
        </p:nvSpPr>
        <p:spPr>
          <a:xfrm>
            <a:off x="5012043" y="3541919"/>
            <a:ext cx="2130872" cy="472480"/>
          </a:xfrm>
          <a:prstGeom prst="upArrow">
            <a:avLst>
              <a:gd name="adj1" fmla="val 80548"/>
              <a:gd name="adj2" fmla="val 50000"/>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Up Arrow 25"/>
          <p:cNvSpPr/>
          <p:nvPr/>
        </p:nvSpPr>
        <p:spPr>
          <a:xfrm>
            <a:off x="5034416" y="5205654"/>
            <a:ext cx="2130872" cy="472480"/>
          </a:xfrm>
          <a:prstGeom prst="upArrow">
            <a:avLst>
              <a:gd name="adj1" fmla="val 80548"/>
              <a:gd name="adj2" fmla="val 50000"/>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Up Arrow 26"/>
          <p:cNvSpPr/>
          <p:nvPr/>
        </p:nvSpPr>
        <p:spPr>
          <a:xfrm>
            <a:off x="5007974" y="2715442"/>
            <a:ext cx="2130872" cy="472480"/>
          </a:xfrm>
          <a:prstGeom prst="upArrow">
            <a:avLst>
              <a:gd name="adj1" fmla="val 80548"/>
              <a:gd name="adj2" fmla="val 50000"/>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92390075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positive things happen (in a principled manner) that would not have otherwise happened.</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be effective leaders, our actions and behaviours must be consistent with our intentions, which are founded upon our values and our organization’s values.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Dignity, respect, and integrity in your interactions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with others are essential for building and maintaining effective relationships.  </a:t>
            </a: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Treat others like you want to be treated.”</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Decisions are based and prioritized on values.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values are what you believe are important about the way you live and work.</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organization’s values are what the most senior leadership believes are important about the way the organization operates.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congruence of good values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essential to effective leadership …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good of the organization and the workers.</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Summary and Key Lessons: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7.7: </a:t>
            </a:r>
            <a:r>
              <a:rPr lang="en-US" sz="1200" i="1" kern="0" dirty="0">
                <a:solidFill>
                  <a:srgbClr val="000000"/>
                </a:solidFill>
                <a:ea typeface="Times New Roman"/>
                <a:cs typeface="Arial" panose="020B0604020202020204" pitchFamily="34" charset="0"/>
                <a:sym typeface="Times New Roman"/>
              </a:rPr>
              <a:t>Leadership – </a:t>
            </a:r>
            <a:r>
              <a:rPr lang="en-US" sz="1200" i="1" kern="0" dirty="0" smtClean="0">
                <a:solidFill>
                  <a:srgbClr val="000000"/>
                </a:solidFill>
                <a:ea typeface="Times New Roman"/>
                <a:cs typeface="Arial" panose="020B0604020202020204" pitchFamily="34" charset="0"/>
                <a:sym typeface="Times New Roman"/>
              </a:rPr>
              <a:t>What </a:t>
            </a:r>
            <a:r>
              <a:rPr lang="en-US" sz="1200" i="1" kern="0" dirty="0">
                <a:solidFill>
                  <a:srgbClr val="000000"/>
                </a:solidFill>
                <a:ea typeface="Times New Roman"/>
                <a:cs typeface="Arial" panose="020B0604020202020204" pitchFamily="34" charset="0"/>
                <a:sym typeface="Times New Roman"/>
              </a:rPr>
              <a:t>Makes an Effective Leader?</a:t>
            </a:r>
          </a:p>
        </p:txBody>
      </p:sp>
    </p:spTree>
    <p:extLst>
      <p:ext uri="{BB962C8B-B14F-4D97-AF65-F5344CB8AC3E}">
        <p14:creationId xmlns:p14="http://schemas.microsoft.com/office/powerpoint/2010/main" val="474052567"/>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69636</TotalTime>
  <Words>4310</Words>
  <Application>Microsoft Office PowerPoint</Application>
  <PresentationFormat>On-screen Show (4:3)</PresentationFormat>
  <Paragraphs>473</Paragraphs>
  <Slides>30</Slides>
  <Notes>30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30</vt:i4>
      </vt:variant>
    </vt:vector>
  </HeadingPairs>
  <TitlesOfParts>
    <vt:vector size="39" baseType="lpstr">
      <vt:lpstr>ＭＳ Ｐゴシック</vt:lpstr>
      <vt:lpstr>Arial</vt:lpstr>
      <vt:lpstr>Calibri</vt:lpstr>
      <vt:lpstr>Noto Sans Symbols</vt:lpstr>
      <vt:lpstr>Times New Roman</vt:lpstr>
      <vt:lpstr>Tw Cen MT</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1980</cp:revision>
  <cp:lastPrinted>2018-12-17T22:21:47Z</cp:lastPrinted>
  <dcterms:created xsi:type="dcterms:W3CDTF">2007-03-28T16:18:47Z</dcterms:created>
  <dcterms:modified xsi:type="dcterms:W3CDTF">2022-07-04T18:44:31Z</dcterms:modified>
</cp:coreProperties>
</file>