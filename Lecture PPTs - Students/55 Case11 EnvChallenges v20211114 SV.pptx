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9144000"/>
  <p:notesSz cx="7010400" cy="92964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576">
          <p15:clr>
            <a:srgbClr val="A4A3A4"/>
          </p15:clr>
        </p15:guide>
        <p15:guide id="2" pos="3792">
          <p15:clr>
            <a:srgbClr val="A4A3A4"/>
          </p15:clr>
        </p15:guide>
      </p15:sldGuideLst>
    </p:ext>
    <p:ext uri="{2D200454-40CA-4A62-9FC3-DE9A4176ACB9}">
      <p15:notesGuideLst>
        <p15:guide id="1" orient="horz" pos="2928">
          <p15:clr>
            <a:srgbClr val="A4A3A4"/>
          </p15:clr>
        </p15:guide>
        <p15:guide id="2" pos="2209">
          <p15:clr>
            <a:srgbClr val="A4A3A4"/>
          </p15:clr>
        </p15:guide>
      </p15:notesGuideLst>
    </p:ext>
    <p:ext uri="http://customooxmlschemas.google.com/">
      <go:slidesCustomData xmlns:go="http://customooxmlschemas.google.com/" r:id="rId22" roundtripDataSignature="AMtx7mjYY4tGADA5ONd6zQtAcBZreygim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76" orient="horz"/>
        <p:guide pos="3792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928" orient="horz"/>
        <p:guide pos="2209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1" y="1"/>
            <a:ext cx="3037146" cy="464504"/>
          </a:xfrm>
          <a:prstGeom prst="rect">
            <a:avLst/>
          </a:prstGeom>
          <a:noFill/>
          <a:ln>
            <a:noFill/>
          </a:ln>
        </p:spPr>
        <p:txBody>
          <a:bodyPr anchorCtr="0" anchor="t" bIns="46550" lIns="93125" spcFirstLastPara="1" rIns="93125" wrap="square" tIns="465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971654" y="1"/>
            <a:ext cx="3037146" cy="464504"/>
          </a:xfrm>
          <a:prstGeom prst="rect">
            <a:avLst/>
          </a:prstGeom>
          <a:noFill/>
          <a:ln>
            <a:noFill/>
          </a:ln>
        </p:spPr>
        <p:txBody>
          <a:bodyPr anchorCtr="0" anchor="t" bIns="46550" lIns="93125" spcFirstLastPara="1" rIns="93125" wrap="square" tIns="4655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00881" y="4415157"/>
            <a:ext cx="5608640" cy="4183696"/>
          </a:xfrm>
          <a:prstGeom prst="rect">
            <a:avLst/>
          </a:prstGeom>
          <a:noFill/>
          <a:ln>
            <a:noFill/>
          </a:ln>
        </p:spPr>
        <p:txBody>
          <a:bodyPr anchorCtr="0" anchor="t" bIns="46550" lIns="93125" spcFirstLastPara="1" rIns="93125" wrap="square" tIns="46550">
            <a:normAutofit/>
          </a:bodyPr>
          <a:lstStyle>
            <a:lvl1pPr indent="-228600" lvl="0" marL="457200" marR="0" rtl="0" algn="l">
              <a:spcBef>
                <a:spcPts val="30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0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0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0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0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1" y="8830312"/>
            <a:ext cx="3037146" cy="464504"/>
          </a:xfrm>
          <a:prstGeom prst="rect">
            <a:avLst/>
          </a:prstGeom>
          <a:noFill/>
          <a:ln>
            <a:noFill/>
          </a:ln>
        </p:spPr>
        <p:txBody>
          <a:bodyPr anchorCtr="0" anchor="b" bIns="46550" lIns="93125" spcFirstLastPara="1" rIns="93125" wrap="square" tIns="465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971654" y="8830312"/>
            <a:ext cx="3037146" cy="464504"/>
          </a:xfrm>
          <a:prstGeom prst="rect">
            <a:avLst/>
          </a:prstGeom>
          <a:noFill/>
          <a:ln>
            <a:noFill/>
          </a:ln>
        </p:spPr>
        <p:txBody>
          <a:bodyPr anchorCtr="0" anchor="b" bIns="46550" lIns="93125" spcFirstLastPara="1" rIns="93125" wrap="square" tIns="4655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:notes"/>
          <p:cNvSpPr/>
          <p:nvPr>
            <p:ph idx="2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0" name="Google Shape;30;p1:notes"/>
          <p:cNvSpPr txBox="1"/>
          <p:nvPr>
            <p:ph idx="1" type="body"/>
          </p:nvPr>
        </p:nvSpPr>
        <p:spPr>
          <a:xfrm>
            <a:off x="700881" y="4415157"/>
            <a:ext cx="5608640" cy="4183696"/>
          </a:xfrm>
          <a:prstGeom prst="rect">
            <a:avLst/>
          </a:prstGeom>
          <a:noFill/>
          <a:ln>
            <a:noFill/>
          </a:ln>
        </p:spPr>
        <p:txBody>
          <a:bodyPr anchorCtr="0" anchor="t" bIns="46550" lIns="93125" spcFirstLastPara="1" rIns="93125" wrap="square" tIns="465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:notes"/>
          <p:cNvSpPr txBox="1"/>
          <p:nvPr/>
        </p:nvSpPr>
        <p:spPr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</p:spPr>
        <p:txBody>
          <a:bodyPr anchorCtr="0" anchor="b" bIns="46250" lIns="92500" spcFirstLastPara="1" rIns="92500" wrap="square" tIns="4625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2:notes"/>
          <p:cNvSpPr/>
          <p:nvPr>
            <p:ph idx="2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" name="Google Shape;54;p2:notes"/>
          <p:cNvSpPr txBox="1"/>
          <p:nvPr>
            <p:ph idx="1" type="body"/>
          </p:nvPr>
        </p:nvSpPr>
        <p:spPr>
          <a:xfrm>
            <a:off x="934880" y="4415844"/>
            <a:ext cx="5140641" cy="4182424"/>
          </a:xfrm>
          <a:prstGeom prst="rect">
            <a:avLst/>
          </a:prstGeom>
          <a:noFill/>
          <a:ln>
            <a:noFill/>
          </a:ln>
        </p:spPr>
        <p:txBody>
          <a:bodyPr anchorCtr="0" anchor="t" bIns="46550" lIns="93125" spcFirstLastPara="1" rIns="93125" wrap="square" tIns="465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 txBox="1"/>
          <p:nvPr/>
        </p:nvSpPr>
        <p:spPr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</p:spPr>
        <p:txBody>
          <a:bodyPr anchorCtr="0" anchor="b" bIns="46250" lIns="92500" spcFirstLastPara="1" rIns="92500" wrap="square" tIns="4625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3:notes"/>
          <p:cNvSpPr/>
          <p:nvPr>
            <p:ph idx="2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" name="Google Shape;63;p3:notes"/>
          <p:cNvSpPr txBox="1"/>
          <p:nvPr>
            <p:ph idx="1" type="body"/>
          </p:nvPr>
        </p:nvSpPr>
        <p:spPr>
          <a:xfrm>
            <a:off x="934880" y="4415844"/>
            <a:ext cx="5140641" cy="4182424"/>
          </a:xfrm>
          <a:prstGeom prst="rect">
            <a:avLst/>
          </a:prstGeom>
          <a:noFill/>
          <a:ln>
            <a:noFill/>
          </a:ln>
        </p:spPr>
        <p:txBody>
          <a:bodyPr anchorCtr="0" anchor="t" bIns="46550" lIns="93125" spcFirstLastPara="1" rIns="93125" wrap="square" tIns="465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:notes"/>
          <p:cNvSpPr txBox="1"/>
          <p:nvPr/>
        </p:nvSpPr>
        <p:spPr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</p:spPr>
        <p:txBody>
          <a:bodyPr anchorCtr="0" anchor="b" bIns="46250" lIns="92500" spcFirstLastPara="1" rIns="92500" wrap="square" tIns="4625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 sz="1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sz="1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4:notes"/>
          <p:cNvSpPr/>
          <p:nvPr>
            <p:ph idx="2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3" name="Google Shape;73;p4:notes"/>
          <p:cNvSpPr txBox="1"/>
          <p:nvPr>
            <p:ph idx="1" type="body"/>
          </p:nvPr>
        </p:nvSpPr>
        <p:spPr>
          <a:xfrm>
            <a:off x="934880" y="4415844"/>
            <a:ext cx="5140641" cy="4182424"/>
          </a:xfrm>
          <a:prstGeom prst="rect">
            <a:avLst/>
          </a:prstGeom>
          <a:noFill/>
          <a:ln>
            <a:noFill/>
          </a:ln>
        </p:spPr>
        <p:txBody>
          <a:bodyPr anchorCtr="0" anchor="t" bIns="46550" lIns="93125" spcFirstLastPara="1" rIns="93125" wrap="square" tIns="465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:notes"/>
          <p:cNvSpPr txBox="1"/>
          <p:nvPr/>
        </p:nvSpPr>
        <p:spPr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</p:spPr>
        <p:txBody>
          <a:bodyPr anchorCtr="0" anchor="b" bIns="46250" lIns="92500" spcFirstLastPara="1" rIns="92500" wrap="square" tIns="4625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5:notes"/>
          <p:cNvSpPr/>
          <p:nvPr>
            <p:ph idx="2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3" name="Google Shape;83;p5:notes"/>
          <p:cNvSpPr txBox="1"/>
          <p:nvPr>
            <p:ph idx="1" type="body"/>
          </p:nvPr>
        </p:nvSpPr>
        <p:spPr>
          <a:xfrm>
            <a:off x="934880" y="4415844"/>
            <a:ext cx="5140641" cy="4182424"/>
          </a:xfrm>
          <a:prstGeom prst="rect">
            <a:avLst/>
          </a:prstGeom>
          <a:noFill/>
          <a:ln>
            <a:noFill/>
          </a:ln>
        </p:spPr>
        <p:txBody>
          <a:bodyPr anchorCtr="0" anchor="t" bIns="46550" lIns="93125" spcFirstLastPara="1" rIns="93125" wrap="square" tIns="465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:notes"/>
          <p:cNvSpPr txBox="1"/>
          <p:nvPr/>
        </p:nvSpPr>
        <p:spPr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</p:spPr>
        <p:txBody>
          <a:bodyPr anchorCtr="0" anchor="b" bIns="46250" lIns="92500" spcFirstLastPara="1" rIns="92500" wrap="square" tIns="4625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6:notes"/>
          <p:cNvSpPr/>
          <p:nvPr>
            <p:ph idx="2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3" name="Google Shape;93;p6:notes"/>
          <p:cNvSpPr txBox="1"/>
          <p:nvPr>
            <p:ph idx="1" type="body"/>
          </p:nvPr>
        </p:nvSpPr>
        <p:spPr>
          <a:xfrm>
            <a:off x="934880" y="4415844"/>
            <a:ext cx="5140641" cy="4182424"/>
          </a:xfrm>
          <a:prstGeom prst="rect">
            <a:avLst/>
          </a:prstGeom>
          <a:noFill/>
          <a:ln>
            <a:noFill/>
          </a:ln>
        </p:spPr>
        <p:txBody>
          <a:bodyPr anchorCtr="0" anchor="t" bIns="46550" lIns="93125" spcFirstLastPara="1" rIns="93125" wrap="square" tIns="465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:notes"/>
          <p:cNvSpPr txBox="1"/>
          <p:nvPr/>
        </p:nvSpPr>
        <p:spPr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</p:spPr>
        <p:txBody>
          <a:bodyPr anchorCtr="0" anchor="b" bIns="46250" lIns="92500" spcFirstLastPara="1" rIns="92500" wrap="square" tIns="4625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7:notes"/>
          <p:cNvSpPr/>
          <p:nvPr>
            <p:ph idx="2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2" name="Google Shape;102;p7:notes"/>
          <p:cNvSpPr txBox="1"/>
          <p:nvPr>
            <p:ph idx="1" type="body"/>
          </p:nvPr>
        </p:nvSpPr>
        <p:spPr>
          <a:xfrm>
            <a:off x="934880" y="4415844"/>
            <a:ext cx="5140641" cy="4182424"/>
          </a:xfrm>
          <a:prstGeom prst="rect">
            <a:avLst/>
          </a:prstGeom>
          <a:noFill/>
          <a:ln>
            <a:noFill/>
          </a:ln>
        </p:spPr>
        <p:txBody>
          <a:bodyPr anchorCtr="0" anchor="t" bIns="46550" lIns="93125" spcFirstLastPara="1" rIns="93125" wrap="square" tIns="465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8:notes"/>
          <p:cNvSpPr txBox="1"/>
          <p:nvPr/>
        </p:nvSpPr>
        <p:spPr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</p:spPr>
        <p:txBody>
          <a:bodyPr anchorCtr="0" anchor="b" bIns="46250" lIns="92500" spcFirstLastPara="1" rIns="92500" wrap="square" tIns="4625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8:notes"/>
          <p:cNvSpPr/>
          <p:nvPr>
            <p:ph idx="2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1" name="Google Shape;111;p8:notes"/>
          <p:cNvSpPr txBox="1"/>
          <p:nvPr>
            <p:ph idx="1" type="body"/>
          </p:nvPr>
        </p:nvSpPr>
        <p:spPr>
          <a:xfrm>
            <a:off x="934880" y="4415844"/>
            <a:ext cx="5140641" cy="4182424"/>
          </a:xfrm>
          <a:prstGeom prst="rect">
            <a:avLst/>
          </a:prstGeom>
          <a:noFill/>
          <a:ln>
            <a:noFill/>
          </a:ln>
        </p:spPr>
        <p:txBody>
          <a:bodyPr anchorCtr="0" anchor="t" bIns="46550" lIns="93125" spcFirstLastPara="1" rIns="93125" wrap="square" tIns="465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9:notes"/>
          <p:cNvSpPr txBox="1"/>
          <p:nvPr/>
        </p:nvSpPr>
        <p:spPr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</p:spPr>
        <p:txBody>
          <a:bodyPr anchorCtr="0" anchor="b" bIns="46250" lIns="92500" spcFirstLastPara="1" rIns="92500" wrap="square" tIns="462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9:notes"/>
          <p:cNvSpPr/>
          <p:nvPr>
            <p:ph idx="2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0" name="Google Shape;120;p9:notes"/>
          <p:cNvSpPr txBox="1"/>
          <p:nvPr>
            <p:ph idx="1" type="body"/>
          </p:nvPr>
        </p:nvSpPr>
        <p:spPr>
          <a:xfrm>
            <a:off x="934880" y="4415844"/>
            <a:ext cx="5140641" cy="4182424"/>
          </a:xfrm>
          <a:prstGeom prst="rect">
            <a:avLst/>
          </a:prstGeom>
          <a:noFill/>
          <a:ln>
            <a:noFill/>
          </a:ln>
        </p:spPr>
        <p:txBody>
          <a:bodyPr anchorCtr="0" anchor="t" bIns="46550" lIns="93125" spcFirstLastPara="1" rIns="93125" wrap="square" tIns="465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0:notes"/>
          <p:cNvSpPr txBox="1"/>
          <p:nvPr>
            <p:ph idx="2" type="hdr"/>
          </p:nvPr>
        </p:nvSpPr>
        <p:spPr>
          <a:xfrm>
            <a:off x="0" y="1"/>
            <a:ext cx="3013724" cy="465665"/>
          </a:xfrm>
          <a:prstGeom prst="rect">
            <a:avLst/>
          </a:prstGeom>
          <a:noFill/>
          <a:ln>
            <a:noFill/>
          </a:ln>
        </p:spPr>
        <p:txBody>
          <a:bodyPr anchorCtr="0" anchor="t" bIns="46450" lIns="92900" spcFirstLastPara="1" rIns="92900" wrap="square" tIns="46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ENGG406 2015WENGG404 Lecture 00 - Day 1</a:t>
            </a:r>
            <a:endParaRPr/>
          </a:p>
        </p:txBody>
      </p:sp>
      <p:sp>
        <p:nvSpPr>
          <p:cNvPr id="128" name="Google Shape;128;p10:notes"/>
          <p:cNvSpPr txBox="1"/>
          <p:nvPr>
            <p:ph idx="11" type="ftr"/>
          </p:nvPr>
        </p:nvSpPr>
        <p:spPr>
          <a:xfrm>
            <a:off x="0" y="8843437"/>
            <a:ext cx="3013724" cy="465665"/>
          </a:xfrm>
          <a:prstGeom prst="rect">
            <a:avLst/>
          </a:prstGeom>
          <a:noFill/>
          <a:ln>
            <a:noFill/>
          </a:ln>
        </p:spPr>
        <p:txBody>
          <a:bodyPr anchorCtr="0" anchor="b" bIns="46450" lIns="92900" spcFirstLastPara="1" rIns="92900" wrap="square" tIns="46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4-March-20152012 Fall</a:t>
            </a:r>
            <a:endParaRPr/>
          </a:p>
        </p:txBody>
      </p:sp>
      <p:sp>
        <p:nvSpPr>
          <p:cNvPr id="129" name="Google Shape;129;p10:notes"/>
          <p:cNvSpPr txBox="1"/>
          <p:nvPr>
            <p:ph idx="12" type="sldNum"/>
          </p:nvPr>
        </p:nvSpPr>
        <p:spPr>
          <a:xfrm>
            <a:off x="3941115" y="8843437"/>
            <a:ext cx="3013724" cy="465665"/>
          </a:xfrm>
          <a:prstGeom prst="rect">
            <a:avLst/>
          </a:prstGeom>
          <a:noFill/>
          <a:ln>
            <a:noFill/>
          </a:ln>
        </p:spPr>
        <p:txBody>
          <a:bodyPr anchorCtr="0" anchor="b" bIns="46450" lIns="92900" spcFirstLastPara="1" rIns="92900" wrap="square" tIns="464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0" name="Google Shape;130;p10:notes"/>
          <p:cNvSpPr txBox="1"/>
          <p:nvPr/>
        </p:nvSpPr>
        <p:spPr>
          <a:xfrm>
            <a:off x="3941115" y="8843437"/>
            <a:ext cx="3013724" cy="465665"/>
          </a:xfrm>
          <a:prstGeom prst="rect">
            <a:avLst/>
          </a:prstGeom>
          <a:noFill/>
          <a:ln>
            <a:noFill/>
          </a:ln>
        </p:spPr>
        <p:txBody>
          <a:bodyPr anchorCtr="0" anchor="b" bIns="45575" lIns="91175" spcFirstLastPara="1" rIns="91175" wrap="square" tIns="455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" name="Google Shape;131;p10:notes"/>
          <p:cNvSpPr/>
          <p:nvPr>
            <p:ph idx="3" type="sldImg"/>
          </p:nvPr>
        </p:nvSpPr>
        <p:spPr>
          <a:xfrm>
            <a:off x="1152525" y="698500"/>
            <a:ext cx="4651375" cy="34893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2" name="Google Shape;132;p10:notes"/>
          <p:cNvSpPr txBox="1"/>
          <p:nvPr>
            <p:ph idx="1" type="body"/>
          </p:nvPr>
        </p:nvSpPr>
        <p:spPr>
          <a:xfrm>
            <a:off x="927391" y="4421719"/>
            <a:ext cx="5100057" cy="4188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575" lIns="91175" spcFirstLastPara="1" rIns="91175" wrap="square" tIns="4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1:notes"/>
          <p:cNvSpPr txBox="1"/>
          <p:nvPr/>
        </p:nvSpPr>
        <p:spPr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</p:spPr>
        <p:txBody>
          <a:bodyPr anchorCtr="0" anchor="b" bIns="46250" lIns="92500" spcFirstLastPara="1" rIns="92500" wrap="square" tIns="4625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1:notes"/>
          <p:cNvSpPr/>
          <p:nvPr>
            <p:ph idx="2" type="sldImg"/>
          </p:nvPr>
        </p:nvSpPr>
        <p:spPr>
          <a:xfrm>
            <a:off x="1181100" y="698500"/>
            <a:ext cx="46482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4" name="Google Shape;144;p11:notes"/>
          <p:cNvSpPr txBox="1"/>
          <p:nvPr>
            <p:ph idx="1" type="body"/>
          </p:nvPr>
        </p:nvSpPr>
        <p:spPr>
          <a:xfrm>
            <a:off x="934880" y="4415844"/>
            <a:ext cx="5140641" cy="4182424"/>
          </a:xfrm>
          <a:prstGeom prst="rect">
            <a:avLst/>
          </a:prstGeom>
          <a:noFill/>
          <a:ln>
            <a:noFill/>
          </a:ln>
        </p:spPr>
        <p:txBody>
          <a:bodyPr anchorCtr="0" anchor="t" bIns="46550" lIns="93125" spcFirstLastPara="1" rIns="93125" wrap="square" tIns="465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2:notes"/>
          <p:cNvSpPr txBox="1"/>
          <p:nvPr>
            <p:ph idx="2" type="hdr"/>
          </p:nvPr>
        </p:nvSpPr>
        <p:spPr>
          <a:xfrm>
            <a:off x="0" y="1"/>
            <a:ext cx="3013724" cy="465665"/>
          </a:xfrm>
          <a:prstGeom prst="rect">
            <a:avLst/>
          </a:prstGeom>
          <a:noFill/>
          <a:ln>
            <a:noFill/>
          </a:ln>
        </p:spPr>
        <p:txBody>
          <a:bodyPr anchorCtr="0" anchor="t" bIns="46450" lIns="92900" spcFirstLastPara="1" rIns="92900" wrap="square" tIns="46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ENGG406 2015WENGG404 Lecture 00 - Day 1</a:t>
            </a:r>
            <a:endParaRPr/>
          </a:p>
        </p:txBody>
      </p:sp>
      <p:sp>
        <p:nvSpPr>
          <p:cNvPr id="152" name="Google Shape;152;p12:notes"/>
          <p:cNvSpPr txBox="1"/>
          <p:nvPr>
            <p:ph idx="11" type="ftr"/>
          </p:nvPr>
        </p:nvSpPr>
        <p:spPr>
          <a:xfrm>
            <a:off x="0" y="8843437"/>
            <a:ext cx="3013724" cy="465665"/>
          </a:xfrm>
          <a:prstGeom prst="rect">
            <a:avLst/>
          </a:prstGeom>
          <a:noFill/>
          <a:ln>
            <a:noFill/>
          </a:ln>
        </p:spPr>
        <p:txBody>
          <a:bodyPr anchorCtr="0" anchor="b" bIns="46450" lIns="92900" spcFirstLastPara="1" rIns="92900" wrap="square" tIns="46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/>
              <a:t>4-March-20152012 Fall</a:t>
            </a:r>
            <a:endParaRPr/>
          </a:p>
        </p:txBody>
      </p:sp>
      <p:sp>
        <p:nvSpPr>
          <p:cNvPr id="153" name="Google Shape;153;p12:notes"/>
          <p:cNvSpPr txBox="1"/>
          <p:nvPr>
            <p:ph idx="12" type="sldNum"/>
          </p:nvPr>
        </p:nvSpPr>
        <p:spPr>
          <a:xfrm>
            <a:off x="3941115" y="8843437"/>
            <a:ext cx="3013724" cy="465665"/>
          </a:xfrm>
          <a:prstGeom prst="rect">
            <a:avLst/>
          </a:prstGeom>
          <a:noFill/>
          <a:ln>
            <a:noFill/>
          </a:ln>
        </p:spPr>
        <p:txBody>
          <a:bodyPr anchorCtr="0" anchor="b" bIns="46450" lIns="92900" spcFirstLastPara="1" rIns="92900" wrap="square" tIns="464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4" name="Google Shape;154;p12:notes"/>
          <p:cNvSpPr txBox="1"/>
          <p:nvPr/>
        </p:nvSpPr>
        <p:spPr>
          <a:xfrm>
            <a:off x="3941115" y="8843437"/>
            <a:ext cx="3013724" cy="465665"/>
          </a:xfrm>
          <a:prstGeom prst="rect">
            <a:avLst/>
          </a:prstGeom>
          <a:noFill/>
          <a:ln>
            <a:noFill/>
          </a:ln>
        </p:spPr>
        <p:txBody>
          <a:bodyPr anchorCtr="0" anchor="b" bIns="45575" lIns="91175" spcFirstLastPara="1" rIns="91175" wrap="square" tIns="455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" name="Google Shape;155;p12:notes"/>
          <p:cNvSpPr/>
          <p:nvPr>
            <p:ph idx="3" type="sldImg"/>
          </p:nvPr>
        </p:nvSpPr>
        <p:spPr>
          <a:xfrm>
            <a:off x="1152525" y="698500"/>
            <a:ext cx="4651375" cy="34893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6" name="Google Shape;156;p12:notes"/>
          <p:cNvSpPr txBox="1"/>
          <p:nvPr>
            <p:ph idx="1" type="body"/>
          </p:nvPr>
        </p:nvSpPr>
        <p:spPr>
          <a:xfrm>
            <a:off x="927391" y="4421719"/>
            <a:ext cx="5100057" cy="4188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575" lIns="91175" spcFirstLastPara="1" rIns="91175" wrap="square" tIns="4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3:notes"/>
          <p:cNvSpPr txBox="1"/>
          <p:nvPr>
            <p:ph idx="2" type="hdr"/>
          </p:nvPr>
        </p:nvSpPr>
        <p:spPr>
          <a:xfrm>
            <a:off x="0" y="1"/>
            <a:ext cx="3013724" cy="465665"/>
          </a:xfrm>
          <a:prstGeom prst="rect">
            <a:avLst/>
          </a:prstGeom>
          <a:noFill/>
          <a:ln>
            <a:noFill/>
          </a:ln>
        </p:spPr>
        <p:txBody>
          <a:bodyPr anchorCtr="0" anchor="t" bIns="46450" lIns="92900" spcFirstLastPara="1" rIns="92900" wrap="square" tIns="46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ENGG406 2015WENGG404 Lecture 00 - Day 1</a:t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9" name="Google Shape;169;p13:notes"/>
          <p:cNvSpPr txBox="1"/>
          <p:nvPr>
            <p:ph idx="11" type="ftr"/>
          </p:nvPr>
        </p:nvSpPr>
        <p:spPr>
          <a:xfrm>
            <a:off x="0" y="8843437"/>
            <a:ext cx="3013724" cy="465665"/>
          </a:xfrm>
          <a:prstGeom prst="rect">
            <a:avLst/>
          </a:prstGeom>
          <a:noFill/>
          <a:ln>
            <a:noFill/>
          </a:ln>
        </p:spPr>
        <p:txBody>
          <a:bodyPr anchorCtr="0" anchor="b" bIns="46450" lIns="92900" spcFirstLastPara="1" rIns="92900" wrap="square" tIns="46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4-March-20152012 Fall</a:t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0" name="Google Shape;170;p13:notes"/>
          <p:cNvSpPr txBox="1"/>
          <p:nvPr>
            <p:ph idx="12" type="sldNum"/>
          </p:nvPr>
        </p:nvSpPr>
        <p:spPr>
          <a:xfrm>
            <a:off x="3941115" y="8843437"/>
            <a:ext cx="3013724" cy="465665"/>
          </a:xfrm>
          <a:prstGeom prst="rect">
            <a:avLst/>
          </a:prstGeom>
          <a:noFill/>
          <a:ln>
            <a:noFill/>
          </a:ln>
        </p:spPr>
        <p:txBody>
          <a:bodyPr anchorCtr="0" anchor="b" bIns="46450" lIns="92900" spcFirstLastPara="1" rIns="92900" wrap="square" tIns="464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3:notes"/>
          <p:cNvSpPr txBox="1"/>
          <p:nvPr/>
        </p:nvSpPr>
        <p:spPr>
          <a:xfrm>
            <a:off x="3941115" y="8843437"/>
            <a:ext cx="3013724" cy="465665"/>
          </a:xfrm>
          <a:prstGeom prst="rect">
            <a:avLst/>
          </a:prstGeom>
          <a:noFill/>
          <a:ln>
            <a:noFill/>
          </a:ln>
        </p:spPr>
        <p:txBody>
          <a:bodyPr anchorCtr="0" anchor="b" bIns="45575" lIns="91175" spcFirstLastPara="1" rIns="91175" wrap="square" tIns="455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2" name="Google Shape;172;p13:notes"/>
          <p:cNvSpPr/>
          <p:nvPr>
            <p:ph idx="3" type="sldImg"/>
          </p:nvPr>
        </p:nvSpPr>
        <p:spPr>
          <a:xfrm>
            <a:off x="1152525" y="698500"/>
            <a:ext cx="4651375" cy="34893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3" name="Google Shape;173;p13:notes"/>
          <p:cNvSpPr txBox="1"/>
          <p:nvPr>
            <p:ph idx="1" type="body"/>
          </p:nvPr>
        </p:nvSpPr>
        <p:spPr>
          <a:xfrm>
            <a:off x="927391" y="4421719"/>
            <a:ext cx="5100057" cy="4188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575" lIns="91175" spcFirstLastPara="1" rIns="91175" wrap="square" tIns="4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4:notes"/>
          <p:cNvSpPr txBox="1"/>
          <p:nvPr>
            <p:ph idx="2" type="hdr"/>
          </p:nvPr>
        </p:nvSpPr>
        <p:spPr>
          <a:xfrm>
            <a:off x="0" y="1"/>
            <a:ext cx="3013724" cy="465665"/>
          </a:xfrm>
          <a:prstGeom prst="rect">
            <a:avLst/>
          </a:prstGeom>
          <a:noFill/>
          <a:ln>
            <a:noFill/>
          </a:ln>
        </p:spPr>
        <p:txBody>
          <a:bodyPr anchorCtr="0" anchor="t" bIns="46450" lIns="92900" spcFirstLastPara="1" rIns="92900" wrap="square" tIns="46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ENGG406 2015WENGG404 Lecture 00 - Day 1</a:t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7" name="Google Shape;187;p14:notes"/>
          <p:cNvSpPr txBox="1"/>
          <p:nvPr>
            <p:ph idx="11" type="ftr"/>
          </p:nvPr>
        </p:nvSpPr>
        <p:spPr>
          <a:xfrm>
            <a:off x="0" y="8843437"/>
            <a:ext cx="3013724" cy="465665"/>
          </a:xfrm>
          <a:prstGeom prst="rect">
            <a:avLst/>
          </a:prstGeom>
          <a:noFill/>
          <a:ln>
            <a:noFill/>
          </a:ln>
        </p:spPr>
        <p:txBody>
          <a:bodyPr anchorCtr="0" anchor="b" bIns="46450" lIns="92900" spcFirstLastPara="1" rIns="92900" wrap="square" tIns="46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4-March-20152012 Fall</a:t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8" name="Google Shape;188;p14:notes"/>
          <p:cNvSpPr txBox="1"/>
          <p:nvPr>
            <p:ph idx="12" type="sldNum"/>
          </p:nvPr>
        </p:nvSpPr>
        <p:spPr>
          <a:xfrm>
            <a:off x="3941115" y="8843437"/>
            <a:ext cx="3013724" cy="465665"/>
          </a:xfrm>
          <a:prstGeom prst="rect">
            <a:avLst/>
          </a:prstGeom>
          <a:noFill/>
          <a:ln>
            <a:noFill/>
          </a:ln>
        </p:spPr>
        <p:txBody>
          <a:bodyPr anchorCtr="0" anchor="b" bIns="46450" lIns="92900" spcFirstLastPara="1" rIns="92900" wrap="square" tIns="464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4:notes"/>
          <p:cNvSpPr txBox="1"/>
          <p:nvPr/>
        </p:nvSpPr>
        <p:spPr>
          <a:xfrm>
            <a:off x="3941115" y="8843437"/>
            <a:ext cx="3013724" cy="465665"/>
          </a:xfrm>
          <a:prstGeom prst="rect">
            <a:avLst/>
          </a:prstGeom>
          <a:noFill/>
          <a:ln>
            <a:noFill/>
          </a:ln>
        </p:spPr>
        <p:txBody>
          <a:bodyPr anchorCtr="0" anchor="b" bIns="45575" lIns="91175" spcFirstLastPara="1" rIns="91175" wrap="square" tIns="455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0" name="Google Shape;190;p14:notes"/>
          <p:cNvSpPr/>
          <p:nvPr>
            <p:ph idx="3" type="sldImg"/>
          </p:nvPr>
        </p:nvSpPr>
        <p:spPr>
          <a:xfrm>
            <a:off x="1152525" y="698500"/>
            <a:ext cx="4651375" cy="34893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1" name="Google Shape;191;p14:notes"/>
          <p:cNvSpPr txBox="1"/>
          <p:nvPr>
            <p:ph idx="1" type="body"/>
          </p:nvPr>
        </p:nvSpPr>
        <p:spPr>
          <a:xfrm>
            <a:off x="927391" y="4421719"/>
            <a:ext cx="5100057" cy="4188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575" lIns="91175" spcFirstLastPara="1" rIns="91175" wrap="square" tIns="4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5:notes"/>
          <p:cNvSpPr txBox="1"/>
          <p:nvPr>
            <p:ph idx="2" type="hdr"/>
          </p:nvPr>
        </p:nvSpPr>
        <p:spPr>
          <a:xfrm>
            <a:off x="0" y="1"/>
            <a:ext cx="3013724" cy="465665"/>
          </a:xfrm>
          <a:prstGeom prst="rect">
            <a:avLst/>
          </a:prstGeom>
          <a:noFill/>
          <a:ln>
            <a:noFill/>
          </a:ln>
        </p:spPr>
        <p:txBody>
          <a:bodyPr anchorCtr="0" anchor="t" bIns="46450" lIns="92900" spcFirstLastPara="1" rIns="92900" wrap="square" tIns="46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ENGG406 2015WENGG404 Lecture 00 - Day 1</a:t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0" name="Google Shape;200;p15:notes"/>
          <p:cNvSpPr txBox="1"/>
          <p:nvPr>
            <p:ph idx="11" type="ftr"/>
          </p:nvPr>
        </p:nvSpPr>
        <p:spPr>
          <a:xfrm>
            <a:off x="0" y="8843437"/>
            <a:ext cx="3013724" cy="465665"/>
          </a:xfrm>
          <a:prstGeom prst="rect">
            <a:avLst/>
          </a:prstGeom>
          <a:noFill/>
          <a:ln>
            <a:noFill/>
          </a:ln>
        </p:spPr>
        <p:txBody>
          <a:bodyPr anchorCtr="0" anchor="b" bIns="46450" lIns="92900" spcFirstLastPara="1" rIns="92900" wrap="square" tIns="46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4-March-20152012 Fall</a:t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1" name="Google Shape;201;p15:notes"/>
          <p:cNvSpPr txBox="1"/>
          <p:nvPr>
            <p:ph idx="12" type="sldNum"/>
          </p:nvPr>
        </p:nvSpPr>
        <p:spPr>
          <a:xfrm>
            <a:off x="3941115" y="8843437"/>
            <a:ext cx="3013724" cy="465665"/>
          </a:xfrm>
          <a:prstGeom prst="rect">
            <a:avLst/>
          </a:prstGeom>
          <a:noFill/>
          <a:ln>
            <a:noFill/>
          </a:ln>
        </p:spPr>
        <p:txBody>
          <a:bodyPr anchorCtr="0" anchor="b" bIns="46450" lIns="92900" spcFirstLastPara="1" rIns="92900" wrap="square" tIns="464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5:notes"/>
          <p:cNvSpPr txBox="1"/>
          <p:nvPr/>
        </p:nvSpPr>
        <p:spPr>
          <a:xfrm>
            <a:off x="3941115" y="8843437"/>
            <a:ext cx="3013724" cy="465665"/>
          </a:xfrm>
          <a:prstGeom prst="rect">
            <a:avLst/>
          </a:prstGeom>
          <a:noFill/>
          <a:ln>
            <a:noFill/>
          </a:ln>
        </p:spPr>
        <p:txBody>
          <a:bodyPr anchorCtr="0" anchor="b" bIns="45575" lIns="91175" spcFirstLastPara="1" rIns="91175" wrap="square" tIns="455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3" name="Google Shape;203;p15:notes"/>
          <p:cNvSpPr/>
          <p:nvPr>
            <p:ph idx="3" type="sldImg"/>
          </p:nvPr>
        </p:nvSpPr>
        <p:spPr>
          <a:xfrm>
            <a:off x="1152525" y="698500"/>
            <a:ext cx="4651375" cy="34893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4" name="Google Shape;204;p15:notes"/>
          <p:cNvSpPr txBox="1"/>
          <p:nvPr>
            <p:ph idx="1" type="body"/>
          </p:nvPr>
        </p:nvSpPr>
        <p:spPr>
          <a:xfrm>
            <a:off x="927391" y="4421719"/>
            <a:ext cx="5100057" cy="4188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575" lIns="91175" spcFirstLastPara="1" rIns="91175" wrap="square" tIns="4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6:notes"/>
          <p:cNvSpPr txBox="1"/>
          <p:nvPr>
            <p:ph idx="2" type="hdr"/>
          </p:nvPr>
        </p:nvSpPr>
        <p:spPr>
          <a:xfrm>
            <a:off x="0" y="1"/>
            <a:ext cx="3013724" cy="465665"/>
          </a:xfrm>
          <a:prstGeom prst="rect">
            <a:avLst/>
          </a:prstGeom>
          <a:noFill/>
          <a:ln>
            <a:noFill/>
          </a:ln>
        </p:spPr>
        <p:txBody>
          <a:bodyPr anchorCtr="0" anchor="t" bIns="46450" lIns="92900" spcFirstLastPara="1" rIns="92900" wrap="square" tIns="46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ENGG406 2015WENGG404 Lecture 00 - Day 1</a:t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4" name="Google Shape;214;p16:notes"/>
          <p:cNvSpPr txBox="1"/>
          <p:nvPr>
            <p:ph idx="11" type="ftr"/>
          </p:nvPr>
        </p:nvSpPr>
        <p:spPr>
          <a:xfrm>
            <a:off x="0" y="8843437"/>
            <a:ext cx="3013724" cy="465665"/>
          </a:xfrm>
          <a:prstGeom prst="rect">
            <a:avLst/>
          </a:prstGeom>
          <a:noFill/>
          <a:ln>
            <a:noFill/>
          </a:ln>
        </p:spPr>
        <p:txBody>
          <a:bodyPr anchorCtr="0" anchor="b" bIns="46450" lIns="92900" spcFirstLastPara="1" rIns="92900" wrap="square" tIns="46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4-March-20152012 Fall</a:t>
            </a:r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5" name="Google Shape;215;p16:notes"/>
          <p:cNvSpPr txBox="1"/>
          <p:nvPr>
            <p:ph idx="12" type="sldNum"/>
          </p:nvPr>
        </p:nvSpPr>
        <p:spPr>
          <a:xfrm>
            <a:off x="3941115" y="8843437"/>
            <a:ext cx="3013724" cy="465665"/>
          </a:xfrm>
          <a:prstGeom prst="rect">
            <a:avLst/>
          </a:prstGeom>
          <a:noFill/>
          <a:ln>
            <a:noFill/>
          </a:ln>
        </p:spPr>
        <p:txBody>
          <a:bodyPr anchorCtr="0" anchor="b" bIns="46450" lIns="92900" spcFirstLastPara="1" rIns="92900" wrap="square" tIns="464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6:notes"/>
          <p:cNvSpPr txBox="1"/>
          <p:nvPr/>
        </p:nvSpPr>
        <p:spPr>
          <a:xfrm>
            <a:off x="3941115" y="8843437"/>
            <a:ext cx="3013724" cy="465665"/>
          </a:xfrm>
          <a:prstGeom prst="rect">
            <a:avLst/>
          </a:prstGeom>
          <a:noFill/>
          <a:ln>
            <a:noFill/>
          </a:ln>
        </p:spPr>
        <p:txBody>
          <a:bodyPr anchorCtr="0" anchor="b" bIns="45575" lIns="91175" spcFirstLastPara="1" rIns="91175" wrap="square" tIns="455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7" name="Google Shape;217;p16:notes"/>
          <p:cNvSpPr/>
          <p:nvPr>
            <p:ph idx="3" type="sldImg"/>
          </p:nvPr>
        </p:nvSpPr>
        <p:spPr>
          <a:xfrm>
            <a:off x="1152525" y="698500"/>
            <a:ext cx="4651375" cy="34893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8" name="Google Shape;218;p16:notes"/>
          <p:cNvSpPr txBox="1"/>
          <p:nvPr>
            <p:ph idx="1" type="body"/>
          </p:nvPr>
        </p:nvSpPr>
        <p:spPr>
          <a:xfrm>
            <a:off x="927391" y="4421719"/>
            <a:ext cx="5100057" cy="4188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575" lIns="91175" spcFirstLastPara="1" rIns="91175" wrap="square" tIns="4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8"/>
          <p:cNvSpPr txBox="1"/>
          <p:nvPr>
            <p:ph type="ctrTitle"/>
          </p:nvPr>
        </p:nvSpPr>
        <p:spPr>
          <a:xfrm>
            <a:off x="685800" y="1905000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720"/>
              </a:spcBef>
              <a:spcAft>
                <a:spcPts val="0"/>
              </a:spcAft>
              <a:buSzPts val="14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8"/>
          <p:cNvSpPr txBox="1"/>
          <p:nvPr>
            <p:ph idx="1" type="subTitle"/>
          </p:nvPr>
        </p:nvSpPr>
        <p:spPr>
          <a:xfrm>
            <a:off x="1371600" y="41148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560"/>
              </a:spcBef>
              <a:spcAft>
                <a:spcPts val="0"/>
              </a:spcAft>
              <a:buClr>
                <a:srgbClr val="AA9C8F"/>
              </a:buClr>
              <a:buSzPts val="2800"/>
              <a:buFont typeface="Noto Sans Symbols"/>
              <a:buNone/>
              <a:defRPr b="0" i="0" sz="2800" u="none" cap="none" strike="noStrike">
                <a:solidFill>
                  <a:srgbClr val="4D4D4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520"/>
              </a:spcBef>
              <a:spcAft>
                <a:spcPts val="0"/>
              </a:spcAft>
              <a:buClr>
                <a:srgbClr val="C75B12"/>
              </a:buClr>
              <a:buSzPts val="2600"/>
              <a:buFont typeface="Noto Sans Symbols"/>
              <a:buChar char="▪"/>
              <a:defRPr b="0" i="0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rgbClr val="C75B12"/>
              </a:buClr>
              <a:buSzPts val="2400"/>
              <a:buFont typeface="Noto Sans Symbols"/>
              <a:buChar char="▪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rgbClr val="C75B1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rgbClr val="C75B1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rgbClr val="C75B1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rgbClr val="C75B1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rgbClr val="C75B1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rgbClr val="C75B1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9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p19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p19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spcAft>
                <a:spcPts val="0"/>
              </a:spcAft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spcAft>
                <a:spcPts val="0"/>
              </a:spcAft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spcAft>
                <a:spcPts val="0"/>
              </a:spcAft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spcAft>
                <a:spcPts val="0"/>
              </a:spcAft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spcAft>
                <a:spcPts val="0"/>
              </a:spcAft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spcAft>
                <a:spcPts val="0"/>
              </a:spcAft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spcAft>
                <a:spcPts val="0"/>
              </a:spcAft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spcAft>
                <a:spcPts val="0"/>
              </a:spcAft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0"/>
          <p:cNvSpPr txBox="1"/>
          <p:nvPr>
            <p:ph type="title"/>
          </p:nvPr>
        </p:nvSpPr>
        <p:spPr>
          <a:xfrm>
            <a:off x="685800" y="168275"/>
            <a:ext cx="8153400" cy="563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0"/>
          <p:cNvSpPr txBox="1"/>
          <p:nvPr>
            <p:ph idx="1" type="body"/>
          </p:nvPr>
        </p:nvSpPr>
        <p:spPr>
          <a:xfrm>
            <a:off x="663389" y="1120588"/>
            <a:ext cx="81534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8300" lvl="1" marL="914400" marR="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rgbClr val="C75B1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rgbClr val="C75B1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rgbClr val="C75B1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rgbClr val="C75B1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Content" type="txAndObj">
  <p:cSld name="TEXT_AND_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1"/>
          <p:cNvSpPr txBox="1"/>
          <p:nvPr>
            <p:ph type="title"/>
          </p:nvPr>
        </p:nvSpPr>
        <p:spPr>
          <a:xfrm>
            <a:off x="577850" y="168275"/>
            <a:ext cx="8229600" cy="563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1"/>
          <p:cNvSpPr txBox="1"/>
          <p:nvPr>
            <p:ph idx="1" type="body"/>
          </p:nvPr>
        </p:nvSpPr>
        <p:spPr>
          <a:xfrm>
            <a:off x="577850" y="758825"/>
            <a:ext cx="4038600" cy="5718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rgbClr val="AA9C8F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rgbClr val="4D4D4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93700" lvl="1" marL="914400" marR="0" rtl="0" algn="l">
              <a:spcBef>
                <a:spcPts val="520"/>
              </a:spcBef>
              <a:spcAft>
                <a:spcPts val="0"/>
              </a:spcAft>
              <a:buClr>
                <a:srgbClr val="C75B12"/>
              </a:buClr>
              <a:buSzPts val="2600"/>
              <a:buFont typeface="Noto Sans Symbols"/>
              <a:buChar char="▪"/>
              <a:defRPr b="0" i="0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rgbClr val="C75B12"/>
              </a:buClr>
              <a:buSzPts val="2400"/>
              <a:buFont typeface="Noto Sans Symbols"/>
              <a:buChar char="▪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rgbClr val="C75B1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rgbClr val="C75B1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rgbClr val="C75B1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rgbClr val="C75B1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rgbClr val="C75B1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rgbClr val="C75B1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21"/>
          <p:cNvSpPr txBox="1"/>
          <p:nvPr>
            <p:ph idx="2" type="body"/>
          </p:nvPr>
        </p:nvSpPr>
        <p:spPr>
          <a:xfrm>
            <a:off x="4768850" y="758825"/>
            <a:ext cx="4038600" cy="5718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rgbClr val="AA9C8F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rgbClr val="4D4D4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93700" lvl="1" marL="914400" marR="0" rtl="0" algn="l">
              <a:spcBef>
                <a:spcPts val="520"/>
              </a:spcBef>
              <a:spcAft>
                <a:spcPts val="0"/>
              </a:spcAft>
              <a:buClr>
                <a:srgbClr val="C75B12"/>
              </a:buClr>
              <a:buSzPts val="2600"/>
              <a:buFont typeface="Noto Sans Symbols"/>
              <a:buChar char="▪"/>
              <a:defRPr b="0" i="0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rgbClr val="C75B12"/>
              </a:buClr>
              <a:buSzPts val="2400"/>
              <a:buFont typeface="Noto Sans Symbols"/>
              <a:buChar char="▪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rgbClr val="C75B1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rgbClr val="C75B1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rgbClr val="C75B1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rgbClr val="C75B1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rgbClr val="C75B1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rgbClr val="C75B12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4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/>
          <p:nvPr>
            <p:ph type="title"/>
          </p:nvPr>
        </p:nvSpPr>
        <p:spPr>
          <a:xfrm>
            <a:off x="685800" y="168275"/>
            <a:ext cx="8153400" cy="563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002C5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002C5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002C5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002C5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rgbClr val="002C5F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rgbClr val="002C5F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rgbClr val="002C5F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600" u="none" cap="none" strike="noStrike">
                <a:solidFill>
                  <a:srgbClr val="002C5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11" name="Google Shape;11;p17"/>
          <p:cNvCxnSpPr/>
          <p:nvPr/>
        </p:nvCxnSpPr>
        <p:spPr>
          <a:xfrm>
            <a:off x="76200" y="762000"/>
            <a:ext cx="8763000" cy="1588"/>
          </a:xfrm>
          <a:prstGeom prst="straightConnector1">
            <a:avLst/>
          </a:prstGeom>
          <a:noFill/>
          <a:ln cap="flat" cmpd="sng" w="9525">
            <a:solidFill>
              <a:srgbClr val="AA9C8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17"/>
          <p:cNvCxnSpPr/>
          <p:nvPr/>
        </p:nvCxnSpPr>
        <p:spPr>
          <a:xfrm>
            <a:off x="76200" y="6248400"/>
            <a:ext cx="8763000" cy="1588"/>
          </a:xfrm>
          <a:prstGeom prst="straightConnector1">
            <a:avLst/>
          </a:prstGeom>
          <a:noFill/>
          <a:ln cap="flat" cmpd="sng" w="9525">
            <a:solidFill>
              <a:srgbClr val="AA9C8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http://www.nanobridge.ca/Portals/0/Images/eng-logo.jpg" id="13" name="Google Shape;13;p17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61999" y="6307038"/>
            <a:ext cx="1838325" cy="55245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hyperlink" Target="http://www.cbc.ca/news/technology/electric-cars-could-boost-co2-emissions-in-some-provinces-1.3007409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en.wikipedia.org/wiki/Critical_thinking" TargetMode="External"/><Relationship Id="rId4" Type="http://schemas.openxmlformats.org/officeDocument/2006/relationships/hyperlink" Target="https://en.oxforddictionaries.com/definition/critical_thinking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www.polestar.com/dato-assets/11286/1600176185-20200915polestarlcafinala.pdf" TargetMode="External"/><Relationship Id="rId4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"/>
          <p:cNvSpPr txBox="1"/>
          <p:nvPr/>
        </p:nvSpPr>
        <p:spPr>
          <a:xfrm>
            <a:off x="228600" y="838200"/>
            <a:ext cx="8610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6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On Becoming a </a:t>
            </a:r>
            <a:br>
              <a:rPr b="1" i="1" lang="en-US" sz="36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1" lang="en-US" sz="36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Leader in Risk Management</a:t>
            </a:r>
            <a:endParaRPr b="1" i="1" sz="3600" u="none" cap="none" strike="noStrike">
              <a:solidFill>
                <a:srgbClr val="0000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1"/>
          <p:cNvSpPr txBox="1"/>
          <p:nvPr>
            <p:ph idx="1" type="subTitle"/>
          </p:nvPr>
        </p:nvSpPr>
        <p:spPr>
          <a:xfrm>
            <a:off x="838200" y="2105520"/>
            <a:ext cx="7315201" cy="216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9C8F"/>
              </a:buClr>
              <a:buSzPts val="3200"/>
              <a:buFont typeface="Noto Sans Symbols"/>
              <a:buNone/>
            </a:pPr>
            <a:r>
              <a:rPr b="1" i="0" lang="en-US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ENGG404 - Lecture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9C8F"/>
              </a:buClr>
              <a:buSzPts val="3200"/>
              <a:buFont typeface="Noto Sans Symbols"/>
              <a:buNone/>
            </a:pPr>
            <a:r>
              <a:rPr b="1" i="0" lang="en-US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Case 11: </a:t>
            </a:r>
            <a:br>
              <a:rPr b="1" i="0" lang="en-US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Environmental Challenges</a:t>
            </a:r>
            <a:endParaRPr/>
          </a:p>
        </p:txBody>
      </p:sp>
      <p:sp>
        <p:nvSpPr>
          <p:cNvPr id="34" name="Google Shape;34;p1"/>
          <p:cNvSpPr txBox="1"/>
          <p:nvPr/>
        </p:nvSpPr>
        <p:spPr>
          <a:xfrm>
            <a:off x="152402" y="176015"/>
            <a:ext cx="1176817" cy="461665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Fundamentals of RM</a:t>
            </a:r>
            <a:endParaRPr/>
          </a:p>
        </p:txBody>
      </p:sp>
      <p:sp>
        <p:nvSpPr>
          <p:cNvPr id="35" name="Google Shape;35;p1"/>
          <p:cNvSpPr txBox="1"/>
          <p:nvPr/>
        </p:nvSpPr>
        <p:spPr>
          <a:xfrm>
            <a:off x="1481037" y="169908"/>
            <a:ext cx="1024999" cy="461665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RM System and Process</a:t>
            </a:r>
            <a:endParaRPr/>
          </a:p>
        </p:txBody>
      </p:sp>
      <p:sp>
        <p:nvSpPr>
          <p:cNvPr id="36" name="Google Shape;36;p1"/>
          <p:cNvSpPr txBox="1"/>
          <p:nvPr/>
        </p:nvSpPr>
        <p:spPr>
          <a:xfrm>
            <a:off x="7874130" y="169908"/>
            <a:ext cx="1155550" cy="461665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Application and Perspectives</a:t>
            </a:r>
            <a:endParaRPr/>
          </a:p>
        </p:txBody>
      </p:sp>
      <p:sp>
        <p:nvSpPr>
          <p:cNvPr id="37" name="Google Shape;37;p1"/>
          <p:cNvSpPr txBox="1"/>
          <p:nvPr/>
        </p:nvSpPr>
        <p:spPr>
          <a:xfrm>
            <a:off x="7051217" y="169908"/>
            <a:ext cx="671096" cy="461665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People &amp; Org.</a:t>
            </a:r>
            <a:endParaRPr/>
          </a:p>
        </p:txBody>
      </p:sp>
      <p:sp>
        <p:nvSpPr>
          <p:cNvPr id="38" name="Google Shape;38;p1"/>
          <p:cNvSpPr txBox="1"/>
          <p:nvPr/>
        </p:nvSpPr>
        <p:spPr>
          <a:xfrm>
            <a:off x="3834670" y="169908"/>
            <a:ext cx="1024999" cy="461665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Incident Investigation</a:t>
            </a:r>
            <a:endParaRPr/>
          </a:p>
        </p:txBody>
      </p:sp>
      <p:sp>
        <p:nvSpPr>
          <p:cNvPr id="39" name="Google Shape;39;p1"/>
          <p:cNvSpPr txBox="1"/>
          <p:nvPr/>
        </p:nvSpPr>
        <p:spPr>
          <a:xfrm>
            <a:off x="5011486" y="169908"/>
            <a:ext cx="1024999" cy="461665"/>
          </a:xfrm>
          <a:prstGeom prst="rect">
            <a:avLst/>
          </a:prstGeom>
          <a:solidFill>
            <a:srgbClr val="FFFF00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RM Tools &amp; Challenges</a:t>
            </a:r>
            <a:endParaRPr/>
          </a:p>
        </p:txBody>
      </p:sp>
      <p:sp>
        <p:nvSpPr>
          <p:cNvPr id="40" name="Google Shape;40;p1"/>
          <p:cNvSpPr txBox="1"/>
          <p:nvPr/>
        </p:nvSpPr>
        <p:spPr>
          <a:xfrm>
            <a:off x="2657853" y="170432"/>
            <a:ext cx="1024999" cy="461665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Leadership in RM</a:t>
            </a:r>
            <a:endParaRPr/>
          </a:p>
        </p:txBody>
      </p:sp>
      <p:cxnSp>
        <p:nvCxnSpPr>
          <p:cNvPr id="41" name="Google Shape;41;p1"/>
          <p:cNvCxnSpPr>
            <a:stCxn id="34" idx="3"/>
            <a:endCxn id="35" idx="1"/>
          </p:cNvCxnSpPr>
          <p:nvPr/>
        </p:nvCxnSpPr>
        <p:spPr>
          <a:xfrm flipH="1" rot="10800000">
            <a:off x="1329219" y="400847"/>
            <a:ext cx="151800" cy="6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2" name="Google Shape;42;p1"/>
          <p:cNvCxnSpPr>
            <a:stCxn id="35" idx="3"/>
            <a:endCxn id="40" idx="1"/>
          </p:cNvCxnSpPr>
          <p:nvPr/>
        </p:nvCxnSpPr>
        <p:spPr>
          <a:xfrm>
            <a:off x="2506036" y="400740"/>
            <a:ext cx="151800" cy="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3" name="Google Shape;43;p1"/>
          <p:cNvCxnSpPr>
            <a:stCxn id="40" idx="3"/>
            <a:endCxn id="38" idx="1"/>
          </p:cNvCxnSpPr>
          <p:nvPr/>
        </p:nvCxnSpPr>
        <p:spPr>
          <a:xfrm flipH="1" rot="10800000">
            <a:off x="3682852" y="400664"/>
            <a:ext cx="151800" cy="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4" name="Google Shape;44;p1"/>
          <p:cNvCxnSpPr>
            <a:stCxn id="38" idx="3"/>
            <a:endCxn id="39" idx="1"/>
          </p:cNvCxnSpPr>
          <p:nvPr/>
        </p:nvCxnSpPr>
        <p:spPr>
          <a:xfrm>
            <a:off x="4859669" y="400740"/>
            <a:ext cx="15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5" name="Google Shape;45;p1"/>
          <p:cNvCxnSpPr>
            <a:stCxn id="39" idx="3"/>
          </p:cNvCxnSpPr>
          <p:nvPr/>
        </p:nvCxnSpPr>
        <p:spPr>
          <a:xfrm>
            <a:off x="6036485" y="400740"/>
            <a:ext cx="15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6" name="Google Shape;46;p1"/>
          <p:cNvCxnSpPr>
            <a:endCxn id="37" idx="1"/>
          </p:cNvCxnSpPr>
          <p:nvPr/>
        </p:nvCxnSpPr>
        <p:spPr>
          <a:xfrm>
            <a:off x="6899417" y="400740"/>
            <a:ext cx="15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7" name="Google Shape;47;p1"/>
          <p:cNvCxnSpPr>
            <a:stCxn id="37" idx="3"/>
            <a:endCxn id="36" idx="1"/>
          </p:cNvCxnSpPr>
          <p:nvPr/>
        </p:nvCxnSpPr>
        <p:spPr>
          <a:xfrm>
            <a:off x="7722313" y="400740"/>
            <a:ext cx="151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8" name="Google Shape;48;p1"/>
          <p:cNvSpPr txBox="1"/>
          <p:nvPr/>
        </p:nvSpPr>
        <p:spPr>
          <a:xfrm>
            <a:off x="6188301" y="169907"/>
            <a:ext cx="692362" cy="461665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RM in Industry</a:t>
            </a:r>
            <a:endParaRPr/>
          </a:p>
        </p:txBody>
      </p:sp>
      <p:pic>
        <p:nvPicPr>
          <p:cNvPr id="49" name="Google Shape;4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1182" y="4114800"/>
            <a:ext cx="1766671" cy="1766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ntroduction to Sociology - 2013 - The Collaboratory" id="50" name="Google Shape;50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500" y="4114613"/>
            <a:ext cx="2590300" cy="17668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"/>
          <p:cNvSpPr/>
          <p:nvPr/>
        </p:nvSpPr>
        <p:spPr>
          <a:xfrm>
            <a:off x="180000" y="828000"/>
            <a:ext cx="8640000" cy="53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 the end of this module, the student should be able to:</a:t>
            </a:r>
            <a:endParaRPr/>
          </a:p>
          <a:p>
            <a:pPr indent="-305000" lvl="0" marL="43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2000" lvl="0" marL="43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Apply critical thinking skills on a complex issue at a high level that involves the environment and the challenges we face. </a:t>
            </a:r>
            <a:endParaRPr/>
          </a:p>
        </p:txBody>
      </p:sp>
      <p:sp>
        <p:nvSpPr>
          <p:cNvPr id="57" name="Google Shape;57;p2"/>
          <p:cNvSpPr/>
          <p:nvPr/>
        </p:nvSpPr>
        <p:spPr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Learning Outcomes:</a:t>
            </a:r>
            <a:endParaRPr/>
          </a:p>
        </p:txBody>
      </p:sp>
      <p:sp>
        <p:nvSpPr>
          <p:cNvPr id="58" name="Google Shape;58;p2"/>
          <p:cNvSpPr txBox="1"/>
          <p:nvPr/>
        </p:nvSpPr>
        <p:spPr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None/>
            </a:pPr>
            <a:fld id="{00000000-1234-1234-1234-123412341234}" type="slidenum">
              <a:rPr b="1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1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Case 11: Environmental Challenges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"/>
          <p:cNvSpPr/>
          <p:nvPr/>
        </p:nvSpPr>
        <p:spPr>
          <a:xfrm>
            <a:off x="180000" y="828000"/>
            <a:ext cx="4284000" cy="5328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Why can’t we get any pipelines built in this country?</a:t>
            </a:r>
            <a:endParaRPr/>
          </a:p>
          <a:p>
            <a:pPr indent="-305000" lvl="0" marL="43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2000" lvl="0" marL="43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Historical spills and other disasters like Exxon Valdez have created strong grass-roots resistance.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000" lvl="0" marL="43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2000" lvl="0" marL="43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Cross-jurisdictional  issues –</a:t>
            </a:r>
            <a:b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First Nations, federal, provincial, municipal.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000" lvl="0" marL="43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2000" lvl="0" marL="43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opinion and opposing views: climate change vs. responsible energy production.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But what are our other options?</a:t>
            </a:r>
            <a:endParaRPr/>
          </a:p>
          <a:p>
            <a:pPr indent="-305000" lvl="0" marL="43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Pipelines – Good or Bad?</a:t>
            </a:r>
            <a:endParaRPr/>
          </a:p>
        </p:txBody>
      </p:sp>
      <p:sp>
        <p:nvSpPr>
          <p:cNvPr id="67" name="Google Shape;67;p3"/>
          <p:cNvSpPr txBox="1"/>
          <p:nvPr/>
        </p:nvSpPr>
        <p:spPr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None/>
            </a:pPr>
            <a:fld id="{00000000-1234-1234-1234-123412341234}" type="slidenum">
              <a:rPr b="1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1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Case 11: Environmental Challenges</a:t>
            </a: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4536000" y="828000"/>
            <a:ext cx="4284000" cy="5328000"/>
          </a:xfrm>
          <a:prstGeom prst="rect">
            <a:avLst/>
          </a:prstGeom>
          <a:solidFill>
            <a:srgbClr val="00FFFF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0400" lvl="0" marL="43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None/>
            </a:pPr>
            <a:r>
              <a:t/>
            </a:r>
            <a:endParaRPr b="0" i="1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2000" lvl="0" marL="43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⮚"/>
            </a:pPr>
            <a:r>
              <a:rPr b="0" i="1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Enbridge Northern Gateway Pipeline (Hardisty to Kitimat) – not approved by Canada, shelved.</a:t>
            </a:r>
            <a:endParaRPr/>
          </a:p>
          <a:p>
            <a:pPr indent="-432000" lvl="0" marL="43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⮚"/>
            </a:pPr>
            <a:r>
              <a:rPr b="0" i="1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TransCanada Energy East - shelved in 2017 by TransCanada (prices of oil – project not financially feasible).</a:t>
            </a:r>
            <a:endParaRPr/>
          </a:p>
          <a:p>
            <a:pPr indent="-432000" lvl="0" marL="43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⮚"/>
            </a:pPr>
            <a:r>
              <a:rPr b="0" i="1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TransCanada Keystone XL – rejected by Obama, reversed by Trump, approved by Trump, just received Nebraska approval.</a:t>
            </a:r>
            <a:endParaRPr/>
          </a:p>
          <a:p>
            <a:pPr indent="-432000" lvl="0" marL="43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⮚"/>
            </a:pPr>
            <a:r>
              <a:rPr b="0" i="1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Kinder Morgan Trans Mtn Twinning (Hardisty to Burnaby) – approval overturned by The Supreme Court; ownership acquired by GoC, now known as TMX, and recently approved (June 2019) – construction in progress but still challenged!</a:t>
            </a:r>
            <a:endParaRPr b="0" i="1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2000" lvl="0" marL="43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⮚"/>
            </a:pPr>
            <a:r>
              <a:rPr b="0" i="1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Enbridge Line 3 expansion (Hardisty to Wisconsin) – approved in Canada, hurdles remain in the US.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1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400" lvl="0" marL="43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None/>
            </a:pPr>
            <a:r>
              <a:t/>
            </a:r>
            <a:endParaRPr b="0" i="1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"/>
          <p:cNvSpPr/>
          <p:nvPr/>
        </p:nvSpPr>
        <p:spPr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However we also have issues with rail transport of oil …</a:t>
            </a:r>
            <a:endParaRPr b="0" i="0" sz="2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4"/>
          <p:cNvSpPr txBox="1"/>
          <p:nvPr/>
        </p:nvSpPr>
        <p:spPr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None/>
            </a:pPr>
            <a:fld id="{00000000-1234-1234-1234-123412341234}" type="slidenum">
              <a:rPr b="1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1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Case 11: Environmental Challenges</a:t>
            </a:r>
            <a:endParaRPr/>
          </a:p>
        </p:txBody>
      </p:sp>
      <p:pic>
        <p:nvPicPr>
          <p:cNvPr descr="http://www3.gov.ab.ca/env/water/Wabamun/images/Whitesands.jpg" id="78" name="Google Shape;7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8000" y="828000"/>
            <a:ext cx="7200000" cy="41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4"/>
          <p:cNvSpPr txBox="1"/>
          <p:nvPr/>
        </p:nvSpPr>
        <p:spPr>
          <a:xfrm>
            <a:off x="828000" y="5040000"/>
            <a:ext cx="7200000" cy="11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CN Rail at Lake Wabamun, Alberta August 3, 2005: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⮚"/>
            </a:pPr>
            <a:r>
              <a:rPr b="0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fatalities, no injuries; indeterminate aquatic life kill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⮚"/>
            </a:pPr>
            <a:r>
              <a:rPr b="0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Almost 800,000 litres of heavy oils spilled into the lake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⮚"/>
            </a:pPr>
            <a:r>
              <a:rPr b="0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43 rail-cars, rail-bed, locomotives, several local properties, contents of the rail-cars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⮚"/>
            </a:pPr>
            <a:r>
              <a:rPr b="0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$140 million in costs; out of service for several days, interruptions to customers</a:t>
            </a:r>
            <a:endParaRPr b="0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"/>
          <p:cNvSpPr txBox="1"/>
          <p:nvPr/>
        </p:nvSpPr>
        <p:spPr>
          <a:xfrm>
            <a:off x="828000" y="5003999"/>
            <a:ext cx="7200000" cy="11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MMA Rail at Lac Megantic, Quebec – July 6, 2013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⮚"/>
            </a:pPr>
            <a:r>
              <a:rPr b="0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47 fatalities, 5 missing, over 2,000 evacuated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⮚"/>
            </a:pPr>
            <a:r>
              <a:rPr b="0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Over 8 million litres of petroleum crude oil were spilled and caught fire; </a:t>
            </a:r>
            <a:br>
              <a:rPr b="0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100,000 litres escaped to the near-by river; heavy smoke emitted and dispersed </a:t>
            </a:r>
            <a:endParaRPr b="0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⮚"/>
            </a:pPr>
            <a:r>
              <a:rPr b="0"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Significant asset damage – train  loss; centre of town destroyed</a:t>
            </a:r>
            <a:endParaRPr b="0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rPr b="0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However we also have issues with rail transport of oil …</a:t>
            </a:r>
            <a:endParaRPr b="0" sz="240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acMegantic_04690897-small" id="87" name="Google Shape;8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8000" y="828000"/>
            <a:ext cx="7200000" cy="41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5"/>
          <p:cNvSpPr txBox="1"/>
          <p:nvPr/>
        </p:nvSpPr>
        <p:spPr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None/>
            </a:pPr>
            <a:fld id="{00000000-1234-1234-1234-123412341234}" type="slidenum">
              <a:rPr b="1" i="1"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1"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Case 11: Environmental Challenges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6"/>
          <p:cNvSpPr/>
          <p:nvPr/>
        </p:nvSpPr>
        <p:spPr>
          <a:xfrm>
            <a:off x="180000" y="828000"/>
            <a:ext cx="8640000" cy="53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Pipeline versus railcar: oil transportation risks for sub-surface continuous vs over-land periodic. </a:t>
            </a:r>
            <a:endParaRPr/>
          </a:p>
          <a:p>
            <a:pPr indent="-432000" lvl="0" marL="43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b="0"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Impacts on PEAP resulting from initial construction.</a:t>
            </a:r>
            <a:endParaRPr/>
          </a:p>
          <a:p>
            <a:pPr indent="-432000" lvl="0" marL="43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b="0"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Impact on PEAP resulting from incidents during operation.</a:t>
            </a:r>
            <a:endParaRPr/>
          </a:p>
          <a:p>
            <a:pPr indent="-432000" lvl="0" marL="43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b="0"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Environmental impacts:</a:t>
            </a:r>
            <a:endParaRPr b="0"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09600" lvl="3" marL="990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Risk of leaks and spills to land &amp; in-land waters, and the ability to detect and measure quantity released? 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09600" lvl="3" marL="990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Disruption of natural habitat – one-time vs on-going.</a:t>
            </a:r>
            <a:endParaRPr/>
          </a:p>
          <a:p>
            <a:pPr indent="-432000" lvl="3" marL="43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Environmental impacts and energy consumption:</a:t>
            </a:r>
            <a:endParaRPr/>
          </a:p>
          <a:p>
            <a:pPr indent="-609600" lvl="3" marL="990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Hydrocarbons consumption and CO2/GHG emissions due to production, transportation, and consumption</a:t>
            </a:r>
            <a:endParaRPr/>
          </a:p>
          <a:p>
            <a:pPr indent="-432000" lvl="0" marL="43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b="0"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Worker safety?</a:t>
            </a:r>
            <a:endParaRPr/>
          </a:p>
          <a:p>
            <a:pPr indent="-305000" lvl="0" marL="43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</a:pPr>
            <a:r>
              <a:t/>
            </a:r>
            <a:endParaRPr b="0"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000" lvl="0" marL="43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</a:pPr>
            <a:r>
              <a:t/>
            </a:r>
            <a:endParaRPr b="0"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rPr b="0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Issues Associated with Modern, Industrial Human Activity:</a:t>
            </a:r>
            <a:endParaRPr/>
          </a:p>
        </p:txBody>
      </p:sp>
      <p:sp>
        <p:nvSpPr>
          <p:cNvPr id="97" name="Google Shape;97;p6"/>
          <p:cNvSpPr txBox="1"/>
          <p:nvPr/>
        </p:nvSpPr>
        <p:spPr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None/>
            </a:pPr>
            <a:fld id="{00000000-1234-1234-1234-123412341234}" type="slidenum">
              <a:rPr b="1" i="1"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1"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Case 11: Environmental Challenges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7"/>
          <p:cNvSpPr/>
          <p:nvPr/>
        </p:nvSpPr>
        <p:spPr>
          <a:xfrm>
            <a:off x="180000" y="828000"/>
            <a:ext cx="8640000" cy="53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Compare RC vs PL Performance:</a:t>
            </a:r>
            <a:endParaRPr b="1"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0000" lvl="0" marL="36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b="0"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Transport Safety:</a:t>
            </a:r>
            <a:endParaRPr/>
          </a:p>
          <a:p>
            <a:pPr indent="-359999" lvl="0" marL="72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b="0"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 terms of million barrels of oil equivalents transported (MBOE), rail transport experiences 4.5 times more occurrences than pipelines.   </a:t>
            </a:r>
            <a:endParaRPr/>
          </a:p>
          <a:p>
            <a:pPr indent="-360000" lvl="0" marL="36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b="0"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Environmental impacts:</a:t>
            </a:r>
            <a:endParaRPr/>
          </a:p>
          <a:p>
            <a:pPr indent="-359999" lvl="0" marL="72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b="0"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73% of pipeline occurrences result in spill of &lt;1m3, with no release in 16% of occurrences.  </a:t>
            </a:r>
            <a:endParaRPr/>
          </a:p>
          <a:p>
            <a:pPr indent="-359999" lvl="0" marL="72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b="0"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83% and 85% of pipeline and railcar occurrences, respectively, happen at facilities and not during transit. Secondary containment is often present at those facilities.</a:t>
            </a:r>
            <a:endParaRPr/>
          </a:p>
          <a:p>
            <a:pPr indent="-360000" lvl="0" marL="36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b="0"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Energy consumption:</a:t>
            </a:r>
            <a:endParaRPr/>
          </a:p>
          <a:p>
            <a:pPr indent="-359999" lvl="0" marL="72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b="0"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 long distance transportation, pipelines produce 61%-77% less GHG emissions than rail transport. </a:t>
            </a:r>
            <a:endParaRPr/>
          </a:p>
          <a:p>
            <a:pPr indent="-360000" lvl="0" marL="36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b="0"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Worker Safety:</a:t>
            </a:r>
            <a:endParaRPr/>
          </a:p>
          <a:p>
            <a:pPr indent="-359999" lvl="0" marL="72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b="0"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Rail transport results in almost 2 times more serious injuries per ton-mile than pipelines in the US. </a:t>
            </a:r>
            <a:endParaRPr/>
          </a:p>
        </p:txBody>
      </p:sp>
      <p:sp>
        <p:nvSpPr>
          <p:cNvPr id="105" name="Google Shape;105;p7"/>
          <p:cNvSpPr/>
          <p:nvPr/>
        </p:nvSpPr>
        <p:spPr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rPr b="0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Issues Associated with Modern, Industrial Human Activity:</a:t>
            </a:r>
            <a:endParaRPr/>
          </a:p>
        </p:txBody>
      </p:sp>
      <p:sp>
        <p:nvSpPr>
          <p:cNvPr id="106" name="Google Shape;106;p7"/>
          <p:cNvSpPr txBox="1"/>
          <p:nvPr/>
        </p:nvSpPr>
        <p:spPr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None/>
            </a:pPr>
            <a:fld id="{00000000-1234-1234-1234-123412341234}" type="slidenum">
              <a:rPr b="1" i="1"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1"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7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Case 11: Environmental Challenges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8"/>
          <p:cNvSpPr/>
          <p:nvPr/>
        </p:nvSpPr>
        <p:spPr>
          <a:xfrm>
            <a:off x="180000" y="828000"/>
            <a:ext cx="8640000" cy="53280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Baseline Metric to Compare RC vs PL Performance:</a:t>
            </a:r>
            <a:endParaRPr b="1" sz="2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000" lvl="0" marL="43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b="0" sz="2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2000" lvl="0" marL="43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oto Sans Symbols"/>
              <a:buChar char="⮚"/>
            </a:pPr>
            <a:r>
              <a:rPr b="0" lang="en-US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There are several different ways of transporting hydrocarbon products (crude or semi-processed, or finished oil products e.g. diesel fuel) such as pipeline and rail-car as a comparison here (Others: highway transport truck, super-tanker, barges, physical barrels, etc.)</a:t>
            </a:r>
            <a:endParaRPr/>
          </a:p>
          <a:p>
            <a:pPr indent="-305000" lvl="0" marL="43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b="0" sz="2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2000" lvl="0" marL="43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oto Sans Symbols"/>
              <a:buChar char="⮚"/>
            </a:pPr>
            <a:r>
              <a:rPr b="0" lang="en-US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One key metric that can be measured is the “number of barrels of product released to the environment”.  </a:t>
            </a:r>
            <a:endParaRPr b="0" sz="2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000" lvl="0" marL="43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b="0" sz="2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2000" lvl="0" marL="43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oto Sans Symbols"/>
              <a:buChar char="⮚"/>
            </a:pPr>
            <a:r>
              <a:rPr b="0" lang="en-US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 order to compare the different modes, (much like base-line calculation for the Lost-time Injury Rate), the performance metric can be based on the “number of barrels transported” and the “number of kilometers transported” in a “year”.</a:t>
            </a:r>
            <a:endParaRPr/>
          </a:p>
          <a:p>
            <a:pPr indent="-305000" lvl="0" marL="43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b="0" sz="2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2000" lvl="0" marL="43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Noto Sans Symbols"/>
              <a:buChar char="⮚"/>
            </a:pPr>
            <a:r>
              <a:rPr b="0" lang="en-US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For example: </a:t>
            </a:r>
            <a:br>
              <a:rPr b="0" lang="en-US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“barrels released per million barrel-kilometers transported per year”</a:t>
            </a:r>
            <a:endParaRPr b="0" sz="2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8"/>
          <p:cNvSpPr/>
          <p:nvPr/>
        </p:nvSpPr>
        <p:spPr>
          <a:xfrm>
            <a:off x="180000" y="216000"/>
            <a:ext cx="8640000" cy="5040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0" lang="en-US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Example: Metrics on Spill “Performance”:</a:t>
            </a:r>
            <a:endParaRPr b="0" sz="2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8"/>
          <p:cNvSpPr txBox="1"/>
          <p:nvPr/>
        </p:nvSpPr>
        <p:spPr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None/>
            </a:pPr>
            <a:fld id="{00000000-1234-1234-1234-123412341234}" type="slidenum">
              <a:rPr b="1" i="1"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1"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8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Case 11: Environmental Challenges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9"/>
          <p:cNvSpPr/>
          <p:nvPr/>
        </p:nvSpPr>
        <p:spPr>
          <a:xfrm>
            <a:off x="180000" y="828000"/>
            <a:ext cx="8640000" cy="53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Although there are </a:t>
            </a:r>
            <a:r>
              <a:rPr b="0" i="0" lang="en-US" sz="18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many challenges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8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one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key challenge will be the evaluation and </a:t>
            </a:r>
            <a:r>
              <a:rPr b="0" i="0" lang="en-US" sz="18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selection of one of many alternative technologies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reduce our impact on the environment.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Most notable </a:t>
            </a:r>
            <a:r>
              <a:rPr b="0" i="0" lang="en-US" sz="18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choices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are the alternative technologies to </a:t>
            </a:r>
            <a:r>
              <a:rPr b="0" i="0" lang="en-US" sz="18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limit our human impact on 1.5Cdeg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global temperature rise.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Thus, our </a:t>
            </a:r>
            <a:r>
              <a:rPr b="0" i="0" lang="en-US" sz="18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efforts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opposite this challenge must look at the </a:t>
            </a:r>
            <a:r>
              <a:rPr b="0" i="0" lang="en-US" sz="18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broader impacts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indent="-360000" lvl="3" marL="3600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 focused on one or a narrow set of activities or one.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0000" lvl="0" marL="3600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⮚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Consider - </a:t>
            </a:r>
            <a:r>
              <a:rPr b="0" i="0" lang="en-US" sz="18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Upstream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impacts? </a:t>
            </a:r>
            <a:r>
              <a:rPr b="0" i="0" lang="en-US" sz="18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Downstream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impacts?</a:t>
            </a:r>
            <a:endParaRPr/>
          </a:p>
          <a:p>
            <a:pPr indent="-359999" lvl="3" marL="7200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are these?</a:t>
            </a:r>
            <a:endParaRPr/>
          </a:p>
          <a:p>
            <a:pPr indent="-359999" lvl="3" marL="7200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Need to critically think and analyze these!</a:t>
            </a:r>
            <a:endParaRPr/>
          </a:p>
          <a:p>
            <a:pPr indent="-232999" lvl="3" marL="7200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Only through this process will we:</a:t>
            </a:r>
            <a:endParaRPr/>
          </a:p>
          <a:p>
            <a:pPr indent="-360000" lvl="0" marL="3600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⮚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Have “</a:t>
            </a:r>
            <a:r>
              <a:rPr b="0" i="0" lang="en-US" sz="18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 the data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”,</a:t>
            </a:r>
            <a:endParaRPr/>
          </a:p>
          <a:p>
            <a:pPr indent="-360000" lvl="0" marL="3600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⮚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 able to make </a:t>
            </a:r>
            <a:r>
              <a:rPr b="0" i="0" lang="en-US" sz="18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quantitative assessments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of all alternatives,</a:t>
            </a:r>
            <a:endParaRPr/>
          </a:p>
          <a:p>
            <a:pPr indent="-360000" lvl="0" marL="3600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⮚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Make </a:t>
            </a:r>
            <a:r>
              <a:rPr b="0" i="0" lang="en-US" sz="18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“apples to apples” comparisons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of those assessments based on our best available data, and best available assessment methodologies, and finally</a:t>
            </a:r>
            <a:endParaRPr/>
          </a:p>
          <a:p>
            <a:pPr indent="-360000" lvl="0" marL="3600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⮚"/>
            </a:pPr>
            <a:r>
              <a:rPr b="0" i="0" lang="en-US" sz="18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Make an informed decision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the choice that has the least negative impact on the environment i.e. limit our human impact to &lt;1.5Cdeg.</a:t>
            </a:r>
            <a:endParaRPr/>
          </a:p>
          <a:p>
            <a:pPr indent="-245700" lvl="0" marL="3600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9"/>
          <p:cNvSpPr/>
          <p:nvPr/>
        </p:nvSpPr>
        <p:spPr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99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Issues Associated with Modern, Industrial Human </a:t>
            </a:r>
            <a:r>
              <a:rPr lang="en-US" sz="2400">
                <a:solidFill>
                  <a:srgbClr val="333399"/>
                </a:solidFill>
              </a:rPr>
              <a:t>Activities</a:t>
            </a:r>
            <a:r>
              <a:rPr b="0" i="0" lang="en-US" sz="2400" u="none" cap="none" strike="noStrike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2400" u="none" cap="none" strike="noStrike">
              <a:solidFill>
                <a:srgbClr val="3333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9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1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Case 11: Environmental Challenges</a:t>
            </a:r>
            <a:endParaRPr/>
          </a:p>
        </p:txBody>
      </p:sp>
      <p:sp>
        <p:nvSpPr>
          <p:cNvPr id="125" name="Google Shape;125;p9"/>
          <p:cNvSpPr txBox="1"/>
          <p:nvPr/>
        </p:nvSpPr>
        <p:spPr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None/>
            </a:pPr>
            <a:fld id="{00000000-1234-1234-1234-123412341234}" type="slidenum">
              <a:rPr b="1" i="1"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1"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914400"/>
            <a:ext cx="4480560" cy="521208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0"/>
          <p:cNvSpPr/>
          <p:nvPr/>
        </p:nvSpPr>
        <p:spPr>
          <a:xfrm>
            <a:off x="1566329" y="5049834"/>
            <a:ext cx="3124200" cy="563562"/>
          </a:xfrm>
          <a:prstGeom prst="roundRect">
            <a:avLst>
              <a:gd fmla="val 16667" name="adj"/>
            </a:avLst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6" name="Google Shape;136;p10"/>
          <p:cNvSpPr txBox="1"/>
          <p:nvPr/>
        </p:nvSpPr>
        <p:spPr>
          <a:xfrm>
            <a:off x="4572000" y="2286000"/>
            <a:ext cx="4206240" cy="29260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CBC News Article:</a:t>
            </a:r>
            <a:b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“Electric cars could boost CO2 emissions in some provinces: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Trying to go green by replacing your gas guzzler with an electric car? In some provinces, that may actually be worse for the environment, a University of Toronto researcher says.”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http://www.cbc.ca/news/technology/electric-cars-could-boost-co2-emissions-in-some-provinces-1.3007409</a:t>
            </a:r>
            <a:r>
              <a:rPr b="0" i="0" lang="en-U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; Accessed 20150324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0"/>
          <p:cNvSpPr/>
          <p:nvPr/>
        </p:nvSpPr>
        <p:spPr>
          <a:xfrm>
            <a:off x="514457" y="1692704"/>
            <a:ext cx="4343400" cy="563563"/>
          </a:xfrm>
          <a:prstGeom prst="roundRect">
            <a:avLst>
              <a:gd fmla="val 16667" name="adj"/>
            </a:avLst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" name="Google Shape;138;p10"/>
          <p:cNvSpPr/>
          <p:nvPr/>
        </p:nvSpPr>
        <p:spPr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rPr b="0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Are “Green Solutions” Really the Answer?</a:t>
            </a:r>
            <a:endParaRPr/>
          </a:p>
        </p:txBody>
      </p:sp>
      <p:sp>
        <p:nvSpPr>
          <p:cNvPr id="139" name="Google Shape;139;p10"/>
          <p:cNvSpPr txBox="1"/>
          <p:nvPr/>
        </p:nvSpPr>
        <p:spPr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None/>
            </a:pPr>
            <a:fld id="{00000000-1234-1234-1234-123412341234}" type="slidenum">
              <a:rPr b="1" i="1"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1"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0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Case 11: Environmental Challenges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1"/>
          <p:cNvSpPr/>
          <p:nvPr/>
        </p:nvSpPr>
        <p:spPr>
          <a:xfrm>
            <a:off x="180000" y="828000"/>
            <a:ext cx="8640000" cy="53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Being “not sure” is not a bad thing!</a:t>
            </a:r>
            <a:endParaRPr/>
          </a:p>
          <a:p>
            <a:pPr indent="-305000" lvl="0" marL="43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</a:pPr>
            <a:r>
              <a:t/>
            </a:r>
            <a:endParaRPr b="0"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0000" lvl="0" marL="36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b="0"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Critical thinking: “The objective analysis and evaluation of the facts of an issue (an issue may have two or more opinions but only one set of facts) in order to form a judgement.”</a:t>
            </a:r>
            <a:endParaRPr/>
          </a:p>
          <a:p>
            <a:pPr indent="-233000" lvl="0" marL="36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</a:pPr>
            <a:r>
              <a:t/>
            </a:r>
            <a:endParaRPr b="0"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0000" lvl="0" marL="36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b="0"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“… a person strongly disposed toward critical thinking has a desire to follow reason and evidence wherever they may lead”</a:t>
            </a:r>
            <a:endParaRPr/>
          </a:p>
          <a:p>
            <a:pPr indent="-233000" lvl="0" marL="36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</a:pPr>
            <a:r>
              <a:t/>
            </a:r>
            <a:endParaRPr b="0"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0000" lvl="0" marL="36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b="0"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Such a person may hold two or more opinions on an issue during this period. </a:t>
            </a:r>
            <a:endParaRPr/>
          </a:p>
          <a:p>
            <a:pPr indent="-233000" lvl="0" marL="36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</a:pPr>
            <a:r>
              <a:t/>
            </a:r>
            <a:endParaRPr b="0"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0000" lvl="0" marL="360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b="0"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Ref: </a:t>
            </a:r>
            <a:r>
              <a:rPr b="0" lang="en-US" sz="2000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https://en.wikipedia.org/wiki/Critical_thinking</a:t>
            </a:r>
            <a:r>
              <a:rPr b="0"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br>
              <a:rPr b="0"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</a:t>
            </a:r>
            <a:r>
              <a:rPr b="0" lang="en-US" sz="2000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https://en.oxforddictionaries.com/definition/critical_thinking</a:t>
            </a:r>
            <a:r>
              <a:rPr b="0"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br>
              <a:rPr b="0"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000" lvl="0" marL="43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</a:pPr>
            <a:r>
              <a:t/>
            </a:r>
            <a:endParaRPr b="0"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000" lvl="0" marL="43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</a:pPr>
            <a:r>
              <a:t/>
            </a:r>
            <a:endParaRPr b="0"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1"/>
          <p:cNvSpPr txBox="1"/>
          <p:nvPr/>
        </p:nvSpPr>
        <p:spPr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None/>
            </a:pPr>
            <a:fld id="{00000000-1234-1234-1234-123412341234}" type="slidenum">
              <a:rPr b="1" i="1"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1"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1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Case 11: Environmental Challenges</a:t>
            </a:r>
            <a:endParaRPr/>
          </a:p>
        </p:txBody>
      </p:sp>
      <p:sp>
        <p:nvSpPr>
          <p:cNvPr id="149" name="Google Shape;149;p11"/>
          <p:cNvSpPr/>
          <p:nvPr/>
        </p:nvSpPr>
        <p:spPr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rPr b="0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Are “Green Solutions” Really the Answer?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"/>
          <p:cNvSpPr/>
          <p:nvPr/>
        </p:nvSpPr>
        <p:spPr>
          <a:xfrm>
            <a:off x="4343400" y="1223666"/>
            <a:ext cx="4476600" cy="2537843"/>
          </a:xfrm>
          <a:prstGeom prst="rect">
            <a:avLst/>
          </a:prstGeom>
          <a:solidFill>
            <a:srgbClr val="99CCFF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Downstream: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Char char="-"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Pos: no exhaust emissions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Char char="-"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Neg: requires new infrastructure for recharging stations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Char char="-"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Neg: disposal of spent / toxic metals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Char char="-"/>
            </a:pPr>
            <a:r>
              <a:rPr b="1"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Neg. increases consumption of electricity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Char char="-"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Pos: mature recycling industry will readily adapt to capturing value of exotic metals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12"/>
          <p:cNvSpPr/>
          <p:nvPr/>
        </p:nvSpPr>
        <p:spPr>
          <a:xfrm>
            <a:off x="180000" y="1223665"/>
            <a:ext cx="4163400" cy="2537843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Upstream: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Char char="-"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Neg: mining for exotic metals for batteries, motors, wiring 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Char char="-"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Neg: requires new power generation capacity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Char char="-"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Pos: renewable electrical energy source if hydro or solar or wind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Char char="-"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Neg: non-renewable electrical energy source if coal or oil or natural gas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Char char="-"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Neg or Pos: nuclear power stations?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2"/>
          <p:cNvSpPr txBox="1"/>
          <p:nvPr/>
        </p:nvSpPr>
        <p:spPr>
          <a:xfrm>
            <a:off x="180000" y="3927762"/>
            <a:ext cx="8640000" cy="46166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Internal Combustion Gasoline Engine Vehicle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2"/>
          <p:cNvSpPr txBox="1"/>
          <p:nvPr/>
        </p:nvSpPr>
        <p:spPr>
          <a:xfrm>
            <a:off x="180000" y="762000"/>
            <a:ext cx="8640000" cy="46166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Electrically Powered Motor Vehicle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12"/>
          <p:cNvSpPr/>
          <p:nvPr/>
        </p:nvSpPr>
        <p:spPr>
          <a:xfrm>
            <a:off x="4343400" y="4402574"/>
            <a:ext cx="4476600" cy="1811188"/>
          </a:xfrm>
          <a:prstGeom prst="rect">
            <a:avLst/>
          </a:prstGeom>
          <a:solidFill>
            <a:srgbClr val="99CCFF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Downstream: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Char char="-"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Neg: emissions from engines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Char char="-"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Pos: existing fuel production &amp; distribution network 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Char char="-"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Neg: consumes non-renewable resource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Char char="-"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Pos: mature recycling industry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2"/>
          <p:cNvSpPr/>
          <p:nvPr/>
        </p:nvSpPr>
        <p:spPr>
          <a:xfrm>
            <a:off x="180000" y="4402573"/>
            <a:ext cx="4163400" cy="1811188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Upstream: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Char char="-"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Pos: renewable bio-sources, ethanol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Char char="-"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Neg: non-renewable fossil fuels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2"/>
          <p:cNvSpPr/>
          <p:nvPr/>
        </p:nvSpPr>
        <p:spPr>
          <a:xfrm>
            <a:off x="180000" y="180000"/>
            <a:ext cx="8640000" cy="5040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F8F8F8"/>
                </a:solidFill>
                <a:latin typeface="Arial"/>
                <a:ea typeface="Arial"/>
                <a:cs typeface="Arial"/>
                <a:sym typeface="Arial"/>
              </a:rPr>
              <a:t>Application of a Qualitative Tool to Compare Alternative Technologies:</a:t>
            </a:r>
            <a:endParaRPr b="0" sz="2000">
              <a:solidFill>
                <a:srgbClr val="F8F8F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2"/>
          <p:cNvSpPr txBox="1"/>
          <p:nvPr/>
        </p:nvSpPr>
        <p:spPr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None/>
            </a:pPr>
            <a:fld id="{00000000-1234-1234-1234-123412341234}" type="slidenum">
              <a:rPr b="1" i="1"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1"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Case 11: Environmental Challenges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3"/>
          <p:cNvSpPr/>
          <p:nvPr/>
        </p:nvSpPr>
        <p:spPr>
          <a:xfrm>
            <a:off x="180000" y="864000"/>
            <a:ext cx="8640000" cy="53280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So, you are now somewhat more skilled to compare the “green-ness” of a variety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of technical alternatives e.g.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transportation of oil by </a:t>
            </a:r>
            <a:r>
              <a:rPr b="0" i="0" lang="en-US" sz="18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Pipeline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or by </a:t>
            </a:r>
            <a:r>
              <a:rPr b="0" i="0" lang="en-US" sz="18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Tanker Railcar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82600" lvl="0" marL="609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09600" lvl="0" marL="609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Identify the </a:t>
            </a:r>
            <a:r>
              <a:rPr b="0" i="0" lang="en-US" sz="18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positive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0" i="0" lang="en-US" sz="18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negative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impacts on the environment.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09600" lvl="0" marL="609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Consider: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33400" lvl="1" marL="990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b="0" i="0" lang="en-US" sz="18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Upstream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side: during construction? during operation?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33400" lvl="1" marL="990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b="0" i="0" lang="en-US" sz="18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Downstream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side: energy consumption to deliver one barrel of oil? potential quantity of oil leak or spill?</a:t>
            </a:r>
            <a:endParaRPr/>
          </a:p>
          <a:p>
            <a:pPr indent="-609600" lvl="0" marL="609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b="0" i="1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is a simplistic approach and cannot be definitive in its conclusion; </a:t>
            </a:r>
            <a:br>
              <a:rPr b="0" i="1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1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be conclusive, quantitative data must be compared. </a:t>
            </a:r>
            <a:endParaRPr b="0" i="1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09600" lvl="0" marL="609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b="0" i="1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approach is </a:t>
            </a:r>
            <a:r>
              <a:rPr b="0" i="1" lang="en-US" sz="18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intended to generate the questions that NEED to be answered</a:t>
            </a:r>
            <a:r>
              <a:rPr b="0" i="1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with quantitative data.</a:t>
            </a:r>
            <a:endParaRPr b="0" i="1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3"/>
          <p:cNvSpPr/>
          <p:nvPr/>
        </p:nvSpPr>
        <p:spPr>
          <a:xfrm>
            <a:off x="4573588" y="4375898"/>
            <a:ext cx="4049078" cy="635687"/>
          </a:xfrm>
          <a:prstGeom prst="rect">
            <a:avLst/>
          </a:prstGeom>
          <a:solidFill>
            <a:srgbClr val="99CCFF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Downstream: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3"/>
          <p:cNvSpPr/>
          <p:nvPr/>
        </p:nvSpPr>
        <p:spPr>
          <a:xfrm>
            <a:off x="381000" y="4375897"/>
            <a:ext cx="4192588" cy="635687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Upstream:</a:t>
            </a:r>
            <a:endParaRPr b="1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3"/>
          <p:cNvSpPr txBox="1"/>
          <p:nvPr/>
        </p:nvSpPr>
        <p:spPr>
          <a:xfrm>
            <a:off x="381000" y="5087784"/>
            <a:ext cx="8241666" cy="46166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Transportation of Oil via </a:t>
            </a:r>
            <a:r>
              <a:rPr b="1" i="0" lang="en-US" sz="20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Tanker Rail-car</a:t>
            </a:r>
            <a:endParaRPr b="1" i="0" sz="2000" u="sng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3"/>
          <p:cNvSpPr txBox="1"/>
          <p:nvPr/>
        </p:nvSpPr>
        <p:spPr>
          <a:xfrm>
            <a:off x="381000" y="3914231"/>
            <a:ext cx="8241666" cy="46166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Transportation of Oil via </a:t>
            </a:r>
            <a:r>
              <a:rPr b="1" i="0" lang="en-US" sz="20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Pipeline</a:t>
            </a:r>
            <a:endParaRPr b="0" i="0" sz="1400" u="sng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3"/>
          <p:cNvSpPr/>
          <p:nvPr/>
        </p:nvSpPr>
        <p:spPr>
          <a:xfrm>
            <a:off x="4573588" y="5562598"/>
            <a:ext cx="4049078" cy="609602"/>
          </a:xfrm>
          <a:prstGeom prst="rect">
            <a:avLst/>
          </a:prstGeom>
          <a:solidFill>
            <a:srgbClr val="99CCFF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Downstream: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13"/>
          <p:cNvSpPr/>
          <p:nvPr/>
        </p:nvSpPr>
        <p:spPr>
          <a:xfrm>
            <a:off x="381000" y="5562597"/>
            <a:ext cx="4192588" cy="609602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Upstream:</a:t>
            </a:r>
            <a:endParaRPr b="1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3"/>
          <p:cNvSpPr/>
          <p:nvPr/>
        </p:nvSpPr>
        <p:spPr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rPr b="0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Summary and Key Lessons:</a:t>
            </a:r>
            <a:endParaRPr/>
          </a:p>
        </p:txBody>
      </p:sp>
      <p:sp>
        <p:nvSpPr>
          <p:cNvPr id="183" name="Google Shape;183;p13"/>
          <p:cNvSpPr txBox="1"/>
          <p:nvPr/>
        </p:nvSpPr>
        <p:spPr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None/>
            </a:pPr>
            <a:fld id="{00000000-1234-1234-1234-123412341234}" type="slidenum">
              <a:rPr b="1" i="1"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1"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3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Case 11: Environmental Challenges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4"/>
          <p:cNvSpPr/>
          <p:nvPr/>
        </p:nvSpPr>
        <p:spPr>
          <a:xfrm>
            <a:off x="180000" y="864000"/>
            <a:ext cx="8640000" cy="53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Lifecycle Assessment “Carbon Footprint of Polestar 2”</a:t>
            </a:r>
            <a:endParaRPr b="0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82600" lvl="0" marL="609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b="0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0000" lvl="0" marL="3600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b="0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Analysis of Polestar 2 (model year 2020) </a:t>
            </a:r>
            <a:br>
              <a:rPr b="0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and Volvo XC40 gasoline internal </a:t>
            </a:r>
            <a:br>
              <a:rPr b="0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combustion engine (model year 2020)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3000" lvl="0" marL="3600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b="0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0000" lvl="0" marL="3600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b="0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carbon footprint presented in this </a:t>
            </a:r>
            <a:br>
              <a:rPr b="0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report is based on a Life Cycle Assessment</a:t>
            </a:r>
            <a:br>
              <a:rPr b="0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(LCA), performed in this study according </a:t>
            </a:r>
            <a:br>
              <a:rPr b="0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ISO LCA standards</a:t>
            </a:r>
            <a:endParaRPr/>
          </a:p>
          <a:p>
            <a:pPr indent="-482600" lvl="0" marL="609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b="0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82600" lvl="0" marL="609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b="0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Polestar 2 Lifecycle Assessment Report; Lisa Bolin, LCA Specialist; Fredrika Klarén, </a:t>
            </a:r>
            <a:br>
              <a:rPr b="0" i="1"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1"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Quality and Sustainability; published15-September-2020  </a:t>
            </a:r>
            <a:r>
              <a:rPr b="0" i="1" lang="en-US" sz="1400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https://www.polestar.com/dato-assets/11286/1600176185-20200915polestarlcafinala.pdf</a:t>
            </a:r>
            <a:r>
              <a:rPr b="0" i="1"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; accessed 15-July-2021</a:t>
            </a:r>
            <a:endParaRPr/>
          </a:p>
        </p:txBody>
      </p:sp>
      <p:sp>
        <p:nvSpPr>
          <p:cNvPr id="194" name="Google Shape;194;p14"/>
          <p:cNvSpPr/>
          <p:nvPr/>
        </p:nvSpPr>
        <p:spPr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rPr b="0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Volvo Polestar 2 Report:</a:t>
            </a:r>
            <a:endParaRPr b="0" sz="240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4"/>
          <p:cNvSpPr txBox="1"/>
          <p:nvPr/>
        </p:nvSpPr>
        <p:spPr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None/>
            </a:pPr>
            <a:fld id="{00000000-1234-1234-1234-123412341234}" type="slidenum">
              <a:rPr b="1" i="1"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1"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4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Case 11: Environmental Challenges</a:t>
            </a:r>
            <a:endParaRPr/>
          </a:p>
        </p:txBody>
      </p:sp>
      <p:pic>
        <p:nvPicPr>
          <p:cNvPr id="197" name="Google Shape;19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0" y="1295400"/>
            <a:ext cx="2728183" cy="4114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5"/>
          <p:cNvSpPr/>
          <p:nvPr/>
        </p:nvSpPr>
        <p:spPr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rPr b="0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Volvo Polestar 2 Report:</a:t>
            </a:r>
            <a:endParaRPr b="0" sz="240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5"/>
          <p:cNvSpPr txBox="1"/>
          <p:nvPr/>
        </p:nvSpPr>
        <p:spPr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None/>
            </a:pPr>
            <a:fld id="{00000000-1234-1234-1234-123412341234}" type="slidenum">
              <a:rPr b="1" i="1"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1"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5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Case 11: Environmental Challenges</a:t>
            </a:r>
            <a:endParaRPr/>
          </a:p>
        </p:txBody>
      </p:sp>
      <p:pic>
        <p:nvPicPr>
          <p:cNvPr id="209" name="Google Shape;20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440" y="3200400"/>
            <a:ext cx="4485360" cy="1748326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10" name="Google Shape;21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06240" y="4507009"/>
            <a:ext cx="4485360" cy="1710813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5"/>
          <p:cNvSpPr/>
          <p:nvPr/>
        </p:nvSpPr>
        <p:spPr>
          <a:xfrm>
            <a:off x="180000" y="864000"/>
            <a:ext cx="8640000" cy="53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Lifecycle Assessment “Carbon Footprint of Polestar 2”</a:t>
            </a:r>
            <a:endParaRPr b="0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Many assumptions:</a:t>
            </a:r>
            <a:endParaRPr b="0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0000" lvl="0" marL="3600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b="0" i="1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“The two main differences in the carbon footprint between the Polestar 2 and the ICE appear in the materials production (including the Li-ion battery modules) and the use phase.”</a:t>
            </a:r>
            <a:endParaRPr/>
          </a:p>
          <a:p>
            <a:pPr indent="-360000" lvl="0" marL="3600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b="0" i="1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“It should be noted that the carbon footprint was performed to represent a globally sourced version of the car models. Other methodological choices that have a large impact on the result are choice of allocation method regarding scrap, and choice of datasets for steel and aluminium production.”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6"/>
          <p:cNvSpPr/>
          <p:nvPr/>
        </p:nvSpPr>
        <p:spPr>
          <a:xfrm>
            <a:off x="180000" y="864000"/>
            <a:ext cx="8640000" cy="53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0000" lvl="0" marL="3600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b="0" lang="en-US" sz="1800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Solutions are not as simple as they may seem!</a:t>
            </a:r>
            <a:endParaRPr/>
          </a:p>
          <a:p>
            <a:pPr indent="-360000" lvl="0" marL="3600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b="0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Getting </a:t>
            </a:r>
            <a:r>
              <a:rPr b="0" lang="en-US" sz="1800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answers</a:t>
            </a:r>
            <a:r>
              <a:rPr b="0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can be an </a:t>
            </a:r>
            <a:r>
              <a:rPr b="0" lang="en-US" sz="1800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extremely complex study</a:t>
            </a:r>
            <a:r>
              <a:rPr b="0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b="0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0000" lvl="0" marL="3600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b="0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accept and resolve challenges, </a:t>
            </a:r>
            <a:r>
              <a:rPr b="0" lang="en-US" sz="1800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critical thinking</a:t>
            </a:r>
            <a:r>
              <a:rPr b="0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is a essential.</a:t>
            </a:r>
            <a:endParaRPr/>
          </a:p>
          <a:p>
            <a:pPr indent="-482600" lvl="0" marL="609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b="0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a professional engineer, YOU WILL NEED TO:</a:t>
            </a:r>
            <a:endParaRPr/>
          </a:p>
          <a:p>
            <a:pPr indent="-360000" lvl="0" marL="3600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b="0" lang="en-US" sz="1800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Judge the evidence</a:t>
            </a:r>
            <a:r>
              <a:rPr b="0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(i.e. apply critical thinking) in order to </a:t>
            </a:r>
            <a:r>
              <a:rPr b="0" lang="en-US" sz="1800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make informed decisions</a:t>
            </a:r>
            <a:r>
              <a:rPr b="0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 light of: </a:t>
            </a:r>
            <a:endParaRPr/>
          </a:p>
          <a:p>
            <a:pPr indent="-359999" lvl="1" marL="7200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Growing complexity and magnitude of information; </a:t>
            </a:r>
            <a:endParaRPr/>
          </a:p>
          <a:p>
            <a:pPr indent="-359999" lvl="1" marL="7200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Diverse and differing expert opinions; </a:t>
            </a:r>
            <a:endParaRPr/>
          </a:p>
          <a:p>
            <a:pPr indent="-360000" lvl="0" marL="3600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b="0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Provide clarity and “plain language” in the explanations of scientific and engineering concepts: </a:t>
            </a:r>
            <a:endParaRPr/>
          </a:p>
          <a:p>
            <a:pPr indent="-359999" lvl="1" marL="7200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Applies to your team and decision-makers, as well as the public</a:t>
            </a:r>
            <a:endParaRPr/>
          </a:p>
          <a:p>
            <a:pPr indent="-359999" lvl="1" marL="7200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People sometimes make decisions based on emotion, not only facts!</a:t>
            </a:r>
            <a:endParaRPr/>
          </a:p>
          <a:p>
            <a:pPr indent="-360000" lvl="0" marL="3600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b="0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Make decisions </a:t>
            </a:r>
            <a:r>
              <a:rPr b="0" lang="en-US" sz="1800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(or advocate for those decisions)</a:t>
            </a:r>
            <a:r>
              <a:rPr b="0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based on validated data and evidence:</a:t>
            </a:r>
            <a:endParaRPr b="0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9999" lvl="1" marL="7200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 your homework!</a:t>
            </a:r>
            <a:endParaRPr/>
          </a:p>
          <a:p>
            <a:pPr indent="-359999" lvl="1" marL="7200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good, validated data in risk analyses. </a:t>
            </a:r>
            <a:endParaRPr/>
          </a:p>
          <a:p>
            <a:pPr indent="-359999" lvl="1" marL="7200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 very careful where you get your data from!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… because it is our professional duty. </a:t>
            </a:r>
            <a:endParaRPr/>
          </a:p>
        </p:txBody>
      </p:sp>
      <p:sp>
        <p:nvSpPr>
          <p:cNvPr id="221" name="Google Shape;221;p16"/>
          <p:cNvSpPr/>
          <p:nvPr/>
        </p:nvSpPr>
        <p:spPr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rPr b="0" lang="en-US" sz="24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Summary and Key Lessons:</a:t>
            </a:r>
            <a:endParaRPr/>
          </a:p>
        </p:txBody>
      </p:sp>
      <p:sp>
        <p:nvSpPr>
          <p:cNvPr id="222" name="Google Shape;222;p16"/>
          <p:cNvSpPr txBox="1"/>
          <p:nvPr/>
        </p:nvSpPr>
        <p:spPr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None/>
            </a:pPr>
            <a:fld id="{00000000-1234-1234-1234-123412341234}" type="slidenum">
              <a:rPr b="1" i="1"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1"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6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Case 11: Environmental Challenges</a:t>
            </a:r>
            <a:endParaRPr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2007-03-28T16:18:47Z</dcterms:created>
  <dc:creator>MSB</dc:creator>
</cp:coreProperties>
</file>