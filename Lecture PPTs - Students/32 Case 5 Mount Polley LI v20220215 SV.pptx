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44"/>
  </p:notesMasterIdLst>
  <p:handoutMasterIdLst>
    <p:handoutMasterId r:id="rId45"/>
  </p:handoutMasterIdLst>
  <p:sldIdLst>
    <p:sldId id="929" r:id="rId3"/>
    <p:sldId id="880" r:id="rId4"/>
    <p:sldId id="1011" r:id="rId5"/>
    <p:sldId id="1012" r:id="rId6"/>
    <p:sldId id="1013" r:id="rId7"/>
    <p:sldId id="1014" r:id="rId8"/>
    <p:sldId id="936" r:id="rId9"/>
    <p:sldId id="967" r:id="rId10"/>
    <p:sldId id="939" r:id="rId11"/>
    <p:sldId id="940" r:id="rId12"/>
    <p:sldId id="966" r:id="rId13"/>
    <p:sldId id="968" r:id="rId14"/>
    <p:sldId id="969" r:id="rId15"/>
    <p:sldId id="970" r:id="rId16"/>
    <p:sldId id="971" r:id="rId17"/>
    <p:sldId id="972" r:id="rId18"/>
    <p:sldId id="948" r:id="rId19"/>
    <p:sldId id="1005" r:id="rId20"/>
    <p:sldId id="1006" r:id="rId21"/>
    <p:sldId id="1007" r:id="rId22"/>
    <p:sldId id="992" r:id="rId23"/>
    <p:sldId id="973" r:id="rId24"/>
    <p:sldId id="974" r:id="rId25"/>
    <p:sldId id="975" r:id="rId26"/>
    <p:sldId id="976" r:id="rId27"/>
    <p:sldId id="977" r:id="rId28"/>
    <p:sldId id="978" r:id="rId29"/>
    <p:sldId id="979" r:id="rId30"/>
    <p:sldId id="980" r:id="rId31"/>
    <p:sldId id="981" r:id="rId32"/>
    <p:sldId id="982" r:id="rId33"/>
    <p:sldId id="983" r:id="rId34"/>
    <p:sldId id="996" r:id="rId35"/>
    <p:sldId id="997" r:id="rId36"/>
    <p:sldId id="998" r:id="rId37"/>
    <p:sldId id="999" r:id="rId38"/>
    <p:sldId id="1000" r:id="rId39"/>
    <p:sldId id="1001" r:id="rId40"/>
    <p:sldId id="1008" r:id="rId41"/>
    <p:sldId id="1009" r:id="rId42"/>
    <p:sldId id="1010" r:id="rId43"/>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29"/>
            <p14:sldId id="880"/>
            <p14:sldId id="1011"/>
            <p14:sldId id="1012"/>
            <p14:sldId id="1013"/>
            <p14:sldId id="1014"/>
            <p14:sldId id="936"/>
            <p14:sldId id="967"/>
            <p14:sldId id="939"/>
            <p14:sldId id="940"/>
            <p14:sldId id="966"/>
            <p14:sldId id="968"/>
            <p14:sldId id="969"/>
            <p14:sldId id="970"/>
            <p14:sldId id="971"/>
            <p14:sldId id="972"/>
            <p14:sldId id="948"/>
            <p14:sldId id="1005"/>
            <p14:sldId id="1006"/>
            <p14:sldId id="1007"/>
            <p14:sldId id="992"/>
            <p14:sldId id="973"/>
            <p14:sldId id="974"/>
            <p14:sldId id="975"/>
            <p14:sldId id="976"/>
            <p14:sldId id="977"/>
            <p14:sldId id="978"/>
            <p14:sldId id="979"/>
            <p14:sldId id="980"/>
            <p14:sldId id="981"/>
            <p14:sldId id="982"/>
            <p14:sldId id="983"/>
            <p14:sldId id="996"/>
            <p14:sldId id="997"/>
            <p14:sldId id="998"/>
            <p14:sldId id="999"/>
            <p14:sldId id="1000"/>
            <p14:sldId id="1001"/>
            <p14:sldId id="1008"/>
            <p14:sldId id="1009"/>
            <p14:sldId id="101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F8F8F8"/>
    <a:srgbClr val="0000CC"/>
    <a:srgbClr val="0000FF"/>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811" autoAdjust="0"/>
    <p:restoredTop sz="87967" autoAdjust="0"/>
  </p:normalViewPr>
  <p:slideViewPr>
    <p:cSldViewPr>
      <p:cViewPr varScale="1">
        <p:scale>
          <a:sx n="67" d="100"/>
          <a:sy n="67" d="100"/>
        </p:scale>
        <p:origin x="1464" y="60"/>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15504"/>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2/15/2022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2/15/2022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32721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780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8077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8686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5444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7</a:t>
            </a:fld>
            <a:endParaRPr sz="1200">
              <a:solidFill>
                <a:schemeClr val="dk1"/>
              </a:solidFill>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7</a:t>
            </a:fld>
            <a:endParaRPr sz="1200">
              <a:solidFill>
                <a:schemeClr val="dk1"/>
              </a:solidFill>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9951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8491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Tree>
    <p:extLst>
      <p:ext uri="{BB962C8B-B14F-4D97-AF65-F5344CB8AC3E}">
        <p14:creationId xmlns:p14="http://schemas.microsoft.com/office/powerpoint/2010/main" val="2817554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927730" y="4424471"/>
            <a:ext cx="5099378" cy="4188858"/>
          </a:xfrm>
          <a:prstGeom prst="rect">
            <a:avLst/>
          </a:prstGeom>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
        <p:nvSpPr>
          <p:cNvPr id="262" name="Google Shape;262;p14:notes"/>
          <p:cNvSpPr>
            <a:spLocks noGrp="1" noRot="1" noChangeAspect="1"/>
          </p:cNvSpPr>
          <p:nvPr>
            <p:ph type="sldImg" idx="2"/>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5122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021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8: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12" name="Google Shape;312;p18: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12</a:t>
            </a:fld>
            <a:endParaRPr sz="1200">
              <a:solidFill>
                <a:schemeClr val="dk1"/>
              </a:solidFill>
              <a:latin typeface="Times New Roman"/>
              <a:ea typeface="Times New Roman"/>
              <a:cs typeface="Times New Roman"/>
              <a:sym typeface="Times New Roman"/>
            </a:endParaRPr>
          </a:p>
        </p:txBody>
      </p:sp>
      <p:sp>
        <p:nvSpPr>
          <p:cNvPr id="313" name="Google Shape;313;p18: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12</a:t>
            </a:fld>
            <a:endParaRPr sz="1200">
              <a:solidFill>
                <a:schemeClr val="dk1"/>
              </a:solidFill>
              <a:latin typeface="Times New Roman"/>
              <a:ea typeface="Times New Roman"/>
              <a:cs typeface="Times New Roman"/>
              <a:sym typeface="Times New Roman"/>
            </a:endParaRPr>
          </a:p>
        </p:txBody>
      </p:sp>
      <p:sp>
        <p:nvSpPr>
          <p:cNvPr id="314" name="Google Shape;314;p18: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18: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Tree>
    <p:extLst>
      <p:ext uri="{BB962C8B-B14F-4D97-AF65-F5344CB8AC3E}">
        <p14:creationId xmlns:p14="http://schemas.microsoft.com/office/powerpoint/2010/main" val="3019369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1877212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563939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15</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15</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238160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16</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16</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1256182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224723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1093294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4028462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9400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312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1710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5191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26036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0223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2171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27</a:t>
            </a:fld>
            <a:endParaRPr sz="1200">
              <a:solidFill>
                <a:schemeClr val="dk1"/>
              </a:solidFill>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27</a:t>
            </a:fld>
            <a:endParaRPr sz="1200">
              <a:solidFill>
                <a:schemeClr val="dk1"/>
              </a:solidFill>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1097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7895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8388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Tree>
    <p:extLst>
      <p:ext uri="{BB962C8B-B14F-4D97-AF65-F5344CB8AC3E}">
        <p14:creationId xmlns:p14="http://schemas.microsoft.com/office/powerpoint/2010/main" val="3105508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927730" y="4424471"/>
            <a:ext cx="5099378" cy="4188858"/>
          </a:xfrm>
          <a:prstGeom prst="rect">
            <a:avLst/>
          </a:prstGeom>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
        <p:nvSpPr>
          <p:cNvPr id="262" name="Google Shape;262;p14:notes"/>
          <p:cNvSpPr>
            <a:spLocks noGrp="1" noRot="1" noChangeAspect="1"/>
          </p:cNvSpPr>
          <p:nvPr>
            <p:ph type="sldImg" idx="2"/>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9468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7778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8: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12" name="Google Shape;312;p18: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33</a:t>
            </a:fld>
            <a:endParaRPr sz="1200">
              <a:solidFill>
                <a:schemeClr val="dk1"/>
              </a:solidFill>
              <a:latin typeface="Times New Roman"/>
              <a:ea typeface="Times New Roman"/>
              <a:cs typeface="Times New Roman"/>
              <a:sym typeface="Times New Roman"/>
            </a:endParaRPr>
          </a:p>
        </p:txBody>
      </p:sp>
      <p:sp>
        <p:nvSpPr>
          <p:cNvPr id="313" name="Google Shape;313;p18: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33</a:t>
            </a:fld>
            <a:endParaRPr sz="1200">
              <a:solidFill>
                <a:schemeClr val="dk1"/>
              </a:solidFill>
              <a:latin typeface="Times New Roman"/>
              <a:ea typeface="Times New Roman"/>
              <a:cs typeface="Times New Roman"/>
              <a:sym typeface="Times New Roman"/>
            </a:endParaRPr>
          </a:p>
        </p:txBody>
      </p:sp>
      <p:sp>
        <p:nvSpPr>
          <p:cNvPr id="314" name="Google Shape;314;p18: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18: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Tree>
    <p:extLst>
      <p:ext uri="{BB962C8B-B14F-4D97-AF65-F5344CB8AC3E}">
        <p14:creationId xmlns:p14="http://schemas.microsoft.com/office/powerpoint/2010/main" val="33944620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34</a:t>
            </a:fld>
            <a:endParaRPr sz="1200">
              <a:solidFill>
                <a:schemeClr val="dk1"/>
              </a:solidFill>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34</a:t>
            </a:fld>
            <a:endParaRPr sz="1200">
              <a:solidFill>
                <a:schemeClr val="dk1"/>
              </a:solidFill>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4807742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36016318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36</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36</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32641578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37</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37</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33042271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12536450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39</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7568129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40</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40</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4699250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5398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2/15/2022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4"/>
            <a:ext cx="7772400" cy="1470025"/>
          </a:xfrm>
        </p:spPr>
        <p:txBody>
          <a:bodyPr/>
          <a:lstStyle>
            <a:lvl1pPr>
              <a:spcBef>
                <a:spcPct val="20000"/>
              </a:spcBef>
              <a:defRPr sz="27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50267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257175" indent="-257175">
              <a:buClrTx/>
              <a:buFont typeface="Wingdings" charset="2"/>
              <a:buChar char="§"/>
              <a:defRPr sz="1800">
                <a:solidFill>
                  <a:schemeClr val="tx1"/>
                </a:solidFill>
              </a:defRPr>
            </a:lvl1pPr>
            <a:lvl2pPr marL="557213" indent="-214313">
              <a:buClrTx/>
              <a:buFont typeface="Arial"/>
              <a:buChar char="•"/>
              <a:defRPr sz="1650">
                <a:solidFill>
                  <a:schemeClr val="tx1"/>
                </a:solidFill>
              </a:defRPr>
            </a:lvl2pPr>
            <a:lvl3pPr marL="857250" indent="-171450">
              <a:buClrTx/>
              <a:buFont typeface="Arial"/>
              <a:buChar char="•"/>
              <a:defRPr sz="1500">
                <a:solidFill>
                  <a:schemeClr val="tx1"/>
                </a:solidFill>
              </a:defRPr>
            </a:lvl3pPr>
            <a:lvl4pPr marL="1200150" indent="-171450">
              <a:buClrTx/>
              <a:buFont typeface="Arial"/>
              <a:buChar char="•"/>
              <a:defRPr>
                <a:solidFill>
                  <a:schemeClr val="tx1"/>
                </a:solidFill>
              </a:defRPr>
            </a:lvl4pPr>
            <a:lvl5pPr marL="1543050" indent="-17145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4931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32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2/15/2022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359128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42"/>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30290"/>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2700" b="1">
          <a:solidFill>
            <a:schemeClr val="accent2"/>
          </a:solidFill>
          <a:latin typeface="Calibri" pitchFamily="34" charset="0"/>
          <a:ea typeface="+mj-ea"/>
          <a:cs typeface="+mj-cs"/>
        </a:defRPr>
      </a:lvl1pPr>
      <a:lvl2pPr algn="ctr" rtl="0" eaLnBrk="0" fontAlgn="base" hangingPunct="0">
        <a:spcBef>
          <a:spcPct val="0"/>
        </a:spcBef>
        <a:spcAft>
          <a:spcPct val="0"/>
        </a:spcAft>
        <a:defRPr sz="2700">
          <a:solidFill>
            <a:srgbClr val="002C5F"/>
          </a:solidFill>
          <a:latin typeface="Calibri" pitchFamily="34" charset="0"/>
        </a:defRPr>
      </a:lvl2pPr>
      <a:lvl3pPr algn="ctr" rtl="0" eaLnBrk="0" fontAlgn="base" hangingPunct="0">
        <a:spcBef>
          <a:spcPct val="0"/>
        </a:spcBef>
        <a:spcAft>
          <a:spcPct val="0"/>
        </a:spcAft>
        <a:defRPr sz="2700">
          <a:solidFill>
            <a:srgbClr val="002C5F"/>
          </a:solidFill>
          <a:latin typeface="Calibri" pitchFamily="34" charset="0"/>
        </a:defRPr>
      </a:lvl3pPr>
      <a:lvl4pPr algn="ctr" rtl="0" eaLnBrk="0" fontAlgn="base" hangingPunct="0">
        <a:spcBef>
          <a:spcPct val="0"/>
        </a:spcBef>
        <a:spcAft>
          <a:spcPct val="0"/>
        </a:spcAft>
        <a:defRPr sz="2700">
          <a:solidFill>
            <a:srgbClr val="002C5F"/>
          </a:solidFill>
          <a:latin typeface="Calibri" pitchFamily="34" charset="0"/>
        </a:defRPr>
      </a:lvl4pPr>
      <a:lvl5pPr algn="ctr" rtl="0" eaLnBrk="0" fontAlgn="base" hangingPunct="0">
        <a:spcBef>
          <a:spcPct val="0"/>
        </a:spcBef>
        <a:spcAft>
          <a:spcPct val="0"/>
        </a:spcAft>
        <a:defRPr sz="2700">
          <a:solidFill>
            <a:srgbClr val="002C5F"/>
          </a:solidFill>
          <a:latin typeface="Calibri" pitchFamily="34" charset="0"/>
        </a:defRPr>
      </a:lvl5pPr>
      <a:lvl6pPr marL="342900" algn="ctr" rtl="0" fontAlgn="base">
        <a:spcBef>
          <a:spcPct val="0"/>
        </a:spcBef>
        <a:spcAft>
          <a:spcPct val="0"/>
        </a:spcAft>
        <a:defRPr sz="2700" b="1">
          <a:solidFill>
            <a:srgbClr val="002C5F"/>
          </a:solidFill>
          <a:latin typeface="Arial" charset="0"/>
        </a:defRPr>
      </a:lvl6pPr>
      <a:lvl7pPr marL="685800" algn="ctr" rtl="0" fontAlgn="base">
        <a:spcBef>
          <a:spcPct val="0"/>
        </a:spcBef>
        <a:spcAft>
          <a:spcPct val="0"/>
        </a:spcAft>
        <a:defRPr sz="2700" b="1">
          <a:solidFill>
            <a:srgbClr val="002C5F"/>
          </a:solidFill>
          <a:latin typeface="Arial" charset="0"/>
        </a:defRPr>
      </a:lvl7pPr>
      <a:lvl8pPr marL="1028700" algn="ctr" rtl="0" fontAlgn="base">
        <a:spcBef>
          <a:spcPct val="0"/>
        </a:spcBef>
        <a:spcAft>
          <a:spcPct val="0"/>
        </a:spcAft>
        <a:defRPr sz="2700" b="1">
          <a:solidFill>
            <a:srgbClr val="002C5F"/>
          </a:solidFill>
          <a:latin typeface="Arial" charset="0"/>
        </a:defRPr>
      </a:lvl8pPr>
      <a:lvl9pPr marL="1371600" algn="ctr" rtl="0" fontAlgn="base">
        <a:spcBef>
          <a:spcPct val="0"/>
        </a:spcBef>
        <a:spcAft>
          <a:spcPct val="0"/>
        </a:spcAft>
        <a:defRPr sz="2700" b="1">
          <a:solidFill>
            <a:srgbClr val="002C5F"/>
          </a:solidFill>
          <a:latin typeface="Arial" charset="0"/>
        </a:defRPr>
      </a:lvl9pPr>
    </p:titleStyle>
    <p:bodyStyle>
      <a:lvl1pPr marL="257175" indent="-257175" algn="l" rtl="0" eaLnBrk="0" fontAlgn="base" hangingPunct="0">
        <a:spcBef>
          <a:spcPct val="20000"/>
        </a:spcBef>
        <a:spcAft>
          <a:spcPct val="0"/>
        </a:spcAft>
        <a:buClr>
          <a:srgbClr val="AA9C8F"/>
        </a:buClr>
        <a:buFont typeface="Wingdings" pitchFamily="2" charset="2"/>
        <a:buChar char="§"/>
        <a:defRPr sz="2100">
          <a:solidFill>
            <a:srgbClr val="4D4D4D"/>
          </a:solidFill>
          <a:latin typeface="Calibri" pitchFamily="34" charset="0"/>
          <a:ea typeface="+mn-ea"/>
          <a:cs typeface="+mn-cs"/>
        </a:defRPr>
      </a:lvl1pPr>
      <a:lvl2pPr marL="557213" indent="-214313" algn="l" rtl="0" eaLnBrk="0" fontAlgn="base" hangingPunct="0">
        <a:spcBef>
          <a:spcPct val="20000"/>
        </a:spcBef>
        <a:spcAft>
          <a:spcPct val="0"/>
        </a:spcAft>
        <a:buClr>
          <a:srgbClr val="C75B12"/>
        </a:buClr>
        <a:buFont typeface="Wingdings" pitchFamily="2" charset="2"/>
        <a:buChar char="§"/>
        <a:defRPr sz="1950">
          <a:solidFill>
            <a:schemeClr val="tx1"/>
          </a:solidFill>
          <a:latin typeface="Calibri" pitchFamily="34" charset="0"/>
        </a:defRPr>
      </a:lvl2pPr>
      <a:lvl3pPr marL="857250" indent="-171450" algn="l" rtl="0" eaLnBrk="0" fontAlgn="base" hangingPunct="0">
        <a:spcBef>
          <a:spcPct val="20000"/>
        </a:spcBef>
        <a:spcAft>
          <a:spcPct val="0"/>
        </a:spcAft>
        <a:buClr>
          <a:srgbClr val="C75B12"/>
        </a:buClr>
        <a:buFont typeface="Wingdings" pitchFamily="2" charset="2"/>
        <a:buChar char="§"/>
        <a:defRPr sz="1800">
          <a:solidFill>
            <a:schemeClr val="tx1"/>
          </a:solidFill>
          <a:latin typeface="Calibri" pitchFamily="34" charset="0"/>
        </a:defRPr>
      </a:lvl3pPr>
      <a:lvl4pPr marL="12001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4pPr>
      <a:lvl5pPr marL="15430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5pPr>
      <a:lvl6pPr marL="18859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6pPr>
      <a:lvl7pPr marL="22288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7pPr>
      <a:lvl8pPr marL="25717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8pPr>
      <a:lvl9pPr marL="29146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www.cbc.ca/news/canada/british-columbia/discipline-engineers-mount-polley-mine-waste-quesnel-lake-1.6137265"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1.jp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11.jpg"/><Relationship Id="rId4" Type="http://schemas.openxmlformats.org/officeDocument/2006/relationships/image" Target="../media/image10.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304000"/>
            <a:ext cx="8820000" cy="257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Study 13</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Mount </a:t>
            </a:r>
            <a:r>
              <a:rPr lang="en-US" altLang="en-US" sz="3200" b="1" dirty="0" err="1"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Tailings Storage Facility Failure,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Imperial Metals, near Likely, British Columbia, (August 4, 2014)</a:t>
            </a: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t>
            </a: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Process,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Applications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791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Explore the basis for complacency in the following risk management system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elements, and explain:</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Leadership, Commitment and Accountability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and Management of Risks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 Construction and Start-up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Employee Competency and Training</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Recognize a situation where the degradation of management leadership and risk assessment applies to a loss incident, and apply the principles of risk management in a case study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analysis. </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Update: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www.cbc.ca/news/canada/british-columbia/discipline-engineers-mount-polley-mine-waste-quesnel-lake-1.6137265</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Mount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Mine:</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Open pit copper and gold mine </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Began operations in 1997</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Owned and operated by Mount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Mining Corporation (MPMC), a subsidiary of Imperial Metals Corporation </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Processes ~21,000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tonnes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ore per day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Background: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close up of a map&#10;&#10;Description automatically generated">
            <a:extLst>
              <a:ext uri="{FF2B5EF4-FFF2-40B4-BE49-F238E27FC236}">
                <a16:creationId xmlns:a16="http://schemas.microsoft.com/office/drawing/2014/main" id="{C546E53B-7420-46D3-8B0D-1AE5AF18441D}"/>
              </a:ext>
            </a:extLst>
          </p:cNvPr>
          <p:cNvPicPr>
            <a:picLocks noChangeAspect="1"/>
          </p:cNvPicPr>
          <p:nvPr/>
        </p:nvPicPr>
        <p:blipFill>
          <a:blip r:embed="rId3"/>
          <a:stretch>
            <a:fillRect/>
          </a:stretch>
        </p:blipFill>
        <p:spPr>
          <a:xfrm>
            <a:off x="1173952" y="2819400"/>
            <a:ext cx="6652096" cy="3158021"/>
          </a:xfrm>
          <a:prstGeom prst="rect">
            <a:avLst/>
          </a:prstGeom>
        </p:spPr>
      </p:pic>
    </p:spTree>
    <p:extLst>
      <p:ext uri="{BB962C8B-B14F-4D97-AF65-F5344CB8AC3E}">
        <p14:creationId xmlns:p14="http://schemas.microsoft.com/office/powerpoint/2010/main" val="1453836580"/>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Mine </a:t>
            </a:r>
            <a:r>
              <a:rPr lang="en-US" altLang="en-US" sz="2400" b="0" dirty="0" smtClean="0">
                <a:solidFill>
                  <a:schemeClr val="accent2"/>
                </a:solidFill>
                <a:latin typeface="Arial" panose="020B0604020202020204" pitchFamily="34" charset="0"/>
                <a:ea typeface="+mj-ea"/>
                <a:cs typeface="Arial" panose="020B0604020202020204" pitchFamily="34" charset="0"/>
              </a:rPr>
              <a:t>Layout: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picture containing surfing&#10;&#10;Description automatically generated">
            <a:extLst>
              <a:ext uri="{FF2B5EF4-FFF2-40B4-BE49-F238E27FC236}">
                <a16:creationId xmlns:a16="http://schemas.microsoft.com/office/drawing/2014/main" id="{8818B952-66B4-4484-A850-98331BB68483}"/>
              </a:ext>
            </a:extLst>
          </p:cNvPr>
          <p:cNvPicPr>
            <a:picLocks noChangeAspect="1"/>
          </p:cNvPicPr>
          <p:nvPr/>
        </p:nvPicPr>
        <p:blipFill>
          <a:blip r:embed="rId3"/>
          <a:stretch>
            <a:fillRect/>
          </a:stretch>
        </p:blipFill>
        <p:spPr>
          <a:xfrm>
            <a:off x="183048" y="1752600"/>
            <a:ext cx="8762629" cy="3913194"/>
          </a:xfrm>
          <a:prstGeom prst="rect">
            <a:avLst/>
          </a:prstGeom>
        </p:spPr>
      </p:pic>
    </p:spTree>
    <p:extLst>
      <p:ext uri="{BB962C8B-B14F-4D97-AF65-F5344CB8AC3E}">
        <p14:creationId xmlns:p14="http://schemas.microsoft.com/office/powerpoint/2010/main" val="380268537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455612"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a:t>
            </a:r>
          </a:p>
          <a:p>
            <a:pPr marL="0" indent="0" algn="ctr"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Tailings Storage Facility (TSF) is intact – the blue pond.</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Before and After the </a:t>
            </a:r>
            <a:r>
              <a:rPr lang="en-US" altLang="en-US" sz="2400" b="0" dirty="0" smtClean="0">
                <a:solidFill>
                  <a:schemeClr val="accent2"/>
                </a:solidFill>
                <a:latin typeface="Arial" panose="020B0604020202020204" pitchFamily="34" charset="0"/>
                <a:ea typeface="+mj-ea"/>
                <a:cs typeface="Arial" panose="020B0604020202020204" pitchFamily="34" charset="0"/>
              </a:rPr>
              <a:t>Technical Loss 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close up of a mountain&#10;&#10;Description automatically generated">
            <a:extLst>
              <a:ext uri="{FF2B5EF4-FFF2-40B4-BE49-F238E27FC236}">
                <a16:creationId xmlns:a16="http://schemas.microsoft.com/office/drawing/2014/main" id="{561AF3C9-18FB-4825-81DD-A4B1509D0E9E}"/>
              </a:ext>
            </a:extLst>
          </p:cNvPr>
          <p:cNvPicPr>
            <a:picLocks noChangeAspect="1"/>
          </p:cNvPicPr>
          <p:nvPr/>
        </p:nvPicPr>
        <p:blipFill>
          <a:blip r:embed="rId3"/>
          <a:stretch>
            <a:fillRect/>
          </a:stretch>
        </p:blipFill>
        <p:spPr>
          <a:xfrm>
            <a:off x="455612" y="2191433"/>
            <a:ext cx="8231188" cy="4056967"/>
          </a:xfrm>
          <a:prstGeom prst="rect">
            <a:avLst/>
          </a:prstGeom>
        </p:spPr>
      </p:pic>
      <p:sp>
        <p:nvSpPr>
          <p:cNvPr id="7" name="Rectangle 3"/>
          <p:cNvSpPr>
            <a:spLocks noChangeArrowheads="1"/>
          </p:cNvSpPr>
          <p:nvPr/>
        </p:nvSpPr>
        <p:spPr bwMode="auto">
          <a:xfrm>
            <a:off x="4571716"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a:t>
            </a:r>
          </a:p>
          <a:p>
            <a:pPr marL="0" indent="0" algn="ctr"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TSF has failed.</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66252158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Impacts </a:t>
            </a:r>
            <a:r>
              <a:rPr lang="en-US" altLang="en-US" sz="2400" b="0" dirty="0">
                <a:solidFill>
                  <a:schemeClr val="accent2"/>
                </a:solidFill>
                <a:latin typeface="Arial" panose="020B0604020202020204" pitchFamily="34" charset="0"/>
                <a:ea typeface="+mj-ea"/>
                <a:cs typeface="Arial" panose="020B0604020202020204" pitchFamily="34" charset="0"/>
              </a:rPr>
              <a:t>on PEAP: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graphicFrame>
        <p:nvGraphicFramePr>
          <p:cNvPr id="6" name="Google Shape;232;p11"/>
          <p:cNvGraphicFramePr/>
          <p:nvPr>
            <p:extLst/>
          </p:nvPr>
        </p:nvGraphicFramePr>
        <p:xfrm>
          <a:off x="180000" y="972000"/>
          <a:ext cx="8633400" cy="4670424"/>
        </p:xfrm>
        <a:graphic>
          <a:graphicData uri="http://schemas.openxmlformats.org/drawingml/2006/table">
            <a:tbl>
              <a:tblPr>
                <a:noFill/>
              </a:tblPr>
              <a:tblGrid>
                <a:gridCol w="1877400">
                  <a:extLst>
                    <a:ext uri="{9D8B030D-6E8A-4147-A177-3AD203B41FA5}">
                      <a16:colId xmlns:a16="http://schemas.microsoft.com/office/drawing/2014/main" val="20000"/>
                    </a:ext>
                  </a:extLst>
                </a:gridCol>
                <a:gridCol w="6756000">
                  <a:extLst>
                    <a:ext uri="{9D8B030D-6E8A-4147-A177-3AD203B41FA5}">
                      <a16:colId xmlns:a16="http://schemas.microsoft.com/office/drawing/2014/main" val="20001"/>
                    </a:ext>
                  </a:extLst>
                </a:gridCol>
              </a:tblGrid>
              <a:tr h="933240">
                <a:tc>
                  <a:txBody>
                    <a:bodyPr/>
                    <a:lstStyle/>
                    <a:p>
                      <a:pPr marL="0" marR="0" lvl="0" indent="0" algn="l" rtl="0">
                        <a:lnSpc>
                          <a:spcPct val="100000"/>
                        </a:lnSpc>
                        <a:spcBef>
                          <a:spcPts val="0"/>
                        </a:spcBef>
                        <a:spcAft>
                          <a:spcPts val="0"/>
                        </a:spcAft>
                        <a:buClr>
                          <a:srgbClr val="000000"/>
                        </a:buClr>
                        <a:buSzPts val="1600"/>
                        <a:buFont typeface="Arial"/>
                        <a:buNone/>
                      </a:pPr>
                      <a:r>
                        <a:rPr lang="en-US" sz="2000" b="1" i="0" u="none" strike="noStrike" cap="none" dirty="0">
                          <a:solidFill>
                            <a:srgbClr val="000000"/>
                          </a:solidFill>
                          <a:latin typeface="Arial" panose="020B0604020202020204" pitchFamily="34" charset="0"/>
                          <a:ea typeface="Arial"/>
                          <a:cs typeface="Arial" panose="020B0604020202020204" pitchFamily="34" charset="0"/>
                          <a:sym typeface="Arial"/>
                        </a:rPr>
                        <a:t>People:</a:t>
                      </a:r>
                      <a:endParaRPr sz="2000" b="0"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CA" sz="2000" dirty="0">
                          <a:latin typeface="Arial" panose="020B0604020202020204" pitchFamily="34" charset="0"/>
                          <a:cs typeface="Arial" panose="020B0604020202020204" pitchFamily="34" charset="0"/>
                        </a:rPr>
                        <a:t>Drinking-water ban for about 300 local residents for over 1 week </a:t>
                      </a:r>
                    </a:p>
                    <a:p>
                      <a:pPr marL="360000" marR="0" lvl="0" indent="-360000" algn="l" rtl="0">
                        <a:lnSpc>
                          <a:spcPct val="100000"/>
                        </a:lnSpc>
                        <a:spcBef>
                          <a:spcPts val="0"/>
                        </a:spcBef>
                        <a:spcAft>
                          <a:spcPts val="0"/>
                        </a:spcAft>
                        <a:buClr>
                          <a:srgbClr val="000000"/>
                        </a:buClr>
                        <a:buSzPts val="1600"/>
                        <a:buFont typeface="Noto Sans Symbols"/>
                        <a:buChar char="⮚"/>
                      </a:pPr>
                      <a:r>
                        <a:rPr lang="en-CA" sz="2000" dirty="0">
                          <a:latin typeface="Arial" panose="020B0604020202020204" pitchFamily="34" charset="0"/>
                          <a:cs typeface="Arial" panose="020B0604020202020204" pitchFamily="34" charset="0"/>
                        </a:rPr>
                        <a:t>Livelihoods impacted (tourism, fishing) </a:t>
                      </a:r>
                      <a:endParaRPr sz="2000" dirty="0">
                        <a:latin typeface="Arial" panose="020B0604020202020204" pitchFamily="34" charset="0"/>
                        <a:cs typeface="Arial" panose="020B0604020202020204" pitchFamily="34" charset="0"/>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628778">
                <a:tc>
                  <a:txBody>
                    <a:bodyPr/>
                    <a:lstStyle/>
                    <a:p>
                      <a:pPr marL="0" marR="0" lvl="0" indent="0" algn="l" rtl="0">
                        <a:lnSpc>
                          <a:spcPct val="100000"/>
                        </a:lnSpc>
                        <a:spcBef>
                          <a:spcPts val="0"/>
                        </a:spcBef>
                        <a:spcAft>
                          <a:spcPts val="0"/>
                        </a:spcAft>
                        <a:buClr>
                          <a:srgbClr val="000000"/>
                        </a:buClr>
                        <a:buSzPts val="1600"/>
                        <a:buFont typeface="Arial"/>
                        <a:buNone/>
                      </a:pPr>
                      <a:r>
                        <a:rPr lang="en-US" sz="2000" b="1" i="0" u="none" strike="noStrike" cap="none" dirty="0">
                          <a:solidFill>
                            <a:srgbClr val="000000"/>
                          </a:solidFill>
                          <a:latin typeface="Arial" panose="020B0604020202020204" pitchFamily="34" charset="0"/>
                          <a:ea typeface="Arial"/>
                          <a:cs typeface="Arial" panose="020B0604020202020204" pitchFamily="34" charset="0"/>
                          <a:sym typeface="Arial"/>
                        </a:rPr>
                        <a:t>Environment:</a:t>
                      </a:r>
                      <a:endParaRPr sz="2000" b="0"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 25M m</a:t>
                      </a:r>
                      <a:r>
                        <a:rPr lang="en-US" sz="2000" b="0" i="0" u="none" strike="noStrike" cap="none" baseline="30000" dirty="0">
                          <a:solidFill>
                            <a:srgbClr val="000000"/>
                          </a:solidFill>
                          <a:latin typeface="Arial" panose="020B0604020202020204" pitchFamily="34" charset="0"/>
                          <a:ea typeface="Arial"/>
                          <a:cs typeface="Arial" panose="020B0604020202020204" pitchFamily="34" charset="0"/>
                          <a:sym typeface="Arial"/>
                        </a:rPr>
                        <a:t>3</a:t>
                      </a:r>
                      <a:r>
                        <a:rPr lang="en-US" sz="2000" b="0" i="0" u="none" strike="noStrike" cap="none" baseline="0" dirty="0">
                          <a:solidFill>
                            <a:srgbClr val="000000"/>
                          </a:solidFill>
                          <a:latin typeface="Arial" panose="020B0604020202020204" pitchFamily="34" charset="0"/>
                          <a:ea typeface="Arial"/>
                          <a:cs typeface="Arial" panose="020B0604020202020204" pitchFamily="34" charset="0"/>
                          <a:sym typeface="Arial"/>
                        </a:rPr>
                        <a:t> of mining waste and contaminated water released into Lake Polley, Hazeltine Creek and </a:t>
                      </a:r>
                      <a:r>
                        <a:rPr lang="en-US" sz="2000" b="0" i="0" u="none" strike="noStrike" cap="none" baseline="0" err="1">
                          <a:solidFill>
                            <a:srgbClr val="000000"/>
                          </a:solidFill>
                          <a:latin typeface="Arial" panose="020B0604020202020204" pitchFamily="34" charset="0"/>
                          <a:ea typeface="Arial"/>
                          <a:cs typeface="Arial" panose="020B0604020202020204" pitchFamily="34" charset="0"/>
                          <a:sym typeface="Arial"/>
                        </a:rPr>
                        <a:t>Quesnel</a:t>
                      </a:r>
                      <a:r>
                        <a:rPr lang="en-US" sz="2000" b="0" i="0" u="none" strike="noStrike" cap="none" baseline="0">
                          <a:solidFill>
                            <a:srgbClr val="000000"/>
                          </a:solidFill>
                          <a:latin typeface="Arial" panose="020B0604020202020204" pitchFamily="34" charset="0"/>
                          <a:ea typeface="Arial"/>
                          <a:cs typeface="Arial" panose="020B0604020202020204" pitchFamily="34" charset="0"/>
                          <a:sym typeface="Arial"/>
                        </a:rPr>
                        <a:t> </a:t>
                      </a:r>
                      <a:r>
                        <a:rPr lang="en-US" sz="2000" b="0" i="0" u="none" strike="noStrike" cap="none" baseline="0" smtClean="0">
                          <a:solidFill>
                            <a:srgbClr val="000000"/>
                          </a:solidFill>
                          <a:latin typeface="Arial" panose="020B0604020202020204" pitchFamily="34" charset="0"/>
                          <a:ea typeface="Arial"/>
                          <a:cs typeface="Arial" panose="020B0604020202020204" pitchFamily="34" charset="0"/>
                          <a:sym typeface="Arial"/>
                        </a:rPr>
                        <a:t>Lake. </a:t>
                      </a:r>
                      <a:endParaRPr lang="en-US" sz="2000" b="0" i="0" u="none" strike="noStrike" cap="none" baseline="0" dirty="0">
                        <a:solidFill>
                          <a:srgbClr val="000000"/>
                        </a:solidFill>
                        <a:latin typeface="Arial" panose="020B0604020202020204" pitchFamily="34" charset="0"/>
                        <a:ea typeface="Arial"/>
                        <a:cs typeface="Arial" panose="020B0604020202020204" pitchFamily="34" charset="0"/>
                        <a:sym typeface="Arial"/>
                      </a:endParaRPr>
                    </a:p>
                    <a:p>
                      <a:pPr marL="360000" marR="0" lvl="0" indent="-360000" algn="l" defTabSz="914400" rtl="0" eaLnBrk="1" fontAlgn="auto" latinLnBrk="0" hangingPunct="1">
                        <a:lnSpc>
                          <a:spcPct val="100000"/>
                        </a:lnSpc>
                        <a:spcBef>
                          <a:spcPts val="0"/>
                        </a:spcBef>
                        <a:spcAft>
                          <a:spcPts val="0"/>
                        </a:spcAft>
                        <a:buClr>
                          <a:srgbClr val="000000"/>
                        </a:buClr>
                        <a:buSzPts val="1600"/>
                        <a:buFont typeface="Noto Sans Symbols"/>
                        <a:buChar char="⮚"/>
                        <a:tabLst/>
                        <a:defRPr/>
                      </a:pPr>
                      <a:r>
                        <a:rPr lang="en-CA" sz="2000" b="0" i="0" u="none" strike="noStrike" cap="none" dirty="0">
                          <a:solidFill>
                            <a:srgbClr val="000000"/>
                          </a:solidFill>
                          <a:latin typeface="Arial" panose="020B0604020202020204" pitchFamily="34" charset="0"/>
                          <a:cs typeface="Arial" panose="020B0604020202020204" pitchFamily="34" charset="0"/>
                          <a:sym typeface="Arial"/>
                        </a:rPr>
                        <a:t>$70M spent on remediation efforts for </a:t>
                      </a:r>
                      <a:r>
                        <a:rPr lang="en-CA" sz="2000" b="0" i="0" u="none" strike="noStrike" cap="none">
                          <a:solidFill>
                            <a:srgbClr val="000000"/>
                          </a:solidFill>
                          <a:latin typeface="Arial" panose="020B0604020202020204" pitchFamily="34" charset="0"/>
                          <a:cs typeface="Arial" panose="020B0604020202020204" pitchFamily="34" charset="0"/>
                          <a:sym typeface="Arial"/>
                        </a:rPr>
                        <a:t>environmental </a:t>
                      </a:r>
                      <a:r>
                        <a:rPr lang="en-CA" sz="2000" b="0" i="0" u="none" strike="noStrike" cap="none" smtClean="0">
                          <a:solidFill>
                            <a:srgbClr val="000000"/>
                          </a:solidFill>
                          <a:latin typeface="Arial" panose="020B0604020202020204" pitchFamily="34" charset="0"/>
                          <a:cs typeface="Arial" panose="020B0604020202020204" pitchFamily="34" charset="0"/>
                          <a:sym typeface="Arial"/>
                        </a:rPr>
                        <a:t>cleanup.</a:t>
                      </a:r>
                      <a:endParaRPr lang="en-CA" sz="2000" b="0"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16051">
                <a:tc>
                  <a:txBody>
                    <a:bodyPr/>
                    <a:lstStyle/>
                    <a:p>
                      <a:pPr marL="0" marR="0" lvl="0" indent="0" algn="l" rtl="0">
                        <a:lnSpc>
                          <a:spcPct val="100000"/>
                        </a:lnSpc>
                        <a:spcBef>
                          <a:spcPts val="0"/>
                        </a:spcBef>
                        <a:spcAft>
                          <a:spcPts val="0"/>
                        </a:spcAft>
                        <a:buClr>
                          <a:srgbClr val="000000"/>
                        </a:buClr>
                        <a:buSzPts val="1600"/>
                        <a:buFont typeface="Arial"/>
                        <a:buNone/>
                      </a:pPr>
                      <a:r>
                        <a:rPr lang="en-US" sz="2000" b="1" i="0" u="none" strike="noStrike" cap="none" dirty="0">
                          <a:solidFill>
                            <a:srgbClr val="000000"/>
                          </a:solidFill>
                          <a:latin typeface="Arial" panose="020B0604020202020204" pitchFamily="34" charset="0"/>
                          <a:ea typeface="Arial"/>
                          <a:cs typeface="Arial" panose="020B0604020202020204" pitchFamily="34" charset="0"/>
                          <a:sym typeface="Arial"/>
                        </a:rPr>
                        <a:t>Assets:</a:t>
                      </a:r>
                      <a:endParaRPr sz="2000" b="0"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cs typeface="Arial" panose="020B0604020202020204" pitchFamily="34" charset="0"/>
                          <a:sym typeface="Arial"/>
                        </a:rPr>
                        <a:t>Damaged/failed Tailings Storage Facility (TSF)</a:t>
                      </a:r>
                    </a:p>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cs typeface="Arial" panose="020B0604020202020204" pitchFamily="34" charset="0"/>
                          <a:sym typeface="Arial"/>
                        </a:rPr>
                        <a:t>Stock price drop of ~41%</a:t>
                      </a:r>
                    </a:p>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cs typeface="Arial" panose="020B0604020202020204" pitchFamily="34" charset="0"/>
                          <a:sym typeface="Arial"/>
                        </a:rPr>
                        <a:t> Disciplinary hearings for 3 engineers of record (</a:t>
                      </a:r>
                      <a:r>
                        <a:rPr lang="en-US" sz="2000" b="0" i="0" u="none" strike="noStrike" cap="none" dirty="0" err="1">
                          <a:solidFill>
                            <a:srgbClr val="000000"/>
                          </a:solidFill>
                          <a:latin typeface="Arial" panose="020B0604020202020204" pitchFamily="34" charset="0"/>
                          <a:cs typeface="Arial" panose="020B0604020202020204" pitchFamily="34" charset="0"/>
                          <a:sym typeface="Arial"/>
                        </a:rPr>
                        <a:t>EoRs</a:t>
                      </a:r>
                      <a:r>
                        <a:rPr lang="en-US" sz="2000" b="0" i="0" u="none" strike="noStrike" cap="none" dirty="0">
                          <a:solidFill>
                            <a:srgbClr val="000000"/>
                          </a:solidFill>
                          <a:latin typeface="Arial" panose="020B0604020202020204" pitchFamily="34" charset="0"/>
                          <a:cs typeface="Arial" panose="020B0604020202020204" pitchFamily="34" charset="0"/>
                          <a:sym typeface="Arial"/>
                        </a:rPr>
                        <a:t>) for alleged negligence and </a:t>
                      </a:r>
                      <a:r>
                        <a:rPr lang="en-US" sz="2000" b="0" i="0" u="none" strike="noStrike" cap="none">
                          <a:solidFill>
                            <a:srgbClr val="000000"/>
                          </a:solidFill>
                          <a:latin typeface="Arial" panose="020B0604020202020204" pitchFamily="34" charset="0"/>
                          <a:cs typeface="Arial" panose="020B0604020202020204" pitchFamily="34" charset="0"/>
                          <a:sym typeface="Arial"/>
                        </a:rPr>
                        <a:t>unprofessional </a:t>
                      </a:r>
                      <a:r>
                        <a:rPr lang="en-US" sz="2000" b="0" i="0" u="none" strike="noStrike" cap="none" smtClean="0">
                          <a:solidFill>
                            <a:srgbClr val="000000"/>
                          </a:solidFill>
                          <a:latin typeface="Arial" panose="020B0604020202020204" pitchFamily="34" charset="0"/>
                          <a:cs typeface="Arial" panose="020B0604020202020204" pitchFamily="34" charset="0"/>
                          <a:sym typeface="Arial"/>
                        </a:rPr>
                        <a:t>conduct. </a:t>
                      </a:r>
                      <a:endParaRPr lang="en-US" sz="2000" b="0"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25246">
                <a:tc>
                  <a:txBody>
                    <a:bodyPr/>
                    <a:lstStyle/>
                    <a:p>
                      <a:pPr marL="0" marR="0" lvl="0" indent="0" algn="l" rtl="0">
                        <a:lnSpc>
                          <a:spcPct val="100000"/>
                        </a:lnSpc>
                        <a:spcBef>
                          <a:spcPts val="0"/>
                        </a:spcBef>
                        <a:spcAft>
                          <a:spcPts val="0"/>
                        </a:spcAft>
                        <a:buClr>
                          <a:srgbClr val="000000"/>
                        </a:buClr>
                        <a:buSzPts val="1600"/>
                        <a:buFont typeface="Arial"/>
                        <a:buNone/>
                      </a:pPr>
                      <a:r>
                        <a:rPr lang="en-CA" sz="2000" b="1" i="0" u="none" strike="noStrike" cap="none" dirty="0">
                          <a:solidFill>
                            <a:srgbClr val="000000"/>
                          </a:solidFill>
                          <a:latin typeface="Arial" panose="020B0604020202020204" pitchFamily="34" charset="0"/>
                          <a:ea typeface="Arial"/>
                          <a:cs typeface="Arial" panose="020B0604020202020204" pitchFamily="34" charset="0"/>
                          <a:sym typeface="Arial"/>
                        </a:rPr>
                        <a:t>Production:</a:t>
                      </a:r>
                      <a:endParaRPr sz="2000" b="1"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Facility shutdown for 1 year</a:t>
                      </a:r>
                    </a:p>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Full operations resumed in July 2017</a:t>
                      </a: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1337434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292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None/>
            </a:pPr>
            <a:r>
              <a:rPr lang="en-US" sz="1800" dirty="0" smtClean="0">
                <a:solidFill>
                  <a:srgbClr val="000000"/>
                </a:solidFill>
                <a:latin typeface="Arial"/>
                <a:cs typeface="Arial"/>
                <a:sym typeface="Arial"/>
              </a:rPr>
              <a:t>The </a:t>
            </a:r>
            <a:r>
              <a:rPr lang="en-US" sz="1800" dirty="0">
                <a:solidFill>
                  <a:srgbClr val="000000"/>
                </a:solidFill>
                <a:latin typeface="Arial"/>
                <a:cs typeface="Arial"/>
                <a:sym typeface="Arial"/>
              </a:rPr>
              <a:t>weak clay layer below embankment failed from excessive stress due to:</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Overly steep slope downstream of the embankment </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Embankment height higher than design standards (~40m)</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Open sub-excavation at the toe of the embankment</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Surplus of water in TSF </a:t>
            </a:r>
            <a:r>
              <a:rPr lang="en-US" sz="1800" dirty="0" smtClean="0">
                <a:solidFill>
                  <a:srgbClr val="000000"/>
                </a:solidFill>
                <a:latin typeface="Arial"/>
                <a:cs typeface="Arial"/>
                <a:sym typeface="Arial"/>
              </a:rPr>
              <a:t>(Tailings Storage Facility)</a:t>
            </a:r>
            <a:endParaRPr lang="en-US" sz="1800" dirty="0">
              <a:solidFill>
                <a:srgbClr val="000000"/>
              </a:solidFill>
              <a:latin typeface="Arial"/>
              <a:cs typeface="Arial"/>
              <a:sym typeface="Arial"/>
            </a:endParaRP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Insufficient tailings beaches to protect embankment structure </a:t>
            </a:r>
          </a:p>
          <a:p>
            <a:pPr marL="360000" lvl="0" indent="-360000" algn="l" rtl="0">
              <a:spcBef>
                <a:spcPts val="0"/>
              </a:spcBef>
              <a:spcAft>
                <a:spcPts val="0"/>
              </a:spcAft>
              <a:buClr>
                <a:srgbClr val="000000"/>
              </a:buClr>
              <a:buSzPts val="1800"/>
              <a:buNone/>
            </a:pPr>
            <a:endParaRPr lang="en-US" sz="1800" dirty="0">
              <a:solidFill>
                <a:srgbClr val="000000"/>
              </a:solidFill>
              <a:latin typeface="Arial"/>
              <a:cs typeface="Arial"/>
              <a:sym typeface="Arial"/>
            </a:endParaRPr>
          </a:p>
        </p:txBody>
      </p:sp>
      <p:pic>
        <p:nvPicPr>
          <p:cNvPr id="5" name="Picture 4" descr="A screen shot of a computer&#10;&#10;Description automatically generated">
            <a:extLst>
              <a:ext uri="{FF2B5EF4-FFF2-40B4-BE49-F238E27FC236}">
                <a16:creationId xmlns:a16="http://schemas.microsoft.com/office/drawing/2014/main" id="{13B087AE-FE97-4F52-94B5-614E671FFF78}"/>
              </a:ext>
            </a:extLst>
          </p:cNvPr>
          <p:cNvPicPr>
            <a:picLocks noChangeAspect="1"/>
          </p:cNvPicPr>
          <p:nvPr/>
        </p:nvPicPr>
        <p:blipFill>
          <a:blip r:embed="rId3"/>
          <a:stretch>
            <a:fillRect/>
          </a:stretch>
        </p:blipFill>
        <p:spPr>
          <a:xfrm>
            <a:off x="482618" y="3459534"/>
            <a:ext cx="8199420" cy="2484066"/>
          </a:xfrm>
          <a:prstGeom prst="rect">
            <a:avLst/>
          </a:prstGeom>
        </p:spPr>
      </p:pic>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Immediate (and Intermediate) </a:t>
            </a:r>
            <a:r>
              <a:rPr lang="en-US" altLang="en-US" sz="2400" b="0" dirty="0" smtClean="0">
                <a:solidFill>
                  <a:schemeClr val="accent2"/>
                </a:solidFill>
                <a:latin typeface="Arial" panose="020B0604020202020204" pitchFamily="34" charset="0"/>
                <a:ea typeface="+mj-ea"/>
                <a:cs typeface="Arial" panose="020B0604020202020204" pitchFamily="34" charset="0"/>
              </a:rPr>
              <a:t>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30632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Technical Causes of the </a:t>
            </a:r>
            <a:r>
              <a:rPr lang="en-US" altLang="en-US" sz="2400" b="0" dirty="0" smtClean="0">
                <a:solidFill>
                  <a:schemeClr val="accent2"/>
                </a:solidFill>
                <a:latin typeface="Arial" panose="020B0604020202020204" pitchFamily="34" charset="0"/>
                <a:ea typeface="+mj-ea"/>
                <a:cs typeface="Arial" panose="020B0604020202020204" pitchFamily="34" charset="0"/>
              </a:rPr>
              <a:t>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pic>
        <p:nvPicPr>
          <p:cNvPr id="4" name="Picture 3"/>
          <p:cNvPicPr>
            <a:picLocks noChangeAspect="1"/>
          </p:cNvPicPr>
          <p:nvPr/>
        </p:nvPicPr>
        <p:blipFill>
          <a:blip r:embed="rId3"/>
          <a:stretch>
            <a:fillRect/>
          </a:stretch>
        </p:blipFill>
        <p:spPr>
          <a:xfrm>
            <a:off x="180000" y="1080000"/>
            <a:ext cx="8640000" cy="4569600"/>
          </a:xfrm>
          <a:prstGeom prst="rect">
            <a:avLst/>
          </a:prstGeom>
        </p:spPr>
      </p:pic>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2" name="Rounded Rectangular Callout 1"/>
          <p:cNvSpPr/>
          <p:nvPr/>
        </p:nvSpPr>
        <p:spPr>
          <a:xfrm>
            <a:off x="5791200" y="216000"/>
            <a:ext cx="2061848" cy="578882"/>
          </a:xfrm>
          <a:prstGeom prst="wedgeRoundRectCallout">
            <a:avLst>
              <a:gd name="adj1" fmla="val -83237"/>
              <a:gd name="adj2" fmla="val 521989"/>
              <a:gd name="adj3" fmla="val 1666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smtClean="0">
                <a:solidFill>
                  <a:schemeClr val="tx1"/>
                </a:solidFill>
              </a:rPr>
              <a:t>The embankment dam structure failed.</a:t>
            </a:r>
            <a:endParaRPr lang="en-US" sz="1400" dirty="0">
              <a:solidFill>
                <a:schemeClr val="tx1"/>
              </a:solidFill>
            </a:endParaRPr>
          </a:p>
        </p:txBody>
      </p:sp>
    </p:spTree>
    <p:extLst>
      <p:ext uri="{BB962C8B-B14F-4D97-AF65-F5344CB8AC3E}">
        <p14:creationId xmlns:p14="http://schemas.microsoft.com/office/powerpoint/2010/main" val="298866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lvl="0" indent="-228600" algn="l" rtl="0">
              <a:spcBef>
                <a:spcPts val="0"/>
              </a:spcBef>
              <a:spcAft>
                <a:spcPts val="0"/>
              </a:spcAft>
              <a:buClr>
                <a:srgbClr val="000000"/>
              </a:buClr>
              <a:buSzPts val="1800"/>
              <a:buFont typeface="Noto Sans Symbols"/>
              <a:buNone/>
            </a:pPr>
            <a:endParaRPr lang="en-CA" sz="1800" dirty="0">
              <a:latin typeface="Arial"/>
              <a:ea typeface="Arial"/>
              <a:cs typeface="Arial"/>
              <a:sym typeface="Arial"/>
            </a:endParaRPr>
          </a:p>
          <a:p>
            <a:pPr marL="0" lvl="0" indent="0" algn="l" rtl="0">
              <a:spcBef>
                <a:spcPts val="0"/>
              </a:spcBef>
              <a:spcAft>
                <a:spcPts val="0"/>
              </a:spcAft>
              <a:buClr>
                <a:srgbClr val="000000"/>
              </a:buClr>
              <a:buSzPts val="1800"/>
              <a:buNone/>
            </a:pPr>
            <a:r>
              <a:rPr lang="en-US" sz="1800" u="sng" dirty="0">
                <a:latin typeface="Arial"/>
                <a:cs typeface="Arial"/>
                <a:sym typeface="Arial"/>
              </a:rPr>
              <a:t>Engineering and Design Factors: </a:t>
            </a:r>
            <a:endParaRPr lang="en-US" sz="1800" u="sng" dirty="0">
              <a:highlight>
                <a:srgbClr val="FFFF00"/>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evaluation of change: </a:t>
            </a:r>
            <a:r>
              <a:rPr lang="en-US" sz="1800" dirty="0">
                <a:latin typeface="Arial"/>
                <a:cs typeface="Arial"/>
                <a:sym typeface="Arial"/>
              </a:rPr>
              <a:t>Risks introduced by the sub excavation activity at the toe of the embankment were not identified </a:t>
            </a:r>
            <a:r>
              <a:rPr lang="en-US" sz="1800" dirty="0" smtClean="0">
                <a:latin typeface="Arial"/>
                <a:cs typeface="Arial"/>
                <a:sym typeface="Arial"/>
              </a:rPr>
              <a:t>nor assessed.</a:t>
            </a:r>
            <a:endParaRPr lang="en-US" sz="1800" dirty="0">
              <a:highlight>
                <a:srgbClr val="00FFFF"/>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monitoring of construction:</a:t>
            </a:r>
            <a:r>
              <a:rPr lang="en-US" sz="1800" dirty="0">
                <a:latin typeface="Arial"/>
                <a:cs typeface="Arial"/>
                <a:sym typeface="Arial"/>
              </a:rPr>
              <a:t> Subexcavation remained open for 8 months without any concern from engineers or </a:t>
            </a:r>
            <a:r>
              <a:rPr lang="en-US" sz="1800" dirty="0" smtClean="0">
                <a:latin typeface="Arial"/>
                <a:cs typeface="Arial"/>
                <a:sym typeface="Arial"/>
              </a:rPr>
              <a:t>management.</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smtClean="0">
              <a:latin typeface="Arial"/>
              <a:cs typeface="Arial"/>
              <a:sym typeface="Arial"/>
            </a:endParaRPr>
          </a:p>
          <a:p>
            <a:pPr marL="0" lvl="0" indent="0" algn="l" rtl="0">
              <a:spcBef>
                <a:spcPts val="0"/>
              </a:spcBef>
              <a:spcAft>
                <a:spcPts val="0"/>
              </a:spcAft>
              <a:buClr>
                <a:srgbClr val="000000"/>
              </a:buClr>
              <a:buSzPts val="1800"/>
              <a:buNone/>
            </a:pPr>
            <a:r>
              <a:rPr lang="en-US" sz="1800" u="sng" dirty="0" smtClean="0">
                <a:latin typeface="Arial"/>
                <a:cs typeface="Arial"/>
                <a:sym typeface="Arial"/>
              </a:rPr>
              <a:t>Job </a:t>
            </a:r>
            <a:r>
              <a:rPr lang="en-US" sz="1800" u="sng" dirty="0">
                <a:latin typeface="Arial"/>
                <a:cs typeface="Arial"/>
                <a:sym typeface="Arial"/>
              </a:rPr>
              <a:t>Factors: </a:t>
            </a: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ea typeface="Arial"/>
                <a:cs typeface="Arial" panose="020B0604020202020204" pitchFamily="34" charset="0"/>
                <a:sym typeface="Arial"/>
              </a:rPr>
              <a:t>Inadequate guidance manuals:</a:t>
            </a:r>
            <a:r>
              <a:rPr lang="en-CA" sz="1800" dirty="0">
                <a:latin typeface="Arial" panose="020B0604020202020204" pitchFamily="34" charset="0"/>
                <a:ea typeface="Arial"/>
                <a:cs typeface="Arial" panose="020B0604020202020204" pitchFamily="34" charset="0"/>
                <a:sym typeface="Arial"/>
              </a:rPr>
              <a:t> The construction manual for buttress excavation did not include any construction </a:t>
            </a:r>
            <a:r>
              <a:rPr lang="en-CA" sz="1800" dirty="0" smtClean="0">
                <a:latin typeface="Arial" panose="020B0604020202020204" pitchFamily="34" charset="0"/>
                <a:ea typeface="Arial"/>
                <a:cs typeface="Arial" panose="020B0604020202020204" pitchFamily="34" charset="0"/>
                <a:sym typeface="Arial"/>
              </a:rPr>
              <a:t>procedures.</a:t>
            </a:r>
            <a:r>
              <a:rPr lang="en-CA" sz="1800" dirty="0" smtClean="0">
                <a:highlight>
                  <a:srgbClr val="FFFF00"/>
                </a:highlight>
                <a:latin typeface="Arial" panose="020B0604020202020204" pitchFamily="34" charset="0"/>
                <a:ea typeface="Arial"/>
                <a:cs typeface="Arial" panose="020B0604020202020204" pitchFamily="34" charset="0"/>
                <a:sym typeface="Arial"/>
              </a:rPr>
              <a:t> </a:t>
            </a:r>
            <a:endParaRPr lang="en-CA" sz="1800" dirty="0">
              <a:highlight>
                <a:srgbClr val="FFFF00"/>
              </a:highlight>
              <a:latin typeface="Arial" panose="020B0604020202020204" pitchFamily="34" charset="0"/>
              <a:ea typeface="Arial"/>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inspection/monitoring: </a:t>
            </a:r>
            <a:r>
              <a:rPr lang="en-CA" sz="1800" dirty="0">
                <a:latin typeface="Arial" panose="020B0604020202020204" pitchFamily="34" charset="0"/>
                <a:cs typeface="Arial" panose="020B0604020202020204" pitchFamily="34" charset="0"/>
                <a:sym typeface="Arial"/>
              </a:rPr>
              <a:t>Inadequate supervision during TSF operations</a:t>
            </a:r>
            <a:endParaRPr lang="en-CA" sz="1800" dirty="0">
              <a:highlight>
                <a:srgbClr val="FFFF00"/>
              </a:highlight>
              <a:latin typeface="Arial" panose="020B0604020202020204" pitchFamily="34" charset="0"/>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work planning:</a:t>
            </a:r>
            <a:r>
              <a:rPr lang="en-CA" sz="1800" dirty="0">
                <a:latin typeface="Arial" panose="020B0604020202020204" pitchFamily="34" charset="0"/>
                <a:cs typeface="Arial" panose="020B0604020202020204" pitchFamily="34" charset="0"/>
                <a:sym typeface="Arial"/>
              </a:rPr>
              <a:t> Inadequate water management plan</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smtClean="0">
              <a:latin typeface="Arial"/>
              <a:cs typeface="Arial"/>
              <a:sym typeface="Arial"/>
            </a:endParaRPr>
          </a:p>
          <a:p>
            <a:pPr marL="0" lvl="0" indent="0" algn="l" rtl="0">
              <a:spcBef>
                <a:spcPts val="0"/>
              </a:spcBef>
              <a:spcAft>
                <a:spcPts val="0"/>
              </a:spcAft>
              <a:buClr>
                <a:srgbClr val="000000"/>
              </a:buClr>
              <a:buSzPts val="1800"/>
              <a:buNone/>
            </a:pPr>
            <a:r>
              <a:rPr lang="en-US" sz="1800" u="sng" dirty="0" smtClean="0">
                <a:latin typeface="Arial"/>
                <a:cs typeface="Arial"/>
                <a:sym typeface="Arial"/>
              </a:rPr>
              <a:t>Personal </a:t>
            </a:r>
            <a:r>
              <a:rPr lang="en-US" sz="1800" u="sng" dirty="0">
                <a:latin typeface="Arial"/>
                <a:cs typeface="Arial"/>
                <a:sym typeface="Arial"/>
              </a:rPr>
              <a:t>Factors:</a:t>
            </a:r>
          </a:p>
          <a:p>
            <a:pPr marL="342900" indent="-342900">
              <a:spcBef>
                <a:spcPts val="0"/>
              </a:spcBef>
              <a:spcAft>
                <a:spcPts val="0"/>
              </a:spcAft>
              <a:buClr>
                <a:srgbClr val="000000"/>
              </a:buClr>
              <a:buSzPts val="1800"/>
              <a:buFont typeface="Noto Sans Symbols"/>
              <a:buChar char="⮚"/>
            </a:pPr>
            <a:r>
              <a:rPr lang="en-US" sz="1800" b="1" dirty="0">
                <a:latin typeface="Arial" panose="020B0604020202020204" pitchFamily="34" charset="0"/>
                <a:ea typeface="Arial"/>
                <a:cs typeface="Arial" panose="020B0604020202020204" pitchFamily="34" charset="0"/>
                <a:sym typeface="Arial"/>
              </a:rPr>
              <a:t>Improper risk taking: </a:t>
            </a:r>
            <a:r>
              <a:rPr lang="en-US" sz="1800" dirty="0">
                <a:latin typeface="Arial" panose="020B0604020202020204" pitchFamily="34" charset="0"/>
                <a:ea typeface="Arial"/>
                <a:cs typeface="Arial" panose="020B0604020202020204" pitchFamily="34" charset="0"/>
                <a:sym typeface="Arial"/>
              </a:rPr>
              <a:t>Design engineers were overconfident in their professional judgement </a:t>
            </a:r>
          </a:p>
        </p:txBody>
      </p:sp>
      <p:sp>
        <p:nvSpPr>
          <p:cNvPr id="4"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Basic </a:t>
            </a:r>
            <a:r>
              <a:rPr lang="en-US" altLang="en-US" sz="2400" b="0" dirty="0" smtClean="0">
                <a:solidFill>
                  <a:schemeClr val="accent2"/>
                </a:solidFill>
                <a:latin typeface="Arial" panose="020B0604020202020204" pitchFamily="34" charset="0"/>
                <a:ea typeface="+mj-ea"/>
                <a:cs typeface="Arial" panose="020B0604020202020204" pitchFamily="34" charset="0"/>
              </a:rPr>
              <a:t>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49784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p:nvPr/>
        </p:nvSpPr>
        <p:spPr>
          <a:xfrm>
            <a:off x="180000" y="828000"/>
            <a:ext cx="8640000" cy="5328000"/>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lvl="0">
              <a:buClr>
                <a:srgbClr val="FFFFFF"/>
              </a:buClr>
              <a:buSzPts val="2000"/>
            </a:pPr>
            <a:r>
              <a:rPr lang="en-CA" sz="2000" b="1" i="1" dirty="0">
                <a:solidFill>
                  <a:srgbClr val="FFFFFF"/>
                </a:solidFill>
              </a:rPr>
              <a:t>It is vital to combat complacency in all aspects </a:t>
            </a:r>
          </a:p>
          <a:p>
            <a:pPr lvl="0">
              <a:buClr>
                <a:srgbClr val="FFFFFF"/>
              </a:buClr>
              <a:buSzPts val="2000"/>
            </a:pPr>
            <a:r>
              <a:rPr lang="en-CA" sz="2000" b="1" i="1" dirty="0">
                <a:solidFill>
                  <a:srgbClr val="FFFFFF"/>
                </a:solidFill>
              </a:rPr>
              <a:t>of </a:t>
            </a:r>
            <a:r>
              <a:rPr lang="en-CA" sz="2000" b="1" i="1">
                <a:solidFill>
                  <a:srgbClr val="FFFFFF"/>
                </a:solidFill>
              </a:rPr>
              <a:t>risk </a:t>
            </a:r>
            <a:r>
              <a:rPr lang="en-CA" sz="2000" b="1" i="1" smtClean="0">
                <a:solidFill>
                  <a:srgbClr val="FFFFFF"/>
                </a:solidFill>
              </a:rPr>
              <a:t>management.</a:t>
            </a:r>
            <a:endParaRPr dirty="0">
              <a:highlight>
                <a:srgbClr val="00FFFF"/>
              </a:highlight>
            </a:endParaRPr>
          </a:p>
          <a:p>
            <a:pPr marL="0" marR="0" lvl="0" indent="0" algn="l" rtl="0">
              <a:spcBef>
                <a:spcPts val="0"/>
              </a:spcBef>
              <a:spcAft>
                <a:spcPts val="0"/>
              </a:spcAft>
              <a:buClr>
                <a:schemeClr val="dk1"/>
              </a:buClr>
              <a:buSzPts val="2000"/>
              <a:buFont typeface="Noto Sans Symbols"/>
              <a:buNone/>
            </a:pPr>
            <a:endParaRPr sz="1000" b="1" i="1" dirty="0">
              <a:solidFill>
                <a:srgbClr val="FFFFFF"/>
              </a:solidFill>
              <a:latin typeface="Arial"/>
              <a:ea typeface="Arial"/>
              <a:cs typeface="Arial"/>
              <a:sym typeface="Arial"/>
            </a:endParaRPr>
          </a:p>
          <a:p>
            <a:pPr marL="0" marR="0" lvl="0" indent="0" algn="l" rtl="0">
              <a:spcBef>
                <a:spcPts val="0"/>
              </a:spcBef>
              <a:spcAft>
                <a:spcPts val="0"/>
              </a:spcAft>
              <a:buClr>
                <a:srgbClr val="FFFFFF"/>
              </a:buClr>
              <a:buSzPts val="2000"/>
              <a:buFont typeface="Noto Sans Symbols"/>
              <a:buNone/>
            </a:pPr>
            <a:r>
              <a:rPr lang="en-US" sz="2000" i="1" dirty="0">
                <a:solidFill>
                  <a:srgbClr val="FFFFFF"/>
                </a:solidFill>
                <a:latin typeface="Arial"/>
                <a:ea typeface="Arial"/>
                <a:cs typeface="Arial"/>
                <a:sym typeface="Arial"/>
              </a:rPr>
              <a:t>Using this list, select one and think about </a:t>
            </a:r>
            <a:r>
              <a:rPr lang="en-US" sz="2000" i="1" dirty="0" smtClean="0">
                <a:solidFill>
                  <a:srgbClr val="FFFFFF"/>
                </a:solidFill>
                <a:latin typeface="Arial"/>
                <a:ea typeface="Arial"/>
                <a:cs typeface="Arial"/>
                <a:sym typeface="Arial"/>
              </a:rPr>
              <a:t>possible</a:t>
            </a:r>
            <a:br>
              <a:rPr lang="en-US" sz="2000" i="1" dirty="0" smtClean="0">
                <a:solidFill>
                  <a:srgbClr val="FFFFFF"/>
                </a:solidFill>
                <a:latin typeface="Arial"/>
                <a:ea typeface="Arial"/>
                <a:cs typeface="Arial"/>
                <a:sym typeface="Arial"/>
              </a:rPr>
            </a:br>
            <a:r>
              <a:rPr lang="en-US" sz="2000" i="1" dirty="0" smtClean="0">
                <a:solidFill>
                  <a:srgbClr val="FFFFFF"/>
                </a:solidFill>
                <a:latin typeface="Arial"/>
                <a:ea typeface="Arial"/>
                <a:cs typeface="Arial"/>
                <a:sym typeface="Arial"/>
              </a:rPr>
              <a:t>causes </a:t>
            </a:r>
            <a:r>
              <a:rPr lang="en-US" sz="2000" i="1" dirty="0">
                <a:solidFill>
                  <a:srgbClr val="FFFFFF"/>
                </a:solidFill>
                <a:latin typeface="Arial"/>
                <a:ea typeface="Arial"/>
                <a:cs typeface="Arial"/>
                <a:sym typeface="Arial"/>
              </a:rPr>
              <a:t>of failure in organizational leadership:</a:t>
            </a:r>
            <a:endParaRPr dirty="0"/>
          </a:p>
        </p:txBody>
      </p:sp>
      <p:sp>
        <p:nvSpPr>
          <p:cNvPr id="270" name="Google Shape;270;p14"/>
          <p:cNvSpPr/>
          <p:nvPr/>
        </p:nvSpPr>
        <p:spPr>
          <a:xfrm>
            <a:off x="228600" y="2407306"/>
            <a:ext cx="6223338" cy="29266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Aft>
                <a:spcPts val="0"/>
              </a:spcAft>
              <a:buSzPts val="1600"/>
              <a:buFont typeface="Times New Roman"/>
              <a:buAutoNum type="arabicParenR"/>
            </a:pPr>
            <a:r>
              <a:rPr lang="en-US" sz="1600" dirty="0" smtClean="0">
                <a:sym typeface="Arial"/>
              </a:rPr>
              <a:t>Management Leadership, Commitment and Accountability</a:t>
            </a:r>
            <a:endParaRPr sz="1600" dirty="0" smtClean="0"/>
          </a:p>
          <a:p>
            <a:pPr marL="342900" marR="0" lvl="0" indent="-342900" algn="l" rtl="0">
              <a:spcAft>
                <a:spcPts val="0"/>
              </a:spcAft>
              <a:buSzPts val="1600"/>
              <a:buFont typeface="Times New Roman"/>
              <a:buAutoNum type="arabicParenR"/>
            </a:pPr>
            <a:r>
              <a:rPr lang="en-US" sz="1600" dirty="0" smtClean="0">
                <a:sym typeface="Arial"/>
              </a:rPr>
              <a:t>Risk Assessment and Management of Risks</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Community Awareness and Emergency Preparedness</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Management of Change.</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Incident Reporting, Investigation, Analysis and Actions</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Program Evaluation and Continuous Improvement.</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ym typeface="Arial"/>
              </a:rPr>
              <a:t>Design, Construction and Start-up</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Operations and Maintenance.</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ym typeface="Arial"/>
              </a:rPr>
              <a:t>Employee Competency and Training.</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Contractor Competency and Integration.</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Operations and Facilities Information and Documentation.</a:t>
            </a:r>
            <a:endParaRPr sz="1600" dirty="0">
              <a:solidFill>
                <a:schemeClr val="bg1">
                  <a:lumMod val="65000"/>
                </a:schemeClr>
              </a:solidFill>
            </a:endParaRPr>
          </a:p>
        </p:txBody>
      </p:sp>
      <p:pic>
        <p:nvPicPr>
          <p:cNvPr id="3" name="Picture 2" descr="A view of the ocean&#10;&#10;Description automatically generated">
            <a:extLst>
              <a:ext uri="{FF2B5EF4-FFF2-40B4-BE49-F238E27FC236}">
                <a16:creationId xmlns:a16="http://schemas.microsoft.com/office/drawing/2014/main" id="{1FAAE589-C56B-4FF3-9D5B-913EAC624CF9}"/>
              </a:ext>
            </a:extLst>
          </p:cNvPr>
          <p:cNvPicPr>
            <a:picLocks noChangeAspect="1"/>
          </p:cNvPicPr>
          <p:nvPr/>
        </p:nvPicPr>
        <p:blipFill>
          <a:blip r:embed="rId3"/>
          <a:stretch>
            <a:fillRect/>
          </a:stretch>
        </p:blipFill>
        <p:spPr>
          <a:xfrm>
            <a:off x="6471139" y="822961"/>
            <a:ext cx="2368061" cy="1882831"/>
          </a:xfrm>
          <a:prstGeom prst="rect">
            <a:avLst/>
          </a:prstGeom>
        </p:spPr>
      </p:pic>
      <p:pic>
        <p:nvPicPr>
          <p:cNvPr id="5" name="Picture 4" descr="A close up of a mountain&#10;&#10;Description automatically generated">
            <a:extLst>
              <a:ext uri="{FF2B5EF4-FFF2-40B4-BE49-F238E27FC236}">
                <a16:creationId xmlns:a16="http://schemas.microsoft.com/office/drawing/2014/main" id="{803C471C-E048-49E2-AA83-0D9E1B85D6CC}"/>
              </a:ext>
            </a:extLst>
          </p:cNvPr>
          <p:cNvPicPr>
            <a:picLocks noChangeAspect="1"/>
          </p:cNvPicPr>
          <p:nvPr/>
        </p:nvPicPr>
        <p:blipFill>
          <a:blip r:embed="rId4"/>
          <a:stretch>
            <a:fillRect/>
          </a:stretch>
        </p:blipFill>
        <p:spPr>
          <a:xfrm>
            <a:off x="6471139" y="2705792"/>
            <a:ext cx="2368061" cy="1488831"/>
          </a:xfrm>
          <a:prstGeom prst="rect">
            <a:avLst/>
          </a:prstGeom>
        </p:spPr>
      </p:pic>
      <p:pic>
        <p:nvPicPr>
          <p:cNvPr id="7" name="Picture 6" descr="A body of water&#10;&#10;Description automatically generated">
            <a:extLst>
              <a:ext uri="{FF2B5EF4-FFF2-40B4-BE49-F238E27FC236}">
                <a16:creationId xmlns:a16="http://schemas.microsoft.com/office/drawing/2014/main" id="{7488A2E0-279F-4D6B-9D27-ECD5C1AC655D}"/>
              </a:ext>
            </a:extLst>
          </p:cNvPr>
          <p:cNvPicPr>
            <a:picLocks noChangeAspect="1"/>
          </p:cNvPicPr>
          <p:nvPr/>
        </p:nvPicPr>
        <p:blipFill>
          <a:blip r:embed="rId5"/>
          <a:stretch>
            <a:fillRect/>
          </a:stretch>
        </p:blipFill>
        <p:spPr>
          <a:xfrm>
            <a:off x="6471138" y="4194623"/>
            <a:ext cx="2368061" cy="1966363"/>
          </a:xfrm>
          <a:prstGeom prst="rect">
            <a:avLst/>
          </a:prstGeom>
        </p:spPr>
      </p:pic>
      <p:sp>
        <p:nvSpPr>
          <p:cNvPr id="8"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a:t>
            </a:r>
            <a:r>
              <a:rPr lang="en-US" altLang="en-US" sz="2400" b="0" dirty="0" smtClean="0">
                <a:solidFill>
                  <a:schemeClr val="accent2"/>
                </a:solidFill>
                <a:latin typeface="Arial" panose="020B0604020202020204" pitchFamily="34" charset="0"/>
                <a:ea typeface="+mj-ea"/>
                <a:cs typeface="Arial" panose="020B0604020202020204" pitchFamily="34" charset="0"/>
              </a:rPr>
              <a:t>Latent Causes and Lessons </a:t>
            </a:r>
            <a:r>
              <a:rPr lang="en-US" altLang="en-US" sz="2400" b="0" dirty="0">
                <a:solidFill>
                  <a:schemeClr val="accent2"/>
                </a:solidFill>
                <a:latin typeface="Arial" panose="020B0604020202020204" pitchFamily="34" charset="0"/>
                <a:ea typeface="+mj-ea"/>
                <a:cs typeface="Arial" panose="020B0604020202020204" pitchFamily="34" charset="0"/>
              </a:rPr>
              <a:t>in Leadership:</a:t>
            </a:r>
          </a:p>
        </p:txBody>
      </p:sp>
      <p:sp>
        <p:nvSpPr>
          <p:cNvPr id="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12484054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#1 MLCA:</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Lack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of management commitment, leadership, and  accountability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ignored previous warnings and concerns from Regulator and employees</a:t>
            </a:r>
          </a:p>
          <a:p>
            <a:pPr marL="0" lvl="0" indent="0" eaLnBrk="0" hangingPunct="0">
              <a:lnSpc>
                <a:spcPct val="90000"/>
              </a:lnSpc>
              <a:spcBef>
                <a:spcPts val="0"/>
              </a:spcBef>
              <a:buClrTx/>
              <a:buSzPct val="100000"/>
              <a:buNone/>
            </a:pP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2 RA&amp;MR:</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risk assessment and management of risk</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Insufficient hazard identification during operations in TSF</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provided inadequate supervision and inspections during operations</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#7 DC&amp;SU:</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design and assessment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had a poor understanding of underlying terrain during the design phase of TSF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heavily relied on Factor of Safety calculations prone to error   </a:t>
            </a:r>
          </a:p>
          <a:p>
            <a:pPr marL="0" lvl="0" indent="0" eaLnBrk="0" hangingPunct="0">
              <a:lnSpc>
                <a:spcPct val="90000"/>
              </a:lnSpc>
              <a:spcBef>
                <a:spcPts val="0"/>
              </a:spcBef>
              <a:buClrTx/>
              <a:buSzPct val="100000"/>
              <a:buNone/>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#9 EC&amp;T:</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employee competency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Unqualified personnel overseeing water management program</a:t>
            </a:r>
          </a:p>
          <a:p>
            <a:pPr marL="432000" indent="-432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bg1"/>
                </a:solidFill>
                <a:latin typeface="Arial" panose="020B0604020202020204" pitchFamily="34" charset="0"/>
                <a:ea typeface="+mj-ea"/>
                <a:cs typeface="Arial" panose="020B0604020202020204" pitchFamily="34" charset="0"/>
              </a:rPr>
              <a:t>An </a:t>
            </a:r>
            <a:r>
              <a:rPr lang="en-US" altLang="en-US" sz="2400" b="0" dirty="0" smtClean="0">
                <a:solidFill>
                  <a:schemeClr val="bg1"/>
                </a:solidFill>
                <a:latin typeface="Arial" panose="020B0604020202020204" pitchFamily="34" charset="0"/>
                <a:ea typeface="+mj-ea"/>
                <a:cs typeface="Arial" panose="020B0604020202020204" pitchFamily="34" charset="0"/>
              </a:rPr>
              <a:t>Examination </a:t>
            </a:r>
            <a:r>
              <a:rPr lang="en-US" altLang="en-US" sz="2400" b="0" dirty="0">
                <a:solidFill>
                  <a:schemeClr val="bg1"/>
                </a:solidFill>
                <a:latin typeface="Arial" panose="020B0604020202020204" pitchFamily="34" charset="0"/>
                <a:ea typeface="+mj-ea"/>
                <a:cs typeface="Arial" panose="020B0604020202020204" pitchFamily="34" charset="0"/>
              </a:rPr>
              <a:t>of the </a:t>
            </a:r>
            <a:r>
              <a:rPr lang="en-US" altLang="en-US" sz="2400" b="0" dirty="0" smtClean="0">
                <a:solidFill>
                  <a:schemeClr val="bg1"/>
                </a:solidFill>
                <a:latin typeface="Arial" panose="020B0604020202020204" pitchFamily="34" charset="0"/>
                <a:ea typeface="+mj-ea"/>
                <a:cs typeface="Arial" panose="020B0604020202020204" pitchFamily="34" charset="0"/>
              </a:rPr>
              <a:t>Weaknesses in RM Elements (LC’s):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6650459"/>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8"/>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#2: Risk Assessment and Management of Risks: </a:t>
            </a:r>
            <a:endParaRPr lang="en-US" sz="1800" b="1" dirty="0" smtClean="0">
              <a:solidFill>
                <a:schemeClr val="tx1"/>
              </a:solidFill>
              <a:latin typeface="Arial" panose="020B0604020202020204" pitchFamily="34" charset="0"/>
              <a:ea typeface="Arial"/>
              <a:cs typeface="Arial" panose="020B0604020202020204" pitchFamily="34" charset="0"/>
              <a:sym typeface="Arial"/>
            </a:endParaRPr>
          </a:p>
          <a:p>
            <a:pPr marL="0" lvl="0" indent="0" algn="l" rtl="0">
              <a:lnSpc>
                <a:spcPct val="90000"/>
              </a:lnSpc>
              <a:spcBef>
                <a:spcPts val="0"/>
              </a:spcBef>
              <a:spcAft>
                <a:spcPts val="0"/>
              </a:spcAft>
              <a:buClr>
                <a:srgbClr val="000000"/>
              </a:buClr>
              <a:buSzPts val="2000"/>
              <a:buNone/>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Initial and </a:t>
            </a:r>
            <a:r>
              <a:rPr lang="en-US" sz="1800" dirty="0">
                <a:latin typeface="Arial" panose="020B0604020202020204" pitchFamily="34" charset="0"/>
                <a:ea typeface="Arial"/>
                <a:cs typeface="Arial" panose="020B0604020202020204" pitchFamily="34" charset="0"/>
                <a:sym typeface="Arial"/>
              </a:rPr>
              <a:t>on-going, continuing need </a:t>
            </a:r>
            <a:r>
              <a:rPr lang="en-US" sz="1800" dirty="0" smtClean="0">
                <a:latin typeface="Arial" panose="020B0604020202020204" pitchFamily="34" charset="0"/>
                <a:ea typeface="Arial"/>
                <a:cs typeface="Arial" panose="020B0604020202020204" pitchFamily="34" charset="0"/>
                <a:sym typeface="Arial"/>
              </a:rPr>
              <a:t>to assess and manage risks. </a:t>
            </a:r>
            <a:endParaRPr lang="en-US"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Substandard hazard identification program resulted in unaddressed risks </a:t>
            </a:r>
            <a:r>
              <a:rPr lang="en-US" sz="1800" dirty="0" smtClean="0">
                <a:latin typeface="Arial" panose="020B0604020202020204" pitchFamily="34" charset="0"/>
                <a:ea typeface="Arial"/>
                <a:cs typeface="Arial" panose="020B0604020202020204" pitchFamily="34" charset="0"/>
                <a:sym typeface="Arial"/>
              </a:rPr>
              <a:t>during the </a:t>
            </a:r>
            <a:r>
              <a:rPr lang="en-US" sz="1800" dirty="0">
                <a:latin typeface="Arial" panose="020B0604020202020204" pitchFamily="34" charset="0"/>
                <a:ea typeface="Arial"/>
                <a:cs typeface="Arial" panose="020B0604020202020204" pitchFamily="34" charset="0"/>
                <a:sym typeface="Arial"/>
              </a:rPr>
              <a:t>operations phase of the TSF:</a:t>
            </a:r>
          </a:p>
          <a:p>
            <a:pPr marL="720000" lvl="2" indent="-360000" algn="l" rtl="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TSF Inspections were not adequately performed nor adequately supervised</a:t>
            </a:r>
          </a:p>
          <a:p>
            <a:pPr marL="720000" lvl="2" indent="-360000" algn="l" rtl="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gn="l" rtl="0">
              <a:lnSpc>
                <a:spcPct val="90000"/>
              </a:lnSpc>
              <a:spcBef>
                <a:spcPts val="0"/>
              </a:spcBef>
              <a:spcAft>
                <a:spcPts val="0"/>
              </a:spcAft>
              <a:buClr>
                <a:srgbClr val="000000"/>
              </a:buClr>
              <a:buSzPts val="2000"/>
              <a:buNone/>
            </a:pPr>
            <a:r>
              <a:rPr lang="en-CA" sz="1800" b="1" dirty="0">
                <a:latin typeface="Arial" panose="020B0604020202020204" pitchFamily="34" charset="0"/>
                <a:ea typeface="Arial"/>
                <a:cs typeface="Arial" panose="020B0604020202020204" pitchFamily="34" charset="0"/>
                <a:sym typeface="Arial"/>
              </a:rPr>
              <a:t>Latent </a:t>
            </a:r>
            <a:r>
              <a:rPr lang="en-CA" sz="1800" b="1" dirty="0" smtClean="0">
                <a:latin typeface="Arial" panose="020B0604020202020204" pitchFamily="34" charset="0"/>
                <a:ea typeface="Arial"/>
                <a:cs typeface="Arial" panose="020B0604020202020204" pitchFamily="34" charset="0"/>
                <a:sym typeface="Arial"/>
              </a:rPr>
              <a:t>Cause: </a:t>
            </a:r>
            <a:endParaRPr lang="en-CA"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LC-S: The risk assessment </a:t>
            </a:r>
            <a:r>
              <a:rPr lang="en-US" sz="1800" dirty="0">
                <a:latin typeface="Arial" panose="020B0604020202020204" pitchFamily="34" charset="0"/>
                <a:ea typeface="Arial"/>
                <a:cs typeface="Arial" panose="020B0604020202020204" pitchFamily="34" charset="0"/>
                <a:sym typeface="Arial"/>
              </a:rPr>
              <a:t>program </a:t>
            </a:r>
            <a:r>
              <a:rPr lang="en-US" sz="1800" dirty="0" smtClean="0">
                <a:latin typeface="Arial" panose="020B0604020202020204" pitchFamily="34" charset="0"/>
                <a:ea typeface="Arial"/>
                <a:cs typeface="Arial" panose="020B0604020202020204" pitchFamily="34" charset="0"/>
                <a:sym typeface="Arial"/>
              </a:rPr>
              <a:t>did not include a standard to identify and assess hazards of the TSF foundation and hydraulic conditions while the TSF was in operation. #2 RAMR</a:t>
            </a:r>
            <a:endParaRPr lang="en-CA"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a:t>
            </a:r>
            <a:r>
              <a:rPr lang="en-US" altLang="en-US" sz="2400" b="0" dirty="0" smtClean="0">
                <a:solidFill>
                  <a:schemeClr val="accent2"/>
                </a:solidFill>
                <a:latin typeface="Arial" panose="020B0604020202020204" pitchFamily="34" charset="0"/>
                <a:ea typeface="+mj-ea"/>
                <a:cs typeface="Arial" panose="020B0604020202020204" pitchFamily="34" charset="0"/>
              </a:rPr>
              <a:t>Latent Cause Relating to RME#2</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9293908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#7: Design, Construction and Start-up:</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Risk </a:t>
            </a:r>
            <a:r>
              <a:rPr lang="en-US" sz="1800" dirty="0">
                <a:latin typeface="Arial" panose="020B0604020202020204" pitchFamily="34" charset="0"/>
                <a:ea typeface="Arial"/>
                <a:cs typeface="Arial" panose="020B0604020202020204" pitchFamily="34" charset="0"/>
                <a:sym typeface="Arial"/>
              </a:rPr>
              <a:t>assessment </a:t>
            </a:r>
            <a:r>
              <a:rPr lang="en-US" sz="1800" dirty="0" smtClean="0">
                <a:latin typeface="Arial" panose="020B0604020202020204" pitchFamily="34" charset="0"/>
                <a:ea typeface="Arial"/>
                <a:cs typeface="Arial" panose="020B0604020202020204" pitchFamily="34" charset="0"/>
                <a:sym typeface="Arial"/>
              </a:rPr>
              <a:t>during design is </a:t>
            </a:r>
            <a:r>
              <a:rPr lang="en-US" sz="1800" dirty="0">
                <a:latin typeface="Arial" panose="020B0604020202020204" pitchFamily="34" charset="0"/>
                <a:ea typeface="Arial"/>
                <a:cs typeface="Arial" panose="020B0604020202020204" pitchFamily="34" charset="0"/>
                <a:sym typeface="Arial"/>
              </a:rPr>
              <a:t>vital to </a:t>
            </a:r>
            <a:r>
              <a:rPr lang="en-US" sz="1800" dirty="0" smtClean="0">
                <a:latin typeface="Arial" panose="020B0604020202020204" pitchFamily="34" charset="0"/>
                <a:ea typeface="Arial"/>
                <a:cs typeface="Arial" panose="020B0604020202020204" pitchFamily="34" charset="0"/>
                <a:sym typeface="Arial"/>
              </a:rPr>
              <a:t>assess </a:t>
            </a:r>
            <a:r>
              <a:rPr lang="en-US" sz="1800" dirty="0">
                <a:latin typeface="Arial" panose="020B0604020202020204" pitchFamily="34" charset="0"/>
                <a:ea typeface="Arial"/>
                <a:cs typeface="Arial" panose="020B0604020202020204" pitchFamily="34" charset="0"/>
                <a:sym typeface="Arial"/>
              </a:rPr>
              <a:t>and control the </a:t>
            </a:r>
            <a:r>
              <a:rPr lang="en-US" sz="1800" dirty="0" smtClean="0">
                <a:latin typeface="Arial" panose="020B0604020202020204" pitchFamily="34" charset="0"/>
                <a:ea typeface="Arial"/>
                <a:cs typeface="Arial" panose="020B0604020202020204" pitchFamily="34" charset="0"/>
                <a:sym typeface="Arial"/>
              </a:rPr>
              <a:t>risks. </a:t>
            </a:r>
            <a:endParaRPr lang="en-US" sz="1800" dirty="0">
              <a:highlight>
                <a:srgbClr val="FFFF00"/>
              </a:highlight>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Design team heavily relied on Factor of Safety (</a:t>
            </a:r>
            <a:r>
              <a:rPr lang="en-US" sz="1800" dirty="0" err="1">
                <a:latin typeface="Arial" panose="020B0604020202020204" pitchFamily="34" charset="0"/>
                <a:ea typeface="Arial"/>
                <a:cs typeface="Arial" panose="020B0604020202020204" pitchFamily="34" charset="0"/>
                <a:sym typeface="Arial"/>
              </a:rPr>
              <a:t>FoS</a:t>
            </a:r>
            <a:r>
              <a:rPr lang="en-US" sz="1800" dirty="0">
                <a:latin typeface="Arial" panose="020B0604020202020204" pitchFamily="34" charset="0"/>
                <a:ea typeface="Arial"/>
                <a:cs typeface="Arial" panose="020B0604020202020204" pitchFamily="34" charset="0"/>
                <a:sym typeface="Arial"/>
              </a:rPr>
              <a:t>) calculations, but they were not </a:t>
            </a:r>
            <a:r>
              <a:rPr lang="en-US" sz="1800" dirty="0" smtClean="0">
                <a:latin typeface="Arial" panose="020B0604020202020204" pitchFamily="34" charset="0"/>
                <a:ea typeface="Arial"/>
                <a:cs typeface="Arial" panose="020B0604020202020204" pitchFamily="34" charset="0"/>
                <a:sym typeface="Arial"/>
              </a:rPr>
              <a:t>reliable.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Used </a:t>
            </a:r>
            <a:r>
              <a:rPr lang="en-US" sz="1800" dirty="0" smtClean="0">
                <a:latin typeface="Arial" panose="020B0604020202020204" pitchFamily="34" charset="0"/>
                <a:ea typeface="Arial"/>
                <a:cs typeface="Arial" panose="020B0604020202020204" pitchFamily="34" charset="0"/>
                <a:sym typeface="Arial"/>
              </a:rPr>
              <a:t>unsuitable calculation </a:t>
            </a:r>
            <a:r>
              <a:rPr lang="en-US" sz="1800" dirty="0">
                <a:latin typeface="Arial" panose="020B0604020202020204" pitchFamily="34" charset="0"/>
                <a:ea typeface="Arial"/>
                <a:cs typeface="Arial" panose="020B0604020202020204" pitchFamily="34" charset="0"/>
                <a:sym typeface="Arial"/>
              </a:rPr>
              <a:t>guidelines from the Canadian Dam </a:t>
            </a:r>
            <a:r>
              <a:rPr lang="en-US" sz="1800" dirty="0" smtClean="0">
                <a:latin typeface="Arial" panose="020B0604020202020204" pitchFamily="34" charset="0"/>
                <a:ea typeface="Arial"/>
                <a:cs typeface="Arial" panose="020B0604020202020204" pitchFamily="34" charset="0"/>
                <a:sym typeface="Arial"/>
              </a:rPr>
              <a:t>Association </a:t>
            </a: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Calculations used data </a:t>
            </a:r>
            <a:r>
              <a:rPr lang="en-US" sz="1800" dirty="0">
                <a:latin typeface="Arial" panose="020B0604020202020204" pitchFamily="34" charset="0"/>
                <a:ea typeface="Arial"/>
                <a:cs typeface="Arial" panose="020B0604020202020204" pitchFamily="34" charset="0"/>
                <a:sym typeface="Arial"/>
              </a:rPr>
              <a:t>from an inadequate </a:t>
            </a:r>
            <a:r>
              <a:rPr lang="en-US" sz="1800" dirty="0" smtClean="0">
                <a:latin typeface="Arial" panose="020B0604020202020204" pitchFamily="34" charset="0"/>
                <a:ea typeface="Arial"/>
                <a:cs typeface="Arial" panose="020B0604020202020204" pitchFamily="34" charset="0"/>
                <a:sym typeface="Arial"/>
              </a:rPr>
              <a:t>assessment, </a:t>
            </a:r>
            <a:r>
              <a:rPr lang="en-US" sz="1800" dirty="0">
                <a:latin typeface="Arial" panose="020B0604020202020204" pitchFamily="34" charset="0"/>
                <a:ea typeface="Arial"/>
                <a:cs typeface="Arial" panose="020B0604020202020204" pitchFamily="34" charset="0"/>
                <a:sym typeface="Arial"/>
              </a:rPr>
              <a:t>leading to incorrect calculations </a:t>
            </a: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The </a:t>
            </a:r>
            <a:r>
              <a:rPr lang="en-US" sz="1800" dirty="0">
                <a:latin typeface="Arial" panose="020B0604020202020204" pitchFamily="34" charset="0"/>
                <a:ea typeface="Arial"/>
                <a:cs typeface="Arial" panose="020B0604020202020204" pitchFamily="34" charset="0"/>
                <a:sym typeface="Arial"/>
              </a:rPr>
              <a:t>Mining Association of Canada’s </a:t>
            </a:r>
            <a:r>
              <a:rPr lang="en-US" sz="1800" dirty="0" smtClean="0">
                <a:latin typeface="Arial" panose="020B0604020202020204" pitchFamily="34" charset="0"/>
                <a:ea typeface="Arial"/>
                <a:cs typeface="Arial" panose="020B0604020202020204" pitchFamily="34" charset="0"/>
                <a:sym typeface="Arial"/>
              </a:rPr>
              <a:t>guidelines were not followed.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Design team relied </a:t>
            </a:r>
            <a:r>
              <a:rPr lang="en-US" sz="1800" dirty="0">
                <a:latin typeface="Arial" panose="020B0604020202020204" pitchFamily="34" charset="0"/>
                <a:ea typeface="Arial"/>
                <a:cs typeface="Arial" panose="020B0604020202020204" pitchFamily="34" charset="0"/>
                <a:sym typeface="Arial"/>
              </a:rPr>
              <a:t>more on their professional judgement</a:t>
            </a: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Guidelines would have likely identified most of the key technical causes. </a:t>
            </a:r>
          </a:p>
          <a:p>
            <a:pPr marL="0" lvl="2" indent="0">
              <a:lnSpc>
                <a:spcPct val="90000"/>
              </a:lnSpc>
              <a:spcBef>
                <a:spcPts val="0"/>
              </a:spcBef>
              <a:spcAft>
                <a:spcPts val="0"/>
              </a:spcAft>
              <a:buClr>
                <a:srgbClr val="000000"/>
              </a:buClr>
              <a:buSzPts val="2000"/>
              <a:buNone/>
            </a:pPr>
            <a:endParaRPr lang="en-CA" sz="1800" b="1" dirty="0" smtClean="0">
              <a:solidFill>
                <a:srgbClr val="000000"/>
              </a:solidFill>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smtClean="0">
                <a:solidFill>
                  <a:srgbClr val="000000"/>
                </a:solidFill>
                <a:latin typeface="Arial" panose="020B0604020202020204" pitchFamily="34" charset="0"/>
                <a:ea typeface="Arial"/>
                <a:cs typeface="Arial" panose="020B0604020202020204" pitchFamily="34" charset="0"/>
                <a:sym typeface="Arial"/>
              </a:rPr>
              <a:t>Latent Cause: </a:t>
            </a:r>
            <a:endParaRPr lang="en-US" sz="1800"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CA" sz="1800" dirty="0" smtClean="0">
                <a:solidFill>
                  <a:srgbClr val="000000"/>
                </a:solidFill>
                <a:latin typeface="Arial" panose="020B0604020202020204" pitchFamily="34" charset="0"/>
                <a:ea typeface="Arial"/>
                <a:cs typeface="Arial" panose="020B0604020202020204" pitchFamily="34" charset="0"/>
                <a:sym typeface="Arial"/>
              </a:rPr>
              <a:t>LC-S: The </a:t>
            </a:r>
            <a:r>
              <a:rPr lang="en-CA" sz="1800" dirty="0">
                <a:solidFill>
                  <a:srgbClr val="000000"/>
                </a:solidFill>
                <a:latin typeface="Arial" panose="020B0604020202020204" pitchFamily="34" charset="0"/>
                <a:ea typeface="Arial"/>
                <a:cs typeface="Arial" panose="020B0604020202020204" pitchFamily="34" charset="0"/>
                <a:sym typeface="Arial"/>
              </a:rPr>
              <a:t>design program </a:t>
            </a:r>
            <a:r>
              <a:rPr lang="en-CA" sz="1800" dirty="0" smtClean="0">
                <a:solidFill>
                  <a:srgbClr val="000000"/>
                </a:solidFill>
                <a:latin typeface="Arial" panose="020B0604020202020204" pitchFamily="34" charset="0"/>
                <a:ea typeface="Arial"/>
                <a:cs typeface="Arial" panose="020B0604020202020204" pitchFamily="34" charset="0"/>
                <a:sym typeface="Arial"/>
              </a:rPr>
              <a:t>standard for applying the factors of safety during </a:t>
            </a:r>
            <a:r>
              <a:rPr lang="en-CA" sz="1800" dirty="0">
                <a:solidFill>
                  <a:srgbClr val="000000"/>
                </a:solidFill>
                <a:latin typeface="Arial" panose="020B0604020202020204" pitchFamily="34" charset="0"/>
                <a:ea typeface="Arial"/>
                <a:cs typeface="Arial" panose="020B0604020202020204" pitchFamily="34" charset="0"/>
                <a:sym typeface="Arial"/>
              </a:rPr>
              <a:t>the design phase of the TSF project </a:t>
            </a:r>
            <a:r>
              <a:rPr lang="en-CA" sz="1800" dirty="0" smtClean="0">
                <a:solidFill>
                  <a:srgbClr val="000000"/>
                </a:solidFill>
                <a:latin typeface="Arial" panose="020B0604020202020204" pitchFamily="34" charset="0"/>
                <a:ea typeface="Arial"/>
                <a:cs typeface="Arial" panose="020B0604020202020204" pitchFamily="34" charset="0"/>
                <a:sym typeface="Arial"/>
              </a:rPr>
              <a:t>did not reference the necessary calculation guidelines from the Mining Association of Canada. #7 DCSU</a:t>
            </a:r>
            <a:endParaRPr lang="en-US"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Latent Cause Relating to </a:t>
            </a:r>
            <a:r>
              <a:rPr lang="en-US" altLang="en-US" sz="2400" b="0" dirty="0" smtClean="0">
                <a:solidFill>
                  <a:schemeClr val="accent2"/>
                </a:solidFill>
                <a:latin typeface="Arial" panose="020B0604020202020204" pitchFamily="34" charset="0"/>
                <a:ea typeface="+mj-ea"/>
                <a:cs typeface="Arial" panose="020B0604020202020204" pitchFamily="34" charset="0"/>
              </a:rPr>
              <a:t>RME#7</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2589711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#9: Employee Competency and Training:</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Must </a:t>
            </a:r>
            <a:r>
              <a:rPr lang="en-US" sz="1800" dirty="0">
                <a:latin typeface="Arial" panose="020B0604020202020204" pitchFamily="34" charset="0"/>
                <a:ea typeface="Arial"/>
                <a:cs typeface="Arial" panose="020B0604020202020204" pitchFamily="34" charset="0"/>
                <a:sym typeface="Arial"/>
              </a:rPr>
              <a:t>ensure that employees are fully </a:t>
            </a:r>
            <a:r>
              <a:rPr lang="en-US" sz="1800" dirty="0" smtClean="0">
                <a:latin typeface="Arial" panose="020B0604020202020204" pitchFamily="34" charset="0"/>
                <a:ea typeface="Arial"/>
                <a:cs typeface="Arial" panose="020B0604020202020204" pitchFamily="34" charset="0"/>
                <a:sym typeface="Arial"/>
              </a:rPr>
              <a:t>competent.</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The individual who was hired to lead </a:t>
            </a:r>
            <a:r>
              <a:rPr lang="en-CA" sz="1800" dirty="0">
                <a:latin typeface="Arial" panose="020B0604020202020204" pitchFamily="34" charset="0"/>
                <a:ea typeface="Arial"/>
                <a:cs typeface="Arial" panose="020B0604020202020204" pitchFamily="34" charset="0"/>
                <a:sym typeface="Arial"/>
              </a:rPr>
              <a:t>the water management </a:t>
            </a:r>
            <a:r>
              <a:rPr lang="en-CA" sz="1800" dirty="0" smtClean="0">
                <a:latin typeface="Arial" panose="020B0604020202020204" pitchFamily="34" charset="0"/>
                <a:ea typeface="Arial"/>
                <a:cs typeface="Arial" panose="020B0604020202020204" pitchFamily="34" charset="0"/>
                <a:sym typeface="Arial"/>
              </a:rPr>
              <a:t>plan was not qualified.  Through the actions of this individual, this </a:t>
            </a:r>
            <a:r>
              <a:rPr lang="en-CA" sz="1800" dirty="0">
                <a:latin typeface="Arial" panose="020B0604020202020204" pitchFamily="34" charset="0"/>
                <a:ea typeface="Arial"/>
                <a:cs typeface="Arial" panose="020B0604020202020204" pitchFamily="34" charset="0"/>
                <a:sym typeface="Arial"/>
              </a:rPr>
              <a:t>resulted in excess water levels in the </a:t>
            </a:r>
            <a:r>
              <a:rPr lang="en-CA" sz="1800" dirty="0" smtClean="0">
                <a:latin typeface="Arial" panose="020B0604020202020204" pitchFamily="34" charset="0"/>
                <a:ea typeface="Arial"/>
                <a:cs typeface="Arial" panose="020B0604020202020204" pitchFamily="34" charset="0"/>
                <a:sym typeface="Arial"/>
              </a:rPr>
              <a:t>TSF.</a:t>
            </a:r>
          </a:p>
          <a:p>
            <a:pPr marL="360000" lvl="2" indent="-36000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smtClean="0">
                <a:latin typeface="Arial" panose="020B0604020202020204" pitchFamily="34" charset="0"/>
                <a:ea typeface="Arial"/>
                <a:cs typeface="Arial" panose="020B0604020202020204" pitchFamily="34" charset="0"/>
                <a:sym typeface="Arial"/>
              </a:rPr>
              <a:t>Latent Cause:</a:t>
            </a:r>
          </a:p>
          <a:p>
            <a:pPr marL="360000" lvl="2" indent="-36000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LC-S: The </a:t>
            </a:r>
            <a:r>
              <a:rPr lang="en-CA" sz="1800" dirty="0">
                <a:latin typeface="Arial" panose="020B0604020202020204" pitchFamily="34" charset="0"/>
                <a:ea typeface="Arial"/>
                <a:cs typeface="Arial" panose="020B0604020202020204" pitchFamily="34" charset="0"/>
                <a:sym typeface="Arial"/>
              </a:rPr>
              <a:t>employee competency </a:t>
            </a:r>
            <a:r>
              <a:rPr lang="en-CA" sz="1800" dirty="0" smtClean="0">
                <a:latin typeface="Arial" panose="020B0604020202020204" pitchFamily="34" charset="0"/>
                <a:ea typeface="Arial"/>
                <a:cs typeface="Arial" panose="020B0604020202020204" pitchFamily="34" charset="0"/>
                <a:sym typeface="Arial"/>
              </a:rPr>
              <a:t>program standard for recruiting, selecting, and hiring new employees was inadequate. #9 ECT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Latent Cause Relating to </a:t>
            </a:r>
            <a:r>
              <a:rPr lang="en-US" altLang="en-US" sz="2400" b="0" dirty="0" smtClean="0">
                <a:solidFill>
                  <a:schemeClr val="accent2"/>
                </a:solidFill>
                <a:latin typeface="Arial" panose="020B0604020202020204" pitchFamily="34" charset="0"/>
                <a:ea typeface="+mj-ea"/>
                <a:cs typeface="Arial" panose="020B0604020202020204" pitchFamily="34" charset="0"/>
              </a:rPr>
              <a:t>RME#9</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97433309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ea typeface="Arial"/>
                <a:cs typeface="Arial" panose="020B0604020202020204" pitchFamily="34" charset="0"/>
                <a:sym typeface="Arial"/>
              </a:rPr>
              <a:t>RME </a:t>
            </a:r>
            <a:r>
              <a:rPr lang="en-US" sz="1800" b="1" dirty="0">
                <a:solidFill>
                  <a:srgbClr val="000000"/>
                </a:solidFill>
                <a:latin typeface="Arial" panose="020B0604020202020204" pitchFamily="34" charset="0"/>
                <a:ea typeface="Arial"/>
                <a:cs typeface="Arial" panose="020B0604020202020204" pitchFamily="34" charset="0"/>
                <a:sym typeface="Arial"/>
              </a:rPr>
              <a:t>#1: Management Leadership, Commitment, and Accountability </a:t>
            </a:r>
            <a:endParaRPr sz="1800" b="1" dirty="0">
              <a:solidFill>
                <a:srgbClr val="000000"/>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b="1" dirty="0">
                <a:solidFill>
                  <a:srgbClr val="000000"/>
                </a:solidFill>
                <a:latin typeface="Arial" panose="020B0604020202020204" pitchFamily="34" charset="0"/>
                <a:ea typeface="Arial"/>
                <a:cs typeface="Arial" panose="020B0604020202020204" pitchFamily="34" charset="0"/>
                <a:sym typeface="Arial"/>
              </a:rPr>
              <a:t>Corporate Safety Culture: </a:t>
            </a:r>
            <a:r>
              <a:rPr lang="en-US" sz="1800" u="sng" dirty="0">
                <a:solidFill>
                  <a:srgbClr val="000000"/>
                </a:solidFill>
                <a:latin typeface="Arial" panose="020B0604020202020204" pitchFamily="34" charset="0"/>
                <a:ea typeface="Arial"/>
                <a:cs typeface="Arial" panose="020B0604020202020204" pitchFamily="34" charset="0"/>
                <a:sym typeface="Arial"/>
              </a:rPr>
              <a:t>Leadership</a:t>
            </a:r>
            <a:r>
              <a:rPr lang="en-US" sz="1800" dirty="0">
                <a:solidFill>
                  <a:srgbClr val="000000"/>
                </a:solidFill>
                <a:latin typeface="Arial" panose="020B0604020202020204" pitchFamily="34" charset="0"/>
                <a:ea typeface="Arial"/>
                <a:cs typeface="Arial" panose="020B0604020202020204" pitchFamily="34" charset="0"/>
                <a:sym typeface="Arial"/>
              </a:rPr>
              <a:t> influences and </a:t>
            </a:r>
            <a:r>
              <a:rPr lang="en-US" sz="1800" u="sng" dirty="0">
                <a:solidFill>
                  <a:srgbClr val="000000"/>
                </a:solidFill>
                <a:latin typeface="Arial" panose="020B0604020202020204" pitchFamily="34" charset="0"/>
                <a:ea typeface="Arial"/>
                <a:cs typeface="Arial" panose="020B0604020202020204" pitchFamily="34" charset="0"/>
                <a:sym typeface="Arial"/>
              </a:rPr>
              <a:t>drives culture</a:t>
            </a:r>
            <a:r>
              <a:rPr lang="en-US" sz="1800" dirty="0">
                <a:solidFill>
                  <a:srgbClr val="000000"/>
                </a:solidFill>
                <a:latin typeface="Arial" panose="020B0604020202020204" pitchFamily="34" charset="0"/>
                <a:ea typeface="Arial"/>
                <a:cs typeface="Arial" panose="020B0604020202020204" pitchFamily="34" charset="0"/>
                <a:sym typeface="Arial"/>
              </a:rPr>
              <a:t>; </a:t>
            </a:r>
            <a:r>
              <a:rPr lang="en-US" sz="1800" u="sng" dirty="0">
                <a:solidFill>
                  <a:srgbClr val="000000"/>
                </a:solidFill>
                <a:latin typeface="Arial" panose="020B0604020202020204" pitchFamily="34" charset="0"/>
                <a:ea typeface="Arial"/>
                <a:cs typeface="Arial" panose="020B0604020202020204" pitchFamily="34" charset="0"/>
                <a:sym typeface="Arial"/>
              </a:rPr>
              <a:t>values</a:t>
            </a:r>
            <a:r>
              <a:rPr lang="en-US" sz="1800" dirty="0">
                <a:solidFill>
                  <a:srgbClr val="000000"/>
                </a:solidFill>
                <a:latin typeface="Arial" panose="020B0604020202020204" pitchFamily="34" charset="0"/>
                <a:ea typeface="Arial"/>
                <a:cs typeface="Arial" panose="020B0604020202020204" pitchFamily="34" charset="0"/>
                <a:sym typeface="Arial"/>
              </a:rPr>
              <a:t> and </a:t>
            </a:r>
            <a:r>
              <a:rPr lang="en-US" sz="1800" u="sng" dirty="0">
                <a:solidFill>
                  <a:srgbClr val="000000"/>
                </a:solidFill>
                <a:latin typeface="Arial" panose="020B0604020202020204" pitchFamily="34" charset="0"/>
                <a:ea typeface="Arial"/>
                <a:cs typeface="Arial" panose="020B0604020202020204" pitchFamily="34" charset="0"/>
                <a:sym typeface="Arial"/>
              </a:rPr>
              <a:t>actions</a:t>
            </a:r>
            <a:r>
              <a:rPr lang="en-US" sz="1800" dirty="0">
                <a:solidFill>
                  <a:srgbClr val="000000"/>
                </a:solidFill>
                <a:latin typeface="Arial" panose="020B0604020202020204" pitchFamily="34" charset="0"/>
                <a:ea typeface="Arial"/>
                <a:cs typeface="Arial" panose="020B0604020202020204" pitchFamily="34" charset="0"/>
                <a:sym typeface="Arial"/>
              </a:rPr>
              <a:t> define the </a:t>
            </a:r>
            <a:r>
              <a:rPr lang="en-US" sz="1800" dirty="0" smtClean="0">
                <a:solidFill>
                  <a:srgbClr val="000000"/>
                </a:solidFill>
                <a:latin typeface="Arial" panose="020B0604020202020204" pitchFamily="34" charset="0"/>
                <a:ea typeface="Arial"/>
                <a:cs typeface="Arial" panose="020B0604020202020204" pitchFamily="34" charset="0"/>
                <a:sym typeface="Arial"/>
              </a:rPr>
              <a:t>culture. </a:t>
            </a:r>
            <a:r>
              <a:rPr lang="en-US" sz="1800" dirty="0">
                <a:solidFill>
                  <a:srgbClr val="000000"/>
                </a:solidFill>
                <a:latin typeface="Arial" panose="020B0604020202020204" pitchFamily="34" charset="0"/>
                <a:ea typeface="Arial"/>
                <a:cs typeface="Arial" panose="020B0604020202020204" pitchFamily="34" charset="0"/>
                <a:sym typeface="Arial"/>
              </a:rPr>
              <a:t>Both a good culture and sound risk management program are necessary for sustainable </a:t>
            </a:r>
            <a:r>
              <a:rPr lang="en-US" sz="1800" dirty="0" smtClean="0">
                <a:solidFill>
                  <a:srgbClr val="000000"/>
                </a:solidFill>
                <a:latin typeface="Arial" panose="020B0604020202020204" pitchFamily="34" charset="0"/>
                <a:ea typeface="Arial"/>
                <a:cs typeface="Arial" panose="020B0604020202020204" pitchFamily="34" charset="0"/>
                <a:sym typeface="Arial"/>
              </a:rPr>
              <a:t>performance. </a:t>
            </a: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The concerns of </a:t>
            </a:r>
            <a:r>
              <a:rPr lang="en-US" sz="1800" dirty="0">
                <a:solidFill>
                  <a:srgbClr val="000000"/>
                </a:solidFill>
                <a:latin typeface="Arial" panose="020B0604020202020204" pitchFamily="34" charset="0"/>
                <a:cs typeface="Arial" panose="020B0604020202020204" pitchFamily="34" charset="0"/>
                <a:sym typeface="Arial"/>
              </a:rPr>
              <a:t>employees and </a:t>
            </a:r>
            <a:r>
              <a:rPr lang="en-US" sz="1800" dirty="0" smtClean="0">
                <a:solidFill>
                  <a:srgbClr val="000000"/>
                </a:solidFill>
                <a:latin typeface="Arial" panose="020B0604020202020204" pitchFamily="34" charset="0"/>
                <a:cs typeface="Arial" panose="020B0604020202020204" pitchFamily="34" charset="0"/>
                <a:sym typeface="Arial"/>
              </a:rPr>
              <a:t>regulators </a:t>
            </a:r>
            <a:r>
              <a:rPr lang="en-US" sz="1800" dirty="0">
                <a:solidFill>
                  <a:srgbClr val="000000"/>
                </a:solidFill>
                <a:latin typeface="Arial" panose="020B0604020202020204" pitchFamily="34" charset="0"/>
                <a:cs typeface="Arial" panose="020B0604020202020204" pitchFamily="34" charset="0"/>
                <a:sym typeface="Arial"/>
              </a:rPr>
              <a:t>about the </a:t>
            </a:r>
            <a:r>
              <a:rPr lang="en-US" sz="1800" dirty="0" smtClean="0">
                <a:solidFill>
                  <a:srgbClr val="000000"/>
                </a:solidFill>
                <a:latin typeface="Arial" panose="020B0604020202020204" pitchFamily="34" charset="0"/>
                <a:cs typeface="Arial" panose="020B0604020202020204" pitchFamily="34" charset="0"/>
                <a:sym typeface="Arial"/>
              </a:rPr>
              <a:t>TSF </a:t>
            </a:r>
            <a:r>
              <a:rPr lang="en-US" sz="1800" dirty="0">
                <a:solidFill>
                  <a:srgbClr val="000000"/>
                </a:solidFill>
                <a:latin typeface="Arial" panose="020B0604020202020204" pitchFamily="34" charset="0"/>
                <a:cs typeface="Arial" panose="020B0604020202020204" pitchFamily="34" charset="0"/>
                <a:sym typeface="Arial"/>
              </a:rPr>
              <a:t>were ignored by Imperial Metals </a:t>
            </a:r>
            <a:r>
              <a:rPr lang="en-US" sz="1800" dirty="0" smtClean="0">
                <a:solidFill>
                  <a:srgbClr val="000000"/>
                </a:solidFill>
                <a:latin typeface="Arial" panose="020B0604020202020204" pitchFamily="34" charset="0"/>
                <a:cs typeface="Arial" panose="020B0604020202020204" pitchFamily="34" charset="0"/>
                <a:sym typeface="Arial"/>
              </a:rPr>
              <a:t>management. </a:t>
            </a: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rgbClr val="000000"/>
              </a:solidFill>
              <a:latin typeface="Arial" panose="020B0604020202020204" pitchFamily="34" charset="0"/>
              <a:cs typeface="Arial" panose="020B0604020202020204" pitchFamily="34" charset="0"/>
              <a:sym typeface="Arial"/>
            </a:endParaRPr>
          </a:p>
          <a:p>
            <a:pPr marL="0" lvl="1"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cs typeface="Arial" panose="020B0604020202020204" pitchFamily="34" charset="0"/>
                <a:sym typeface="Arial"/>
              </a:rPr>
              <a:t>Latent Cause:</a:t>
            </a:r>
            <a:endParaRPr lang="en-US" sz="1800" b="1"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LC-S: The leadership program did not include a management standard to assign responsibility and drive accountability for oversight of the safe TSF operation in addressing safety concerns. #1 MLCA</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Latent Cause Relating to RME#1</a:t>
            </a:r>
          </a:p>
        </p:txBody>
      </p:sp>
    </p:spTree>
    <p:extLst>
      <p:ext uri="{BB962C8B-B14F-4D97-AF65-F5344CB8AC3E}">
        <p14:creationId xmlns:p14="http://schemas.microsoft.com/office/powerpoint/2010/main" val="166872190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ea typeface="Arial"/>
                <a:cs typeface="Arial" panose="020B0604020202020204" pitchFamily="34" charset="0"/>
                <a:sym typeface="Arial"/>
              </a:rPr>
              <a:t>What recommendations could you make for each latent cause?</a:t>
            </a:r>
            <a:endParaRPr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leadership program did not include a management plan (standard) to assign responsibility and drive accountability for oversight of the safe TSF operation in addressing safety concerns. #1 MLCA</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LC-S</a:t>
            </a:r>
            <a:r>
              <a:rPr lang="en-US" sz="1800" dirty="0">
                <a:solidFill>
                  <a:srgbClr val="000000"/>
                </a:solidFill>
                <a:latin typeface="Arial" panose="020B0604020202020204" pitchFamily="34" charset="0"/>
                <a:cs typeface="Arial" panose="020B0604020202020204" pitchFamily="34" charset="0"/>
                <a:sym typeface="Arial"/>
              </a:rPr>
              <a:t>: The risk assessment program did not include a standard to identify and assess hazards of the TSF foundation and hydraulic conditions while the TSF was in operation. #2 RAMR</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ea typeface="Arial"/>
                <a:cs typeface="Arial" panose="020B0604020202020204" pitchFamily="34" charset="0"/>
                <a:sym typeface="Arial"/>
              </a:rPr>
              <a:t>LC-S</a:t>
            </a:r>
            <a:r>
              <a:rPr lang="en-US" sz="1800" dirty="0">
                <a:solidFill>
                  <a:srgbClr val="000000"/>
                </a:solidFill>
                <a:latin typeface="Arial" panose="020B0604020202020204" pitchFamily="34" charset="0"/>
                <a:ea typeface="Arial"/>
                <a:cs typeface="Arial" panose="020B0604020202020204" pitchFamily="34" charset="0"/>
                <a:sym typeface="Arial"/>
              </a:rPr>
              <a:t>: The design program standard for applying the factors of safety during the design phase of the TSF project did not reference the necessary calculation guidelines from the Mining Association of Canada. #7 DCSU</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employee competency program standard for recruiting, selecting, and hiring new employees was inadequate. #9 ECT </a:t>
            </a:r>
          </a:p>
          <a:p>
            <a:pPr marL="360000" lvl="1" indent="-36000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b="1" dirty="0" smtClean="0">
                <a:solidFill>
                  <a:srgbClr val="000000"/>
                </a:solidFill>
                <a:latin typeface="Arial" panose="020B0604020202020204" pitchFamily="34" charset="0"/>
                <a:ea typeface="Arial"/>
                <a:cs typeface="Arial" panose="020B0604020202020204" pitchFamily="34" charset="0"/>
                <a:sym typeface="Arial"/>
              </a:rPr>
              <a:t>We will come back to this – how to make recommendations – later in the term. </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Recommendations Based on Latent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10849636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indent="0">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Incident investigations can result in changes beyond the organization involved in the loss </a:t>
            </a:r>
            <a:r>
              <a:rPr lang="en-US" sz="1800" b="1" dirty="0" smtClean="0">
                <a:solidFill>
                  <a:schemeClr val="tx1"/>
                </a:solidFill>
                <a:latin typeface="Arial" panose="020B0604020202020204" pitchFamily="34" charset="0"/>
                <a:ea typeface="Arial"/>
                <a:cs typeface="Arial" panose="020B0604020202020204" pitchFamily="34" charset="0"/>
                <a:sym typeface="Arial"/>
              </a:rPr>
              <a:t>incident!</a:t>
            </a:r>
            <a:endParaRPr lang="en-US" sz="1800" b="1"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As </a:t>
            </a:r>
            <a:r>
              <a:rPr lang="en-US" sz="1800" dirty="0">
                <a:solidFill>
                  <a:schemeClr val="tx1"/>
                </a:solidFill>
                <a:latin typeface="Arial" panose="020B0604020202020204" pitchFamily="34" charset="0"/>
                <a:ea typeface="Arial"/>
                <a:cs typeface="Arial" panose="020B0604020202020204" pitchFamily="34" charset="0"/>
                <a:sym typeface="Arial"/>
              </a:rPr>
              <a:t>a result of the Mount Polley incident, several changes were made to guidelines and practices for tailings </a:t>
            </a:r>
            <a:r>
              <a:rPr lang="en-US" sz="1800" dirty="0" smtClean="0">
                <a:solidFill>
                  <a:schemeClr val="tx1"/>
                </a:solidFill>
                <a:latin typeface="Arial" panose="020B0604020202020204" pitchFamily="34" charset="0"/>
                <a:ea typeface="Arial"/>
                <a:cs typeface="Arial" panose="020B0604020202020204" pitchFamily="34" charset="0"/>
                <a:sym typeface="Arial"/>
              </a:rPr>
              <a:t>facilities. </a:t>
            </a: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Changes </a:t>
            </a:r>
            <a:r>
              <a:rPr lang="en-US" sz="1800" dirty="0">
                <a:solidFill>
                  <a:schemeClr val="tx1"/>
                </a:solidFill>
                <a:latin typeface="Arial" panose="020B0604020202020204" pitchFamily="34" charset="0"/>
                <a:ea typeface="Arial"/>
                <a:cs typeface="Arial" panose="020B0604020202020204" pitchFamily="34" charset="0"/>
                <a:sym typeface="Arial"/>
              </a:rPr>
              <a:t>to the Mining Association of Canada’s “A Guide to the Management of Tailings Facilities” (2019) and the </a:t>
            </a:r>
            <a:r>
              <a:rPr lang="en-US" sz="1800" dirty="0" smtClean="0">
                <a:solidFill>
                  <a:schemeClr val="tx1"/>
                </a:solidFill>
                <a:latin typeface="Arial" panose="020B0604020202020204" pitchFamily="34" charset="0"/>
                <a:ea typeface="Arial"/>
                <a:cs typeface="Arial" panose="020B0604020202020204" pitchFamily="34" charset="0"/>
                <a:sym typeface="Arial"/>
              </a:rPr>
              <a:t>B.C. </a:t>
            </a:r>
            <a:r>
              <a:rPr lang="en-US" sz="1800" dirty="0">
                <a:solidFill>
                  <a:schemeClr val="tx1"/>
                </a:solidFill>
                <a:latin typeface="Arial" panose="020B0604020202020204" pitchFamily="34" charset="0"/>
                <a:ea typeface="Arial"/>
                <a:cs typeface="Arial" panose="020B0604020202020204" pitchFamily="34" charset="0"/>
                <a:sym typeface="Arial"/>
              </a:rPr>
              <a:t>Government’s “Health, Safety and Reclamation Code for Mines in British Columbia” (2017) include: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Requiring an independent review of site selection, design, construction, operation, investigation, and closure for tailings </a:t>
            </a:r>
            <a:r>
              <a:rPr lang="en-US" sz="1800" dirty="0" smtClean="0">
                <a:latin typeface="Arial" panose="020B0604020202020204" pitchFamily="34" charset="0"/>
                <a:ea typeface="Arial"/>
                <a:cs typeface="Arial" panose="020B0604020202020204" pitchFamily="34" charset="0"/>
                <a:sym typeface="Arial"/>
              </a:rPr>
              <a:t>facilities.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Improved risk assessment methodology, including a risk-based ranking system for </a:t>
            </a:r>
            <a:r>
              <a:rPr lang="en-US" sz="1800" dirty="0" smtClean="0">
                <a:latin typeface="Arial" panose="020B0604020202020204" pitchFamily="34" charset="0"/>
                <a:ea typeface="Arial"/>
                <a:cs typeface="Arial" panose="020B0604020202020204" pitchFamily="34" charset="0"/>
                <a:sym typeface="Arial"/>
              </a:rPr>
              <a:t>non-conformances.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Additional regulations for managing the change of Engineers of Record and ownership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More technical guidance for site selection and design </a:t>
            </a:r>
            <a:endParaRPr lang="en-US" sz="1800" dirty="0" smtClean="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0" lvl="1" indent="0">
              <a:spcBef>
                <a:spcPts val="0"/>
              </a:spcBef>
              <a:spcAft>
                <a:spcPts val="0"/>
              </a:spcAft>
              <a:buClr>
                <a:srgbClr val="000000"/>
              </a:buClr>
              <a:buSzPts val="2000"/>
              <a:buNone/>
            </a:pPr>
            <a:r>
              <a:rPr lang="en-US" sz="1800" b="1" i="1" dirty="0" smtClean="0">
                <a:latin typeface="Arial" panose="020B0604020202020204" pitchFamily="34" charset="0"/>
                <a:ea typeface="Arial"/>
                <a:cs typeface="Arial" panose="020B0604020202020204" pitchFamily="34" charset="0"/>
                <a:sym typeface="Arial"/>
              </a:rPr>
              <a:t>But </a:t>
            </a:r>
            <a:r>
              <a:rPr lang="en-US" sz="1800" b="1" i="1" dirty="0">
                <a:latin typeface="Arial" panose="020B0604020202020204" pitchFamily="34" charset="0"/>
                <a:ea typeface="Arial"/>
                <a:cs typeface="Arial" panose="020B0604020202020204" pitchFamily="34" charset="0"/>
                <a:sym typeface="Arial"/>
              </a:rPr>
              <a:t>for the purposes of your Team project, limit latent causes (and recommendations to what is within the scope of The ABC Conglomerate).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Impact on the Mining Industry</a:t>
            </a:r>
          </a:p>
        </p:txBody>
      </p:sp>
    </p:spTree>
    <p:extLst>
      <p:ext uri="{BB962C8B-B14F-4D97-AF65-F5344CB8AC3E}">
        <p14:creationId xmlns:p14="http://schemas.microsoft.com/office/powerpoint/2010/main" val="191821907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indent="0">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Incident investigations can result in changes beyond the organization involved in the loss </a:t>
            </a:r>
            <a:r>
              <a:rPr lang="en-US" sz="1800" b="1" dirty="0" smtClean="0">
                <a:solidFill>
                  <a:schemeClr val="tx1"/>
                </a:solidFill>
                <a:latin typeface="Arial" panose="020B0604020202020204" pitchFamily="34" charset="0"/>
                <a:ea typeface="Arial"/>
                <a:cs typeface="Arial" panose="020B0604020202020204" pitchFamily="34" charset="0"/>
                <a:sym typeface="Arial"/>
              </a:rPr>
              <a:t>incident!</a:t>
            </a:r>
            <a:endParaRPr lang="en-US" sz="1800" b="1"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As </a:t>
            </a:r>
            <a:r>
              <a:rPr lang="en-US" sz="1800" dirty="0">
                <a:solidFill>
                  <a:schemeClr val="tx1"/>
                </a:solidFill>
                <a:latin typeface="Arial" panose="020B0604020202020204" pitchFamily="34" charset="0"/>
                <a:ea typeface="Arial"/>
                <a:cs typeface="Arial" panose="020B0604020202020204" pitchFamily="34" charset="0"/>
                <a:sym typeface="Arial"/>
              </a:rPr>
              <a:t>a result of the Mount Polley incident, several changes were made to guidelines and practices for tailings </a:t>
            </a:r>
            <a:r>
              <a:rPr lang="en-US" sz="1800" dirty="0" smtClean="0">
                <a:solidFill>
                  <a:schemeClr val="tx1"/>
                </a:solidFill>
                <a:latin typeface="Arial" panose="020B0604020202020204" pitchFamily="34" charset="0"/>
                <a:ea typeface="Arial"/>
                <a:cs typeface="Arial" panose="020B0604020202020204" pitchFamily="34" charset="0"/>
                <a:sym typeface="Arial"/>
              </a:rPr>
              <a:t>facilities. </a:t>
            </a: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Changes </a:t>
            </a:r>
            <a:r>
              <a:rPr lang="en-US" sz="1800" dirty="0">
                <a:solidFill>
                  <a:schemeClr val="tx1"/>
                </a:solidFill>
                <a:latin typeface="Arial" panose="020B0604020202020204" pitchFamily="34" charset="0"/>
                <a:ea typeface="Arial"/>
                <a:cs typeface="Arial" panose="020B0604020202020204" pitchFamily="34" charset="0"/>
                <a:sym typeface="Arial"/>
              </a:rPr>
              <a:t>to the Mining Association of Canada’s “A Guide to the Management of Tailings Facilities” (2019) and the </a:t>
            </a:r>
            <a:r>
              <a:rPr lang="en-US" sz="1800" dirty="0" smtClean="0">
                <a:solidFill>
                  <a:schemeClr val="tx1"/>
                </a:solidFill>
                <a:latin typeface="Arial" panose="020B0604020202020204" pitchFamily="34" charset="0"/>
                <a:ea typeface="Arial"/>
                <a:cs typeface="Arial" panose="020B0604020202020204" pitchFamily="34" charset="0"/>
                <a:sym typeface="Arial"/>
              </a:rPr>
              <a:t>B.C. </a:t>
            </a:r>
            <a:r>
              <a:rPr lang="en-US" sz="1800" dirty="0">
                <a:solidFill>
                  <a:schemeClr val="tx1"/>
                </a:solidFill>
                <a:latin typeface="Arial" panose="020B0604020202020204" pitchFamily="34" charset="0"/>
                <a:ea typeface="Arial"/>
                <a:cs typeface="Arial" panose="020B0604020202020204" pitchFamily="34" charset="0"/>
                <a:sym typeface="Arial"/>
              </a:rPr>
              <a:t>Government’s “Health, Safety and Reclamation Code for Mines in British Columbia” (2017) include: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Requiring an independent review of site selection, design, construction, operation, investigation, and closure for tailings </a:t>
            </a:r>
            <a:r>
              <a:rPr lang="en-US" sz="1800" dirty="0" smtClean="0">
                <a:latin typeface="Arial" panose="020B0604020202020204" pitchFamily="34" charset="0"/>
                <a:ea typeface="Arial"/>
                <a:cs typeface="Arial" panose="020B0604020202020204" pitchFamily="34" charset="0"/>
                <a:sym typeface="Arial"/>
              </a:rPr>
              <a:t>facilities.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Improved risk assessment methodology, including a risk-based ranking system for </a:t>
            </a:r>
            <a:r>
              <a:rPr lang="en-US" sz="1800" dirty="0" smtClean="0">
                <a:latin typeface="Arial" panose="020B0604020202020204" pitchFamily="34" charset="0"/>
                <a:ea typeface="Arial"/>
                <a:cs typeface="Arial" panose="020B0604020202020204" pitchFamily="34" charset="0"/>
                <a:sym typeface="Arial"/>
              </a:rPr>
              <a:t>non-conformances.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Additional regulations for managing the change of Engineers of Record and ownership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More technical guidance for site selection and design </a:t>
            </a:r>
            <a:endParaRPr lang="en-US" sz="1800" dirty="0" smtClean="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0" lvl="1" indent="0">
              <a:spcBef>
                <a:spcPts val="0"/>
              </a:spcBef>
              <a:spcAft>
                <a:spcPts val="0"/>
              </a:spcAft>
              <a:buClr>
                <a:srgbClr val="000000"/>
              </a:buClr>
              <a:buSzPts val="2000"/>
              <a:buNone/>
            </a:pPr>
            <a:r>
              <a:rPr lang="en-US" sz="1800" b="1" i="1" dirty="0" smtClean="0">
                <a:latin typeface="Arial" panose="020B0604020202020204" pitchFamily="34" charset="0"/>
                <a:ea typeface="Arial"/>
                <a:cs typeface="Arial" panose="020B0604020202020204" pitchFamily="34" charset="0"/>
                <a:sym typeface="Arial"/>
              </a:rPr>
              <a:t>But </a:t>
            </a:r>
            <a:r>
              <a:rPr lang="en-US" sz="1800" b="1" i="1" dirty="0">
                <a:latin typeface="Arial" panose="020B0604020202020204" pitchFamily="34" charset="0"/>
                <a:ea typeface="Arial"/>
                <a:cs typeface="Arial" panose="020B0604020202020204" pitchFamily="34" charset="0"/>
                <a:sym typeface="Arial"/>
              </a:rPr>
              <a:t>for the purposes of your Team project, limit latent causes (and recommendations to what is within the scope of The ABC Conglomerate).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Impact on the Mining Industry</a:t>
            </a:r>
          </a:p>
        </p:txBody>
      </p:sp>
    </p:spTree>
    <p:extLst>
      <p:ext uri="{BB962C8B-B14F-4D97-AF65-F5344CB8AC3E}">
        <p14:creationId xmlns:p14="http://schemas.microsoft.com/office/powerpoint/2010/main" val="396354909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2" name="Picture 1" descr="&lt;strong&gt;Looking Into The Future&lt;/strong&gt; Stock Photo - Download Image Now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0" y="216000"/>
            <a:ext cx="2587752" cy="1726010"/>
          </a:xfrm>
          <a:prstGeom prst="rect">
            <a:avLst/>
          </a:prstGeom>
        </p:spPr>
      </p:pic>
      <p:sp>
        <p:nvSpPr>
          <p:cNvPr id="329" name="Google Shape;329;p19"/>
          <p:cNvSpPr txBox="1">
            <a:spLocks noGrp="1"/>
          </p:cNvSpPr>
          <p:nvPr>
            <p:ph type="body" idx="4294967295"/>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p>
            <a:pPr marL="0" indent="0">
              <a:lnSpc>
                <a:spcPct val="90000"/>
              </a:lnSpc>
              <a:spcBef>
                <a:spcPts val="0"/>
              </a:spcBef>
              <a:spcAft>
                <a:spcPts val="0"/>
              </a:spcAft>
              <a:buClr>
                <a:srgbClr val="000000"/>
              </a:buClr>
              <a:buSzPts val="2000"/>
              <a:buNone/>
            </a:pPr>
            <a:r>
              <a:rPr lang="en-US" sz="1600" b="1" dirty="0" smtClean="0">
                <a:solidFill>
                  <a:schemeClr val="tx1"/>
                </a:solidFill>
                <a:latin typeface="Arial" panose="020B0604020202020204" pitchFamily="34" charset="0"/>
                <a:ea typeface="Arial"/>
                <a:cs typeface="Arial" panose="020B0604020202020204" pitchFamily="34" charset="0"/>
                <a:sym typeface="Arial"/>
              </a:rPr>
              <a:t>Q: Will you ever be in this situation?</a:t>
            </a:r>
          </a:p>
          <a:p>
            <a:pPr marL="0" lvl="0" indent="0">
              <a:lnSpc>
                <a:spcPct val="90000"/>
              </a:lnSpc>
              <a:spcBef>
                <a:spcPts val="0"/>
              </a:spcBef>
              <a:spcAft>
                <a:spcPts val="0"/>
              </a:spcAft>
              <a:buClr>
                <a:srgbClr val="000000"/>
              </a:buClr>
              <a:buSzPts val="2000"/>
              <a:buNone/>
            </a:pPr>
            <a:endParaRPr lang="en-US" sz="1600" dirty="0" smtClean="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“Seven </a:t>
            </a:r>
            <a:r>
              <a:rPr lang="en-US" sz="1600" i="1" dirty="0">
                <a:solidFill>
                  <a:schemeClr val="tx1"/>
                </a:solidFill>
                <a:latin typeface="Arial" panose="020B0604020202020204" pitchFamily="34" charset="0"/>
                <a:ea typeface="Arial"/>
                <a:cs typeface="Arial" panose="020B0604020202020204" pitchFamily="34" charset="0"/>
                <a:sym typeface="Arial"/>
              </a:rPr>
              <a:t>years after Canada's largest tailings spill, the </a:t>
            </a:r>
            <a:r>
              <a:rPr lang="en-US" sz="1600" b="1" i="1" dirty="0">
                <a:solidFill>
                  <a:schemeClr val="tx1"/>
                </a:solidFill>
                <a:latin typeface="Arial" panose="020B0604020202020204" pitchFamily="34" charset="0"/>
                <a:ea typeface="Arial"/>
                <a:cs typeface="Arial" panose="020B0604020202020204" pitchFamily="34" charset="0"/>
                <a:sym typeface="Arial"/>
              </a:rPr>
              <a:t>two </a:t>
            </a:r>
            <a:r>
              <a:rPr lang="en-US" sz="1600" b="1" i="1" dirty="0" smtClean="0">
                <a:solidFill>
                  <a:schemeClr val="tx1"/>
                </a:solidFill>
                <a:latin typeface="Arial" panose="020B0604020202020204" pitchFamily="34" charset="0"/>
                <a:ea typeface="Arial"/>
                <a:cs typeface="Arial" panose="020B0604020202020204" pitchFamily="34" charset="0"/>
                <a:sym typeface="Arial"/>
              </a:rPr>
              <a:t>engineers </a:t>
            </a:r>
            <a:r>
              <a:rPr lang="en-US" sz="1600" b="1" i="1" dirty="0">
                <a:solidFill>
                  <a:schemeClr val="tx1"/>
                </a:solidFill>
                <a:latin typeface="Arial" panose="020B0604020202020204" pitchFamily="34" charset="0"/>
                <a:ea typeface="Arial"/>
                <a:cs typeface="Arial" panose="020B0604020202020204" pitchFamily="34" charset="0"/>
                <a:sym typeface="Arial"/>
              </a:rPr>
              <a:t>who </a:t>
            </a:r>
            <a:r>
              <a:rPr lang="en-US" sz="1600" b="1" i="1" dirty="0" smtClean="0">
                <a:solidFill>
                  <a:schemeClr val="tx1"/>
                </a:solidFill>
                <a:latin typeface="Arial" panose="020B0604020202020204" pitchFamily="34" charset="0"/>
                <a:ea typeface="Arial"/>
                <a:cs typeface="Arial" panose="020B0604020202020204" pitchFamily="34" charset="0"/>
                <a:sym typeface="Arial"/>
              </a:rPr>
              <a:t/>
            </a:r>
            <a:br>
              <a:rPr lang="en-US" sz="1600" b="1" i="1" dirty="0" smtClean="0">
                <a:solidFill>
                  <a:schemeClr val="tx1"/>
                </a:solidFill>
                <a:latin typeface="Arial" panose="020B0604020202020204" pitchFamily="34" charset="0"/>
                <a:ea typeface="Arial"/>
                <a:cs typeface="Arial" panose="020B0604020202020204" pitchFamily="34" charset="0"/>
                <a:sym typeface="Arial"/>
              </a:rPr>
            </a:br>
            <a:r>
              <a:rPr lang="en-US" sz="1600" b="1" i="1" dirty="0" smtClean="0">
                <a:solidFill>
                  <a:schemeClr val="tx1"/>
                </a:solidFill>
                <a:latin typeface="Arial" panose="020B0604020202020204" pitchFamily="34" charset="0"/>
                <a:ea typeface="Arial"/>
                <a:cs typeface="Arial" panose="020B0604020202020204" pitchFamily="34" charset="0"/>
                <a:sym typeface="Arial"/>
              </a:rPr>
              <a:t>were </a:t>
            </a:r>
            <a:r>
              <a:rPr lang="en-US" sz="1600" b="1" i="1" dirty="0">
                <a:solidFill>
                  <a:schemeClr val="tx1"/>
                </a:solidFill>
                <a:latin typeface="Arial" panose="020B0604020202020204" pitchFamily="34" charset="0"/>
                <a:ea typeface="Arial"/>
                <a:cs typeface="Arial" panose="020B0604020202020204" pitchFamily="34" charset="0"/>
                <a:sym typeface="Arial"/>
              </a:rPr>
              <a:t>involved have been found in breach </a:t>
            </a:r>
            <a:r>
              <a:rPr lang="en-US" sz="1600" b="1" i="1" dirty="0" smtClean="0">
                <a:solidFill>
                  <a:schemeClr val="tx1"/>
                </a:solidFill>
                <a:latin typeface="Arial" panose="020B0604020202020204" pitchFamily="34" charset="0"/>
                <a:ea typeface="Arial"/>
                <a:cs typeface="Arial" panose="020B0604020202020204" pitchFamily="34" charset="0"/>
                <a:sym typeface="Arial"/>
              </a:rPr>
              <a:t>of their </a:t>
            </a:r>
            <a:r>
              <a:rPr lang="en-US" sz="1600" b="1" i="1" dirty="0">
                <a:solidFill>
                  <a:schemeClr val="tx1"/>
                </a:solidFill>
                <a:latin typeface="Arial" panose="020B0604020202020204" pitchFamily="34" charset="0"/>
                <a:ea typeface="Arial"/>
                <a:cs typeface="Arial" panose="020B0604020202020204" pitchFamily="34" charset="0"/>
                <a:sym typeface="Arial"/>
              </a:rPr>
              <a:t>professional codes </a:t>
            </a:r>
            <a:r>
              <a:rPr lang="en-US" sz="1600" b="1" i="1" dirty="0" smtClean="0">
                <a:solidFill>
                  <a:schemeClr val="tx1"/>
                </a:solidFill>
                <a:latin typeface="Arial" panose="020B0604020202020204" pitchFamily="34" charset="0"/>
                <a:ea typeface="Arial"/>
                <a:cs typeface="Arial" panose="020B0604020202020204" pitchFamily="34" charset="0"/>
                <a:sym typeface="Arial"/>
              </a:rPr>
              <a:t/>
            </a:r>
            <a:br>
              <a:rPr lang="en-US" sz="1600" b="1" i="1" dirty="0" smtClean="0">
                <a:solidFill>
                  <a:schemeClr val="tx1"/>
                </a:solidFill>
                <a:latin typeface="Arial" panose="020B0604020202020204" pitchFamily="34" charset="0"/>
                <a:ea typeface="Arial"/>
                <a:cs typeface="Arial" panose="020B0604020202020204" pitchFamily="34" charset="0"/>
                <a:sym typeface="Arial"/>
              </a:rPr>
            </a:br>
            <a:r>
              <a:rPr lang="en-US" sz="1600" b="1" i="1" dirty="0" smtClean="0">
                <a:solidFill>
                  <a:schemeClr val="tx1"/>
                </a:solidFill>
                <a:latin typeface="Arial" panose="020B0604020202020204" pitchFamily="34" charset="0"/>
                <a:ea typeface="Arial"/>
                <a:cs typeface="Arial" panose="020B0604020202020204" pitchFamily="34" charset="0"/>
                <a:sym typeface="Arial"/>
              </a:rPr>
              <a:t>of conduct</a:t>
            </a:r>
            <a:r>
              <a:rPr lang="en-US" sz="1600" i="1" dirty="0" smtClean="0">
                <a:solidFill>
                  <a:schemeClr val="tx1"/>
                </a:solidFill>
                <a:latin typeface="Arial" panose="020B0604020202020204" pitchFamily="34" charset="0"/>
                <a:ea typeface="Arial"/>
                <a:cs typeface="Arial" panose="020B0604020202020204" pitchFamily="34" charset="0"/>
                <a:sym typeface="Arial"/>
              </a:rPr>
              <a:t>,  Engineers and Geoscientists of British Columbia (EGBC)</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The </a:t>
            </a:r>
            <a:r>
              <a:rPr lang="en-US" sz="1600" i="1" dirty="0">
                <a:solidFill>
                  <a:schemeClr val="tx1"/>
                </a:solidFill>
                <a:latin typeface="Arial" panose="020B0604020202020204" pitchFamily="34" charset="0"/>
                <a:ea typeface="Arial"/>
                <a:cs typeface="Arial" panose="020B0604020202020204" pitchFamily="34" charset="0"/>
                <a:sym typeface="Arial"/>
              </a:rPr>
              <a:t>panel found that both Rice and Fidel </a:t>
            </a:r>
            <a:r>
              <a:rPr lang="en-US" sz="1600" b="1" i="1" dirty="0">
                <a:solidFill>
                  <a:schemeClr val="tx1"/>
                </a:solidFill>
                <a:latin typeface="Arial" panose="020B0604020202020204" pitchFamily="34" charset="0"/>
                <a:ea typeface="Arial"/>
                <a:cs typeface="Arial" panose="020B0604020202020204" pitchFamily="34" charset="0"/>
                <a:sym typeface="Arial"/>
              </a:rPr>
              <a:t>demonstrated unprofessional conduct </a:t>
            </a:r>
            <a:r>
              <a:rPr lang="en-US" sz="1600" i="1" dirty="0">
                <a:solidFill>
                  <a:schemeClr val="tx1"/>
                </a:solidFill>
                <a:latin typeface="Arial" panose="020B0604020202020204" pitchFamily="34" charset="0"/>
                <a:ea typeface="Arial"/>
                <a:cs typeface="Arial" panose="020B0604020202020204" pitchFamily="34" charset="0"/>
                <a:sym typeface="Arial"/>
              </a:rPr>
              <a:t>in the course of their work at the mine. </a:t>
            </a:r>
            <a:r>
              <a:rPr lang="en-US" sz="1600" i="1" dirty="0" smtClean="0">
                <a:solidFill>
                  <a:schemeClr val="tx1"/>
                </a:solidFill>
                <a:latin typeface="Arial" panose="020B0604020202020204" pitchFamily="34" charset="0"/>
                <a:ea typeface="Arial"/>
                <a:cs typeface="Arial" panose="020B0604020202020204" pitchFamily="34" charset="0"/>
                <a:sym typeface="Arial"/>
              </a:rPr>
              <a:t> …</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EGBC reported </a:t>
            </a:r>
            <a:r>
              <a:rPr lang="en-US" sz="1600" i="1" dirty="0">
                <a:solidFill>
                  <a:schemeClr val="tx1"/>
                </a:solidFill>
                <a:latin typeface="Arial" panose="020B0604020202020204" pitchFamily="34" charset="0"/>
                <a:ea typeface="Arial"/>
                <a:cs typeface="Arial" panose="020B0604020202020204" pitchFamily="34" charset="0"/>
                <a:sym typeface="Arial"/>
              </a:rPr>
              <a:t>that a discipline hearing panel had imposed a </a:t>
            </a:r>
            <a:r>
              <a:rPr lang="en-US" sz="1600" b="1" i="1" dirty="0">
                <a:solidFill>
                  <a:schemeClr val="tx1"/>
                </a:solidFill>
                <a:latin typeface="Arial" panose="020B0604020202020204" pitchFamily="34" charset="0"/>
                <a:ea typeface="Arial"/>
                <a:cs typeface="Arial" panose="020B0604020202020204" pitchFamily="34" charset="0"/>
                <a:sym typeface="Arial"/>
              </a:rPr>
              <a:t>maximum fine of $25,000 against Rice</a:t>
            </a:r>
            <a:r>
              <a:rPr lang="en-US" sz="1600" i="1" dirty="0">
                <a:solidFill>
                  <a:schemeClr val="tx1"/>
                </a:solidFill>
                <a:latin typeface="Arial" panose="020B0604020202020204" pitchFamily="34" charset="0"/>
                <a:ea typeface="Arial"/>
                <a:cs typeface="Arial" panose="020B0604020202020204" pitchFamily="34" charset="0"/>
                <a:sym typeface="Arial"/>
              </a:rPr>
              <a:t>, who resigned in </a:t>
            </a:r>
            <a:r>
              <a:rPr lang="en-US" sz="1600" i="1" dirty="0" smtClean="0">
                <a:solidFill>
                  <a:schemeClr val="tx1"/>
                </a:solidFill>
                <a:latin typeface="Arial" panose="020B0604020202020204" pitchFamily="34" charset="0"/>
                <a:ea typeface="Arial"/>
                <a:cs typeface="Arial" panose="020B0604020202020204" pitchFamily="34" charset="0"/>
                <a:sym typeface="Arial"/>
              </a:rPr>
              <a:t>2018. Rice </a:t>
            </a:r>
            <a:r>
              <a:rPr lang="en-US" sz="1600" i="1" dirty="0">
                <a:solidFill>
                  <a:schemeClr val="tx1"/>
                </a:solidFill>
                <a:latin typeface="Arial" panose="020B0604020202020204" pitchFamily="34" charset="0"/>
                <a:ea typeface="Arial"/>
                <a:cs typeface="Arial" panose="020B0604020202020204" pitchFamily="34" charset="0"/>
                <a:sym typeface="Arial"/>
              </a:rPr>
              <a:t>also agreed to pay </a:t>
            </a:r>
            <a:r>
              <a:rPr lang="en-US" sz="1600" b="1" i="1" dirty="0">
                <a:solidFill>
                  <a:schemeClr val="tx1"/>
                </a:solidFill>
                <a:latin typeface="Arial" panose="020B0604020202020204" pitchFamily="34" charset="0"/>
                <a:ea typeface="Arial"/>
                <a:cs typeface="Arial" panose="020B0604020202020204" pitchFamily="34" charset="0"/>
                <a:sym typeface="Arial"/>
              </a:rPr>
              <a:t>$107,500 dollars in legal costs </a:t>
            </a:r>
            <a:r>
              <a:rPr lang="en-US" sz="1600" i="1" dirty="0">
                <a:solidFill>
                  <a:schemeClr val="tx1"/>
                </a:solidFill>
                <a:latin typeface="Arial" panose="020B0604020202020204" pitchFamily="34" charset="0"/>
                <a:ea typeface="Arial"/>
                <a:cs typeface="Arial" panose="020B0604020202020204" pitchFamily="34" charset="0"/>
                <a:sym typeface="Arial"/>
              </a:rPr>
              <a:t>to the association and is no longer permitted to practice as a professional engineer in the province</a:t>
            </a:r>
            <a:r>
              <a:rPr lang="en-US" sz="1600" i="1" dirty="0" smtClean="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A separate discipline hearing panel found that Fidel also committed several acts of unprofessional conduct</a:t>
            </a:r>
            <a:r>
              <a:rPr lang="en-US" sz="1600" i="1" dirty="0" smtClean="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r>
              <a:rPr lang="en-US" sz="1100" dirty="0">
                <a:solidFill>
                  <a:schemeClr val="tx1"/>
                </a:solidFill>
                <a:latin typeface="Arial" panose="020B0604020202020204" pitchFamily="34" charset="0"/>
                <a:ea typeface="Arial"/>
                <a:cs typeface="Arial" panose="020B0604020202020204" pitchFamily="34" charset="0"/>
                <a:sym typeface="Arial"/>
              </a:rPr>
              <a:t>https://www.cbc.ca/news/canada/british-columbia/discipline-engineers-mount-polley-mine-waste-quesnel-lake-1.6137265</a:t>
            </a:r>
            <a:endParaRPr lang="en-US" sz="1100" dirty="0" smtClean="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600" b="1" dirty="0" smtClean="0">
                <a:solidFill>
                  <a:schemeClr val="tx1"/>
                </a:solidFill>
                <a:latin typeface="Arial" panose="020B0604020202020204" pitchFamily="34" charset="0"/>
                <a:ea typeface="Arial"/>
                <a:cs typeface="Arial" panose="020B0604020202020204" pitchFamily="34" charset="0"/>
                <a:sym typeface="Arial"/>
              </a:rPr>
              <a:t>A: Not </a:t>
            </a:r>
            <a:r>
              <a:rPr lang="en-US" sz="1600" b="1" dirty="0">
                <a:solidFill>
                  <a:schemeClr val="tx1"/>
                </a:solidFill>
                <a:latin typeface="Arial" panose="020B0604020202020204" pitchFamily="34" charset="0"/>
                <a:ea typeface="Arial"/>
                <a:cs typeface="Arial" panose="020B0604020202020204" pitchFamily="34" charset="0"/>
                <a:sym typeface="Arial"/>
              </a:rPr>
              <a:t>when practicing the principles and practices of “Leadership in Risk Management”, a key competency</a:t>
            </a:r>
            <a:r>
              <a:rPr lang="en-US" sz="1600" b="1" dirty="0" smtClean="0">
                <a:solidFill>
                  <a:schemeClr val="tx1"/>
                </a:solidFill>
                <a:latin typeface="Arial" panose="020B0604020202020204" pitchFamily="34" charset="0"/>
                <a:ea typeface="Arial"/>
                <a:cs typeface="Arial" panose="020B0604020202020204" pitchFamily="34" charset="0"/>
                <a:sym typeface="Arial"/>
              </a:rPr>
              <a:t>!</a:t>
            </a: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800" b="1" i="1" dirty="0">
                <a:solidFill>
                  <a:srgbClr val="0000FF"/>
                </a:solidFill>
                <a:latin typeface="Arial" panose="020B0604020202020204" pitchFamily="34" charset="0"/>
                <a:ea typeface="Arial"/>
                <a:cs typeface="Arial" panose="020B0604020202020204" pitchFamily="34" charset="0"/>
                <a:sym typeface="Arial"/>
              </a:rPr>
              <a:t>We will revisit ethics and professional conduct </a:t>
            </a:r>
            <a:r>
              <a:rPr lang="en-US" sz="1800" b="1" i="1" dirty="0" smtClean="0">
                <a:solidFill>
                  <a:srgbClr val="0000FF"/>
                </a:solidFill>
                <a:latin typeface="Arial" panose="020B0604020202020204" pitchFamily="34" charset="0"/>
                <a:ea typeface="Arial"/>
                <a:cs typeface="Arial" panose="020B0604020202020204" pitchFamily="34" charset="0"/>
                <a:sym typeface="Arial"/>
              </a:rPr>
              <a:t>later </a:t>
            </a:r>
            <a:r>
              <a:rPr lang="en-US" sz="1800" b="1" i="1" dirty="0">
                <a:solidFill>
                  <a:srgbClr val="0000FF"/>
                </a:solidFill>
                <a:latin typeface="Arial" panose="020B0604020202020204" pitchFamily="34" charset="0"/>
                <a:ea typeface="Arial"/>
                <a:cs typeface="Arial" panose="020B0604020202020204" pitchFamily="34" charset="0"/>
                <a:sym typeface="Arial"/>
              </a:rPr>
              <a:t>in the </a:t>
            </a:r>
            <a:r>
              <a:rPr lang="en-US" sz="1800" b="1" i="1" dirty="0" smtClean="0">
                <a:solidFill>
                  <a:srgbClr val="0000FF"/>
                </a:solidFill>
                <a:latin typeface="Arial" panose="020B0604020202020204" pitchFamily="34" charset="0"/>
                <a:ea typeface="Arial"/>
                <a:cs typeface="Arial" panose="020B0604020202020204" pitchFamily="34" charset="0"/>
                <a:sym typeface="Arial"/>
              </a:rPr>
              <a:t>term.</a:t>
            </a:r>
            <a:endParaRPr lang="en-US" sz="1800" b="1" i="1" dirty="0">
              <a:solidFill>
                <a:srgbClr val="0000FF"/>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endParaRPr lang="en-US" sz="1600" dirty="0">
              <a:solidFill>
                <a:schemeClr val="tx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Look </a:t>
            </a:r>
            <a:r>
              <a:rPr lang="en-US" altLang="en-US" sz="2400" b="0" dirty="0">
                <a:solidFill>
                  <a:schemeClr val="accent2"/>
                </a:solidFill>
                <a:latin typeface="Arial" panose="020B0604020202020204" pitchFamily="34" charset="0"/>
                <a:ea typeface="+mj-ea"/>
                <a:cs typeface="Arial" panose="020B0604020202020204" pitchFamily="34" charset="0"/>
              </a:rPr>
              <a:t>into the future about your career …</a:t>
            </a:r>
          </a:p>
        </p:txBody>
      </p:sp>
    </p:spTree>
    <p:extLst>
      <p:ext uri="{BB962C8B-B14F-4D97-AF65-F5344CB8AC3E}">
        <p14:creationId xmlns:p14="http://schemas.microsoft.com/office/powerpoint/2010/main" val="384620878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is vital to combat complacency in all aspects of risk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management.</a:t>
            </a: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quickly does management address identified deficiencies? Are responsibilities embraced or deflected to others?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#1 MLCA Management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Leadership, Commitment, and Accountability</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are hazards identified and assessed throughout the facility lifecycle? Is this system embedded throughout the organization?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#2 RAMR Risk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Assessment and Management of Risks </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accepted standards of practice used for risk assessment during design and other stages? Can the certainty and confidence in obtained results be reasonably justified?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#7 DCSU Design</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Construction and Start-up</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employees fully trained and qualified for their roles? Does management have an effective training program in place?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#9 ECT Employee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Competency and </a:t>
            </a: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Training</a:t>
            </a:r>
          </a:p>
          <a:p>
            <a:pPr marL="72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Lastly, the key lesson is applying the RM principles, practices, and concepts to </a:t>
            </a:r>
            <a:r>
              <a:rPr lang="en-US" altLang="en-US" sz="1800" dirty="0" err="1">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a case study / loss incident!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4026975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auto" latinLnBrk="0" hangingPunct="0">
              <a:lnSpc>
                <a:spcPct val="100000"/>
              </a:lnSpc>
              <a:spcBef>
                <a:spcPts val="0"/>
              </a:spcBef>
              <a:spcAft>
                <a:spcPts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Complete Slide Deck</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follows with details.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01835229"/>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Explore the basis for complacency in the following risk management system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elements, and explain:</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Leadership, Commitment and Accountability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and Management of Risks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 Construction and Start-up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Employee Competency and Training</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Recognize a situation where the degradation of management leadership and risk assessment applies to a loss incident, and apply the principles of risk management in a case study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analysis.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5780849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Mount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Mine:</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Open pit copper and gold mine </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Began operations in 1997</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Owned and operated by Mount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Mining Corporation (MPMC), a subsidiary of Imperial Metals Corporation </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Processes ~21,000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tonnes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ore per day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Background: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close up of a map&#10;&#10;Description automatically generated">
            <a:extLst>
              <a:ext uri="{FF2B5EF4-FFF2-40B4-BE49-F238E27FC236}">
                <a16:creationId xmlns:a16="http://schemas.microsoft.com/office/drawing/2014/main" id="{C546E53B-7420-46D3-8B0D-1AE5AF18441D}"/>
              </a:ext>
            </a:extLst>
          </p:cNvPr>
          <p:cNvPicPr>
            <a:picLocks noChangeAspect="1"/>
          </p:cNvPicPr>
          <p:nvPr/>
        </p:nvPicPr>
        <p:blipFill>
          <a:blip r:embed="rId3"/>
          <a:stretch>
            <a:fillRect/>
          </a:stretch>
        </p:blipFill>
        <p:spPr>
          <a:xfrm>
            <a:off x="1173952" y="2819400"/>
            <a:ext cx="6652096" cy="3158021"/>
          </a:xfrm>
          <a:prstGeom prst="rect">
            <a:avLst/>
          </a:prstGeom>
        </p:spPr>
      </p:pic>
    </p:spTree>
    <p:extLst>
      <p:ext uri="{BB962C8B-B14F-4D97-AF65-F5344CB8AC3E}">
        <p14:creationId xmlns:p14="http://schemas.microsoft.com/office/powerpoint/2010/main" val="987135964"/>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Mine </a:t>
            </a:r>
            <a:r>
              <a:rPr lang="en-US" altLang="en-US" sz="2400" b="0" dirty="0" smtClean="0">
                <a:solidFill>
                  <a:schemeClr val="accent2"/>
                </a:solidFill>
                <a:latin typeface="Arial" panose="020B0604020202020204" pitchFamily="34" charset="0"/>
                <a:ea typeface="+mj-ea"/>
                <a:cs typeface="Arial" panose="020B0604020202020204" pitchFamily="34" charset="0"/>
              </a:rPr>
              <a:t>Layout: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picture containing surfing&#10;&#10;Description automatically generated">
            <a:extLst>
              <a:ext uri="{FF2B5EF4-FFF2-40B4-BE49-F238E27FC236}">
                <a16:creationId xmlns:a16="http://schemas.microsoft.com/office/drawing/2014/main" id="{8818B952-66B4-4484-A850-98331BB68483}"/>
              </a:ext>
            </a:extLst>
          </p:cNvPr>
          <p:cNvPicPr>
            <a:picLocks noChangeAspect="1"/>
          </p:cNvPicPr>
          <p:nvPr/>
        </p:nvPicPr>
        <p:blipFill>
          <a:blip r:embed="rId3"/>
          <a:stretch>
            <a:fillRect/>
          </a:stretch>
        </p:blipFill>
        <p:spPr>
          <a:xfrm>
            <a:off x="183048" y="1752600"/>
            <a:ext cx="8762629" cy="3913194"/>
          </a:xfrm>
          <a:prstGeom prst="rect">
            <a:avLst/>
          </a:prstGeom>
        </p:spPr>
      </p:pic>
    </p:spTree>
    <p:extLst>
      <p:ext uri="{BB962C8B-B14F-4D97-AF65-F5344CB8AC3E}">
        <p14:creationId xmlns:p14="http://schemas.microsoft.com/office/powerpoint/2010/main" val="3660353843"/>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455612"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a:t>
            </a:r>
          </a:p>
          <a:p>
            <a:pPr marL="0" indent="0" algn="ctr"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Tailings Storage Facility (TSF) is intact – the blue pond.</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Before and After the </a:t>
            </a:r>
            <a:r>
              <a:rPr lang="en-US" altLang="en-US" sz="2400" b="0" dirty="0" smtClean="0">
                <a:solidFill>
                  <a:schemeClr val="accent2"/>
                </a:solidFill>
                <a:latin typeface="Arial" panose="020B0604020202020204" pitchFamily="34" charset="0"/>
                <a:ea typeface="+mj-ea"/>
                <a:cs typeface="Arial" panose="020B0604020202020204" pitchFamily="34" charset="0"/>
              </a:rPr>
              <a:t>Technical Loss 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descr="A close up of a mountain&#10;&#10;Description automatically generated">
            <a:extLst>
              <a:ext uri="{FF2B5EF4-FFF2-40B4-BE49-F238E27FC236}">
                <a16:creationId xmlns:a16="http://schemas.microsoft.com/office/drawing/2014/main" id="{561AF3C9-18FB-4825-81DD-A4B1509D0E9E}"/>
              </a:ext>
            </a:extLst>
          </p:cNvPr>
          <p:cNvPicPr>
            <a:picLocks noChangeAspect="1"/>
          </p:cNvPicPr>
          <p:nvPr/>
        </p:nvPicPr>
        <p:blipFill>
          <a:blip r:embed="rId3"/>
          <a:stretch>
            <a:fillRect/>
          </a:stretch>
        </p:blipFill>
        <p:spPr>
          <a:xfrm>
            <a:off x="455612" y="2191433"/>
            <a:ext cx="8231188" cy="4056967"/>
          </a:xfrm>
          <a:prstGeom prst="rect">
            <a:avLst/>
          </a:prstGeom>
        </p:spPr>
      </p:pic>
      <p:sp>
        <p:nvSpPr>
          <p:cNvPr id="7" name="Rectangle 3"/>
          <p:cNvSpPr>
            <a:spLocks noChangeArrowheads="1"/>
          </p:cNvSpPr>
          <p:nvPr/>
        </p:nvSpPr>
        <p:spPr bwMode="auto">
          <a:xfrm>
            <a:off x="4571716"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a:t>
            </a:r>
          </a:p>
          <a:p>
            <a:pPr marL="0" indent="0" algn="ctr"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TSF has failed.</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714510227"/>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Impacts </a:t>
            </a:r>
            <a:r>
              <a:rPr lang="en-US" altLang="en-US" sz="2400" b="0" dirty="0">
                <a:solidFill>
                  <a:schemeClr val="accent2"/>
                </a:solidFill>
                <a:latin typeface="Arial" panose="020B0604020202020204" pitchFamily="34" charset="0"/>
                <a:ea typeface="+mj-ea"/>
                <a:cs typeface="Arial" panose="020B0604020202020204" pitchFamily="34" charset="0"/>
              </a:rPr>
              <a:t>on PEAP: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graphicFrame>
        <p:nvGraphicFramePr>
          <p:cNvPr id="6" name="Google Shape;232;p11"/>
          <p:cNvGraphicFramePr/>
          <p:nvPr>
            <p:extLst/>
          </p:nvPr>
        </p:nvGraphicFramePr>
        <p:xfrm>
          <a:off x="180000" y="972000"/>
          <a:ext cx="8633400" cy="4670424"/>
        </p:xfrm>
        <a:graphic>
          <a:graphicData uri="http://schemas.openxmlformats.org/drawingml/2006/table">
            <a:tbl>
              <a:tblPr>
                <a:noFill/>
              </a:tblPr>
              <a:tblGrid>
                <a:gridCol w="1877400">
                  <a:extLst>
                    <a:ext uri="{9D8B030D-6E8A-4147-A177-3AD203B41FA5}">
                      <a16:colId xmlns:a16="http://schemas.microsoft.com/office/drawing/2014/main" val="20000"/>
                    </a:ext>
                  </a:extLst>
                </a:gridCol>
                <a:gridCol w="6756000">
                  <a:extLst>
                    <a:ext uri="{9D8B030D-6E8A-4147-A177-3AD203B41FA5}">
                      <a16:colId xmlns:a16="http://schemas.microsoft.com/office/drawing/2014/main" val="20001"/>
                    </a:ext>
                  </a:extLst>
                </a:gridCol>
              </a:tblGrid>
              <a:tr h="933240">
                <a:tc>
                  <a:txBody>
                    <a:bodyPr/>
                    <a:lstStyle/>
                    <a:p>
                      <a:pPr marL="0" marR="0" lvl="0" indent="0" algn="l" rtl="0">
                        <a:lnSpc>
                          <a:spcPct val="100000"/>
                        </a:lnSpc>
                        <a:spcBef>
                          <a:spcPts val="0"/>
                        </a:spcBef>
                        <a:spcAft>
                          <a:spcPts val="0"/>
                        </a:spcAft>
                        <a:buClr>
                          <a:srgbClr val="000000"/>
                        </a:buClr>
                        <a:buSzPts val="1600"/>
                        <a:buFont typeface="Arial"/>
                        <a:buNone/>
                      </a:pPr>
                      <a:r>
                        <a:rPr lang="en-US" sz="2000" b="1" i="0" u="none" strike="noStrike" cap="none" dirty="0">
                          <a:solidFill>
                            <a:srgbClr val="000000"/>
                          </a:solidFill>
                          <a:latin typeface="Arial" panose="020B0604020202020204" pitchFamily="34" charset="0"/>
                          <a:ea typeface="Arial"/>
                          <a:cs typeface="Arial" panose="020B0604020202020204" pitchFamily="34" charset="0"/>
                          <a:sym typeface="Arial"/>
                        </a:rPr>
                        <a:t>People:</a:t>
                      </a:r>
                      <a:endParaRPr sz="2000" b="0"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CA" sz="2000" dirty="0">
                          <a:latin typeface="Arial" panose="020B0604020202020204" pitchFamily="34" charset="0"/>
                          <a:cs typeface="Arial" panose="020B0604020202020204" pitchFamily="34" charset="0"/>
                        </a:rPr>
                        <a:t>Drinking-water ban for about 300 local residents for over 1 week </a:t>
                      </a:r>
                    </a:p>
                    <a:p>
                      <a:pPr marL="360000" marR="0" lvl="0" indent="-360000" algn="l" rtl="0">
                        <a:lnSpc>
                          <a:spcPct val="100000"/>
                        </a:lnSpc>
                        <a:spcBef>
                          <a:spcPts val="0"/>
                        </a:spcBef>
                        <a:spcAft>
                          <a:spcPts val="0"/>
                        </a:spcAft>
                        <a:buClr>
                          <a:srgbClr val="000000"/>
                        </a:buClr>
                        <a:buSzPts val="1600"/>
                        <a:buFont typeface="Noto Sans Symbols"/>
                        <a:buChar char="⮚"/>
                      </a:pPr>
                      <a:r>
                        <a:rPr lang="en-CA" sz="2000" dirty="0">
                          <a:latin typeface="Arial" panose="020B0604020202020204" pitchFamily="34" charset="0"/>
                          <a:cs typeface="Arial" panose="020B0604020202020204" pitchFamily="34" charset="0"/>
                        </a:rPr>
                        <a:t>Livelihoods impacted (tourism, fishing) </a:t>
                      </a:r>
                      <a:endParaRPr sz="2000" dirty="0">
                        <a:latin typeface="Arial" panose="020B0604020202020204" pitchFamily="34" charset="0"/>
                        <a:cs typeface="Arial" panose="020B0604020202020204" pitchFamily="34" charset="0"/>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628778">
                <a:tc>
                  <a:txBody>
                    <a:bodyPr/>
                    <a:lstStyle/>
                    <a:p>
                      <a:pPr marL="0" marR="0" lvl="0" indent="0" algn="l" rtl="0">
                        <a:lnSpc>
                          <a:spcPct val="100000"/>
                        </a:lnSpc>
                        <a:spcBef>
                          <a:spcPts val="0"/>
                        </a:spcBef>
                        <a:spcAft>
                          <a:spcPts val="0"/>
                        </a:spcAft>
                        <a:buClr>
                          <a:srgbClr val="000000"/>
                        </a:buClr>
                        <a:buSzPts val="1600"/>
                        <a:buFont typeface="Arial"/>
                        <a:buNone/>
                      </a:pPr>
                      <a:r>
                        <a:rPr lang="en-US" sz="2000" b="1" i="0" u="none" strike="noStrike" cap="none" dirty="0">
                          <a:solidFill>
                            <a:srgbClr val="000000"/>
                          </a:solidFill>
                          <a:latin typeface="Arial" panose="020B0604020202020204" pitchFamily="34" charset="0"/>
                          <a:ea typeface="Arial"/>
                          <a:cs typeface="Arial" panose="020B0604020202020204" pitchFamily="34" charset="0"/>
                          <a:sym typeface="Arial"/>
                        </a:rPr>
                        <a:t>Environment:</a:t>
                      </a:r>
                      <a:endParaRPr sz="2000" b="0"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 25M m</a:t>
                      </a:r>
                      <a:r>
                        <a:rPr lang="en-US" sz="2000" b="0" i="0" u="none" strike="noStrike" cap="none" baseline="30000" dirty="0">
                          <a:solidFill>
                            <a:srgbClr val="000000"/>
                          </a:solidFill>
                          <a:latin typeface="Arial" panose="020B0604020202020204" pitchFamily="34" charset="0"/>
                          <a:ea typeface="Arial"/>
                          <a:cs typeface="Arial" panose="020B0604020202020204" pitchFamily="34" charset="0"/>
                          <a:sym typeface="Arial"/>
                        </a:rPr>
                        <a:t>3</a:t>
                      </a:r>
                      <a:r>
                        <a:rPr lang="en-US" sz="2000" b="0" i="0" u="none" strike="noStrike" cap="none" baseline="0" dirty="0">
                          <a:solidFill>
                            <a:srgbClr val="000000"/>
                          </a:solidFill>
                          <a:latin typeface="Arial" panose="020B0604020202020204" pitchFamily="34" charset="0"/>
                          <a:ea typeface="Arial"/>
                          <a:cs typeface="Arial" panose="020B0604020202020204" pitchFamily="34" charset="0"/>
                          <a:sym typeface="Arial"/>
                        </a:rPr>
                        <a:t> of mining waste and contaminated water released into Lake Polley, Hazeltine Creek and </a:t>
                      </a:r>
                      <a:r>
                        <a:rPr lang="en-US" sz="2000" b="0" i="0" u="none" strike="noStrike" cap="none" baseline="0" err="1">
                          <a:solidFill>
                            <a:srgbClr val="000000"/>
                          </a:solidFill>
                          <a:latin typeface="Arial" panose="020B0604020202020204" pitchFamily="34" charset="0"/>
                          <a:ea typeface="Arial"/>
                          <a:cs typeface="Arial" panose="020B0604020202020204" pitchFamily="34" charset="0"/>
                          <a:sym typeface="Arial"/>
                        </a:rPr>
                        <a:t>Quesnel</a:t>
                      </a:r>
                      <a:r>
                        <a:rPr lang="en-US" sz="2000" b="0" i="0" u="none" strike="noStrike" cap="none" baseline="0">
                          <a:solidFill>
                            <a:srgbClr val="000000"/>
                          </a:solidFill>
                          <a:latin typeface="Arial" panose="020B0604020202020204" pitchFamily="34" charset="0"/>
                          <a:ea typeface="Arial"/>
                          <a:cs typeface="Arial" panose="020B0604020202020204" pitchFamily="34" charset="0"/>
                          <a:sym typeface="Arial"/>
                        </a:rPr>
                        <a:t> </a:t>
                      </a:r>
                      <a:r>
                        <a:rPr lang="en-US" sz="2000" b="0" i="0" u="none" strike="noStrike" cap="none" baseline="0" smtClean="0">
                          <a:solidFill>
                            <a:srgbClr val="000000"/>
                          </a:solidFill>
                          <a:latin typeface="Arial" panose="020B0604020202020204" pitchFamily="34" charset="0"/>
                          <a:ea typeface="Arial"/>
                          <a:cs typeface="Arial" panose="020B0604020202020204" pitchFamily="34" charset="0"/>
                          <a:sym typeface="Arial"/>
                        </a:rPr>
                        <a:t>Lake. </a:t>
                      </a:r>
                      <a:endParaRPr lang="en-US" sz="2000" b="0" i="0" u="none" strike="noStrike" cap="none" baseline="0" dirty="0">
                        <a:solidFill>
                          <a:srgbClr val="000000"/>
                        </a:solidFill>
                        <a:latin typeface="Arial" panose="020B0604020202020204" pitchFamily="34" charset="0"/>
                        <a:ea typeface="Arial"/>
                        <a:cs typeface="Arial" panose="020B0604020202020204" pitchFamily="34" charset="0"/>
                        <a:sym typeface="Arial"/>
                      </a:endParaRPr>
                    </a:p>
                    <a:p>
                      <a:pPr marL="360000" marR="0" lvl="0" indent="-360000" algn="l" defTabSz="914400" rtl="0" eaLnBrk="1" fontAlgn="auto" latinLnBrk="0" hangingPunct="1">
                        <a:lnSpc>
                          <a:spcPct val="100000"/>
                        </a:lnSpc>
                        <a:spcBef>
                          <a:spcPts val="0"/>
                        </a:spcBef>
                        <a:spcAft>
                          <a:spcPts val="0"/>
                        </a:spcAft>
                        <a:buClr>
                          <a:srgbClr val="000000"/>
                        </a:buClr>
                        <a:buSzPts val="1600"/>
                        <a:buFont typeface="Noto Sans Symbols"/>
                        <a:buChar char="⮚"/>
                        <a:tabLst/>
                        <a:defRPr/>
                      </a:pPr>
                      <a:r>
                        <a:rPr lang="en-CA" sz="2000" b="0" i="0" u="none" strike="noStrike" cap="none" dirty="0">
                          <a:solidFill>
                            <a:srgbClr val="000000"/>
                          </a:solidFill>
                          <a:latin typeface="Arial" panose="020B0604020202020204" pitchFamily="34" charset="0"/>
                          <a:cs typeface="Arial" panose="020B0604020202020204" pitchFamily="34" charset="0"/>
                          <a:sym typeface="Arial"/>
                        </a:rPr>
                        <a:t>$70M spent on remediation efforts for </a:t>
                      </a:r>
                      <a:r>
                        <a:rPr lang="en-CA" sz="2000" b="0" i="0" u="none" strike="noStrike" cap="none">
                          <a:solidFill>
                            <a:srgbClr val="000000"/>
                          </a:solidFill>
                          <a:latin typeface="Arial" panose="020B0604020202020204" pitchFamily="34" charset="0"/>
                          <a:cs typeface="Arial" panose="020B0604020202020204" pitchFamily="34" charset="0"/>
                          <a:sym typeface="Arial"/>
                        </a:rPr>
                        <a:t>environmental </a:t>
                      </a:r>
                      <a:r>
                        <a:rPr lang="en-CA" sz="2000" b="0" i="0" u="none" strike="noStrike" cap="none" smtClean="0">
                          <a:solidFill>
                            <a:srgbClr val="000000"/>
                          </a:solidFill>
                          <a:latin typeface="Arial" panose="020B0604020202020204" pitchFamily="34" charset="0"/>
                          <a:cs typeface="Arial" panose="020B0604020202020204" pitchFamily="34" charset="0"/>
                          <a:sym typeface="Arial"/>
                        </a:rPr>
                        <a:t>cleanup.</a:t>
                      </a:r>
                      <a:endParaRPr lang="en-CA" sz="2000" b="0"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16051">
                <a:tc>
                  <a:txBody>
                    <a:bodyPr/>
                    <a:lstStyle/>
                    <a:p>
                      <a:pPr marL="0" marR="0" lvl="0" indent="0" algn="l" rtl="0">
                        <a:lnSpc>
                          <a:spcPct val="100000"/>
                        </a:lnSpc>
                        <a:spcBef>
                          <a:spcPts val="0"/>
                        </a:spcBef>
                        <a:spcAft>
                          <a:spcPts val="0"/>
                        </a:spcAft>
                        <a:buClr>
                          <a:srgbClr val="000000"/>
                        </a:buClr>
                        <a:buSzPts val="1600"/>
                        <a:buFont typeface="Arial"/>
                        <a:buNone/>
                      </a:pPr>
                      <a:r>
                        <a:rPr lang="en-US" sz="2000" b="1" i="0" u="none" strike="noStrike" cap="none" dirty="0">
                          <a:solidFill>
                            <a:srgbClr val="000000"/>
                          </a:solidFill>
                          <a:latin typeface="Arial" panose="020B0604020202020204" pitchFamily="34" charset="0"/>
                          <a:ea typeface="Arial"/>
                          <a:cs typeface="Arial" panose="020B0604020202020204" pitchFamily="34" charset="0"/>
                          <a:sym typeface="Arial"/>
                        </a:rPr>
                        <a:t>Assets:</a:t>
                      </a:r>
                      <a:endParaRPr sz="2000" b="0"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cs typeface="Arial" panose="020B0604020202020204" pitchFamily="34" charset="0"/>
                          <a:sym typeface="Arial"/>
                        </a:rPr>
                        <a:t>Damaged/failed Tailings Storage Facility (TSF)</a:t>
                      </a:r>
                    </a:p>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cs typeface="Arial" panose="020B0604020202020204" pitchFamily="34" charset="0"/>
                          <a:sym typeface="Arial"/>
                        </a:rPr>
                        <a:t>Stock price drop of ~41%</a:t>
                      </a:r>
                    </a:p>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cs typeface="Arial" panose="020B0604020202020204" pitchFamily="34" charset="0"/>
                          <a:sym typeface="Arial"/>
                        </a:rPr>
                        <a:t> Disciplinary hearings for 3 engineers of record (</a:t>
                      </a:r>
                      <a:r>
                        <a:rPr lang="en-US" sz="2000" b="0" i="0" u="none" strike="noStrike" cap="none" dirty="0" err="1">
                          <a:solidFill>
                            <a:srgbClr val="000000"/>
                          </a:solidFill>
                          <a:latin typeface="Arial" panose="020B0604020202020204" pitchFamily="34" charset="0"/>
                          <a:cs typeface="Arial" panose="020B0604020202020204" pitchFamily="34" charset="0"/>
                          <a:sym typeface="Arial"/>
                        </a:rPr>
                        <a:t>EoRs</a:t>
                      </a:r>
                      <a:r>
                        <a:rPr lang="en-US" sz="2000" b="0" i="0" u="none" strike="noStrike" cap="none" dirty="0">
                          <a:solidFill>
                            <a:srgbClr val="000000"/>
                          </a:solidFill>
                          <a:latin typeface="Arial" panose="020B0604020202020204" pitchFamily="34" charset="0"/>
                          <a:cs typeface="Arial" panose="020B0604020202020204" pitchFamily="34" charset="0"/>
                          <a:sym typeface="Arial"/>
                        </a:rPr>
                        <a:t>) for alleged negligence and </a:t>
                      </a:r>
                      <a:r>
                        <a:rPr lang="en-US" sz="2000" b="0" i="0" u="none" strike="noStrike" cap="none">
                          <a:solidFill>
                            <a:srgbClr val="000000"/>
                          </a:solidFill>
                          <a:latin typeface="Arial" panose="020B0604020202020204" pitchFamily="34" charset="0"/>
                          <a:cs typeface="Arial" panose="020B0604020202020204" pitchFamily="34" charset="0"/>
                          <a:sym typeface="Arial"/>
                        </a:rPr>
                        <a:t>unprofessional </a:t>
                      </a:r>
                      <a:r>
                        <a:rPr lang="en-US" sz="2000" b="0" i="0" u="none" strike="noStrike" cap="none" smtClean="0">
                          <a:solidFill>
                            <a:srgbClr val="000000"/>
                          </a:solidFill>
                          <a:latin typeface="Arial" panose="020B0604020202020204" pitchFamily="34" charset="0"/>
                          <a:cs typeface="Arial" panose="020B0604020202020204" pitchFamily="34" charset="0"/>
                          <a:sym typeface="Arial"/>
                        </a:rPr>
                        <a:t>conduct. </a:t>
                      </a:r>
                      <a:endParaRPr lang="en-US" sz="2000" b="0"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25246">
                <a:tc>
                  <a:txBody>
                    <a:bodyPr/>
                    <a:lstStyle/>
                    <a:p>
                      <a:pPr marL="0" marR="0" lvl="0" indent="0" algn="l" rtl="0">
                        <a:lnSpc>
                          <a:spcPct val="100000"/>
                        </a:lnSpc>
                        <a:spcBef>
                          <a:spcPts val="0"/>
                        </a:spcBef>
                        <a:spcAft>
                          <a:spcPts val="0"/>
                        </a:spcAft>
                        <a:buClr>
                          <a:srgbClr val="000000"/>
                        </a:buClr>
                        <a:buSzPts val="1600"/>
                        <a:buFont typeface="Arial"/>
                        <a:buNone/>
                      </a:pPr>
                      <a:r>
                        <a:rPr lang="en-CA" sz="2000" b="1" i="0" u="none" strike="noStrike" cap="none" dirty="0">
                          <a:solidFill>
                            <a:srgbClr val="000000"/>
                          </a:solidFill>
                          <a:latin typeface="Arial" panose="020B0604020202020204" pitchFamily="34" charset="0"/>
                          <a:ea typeface="Arial"/>
                          <a:cs typeface="Arial" panose="020B0604020202020204" pitchFamily="34" charset="0"/>
                          <a:sym typeface="Arial"/>
                        </a:rPr>
                        <a:t>Production:</a:t>
                      </a:r>
                      <a:endParaRPr sz="2000" b="1" i="0" u="none" strike="noStrike" cap="none" dirty="0">
                        <a:solidFill>
                          <a:srgbClr val="000000"/>
                        </a:solidFill>
                        <a:latin typeface="Arial" panose="020B0604020202020204" pitchFamily="34" charset="0"/>
                        <a:ea typeface="Arial"/>
                        <a:cs typeface="Arial" panose="020B0604020202020204" pitchFamily="34" charset="0"/>
                        <a:sym typeface="Arial"/>
                      </a:endParaRP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Facility shutdown for 1 year</a:t>
                      </a:r>
                    </a:p>
                    <a:p>
                      <a:pPr marL="360000" marR="0" lvl="0" indent="-360000" algn="l" rtl="0">
                        <a:lnSpc>
                          <a:spcPct val="100000"/>
                        </a:lnSpc>
                        <a:spcBef>
                          <a:spcPts val="0"/>
                        </a:spcBef>
                        <a:spcAft>
                          <a:spcPts val="0"/>
                        </a:spcAft>
                        <a:buClr>
                          <a:srgbClr val="000000"/>
                        </a:buClr>
                        <a:buSzPts val="1600"/>
                        <a:buFont typeface="Noto Sans Symbols"/>
                        <a:buChar char="⮚"/>
                      </a:pPr>
                      <a:r>
                        <a:rPr lang="en-US" sz="2000" b="0" i="0" u="none" strike="noStrike" cap="none" dirty="0">
                          <a:solidFill>
                            <a:srgbClr val="000000"/>
                          </a:solidFill>
                          <a:latin typeface="Arial" panose="020B0604020202020204" pitchFamily="34" charset="0"/>
                          <a:ea typeface="Arial"/>
                          <a:cs typeface="Arial" panose="020B0604020202020204" pitchFamily="34" charset="0"/>
                          <a:sym typeface="Arial"/>
                        </a:rPr>
                        <a:t>Full operations resumed in July 2017</a:t>
                      </a:r>
                    </a:p>
                  </a:txBody>
                  <a:tcPr marL="91450" marR="91450" marT="45700" marB="457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77918286"/>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292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None/>
            </a:pPr>
            <a:r>
              <a:rPr lang="en-US" sz="1800" dirty="0" smtClean="0">
                <a:solidFill>
                  <a:srgbClr val="000000"/>
                </a:solidFill>
                <a:latin typeface="Arial"/>
                <a:cs typeface="Arial"/>
                <a:sym typeface="Arial"/>
              </a:rPr>
              <a:t>The </a:t>
            </a:r>
            <a:r>
              <a:rPr lang="en-US" sz="1800" dirty="0">
                <a:solidFill>
                  <a:srgbClr val="000000"/>
                </a:solidFill>
                <a:latin typeface="Arial"/>
                <a:cs typeface="Arial"/>
                <a:sym typeface="Arial"/>
              </a:rPr>
              <a:t>weak clay layer below embankment failed from excessive stress due to:</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Overly steep slope downstream of the embankment </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Embankment height higher than design standards (~40m)</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Open sub-excavation at the toe of the embankment</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Surplus of water in TSF </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Insufficient tailings beaches to protect embankment structure </a:t>
            </a:r>
          </a:p>
          <a:p>
            <a:pPr marL="360000" lvl="0" indent="-360000" algn="l" rtl="0">
              <a:spcBef>
                <a:spcPts val="0"/>
              </a:spcBef>
              <a:spcAft>
                <a:spcPts val="0"/>
              </a:spcAft>
              <a:buClr>
                <a:srgbClr val="000000"/>
              </a:buClr>
              <a:buSzPts val="1800"/>
              <a:buNone/>
            </a:pPr>
            <a:endParaRPr lang="en-US" sz="1800" dirty="0">
              <a:solidFill>
                <a:srgbClr val="000000"/>
              </a:solidFill>
              <a:latin typeface="Arial"/>
              <a:cs typeface="Arial"/>
              <a:sym typeface="Arial"/>
            </a:endParaRPr>
          </a:p>
        </p:txBody>
      </p:sp>
      <p:pic>
        <p:nvPicPr>
          <p:cNvPr id="5" name="Picture 4" descr="A screen shot of a computer&#10;&#10;Description automatically generated">
            <a:extLst>
              <a:ext uri="{FF2B5EF4-FFF2-40B4-BE49-F238E27FC236}">
                <a16:creationId xmlns:a16="http://schemas.microsoft.com/office/drawing/2014/main" id="{13B087AE-FE97-4F52-94B5-614E671FFF78}"/>
              </a:ext>
            </a:extLst>
          </p:cNvPr>
          <p:cNvPicPr>
            <a:picLocks noChangeAspect="1"/>
          </p:cNvPicPr>
          <p:nvPr/>
        </p:nvPicPr>
        <p:blipFill>
          <a:blip r:embed="rId3"/>
          <a:stretch>
            <a:fillRect/>
          </a:stretch>
        </p:blipFill>
        <p:spPr>
          <a:xfrm>
            <a:off x="482618" y="3459534"/>
            <a:ext cx="8199420" cy="2484066"/>
          </a:xfrm>
          <a:prstGeom prst="rect">
            <a:avLst/>
          </a:prstGeom>
        </p:spPr>
      </p:pic>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Immediate (and Intermediate) </a:t>
            </a:r>
            <a:r>
              <a:rPr lang="en-US" altLang="en-US" sz="2400" b="0" dirty="0" smtClean="0">
                <a:solidFill>
                  <a:schemeClr val="accent2"/>
                </a:solidFill>
                <a:latin typeface="Arial" panose="020B0604020202020204" pitchFamily="34" charset="0"/>
                <a:ea typeface="+mj-ea"/>
                <a:cs typeface="Arial" panose="020B0604020202020204" pitchFamily="34" charset="0"/>
              </a:rPr>
              <a:t>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250618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lvl="0" indent="-228600" algn="l" rtl="0">
              <a:lnSpc>
                <a:spcPct val="80000"/>
              </a:lnSpc>
              <a:spcBef>
                <a:spcPts val="0"/>
              </a:spcBef>
              <a:spcAft>
                <a:spcPts val="0"/>
              </a:spcAft>
              <a:buClr>
                <a:srgbClr val="000000"/>
              </a:buClr>
              <a:buSzPts val="1800"/>
              <a:buFont typeface="Noto Sans Symbols"/>
              <a:buNone/>
            </a:pPr>
            <a:endParaRPr lang="en-CA" sz="800" dirty="0">
              <a:solidFill>
                <a:srgbClr val="000000"/>
              </a:solidFill>
              <a:latin typeface="Arial"/>
              <a:ea typeface="Arial"/>
              <a:cs typeface="Arial"/>
              <a:sym typeface="Arial"/>
            </a:endParaRPr>
          </a:p>
          <a:p>
            <a:pPr marL="360000" lvl="0" indent="-360000">
              <a:spcBef>
                <a:spcPts val="0"/>
              </a:spcBef>
              <a:spcAft>
                <a:spcPts val="0"/>
              </a:spcAft>
              <a:buClr>
                <a:srgbClr val="000000"/>
              </a:buClr>
              <a:buSzPts val="1800"/>
              <a:buFont typeface="Noto Sans Symbols"/>
              <a:buChar char="⮚"/>
            </a:pPr>
            <a:r>
              <a:rPr lang="en-US" sz="2000" dirty="0">
                <a:solidFill>
                  <a:srgbClr val="000000"/>
                </a:solidFill>
                <a:latin typeface="Arial"/>
                <a:cs typeface="Arial"/>
                <a:sym typeface="Arial"/>
              </a:rPr>
              <a:t>The primary cause of the Tailings Storage Facility </a:t>
            </a:r>
            <a:r>
              <a:rPr lang="en-US" sz="2000" dirty="0" smtClean="0">
                <a:solidFill>
                  <a:srgbClr val="000000"/>
                </a:solidFill>
                <a:latin typeface="Arial"/>
                <a:cs typeface="Arial"/>
                <a:sym typeface="Arial"/>
              </a:rPr>
              <a:t>(TSF) </a:t>
            </a:r>
            <a:r>
              <a:rPr lang="en-US" sz="2000" dirty="0">
                <a:solidFill>
                  <a:srgbClr val="000000"/>
                </a:solidFill>
                <a:latin typeface="Arial"/>
                <a:cs typeface="Arial"/>
                <a:sym typeface="Arial"/>
              </a:rPr>
              <a:t>breach was the dislocation of the embankment due to foundation </a:t>
            </a:r>
            <a:r>
              <a:rPr lang="en-US" sz="2000" dirty="0" smtClean="0">
                <a:solidFill>
                  <a:srgbClr val="000000"/>
                </a:solidFill>
                <a:latin typeface="Arial"/>
                <a:cs typeface="Arial"/>
                <a:sym typeface="Arial"/>
              </a:rPr>
              <a:t>failure. </a:t>
            </a:r>
            <a:endParaRPr lang="en-US" sz="2000" dirty="0">
              <a:solidFill>
                <a:srgbClr val="000000"/>
              </a:solidFill>
              <a:latin typeface="Arial"/>
              <a:cs typeface="Arial"/>
              <a:sym typeface="Arial"/>
            </a:endParaRPr>
          </a:p>
          <a:p>
            <a:pPr marL="720000" lvl="1" indent="-360000">
              <a:spcBef>
                <a:spcPts val="0"/>
              </a:spcBef>
              <a:spcAft>
                <a:spcPts val="0"/>
              </a:spcAft>
              <a:buClr>
                <a:srgbClr val="000000"/>
              </a:buClr>
              <a:buFont typeface="Noto Sans Symbols"/>
              <a:buChar char="⮚"/>
            </a:pPr>
            <a:r>
              <a:rPr lang="en-US" sz="2000" dirty="0">
                <a:solidFill>
                  <a:srgbClr val="000000"/>
                </a:solidFill>
                <a:latin typeface="Arial"/>
                <a:cs typeface="Arial"/>
                <a:sym typeface="Arial"/>
              </a:rPr>
              <a:t>It behaved in a weaker manner than anticipated in the </a:t>
            </a:r>
            <a:r>
              <a:rPr lang="en-US" sz="2000" dirty="0" smtClean="0">
                <a:solidFill>
                  <a:srgbClr val="000000"/>
                </a:solidFill>
                <a:latin typeface="Arial"/>
                <a:cs typeface="Arial"/>
                <a:sym typeface="Arial"/>
              </a:rPr>
              <a:t>design. </a:t>
            </a:r>
            <a:endParaRPr lang="en-US" sz="2000" dirty="0">
              <a:solidFill>
                <a:srgbClr val="000000"/>
              </a:solidFill>
              <a:latin typeface="Arial"/>
              <a:cs typeface="Arial"/>
              <a:sym typeface="Arial"/>
            </a:endParaRPr>
          </a:p>
          <a:p>
            <a:pPr marL="720000" lvl="1" indent="-360000">
              <a:spcBef>
                <a:spcPts val="0"/>
              </a:spcBef>
              <a:spcAft>
                <a:spcPts val="0"/>
              </a:spcAft>
              <a:buClr>
                <a:srgbClr val="000000"/>
              </a:buClr>
              <a:buFont typeface="Noto Sans Symbols"/>
              <a:buChar char="⮚"/>
            </a:pPr>
            <a:r>
              <a:rPr lang="en-US" sz="2000" dirty="0">
                <a:solidFill>
                  <a:srgbClr val="000000"/>
                </a:solidFill>
                <a:latin typeface="Arial"/>
                <a:cs typeface="Arial"/>
                <a:sym typeface="Arial"/>
              </a:rPr>
              <a:t>Design team was aware of the various layers in the foundation but overlooked the hazards they </a:t>
            </a:r>
            <a:r>
              <a:rPr lang="en-US" sz="2000" dirty="0" smtClean="0">
                <a:solidFill>
                  <a:srgbClr val="000000"/>
                </a:solidFill>
                <a:latin typeface="Arial"/>
                <a:cs typeface="Arial"/>
                <a:sym typeface="Arial"/>
              </a:rPr>
              <a:t>presented. </a:t>
            </a:r>
            <a:endParaRPr lang="en-US" sz="2000" dirty="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endParaRPr lang="en-US" sz="2000" dirty="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endParaRPr lang="en-US" sz="2000" dirty="0" smtClean="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endParaRPr lang="en-US" sz="2000" dirty="0" smtClean="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endParaRPr lang="en-US" sz="2000" dirty="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endParaRPr lang="en-US" sz="2000" dirty="0" smtClean="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endParaRPr lang="en-US" sz="2000" dirty="0">
              <a:solidFill>
                <a:srgbClr val="000000"/>
              </a:solidFill>
              <a:latin typeface="Arial"/>
              <a:cs typeface="Arial"/>
              <a:sym typeface="Arial"/>
            </a:endParaRPr>
          </a:p>
          <a:p>
            <a:pPr marL="360000" lvl="0" indent="-360000" algn="l" rtl="0">
              <a:spcBef>
                <a:spcPts val="0"/>
              </a:spcBef>
              <a:spcAft>
                <a:spcPts val="0"/>
              </a:spcAft>
              <a:buClr>
                <a:srgbClr val="000000"/>
              </a:buClr>
              <a:buSzPts val="1800"/>
              <a:buFont typeface="Noto Sans Symbols"/>
              <a:buChar char="⮚"/>
            </a:pPr>
            <a:r>
              <a:rPr lang="en-US" sz="2000" dirty="0">
                <a:solidFill>
                  <a:srgbClr val="000000"/>
                </a:solidFill>
                <a:latin typeface="Arial"/>
                <a:cs typeface="Arial"/>
                <a:sym typeface="Arial"/>
              </a:rPr>
              <a:t>Foundation characteristics (determined after the investigation): </a:t>
            </a:r>
          </a:p>
          <a:p>
            <a:pPr marL="720000" lvl="1" indent="-360000">
              <a:spcBef>
                <a:spcPts val="0"/>
              </a:spcBef>
              <a:spcAft>
                <a:spcPts val="0"/>
              </a:spcAft>
              <a:buClr>
                <a:srgbClr val="000000"/>
              </a:buClr>
              <a:buFont typeface="Noto Sans Symbols"/>
              <a:buChar char="⮚"/>
            </a:pPr>
            <a:r>
              <a:rPr lang="en-US" sz="2000" dirty="0">
                <a:solidFill>
                  <a:srgbClr val="000000"/>
                </a:solidFill>
                <a:latin typeface="Arial"/>
                <a:cs typeface="Arial"/>
                <a:sym typeface="Arial"/>
              </a:rPr>
              <a:t>Failure occurred in a subsurface layer called the upper glaciolacustrine unit (Upper GLU</a:t>
            </a:r>
            <a:r>
              <a:rPr lang="en-US" sz="2000" dirty="0" smtClean="0">
                <a:solidFill>
                  <a:srgbClr val="000000"/>
                </a:solidFill>
                <a:latin typeface="Arial"/>
                <a:cs typeface="Arial"/>
                <a:sym typeface="Arial"/>
              </a:rPr>
              <a:t>). </a:t>
            </a:r>
            <a:endParaRPr lang="en-US" sz="2000" dirty="0">
              <a:solidFill>
                <a:srgbClr val="000000"/>
              </a:solidFill>
              <a:latin typeface="Arial"/>
              <a:cs typeface="Arial"/>
              <a:sym typeface="Arial"/>
            </a:endParaRPr>
          </a:p>
          <a:p>
            <a:pPr marL="720000" lvl="1" indent="-360000">
              <a:spcBef>
                <a:spcPts val="0"/>
              </a:spcBef>
              <a:spcAft>
                <a:spcPts val="0"/>
              </a:spcAft>
              <a:buClr>
                <a:srgbClr val="000000"/>
              </a:buClr>
              <a:buFont typeface="Noto Sans Symbols"/>
              <a:buChar char="⮚"/>
            </a:pPr>
            <a:r>
              <a:rPr lang="en-US" sz="2000" dirty="0">
                <a:solidFill>
                  <a:srgbClr val="000000"/>
                </a:solidFill>
                <a:latin typeface="Arial"/>
                <a:cs typeface="Arial"/>
                <a:sym typeface="Arial"/>
              </a:rPr>
              <a:t>The type of failure was “undrained failure”: The Upper GLU was compressible and became overstressed (high pore pressure) and weakened by the embankment constructed </a:t>
            </a:r>
            <a:r>
              <a:rPr lang="en-US" sz="2000" dirty="0" smtClean="0">
                <a:solidFill>
                  <a:srgbClr val="000000"/>
                </a:solidFill>
                <a:latin typeface="Arial"/>
                <a:cs typeface="Arial"/>
                <a:sym typeface="Arial"/>
              </a:rPr>
              <a:t>above. </a:t>
            </a:r>
            <a:endParaRPr lang="en-US" sz="2000" dirty="0">
              <a:solidFill>
                <a:srgbClr val="000000"/>
              </a:solidFill>
              <a:latin typeface="Arial"/>
              <a:cs typeface="Arial"/>
              <a:sym typeface="Arial"/>
            </a:endParaRPr>
          </a:p>
          <a:p>
            <a:pPr marL="800100" lvl="1">
              <a:spcBef>
                <a:spcPts val="0"/>
              </a:spcBef>
              <a:buClr>
                <a:srgbClr val="000000"/>
              </a:buClr>
              <a:buFont typeface="Noto Sans Symbols"/>
              <a:buChar char="⮚"/>
            </a:pPr>
            <a:endParaRPr lang="en-US" sz="2000" dirty="0">
              <a:solidFill>
                <a:srgbClr val="000000"/>
              </a:solidFill>
              <a:latin typeface="Arial"/>
              <a:cs typeface="Arial"/>
              <a:sym typeface="Arial"/>
            </a:endParaRPr>
          </a:p>
        </p:txBody>
      </p:sp>
      <p:pic>
        <p:nvPicPr>
          <p:cNvPr id="2" name="Picture 1"/>
          <p:cNvPicPr>
            <a:picLocks noChangeAspect="1"/>
          </p:cNvPicPr>
          <p:nvPr/>
        </p:nvPicPr>
        <p:blipFill>
          <a:blip r:embed="rId3"/>
          <a:stretch>
            <a:fillRect/>
          </a:stretch>
        </p:blipFill>
        <p:spPr>
          <a:xfrm>
            <a:off x="1371600" y="2590800"/>
            <a:ext cx="5791762" cy="1752600"/>
          </a:xfrm>
          <a:prstGeom prst="rect">
            <a:avLst/>
          </a:prstGeom>
        </p:spPr>
      </p:pic>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Technical Causes of the </a:t>
            </a:r>
            <a:r>
              <a:rPr lang="en-US" altLang="en-US" sz="2400" b="0" dirty="0" smtClean="0">
                <a:solidFill>
                  <a:schemeClr val="accent2"/>
                </a:solidFill>
                <a:latin typeface="Arial" panose="020B0604020202020204" pitchFamily="34" charset="0"/>
                <a:ea typeface="+mj-ea"/>
                <a:cs typeface="Arial" panose="020B0604020202020204" pitchFamily="34" charset="0"/>
              </a:rPr>
              <a:t>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8964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Technical Causes of the </a:t>
            </a:r>
            <a:r>
              <a:rPr lang="en-US" altLang="en-US" sz="2400" b="0" dirty="0" smtClean="0">
                <a:solidFill>
                  <a:schemeClr val="accent2"/>
                </a:solidFill>
                <a:latin typeface="Arial" panose="020B0604020202020204" pitchFamily="34" charset="0"/>
                <a:ea typeface="+mj-ea"/>
                <a:cs typeface="Arial" panose="020B0604020202020204" pitchFamily="34" charset="0"/>
              </a:rPr>
              <a:t>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pic>
        <p:nvPicPr>
          <p:cNvPr id="4" name="Picture 3"/>
          <p:cNvPicPr>
            <a:picLocks noChangeAspect="1"/>
          </p:cNvPicPr>
          <p:nvPr/>
        </p:nvPicPr>
        <p:blipFill>
          <a:blip r:embed="rId3"/>
          <a:stretch>
            <a:fillRect/>
          </a:stretch>
        </p:blipFill>
        <p:spPr>
          <a:xfrm>
            <a:off x="180000" y="1080000"/>
            <a:ext cx="8640000" cy="4569600"/>
          </a:xfrm>
          <a:prstGeom prst="rect">
            <a:avLst/>
          </a:prstGeom>
        </p:spPr>
      </p:pic>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9" name="Rounded Rectangular Callout 8"/>
          <p:cNvSpPr/>
          <p:nvPr/>
        </p:nvSpPr>
        <p:spPr>
          <a:xfrm>
            <a:off x="5791200" y="216000"/>
            <a:ext cx="2061848" cy="578882"/>
          </a:xfrm>
          <a:prstGeom prst="wedgeRoundRectCallout">
            <a:avLst>
              <a:gd name="adj1" fmla="val -83237"/>
              <a:gd name="adj2" fmla="val 521989"/>
              <a:gd name="adj3" fmla="val 1666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smtClean="0">
                <a:solidFill>
                  <a:schemeClr val="tx1"/>
                </a:solidFill>
              </a:rPr>
              <a:t>The embankment dam structure failed.</a:t>
            </a:r>
            <a:endParaRPr lang="en-US" sz="1400" dirty="0">
              <a:solidFill>
                <a:schemeClr val="tx1"/>
              </a:solidFill>
            </a:endParaRPr>
          </a:p>
        </p:txBody>
      </p:sp>
    </p:spTree>
    <p:extLst>
      <p:ext uri="{BB962C8B-B14F-4D97-AF65-F5344CB8AC3E}">
        <p14:creationId xmlns:p14="http://schemas.microsoft.com/office/powerpoint/2010/main" val="5759192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lvl="0" indent="-228600" algn="l" rtl="0">
              <a:spcBef>
                <a:spcPts val="0"/>
              </a:spcBef>
              <a:spcAft>
                <a:spcPts val="0"/>
              </a:spcAft>
              <a:buClr>
                <a:srgbClr val="000000"/>
              </a:buClr>
              <a:buSzPts val="1800"/>
              <a:buFont typeface="Noto Sans Symbols"/>
              <a:buNone/>
            </a:pPr>
            <a:endParaRPr lang="en-CA" sz="1800" dirty="0">
              <a:latin typeface="Arial"/>
              <a:ea typeface="Arial"/>
              <a:cs typeface="Arial"/>
              <a:sym typeface="Arial"/>
            </a:endParaRPr>
          </a:p>
          <a:p>
            <a:pPr marL="0" lvl="0" indent="0" algn="l" rtl="0">
              <a:spcBef>
                <a:spcPts val="0"/>
              </a:spcBef>
              <a:spcAft>
                <a:spcPts val="0"/>
              </a:spcAft>
              <a:buClr>
                <a:srgbClr val="000000"/>
              </a:buClr>
              <a:buSzPts val="1800"/>
              <a:buNone/>
            </a:pPr>
            <a:r>
              <a:rPr lang="en-US" sz="1800" u="sng" dirty="0">
                <a:latin typeface="Arial"/>
                <a:cs typeface="Arial"/>
                <a:sym typeface="Arial"/>
              </a:rPr>
              <a:t>Engineering and Design Factors: </a:t>
            </a:r>
            <a:endParaRPr lang="en-US" sz="1800" u="sng" dirty="0">
              <a:highlight>
                <a:srgbClr val="FFFF00"/>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evaluation of change: </a:t>
            </a:r>
            <a:r>
              <a:rPr lang="en-US" sz="1800" dirty="0">
                <a:latin typeface="Arial"/>
                <a:cs typeface="Arial"/>
                <a:sym typeface="Arial"/>
              </a:rPr>
              <a:t>Risks introduced by the sub excavation activity at the toe of the embankment were not identified </a:t>
            </a:r>
            <a:r>
              <a:rPr lang="en-US" sz="1800">
                <a:latin typeface="Arial"/>
                <a:cs typeface="Arial"/>
                <a:sym typeface="Arial"/>
              </a:rPr>
              <a:t>or </a:t>
            </a:r>
            <a:r>
              <a:rPr lang="en-US" sz="1800" smtClean="0">
                <a:latin typeface="Arial"/>
                <a:cs typeface="Arial"/>
                <a:sym typeface="Arial"/>
              </a:rPr>
              <a:t>assessed.</a:t>
            </a:r>
            <a:endParaRPr lang="en-US" sz="1800" dirty="0">
              <a:highlight>
                <a:srgbClr val="00FFFF"/>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monitoring of construction:</a:t>
            </a:r>
            <a:r>
              <a:rPr lang="en-US" sz="1800" dirty="0">
                <a:latin typeface="Arial"/>
                <a:cs typeface="Arial"/>
                <a:sym typeface="Arial"/>
              </a:rPr>
              <a:t> Subexcavation remained open for 8 months without any concern from engineers </a:t>
            </a:r>
            <a:r>
              <a:rPr lang="en-US" sz="1800">
                <a:latin typeface="Arial"/>
                <a:cs typeface="Arial"/>
                <a:sym typeface="Arial"/>
              </a:rPr>
              <a:t>or </a:t>
            </a:r>
            <a:r>
              <a:rPr lang="en-US" sz="1800" smtClean="0">
                <a:latin typeface="Arial"/>
                <a:cs typeface="Arial"/>
                <a:sym typeface="Arial"/>
              </a:rPr>
              <a:t>management.</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smtClean="0">
              <a:latin typeface="Arial"/>
              <a:cs typeface="Arial"/>
              <a:sym typeface="Arial"/>
            </a:endParaRPr>
          </a:p>
          <a:p>
            <a:pPr marL="0" lvl="0" indent="0" algn="l" rtl="0">
              <a:spcBef>
                <a:spcPts val="0"/>
              </a:spcBef>
              <a:spcAft>
                <a:spcPts val="0"/>
              </a:spcAft>
              <a:buClr>
                <a:srgbClr val="000000"/>
              </a:buClr>
              <a:buSzPts val="1800"/>
              <a:buNone/>
            </a:pPr>
            <a:r>
              <a:rPr lang="en-US" sz="1800" u="sng" dirty="0" smtClean="0">
                <a:latin typeface="Arial"/>
                <a:cs typeface="Arial"/>
                <a:sym typeface="Arial"/>
              </a:rPr>
              <a:t>Job </a:t>
            </a:r>
            <a:r>
              <a:rPr lang="en-US" sz="1800" u="sng" dirty="0">
                <a:latin typeface="Arial"/>
                <a:cs typeface="Arial"/>
                <a:sym typeface="Arial"/>
              </a:rPr>
              <a:t>Factors: </a:t>
            </a: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ea typeface="Arial"/>
                <a:cs typeface="Arial" panose="020B0604020202020204" pitchFamily="34" charset="0"/>
                <a:sym typeface="Arial"/>
              </a:rPr>
              <a:t>Inadequate guidance manuals:</a:t>
            </a:r>
            <a:r>
              <a:rPr lang="en-CA" sz="1800" dirty="0">
                <a:latin typeface="Arial" panose="020B0604020202020204" pitchFamily="34" charset="0"/>
                <a:ea typeface="Arial"/>
                <a:cs typeface="Arial" panose="020B0604020202020204" pitchFamily="34" charset="0"/>
                <a:sym typeface="Arial"/>
              </a:rPr>
              <a:t> The construction manual for buttress excavation did not include any </a:t>
            </a:r>
            <a:r>
              <a:rPr lang="en-CA" sz="1800">
                <a:latin typeface="Arial" panose="020B0604020202020204" pitchFamily="34" charset="0"/>
                <a:ea typeface="Arial"/>
                <a:cs typeface="Arial" panose="020B0604020202020204" pitchFamily="34" charset="0"/>
                <a:sym typeface="Arial"/>
              </a:rPr>
              <a:t>construction </a:t>
            </a:r>
            <a:r>
              <a:rPr lang="en-CA" sz="1800" smtClean="0">
                <a:latin typeface="Arial" panose="020B0604020202020204" pitchFamily="34" charset="0"/>
                <a:ea typeface="Arial"/>
                <a:cs typeface="Arial" panose="020B0604020202020204" pitchFamily="34" charset="0"/>
                <a:sym typeface="Arial"/>
              </a:rPr>
              <a:t>procedures.</a:t>
            </a:r>
            <a:r>
              <a:rPr lang="en-CA" sz="1800" smtClean="0">
                <a:highlight>
                  <a:srgbClr val="FFFF00"/>
                </a:highlight>
                <a:latin typeface="Arial" panose="020B0604020202020204" pitchFamily="34" charset="0"/>
                <a:ea typeface="Arial"/>
                <a:cs typeface="Arial" panose="020B0604020202020204" pitchFamily="34" charset="0"/>
                <a:sym typeface="Arial"/>
              </a:rPr>
              <a:t> </a:t>
            </a:r>
            <a:endParaRPr lang="en-CA" sz="1800" dirty="0">
              <a:highlight>
                <a:srgbClr val="FFFF00"/>
              </a:highlight>
              <a:latin typeface="Arial" panose="020B0604020202020204" pitchFamily="34" charset="0"/>
              <a:ea typeface="Arial"/>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inspection/monitoring: </a:t>
            </a:r>
            <a:r>
              <a:rPr lang="en-CA" sz="1800" dirty="0">
                <a:latin typeface="Arial" panose="020B0604020202020204" pitchFamily="34" charset="0"/>
                <a:cs typeface="Arial" panose="020B0604020202020204" pitchFamily="34" charset="0"/>
                <a:sym typeface="Arial"/>
              </a:rPr>
              <a:t>Inadequate supervision during TSF operations</a:t>
            </a:r>
            <a:endParaRPr lang="en-CA" sz="1800" dirty="0">
              <a:highlight>
                <a:srgbClr val="FFFF00"/>
              </a:highlight>
              <a:latin typeface="Arial" panose="020B0604020202020204" pitchFamily="34" charset="0"/>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work planning:</a:t>
            </a:r>
            <a:r>
              <a:rPr lang="en-CA" sz="1800" dirty="0">
                <a:latin typeface="Arial" panose="020B0604020202020204" pitchFamily="34" charset="0"/>
                <a:cs typeface="Arial" panose="020B0604020202020204" pitchFamily="34" charset="0"/>
                <a:sym typeface="Arial"/>
              </a:rPr>
              <a:t> Inadequate water management plan</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smtClean="0">
              <a:latin typeface="Arial"/>
              <a:cs typeface="Arial"/>
              <a:sym typeface="Arial"/>
            </a:endParaRPr>
          </a:p>
          <a:p>
            <a:pPr marL="0" lvl="0" indent="0" algn="l" rtl="0">
              <a:spcBef>
                <a:spcPts val="0"/>
              </a:spcBef>
              <a:spcAft>
                <a:spcPts val="0"/>
              </a:spcAft>
              <a:buClr>
                <a:srgbClr val="000000"/>
              </a:buClr>
              <a:buSzPts val="1800"/>
              <a:buNone/>
            </a:pPr>
            <a:r>
              <a:rPr lang="en-US" sz="1800" u="sng" dirty="0" smtClean="0">
                <a:latin typeface="Arial"/>
                <a:cs typeface="Arial"/>
                <a:sym typeface="Arial"/>
              </a:rPr>
              <a:t>Personal </a:t>
            </a:r>
            <a:r>
              <a:rPr lang="en-US" sz="1800" u="sng" dirty="0">
                <a:latin typeface="Arial"/>
                <a:cs typeface="Arial"/>
                <a:sym typeface="Arial"/>
              </a:rPr>
              <a:t>Factors:</a:t>
            </a:r>
          </a:p>
          <a:p>
            <a:pPr marL="342900" indent="-342900">
              <a:spcBef>
                <a:spcPts val="0"/>
              </a:spcBef>
              <a:spcAft>
                <a:spcPts val="0"/>
              </a:spcAft>
              <a:buClr>
                <a:srgbClr val="000000"/>
              </a:buClr>
              <a:buSzPts val="1800"/>
              <a:buFont typeface="Noto Sans Symbols"/>
              <a:buChar char="⮚"/>
            </a:pPr>
            <a:r>
              <a:rPr lang="en-US" sz="1800" b="1" dirty="0">
                <a:latin typeface="Arial" panose="020B0604020202020204" pitchFamily="34" charset="0"/>
                <a:ea typeface="Arial"/>
                <a:cs typeface="Arial" panose="020B0604020202020204" pitchFamily="34" charset="0"/>
                <a:sym typeface="Arial"/>
              </a:rPr>
              <a:t>Improper risk taking: </a:t>
            </a:r>
            <a:r>
              <a:rPr lang="en-US" sz="1800" dirty="0">
                <a:latin typeface="Arial" panose="020B0604020202020204" pitchFamily="34" charset="0"/>
                <a:ea typeface="Arial"/>
                <a:cs typeface="Arial" panose="020B0604020202020204" pitchFamily="34" charset="0"/>
                <a:sym typeface="Arial"/>
              </a:rPr>
              <a:t>Design engineers were overconfident in their professional judgement </a:t>
            </a:r>
          </a:p>
        </p:txBody>
      </p:sp>
      <p:sp>
        <p:nvSpPr>
          <p:cNvPr id="4"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Basic </a:t>
            </a:r>
            <a:r>
              <a:rPr lang="en-US" altLang="en-US" sz="2400" b="0" dirty="0" smtClean="0">
                <a:solidFill>
                  <a:schemeClr val="accent2"/>
                </a:solidFill>
                <a:latin typeface="Arial" panose="020B0604020202020204" pitchFamily="34" charset="0"/>
                <a:ea typeface="+mj-ea"/>
                <a:cs typeface="Arial" panose="020B0604020202020204" pitchFamily="34" charset="0"/>
              </a:rPr>
              <a:t>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219002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p:nvPr/>
        </p:nvSpPr>
        <p:spPr>
          <a:xfrm>
            <a:off x="180000" y="828000"/>
            <a:ext cx="8640000" cy="5328000"/>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lvl="0">
              <a:buClr>
                <a:srgbClr val="FFFFFF"/>
              </a:buClr>
              <a:buSzPts val="2000"/>
            </a:pPr>
            <a:r>
              <a:rPr lang="en-CA" sz="2000" b="1" i="1" dirty="0">
                <a:solidFill>
                  <a:srgbClr val="FFFFFF"/>
                </a:solidFill>
              </a:rPr>
              <a:t>It is vital to combat complacency in all aspects </a:t>
            </a:r>
          </a:p>
          <a:p>
            <a:pPr lvl="0">
              <a:buClr>
                <a:srgbClr val="FFFFFF"/>
              </a:buClr>
              <a:buSzPts val="2000"/>
            </a:pPr>
            <a:r>
              <a:rPr lang="en-CA" sz="2000" b="1" i="1" dirty="0">
                <a:solidFill>
                  <a:srgbClr val="FFFFFF"/>
                </a:solidFill>
              </a:rPr>
              <a:t>of </a:t>
            </a:r>
            <a:r>
              <a:rPr lang="en-CA" sz="2000" b="1" i="1">
                <a:solidFill>
                  <a:srgbClr val="FFFFFF"/>
                </a:solidFill>
              </a:rPr>
              <a:t>risk </a:t>
            </a:r>
            <a:r>
              <a:rPr lang="en-CA" sz="2000" b="1" i="1" smtClean="0">
                <a:solidFill>
                  <a:srgbClr val="FFFFFF"/>
                </a:solidFill>
              </a:rPr>
              <a:t>management.</a:t>
            </a:r>
            <a:endParaRPr dirty="0">
              <a:highlight>
                <a:srgbClr val="00FFFF"/>
              </a:highlight>
            </a:endParaRPr>
          </a:p>
          <a:p>
            <a:pPr marL="0" marR="0" lvl="0" indent="0" algn="l" rtl="0">
              <a:spcBef>
                <a:spcPts val="0"/>
              </a:spcBef>
              <a:spcAft>
                <a:spcPts val="0"/>
              </a:spcAft>
              <a:buClr>
                <a:schemeClr val="dk1"/>
              </a:buClr>
              <a:buSzPts val="2000"/>
              <a:buFont typeface="Noto Sans Symbols"/>
              <a:buNone/>
            </a:pPr>
            <a:endParaRPr sz="1000" b="1" i="1" dirty="0">
              <a:solidFill>
                <a:srgbClr val="FFFFFF"/>
              </a:solidFill>
              <a:latin typeface="Arial"/>
              <a:ea typeface="Arial"/>
              <a:cs typeface="Arial"/>
              <a:sym typeface="Arial"/>
            </a:endParaRPr>
          </a:p>
          <a:p>
            <a:pPr marL="0" marR="0" lvl="0" indent="0" algn="l" rtl="0">
              <a:spcBef>
                <a:spcPts val="0"/>
              </a:spcBef>
              <a:spcAft>
                <a:spcPts val="0"/>
              </a:spcAft>
              <a:buClr>
                <a:srgbClr val="FFFFFF"/>
              </a:buClr>
              <a:buSzPts val="2000"/>
              <a:buFont typeface="Noto Sans Symbols"/>
              <a:buNone/>
            </a:pPr>
            <a:r>
              <a:rPr lang="en-US" sz="2000" i="1" dirty="0">
                <a:solidFill>
                  <a:srgbClr val="FFFFFF"/>
                </a:solidFill>
                <a:latin typeface="Arial"/>
                <a:ea typeface="Arial"/>
                <a:cs typeface="Arial"/>
                <a:sym typeface="Arial"/>
              </a:rPr>
              <a:t>Using this list, select one and think about </a:t>
            </a:r>
            <a:r>
              <a:rPr lang="en-US" sz="2000" i="1" dirty="0" smtClean="0">
                <a:solidFill>
                  <a:srgbClr val="FFFFFF"/>
                </a:solidFill>
                <a:latin typeface="Arial"/>
                <a:ea typeface="Arial"/>
                <a:cs typeface="Arial"/>
                <a:sym typeface="Arial"/>
              </a:rPr>
              <a:t>possible</a:t>
            </a:r>
            <a:br>
              <a:rPr lang="en-US" sz="2000" i="1" dirty="0" smtClean="0">
                <a:solidFill>
                  <a:srgbClr val="FFFFFF"/>
                </a:solidFill>
                <a:latin typeface="Arial"/>
                <a:ea typeface="Arial"/>
                <a:cs typeface="Arial"/>
                <a:sym typeface="Arial"/>
              </a:rPr>
            </a:br>
            <a:r>
              <a:rPr lang="en-US" sz="2000" i="1" dirty="0" smtClean="0">
                <a:solidFill>
                  <a:srgbClr val="FFFFFF"/>
                </a:solidFill>
                <a:latin typeface="Arial"/>
                <a:ea typeface="Arial"/>
                <a:cs typeface="Arial"/>
                <a:sym typeface="Arial"/>
              </a:rPr>
              <a:t>causes </a:t>
            </a:r>
            <a:r>
              <a:rPr lang="en-US" sz="2000" i="1" dirty="0">
                <a:solidFill>
                  <a:srgbClr val="FFFFFF"/>
                </a:solidFill>
                <a:latin typeface="Arial"/>
                <a:ea typeface="Arial"/>
                <a:cs typeface="Arial"/>
                <a:sym typeface="Arial"/>
              </a:rPr>
              <a:t>of failure in organizational leadership:</a:t>
            </a:r>
            <a:endParaRPr dirty="0"/>
          </a:p>
        </p:txBody>
      </p:sp>
      <p:sp>
        <p:nvSpPr>
          <p:cNvPr id="270" name="Google Shape;270;p14"/>
          <p:cNvSpPr/>
          <p:nvPr/>
        </p:nvSpPr>
        <p:spPr>
          <a:xfrm>
            <a:off x="228600" y="2407306"/>
            <a:ext cx="6223338" cy="29266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Aft>
                <a:spcPts val="0"/>
              </a:spcAft>
              <a:buSzPts val="1600"/>
              <a:buFont typeface="Times New Roman"/>
              <a:buAutoNum type="arabicParenR"/>
            </a:pPr>
            <a:r>
              <a:rPr lang="en-US" sz="1600" dirty="0" smtClean="0">
                <a:sym typeface="Arial"/>
              </a:rPr>
              <a:t>Management Leadership, Commitment and Accountability</a:t>
            </a:r>
            <a:endParaRPr sz="1600" dirty="0" smtClean="0"/>
          </a:p>
          <a:p>
            <a:pPr marL="342900" marR="0" lvl="0" indent="-342900" algn="l" rtl="0">
              <a:spcAft>
                <a:spcPts val="0"/>
              </a:spcAft>
              <a:buSzPts val="1600"/>
              <a:buFont typeface="Times New Roman"/>
              <a:buAutoNum type="arabicParenR"/>
            </a:pPr>
            <a:r>
              <a:rPr lang="en-US" sz="1600" dirty="0" smtClean="0">
                <a:sym typeface="Arial"/>
              </a:rPr>
              <a:t>Risk Assessment and Management of Risks</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Community Awareness and Emergency Preparedness</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Management of Change.</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Incident Reporting, Investigation, Analysis and Actions</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Program Evaluation and Continuous Improvement.</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ym typeface="Arial"/>
              </a:rPr>
              <a:t>Design, Construction and Start-up</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Operations and Maintenance.</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ym typeface="Arial"/>
              </a:rPr>
              <a:t>Employee Competency and Training.</a:t>
            </a:r>
            <a:endParaRPr sz="1600" dirty="0" smtClean="0"/>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Contractor Competency and Integration.</a:t>
            </a:r>
            <a:endParaRPr sz="1600" dirty="0" smtClean="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smtClean="0">
                <a:solidFill>
                  <a:schemeClr val="bg1">
                    <a:lumMod val="65000"/>
                  </a:schemeClr>
                </a:solidFill>
                <a:sym typeface="Arial"/>
              </a:rPr>
              <a:t>Operations and Facilities Information and Documentation.</a:t>
            </a:r>
            <a:endParaRPr sz="1600" dirty="0">
              <a:solidFill>
                <a:schemeClr val="bg1">
                  <a:lumMod val="65000"/>
                </a:schemeClr>
              </a:solidFill>
            </a:endParaRPr>
          </a:p>
        </p:txBody>
      </p:sp>
      <p:pic>
        <p:nvPicPr>
          <p:cNvPr id="3" name="Picture 2" descr="A view of the ocean&#10;&#10;Description automatically generated">
            <a:extLst>
              <a:ext uri="{FF2B5EF4-FFF2-40B4-BE49-F238E27FC236}">
                <a16:creationId xmlns:a16="http://schemas.microsoft.com/office/drawing/2014/main" id="{1FAAE589-C56B-4FF3-9D5B-913EAC624CF9}"/>
              </a:ext>
            </a:extLst>
          </p:cNvPr>
          <p:cNvPicPr>
            <a:picLocks noChangeAspect="1"/>
          </p:cNvPicPr>
          <p:nvPr/>
        </p:nvPicPr>
        <p:blipFill>
          <a:blip r:embed="rId3"/>
          <a:stretch>
            <a:fillRect/>
          </a:stretch>
        </p:blipFill>
        <p:spPr>
          <a:xfrm>
            <a:off x="6471139" y="822961"/>
            <a:ext cx="2368061" cy="1882831"/>
          </a:xfrm>
          <a:prstGeom prst="rect">
            <a:avLst/>
          </a:prstGeom>
        </p:spPr>
      </p:pic>
      <p:pic>
        <p:nvPicPr>
          <p:cNvPr id="5" name="Picture 4" descr="A close up of a mountain&#10;&#10;Description automatically generated">
            <a:extLst>
              <a:ext uri="{FF2B5EF4-FFF2-40B4-BE49-F238E27FC236}">
                <a16:creationId xmlns:a16="http://schemas.microsoft.com/office/drawing/2014/main" id="{803C471C-E048-49E2-AA83-0D9E1B85D6CC}"/>
              </a:ext>
            </a:extLst>
          </p:cNvPr>
          <p:cNvPicPr>
            <a:picLocks noChangeAspect="1"/>
          </p:cNvPicPr>
          <p:nvPr/>
        </p:nvPicPr>
        <p:blipFill>
          <a:blip r:embed="rId4"/>
          <a:stretch>
            <a:fillRect/>
          </a:stretch>
        </p:blipFill>
        <p:spPr>
          <a:xfrm>
            <a:off x="6471139" y="2705792"/>
            <a:ext cx="2368061" cy="1488831"/>
          </a:xfrm>
          <a:prstGeom prst="rect">
            <a:avLst/>
          </a:prstGeom>
        </p:spPr>
      </p:pic>
      <p:pic>
        <p:nvPicPr>
          <p:cNvPr id="7" name="Picture 6" descr="A body of water&#10;&#10;Description automatically generated">
            <a:extLst>
              <a:ext uri="{FF2B5EF4-FFF2-40B4-BE49-F238E27FC236}">
                <a16:creationId xmlns:a16="http://schemas.microsoft.com/office/drawing/2014/main" id="{7488A2E0-279F-4D6B-9D27-ECD5C1AC655D}"/>
              </a:ext>
            </a:extLst>
          </p:cNvPr>
          <p:cNvPicPr>
            <a:picLocks noChangeAspect="1"/>
          </p:cNvPicPr>
          <p:nvPr/>
        </p:nvPicPr>
        <p:blipFill>
          <a:blip r:embed="rId5"/>
          <a:stretch>
            <a:fillRect/>
          </a:stretch>
        </p:blipFill>
        <p:spPr>
          <a:xfrm>
            <a:off x="6471138" y="4194623"/>
            <a:ext cx="2368061" cy="1966363"/>
          </a:xfrm>
          <a:prstGeom prst="rect">
            <a:avLst/>
          </a:prstGeom>
        </p:spPr>
      </p:pic>
      <p:sp>
        <p:nvSpPr>
          <p:cNvPr id="8"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a:t>
            </a:r>
            <a:r>
              <a:rPr lang="en-US" altLang="en-US" sz="2400" b="0" dirty="0" smtClean="0">
                <a:solidFill>
                  <a:schemeClr val="accent2"/>
                </a:solidFill>
                <a:latin typeface="Arial" panose="020B0604020202020204" pitchFamily="34" charset="0"/>
                <a:ea typeface="+mj-ea"/>
                <a:cs typeface="Arial" panose="020B0604020202020204" pitchFamily="34" charset="0"/>
              </a:rPr>
              <a:t>Latent Causes and Lessons </a:t>
            </a:r>
            <a:r>
              <a:rPr lang="en-US" altLang="en-US" sz="2400" b="0" dirty="0">
                <a:solidFill>
                  <a:schemeClr val="accent2"/>
                </a:solidFill>
                <a:latin typeface="Arial" panose="020B0604020202020204" pitchFamily="34" charset="0"/>
                <a:ea typeface="+mj-ea"/>
                <a:cs typeface="Arial" panose="020B0604020202020204" pitchFamily="34" charset="0"/>
              </a:rPr>
              <a:t>in Leadership:</a:t>
            </a:r>
          </a:p>
        </p:txBody>
      </p:sp>
      <p:sp>
        <p:nvSpPr>
          <p:cNvPr id="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7141800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#1 MLCA:</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Lack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of management commitment, leadership, and  accountability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ignored previous warnings and concerns from Regulator and employees</a:t>
            </a:r>
          </a:p>
          <a:p>
            <a:pPr marL="0" lvl="0" indent="0" eaLnBrk="0" hangingPunct="0">
              <a:lnSpc>
                <a:spcPct val="90000"/>
              </a:lnSpc>
              <a:spcBef>
                <a:spcPts val="0"/>
              </a:spcBef>
              <a:buClrTx/>
              <a:buSzPct val="100000"/>
              <a:buNone/>
            </a:pP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2 RA&amp;MR:</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risk assessment and management of risk</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Insufficient hazard identification during operations in TSF</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provided inadequate supervision and inspections during operations</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#7 DC&amp;SU:</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design and assessment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had a poor understanding of underlying terrain during the design phase of TSF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heavily relied on Factor of Safety calculations prone to error   </a:t>
            </a:r>
          </a:p>
          <a:p>
            <a:pPr marL="0" lvl="0" indent="0" eaLnBrk="0" hangingPunct="0">
              <a:lnSpc>
                <a:spcPct val="90000"/>
              </a:lnSpc>
              <a:spcBef>
                <a:spcPts val="0"/>
              </a:spcBef>
              <a:buClrTx/>
              <a:buSzPct val="100000"/>
              <a:buNone/>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#9 EC&amp;T:</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employee competency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Unqualified personnel overseeing water management program</a:t>
            </a:r>
          </a:p>
          <a:p>
            <a:pPr marL="432000" indent="-432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bg1"/>
                </a:solidFill>
                <a:latin typeface="Arial" panose="020B0604020202020204" pitchFamily="34" charset="0"/>
                <a:ea typeface="+mj-ea"/>
                <a:cs typeface="Arial" panose="020B0604020202020204" pitchFamily="34" charset="0"/>
              </a:rPr>
              <a:t>An </a:t>
            </a:r>
            <a:r>
              <a:rPr lang="en-US" altLang="en-US" sz="2400" b="0" dirty="0" smtClean="0">
                <a:solidFill>
                  <a:schemeClr val="bg1"/>
                </a:solidFill>
                <a:latin typeface="Arial" panose="020B0604020202020204" pitchFamily="34" charset="0"/>
                <a:ea typeface="+mj-ea"/>
                <a:cs typeface="Arial" panose="020B0604020202020204" pitchFamily="34" charset="0"/>
              </a:rPr>
              <a:t>Examination </a:t>
            </a:r>
            <a:r>
              <a:rPr lang="en-US" altLang="en-US" sz="2400" b="0" dirty="0">
                <a:solidFill>
                  <a:schemeClr val="bg1"/>
                </a:solidFill>
                <a:latin typeface="Arial" panose="020B0604020202020204" pitchFamily="34" charset="0"/>
                <a:ea typeface="+mj-ea"/>
                <a:cs typeface="Arial" panose="020B0604020202020204" pitchFamily="34" charset="0"/>
              </a:rPr>
              <a:t>of the </a:t>
            </a:r>
            <a:r>
              <a:rPr lang="en-US" altLang="en-US" sz="2400" b="0" dirty="0" smtClean="0">
                <a:solidFill>
                  <a:schemeClr val="bg1"/>
                </a:solidFill>
                <a:latin typeface="Arial" panose="020B0604020202020204" pitchFamily="34" charset="0"/>
                <a:ea typeface="+mj-ea"/>
                <a:cs typeface="Arial" panose="020B0604020202020204" pitchFamily="34" charset="0"/>
              </a:rPr>
              <a:t>Weaknesses in RM Elements: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51564960"/>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8"/>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#2: Risk Assessment and Management of Risks: </a:t>
            </a:r>
            <a:endParaRPr lang="en-US" sz="1800" b="1" dirty="0" smtClean="0">
              <a:solidFill>
                <a:schemeClr val="tx1"/>
              </a:solidFill>
              <a:latin typeface="Arial" panose="020B0604020202020204" pitchFamily="34" charset="0"/>
              <a:ea typeface="Arial"/>
              <a:cs typeface="Arial" panose="020B0604020202020204" pitchFamily="34" charset="0"/>
              <a:sym typeface="Arial"/>
            </a:endParaRPr>
          </a:p>
          <a:p>
            <a:pPr marL="0" lvl="0" indent="0" algn="l" rtl="0">
              <a:lnSpc>
                <a:spcPct val="90000"/>
              </a:lnSpc>
              <a:spcBef>
                <a:spcPts val="0"/>
              </a:spcBef>
              <a:spcAft>
                <a:spcPts val="0"/>
              </a:spcAft>
              <a:buClr>
                <a:srgbClr val="000000"/>
              </a:buClr>
              <a:buSzPts val="2000"/>
              <a:buNone/>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All organizations require the upfront / </a:t>
            </a:r>
            <a:r>
              <a:rPr lang="en-US" sz="1800" dirty="0" smtClean="0">
                <a:latin typeface="Arial" panose="020B0604020202020204" pitchFamily="34" charset="0"/>
                <a:ea typeface="Arial"/>
                <a:cs typeface="Arial" panose="020B0604020202020204" pitchFamily="34" charset="0"/>
                <a:sym typeface="Arial"/>
              </a:rPr>
              <a:t>initial and </a:t>
            </a:r>
            <a:r>
              <a:rPr lang="en-US" sz="1800" dirty="0">
                <a:latin typeface="Arial" panose="020B0604020202020204" pitchFamily="34" charset="0"/>
                <a:ea typeface="Arial"/>
                <a:cs typeface="Arial" panose="020B0604020202020204" pitchFamily="34" charset="0"/>
                <a:sym typeface="Arial"/>
              </a:rPr>
              <a:t>on-going, continuing need for risk assessments and management of </a:t>
            </a:r>
            <a:r>
              <a:rPr lang="en-US" sz="1800" dirty="0" smtClean="0">
                <a:latin typeface="Arial" panose="020B0604020202020204" pitchFamily="34" charset="0"/>
                <a:ea typeface="Arial"/>
                <a:cs typeface="Arial" panose="020B0604020202020204" pitchFamily="34" charset="0"/>
                <a:sym typeface="Arial"/>
              </a:rPr>
              <a:t>risks. </a:t>
            </a:r>
            <a:endParaRPr lang="en-US"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Substandard hazard identification program resulted in unaddressed risks </a:t>
            </a:r>
            <a:r>
              <a:rPr lang="en-US" sz="1800" dirty="0" smtClean="0">
                <a:latin typeface="Arial" panose="020B0604020202020204" pitchFamily="34" charset="0"/>
                <a:ea typeface="Arial"/>
                <a:cs typeface="Arial" panose="020B0604020202020204" pitchFamily="34" charset="0"/>
                <a:sym typeface="Arial"/>
              </a:rPr>
              <a:t>during the </a:t>
            </a:r>
            <a:r>
              <a:rPr lang="en-US" sz="1800" dirty="0">
                <a:latin typeface="Arial" panose="020B0604020202020204" pitchFamily="34" charset="0"/>
                <a:ea typeface="Arial"/>
                <a:cs typeface="Arial" panose="020B0604020202020204" pitchFamily="34" charset="0"/>
                <a:sym typeface="Arial"/>
              </a:rPr>
              <a:t>operations phase of the TSF:</a:t>
            </a:r>
          </a:p>
          <a:p>
            <a:pPr marL="720000" lvl="2" indent="-360000" algn="l" rtl="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Inspections on the conditions of the TSF during its operation were not adequately performed nor adequately supervised</a:t>
            </a:r>
          </a:p>
          <a:p>
            <a:pPr marL="720000" lvl="2" indent="-360000" algn="l" rtl="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gn="l" rtl="0">
              <a:lnSpc>
                <a:spcPct val="90000"/>
              </a:lnSpc>
              <a:spcBef>
                <a:spcPts val="0"/>
              </a:spcBef>
              <a:spcAft>
                <a:spcPts val="0"/>
              </a:spcAft>
              <a:buClr>
                <a:srgbClr val="000000"/>
              </a:buClr>
              <a:buSzPts val="2000"/>
              <a:buNone/>
            </a:pPr>
            <a:r>
              <a:rPr lang="en-CA" sz="1800" b="1" dirty="0">
                <a:latin typeface="Arial" panose="020B0604020202020204" pitchFamily="34" charset="0"/>
                <a:ea typeface="Arial"/>
                <a:cs typeface="Arial" panose="020B0604020202020204" pitchFamily="34" charset="0"/>
                <a:sym typeface="Arial"/>
              </a:rPr>
              <a:t>Latent </a:t>
            </a:r>
            <a:r>
              <a:rPr lang="en-CA" sz="1800" b="1" dirty="0" smtClean="0">
                <a:latin typeface="Arial" panose="020B0604020202020204" pitchFamily="34" charset="0"/>
                <a:ea typeface="Arial"/>
                <a:cs typeface="Arial" panose="020B0604020202020204" pitchFamily="34" charset="0"/>
                <a:sym typeface="Arial"/>
              </a:rPr>
              <a:t>Cause: </a:t>
            </a:r>
            <a:endParaRPr lang="en-CA"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LC-S: The risk assessment </a:t>
            </a:r>
            <a:r>
              <a:rPr lang="en-US" sz="1800" dirty="0">
                <a:latin typeface="Arial" panose="020B0604020202020204" pitchFamily="34" charset="0"/>
                <a:ea typeface="Arial"/>
                <a:cs typeface="Arial" panose="020B0604020202020204" pitchFamily="34" charset="0"/>
                <a:sym typeface="Arial"/>
              </a:rPr>
              <a:t>program </a:t>
            </a:r>
            <a:r>
              <a:rPr lang="en-US" sz="1800" dirty="0" smtClean="0">
                <a:latin typeface="Arial" panose="020B0604020202020204" pitchFamily="34" charset="0"/>
                <a:ea typeface="Arial"/>
                <a:cs typeface="Arial" panose="020B0604020202020204" pitchFamily="34" charset="0"/>
                <a:sym typeface="Arial"/>
              </a:rPr>
              <a:t>did not include a standard to identify and assess hazards of the TSF foundation and hydraulic conditions while the TSF was in operation. #2 RAMR</a:t>
            </a:r>
            <a:endParaRPr lang="en-CA"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a:t>
            </a:r>
            <a:r>
              <a:rPr lang="en-US" altLang="en-US" sz="2400" b="0" dirty="0" smtClean="0">
                <a:solidFill>
                  <a:schemeClr val="accent2"/>
                </a:solidFill>
                <a:latin typeface="Arial" panose="020B0604020202020204" pitchFamily="34" charset="0"/>
                <a:ea typeface="+mj-ea"/>
                <a:cs typeface="Arial" panose="020B0604020202020204" pitchFamily="34" charset="0"/>
              </a:rPr>
              <a:t>Latent Cause Relating to RME#2</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89258320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#7: Design, Construction and Start-up:</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During the design phase, risk assessment is vital to help identify, assess, and control the </a:t>
            </a:r>
            <a:r>
              <a:rPr lang="en-US" sz="1800" dirty="0" smtClean="0">
                <a:latin typeface="Arial" panose="020B0604020202020204" pitchFamily="34" charset="0"/>
                <a:ea typeface="Arial"/>
                <a:cs typeface="Arial" panose="020B0604020202020204" pitchFamily="34" charset="0"/>
                <a:sym typeface="Arial"/>
              </a:rPr>
              <a:t>risks. </a:t>
            </a:r>
            <a:endParaRPr lang="en-US" sz="1800" dirty="0">
              <a:highlight>
                <a:srgbClr val="FFFF00"/>
              </a:highlight>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Design team heavily relied on Factor of Safety (</a:t>
            </a:r>
            <a:r>
              <a:rPr lang="en-US" sz="1800" dirty="0" err="1">
                <a:latin typeface="Arial" panose="020B0604020202020204" pitchFamily="34" charset="0"/>
                <a:ea typeface="Arial"/>
                <a:cs typeface="Arial" panose="020B0604020202020204" pitchFamily="34" charset="0"/>
                <a:sym typeface="Arial"/>
              </a:rPr>
              <a:t>FoS</a:t>
            </a:r>
            <a:r>
              <a:rPr lang="en-US" sz="1800" dirty="0">
                <a:latin typeface="Arial" panose="020B0604020202020204" pitchFamily="34" charset="0"/>
                <a:ea typeface="Arial"/>
                <a:cs typeface="Arial" panose="020B0604020202020204" pitchFamily="34" charset="0"/>
                <a:sym typeface="Arial"/>
              </a:rPr>
              <a:t>) calculations, but they were not </a:t>
            </a:r>
            <a:r>
              <a:rPr lang="en-US" sz="1800" dirty="0" smtClean="0">
                <a:latin typeface="Arial" panose="020B0604020202020204" pitchFamily="34" charset="0"/>
                <a:ea typeface="Arial"/>
                <a:cs typeface="Arial" panose="020B0604020202020204" pitchFamily="34" charset="0"/>
                <a:sym typeface="Arial"/>
              </a:rPr>
              <a:t>reliable.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Used calculation guidelines from the Canadian Dam Association that were not intended for tailings </a:t>
            </a:r>
            <a:r>
              <a:rPr lang="en-US" sz="1800" dirty="0" smtClean="0">
                <a:latin typeface="Arial" panose="020B0604020202020204" pitchFamily="34" charset="0"/>
                <a:ea typeface="Arial"/>
                <a:cs typeface="Arial" panose="020B0604020202020204" pitchFamily="34" charset="0"/>
                <a:sym typeface="Arial"/>
              </a:rPr>
              <a:t>dams. </a:t>
            </a: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Same </a:t>
            </a:r>
            <a:r>
              <a:rPr lang="en-US" sz="1800" dirty="0">
                <a:latin typeface="Arial" panose="020B0604020202020204" pitchFamily="34" charset="0"/>
                <a:ea typeface="Arial"/>
                <a:cs typeface="Arial" panose="020B0604020202020204" pitchFamily="34" charset="0"/>
                <a:sym typeface="Arial"/>
              </a:rPr>
              <a:t>errors were made by several </a:t>
            </a:r>
            <a:r>
              <a:rPr lang="en-US" sz="1800" dirty="0" err="1">
                <a:latin typeface="Arial" panose="020B0604020202020204" pitchFamily="34" charset="0"/>
                <a:ea typeface="Arial"/>
                <a:cs typeface="Arial" panose="020B0604020202020204" pitchFamily="34" charset="0"/>
                <a:sym typeface="Arial"/>
              </a:rPr>
              <a:t>EoRs</a:t>
            </a:r>
            <a:r>
              <a:rPr lang="en-US" sz="1800" dirty="0">
                <a:latin typeface="Arial" panose="020B0604020202020204" pitchFamily="34" charset="0"/>
                <a:ea typeface="Arial"/>
                <a:cs typeface="Arial" panose="020B0604020202020204" pitchFamily="34" charset="0"/>
                <a:sym typeface="Arial"/>
              </a:rPr>
              <a:t> in the facility </a:t>
            </a:r>
            <a:r>
              <a:rPr lang="en-US" sz="1800" dirty="0" smtClean="0">
                <a:latin typeface="Arial" panose="020B0604020202020204" pitchFamily="34" charset="0"/>
                <a:ea typeface="Arial"/>
                <a:cs typeface="Arial" panose="020B0604020202020204" pitchFamily="34" charset="0"/>
                <a:sym typeface="Arial"/>
              </a:rPr>
              <a:t>lifetime.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Heavily influenced by data from an inadequate assessment of the sublayers in a foundation study, leading to incorrect calculations </a:t>
            </a:r>
          </a:p>
          <a:p>
            <a:pPr marL="360000" lvl="1" indent="-360000" algn="l" rtl="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The </a:t>
            </a:r>
            <a:r>
              <a:rPr lang="en-US" sz="1800" dirty="0">
                <a:latin typeface="Arial" panose="020B0604020202020204" pitchFamily="34" charset="0"/>
                <a:ea typeface="Arial"/>
                <a:cs typeface="Arial" panose="020B0604020202020204" pitchFamily="34" charset="0"/>
                <a:sym typeface="Arial"/>
              </a:rPr>
              <a:t>Mining Association of Canada’s </a:t>
            </a:r>
            <a:r>
              <a:rPr lang="en-US" sz="1800" dirty="0" smtClean="0">
                <a:latin typeface="Arial" panose="020B0604020202020204" pitchFamily="34" charset="0"/>
                <a:ea typeface="Arial"/>
                <a:cs typeface="Arial" panose="020B0604020202020204" pitchFamily="34" charset="0"/>
                <a:sym typeface="Arial"/>
              </a:rPr>
              <a:t>guidelines were not followed by the Design Team. </a:t>
            </a:r>
            <a:endParaRPr lang="en-US" sz="1800" dirty="0">
              <a:latin typeface="Arial" panose="020B0604020202020204" pitchFamily="34" charset="0"/>
              <a:ea typeface="Arial"/>
              <a:cs typeface="Arial" panose="020B0604020202020204" pitchFamily="34" charset="0"/>
              <a:sym typeface="Arial"/>
            </a:endParaRP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They relied more on their professional judgement</a:t>
            </a:r>
          </a:p>
          <a:p>
            <a:pPr marL="720000" lvl="2" indent="-360000">
              <a:lnSpc>
                <a:spcPct val="90000"/>
              </a:lnSpc>
              <a:spcBef>
                <a:spcPts val="0"/>
              </a:spcBef>
              <a:spcAft>
                <a:spcPts val="0"/>
              </a:spcAft>
              <a:buClr>
                <a:srgbClr val="000000"/>
              </a:buClr>
              <a:buSzPts val="2000"/>
              <a:buFont typeface="Noto Sans Symbols"/>
              <a:buChar char="⮚"/>
            </a:pPr>
            <a:r>
              <a:rPr lang="en-US" sz="1800" dirty="0" smtClean="0">
                <a:latin typeface="Arial" panose="020B0604020202020204" pitchFamily="34" charset="0"/>
                <a:ea typeface="Arial"/>
                <a:cs typeface="Arial" panose="020B0604020202020204" pitchFamily="34" charset="0"/>
                <a:sym typeface="Arial"/>
              </a:rPr>
              <a:t>These guidelines would have likely identified most of the incident’s key technical causes. </a:t>
            </a:r>
          </a:p>
          <a:p>
            <a:pPr marL="0" lvl="2" indent="0">
              <a:lnSpc>
                <a:spcPct val="90000"/>
              </a:lnSpc>
              <a:spcBef>
                <a:spcPts val="0"/>
              </a:spcBef>
              <a:spcAft>
                <a:spcPts val="0"/>
              </a:spcAft>
              <a:buClr>
                <a:srgbClr val="000000"/>
              </a:buClr>
              <a:buSzPts val="2000"/>
              <a:buNone/>
            </a:pPr>
            <a:endParaRPr lang="en-CA" sz="1800" b="1" dirty="0" smtClean="0">
              <a:solidFill>
                <a:srgbClr val="000000"/>
              </a:solidFill>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smtClean="0">
                <a:solidFill>
                  <a:srgbClr val="000000"/>
                </a:solidFill>
                <a:latin typeface="Arial" panose="020B0604020202020204" pitchFamily="34" charset="0"/>
                <a:ea typeface="Arial"/>
                <a:cs typeface="Arial" panose="020B0604020202020204" pitchFamily="34" charset="0"/>
                <a:sym typeface="Arial"/>
              </a:rPr>
              <a:t>Latent Cause: </a:t>
            </a:r>
            <a:endParaRPr lang="en-US" sz="1800"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CA" sz="1800" dirty="0" smtClean="0">
                <a:solidFill>
                  <a:srgbClr val="000000"/>
                </a:solidFill>
                <a:latin typeface="Arial" panose="020B0604020202020204" pitchFamily="34" charset="0"/>
                <a:ea typeface="Arial"/>
                <a:cs typeface="Arial" panose="020B0604020202020204" pitchFamily="34" charset="0"/>
                <a:sym typeface="Arial"/>
              </a:rPr>
              <a:t>LC-S: The </a:t>
            </a:r>
            <a:r>
              <a:rPr lang="en-CA" sz="1800" dirty="0">
                <a:solidFill>
                  <a:srgbClr val="000000"/>
                </a:solidFill>
                <a:latin typeface="Arial" panose="020B0604020202020204" pitchFamily="34" charset="0"/>
                <a:ea typeface="Arial"/>
                <a:cs typeface="Arial" panose="020B0604020202020204" pitchFamily="34" charset="0"/>
                <a:sym typeface="Arial"/>
              </a:rPr>
              <a:t>design program </a:t>
            </a:r>
            <a:r>
              <a:rPr lang="en-CA" sz="1800" dirty="0" smtClean="0">
                <a:solidFill>
                  <a:srgbClr val="000000"/>
                </a:solidFill>
                <a:latin typeface="Arial" panose="020B0604020202020204" pitchFamily="34" charset="0"/>
                <a:ea typeface="Arial"/>
                <a:cs typeface="Arial" panose="020B0604020202020204" pitchFamily="34" charset="0"/>
                <a:sym typeface="Arial"/>
              </a:rPr>
              <a:t>standard for applying the factors of safety during </a:t>
            </a:r>
            <a:r>
              <a:rPr lang="en-CA" sz="1800" dirty="0">
                <a:solidFill>
                  <a:srgbClr val="000000"/>
                </a:solidFill>
                <a:latin typeface="Arial" panose="020B0604020202020204" pitchFamily="34" charset="0"/>
                <a:ea typeface="Arial"/>
                <a:cs typeface="Arial" panose="020B0604020202020204" pitchFamily="34" charset="0"/>
                <a:sym typeface="Arial"/>
              </a:rPr>
              <a:t>the design phase of the TSF project </a:t>
            </a:r>
            <a:r>
              <a:rPr lang="en-CA" sz="1800" dirty="0" smtClean="0">
                <a:solidFill>
                  <a:srgbClr val="000000"/>
                </a:solidFill>
                <a:latin typeface="Arial" panose="020B0604020202020204" pitchFamily="34" charset="0"/>
                <a:ea typeface="Arial"/>
                <a:cs typeface="Arial" panose="020B0604020202020204" pitchFamily="34" charset="0"/>
                <a:sym typeface="Arial"/>
              </a:rPr>
              <a:t>did not reference the necessary calculation guidelines from the Mining Association of Canada. #7 DCSU</a:t>
            </a:r>
            <a:endParaRPr lang="en-US"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Latent Cause Relating to </a:t>
            </a:r>
            <a:r>
              <a:rPr lang="en-US" altLang="en-US" sz="2400" b="0" dirty="0" smtClean="0">
                <a:solidFill>
                  <a:schemeClr val="accent2"/>
                </a:solidFill>
                <a:latin typeface="Arial" panose="020B0604020202020204" pitchFamily="34" charset="0"/>
                <a:ea typeface="+mj-ea"/>
                <a:cs typeface="Arial" panose="020B0604020202020204" pitchFamily="34" charset="0"/>
              </a:rPr>
              <a:t>RME#7</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95539456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tx1"/>
                </a:solidFill>
                <a:latin typeface="Arial" panose="020B0604020202020204" pitchFamily="34" charset="0"/>
                <a:ea typeface="Arial"/>
                <a:cs typeface="Arial" panose="020B0604020202020204" pitchFamily="34" charset="0"/>
                <a:sym typeface="Arial"/>
              </a:rPr>
              <a:t>RME </a:t>
            </a:r>
            <a:r>
              <a:rPr lang="en-US" sz="1800" b="1" dirty="0">
                <a:solidFill>
                  <a:schemeClr val="tx1"/>
                </a:solidFill>
                <a:latin typeface="Arial" panose="020B0604020202020204" pitchFamily="34" charset="0"/>
                <a:ea typeface="Arial"/>
                <a:cs typeface="Arial" panose="020B0604020202020204" pitchFamily="34" charset="0"/>
                <a:sym typeface="Arial"/>
              </a:rPr>
              <a:t>#9: Employee Competency and Training:</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Management must ensure that employees are fully competent in their tasks to have a safe </a:t>
            </a:r>
            <a:r>
              <a:rPr lang="en-US" sz="1800" dirty="0" smtClean="0">
                <a:latin typeface="Arial" panose="020B0604020202020204" pitchFamily="34" charset="0"/>
                <a:ea typeface="Arial"/>
                <a:cs typeface="Arial" panose="020B0604020202020204" pitchFamily="34" charset="0"/>
                <a:sym typeface="Arial"/>
              </a:rPr>
              <a:t>workplace.</a:t>
            </a:r>
            <a:endParaRPr lang="en-US" sz="1800"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endParaRPr lang="en-CA" sz="1800" dirty="0" smtClean="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CA" sz="1800" dirty="0" smtClean="0">
                <a:latin typeface="Arial" panose="020B0604020202020204" pitchFamily="34" charset="0"/>
                <a:ea typeface="Arial"/>
                <a:cs typeface="Arial" panose="020B0604020202020204" pitchFamily="34" charset="0"/>
                <a:sym typeface="Arial"/>
              </a:rPr>
              <a:t>The individual who was hired to lead </a:t>
            </a:r>
            <a:r>
              <a:rPr lang="en-CA" sz="1800" dirty="0">
                <a:latin typeface="Arial" panose="020B0604020202020204" pitchFamily="34" charset="0"/>
                <a:ea typeface="Arial"/>
                <a:cs typeface="Arial" panose="020B0604020202020204" pitchFamily="34" charset="0"/>
                <a:sym typeface="Arial"/>
              </a:rPr>
              <a:t>the water management </a:t>
            </a:r>
            <a:r>
              <a:rPr lang="en-CA" sz="1800" dirty="0" smtClean="0">
                <a:latin typeface="Arial" panose="020B0604020202020204" pitchFamily="34" charset="0"/>
                <a:ea typeface="Arial"/>
                <a:cs typeface="Arial" panose="020B0604020202020204" pitchFamily="34" charset="0"/>
                <a:sym typeface="Arial"/>
              </a:rPr>
              <a:t>plan was not qualified.  Through the actions of this individual, this </a:t>
            </a:r>
            <a:r>
              <a:rPr lang="en-CA" sz="1800" dirty="0">
                <a:latin typeface="Arial" panose="020B0604020202020204" pitchFamily="34" charset="0"/>
                <a:ea typeface="Arial"/>
                <a:cs typeface="Arial" panose="020B0604020202020204" pitchFamily="34" charset="0"/>
                <a:sym typeface="Arial"/>
              </a:rPr>
              <a:t>resulted in excess water levels in the </a:t>
            </a:r>
            <a:r>
              <a:rPr lang="en-CA" sz="1800" dirty="0" smtClean="0">
                <a:latin typeface="Arial" panose="020B0604020202020204" pitchFamily="34" charset="0"/>
                <a:ea typeface="Arial"/>
                <a:cs typeface="Arial" panose="020B0604020202020204" pitchFamily="34" charset="0"/>
                <a:sym typeface="Arial"/>
              </a:rPr>
              <a:t>TSF.</a:t>
            </a:r>
          </a:p>
          <a:p>
            <a:pPr marL="360000" lvl="2" indent="-36000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smtClean="0">
                <a:latin typeface="Arial" panose="020B0604020202020204" pitchFamily="34" charset="0"/>
                <a:ea typeface="Arial"/>
                <a:cs typeface="Arial" panose="020B0604020202020204" pitchFamily="34" charset="0"/>
                <a:sym typeface="Arial"/>
              </a:rPr>
              <a:t>Latent Cause:</a:t>
            </a:r>
          </a:p>
          <a:p>
            <a:pPr marL="36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LC-S: The employee competency program standard for recruiting, selecting, and hiring new employees was inadequate. #9 ECT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a:t>
            </a:r>
            <a:r>
              <a:rPr lang="en-US" altLang="en-US" sz="2400" b="0" dirty="0">
                <a:solidFill>
                  <a:schemeClr val="accent2"/>
                </a:solidFill>
                <a:latin typeface="Arial" panose="020B0604020202020204" pitchFamily="34" charset="0"/>
                <a:ea typeface="+mj-ea"/>
                <a:cs typeface="Arial" panose="020B0604020202020204" pitchFamily="34" charset="0"/>
              </a:rPr>
              <a:t>: Latent Cause Relating to </a:t>
            </a:r>
            <a:r>
              <a:rPr lang="en-US" altLang="en-US" sz="2400" b="0" dirty="0" smtClean="0">
                <a:solidFill>
                  <a:schemeClr val="accent2"/>
                </a:solidFill>
                <a:latin typeface="Arial" panose="020B0604020202020204" pitchFamily="34" charset="0"/>
                <a:ea typeface="+mj-ea"/>
                <a:cs typeface="Arial" panose="020B0604020202020204" pitchFamily="34" charset="0"/>
              </a:rPr>
              <a:t>RME#9</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60623159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ea typeface="Arial"/>
                <a:cs typeface="Arial" panose="020B0604020202020204" pitchFamily="34" charset="0"/>
                <a:sym typeface="Arial"/>
              </a:rPr>
              <a:t>RME </a:t>
            </a:r>
            <a:r>
              <a:rPr lang="en-US" sz="1800" b="1" dirty="0">
                <a:solidFill>
                  <a:srgbClr val="000000"/>
                </a:solidFill>
                <a:latin typeface="Arial" panose="020B0604020202020204" pitchFamily="34" charset="0"/>
                <a:ea typeface="Arial"/>
                <a:cs typeface="Arial" panose="020B0604020202020204" pitchFamily="34" charset="0"/>
                <a:sym typeface="Arial"/>
              </a:rPr>
              <a:t>#1: Management Leadership, Commitment, and Accountability </a:t>
            </a:r>
            <a:endParaRPr sz="1800" b="1" dirty="0">
              <a:solidFill>
                <a:srgbClr val="000000"/>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b="1" dirty="0">
                <a:solidFill>
                  <a:srgbClr val="000000"/>
                </a:solidFill>
                <a:latin typeface="Arial" panose="020B0604020202020204" pitchFamily="34" charset="0"/>
                <a:ea typeface="Arial"/>
                <a:cs typeface="Arial" panose="020B0604020202020204" pitchFamily="34" charset="0"/>
                <a:sym typeface="Arial"/>
              </a:rPr>
              <a:t>Corporate Safety Culture: </a:t>
            </a:r>
            <a:r>
              <a:rPr lang="en-US" sz="1800" u="sng" dirty="0">
                <a:solidFill>
                  <a:srgbClr val="000000"/>
                </a:solidFill>
                <a:latin typeface="Arial" panose="020B0604020202020204" pitchFamily="34" charset="0"/>
                <a:ea typeface="Arial"/>
                <a:cs typeface="Arial" panose="020B0604020202020204" pitchFamily="34" charset="0"/>
                <a:sym typeface="Arial"/>
              </a:rPr>
              <a:t>Leadership</a:t>
            </a:r>
            <a:r>
              <a:rPr lang="en-US" sz="1800" dirty="0">
                <a:solidFill>
                  <a:srgbClr val="000000"/>
                </a:solidFill>
                <a:latin typeface="Arial" panose="020B0604020202020204" pitchFamily="34" charset="0"/>
                <a:ea typeface="Arial"/>
                <a:cs typeface="Arial" panose="020B0604020202020204" pitchFamily="34" charset="0"/>
                <a:sym typeface="Arial"/>
              </a:rPr>
              <a:t> influences and </a:t>
            </a:r>
            <a:r>
              <a:rPr lang="en-US" sz="1800" u="sng" dirty="0">
                <a:solidFill>
                  <a:srgbClr val="000000"/>
                </a:solidFill>
                <a:latin typeface="Arial" panose="020B0604020202020204" pitchFamily="34" charset="0"/>
                <a:ea typeface="Arial"/>
                <a:cs typeface="Arial" panose="020B0604020202020204" pitchFamily="34" charset="0"/>
                <a:sym typeface="Arial"/>
              </a:rPr>
              <a:t>drives culture</a:t>
            </a:r>
            <a:r>
              <a:rPr lang="en-US" sz="1800" dirty="0">
                <a:solidFill>
                  <a:srgbClr val="000000"/>
                </a:solidFill>
                <a:latin typeface="Arial" panose="020B0604020202020204" pitchFamily="34" charset="0"/>
                <a:ea typeface="Arial"/>
                <a:cs typeface="Arial" panose="020B0604020202020204" pitchFamily="34" charset="0"/>
                <a:sym typeface="Arial"/>
              </a:rPr>
              <a:t>; </a:t>
            </a:r>
            <a:r>
              <a:rPr lang="en-US" sz="1800" u="sng" dirty="0">
                <a:solidFill>
                  <a:srgbClr val="000000"/>
                </a:solidFill>
                <a:latin typeface="Arial" panose="020B0604020202020204" pitchFamily="34" charset="0"/>
                <a:ea typeface="Arial"/>
                <a:cs typeface="Arial" panose="020B0604020202020204" pitchFamily="34" charset="0"/>
                <a:sym typeface="Arial"/>
              </a:rPr>
              <a:t>values</a:t>
            </a:r>
            <a:r>
              <a:rPr lang="en-US" sz="1800" dirty="0">
                <a:solidFill>
                  <a:srgbClr val="000000"/>
                </a:solidFill>
                <a:latin typeface="Arial" panose="020B0604020202020204" pitchFamily="34" charset="0"/>
                <a:ea typeface="Arial"/>
                <a:cs typeface="Arial" panose="020B0604020202020204" pitchFamily="34" charset="0"/>
                <a:sym typeface="Arial"/>
              </a:rPr>
              <a:t> and </a:t>
            </a:r>
            <a:r>
              <a:rPr lang="en-US" sz="1800" u="sng" dirty="0">
                <a:solidFill>
                  <a:srgbClr val="000000"/>
                </a:solidFill>
                <a:latin typeface="Arial" panose="020B0604020202020204" pitchFamily="34" charset="0"/>
                <a:ea typeface="Arial"/>
                <a:cs typeface="Arial" panose="020B0604020202020204" pitchFamily="34" charset="0"/>
                <a:sym typeface="Arial"/>
              </a:rPr>
              <a:t>actions</a:t>
            </a:r>
            <a:r>
              <a:rPr lang="en-US" sz="1800" dirty="0">
                <a:solidFill>
                  <a:srgbClr val="000000"/>
                </a:solidFill>
                <a:latin typeface="Arial" panose="020B0604020202020204" pitchFamily="34" charset="0"/>
                <a:ea typeface="Arial"/>
                <a:cs typeface="Arial" panose="020B0604020202020204" pitchFamily="34" charset="0"/>
                <a:sym typeface="Arial"/>
              </a:rPr>
              <a:t> define the </a:t>
            </a:r>
            <a:r>
              <a:rPr lang="en-US" sz="1800" dirty="0" smtClean="0">
                <a:solidFill>
                  <a:srgbClr val="000000"/>
                </a:solidFill>
                <a:latin typeface="Arial" panose="020B0604020202020204" pitchFamily="34" charset="0"/>
                <a:ea typeface="Arial"/>
                <a:cs typeface="Arial" panose="020B0604020202020204" pitchFamily="34" charset="0"/>
                <a:sym typeface="Arial"/>
              </a:rPr>
              <a:t>culture. </a:t>
            </a:r>
            <a:r>
              <a:rPr lang="en-US" sz="1800" dirty="0">
                <a:solidFill>
                  <a:srgbClr val="000000"/>
                </a:solidFill>
                <a:latin typeface="Arial" panose="020B0604020202020204" pitchFamily="34" charset="0"/>
                <a:ea typeface="Arial"/>
                <a:cs typeface="Arial" panose="020B0604020202020204" pitchFamily="34" charset="0"/>
                <a:sym typeface="Arial"/>
              </a:rPr>
              <a:t>Both a good culture and sound risk management program are necessary for sustainable </a:t>
            </a:r>
            <a:r>
              <a:rPr lang="en-US" sz="1800" dirty="0" smtClean="0">
                <a:solidFill>
                  <a:srgbClr val="000000"/>
                </a:solidFill>
                <a:latin typeface="Arial" panose="020B0604020202020204" pitchFamily="34" charset="0"/>
                <a:ea typeface="Arial"/>
                <a:cs typeface="Arial" panose="020B0604020202020204" pitchFamily="34" charset="0"/>
                <a:sym typeface="Arial"/>
              </a:rPr>
              <a:t>performance. </a:t>
            </a:r>
            <a:endParaRPr lang="en-US" sz="1800"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The concerns of </a:t>
            </a:r>
            <a:r>
              <a:rPr lang="en-US" sz="1800" dirty="0">
                <a:solidFill>
                  <a:srgbClr val="000000"/>
                </a:solidFill>
                <a:latin typeface="Arial" panose="020B0604020202020204" pitchFamily="34" charset="0"/>
                <a:cs typeface="Arial" panose="020B0604020202020204" pitchFamily="34" charset="0"/>
                <a:sym typeface="Arial"/>
              </a:rPr>
              <a:t>employees and </a:t>
            </a:r>
            <a:r>
              <a:rPr lang="en-US" sz="1800" dirty="0" smtClean="0">
                <a:solidFill>
                  <a:srgbClr val="000000"/>
                </a:solidFill>
                <a:latin typeface="Arial" panose="020B0604020202020204" pitchFamily="34" charset="0"/>
                <a:cs typeface="Arial" panose="020B0604020202020204" pitchFamily="34" charset="0"/>
                <a:sym typeface="Arial"/>
              </a:rPr>
              <a:t>regulators </a:t>
            </a:r>
            <a:r>
              <a:rPr lang="en-US" sz="1800" dirty="0">
                <a:solidFill>
                  <a:srgbClr val="000000"/>
                </a:solidFill>
                <a:latin typeface="Arial" panose="020B0604020202020204" pitchFamily="34" charset="0"/>
                <a:cs typeface="Arial" panose="020B0604020202020204" pitchFamily="34" charset="0"/>
                <a:sym typeface="Arial"/>
              </a:rPr>
              <a:t>about the </a:t>
            </a:r>
            <a:r>
              <a:rPr lang="en-US" sz="1800" dirty="0" smtClean="0">
                <a:solidFill>
                  <a:srgbClr val="000000"/>
                </a:solidFill>
                <a:latin typeface="Arial" panose="020B0604020202020204" pitchFamily="34" charset="0"/>
                <a:cs typeface="Arial" panose="020B0604020202020204" pitchFamily="34" charset="0"/>
                <a:sym typeface="Arial"/>
              </a:rPr>
              <a:t>TSF </a:t>
            </a:r>
            <a:r>
              <a:rPr lang="en-US" sz="1800" dirty="0">
                <a:solidFill>
                  <a:srgbClr val="000000"/>
                </a:solidFill>
                <a:latin typeface="Arial" panose="020B0604020202020204" pitchFamily="34" charset="0"/>
                <a:cs typeface="Arial" panose="020B0604020202020204" pitchFamily="34" charset="0"/>
                <a:sym typeface="Arial"/>
              </a:rPr>
              <a:t>were ignored by Imperial Metals </a:t>
            </a:r>
            <a:r>
              <a:rPr lang="en-US" sz="1800" dirty="0" smtClean="0">
                <a:solidFill>
                  <a:srgbClr val="000000"/>
                </a:solidFill>
                <a:latin typeface="Arial" panose="020B0604020202020204" pitchFamily="34" charset="0"/>
                <a:cs typeface="Arial" panose="020B0604020202020204" pitchFamily="34" charset="0"/>
                <a:sym typeface="Arial"/>
              </a:rPr>
              <a:t>management. </a:t>
            </a: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rgbClr val="000000"/>
              </a:solidFill>
              <a:latin typeface="Arial" panose="020B0604020202020204" pitchFamily="34" charset="0"/>
              <a:cs typeface="Arial" panose="020B0604020202020204" pitchFamily="34" charset="0"/>
              <a:sym typeface="Arial"/>
            </a:endParaRPr>
          </a:p>
          <a:p>
            <a:pPr marL="0" lvl="1"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cs typeface="Arial" panose="020B0604020202020204" pitchFamily="34" charset="0"/>
                <a:sym typeface="Arial"/>
              </a:rPr>
              <a:t>Latent Cause:</a:t>
            </a:r>
            <a:endParaRPr lang="en-US" sz="1800" b="1"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LC-S: The leadership program did not include a management plan (standard) to assign responsibility and drive accountability for oversight of the safe TSF operation in addressing safety concerns. #1 MLCA</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Latent Cause Relating to RME#1</a:t>
            </a:r>
          </a:p>
        </p:txBody>
      </p:sp>
    </p:spTree>
    <p:extLst>
      <p:ext uri="{BB962C8B-B14F-4D97-AF65-F5344CB8AC3E}">
        <p14:creationId xmlns:p14="http://schemas.microsoft.com/office/powerpoint/2010/main" val="328626738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rgbClr val="000000"/>
                </a:solidFill>
                <a:latin typeface="Arial" panose="020B0604020202020204" pitchFamily="34" charset="0"/>
                <a:ea typeface="Arial"/>
                <a:cs typeface="Arial" panose="020B0604020202020204" pitchFamily="34" charset="0"/>
                <a:sym typeface="Arial"/>
              </a:rPr>
              <a:t>What recommendations could you make for each latent cause?</a:t>
            </a:r>
            <a:endParaRPr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leadership program did not include a management plan (standard) to assign responsibility and drive accountability for oversight of the safe TSF operation in addressing safety concerns. #1 MLCA</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cs typeface="Arial" panose="020B0604020202020204" pitchFamily="34" charset="0"/>
                <a:sym typeface="Arial"/>
              </a:rPr>
              <a:t>LC-S</a:t>
            </a:r>
            <a:r>
              <a:rPr lang="en-US" sz="1800" dirty="0">
                <a:solidFill>
                  <a:srgbClr val="000000"/>
                </a:solidFill>
                <a:latin typeface="Arial" panose="020B0604020202020204" pitchFamily="34" charset="0"/>
                <a:cs typeface="Arial" panose="020B0604020202020204" pitchFamily="34" charset="0"/>
                <a:sym typeface="Arial"/>
              </a:rPr>
              <a:t>: The risk assessment program did not include a standard to identify and assess hazards of the TSF foundation and hydraulic conditions while the TSF was in operation. #2 RAMR</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smtClean="0">
                <a:solidFill>
                  <a:srgbClr val="000000"/>
                </a:solidFill>
                <a:latin typeface="Arial" panose="020B0604020202020204" pitchFamily="34" charset="0"/>
                <a:ea typeface="Arial"/>
                <a:cs typeface="Arial" panose="020B0604020202020204" pitchFamily="34" charset="0"/>
                <a:sym typeface="Arial"/>
              </a:rPr>
              <a:t>LC-S</a:t>
            </a:r>
            <a:r>
              <a:rPr lang="en-US" sz="1800" dirty="0">
                <a:solidFill>
                  <a:srgbClr val="000000"/>
                </a:solidFill>
                <a:latin typeface="Arial" panose="020B0604020202020204" pitchFamily="34" charset="0"/>
                <a:ea typeface="Arial"/>
                <a:cs typeface="Arial" panose="020B0604020202020204" pitchFamily="34" charset="0"/>
                <a:sym typeface="Arial"/>
              </a:rPr>
              <a:t>: The design program standard for applying the factors of safety during the design phase of the TSF project did not reference the necessary calculation guidelines from the Mining Association of Canada. #7 DCSU</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process / standard for recruiting, selecting, and hiring new employees, a part of the employee competency program,  and selection process / standard  in the employee competency program was inadequate. </a:t>
            </a:r>
            <a:br>
              <a:rPr lang="en-US" sz="1800" dirty="0">
                <a:solidFill>
                  <a:srgbClr val="000000"/>
                </a:solidFill>
                <a:latin typeface="Arial" panose="020B0604020202020204" pitchFamily="34" charset="0"/>
                <a:cs typeface="Arial" panose="020B0604020202020204" pitchFamily="34" charset="0"/>
                <a:sym typeface="Arial"/>
              </a:rPr>
            </a:br>
            <a:r>
              <a:rPr lang="en-US" sz="1800" dirty="0">
                <a:solidFill>
                  <a:srgbClr val="000000"/>
                </a:solidFill>
                <a:latin typeface="Arial" panose="020B0604020202020204" pitchFamily="34" charset="0"/>
                <a:cs typeface="Arial" panose="020B0604020202020204" pitchFamily="34" charset="0"/>
                <a:sym typeface="Arial"/>
              </a:rPr>
              <a:t>#9 </a:t>
            </a:r>
            <a:r>
              <a:rPr lang="en-US" sz="1800" dirty="0" smtClean="0">
                <a:solidFill>
                  <a:srgbClr val="000000"/>
                </a:solidFill>
                <a:latin typeface="Arial" panose="020B0604020202020204" pitchFamily="34" charset="0"/>
                <a:cs typeface="Arial" panose="020B0604020202020204" pitchFamily="34" charset="0"/>
                <a:sym typeface="Arial"/>
              </a:rPr>
              <a:t>ECT</a:t>
            </a:r>
          </a:p>
          <a:p>
            <a:pPr marL="360000" lvl="1" indent="-36000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b="1" dirty="0" smtClean="0">
                <a:solidFill>
                  <a:srgbClr val="000000"/>
                </a:solidFill>
                <a:latin typeface="Arial" panose="020B0604020202020204" pitchFamily="34" charset="0"/>
                <a:ea typeface="Arial"/>
                <a:cs typeface="Arial" panose="020B0604020202020204" pitchFamily="34" charset="0"/>
                <a:sym typeface="Arial"/>
              </a:rPr>
              <a:t>We will come back to this – how to make recommendations – later in the term. </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Recommendations Based on Latent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79267630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indent="0">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Incident investigations can result in changes beyond the organization involved in the loss </a:t>
            </a:r>
            <a:r>
              <a:rPr lang="en-US" sz="1800" b="1" dirty="0" smtClean="0">
                <a:solidFill>
                  <a:schemeClr val="tx1"/>
                </a:solidFill>
                <a:latin typeface="Arial" panose="020B0604020202020204" pitchFamily="34" charset="0"/>
                <a:ea typeface="Arial"/>
                <a:cs typeface="Arial" panose="020B0604020202020204" pitchFamily="34" charset="0"/>
                <a:sym typeface="Arial"/>
              </a:rPr>
              <a:t>incident!</a:t>
            </a:r>
            <a:endParaRPr lang="en-US" sz="1800" b="1"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As </a:t>
            </a:r>
            <a:r>
              <a:rPr lang="en-US" sz="1800" dirty="0">
                <a:solidFill>
                  <a:schemeClr val="tx1"/>
                </a:solidFill>
                <a:latin typeface="Arial" panose="020B0604020202020204" pitchFamily="34" charset="0"/>
                <a:ea typeface="Arial"/>
                <a:cs typeface="Arial" panose="020B0604020202020204" pitchFamily="34" charset="0"/>
                <a:sym typeface="Arial"/>
              </a:rPr>
              <a:t>a result of the Mount Polley incident, several changes were made to guidelines and practices for tailings </a:t>
            </a:r>
            <a:r>
              <a:rPr lang="en-US" sz="1800" dirty="0" smtClean="0">
                <a:solidFill>
                  <a:schemeClr val="tx1"/>
                </a:solidFill>
                <a:latin typeface="Arial" panose="020B0604020202020204" pitchFamily="34" charset="0"/>
                <a:ea typeface="Arial"/>
                <a:cs typeface="Arial" panose="020B0604020202020204" pitchFamily="34" charset="0"/>
                <a:sym typeface="Arial"/>
              </a:rPr>
              <a:t>facilities. </a:t>
            </a: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Changes </a:t>
            </a:r>
            <a:r>
              <a:rPr lang="en-US" sz="1800" dirty="0">
                <a:solidFill>
                  <a:schemeClr val="tx1"/>
                </a:solidFill>
                <a:latin typeface="Arial" panose="020B0604020202020204" pitchFamily="34" charset="0"/>
                <a:ea typeface="Arial"/>
                <a:cs typeface="Arial" panose="020B0604020202020204" pitchFamily="34" charset="0"/>
                <a:sym typeface="Arial"/>
              </a:rPr>
              <a:t>to the Mining Association of Canada’s “A Guide to the Management of Tailings Facilities” (2019) and the </a:t>
            </a:r>
            <a:r>
              <a:rPr lang="en-US" sz="1800" dirty="0" smtClean="0">
                <a:solidFill>
                  <a:schemeClr val="tx1"/>
                </a:solidFill>
                <a:latin typeface="Arial" panose="020B0604020202020204" pitchFamily="34" charset="0"/>
                <a:ea typeface="Arial"/>
                <a:cs typeface="Arial" panose="020B0604020202020204" pitchFamily="34" charset="0"/>
                <a:sym typeface="Arial"/>
              </a:rPr>
              <a:t>B.C. </a:t>
            </a:r>
            <a:r>
              <a:rPr lang="en-US" sz="1800" dirty="0">
                <a:solidFill>
                  <a:schemeClr val="tx1"/>
                </a:solidFill>
                <a:latin typeface="Arial" panose="020B0604020202020204" pitchFamily="34" charset="0"/>
                <a:ea typeface="Arial"/>
                <a:cs typeface="Arial" panose="020B0604020202020204" pitchFamily="34" charset="0"/>
                <a:sym typeface="Arial"/>
              </a:rPr>
              <a:t>Government’s “Health, Safety and Reclamation Code for Mines in British Columbia” (2017) include: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Requiring an independent review of site selection, design, construction, operation, investigation, and closure for tailings </a:t>
            </a:r>
            <a:r>
              <a:rPr lang="en-US" sz="1800" dirty="0" smtClean="0">
                <a:latin typeface="Arial" panose="020B0604020202020204" pitchFamily="34" charset="0"/>
                <a:ea typeface="Arial"/>
                <a:cs typeface="Arial" panose="020B0604020202020204" pitchFamily="34" charset="0"/>
                <a:sym typeface="Arial"/>
              </a:rPr>
              <a:t>facilities.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Improved risk assessment methodology, including a risk-based ranking system for </a:t>
            </a:r>
            <a:r>
              <a:rPr lang="en-US" sz="1800" dirty="0" smtClean="0">
                <a:latin typeface="Arial" panose="020B0604020202020204" pitchFamily="34" charset="0"/>
                <a:ea typeface="Arial"/>
                <a:cs typeface="Arial" panose="020B0604020202020204" pitchFamily="34" charset="0"/>
                <a:sym typeface="Arial"/>
              </a:rPr>
              <a:t>non-conformances.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Additional regulations for managing the change of Engineers of Record and ownership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More technical guidance for site selection and design </a:t>
            </a:r>
            <a:endParaRPr lang="en-US" sz="1800" dirty="0" smtClean="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0" lvl="1" indent="0">
              <a:spcBef>
                <a:spcPts val="0"/>
              </a:spcBef>
              <a:spcAft>
                <a:spcPts val="0"/>
              </a:spcAft>
              <a:buClr>
                <a:srgbClr val="000000"/>
              </a:buClr>
              <a:buSzPts val="2000"/>
              <a:buNone/>
            </a:pPr>
            <a:r>
              <a:rPr lang="en-US" sz="1800" b="1" i="1" dirty="0" smtClean="0">
                <a:latin typeface="Arial" panose="020B0604020202020204" pitchFamily="34" charset="0"/>
                <a:ea typeface="Arial"/>
                <a:cs typeface="Arial" panose="020B0604020202020204" pitchFamily="34" charset="0"/>
                <a:sym typeface="Arial"/>
              </a:rPr>
              <a:t>But </a:t>
            </a:r>
            <a:r>
              <a:rPr lang="en-US" sz="1800" b="1" i="1" dirty="0">
                <a:latin typeface="Arial" panose="020B0604020202020204" pitchFamily="34" charset="0"/>
                <a:ea typeface="Arial"/>
                <a:cs typeface="Arial" panose="020B0604020202020204" pitchFamily="34" charset="0"/>
                <a:sym typeface="Arial"/>
              </a:rPr>
              <a:t>for the purposes of your Team project, limit latent causes (and recommendations to what is within the scope of The ABC Conglomerate).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Impact on the Mining Industry</a:t>
            </a:r>
          </a:p>
        </p:txBody>
      </p:sp>
    </p:spTree>
    <p:extLst>
      <p:ext uri="{BB962C8B-B14F-4D97-AF65-F5344CB8AC3E}">
        <p14:creationId xmlns:p14="http://schemas.microsoft.com/office/powerpoint/2010/main" val="336141770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indent="0">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Incident investigations can result in changes beyond the organization involved in the loss </a:t>
            </a:r>
            <a:r>
              <a:rPr lang="en-US" sz="1800" b="1" dirty="0" smtClean="0">
                <a:solidFill>
                  <a:schemeClr val="tx1"/>
                </a:solidFill>
                <a:latin typeface="Arial" panose="020B0604020202020204" pitchFamily="34" charset="0"/>
                <a:ea typeface="Arial"/>
                <a:cs typeface="Arial" panose="020B0604020202020204" pitchFamily="34" charset="0"/>
                <a:sym typeface="Arial"/>
              </a:rPr>
              <a:t>incident!</a:t>
            </a:r>
            <a:endParaRPr lang="en-US" sz="1800" b="1"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As </a:t>
            </a:r>
            <a:r>
              <a:rPr lang="en-US" sz="1800" dirty="0">
                <a:solidFill>
                  <a:schemeClr val="tx1"/>
                </a:solidFill>
                <a:latin typeface="Arial" panose="020B0604020202020204" pitchFamily="34" charset="0"/>
                <a:ea typeface="Arial"/>
                <a:cs typeface="Arial" panose="020B0604020202020204" pitchFamily="34" charset="0"/>
                <a:sym typeface="Arial"/>
              </a:rPr>
              <a:t>a result of the Mount Polley incident, several changes were made to guidelines and practices for tailings </a:t>
            </a:r>
            <a:r>
              <a:rPr lang="en-US" sz="1800" dirty="0" smtClean="0">
                <a:solidFill>
                  <a:schemeClr val="tx1"/>
                </a:solidFill>
                <a:latin typeface="Arial" panose="020B0604020202020204" pitchFamily="34" charset="0"/>
                <a:ea typeface="Arial"/>
                <a:cs typeface="Arial" panose="020B0604020202020204" pitchFamily="34" charset="0"/>
                <a:sym typeface="Arial"/>
              </a:rPr>
              <a:t>facilities. </a:t>
            </a: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endParaRPr lang="en-US" sz="1800" dirty="0" smtClean="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smtClean="0">
                <a:solidFill>
                  <a:schemeClr val="tx1"/>
                </a:solidFill>
                <a:latin typeface="Arial" panose="020B0604020202020204" pitchFamily="34" charset="0"/>
                <a:ea typeface="Arial"/>
                <a:cs typeface="Arial" panose="020B0604020202020204" pitchFamily="34" charset="0"/>
                <a:sym typeface="Arial"/>
              </a:rPr>
              <a:t>Changes </a:t>
            </a:r>
            <a:r>
              <a:rPr lang="en-US" sz="1800" dirty="0">
                <a:solidFill>
                  <a:schemeClr val="tx1"/>
                </a:solidFill>
                <a:latin typeface="Arial" panose="020B0604020202020204" pitchFamily="34" charset="0"/>
                <a:ea typeface="Arial"/>
                <a:cs typeface="Arial" panose="020B0604020202020204" pitchFamily="34" charset="0"/>
                <a:sym typeface="Arial"/>
              </a:rPr>
              <a:t>to the Mining Association of Canada’s “A Guide to the Management of Tailings Facilities” (2019) and the </a:t>
            </a:r>
            <a:r>
              <a:rPr lang="en-US" sz="1800" dirty="0" smtClean="0">
                <a:solidFill>
                  <a:schemeClr val="tx1"/>
                </a:solidFill>
                <a:latin typeface="Arial" panose="020B0604020202020204" pitchFamily="34" charset="0"/>
                <a:ea typeface="Arial"/>
                <a:cs typeface="Arial" panose="020B0604020202020204" pitchFamily="34" charset="0"/>
                <a:sym typeface="Arial"/>
              </a:rPr>
              <a:t>B.C. </a:t>
            </a:r>
            <a:r>
              <a:rPr lang="en-US" sz="1800" dirty="0">
                <a:solidFill>
                  <a:schemeClr val="tx1"/>
                </a:solidFill>
                <a:latin typeface="Arial" panose="020B0604020202020204" pitchFamily="34" charset="0"/>
                <a:ea typeface="Arial"/>
                <a:cs typeface="Arial" panose="020B0604020202020204" pitchFamily="34" charset="0"/>
                <a:sym typeface="Arial"/>
              </a:rPr>
              <a:t>Government’s “Health, Safety and Reclamation Code for Mines in British Columbia” (2017) include: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Requiring an independent review of site selection, design, construction, operation, investigation, and closure for tailings </a:t>
            </a:r>
            <a:r>
              <a:rPr lang="en-US" sz="1800" dirty="0" smtClean="0">
                <a:latin typeface="Arial" panose="020B0604020202020204" pitchFamily="34" charset="0"/>
                <a:ea typeface="Arial"/>
                <a:cs typeface="Arial" panose="020B0604020202020204" pitchFamily="34" charset="0"/>
                <a:sym typeface="Arial"/>
              </a:rPr>
              <a:t>facilities.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Improved risk assessment methodology, including a risk-based ranking system for </a:t>
            </a:r>
            <a:r>
              <a:rPr lang="en-US" sz="1800" dirty="0" smtClean="0">
                <a:latin typeface="Arial" panose="020B0604020202020204" pitchFamily="34" charset="0"/>
                <a:ea typeface="Arial"/>
                <a:cs typeface="Arial" panose="020B0604020202020204" pitchFamily="34" charset="0"/>
                <a:sym typeface="Arial"/>
              </a:rPr>
              <a:t>non-conformances.</a:t>
            </a:r>
            <a:endParaRPr lang="en-US" sz="1800" dirty="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Additional regulations for managing the change of Engineers of Record and ownership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More technical guidance for site selection and design </a:t>
            </a:r>
            <a:endParaRPr lang="en-US" sz="1800" dirty="0" smtClean="0">
              <a:latin typeface="Arial" panose="020B0604020202020204" pitchFamily="34" charset="0"/>
              <a:ea typeface="Arial"/>
              <a:cs typeface="Arial" panose="020B0604020202020204" pitchFamily="34" charset="0"/>
              <a:sym typeface="Arial"/>
            </a:endParaRPr>
          </a:p>
          <a:p>
            <a:pPr marL="720000" lvl="1" indent="-360000">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0" lvl="1" indent="0">
              <a:spcBef>
                <a:spcPts val="0"/>
              </a:spcBef>
              <a:spcAft>
                <a:spcPts val="0"/>
              </a:spcAft>
              <a:buClr>
                <a:srgbClr val="000000"/>
              </a:buClr>
              <a:buSzPts val="2000"/>
              <a:buNone/>
            </a:pPr>
            <a:r>
              <a:rPr lang="en-US" sz="1800" b="1" i="1" dirty="0" smtClean="0">
                <a:latin typeface="Arial" panose="020B0604020202020204" pitchFamily="34" charset="0"/>
                <a:ea typeface="Arial"/>
                <a:cs typeface="Arial" panose="020B0604020202020204" pitchFamily="34" charset="0"/>
                <a:sym typeface="Arial"/>
              </a:rPr>
              <a:t>But </a:t>
            </a:r>
            <a:r>
              <a:rPr lang="en-US" sz="1800" b="1" i="1" dirty="0">
                <a:latin typeface="Arial" panose="020B0604020202020204" pitchFamily="34" charset="0"/>
                <a:ea typeface="Arial"/>
                <a:cs typeface="Arial" panose="020B0604020202020204" pitchFamily="34" charset="0"/>
                <a:sym typeface="Arial"/>
              </a:rPr>
              <a:t>for the purposes of your Team project, limit latent causes (and recommendations to what is within the scope of The ABC Conglomerate).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smtClean="0">
                <a:solidFill>
                  <a:schemeClr val="accent2"/>
                </a:solidFill>
                <a:latin typeface="Arial" panose="020B0604020202020204" pitchFamily="34" charset="0"/>
                <a:ea typeface="+mj-ea"/>
                <a:cs typeface="Arial" panose="020B0604020202020204" pitchFamily="34" charset="0"/>
              </a:rPr>
              <a:t>Polley</a:t>
            </a:r>
            <a:r>
              <a:rPr lang="en-US" altLang="en-US" sz="2400" b="0" dirty="0" smtClean="0">
                <a:solidFill>
                  <a:schemeClr val="accent2"/>
                </a:solidFill>
                <a:latin typeface="Arial" panose="020B0604020202020204" pitchFamily="34" charset="0"/>
                <a:ea typeface="+mj-ea"/>
                <a:cs typeface="Arial" panose="020B0604020202020204" pitchFamily="34" charset="0"/>
              </a:rPr>
              <a:t> LI: </a:t>
            </a:r>
            <a:r>
              <a:rPr lang="en-US" altLang="en-US" sz="2400" b="0" dirty="0">
                <a:solidFill>
                  <a:schemeClr val="accent2"/>
                </a:solidFill>
                <a:latin typeface="Arial" panose="020B0604020202020204" pitchFamily="34" charset="0"/>
                <a:ea typeface="+mj-ea"/>
                <a:cs typeface="Arial" panose="020B0604020202020204" pitchFamily="34" charset="0"/>
              </a:rPr>
              <a:t>Impact on the Mining Industry</a:t>
            </a:r>
          </a:p>
        </p:txBody>
      </p:sp>
    </p:spTree>
    <p:extLst>
      <p:ext uri="{BB962C8B-B14F-4D97-AF65-F5344CB8AC3E}">
        <p14:creationId xmlns:p14="http://schemas.microsoft.com/office/powerpoint/2010/main" val="55102819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2" name="Picture 1" descr="&lt;strong&gt;Looking Into The Future&lt;/strong&gt; Stock Photo - Download Image Now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0" y="216000"/>
            <a:ext cx="2587752" cy="1726010"/>
          </a:xfrm>
          <a:prstGeom prst="rect">
            <a:avLst/>
          </a:prstGeom>
        </p:spPr>
      </p:pic>
      <p:sp>
        <p:nvSpPr>
          <p:cNvPr id="329" name="Google Shape;329;p19"/>
          <p:cNvSpPr txBox="1">
            <a:spLocks noGrp="1"/>
          </p:cNvSpPr>
          <p:nvPr>
            <p:ph type="body" idx="4294967295"/>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p>
            <a:pPr marL="0" indent="0">
              <a:lnSpc>
                <a:spcPct val="90000"/>
              </a:lnSpc>
              <a:spcBef>
                <a:spcPts val="0"/>
              </a:spcBef>
              <a:spcAft>
                <a:spcPts val="0"/>
              </a:spcAft>
              <a:buClr>
                <a:srgbClr val="000000"/>
              </a:buClr>
              <a:buSzPts val="2000"/>
              <a:buNone/>
            </a:pPr>
            <a:r>
              <a:rPr lang="en-US" sz="1600" b="1" dirty="0" smtClean="0">
                <a:solidFill>
                  <a:schemeClr val="tx1"/>
                </a:solidFill>
                <a:latin typeface="Arial" panose="020B0604020202020204" pitchFamily="34" charset="0"/>
                <a:ea typeface="Arial"/>
                <a:cs typeface="Arial" panose="020B0604020202020204" pitchFamily="34" charset="0"/>
                <a:sym typeface="Arial"/>
              </a:rPr>
              <a:t>Q: Will you ever be in this situation?</a:t>
            </a:r>
          </a:p>
          <a:p>
            <a:pPr marL="0" lvl="0" indent="0">
              <a:lnSpc>
                <a:spcPct val="90000"/>
              </a:lnSpc>
              <a:spcBef>
                <a:spcPts val="0"/>
              </a:spcBef>
              <a:spcAft>
                <a:spcPts val="0"/>
              </a:spcAft>
              <a:buClr>
                <a:srgbClr val="000000"/>
              </a:buClr>
              <a:buSzPts val="2000"/>
              <a:buNone/>
            </a:pPr>
            <a:endParaRPr lang="en-US" sz="1600" dirty="0" smtClean="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“Seven </a:t>
            </a:r>
            <a:r>
              <a:rPr lang="en-US" sz="1600" i="1" dirty="0">
                <a:solidFill>
                  <a:schemeClr val="tx1"/>
                </a:solidFill>
                <a:latin typeface="Arial" panose="020B0604020202020204" pitchFamily="34" charset="0"/>
                <a:ea typeface="Arial"/>
                <a:cs typeface="Arial" panose="020B0604020202020204" pitchFamily="34" charset="0"/>
                <a:sym typeface="Arial"/>
              </a:rPr>
              <a:t>years after Canada's largest tailings spill, the </a:t>
            </a:r>
            <a:r>
              <a:rPr lang="en-US" sz="1600" b="1" i="1" dirty="0">
                <a:solidFill>
                  <a:schemeClr val="tx1"/>
                </a:solidFill>
                <a:latin typeface="Arial" panose="020B0604020202020204" pitchFamily="34" charset="0"/>
                <a:ea typeface="Arial"/>
                <a:cs typeface="Arial" panose="020B0604020202020204" pitchFamily="34" charset="0"/>
                <a:sym typeface="Arial"/>
              </a:rPr>
              <a:t>two </a:t>
            </a:r>
            <a:r>
              <a:rPr lang="en-US" sz="1600" b="1" i="1" dirty="0" smtClean="0">
                <a:solidFill>
                  <a:schemeClr val="tx1"/>
                </a:solidFill>
                <a:latin typeface="Arial" panose="020B0604020202020204" pitchFamily="34" charset="0"/>
                <a:ea typeface="Arial"/>
                <a:cs typeface="Arial" panose="020B0604020202020204" pitchFamily="34" charset="0"/>
                <a:sym typeface="Arial"/>
              </a:rPr>
              <a:t>engineers </a:t>
            </a:r>
            <a:r>
              <a:rPr lang="en-US" sz="1600" b="1" i="1" dirty="0">
                <a:solidFill>
                  <a:schemeClr val="tx1"/>
                </a:solidFill>
                <a:latin typeface="Arial" panose="020B0604020202020204" pitchFamily="34" charset="0"/>
                <a:ea typeface="Arial"/>
                <a:cs typeface="Arial" panose="020B0604020202020204" pitchFamily="34" charset="0"/>
                <a:sym typeface="Arial"/>
              </a:rPr>
              <a:t>who </a:t>
            </a:r>
            <a:r>
              <a:rPr lang="en-US" sz="1600" b="1" i="1" dirty="0" smtClean="0">
                <a:solidFill>
                  <a:schemeClr val="tx1"/>
                </a:solidFill>
                <a:latin typeface="Arial" panose="020B0604020202020204" pitchFamily="34" charset="0"/>
                <a:ea typeface="Arial"/>
                <a:cs typeface="Arial" panose="020B0604020202020204" pitchFamily="34" charset="0"/>
                <a:sym typeface="Arial"/>
              </a:rPr>
              <a:t/>
            </a:r>
            <a:br>
              <a:rPr lang="en-US" sz="1600" b="1" i="1" dirty="0" smtClean="0">
                <a:solidFill>
                  <a:schemeClr val="tx1"/>
                </a:solidFill>
                <a:latin typeface="Arial" panose="020B0604020202020204" pitchFamily="34" charset="0"/>
                <a:ea typeface="Arial"/>
                <a:cs typeface="Arial" panose="020B0604020202020204" pitchFamily="34" charset="0"/>
                <a:sym typeface="Arial"/>
              </a:rPr>
            </a:br>
            <a:r>
              <a:rPr lang="en-US" sz="1600" b="1" i="1" dirty="0" smtClean="0">
                <a:solidFill>
                  <a:schemeClr val="tx1"/>
                </a:solidFill>
                <a:latin typeface="Arial" panose="020B0604020202020204" pitchFamily="34" charset="0"/>
                <a:ea typeface="Arial"/>
                <a:cs typeface="Arial" panose="020B0604020202020204" pitchFamily="34" charset="0"/>
                <a:sym typeface="Arial"/>
              </a:rPr>
              <a:t>were </a:t>
            </a:r>
            <a:r>
              <a:rPr lang="en-US" sz="1600" b="1" i="1" dirty="0">
                <a:solidFill>
                  <a:schemeClr val="tx1"/>
                </a:solidFill>
                <a:latin typeface="Arial" panose="020B0604020202020204" pitchFamily="34" charset="0"/>
                <a:ea typeface="Arial"/>
                <a:cs typeface="Arial" panose="020B0604020202020204" pitchFamily="34" charset="0"/>
                <a:sym typeface="Arial"/>
              </a:rPr>
              <a:t>involved have been found in breach </a:t>
            </a:r>
            <a:r>
              <a:rPr lang="en-US" sz="1600" b="1" i="1" dirty="0" smtClean="0">
                <a:solidFill>
                  <a:schemeClr val="tx1"/>
                </a:solidFill>
                <a:latin typeface="Arial" panose="020B0604020202020204" pitchFamily="34" charset="0"/>
                <a:ea typeface="Arial"/>
                <a:cs typeface="Arial" panose="020B0604020202020204" pitchFamily="34" charset="0"/>
                <a:sym typeface="Arial"/>
              </a:rPr>
              <a:t>of their </a:t>
            </a:r>
            <a:r>
              <a:rPr lang="en-US" sz="1600" b="1" i="1" dirty="0">
                <a:solidFill>
                  <a:schemeClr val="tx1"/>
                </a:solidFill>
                <a:latin typeface="Arial" panose="020B0604020202020204" pitchFamily="34" charset="0"/>
                <a:ea typeface="Arial"/>
                <a:cs typeface="Arial" panose="020B0604020202020204" pitchFamily="34" charset="0"/>
                <a:sym typeface="Arial"/>
              </a:rPr>
              <a:t>professional codes </a:t>
            </a:r>
            <a:r>
              <a:rPr lang="en-US" sz="1600" b="1" i="1" dirty="0" smtClean="0">
                <a:solidFill>
                  <a:schemeClr val="tx1"/>
                </a:solidFill>
                <a:latin typeface="Arial" panose="020B0604020202020204" pitchFamily="34" charset="0"/>
                <a:ea typeface="Arial"/>
                <a:cs typeface="Arial" panose="020B0604020202020204" pitchFamily="34" charset="0"/>
                <a:sym typeface="Arial"/>
              </a:rPr>
              <a:t/>
            </a:r>
            <a:br>
              <a:rPr lang="en-US" sz="1600" b="1" i="1" dirty="0" smtClean="0">
                <a:solidFill>
                  <a:schemeClr val="tx1"/>
                </a:solidFill>
                <a:latin typeface="Arial" panose="020B0604020202020204" pitchFamily="34" charset="0"/>
                <a:ea typeface="Arial"/>
                <a:cs typeface="Arial" panose="020B0604020202020204" pitchFamily="34" charset="0"/>
                <a:sym typeface="Arial"/>
              </a:rPr>
            </a:br>
            <a:r>
              <a:rPr lang="en-US" sz="1600" b="1" i="1" dirty="0" smtClean="0">
                <a:solidFill>
                  <a:schemeClr val="tx1"/>
                </a:solidFill>
                <a:latin typeface="Arial" panose="020B0604020202020204" pitchFamily="34" charset="0"/>
                <a:ea typeface="Arial"/>
                <a:cs typeface="Arial" panose="020B0604020202020204" pitchFamily="34" charset="0"/>
                <a:sym typeface="Arial"/>
              </a:rPr>
              <a:t>of conduct</a:t>
            </a:r>
            <a:r>
              <a:rPr lang="en-US" sz="1600" i="1" dirty="0" smtClean="0">
                <a:solidFill>
                  <a:schemeClr val="tx1"/>
                </a:solidFill>
                <a:latin typeface="Arial" panose="020B0604020202020204" pitchFamily="34" charset="0"/>
                <a:ea typeface="Arial"/>
                <a:cs typeface="Arial" panose="020B0604020202020204" pitchFamily="34" charset="0"/>
                <a:sym typeface="Arial"/>
              </a:rPr>
              <a:t>,  Engineers and Geoscientists of British Columbia (EGBC)</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The </a:t>
            </a:r>
            <a:r>
              <a:rPr lang="en-US" sz="1600" i="1" dirty="0">
                <a:solidFill>
                  <a:schemeClr val="tx1"/>
                </a:solidFill>
                <a:latin typeface="Arial" panose="020B0604020202020204" pitchFamily="34" charset="0"/>
                <a:ea typeface="Arial"/>
                <a:cs typeface="Arial" panose="020B0604020202020204" pitchFamily="34" charset="0"/>
                <a:sym typeface="Arial"/>
              </a:rPr>
              <a:t>panel found that both Rice and Fidel </a:t>
            </a:r>
            <a:r>
              <a:rPr lang="en-US" sz="1600" b="1" i="1" dirty="0">
                <a:solidFill>
                  <a:schemeClr val="tx1"/>
                </a:solidFill>
                <a:latin typeface="Arial" panose="020B0604020202020204" pitchFamily="34" charset="0"/>
                <a:ea typeface="Arial"/>
                <a:cs typeface="Arial" panose="020B0604020202020204" pitchFamily="34" charset="0"/>
                <a:sym typeface="Arial"/>
              </a:rPr>
              <a:t>demonstrated unprofessional conduct </a:t>
            </a:r>
            <a:r>
              <a:rPr lang="en-US" sz="1600" i="1" dirty="0">
                <a:solidFill>
                  <a:schemeClr val="tx1"/>
                </a:solidFill>
                <a:latin typeface="Arial" panose="020B0604020202020204" pitchFamily="34" charset="0"/>
                <a:ea typeface="Arial"/>
                <a:cs typeface="Arial" panose="020B0604020202020204" pitchFamily="34" charset="0"/>
                <a:sym typeface="Arial"/>
              </a:rPr>
              <a:t>in the course of their work at the mine. </a:t>
            </a:r>
            <a:r>
              <a:rPr lang="en-US" sz="1600" i="1" dirty="0" smtClean="0">
                <a:solidFill>
                  <a:schemeClr val="tx1"/>
                </a:solidFill>
                <a:latin typeface="Arial" panose="020B0604020202020204" pitchFamily="34" charset="0"/>
                <a:ea typeface="Arial"/>
                <a:cs typeface="Arial" panose="020B0604020202020204" pitchFamily="34" charset="0"/>
                <a:sym typeface="Arial"/>
              </a:rPr>
              <a:t> …</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smtClean="0">
                <a:solidFill>
                  <a:schemeClr val="tx1"/>
                </a:solidFill>
                <a:latin typeface="Arial" panose="020B0604020202020204" pitchFamily="34" charset="0"/>
                <a:ea typeface="Arial"/>
                <a:cs typeface="Arial" panose="020B0604020202020204" pitchFamily="34" charset="0"/>
                <a:sym typeface="Arial"/>
              </a:rPr>
              <a:t>EGBC reported </a:t>
            </a:r>
            <a:r>
              <a:rPr lang="en-US" sz="1600" i="1" dirty="0">
                <a:solidFill>
                  <a:schemeClr val="tx1"/>
                </a:solidFill>
                <a:latin typeface="Arial" panose="020B0604020202020204" pitchFamily="34" charset="0"/>
                <a:ea typeface="Arial"/>
                <a:cs typeface="Arial" panose="020B0604020202020204" pitchFamily="34" charset="0"/>
                <a:sym typeface="Arial"/>
              </a:rPr>
              <a:t>that a discipline hearing panel had imposed a </a:t>
            </a:r>
            <a:r>
              <a:rPr lang="en-US" sz="1600" b="1" i="1" dirty="0">
                <a:solidFill>
                  <a:schemeClr val="tx1"/>
                </a:solidFill>
                <a:latin typeface="Arial" panose="020B0604020202020204" pitchFamily="34" charset="0"/>
                <a:ea typeface="Arial"/>
                <a:cs typeface="Arial" panose="020B0604020202020204" pitchFamily="34" charset="0"/>
                <a:sym typeface="Arial"/>
              </a:rPr>
              <a:t>maximum fine of $25,000 against Rice</a:t>
            </a:r>
            <a:r>
              <a:rPr lang="en-US" sz="1600" i="1" dirty="0">
                <a:solidFill>
                  <a:schemeClr val="tx1"/>
                </a:solidFill>
                <a:latin typeface="Arial" panose="020B0604020202020204" pitchFamily="34" charset="0"/>
                <a:ea typeface="Arial"/>
                <a:cs typeface="Arial" panose="020B0604020202020204" pitchFamily="34" charset="0"/>
                <a:sym typeface="Arial"/>
              </a:rPr>
              <a:t>, who resigned in </a:t>
            </a:r>
            <a:r>
              <a:rPr lang="en-US" sz="1600" i="1" dirty="0" smtClean="0">
                <a:solidFill>
                  <a:schemeClr val="tx1"/>
                </a:solidFill>
                <a:latin typeface="Arial" panose="020B0604020202020204" pitchFamily="34" charset="0"/>
                <a:ea typeface="Arial"/>
                <a:cs typeface="Arial" panose="020B0604020202020204" pitchFamily="34" charset="0"/>
                <a:sym typeface="Arial"/>
              </a:rPr>
              <a:t>2018. Rice </a:t>
            </a:r>
            <a:r>
              <a:rPr lang="en-US" sz="1600" i="1" dirty="0">
                <a:solidFill>
                  <a:schemeClr val="tx1"/>
                </a:solidFill>
                <a:latin typeface="Arial" panose="020B0604020202020204" pitchFamily="34" charset="0"/>
                <a:ea typeface="Arial"/>
                <a:cs typeface="Arial" panose="020B0604020202020204" pitchFamily="34" charset="0"/>
                <a:sym typeface="Arial"/>
              </a:rPr>
              <a:t>also agreed to pay </a:t>
            </a:r>
            <a:r>
              <a:rPr lang="en-US" sz="1600" b="1" i="1" dirty="0">
                <a:solidFill>
                  <a:schemeClr val="tx1"/>
                </a:solidFill>
                <a:latin typeface="Arial" panose="020B0604020202020204" pitchFamily="34" charset="0"/>
                <a:ea typeface="Arial"/>
                <a:cs typeface="Arial" panose="020B0604020202020204" pitchFamily="34" charset="0"/>
                <a:sym typeface="Arial"/>
              </a:rPr>
              <a:t>$107,500 dollars in legal costs </a:t>
            </a:r>
            <a:r>
              <a:rPr lang="en-US" sz="1600" i="1" dirty="0">
                <a:solidFill>
                  <a:schemeClr val="tx1"/>
                </a:solidFill>
                <a:latin typeface="Arial" panose="020B0604020202020204" pitchFamily="34" charset="0"/>
                <a:ea typeface="Arial"/>
                <a:cs typeface="Arial" panose="020B0604020202020204" pitchFamily="34" charset="0"/>
                <a:sym typeface="Arial"/>
              </a:rPr>
              <a:t>to the association and is no longer permitted to practice as a professional engineer in the province</a:t>
            </a:r>
            <a:r>
              <a:rPr lang="en-US" sz="1600" i="1" dirty="0" smtClean="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A separate discipline hearing panel found that Fidel also committed several acts of unprofessional conduct</a:t>
            </a:r>
            <a:r>
              <a:rPr lang="en-US" sz="1600" i="1" dirty="0" smtClean="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r>
              <a:rPr lang="en-US" sz="1100" dirty="0">
                <a:solidFill>
                  <a:schemeClr val="tx1"/>
                </a:solidFill>
                <a:latin typeface="Arial" panose="020B0604020202020204" pitchFamily="34" charset="0"/>
                <a:ea typeface="Arial"/>
                <a:cs typeface="Arial" panose="020B0604020202020204" pitchFamily="34" charset="0"/>
                <a:sym typeface="Arial"/>
              </a:rPr>
              <a:t>https://www.cbc.ca/news/canada/british-columbia/discipline-engineers-mount-polley-mine-waste-quesnel-lake-1.6137265</a:t>
            </a:r>
            <a:endParaRPr lang="en-US" sz="1100" dirty="0" smtClean="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600" b="1" dirty="0" smtClean="0">
                <a:solidFill>
                  <a:schemeClr val="tx1"/>
                </a:solidFill>
                <a:latin typeface="Arial" panose="020B0604020202020204" pitchFamily="34" charset="0"/>
                <a:ea typeface="Arial"/>
                <a:cs typeface="Arial" panose="020B0604020202020204" pitchFamily="34" charset="0"/>
                <a:sym typeface="Arial"/>
              </a:rPr>
              <a:t>A: Not </a:t>
            </a:r>
            <a:r>
              <a:rPr lang="en-US" sz="1600" b="1" dirty="0">
                <a:solidFill>
                  <a:schemeClr val="tx1"/>
                </a:solidFill>
                <a:latin typeface="Arial" panose="020B0604020202020204" pitchFamily="34" charset="0"/>
                <a:ea typeface="Arial"/>
                <a:cs typeface="Arial" panose="020B0604020202020204" pitchFamily="34" charset="0"/>
                <a:sym typeface="Arial"/>
              </a:rPr>
              <a:t>when practicing the principles and practices of “Leadership in Risk Management”, a key competency</a:t>
            </a:r>
            <a:r>
              <a:rPr lang="en-US" sz="1600" b="1" dirty="0" smtClean="0">
                <a:solidFill>
                  <a:schemeClr val="tx1"/>
                </a:solidFill>
                <a:latin typeface="Arial" panose="020B0604020202020204" pitchFamily="34" charset="0"/>
                <a:ea typeface="Arial"/>
                <a:cs typeface="Arial" panose="020B0604020202020204" pitchFamily="34" charset="0"/>
                <a:sym typeface="Arial"/>
              </a:rPr>
              <a:t>!</a:t>
            </a: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800" b="1" i="1" dirty="0">
                <a:solidFill>
                  <a:srgbClr val="0000FF"/>
                </a:solidFill>
                <a:latin typeface="Arial" panose="020B0604020202020204" pitchFamily="34" charset="0"/>
                <a:ea typeface="Arial"/>
                <a:cs typeface="Arial" panose="020B0604020202020204" pitchFamily="34" charset="0"/>
                <a:sym typeface="Arial"/>
              </a:rPr>
              <a:t>We will revisit ethics and professional conduct </a:t>
            </a:r>
            <a:r>
              <a:rPr lang="en-US" sz="1800" b="1" i="1" dirty="0" smtClean="0">
                <a:solidFill>
                  <a:srgbClr val="0000FF"/>
                </a:solidFill>
                <a:latin typeface="Arial" panose="020B0604020202020204" pitchFamily="34" charset="0"/>
                <a:ea typeface="Arial"/>
                <a:cs typeface="Arial" panose="020B0604020202020204" pitchFamily="34" charset="0"/>
                <a:sym typeface="Arial"/>
              </a:rPr>
              <a:t>later </a:t>
            </a:r>
            <a:r>
              <a:rPr lang="en-US" sz="1800" b="1" i="1" dirty="0">
                <a:solidFill>
                  <a:srgbClr val="0000FF"/>
                </a:solidFill>
                <a:latin typeface="Arial" panose="020B0604020202020204" pitchFamily="34" charset="0"/>
                <a:ea typeface="Arial"/>
                <a:cs typeface="Arial" panose="020B0604020202020204" pitchFamily="34" charset="0"/>
                <a:sym typeface="Arial"/>
              </a:rPr>
              <a:t>in the </a:t>
            </a:r>
            <a:r>
              <a:rPr lang="en-US" sz="1800" b="1" i="1" dirty="0" smtClean="0">
                <a:solidFill>
                  <a:srgbClr val="0000FF"/>
                </a:solidFill>
                <a:latin typeface="Arial" panose="020B0604020202020204" pitchFamily="34" charset="0"/>
                <a:ea typeface="Arial"/>
                <a:cs typeface="Arial" panose="020B0604020202020204" pitchFamily="34" charset="0"/>
                <a:sym typeface="Arial"/>
              </a:rPr>
              <a:t>term.</a:t>
            </a:r>
            <a:endParaRPr lang="en-US" sz="1800" b="1" i="1" dirty="0">
              <a:solidFill>
                <a:srgbClr val="0000FF"/>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endParaRPr lang="en-US" sz="1600" dirty="0">
              <a:solidFill>
                <a:schemeClr val="tx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Look </a:t>
            </a:r>
            <a:r>
              <a:rPr lang="en-US" altLang="en-US" sz="2400" b="0" dirty="0">
                <a:solidFill>
                  <a:schemeClr val="accent2"/>
                </a:solidFill>
                <a:latin typeface="Arial" panose="020B0604020202020204" pitchFamily="34" charset="0"/>
                <a:ea typeface="+mj-ea"/>
                <a:cs typeface="Arial" panose="020B0604020202020204" pitchFamily="34" charset="0"/>
              </a:rPr>
              <a:t>into the future about your career …</a:t>
            </a:r>
          </a:p>
        </p:txBody>
      </p:sp>
    </p:spTree>
    <p:extLst>
      <p:ext uri="{BB962C8B-B14F-4D97-AF65-F5344CB8AC3E}">
        <p14:creationId xmlns:p14="http://schemas.microsoft.com/office/powerpoint/2010/main" val="97625218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It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is vital to combat complacency in all aspects of risk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management.</a:t>
            </a: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quickly does management address identified deficiencies? Are responsibilities embraced or deflected to others?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#1 MLCA Management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Leadership, Commitment, and Accountability</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are hazards identified and assessed throughout the facility lifecycle? Is this system embedded throughout the organization?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#2 RAMR Risk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Assessment and Management of Risks </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accepted standards of practice used for risk assessment during design and other stages? Can the certainty and confidence in obtained results be reasonably justified?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#7 DCSU Design</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Construction and Start-up</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employees fully trained and qualified for their roles? Does management have an effective training program in place?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#9 ECT Employee </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Competency and </a:t>
            </a: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Training</a:t>
            </a:r>
          </a:p>
          <a:p>
            <a:pPr marL="72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Lastly, the key lesson is applying the RM principles, practices, and concepts to </a:t>
            </a:r>
            <a:r>
              <a:rPr lang="en-US" altLang="en-US" sz="1800" dirty="0" err="1">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a case study / loss incident!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13 Mount </a:t>
            </a:r>
            <a:r>
              <a:rPr lang="en-US" sz="1200" i="1" kern="0" dirty="0" err="1" smtClean="0">
                <a:solidFill>
                  <a:srgbClr val="000000"/>
                </a:solidFill>
                <a:ea typeface="Times New Roman"/>
                <a:cs typeface="Arial" panose="020B0604020202020204" pitchFamily="34" charset="0"/>
                <a:sym typeface="Times New Roman"/>
              </a:rPr>
              <a:t>Polley</a:t>
            </a:r>
            <a:r>
              <a:rPr lang="en-US" sz="1200" i="1" kern="0" dirty="0" smtClean="0">
                <a:solidFill>
                  <a:srgbClr val="000000"/>
                </a:solidFill>
                <a:ea typeface="Times New Roman"/>
                <a:cs typeface="Arial" panose="020B0604020202020204" pitchFamily="34" charset="0"/>
                <a:sym typeface="Times New Roman"/>
              </a:rPr>
              <a:t> LI</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718030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70346</TotalTime>
  <Words>4390</Words>
  <Application>Microsoft Office PowerPoint</Application>
  <PresentationFormat>On-screen Show (4:3)</PresentationFormat>
  <Paragraphs>587</Paragraphs>
  <Slides>41</Slides>
  <Notes>41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41</vt:i4>
      </vt:variant>
    </vt:vector>
  </HeadingPairs>
  <TitlesOfParts>
    <vt:vector size="49" baseType="lpstr">
      <vt:lpstr>ＭＳ Ｐゴシック</vt: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Christopher Coles</cp:lastModifiedBy>
  <cp:revision>1970</cp:revision>
  <cp:lastPrinted>2018-12-17T22:21:47Z</cp:lastPrinted>
  <dcterms:created xsi:type="dcterms:W3CDTF">2007-03-28T16:18:47Z</dcterms:created>
  <dcterms:modified xsi:type="dcterms:W3CDTF">2022-02-15T20:54:11Z</dcterms:modified>
</cp:coreProperties>
</file>