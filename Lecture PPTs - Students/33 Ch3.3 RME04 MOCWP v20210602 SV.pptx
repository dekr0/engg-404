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895" r:id="rId2"/>
    <p:sldId id="880" r:id="rId3"/>
    <p:sldId id="921" r:id="rId4"/>
    <p:sldId id="922" r:id="rId5"/>
    <p:sldId id="926" r:id="rId6"/>
    <p:sldId id="918" r:id="rId7"/>
    <p:sldId id="935" r:id="rId8"/>
    <p:sldId id="928" r:id="rId9"/>
    <p:sldId id="927" r:id="rId10"/>
    <p:sldId id="936" r:id="rId11"/>
    <p:sldId id="937" r:id="rId12"/>
    <p:sldId id="934" r:id="rId13"/>
    <p:sldId id="938" r:id="rId14"/>
    <p:sldId id="941" r:id="rId15"/>
    <p:sldId id="942" r:id="rId16"/>
    <p:sldId id="943" r:id="rId17"/>
    <p:sldId id="944" r:id="rId18"/>
    <p:sldId id="945" r:id="rId19"/>
    <p:sldId id="946" r:id="rId20"/>
    <p:sldId id="947" r:id="rId21"/>
    <p:sldId id="949" r:id="rId22"/>
    <p:sldId id="960" r:id="rId23"/>
    <p:sldId id="951" r:id="rId24"/>
    <p:sldId id="952" r:id="rId25"/>
    <p:sldId id="953" r:id="rId26"/>
    <p:sldId id="954" r:id="rId27"/>
    <p:sldId id="959" r:id="rId28"/>
    <p:sldId id="957" r:id="rId29"/>
    <p:sldId id="958" r:id="rId3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1"/>
            <p14:sldId id="922"/>
            <p14:sldId id="926"/>
            <p14:sldId id="918"/>
            <p14:sldId id="935"/>
            <p14:sldId id="928"/>
            <p14:sldId id="927"/>
            <p14:sldId id="936"/>
            <p14:sldId id="937"/>
            <p14:sldId id="934"/>
            <p14:sldId id="938"/>
            <p14:sldId id="941"/>
            <p14:sldId id="942"/>
            <p14:sldId id="943"/>
            <p14:sldId id="944"/>
            <p14:sldId id="945"/>
            <p14:sldId id="946"/>
            <p14:sldId id="947"/>
            <p14:sldId id="949"/>
            <p14:sldId id="960"/>
            <p14:sldId id="951"/>
            <p14:sldId id="952"/>
            <p14:sldId id="953"/>
            <p14:sldId id="954"/>
            <p14:sldId id="959"/>
            <p14:sldId id="957"/>
            <p14:sldId id="9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A3E8"/>
    <a:srgbClr val="0000FF"/>
    <a:srgbClr val="0000CC"/>
    <a:srgbClr val="000000"/>
    <a:srgbClr val="F8F8F8"/>
    <a:srgbClr val="F5D7F1"/>
    <a:srgbClr val="5F5F5F"/>
    <a:srgbClr val="DDDDDD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9164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6/2/2021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080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469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761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15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980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881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46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4206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123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139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814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427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874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132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076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87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776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132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21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7873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30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45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2403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771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8793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25721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5154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25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6/2/2021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3.3: RME #04 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purpose of a basic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work process, the manner in which it is used, and the benefits for managing change.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need to manage change by gaining an appreciation about the potential changes in risk as a change in the activity, the technology of the operation, or organization (structure and people) is made.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significance of the “Management of Change” element in a Risk Management System.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basic MOC work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is Normal Part of Business: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appropriate management system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oversight to ensure that the change does not introduce new risks, or change control measures for existing risks.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at Change in Terms of a Change in Risk Level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change introduce a new or different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risk, or affect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effectiveness of existing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(administrative controls and/or engineering controls)?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Applies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Almost any kind of change!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Introductory Points About “Change”.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8356" t="6399" r="18358" b="6399"/>
          <a:stretch/>
        </p:blipFill>
        <p:spPr>
          <a:xfrm>
            <a:off x="6742451" y="4066763"/>
            <a:ext cx="2067901" cy="20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88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is MOC linked to the Risk Management System?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6" name="Google Shape;201;p9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 smtClean="0">
                <a:solidFill>
                  <a:srgbClr val="000000"/>
                </a:solidFill>
                <a:sym typeface="Arial"/>
              </a:rPr>
              <a:t>Management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Leadership, Commitment and Accountability.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Risk Assessment and Management of Risks.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Community Awareness and Emergency Preparedness.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</a:pPr>
            <a:r>
              <a:rPr lang="en-US" sz="2000" b="1" i="0" u="none" strike="noStrike" cap="none" dirty="0">
                <a:solidFill>
                  <a:srgbClr val="000000"/>
                </a:solidFill>
                <a:sym typeface="Arial"/>
              </a:rPr>
              <a:t>Management of Change.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Incident Reporting, Investigation, Analysis and Actions.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Program Evaluation and Continuous Improvement. 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Design, Construction and Start-up.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Maintenance.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Employee Competency and Training.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Contractor Competency and Integration.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Facilities Information and Documentation.</a:t>
            </a:r>
            <a:endParaRPr sz="20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203;p9"/>
          <p:cNvSpPr txBox="1"/>
          <p:nvPr/>
        </p:nvSpPr>
        <p:spPr>
          <a:xfrm>
            <a:off x="457198" y="4297680"/>
            <a:ext cx="8229601" cy="185832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You can expect that everywhere you go in your career the </a:t>
            </a:r>
            <a:r>
              <a:rPr lang="en-US" i="1" u="none" strike="noStrike" cap="none" dirty="0" smtClean="0">
                <a:solidFill>
                  <a:srgbClr val="FFFFFF"/>
                </a:solidFill>
                <a:sym typeface="Arial"/>
              </a:rPr>
              <a:t>organization </a:t>
            </a: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will have a MOC program. MOC is almost universal</a:t>
            </a:r>
            <a:r>
              <a:rPr lang="en-US" i="1" dirty="0">
                <a:solidFill>
                  <a:srgbClr val="FFFFFF"/>
                </a:solidFill>
              </a:rPr>
              <a:t>. </a:t>
            </a:r>
            <a:endParaRPr lang="en-US" i="1" dirty="0" smtClean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endParaRPr lang="en-US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dirty="0" smtClean="0">
                <a:solidFill>
                  <a:srgbClr val="FFFFFF"/>
                </a:solidFill>
              </a:rPr>
              <a:t>And </a:t>
            </a:r>
            <a:r>
              <a:rPr lang="en-US" i="1" dirty="0">
                <a:solidFill>
                  <a:srgbClr val="FFFFFF"/>
                </a:solidFill>
              </a:rPr>
              <a:t>if it doesn’t, what are you going to do?</a:t>
            </a:r>
            <a:endParaRPr lang="en-US" i="1" u="none" strike="noStrike" cap="none" dirty="0" smtClean="0">
              <a:solidFill>
                <a:srgbClr val="FFFFFF"/>
              </a:solidFill>
              <a:sym typeface="Arial"/>
            </a:endParaRPr>
          </a:p>
          <a:p>
            <a:pPr marL="285750" lvl="0" indent="-285750">
              <a:spcBef>
                <a:spcPts val="0"/>
              </a:spcBef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n-US" b="1" i="1" dirty="0" smtClean="0">
                <a:solidFill>
                  <a:srgbClr val="FFFFFF"/>
                </a:solidFill>
              </a:rPr>
              <a:t>Implement </a:t>
            </a:r>
            <a:r>
              <a:rPr lang="en-US" b="1" i="1" dirty="0">
                <a:solidFill>
                  <a:srgbClr val="FFFFFF"/>
                </a:solidFill>
              </a:rPr>
              <a:t>a “Management of Change” Program in areas </a:t>
            </a:r>
            <a:br>
              <a:rPr lang="en-US" b="1" i="1" dirty="0">
                <a:solidFill>
                  <a:srgbClr val="FFFFFF"/>
                </a:solidFill>
              </a:rPr>
            </a:br>
            <a:r>
              <a:rPr lang="en-US" b="1" i="1" dirty="0">
                <a:solidFill>
                  <a:srgbClr val="FFFFFF"/>
                </a:solidFill>
              </a:rPr>
              <a:t>under your responsibility.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198" y="1754909"/>
            <a:ext cx="3745347" cy="3694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73304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Basic Examples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should not apply as shown:</a:t>
            </a: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I bought a new piece of equipment to replace an old one.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1a) NEW is same as OLD, same operating procedures: 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1b) NEW is different from OLD, different operating procedures: YES</a:t>
            </a:r>
            <a:b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My design lead engineer retired &amp; I appointed a replacement.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Our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organization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bought by a larger enterprise and we need to follow their administrative controls (policies, protocols, etc.).  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The ore host rock has changed and we need to adjust the extraction processes.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4a) Within expected changes &amp; extraction process design limits: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4b) Outside expected changes &amp; extraction process design limits: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1654596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 involved in managing the change, each becomes involved as the proposed change progresses through the work process.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RACI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Responsible, Accountable, Consulted,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Owner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(Person driving the change):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Stakeholders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Informed, Consulted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Subject-matter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Responsible, Consulted, Informed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Managers.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affected by or subject to the change.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who will implement the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Approver: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Accountable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ensuring that the MOC work process has been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followed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Who is Responsible for Management of Change?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41639615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Type of Risk Assessment &amp; Level of Change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t="15924"/>
          <a:stretch/>
        </p:blipFill>
        <p:spPr bwMode="auto">
          <a:xfrm>
            <a:off x="609600" y="1524000"/>
            <a:ext cx="7543800" cy="464820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7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Matching the type of risk assessment to the level/complexity of the change is a critical part of the management of change process.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35547711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 Owner must drive these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actions in MOC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 organization may have different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each action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4 critical actions are integrated within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WP!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 Critical Actions for MOC: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7" name="Google Shape;335;p20"/>
          <p:cNvSpPr/>
          <p:nvPr/>
        </p:nvSpPr>
        <p:spPr>
          <a:xfrm>
            <a:off x="644991" y="1752600"/>
            <a:ext cx="7901709" cy="457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37;p20"/>
          <p:cNvSpPr txBox="1"/>
          <p:nvPr/>
        </p:nvSpPr>
        <p:spPr>
          <a:xfrm>
            <a:off x="116724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r>
              <a:rPr lang="en-US" sz="1400" dirty="0" smtClean="0">
                <a:solidFill>
                  <a:schemeClr val="tx2"/>
                </a:solidFill>
                <a:sym typeface="Arial"/>
              </a:rPr>
              <a:t>(1)</a:t>
            </a:r>
            <a:br>
              <a:rPr lang="en-US" sz="1400" dirty="0" smtClean="0">
                <a:solidFill>
                  <a:schemeClr val="tx2"/>
                </a:solidFill>
                <a:sym typeface="Arial"/>
              </a:rPr>
            </a:br>
            <a:r>
              <a:rPr lang="en-US" sz="1400" dirty="0" smtClean="0">
                <a:solidFill>
                  <a:schemeClr val="tx2"/>
                </a:solidFill>
                <a:sym typeface="Arial"/>
              </a:rPr>
              <a:t>Communicate </a:t>
            </a:r>
            <a:r>
              <a:rPr lang="en-US" sz="1400" dirty="0">
                <a:solidFill>
                  <a:schemeClr val="tx2"/>
                </a:solidFill>
                <a:sym typeface="Arial"/>
              </a:rPr>
              <a:t>the Proposed Change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5" name="Google Shape;339;p20"/>
          <p:cNvSpPr txBox="1"/>
          <p:nvPr/>
        </p:nvSpPr>
        <p:spPr>
          <a:xfrm>
            <a:off x="284288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>
                <a:sym typeface="Arial"/>
              </a:rPr>
              <a:t>(2) </a:t>
            </a:r>
            <a:br>
              <a:rPr lang="en-US" dirty="0" smtClean="0">
                <a:sym typeface="Arial"/>
              </a:rPr>
            </a:br>
            <a:r>
              <a:rPr lang="en-US" dirty="0" smtClean="0">
                <a:sym typeface="Arial"/>
              </a:rPr>
              <a:t>Conduct </a:t>
            </a:r>
            <a:r>
              <a:rPr lang="en-US" dirty="0">
                <a:sym typeface="Arial"/>
              </a:rPr>
              <a:t>Appropriate </a:t>
            </a:r>
            <a:r>
              <a:rPr lang="en-US" dirty="0" smtClean="0">
                <a:sym typeface="Arial"/>
              </a:rPr>
              <a:t>Reviews &amp; </a:t>
            </a:r>
            <a:r>
              <a:rPr lang="en-US" dirty="0">
                <a:sym typeface="Arial"/>
              </a:rPr>
              <a:t>Risk Assessments</a:t>
            </a:r>
            <a:endParaRPr dirty="0"/>
          </a:p>
        </p:txBody>
      </p:sp>
      <p:sp>
        <p:nvSpPr>
          <p:cNvPr id="17" name="Google Shape;341;p20"/>
          <p:cNvSpPr txBox="1"/>
          <p:nvPr/>
        </p:nvSpPr>
        <p:spPr>
          <a:xfrm>
            <a:off x="4518526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 smtClean="0">
                <a:sym typeface="Arial"/>
              </a:rPr>
              <a:t>(3) </a:t>
            </a:r>
            <a:br>
              <a:rPr lang="en-US" dirty="0" smtClean="0">
                <a:sym typeface="Arial"/>
              </a:rPr>
            </a:br>
            <a:r>
              <a:rPr lang="en-US" dirty="0" smtClean="0">
                <a:sym typeface="Arial"/>
              </a:rPr>
              <a:t>Seek </a:t>
            </a:r>
            <a:r>
              <a:rPr lang="en-US" dirty="0">
                <a:sym typeface="Arial"/>
              </a:rPr>
              <a:t>Final Approval</a:t>
            </a:r>
            <a:endParaRPr dirty="0"/>
          </a:p>
        </p:txBody>
      </p:sp>
      <p:sp>
        <p:nvSpPr>
          <p:cNvPr id="19" name="Google Shape;343;p20"/>
          <p:cNvSpPr txBox="1"/>
          <p:nvPr/>
        </p:nvSpPr>
        <p:spPr>
          <a:xfrm>
            <a:off x="6194165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 smtClean="0">
                <a:sym typeface="Arial"/>
              </a:rPr>
              <a:t>(4) Communicate </a:t>
            </a:r>
            <a:r>
              <a:rPr lang="en-US" dirty="0">
                <a:sym typeface="Arial"/>
              </a:rPr>
              <a:t>&amp; Implement the Change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7593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causes of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incidents include the failure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Conduct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appropriate reviews and risk assessments;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Seek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gain final approval;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 as agreed upon and approved by all stakeholders.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APEGA RM System Element # 4 Management of Change</a:t>
            </a:r>
            <a:endParaRPr lang="en-US" altLang="en-US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Management of Change is Critical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6" name="Google Shape;444;p25"/>
          <p:cNvSpPr/>
          <p:nvPr/>
        </p:nvSpPr>
        <p:spPr>
          <a:xfrm>
            <a:off x="457200" y="3962400"/>
            <a:ext cx="8229600" cy="17526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Can 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weaknesses in the MOC Work </a:t>
            </a: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Process / Program </a:t>
            </a:r>
            <a:b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be 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latent causes</a:t>
            </a: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sp>
        <p:nvSpPr>
          <p:cNvPr id="7" name="Google Shape;446;p25"/>
          <p:cNvSpPr txBox="1"/>
          <p:nvPr/>
        </p:nvSpPr>
        <p:spPr>
          <a:xfrm>
            <a:off x="838200" y="4832854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YES?</a:t>
            </a:r>
            <a:endParaRPr dirty="0"/>
          </a:p>
        </p:txBody>
      </p:sp>
      <p:sp>
        <p:nvSpPr>
          <p:cNvPr id="10" name="Google Shape;447;p25"/>
          <p:cNvSpPr txBox="1"/>
          <p:nvPr/>
        </p:nvSpPr>
        <p:spPr>
          <a:xfrm>
            <a:off x="2778529" y="4832853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NO?</a:t>
            </a:r>
            <a:endParaRPr dirty="0"/>
          </a:p>
        </p:txBody>
      </p:sp>
      <p:sp>
        <p:nvSpPr>
          <p:cNvPr id="11" name="Google Shape;448;p25"/>
          <p:cNvSpPr txBox="1"/>
          <p:nvPr/>
        </p:nvSpPr>
        <p:spPr>
          <a:xfrm>
            <a:off x="4800600" y="4832853"/>
            <a:ext cx="3179618" cy="58477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SURE?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7628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Proposal to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a Storage Tank from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Gasoline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Proposed change: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 of the 3 jet fuel storage tanks to gasoline storage. </a:t>
            </a: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Yes, the MOC work process does apply. A change is being proposed, to this triggers the action to initiate the MOC work process. </a:t>
            </a:r>
          </a:p>
          <a:p>
            <a:pPr marL="360000" lvl="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parameters pertaining to your field of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expertise: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complexity of the overall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change: </a:t>
            </a:r>
            <a:r>
              <a:rPr lang="en-US" sz="1600" b="0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r>
              <a:rPr kumimoji="0" lang="en-US" sz="16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ajor</a:t>
            </a:r>
            <a:r>
              <a:rPr kumimoji="0" lang="en-US" sz="1600" b="0" i="0" u="sng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(s</a:t>
            </a:r>
            <a:r>
              <a:rPr kumimoji="0" lang="en-US" sz="1600" b="0" i="0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ignificant) </a:t>
            </a:r>
            <a:r>
              <a:rPr kumimoji="0" lang="en-US" sz="1600" b="0" i="0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</a:t>
            </a:r>
            <a:endParaRPr kumimoji="0" lang="en-US" sz="1600" b="0" i="0" u="sng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 elements come into play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#1 MLCA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#2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Assessment and Management of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Risk;</a:t>
            </a:r>
            <a:b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Emergency Preparedness;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MOC;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 Design, Construction &amp;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Startup; 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#8 Operations &amp;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#9 Employee Competency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Training;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consult with the following SMEs (Subject-Matter Experts):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Eng. 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/ Fire Protection Specialist / Operations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Personnel / Trainers / Emergency Response Team,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8600" y="1752600"/>
          <a:ext cx="8557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600">
                  <a:extLst>
                    <a:ext uri="{9D8B030D-6E8A-4147-A177-3AD203B41FA5}">
                      <a16:colId xmlns:a16="http://schemas.microsoft.com/office/drawing/2014/main" val="2085095760"/>
                    </a:ext>
                  </a:extLst>
                </a:gridCol>
                <a:gridCol w="4278600">
                  <a:extLst>
                    <a:ext uri="{9D8B030D-6E8A-4147-A177-3AD203B41FA5}">
                      <a16:colId xmlns:a16="http://schemas.microsoft.com/office/drawing/2014/main" val="2989462314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Hazardous material (Jet Fuel for Gas)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Piping to prevent cross-contamination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and piping labelling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Procedures and re-training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rocess controls (reprogram)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wall strength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Compatibility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materials of construction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Foundation strength</a:t>
                      </a:r>
                      <a:r>
                        <a:rPr lang="en-US" sz="1200" b="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/ underground facilities</a:t>
                      </a:r>
                      <a:endParaRPr lang="en-US" sz="1200" b="0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Secondary containment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Leak detection systems, alarms, fire protection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Instrumentation (recalibrations)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Electrical classification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Pressure / vacuum relief systems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Emissions (air pollution) control systems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94513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55" y="3277435"/>
            <a:ext cx="956998" cy="7177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114800"/>
            <a:ext cx="2446710" cy="133112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9261343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is NOT Stand-alone – a proposal triggers this </a:t>
            </a:r>
            <a:r>
              <a:rPr kumimoji="0" lang="en-US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system element within the RM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assesses risks relevant to its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scope, and determines the necessary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changes.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decision is made,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management /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decision, on 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risk-informed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basis as to proceed or not.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risks can be managed to an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level, then costs are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estimated for all design changes; a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decision is made on an economic basis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to proceed or not.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MOC and How it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Integrated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Into the RM System: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3" name="Pentagon 2"/>
          <p:cNvSpPr/>
          <p:nvPr/>
        </p:nvSpPr>
        <p:spPr>
          <a:xfrm>
            <a:off x="180000" y="1210456"/>
            <a:ext cx="1548000" cy="1316952"/>
          </a:xfrm>
          <a:prstGeom prst="homePlate">
            <a:avLst>
              <a:gd name="adj" fmla="val 24976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Proposed: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Proposal to change an existing process is made.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1752600" y="1210456"/>
            <a:ext cx="1548000" cy="1316952"/>
          </a:xfrm>
          <a:prstGeom prst="homePlate">
            <a:avLst>
              <a:gd name="adj" fmla="val 36021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4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MOC: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MOC WP identifies the necessary risk assessments.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Pentagon 10"/>
          <p:cNvSpPr/>
          <p:nvPr/>
        </p:nvSpPr>
        <p:spPr>
          <a:xfrm>
            <a:off x="3328800" y="1210456"/>
            <a:ext cx="1548000" cy="1316952"/>
          </a:xfrm>
          <a:prstGeom prst="homePlate">
            <a:avLst>
              <a:gd name="adj" fmla="val 30813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 RA&amp;MR: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These risk assessments  identify the necessary safeguards.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Pentagon 13"/>
          <p:cNvSpPr/>
          <p:nvPr/>
        </p:nvSpPr>
        <p:spPr>
          <a:xfrm>
            <a:off x="5292000" y="1210456"/>
            <a:ext cx="1800000" cy="1142400"/>
          </a:xfrm>
          <a:prstGeom prst="homePlate">
            <a:avLst>
              <a:gd name="adj" fmla="val 17919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 DC&amp;SU: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Design Review Process specifies design changes and costs estimates.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19800" y="2657656"/>
            <a:ext cx="1548000" cy="1681924"/>
          </a:xfrm>
          <a:prstGeom prst="rect">
            <a:avLst/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#1 MLCA: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Accept all of these changes (and costs for changes) and proceed, or reject.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Pentagon 15"/>
          <p:cNvSpPr/>
          <p:nvPr/>
        </p:nvSpPr>
        <p:spPr>
          <a:xfrm>
            <a:off x="5292000" y="2527408"/>
            <a:ext cx="1800000" cy="938048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#8 O&amp;M: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procedures are identified.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Pentagon 16"/>
          <p:cNvSpPr/>
          <p:nvPr/>
        </p:nvSpPr>
        <p:spPr>
          <a:xfrm>
            <a:off x="5292000" y="4908310"/>
            <a:ext cx="1800000" cy="118769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#3 CA&amp;EP: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emergency preparedness are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identifed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" name="Elbow Connector 4"/>
          <p:cNvCxnSpPr>
            <a:stCxn id="11" idx="3"/>
            <a:endCxn id="17" idx="1"/>
          </p:cNvCxnSpPr>
          <p:nvPr/>
        </p:nvCxnSpPr>
        <p:spPr>
          <a:xfrm>
            <a:off x="4876800" y="1868932"/>
            <a:ext cx="415200" cy="36332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1" idx="3"/>
            <a:endCxn id="16" idx="1"/>
          </p:cNvCxnSpPr>
          <p:nvPr/>
        </p:nvCxnSpPr>
        <p:spPr>
          <a:xfrm>
            <a:off x="4876800" y="1868932"/>
            <a:ext cx="415200" cy="1127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4" idx="1"/>
          </p:cNvCxnSpPr>
          <p:nvPr/>
        </p:nvCxnSpPr>
        <p:spPr>
          <a:xfrm flipV="1">
            <a:off x="4876800" y="1781656"/>
            <a:ext cx="415200" cy="8727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4" idx="3"/>
            <a:endCxn id="15" idx="1"/>
          </p:cNvCxnSpPr>
          <p:nvPr/>
        </p:nvCxnSpPr>
        <p:spPr>
          <a:xfrm>
            <a:off x="7092000" y="1781656"/>
            <a:ext cx="427800" cy="171696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6" idx="3"/>
            <a:endCxn id="15" idx="1"/>
          </p:cNvCxnSpPr>
          <p:nvPr/>
        </p:nvCxnSpPr>
        <p:spPr>
          <a:xfrm>
            <a:off x="7092000" y="2996432"/>
            <a:ext cx="427800" cy="5021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7" idx="3"/>
            <a:endCxn id="15" idx="1"/>
          </p:cNvCxnSpPr>
          <p:nvPr/>
        </p:nvCxnSpPr>
        <p:spPr>
          <a:xfrm flipV="1">
            <a:off x="7092000" y="3498618"/>
            <a:ext cx="427800" cy="20035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entagon 19"/>
          <p:cNvSpPr/>
          <p:nvPr/>
        </p:nvSpPr>
        <p:spPr>
          <a:xfrm>
            <a:off x="5292000" y="3577283"/>
            <a:ext cx="1800000" cy="121920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#9 EC&amp;T: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 on revised procedures and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procesas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are identified.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7" name="Elbow Connector 36"/>
          <p:cNvCxnSpPr>
            <a:stCxn id="11" idx="3"/>
            <a:endCxn id="20" idx="1"/>
          </p:cNvCxnSpPr>
          <p:nvPr/>
        </p:nvCxnSpPr>
        <p:spPr>
          <a:xfrm>
            <a:off x="4876800" y="1868932"/>
            <a:ext cx="415200" cy="231795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20" idx="3"/>
            <a:endCxn id="15" idx="1"/>
          </p:cNvCxnSpPr>
          <p:nvPr/>
        </p:nvCxnSpPr>
        <p:spPr>
          <a:xfrm flipV="1">
            <a:off x="7092000" y="3498618"/>
            <a:ext cx="427800" cy="6882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7440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common occurrences in organizations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 word “change” is mentioned in a proposal, it is highly likely that RME #4 MOC and the MOC WP will apply!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WP is applicable at every level of the organization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every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depth and scope of review in the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depends on the complexity of the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 of the proposed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 are essential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 application of MOC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WP.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MOC WP triggers reviews in many other elements. 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sets the stage for errors …</a:t>
            </a:r>
            <a:b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                         … and errors lead to loss incidents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061808"/>
            <a:ext cx="2075742" cy="1212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052211"/>
            <a:ext cx="1786228" cy="1103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315" y="4306961"/>
            <a:ext cx="2014285" cy="15107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25278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 Slide Deck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follows with details.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2880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purpose of a basic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work process, the manner in which it is used, and the benefits for managing change.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need to manage change by gaining an appreciation about the potential changes in risk as a change in the activity, the technology of the operation, or organization (structure and people) is made.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significance of the “Management of Change” element in a Risk Management System.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basic MOC work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6086837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is Normal Part of Business: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appropriate management system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oversight to ensure that the change does not introduce new risks, or change control measures for existing risks.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at Change in Terms of a Change in Risk Level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change introduce a new or different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risk, or affect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effectiveness of existing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(administrative controls and/or engineering controls)?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Applies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Almost any kind of change!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Introductory Points About “Change”.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8356" t="6399" r="18358" b="6399"/>
          <a:stretch/>
        </p:blipFill>
        <p:spPr>
          <a:xfrm>
            <a:off x="6742451" y="4066763"/>
            <a:ext cx="2067901" cy="20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17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Risk Level Change?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needs to look at change in terms of a change in risk level and the consequences of the change: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change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introduce a new or different risk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Hazards? Likelihoods? Consequences?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affect the effectiveness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existing safeguards and control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 e.g. engineering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controls?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affect the effectiveness of efficiency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administrative controls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(policies, procedures, checklists, etc.)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work practices?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training materials?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or refresher training?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people in new roles?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Look at Change in Terms of a Change in Risk Level: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798110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is Normal Part of Business: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an accepted fact of business for all areas of an operation or an organization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must ensure their employees: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Understand that change is a normal part of operations.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Have the tools to clarify the scope of change and evaluate it.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Understand the requirements for reviews and for levels of approval.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requires appropriate management system oversight to ensure that the change does not introduce new risks, or diminish (change) control measures for existing risks.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When A Change Occurs Or A Change Is Planned: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28955269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kind of change must be considered because a change has the potential to introduce increases in risk and loss exposures.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 and Stage: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and large scale projects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at all stages (conception-design-construction-operation- maintenance):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beyond well-defined limits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(i.e. exceed specifications)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 formal MOC reviews.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Both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temporary and permanent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changes.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Temporary changes can be overlooked or “forgotten”, or accepted as permanent because “it has been successful” 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Rigorous implementation of control measures may NOT have been executed along with the temporary change.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Management of Change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Applies To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0331346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Broad Areas to which MOC applies: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your Team Project Loss Incident: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a change, or lack of the </a:t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a change, or an inadequate </a:t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Program apparent and applicable?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incidents are the outcome of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change!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MOC Applies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 …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l="18356" t="6399" r="18358" b="6399"/>
          <a:stretch/>
        </p:blipFill>
        <p:spPr>
          <a:xfrm>
            <a:off x="4419600" y="645900"/>
            <a:ext cx="4622400" cy="46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99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is MOC linked to the Risk Management System?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6" name="Google Shape;201;p9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 smtClean="0">
                <a:solidFill>
                  <a:srgbClr val="000000"/>
                </a:solidFill>
                <a:sym typeface="Arial"/>
              </a:rPr>
              <a:t>Management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Leadership, Commitment and Accountability.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Risk Assessment and Management of Risks.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Community Awareness and Emergency Preparedness.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</a:pPr>
            <a:r>
              <a:rPr lang="en-US" sz="2000" b="1" i="0" u="none" strike="noStrike" cap="none" dirty="0">
                <a:solidFill>
                  <a:srgbClr val="000000"/>
                </a:solidFill>
                <a:sym typeface="Arial"/>
              </a:rPr>
              <a:t>Management of Change.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Incident Reporting, Investigation, Analysis and Actions.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Program Evaluation and Continuous Improvement. 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Design, Construction and Start-up.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Maintenance.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Employee Competency and Training.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Contractor Competency and Integration.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Facilities Information and Documentation.</a:t>
            </a:r>
            <a:endParaRPr sz="20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203;p9"/>
          <p:cNvSpPr txBox="1"/>
          <p:nvPr/>
        </p:nvSpPr>
        <p:spPr>
          <a:xfrm>
            <a:off x="457198" y="4297680"/>
            <a:ext cx="8229601" cy="185832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You can expect that everywhere you go in your career the </a:t>
            </a:r>
            <a:r>
              <a:rPr lang="en-US" i="1" u="none" strike="noStrike" cap="none" dirty="0" smtClean="0">
                <a:solidFill>
                  <a:srgbClr val="FFFFFF"/>
                </a:solidFill>
                <a:sym typeface="Arial"/>
              </a:rPr>
              <a:t>organization </a:t>
            </a: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will have a MOC program. MOC is almost universal</a:t>
            </a:r>
            <a:r>
              <a:rPr lang="en-US" i="1" dirty="0">
                <a:solidFill>
                  <a:srgbClr val="FFFFFF"/>
                </a:solidFill>
              </a:rPr>
              <a:t>. </a:t>
            </a:r>
            <a:endParaRPr lang="en-US" i="1" dirty="0" smtClean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endParaRPr lang="en-US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dirty="0" smtClean="0">
                <a:solidFill>
                  <a:srgbClr val="FFFFFF"/>
                </a:solidFill>
              </a:rPr>
              <a:t>And </a:t>
            </a:r>
            <a:r>
              <a:rPr lang="en-US" i="1" dirty="0">
                <a:solidFill>
                  <a:srgbClr val="FFFFFF"/>
                </a:solidFill>
              </a:rPr>
              <a:t>if it doesn’t, what are you going to do?</a:t>
            </a:r>
            <a:endParaRPr lang="en-US" i="1" u="none" strike="noStrike" cap="none" dirty="0" smtClean="0">
              <a:solidFill>
                <a:srgbClr val="FFFFFF"/>
              </a:solidFill>
              <a:sym typeface="Arial"/>
            </a:endParaRPr>
          </a:p>
          <a:p>
            <a:pPr marL="285750" lvl="0" indent="-285750">
              <a:spcBef>
                <a:spcPts val="0"/>
              </a:spcBef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n-US" b="1" i="1" dirty="0" smtClean="0">
                <a:solidFill>
                  <a:srgbClr val="FFFFFF"/>
                </a:solidFill>
              </a:rPr>
              <a:t>Implement </a:t>
            </a:r>
            <a:r>
              <a:rPr lang="en-US" b="1" i="1" dirty="0">
                <a:solidFill>
                  <a:srgbClr val="FFFFFF"/>
                </a:solidFill>
              </a:rPr>
              <a:t>a “Management of Change” Program in areas </a:t>
            </a:r>
            <a:br>
              <a:rPr lang="en-US" b="1" i="1" dirty="0">
                <a:solidFill>
                  <a:srgbClr val="FFFFFF"/>
                </a:solidFill>
              </a:rPr>
            </a:br>
            <a:r>
              <a:rPr lang="en-US" b="1" i="1" dirty="0">
                <a:solidFill>
                  <a:srgbClr val="FFFFFF"/>
                </a:solidFill>
              </a:rPr>
              <a:t>under your responsibility.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198" y="1754909"/>
            <a:ext cx="3745347" cy="3694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07821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Basic Examples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should not apply as shown:</a:t>
            </a: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I bought a new piece of equipment to replace an old one.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1a) NEW is same as OLD, same operating procedures: 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1b) NEW is different from OLD, different operating procedures: YES</a:t>
            </a:r>
            <a:b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My design lead engineer retired &amp; I appointed a replacement.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Our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organization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bought by a larger enterprise and we need to follow their administrative controls (policies, protocols, etc.).  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The ore host rock has changed and we need to adjust the extraction processes.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4a) Within expected changes &amp; extraction process design limits: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4b) Outside expected changes &amp; extraction process design limits: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31576268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 involved in managing the change, each becomes involved as the proposed change progresses through the work process.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RACI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Responsible, Accountable, Consulted,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Owner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(Person driving the change):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Stakeholders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Informed, Consulted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Subject-matter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Responsible, Consulted, Informed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Managers.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affected by or subject to the change.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who will implement the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Approver: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Accountable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ensuring that the MOC work process has been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followed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Who is Responsible for Management of Change?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39390421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Typical MOC Work Process: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6" name="Google Shape;30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sp>
        <p:nvSpPr>
          <p:cNvPr id="7" name="Google Shape;305;p18"/>
          <p:cNvSpPr/>
          <p:nvPr/>
        </p:nvSpPr>
        <p:spPr>
          <a:xfrm>
            <a:off x="457200" y="2940120"/>
            <a:ext cx="5757333" cy="711932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311;p18"/>
          <p:cNvSpPr/>
          <p:nvPr/>
        </p:nvSpPr>
        <p:spPr>
          <a:xfrm>
            <a:off x="457200" y="4495800"/>
            <a:ext cx="3048000" cy="1268372"/>
          </a:xfrm>
          <a:prstGeom prst="wedgeRoundRectCallout">
            <a:avLst>
              <a:gd name="adj1" fmla="val -731"/>
              <a:gd name="adj2" fmla="val -116975"/>
              <a:gd name="adj3" fmla="val 16667"/>
            </a:avLst>
          </a:prstGeom>
          <a:solidFill>
            <a:srgbClr val="0000CC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Extent of risk review is proportional and commensurate with the change complexity</a:t>
            </a:r>
            <a:r>
              <a:rPr lang="en-US" sz="1600" b="0" i="1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1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44706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Type of Risk Assessment &amp; Level of Change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t="15924"/>
          <a:stretch/>
        </p:blipFill>
        <p:spPr bwMode="auto">
          <a:xfrm>
            <a:off x="609600" y="1524000"/>
            <a:ext cx="7543800" cy="464820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7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Matching the type of risk assessment to the level/complexity of the change is a critical part of the management of change process.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4801420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 Owner must drive these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actions in MOC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 organization may have different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each action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4 critical actions are integrated within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WP!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 Critical Actions for MOC: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7" name="Google Shape;335;p20"/>
          <p:cNvSpPr/>
          <p:nvPr/>
        </p:nvSpPr>
        <p:spPr>
          <a:xfrm>
            <a:off x="644991" y="1752600"/>
            <a:ext cx="7901709" cy="457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37;p20"/>
          <p:cNvSpPr txBox="1"/>
          <p:nvPr/>
        </p:nvSpPr>
        <p:spPr>
          <a:xfrm>
            <a:off x="116724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r>
              <a:rPr lang="en-US" sz="1400" dirty="0" smtClean="0">
                <a:solidFill>
                  <a:schemeClr val="tx2"/>
                </a:solidFill>
                <a:sym typeface="Arial"/>
              </a:rPr>
              <a:t>(1)</a:t>
            </a:r>
            <a:br>
              <a:rPr lang="en-US" sz="1400" dirty="0" smtClean="0">
                <a:solidFill>
                  <a:schemeClr val="tx2"/>
                </a:solidFill>
                <a:sym typeface="Arial"/>
              </a:rPr>
            </a:br>
            <a:r>
              <a:rPr lang="en-US" sz="1400" dirty="0" smtClean="0">
                <a:solidFill>
                  <a:schemeClr val="tx2"/>
                </a:solidFill>
                <a:sym typeface="Arial"/>
              </a:rPr>
              <a:t>Communicate </a:t>
            </a:r>
            <a:r>
              <a:rPr lang="en-US" sz="1400" dirty="0">
                <a:solidFill>
                  <a:schemeClr val="tx2"/>
                </a:solidFill>
                <a:sym typeface="Arial"/>
              </a:rPr>
              <a:t>the Proposed Change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5" name="Google Shape;339;p20"/>
          <p:cNvSpPr txBox="1"/>
          <p:nvPr/>
        </p:nvSpPr>
        <p:spPr>
          <a:xfrm>
            <a:off x="284288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>
                <a:sym typeface="Arial"/>
              </a:rPr>
              <a:t>(2) </a:t>
            </a:r>
            <a:br>
              <a:rPr lang="en-US" dirty="0" smtClean="0">
                <a:sym typeface="Arial"/>
              </a:rPr>
            </a:br>
            <a:r>
              <a:rPr lang="en-US" dirty="0" smtClean="0">
                <a:sym typeface="Arial"/>
              </a:rPr>
              <a:t>Conduct </a:t>
            </a:r>
            <a:r>
              <a:rPr lang="en-US" dirty="0">
                <a:sym typeface="Arial"/>
              </a:rPr>
              <a:t>Appropriate </a:t>
            </a:r>
            <a:r>
              <a:rPr lang="en-US" dirty="0" smtClean="0">
                <a:sym typeface="Arial"/>
              </a:rPr>
              <a:t>Reviews &amp; </a:t>
            </a:r>
            <a:r>
              <a:rPr lang="en-US" dirty="0">
                <a:sym typeface="Arial"/>
              </a:rPr>
              <a:t>Risk Assessments</a:t>
            </a:r>
            <a:endParaRPr dirty="0"/>
          </a:p>
        </p:txBody>
      </p:sp>
      <p:sp>
        <p:nvSpPr>
          <p:cNvPr id="17" name="Google Shape;341;p20"/>
          <p:cNvSpPr txBox="1"/>
          <p:nvPr/>
        </p:nvSpPr>
        <p:spPr>
          <a:xfrm>
            <a:off x="4518526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 smtClean="0">
                <a:sym typeface="Arial"/>
              </a:rPr>
              <a:t>(3) </a:t>
            </a:r>
            <a:br>
              <a:rPr lang="en-US" dirty="0" smtClean="0">
                <a:sym typeface="Arial"/>
              </a:rPr>
            </a:br>
            <a:r>
              <a:rPr lang="en-US" dirty="0" smtClean="0">
                <a:sym typeface="Arial"/>
              </a:rPr>
              <a:t>Seek </a:t>
            </a:r>
            <a:r>
              <a:rPr lang="en-US" dirty="0">
                <a:sym typeface="Arial"/>
              </a:rPr>
              <a:t>Final Approval</a:t>
            </a:r>
            <a:endParaRPr dirty="0"/>
          </a:p>
        </p:txBody>
      </p:sp>
      <p:sp>
        <p:nvSpPr>
          <p:cNvPr id="19" name="Google Shape;343;p20"/>
          <p:cNvSpPr txBox="1"/>
          <p:nvPr/>
        </p:nvSpPr>
        <p:spPr>
          <a:xfrm>
            <a:off x="6194165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 smtClean="0">
                <a:sym typeface="Arial"/>
              </a:rPr>
              <a:t>(4) Communicate </a:t>
            </a:r>
            <a:r>
              <a:rPr lang="en-US" dirty="0">
                <a:sym typeface="Arial"/>
              </a:rPr>
              <a:t>&amp; Implement the Change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8827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causes of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incidents include the failure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Conduct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appropriate reviews and risk assessments;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Seek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gain final approval;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 as agreed upon and approved by all stakeholders.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APEGA RM System Element # 4 Management of Change</a:t>
            </a:r>
            <a:endParaRPr lang="en-US" altLang="en-US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Management of Change is Critical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6" name="Google Shape;444;p25"/>
          <p:cNvSpPr/>
          <p:nvPr/>
        </p:nvSpPr>
        <p:spPr>
          <a:xfrm>
            <a:off x="457200" y="3962400"/>
            <a:ext cx="8229600" cy="17526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Can 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weaknesses in the MOC Work </a:t>
            </a: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Process / Program </a:t>
            </a:r>
            <a:b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be 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latent causes</a:t>
            </a: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sp>
        <p:nvSpPr>
          <p:cNvPr id="7" name="Google Shape;446;p25"/>
          <p:cNvSpPr txBox="1"/>
          <p:nvPr/>
        </p:nvSpPr>
        <p:spPr>
          <a:xfrm>
            <a:off x="838200" y="4832854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YES?</a:t>
            </a:r>
            <a:endParaRPr dirty="0"/>
          </a:p>
        </p:txBody>
      </p:sp>
      <p:sp>
        <p:nvSpPr>
          <p:cNvPr id="10" name="Google Shape;447;p25"/>
          <p:cNvSpPr txBox="1"/>
          <p:nvPr/>
        </p:nvSpPr>
        <p:spPr>
          <a:xfrm>
            <a:off x="2778529" y="4832853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NO?</a:t>
            </a:r>
            <a:endParaRPr dirty="0"/>
          </a:p>
        </p:txBody>
      </p:sp>
      <p:sp>
        <p:nvSpPr>
          <p:cNvPr id="11" name="Google Shape;448;p25"/>
          <p:cNvSpPr txBox="1"/>
          <p:nvPr/>
        </p:nvSpPr>
        <p:spPr>
          <a:xfrm>
            <a:off x="4800600" y="4832853"/>
            <a:ext cx="3179618" cy="58477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SURE?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34286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Proposal to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a Storage Tank from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Gasoline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Proposed change: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 of the 3 jet fuel storage tanks to gasoline storage. </a:t>
            </a: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Yes, the MOC work process does apply. A change is being proposed, to this triggers the action to initiate the MOC work process. </a:t>
            </a:r>
          </a:p>
          <a:p>
            <a:pPr marL="360000" lvl="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parameters pertaining to your field of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expertise: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complexity of the overall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change: </a:t>
            </a:r>
            <a:r>
              <a:rPr lang="en-US" sz="1600" b="0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r>
              <a:rPr kumimoji="0" lang="en-US" sz="16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ajor</a:t>
            </a:r>
            <a:r>
              <a:rPr kumimoji="0" lang="en-US" sz="1600" b="0" i="0" u="sng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(s</a:t>
            </a:r>
            <a:r>
              <a:rPr kumimoji="0" lang="en-US" sz="1600" b="0" i="0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ignificant) </a:t>
            </a:r>
            <a:r>
              <a:rPr kumimoji="0" lang="en-US" sz="1600" b="0" i="0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</a:t>
            </a:r>
            <a:endParaRPr kumimoji="0" lang="en-US" sz="1600" b="0" i="0" u="sng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 elements come into play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#1 MLCA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#2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Assessment and Management of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Risk;</a:t>
            </a:r>
            <a:b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Emergency Preparedness;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MOC;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 Design, Construction &amp;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Startup; 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#8 Operations &amp;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#9 Employee Competency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Training;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consult with the following SMEs (Subject-Matter Experts):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Eng. 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/ Fire Protection Specialist / Operations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Personnel / Trainers / Emergency Response Team,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8600" y="1752600"/>
          <a:ext cx="8557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600">
                  <a:extLst>
                    <a:ext uri="{9D8B030D-6E8A-4147-A177-3AD203B41FA5}">
                      <a16:colId xmlns:a16="http://schemas.microsoft.com/office/drawing/2014/main" val="2085095760"/>
                    </a:ext>
                  </a:extLst>
                </a:gridCol>
                <a:gridCol w="4278600">
                  <a:extLst>
                    <a:ext uri="{9D8B030D-6E8A-4147-A177-3AD203B41FA5}">
                      <a16:colId xmlns:a16="http://schemas.microsoft.com/office/drawing/2014/main" val="2989462314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Hazardous material (Jet Fuel for Gas)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Piping to prevent cross-contamination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and piping labelling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Procedures and re-training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rocess controls (reprogram)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wall strength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Compatibility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materials of construction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Foundation strength</a:t>
                      </a:r>
                      <a:r>
                        <a:rPr lang="en-US" sz="1200" b="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/ underground facilities</a:t>
                      </a:r>
                      <a:endParaRPr lang="en-US" sz="1200" b="0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Secondary containment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Leak detection systems, alarms, fire protection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Instrumentation (recalibrations)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Electrical classification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Pressure / vacuum relief systems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Emissions (air pollution) control systems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94513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55" y="3277435"/>
            <a:ext cx="956998" cy="7177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114800"/>
            <a:ext cx="2446710" cy="133112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3222529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is NOT Stand-alone – a proposal triggers this </a:t>
            </a:r>
            <a:r>
              <a:rPr kumimoji="0" lang="en-US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system element within the RM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assesses risks relevant to its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scope, and determines the necessary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changes.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decision is made,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management /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decision, on 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risk-informed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basis as to proceed or not.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risks can be managed to an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level, then costs are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estimated for all design changes; a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decision is made on an economic basis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to proceed or not.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MOC and How it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Integrated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Into the RM System: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3" name="Pentagon 2"/>
          <p:cNvSpPr/>
          <p:nvPr/>
        </p:nvSpPr>
        <p:spPr>
          <a:xfrm>
            <a:off x="180000" y="1210456"/>
            <a:ext cx="1548000" cy="1316952"/>
          </a:xfrm>
          <a:prstGeom prst="homePlate">
            <a:avLst>
              <a:gd name="adj" fmla="val 24976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Proposed: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Proposal to change an existing process is made.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1752600" y="1210456"/>
            <a:ext cx="1548000" cy="1316952"/>
          </a:xfrm>
          <a:prstGeom prst="homePlate">
            <a:avLst>
              <a:gd name="adj" fmla="val 36021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4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MOC: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MOC WP identifies the necessary risk assessments.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Pentagon 10"/>
          <p:cNvSpPr/>
          <p:nvPr/>
        </p:nvSpPr>
        <p:spPr>
          <a:xfrm>
            <a:off x="3328800" y="1210456"/>
            <a:ext cx="1548000" cy="1316952"/>
          </a:xfrm>
          <a:prstGeom prst="homePlate">
            <a:avLst>
              <a:gd name="adj" fmla="val 30813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 RA&amp;MR: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These risk assessments  identify the necessary safeguards.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Pentagon 13"/>
          <p:cNvSpPr/>
          <p:nvPr/>
        </p:nvSpPr>
        <p:spPr>
          <a:xfrm>
            <a:off x="5292000" y="1210456"/>
            <a:ext cx="1800000" cy="1142400"/>
          </a:xfrm>
          <a:prstGeom prst="homePlate">
            <a:avLst>
              <a:gd name="adj" fmla="val 17919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 DC&amp;SU: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Design Review Process specifies design changes and costs estimates.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19800" y="2657656"/>
            <a:ext cx="1548000" cy="1681924"/>
          </a:xfrm>
          <a:prstGeom prst="rect">
            <a:avLst/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#1 MLCA: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Accept all of these changes (and costs for changes) and proceed, or reject.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Pentagon 15"/>
          <p:cNvSpPr/>
          <p:nvPr/>
        </p:nvSpPr>
        <p:spPr>
          <a:xfrm>
            <a:off x="5292000" y="2527408"/>
            <a:ext cx="1800000" cy="938048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#8 O&amp;M: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procedures are identified.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Pentagon 16"/>
          <p:cNvSpPr/>
          <p:nvPr/>
        </p:nvSpPr>
        <p:spPr>
          <a:xfrm>
            <a:off x="5292000" y="4908310"/>
            <a:ext cx="1800000" cy="118769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#3 CA&amp;EP: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emergency preparedness are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identifed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" name="Elbow Connector 4"/>
          <p:cNvCxnSpPr>
            <a:stCxn id="11" idx="3"/>
            <a:endCxn id="17" idx="1"/>
          </p:cNvCxnSpPr>
          <p:nvPr/>
        </p:nvCxnSpPr>
        <p:spPr>
          <a:xfrm>
            <a:off x="4876800" y="1868932"/>
            <a:ext cx="415200" cy="36332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1" idx="3"/>
            <a:endCxn id="16" idx="1"/>
          </p:cNvCxnSpPr>
          <p:nvPr/>
        </p:nvCxnSpPr>
        <p:spPr>
          <a:xfrm>
            <a:off x="4876800" y="1868932"/>
            <a:ext cx="415200" cy="1127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4" idx="1"/>
          </p:cNvCxnSpPr>
          <p:nvPr/>
        </p:nvCxnSpPr>
        <p:spPr>
          <a:xfrm flipV="1">
            <a:off x="4876800" y="1781656"/>
            <a:ext cx="415200" cy="8727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4" idx="3"/>
            <a:endCxn id="15" idx="1"/>
          </p:cNvCxnSpPr>
          <p:nvPr/>
        </p:nvCxnSpPr>
        <p:spPr>
          <a:xfrm>
            <a:off x="7092000" y="1781656"/>
            <a:ext cx="427800" cy="171696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6" idx="3"/>
            <a:endCxn id="15" idx="1"/>
          </p:cNvCxnSpPr>
          <p:nvPr/>
        </p:nvCxnSpPr>
        <p:spPr>
          <a:xfrm>
            <a:off x="7092000" y="2996432"/>
            <a:ext cx="427800" cy="5021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7" idx="3"/>
            <a:endCxn id="15" idx="1"/>
          </p:cNvCxnSpPr>
          <p:nvPr/>
        </p:nvCxnSpPr>
        <p:spPr>
          <a:xfrm flipV="1">
            <a:off x="7092000" y="3498618"/>
            <a:ext cx="427800" cy="20035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entagon 19"/>
          <p:cNvSpPr/>
          <p:nvPr/>
        </p:nvSpPr>
        <p:spPr>
          <a:xfrm>
            <a:off x="5292000" y="3577283"/>
            <a:ext cx="1800000" cy="121920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#9 EC&amp;T: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 on revised procedures and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procesas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are identified.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7" name="Elbow Connector 36"/>
          <p:cNvCxnSpPr>
            <a:stCxn id="11" idx="3"/>
            <a:endCxn id="20" idx="1"/>
          </p:cNvCxnSpPr>
          <p:nvPr/>
        </p:nvCxnSpPr>
        <p:spPr>
          <a:xfrm>
            <a:off x="4876800" y="1868932"/>
            <a:ext cx="415200" cy="231795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20" idx="3"/>
            <a:endCxn id="15" idx="1"/>
          </p:cNvCxnSpPr>
          <p:nvPr/>
        </p:nvCxnSpPr>
        <p:spPr>
          <a:xfrm flipV="1">
            <a:off x="7092000" y="3498618"/>
            <a:ext cx="427800" cy="6882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69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common occurrences in organizations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 word “change” is mentioned in a proposal, it is highly likely that RME #4 MOC and the MOC WP will apply!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WP is applicable at every level of the organization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every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depth and scope of review in the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depends on the complexity of the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 of the proposed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 are essential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 application of MOC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WP.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MOC WP triggers reviews in many other elements. 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sets the stage for errors …</a:t>
            </a:r>
            <a:b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                         … and errors lead to loss incidents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061808"/>
            <a:ext cx="2075742" cy="1212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052211"/>
            <a:ext cx="1786228" cy="1103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315" y="4306961"/>
            <a:ext cx="2014285" cy="15107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97609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69411</TotalTime>
  <Words>2599</Words>
  <Application>Microsoft Office PowerPoint</Application>
  <PresentationFormat>On-screen Show (4:3)</PresentationFormat>
  <Paragraphs>490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1951</cp:revision>
  <cp:lastPrinted>2018-12-17T22:21:47Z</cp:lastPrinted>
  <dcterms:created xsi:type="dcterms:W3CDTF">2007-03-28T16:18:47Z</dcterms:created>
  <dcterms:modified xsi:type="dcterms:W3CDTF">2021-06-02T16:26:20Z</dcterms:modified>
</cp:coreProperties>
</file>